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6"/>
  </p:handoutMasterIdLst>
  <p:sldIdLst>
    <p:sldId id="270" r:id="rId2"/>
    <p:sldId id="283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1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712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24-10-2022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Sparse Matrix Computation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7B58611-DB57-4AFD-9B85-A4C8EF91AA38}"/>
              </a:ext>
            </a:extLst>
          </p:cNvPr>
          <p:cNvSpPr txBox="1">
            <a:spLocks/>
          </p:cNvSpPr>
          <p:nvPr/>
        </p:nvSpPr>
        <p:spPr>
          <a:xfrm>
            <a:off x="1291201" y="3204012"/>
            <a:ext cx="1496244" cy="606145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/>
              <a:t>(part 2)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/>
              <a:t>Recall: CSR </a:t>
            </a:r>
            <a:r>
              <a:rPr lang="en-US" dirty="0"/>
              <a:t>Tradeoffs (versus COO)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Space efficiency: row pointers smaller than row indexes</a:t>
            </a:r>
          </a:p>
          <a:p>
            <a:pPr lvl="1"/>
            <a:r>
              <a:rPr lang="en-US" dirty="0"/>
              <a:t>Accessibility: given a row, easy to find all </a:t>
            </a:r>
            <a:r>
              <a:rPr lang="en-US" dirty="0" err="1"/>
              <a:t>nonzeros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/CSR </a:t>
            </a:r>
            <a:r>
              <a:rPr lang="en-US" u="sng" dirty="0"/>
              <a:t>avoids atomics</a:t>
            </a:r>
            <a:r>
              <a:rPr lang="en-US" dirty="0"/>
              <a:t>, every thread owns its output</a:t>
            </a:r>
          </a:p>
          <a:p>
            <a:endParaRPr lang="en-US" sz="1400" dirty="0"/>
          </a:p>
          <a:p>
            <a:r>
              <a:rPr lang="en-US" dirty="0"/>
              <a:t>Disadvantage:</a:t>
            </a:r>
          </a:p>
          <a:p>
            <a:pPr lvl="1"/>
            <a:r>
              <a:rPr lang="en-US" dirty="0"/>
              <a:t>Flexibility: hard to add new elements to the matrix</a:t>
            </a:r>
          </a:p>
          <a:p>
            <a:pPr lvl="1"/>
            <a:r>
              <a:rPr lang="en-US" dirty="0"/>
              <a:t>Accessibility: given nonzero, hard to find row; given a column, hard to find all </a:t>
            </a:r>
            <a:r>
              <a:rPr lang="en-US" dirty="0" err="1"/>
              <a:t>nonzeros</a:t>
            </a:r>
            <a:endParaRPr lang="en-US" dirty="0"/>
          </a:p>
          <a:p>
            <a:pPr lvl="1"/>
            <a:r>
              <a:rPr lang="en-US" dirty="0" err="1"/>
              <a:t>SpMV</a:t>
            </a:r>
            <a:r>
              <a:rPr lang="en-US" dirty="0"/>
              <a:t>/CSR memory accesses are </a:t>
            </a:r>
            <a:r>
              <a:rPr lang="en-US" u="sng" dirty="0"/>
              <a:t>not coalesced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/CSR has </a:t>
            </a:r>
            <a:r>
              <a:rPr lang="en-US" u="sng" dirty="0"/>
              <a:t>control divergence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C6D670-098C-41D5-AB6A-23247B63FC11}"/>
              </a:ext>
            </a:extLst>
          </p:cNvPr>
          <p:cNvSpPr txBox="1"/>
          <p:nvPr/>
        </p:nvSpPr>
        <p:spPr>
          <a:xfrm>
            <a:off x="1379485" y="4875488"/>
            <a:ext cx="638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we design a format that avoids atomics but also improves memory coalescing and reduces control divergence?</a:t>
            </a:r>
          </a:p>
        </p:txBody>
      </p:sp>
    </p:spTree>
    <p:extLst>
      <p:ext uri="{BB962C8B-B14F-4D97-AF65-F5344CB8AC3E}">
        <p14:creationId xmlns:p14="http://schemas.microsoft.com/office/powerpoint/2010/main" val="356300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ELLPACK Format (ELL)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205284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679282"/>
              </p:ext>
            </p:extLst>
          </p:nvPr>
        </p:nvGraphicFramePr>
        <p:xfrm>
          <a:off x="4198019" y="3986521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48330" y="4006963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42353"/>
              </p:ext>
            </p:extLst>
          </p:nvPr>
        </p:nvGraphicFramePr>
        <p:xfrm>
          <a:off x="1439476" y="3986521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6186" y="4006963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1880" y="1864955"/>
            <a:ext cx="2808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Group </a:t>
            </a:r>
            <a:r>
              <a:rPr lang="en-US" sz="2400" dirty="0" err="1"/>
              <a:t>nonzeros</a:t>
            </a:r>
            <a:r>
              <a:rPr lang="en-US" sz="2400" dirty="0"/>
              <a:t> by row (like CSR)…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</p:spTree>
    <p:extLst>
      <p:ext uri="{BB962C8B-B14F-4D97-AF65-F5344CB8AC3E}">
        <p14:creationId xmlns:p14="http://schemas.microsoft.com/office/powerpoint/2010/main" val="37027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ELLPACK Format (ELL)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785829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64434"/>
              </p:ext>
            </p:extLst>
          </p:nvPr>
        </p:nvGraphicFramePr>
        <p:xfrm>
          <a:off x="4198019" y="3986521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48330" y="4006963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617159"/>
              </p:ext>
            </p:extLst>
          </p:nvPr>
        </p:nvGraphicFramePr>
        <p:xfrm>
          <a:off x="1439476" y="3986521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6186" y="4006963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147" y="1864955"/>
            <a:ext cx="3161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…pad rows so they all have the same size…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</p:spTree>
    <p:extLst>
      <p:ext uri="{BB962C8B-B14F-4D97-AF65-F5344CB8AC3E}">
        <p14:creationId xmlns:p14="http://schemas.microsoft.com/office/powerpoint/2010/main" val="223337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ELLPACK Format (ELL)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144797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745147" y="1864955"/>
            <a:ext cx="3161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…and store padded array of </a:t>
            </a:r>
            <a:r>
              <a:rPr lang="en-US" sz="2400" dirty="0" err="1"/>
              <a:t>nonzeros</a:t>
            </a:r>
            <a:r>
              <a:rPr lang="en-US" sz="2400" dirty="0"/>
              <a:t> in column major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59029"/>
              </p:ext>
            </p:extLst>
          </p:nvPr>
        </p:nvGraphicFramePr>
        <p:xfrm>
          <a:off x="4198019" y="3986521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148330" y="4006963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475724"/>
              </p:ext>
            </p:extLst>
          </p:nvPr>
        </p:nvGraphicFramePr>
        <p:xfrm>
          <a:off x="1439476" y="3986521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6186" y="4006963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717210" y="4110612"/>
            <a:ext cx="1090451" cy="1941458"/>
            <a:chOff x="1718440" y="4566741"/>
            <a:chExt cx="1090451" cy="173736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718440" y="4566741"/>
              <a:ext cx="0" cy="173736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718440" y="4566741"/>
              <a:ext cx="545227" cy="173736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263666" y="4566741"/>
              <a:ext cx="0" cy="173736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2263666" y="4575572"/>
              <a:ext cx="545225" cy="171688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808890" y="4566741"/>
              <a:ext cx="0" cy="1737360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4475753" y="4110612"/>
            <a:ext cx="1090451" cy="1941458"/>
            <a:chOff x="1718440" y="4566741"/>
            <a:chExt cx="1090451" cy="173736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718440" y="4566741"/>
              <a:ext cx="0" cy="173736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1718440" y="4566741"/>
              <a:ext cx="545227" cy="173736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63666" y="4566741"/>
              <a:ext cx="0" cy="173736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2263666" y="4575572"/>
              <a:ext cx="545225" cy="171688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808890" y="4566741"/>
              <a:ext cx="0" cy="1737360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429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ELLPACK Format (ELL)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23943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23093"/>
              </p:ext>
            </p:extLst>
          </p:nvPr>
        </p:nvGraphicFramePr>
        <p:xfrm>
          <a:off x="1439476" y="4178625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6186" y="4245195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787" y="4982831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528645"/>
              </p:ext>
            </p:extLst>
          </p:nvPr>
        </p:nvGraphicFramePr>
        <p:xfrm>
          <a:off x="1439476" y="4939344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745147" y="1864955"/>
            <a:ext cx="3161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…and store padded array of </a:t>
            </a:r>
            <a:r>
              <a:rPr lang="en-US" sz="2400" dirty="0" err="1"/>
              <a:t>nonzeros</a:t>
            </a:r>
            <a:r>
              <a:rPr lang="en-US" sz="2400" dirty="0"/>
              <a:t> in column major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</p:spTree>
    <p:extLst>
      <p:ext uri="{BB962C8B-B14F-4D97-AF65-F5344CB8AC3E}">
        <p14:creationId xmlns:p14="http://schemas.microsoft.com/office/powerpoint/2010/main" val="156753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/ELL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979923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21351"/>
              </p:ext>
            </p:extLst>
          </p:nvPr>
        </p:nvGraphicFramePr>
        <p:xfrm>
          <a:off x="1439476" y="4178625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6186" y="4245195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787" y="4982831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398945"/>
              </p:ext>
            </p:extLst>
          </p:nvPr>
        </p:nvGraphicFramePr>
        <p:xfrm>
          <a:off x="1439476" y="4939344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687766"/>
              </p:ext>
            </p:extLst>
          </p:nvPr>
        </p:nvGraphicFramePr>
        <p:xfrm>
          <a:off x="4185808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851963"/>
              </p:ext>
            </p:extLst>
          </p:nvPr>
        </p:nvGraphicFramePr>
        <p:xfrm>
          <a:off x="5286220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517216" y="1204349"/>
            <a:ext cx="1683502" cy="2101675"/>
            <a:chOff x="1708029" y="6281199"/>
            <a:chExt cx="1683502" cy="2101675"/>
          </a:xfrm>
        </p:grpSpPr>
        <p:sp>
          <p:nvSpPr>
            <p:cNvPr id="17" name="Freeform 16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1711875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2231305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3345811" y="79256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692661" y="5558903"/>
            <a:ext cx="1686999" cy="457200"/>
            <a:chOff x="1708029" y="6281199"/>
            <a:chExt cx="1686999" cy="457200"/>
          </a:xfrm>
        </p:grpSpPr>
        <p:sp>
          <p:nvSpPr>
            <p:cNvPr id="24" name="Freeform 23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2802215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3349308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2643308" y="6066048"/>
            <a:ext cx="3857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Memory accesses are coalesced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</p:spTree>
    <p:extLst>
      <p:ext uri="{BB962C8B-B14F-4D97-AF65-F5344CB8AC3E}">
        <p14:creationId xmlns:p14="http://schemas.microsoft.com/office/powerpoint/2010/main" val="302142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/ELL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166885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43221"/>
              </p:ext>
            </p:extLst>
          </p:nvPr>
        </p:nvGraphicFramePr>
        <p:xfrm>
          <a:off x="1439476" y="4178625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6186" y="4245195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787" y="4982831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743757"/>
              </p:ext>
            </p:extLst>
          </p:nvPr>
        </p:nvGraphicFramePr>
        <p:xfrm>
          <a:off x="1439476" y="4939344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69190"/>
              </p:ext>
            </p:extLst>
          </p:nvPr>
        </p:nvGraphicFramePr>
        <p:xfrm>
          <a:off x="4185808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65733"/>
              </p:ext>
            </p:extLst>
          </p:nvPr>
        </p:nvGraphicFramePr>
        <p:xfrm>
          <a:off x="5286220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064309" y="1204349"/>
            <a:ext cx="1682509" cy="2101675"/>
            <a:chOff x="2255122" y="6281199"/>
            <a:chExt cx="1682509" cy="2101675"/>
          </a:xfrm>
        </p:grpSpPr>
        <p:sp>
          <p:nvSpPr>
            <p:cNvPr id="17" name="Freeform 16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2798718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>
              <a:off x="2778398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891911" y="79256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897969" y="5558903"/>
            <a:ext cx="1686999" cy="457200"/>
            <a:chOff x="1708029" y="6281199"/>
            <a:chExt cx="1686999" cy="457200"/>
          </a:xfrm>
        </p:grpSpPr>
        <p:sp>
          <p:nvSpPr>
            <p:cNvPr id="23" name="Freeform 22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2802215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3349308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2643308" y="6066048"/>
            <a:ext cx="3857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Memory accesses are coalesced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</p:spTree>
    <p:extLst>
      <p:ext uri="{BB962C8B-B14F-4D97-AF65-F5344CB8AC3E}">
        <p14:creationId xmlns:p14="http://schemas.microsoft.com/office/powerpoint/2010/main" val="321622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/ELL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878215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919078"/>
              </p:ext>
            </p:extLst>
          </p:nvPr>
        </p:nvGraphicFramePr>
        <p:xfrm>
          <a:off x="1439476" y="4178625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6186" y="4245195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787" y="4982831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90056"/>
              </p:ext>
            </p:extLst>
          </p:nvPr>
        </p:nvGraphicFramePr>
        <p:xfrm>
          <a:off x="1439476" y="4939344"/>
          <a:ext cx="65836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842523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907603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139845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9298904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548190"/>
              </p:ext>
            </p:extLst>
          </p:nvPr>
        </p:nvGraphicFramePr>
        <p:xfrm>
          <a:off x="4185808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448857"/>
              </p:ext>
            </p:extLst>
          </p:nvPr>
        </p:nvGraphicFramePr>
        <p:xfrm>
          <a:off x="5286220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154998" y="1204349"/>
            <a:ext cx="593421" cy="2101675"/>
            <a:chOff x="3345811" y="6281199"/>
            <a:chExt cx="593421" cy="2101675"/>
          </a:xfrm>
        </p:grpSpPr>
        <p:sp>
          <p:nvSpPr>
            <p:cNvPr id="17" name="Freeform 16"/>
            <p:cNvSpPr/>
            <p:nvPr/>
          </p:nvSpPr>
          <p:spPr>
            <a:xfrm>
              <a:off x="389351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45811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>
              <a:off x="3893512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893512" y="79256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10961" y="5558903"/>
            <a:ext cx="1686999" cy="457200"/>
            <a:chOff x="1708029" y="6281199"/>
            <a:chExt cx="1686999" cy="457200"/>
          </a:xfrm>
        </p:grpSpPr>
        <p:sp>
          <p:nvSpPr>
            <p:cNvPr id="23" name="Freeform 22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2802215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3349308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2643308" y="6066048"/>
            <a:ext cx="3857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Memory accesses are coalesced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</p:spTree>
    <p:extLst>
      <p:ext uri="{BB962C8B-B14F-4D97-AF65-F5344CB8AC3E}">
        <p14:creationId xmlns:p14="http://schemas.microsoft.com/office/powerpoint/2010/main" val="342601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/ELL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1149" y="1994850"/>
            <a:ext cx="8421702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spmv_ell_kernel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ELLMatrix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ellMatrix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row =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(row &lt;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ellMatrix.numRows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sum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0.0f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nnzIdx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nnzIdx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ellMatrix.nnzPerRow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[row]; ++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nnzIdx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nnzIdx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ellMatrix.numRows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row;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col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ellMatrix.colIdxs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value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ellMatrix.values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sum +=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[col]*value;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[row] = sum;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524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ELL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Flexibility: can add new elements as long as row not full</a:t>
            </a:r>
          </a:p>
          <a:p>
            <a:pPr lvl="1"/>
            <a:r>
              <a:rPr lang="en-US" dirty="0"/>
              <a:t>Accessibility: given a row, easy to find all </a:t>
            </a:r>
            <a:r>
              <a:rPr lang="en-US" dirty="0" err="1"/>
              <a:t>nonzeros</a:t>
            </a:r>
            <a:r>
              <a:rPr lang="en-US" dirty="0"/>
              <a:t>; given nonzero, easy to find row and column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/ELL memory accesses are coalesced</a:t>
            </a:r>
          </a:p>
          <a:p>
            <a:endParaRPr lang="en-US" sz="1400" dirty="0"/>
          </a:p>
          <a:p>
            <a:r>
              <a:rPr lang="en-US" dirty="0"/>
              <a:t>Disadvantage:</a:t>
            </a:r>
          </a:p>
          <a:p>
            <a:pPr lvl="1"/>
            <a:r>
              <a:rPr lang="en-US" dirty="0"/>
              <a:t>Space efficiency: overhead due to padding</a:t>
            </a:r>
          </a:p>
          <a:p>
            <a:pPr lvl="1"/>
            <a:r>
              <a:rPr lang="en-US" dirty="0"/>
              <a:t>Accessibility: given a column, hard to find all </a:t>
            </a:r>
            <a:r>
              <a:rPr lang="en-US" dirty="0" err="1"/>
              <a:t>nonzeros</a:t>
            </a:r>
            <a:endParaRPr lang="en-US" dirty="0"/>
          </a:p>
          <a:p>
            <a:pPr lvl="1"/>
            <a:r>
              <a:rPr lang="en-US" dirty="0" err="1"/>
              <a:t>SpMV</a:t>
            </a:r>
            <a:r>
              <a:rPr lang="en-US" dirty="0"/>
              <a:t>/ELL has control divergence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9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Hybrid ELL + COO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850461"/>
              </p:ext>
            </p:extLst>
          </p:nvPr>
        </p:nvGraphicFramePr>
        <p:xfrm>
          <a:off x="893111" y="1017195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80741363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01687588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056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76958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232759"/>
              </p:ext>
            </p:extLst>
          </p:nvPr>
        </p:nvGraphicFramePr>
        <p:xfrm>
          <a:off x="4728241" y="1017195"/>
          <a:ext cx="13716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8074136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5056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76958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238740"/>
              </p:ext>
            </p:extLst>
          </p:nvPr>
        </p:nvGraphicFramePr>
        <p:xfrm>
          <a:off x="4313305" y="3662512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056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76958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200457"/>
              </p:ext>
            </p:extLst>
          </p:nvPr>
        </p:nvGraphicFramePr>
        <p:xfrm>
          <a:off x="7629343" y="4228570"/>
          <a:ext cx="13716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83142214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0454930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9945058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12631852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389211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79327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351970"/>
              </p:ext>
            </p:extLst>
          </p:nvPr>
        </p:nvGraphicFramePr>
        <p:xfrm>
          <a:off x="7629343" y="4666560"/>
          <a:ext cx="13716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83142214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0454930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9945058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12631852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389211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79327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988300"/>
              </p:ext>
            </p:extLst>
          </p:nvPr>
        </p:nvGraphicFramePr>
        <p:xfrm>
          <a:off x="7629343" y="5104550"/>
          <a:ext cx="13716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83142214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0454930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59945058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12631852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389211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79327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35590"/>
              </p:ext>
            </p:extLst>
          </p:nvPr>
        </p:nvGraphicFramePr>
        <p:xfrm>
          <a:off x="7020769" y="1017195"/>
          <a:ext cx="13716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80741363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5056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76958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43946"/>
              </p:ext>
            </p:extLst>
          </p:nvPr>
        </p:nvGraphicFramePr>
        <p:xfrm>
          <a:off x="5857793" y="3662512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056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76958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99961" y="3225287"/>
            <a:ext cx="1232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ELL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1422" y="5866264"/>
            <a:ext cx="2269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Hybrid ELL + COO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(use COO for very long rows)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157" y="950388"/>
            <a:ext cx="862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Matrix: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8500" y="100239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Column: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937" y="1002397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Value: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1430" y="3633670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/>
              <a:t>Column</a:t>
            </a:r>
            <a:r>
              <a:rPr lang="en-US" baseline="-25000" dirty="0" err="1"/>
              <a:t>ELL</a:t>
            </a:r>
            <a:r>
              <a:rPr lang="en-US" dirty="0"/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1204" y="3633670"/>
            <a:ext cx="97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/>
              <a:t>Value</a:t>
            </a:r>
            <a:r>
              <a:rPr lang="en-US" baseline="-25000" dirty="0" err="1"/>
              <a:t>ELL</a:t>
            </a:r>
            <a:r>
              <a:rPr lang="en-US" dirty="0"/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7792" y="4607879"/>
            <a:ext cx="1258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/>
              <a:t>Column</a:t>
            </a:r>
            <a:r>
              <a:rPr lang="en-US" baseline="-25000" dirty="0" err="1"/>
              <a:t>COO</a:t>
            </a:r>
            <a:r>
              <a:rPr lang="en-US" dirty="0"/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79" y="5043078"/>
            <a:ext cx="1052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/>
              <a:t>Value</a:t>
            </a:r>
            <a:r>
              <a:rPr lang="en-US" baseline="-25000" dirty="0" err="1"/>
              <a:t>COO</a:t>
            </a:r>
            <a:r>
              <a:rPr lang="en-US" dirty="0"/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7623" y="4164771"/>
            <a:ext cx="939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/>
              <a:t>Row</a:t>
            </a:r>
            <a:r>
              <a:rPr lang="en-US" baseline="-25000" dirty="0" err="1"/>
              <a:t>COO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9401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ELL + COO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Similar to ELL, with the following added benefits from using COO:</a:t>
            </a:r>
          </a:p>
          <a:p>
            <a:pPr lvl="1"/>
            <a:r>
              <a:rPr lang="en-US" dirty="0"/>
              <a:t>Space efficiency: less padding</a:t>
            </a:r>
          </a:p>
          <a:p>
            <a:pPr lvl="1"/>
            <a:r>
              <a:rPr lang="en-US" dirty="0"/>
              <a:t>Flexibility: can add new elements to any row</a:t>
            </a:r>
          </a:p>
          <a:p>
            <a:pPr lvl="1"/>
            <a:r>
              <a:rPr lang="en-US" dirty="0"/>
              <a:t>Less control divergence</a:t>
            </a:r>
          </a:p>
        </p:txBody>
      </p:sp>
    </p:spTree>
    <p:extLst>
      <p:ext uri="{BB962C8B-B14F-4D97-AF65-F5344CB8AC3E}">
        <p14:creationId xmlns:p14="http://schemas.microsoft.com/office/powerpoint/2010/main" val="99987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Jagged Diagonal Storage (JDS)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739658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031883"/>
              </p:ext>
            </p:extLst>
          </p:nvPr>
        </p:nvGraphicFramePr>
        <p:xfrm>
          <a:off x="1358633" y="3862811"/>
          <a:ext cx="14630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21880" y="1864955"/>
            <a:ext cx="2808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Group </a:t>
            </a:r>
            <a:r>
              <a:rPr lang="en-US" sz="2400" dirty="0" err="1"/>
              <a:t>nonzeros</a:t>
            </a:r>
            <a:r>
              <a:rPr lang="en-US" sz="2400" dirty="0"/>
              <a:t> by row (like CSR)…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178" y="3807179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86" y="3807179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033277"/>
              </p:ext>
            </p:extLst>
          </p:nvPr>
        </p:nvGraphicFramePr>
        <p:xfrm>
          <a:off x="3898368" y="3862811"/>
          <a:ext cx="14630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70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Jagged Diagonal Storage (JDS)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15587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889794"/>
              </p:ext>
            </p:extLst>
          </p:nvPr>
        </p:nvGraphicFramePr>
        <p:xfrm>
          <a:off x="1358633" y="3862811"/>
          <a:ext cx="14630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21880" y="1864955"/>
            <a:ext cx="2808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…sort rows by size and </a:t>
            </a:r>
            <a:r>
              <a:rPr lang="en-US" sz="2400"/>
              <a:t>remember the original row index…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933178" y="3807179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86" y="3807179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192662"/>
              </p:ext>
            </p:extLst>
          </p:nvPr>
        </p:nvGraphicFramePr>
        <p:xfrm>
          <a:off x="3898368" y="3862811"/>
          <a:ext cx="14630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55547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</p:spTree>
    <p:extLst>
      <p:ext uri="{BB962C8B-B14F-4D97-AF65-F5344CB8AC3E}">
        <p14:creationId xmlns:p14="http://schemas.microsoft.com/office/powerpoint/2010/main" val="359764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Jagged Diagonal Storage (JDS)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220767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23428" y="1864955"/>
            <a:ext cx="3405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…store </a:t>
            </a:r>
            <a:r>
              <a:rPr lang="en-US" sz="2400" dirty="0" err="1"/>
              <a:t>nonzeros</a:t>
            </a:r>
            <a:r>
              <a:rPr lang="en-US" sz="2400" dirty="0"/>
              <a:t> in column major…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561552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664793"/>
              </p:ext>
            </p:extLst>
          </p:nvPr>
        </p:nvGraphicFramePr>
        <p:xfrm>
          <a:off x="1358633" y="3862811"/>
          <a:ext cx="14630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933178" y="3807179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86" y="3807179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30432"/>
              </p:ext>
            </p:extLst>
          </p:nvPr>
        </p:nvGraphicFramePr>
        <p:xfrm>
          <a:off x="3898368" y="3862811"/>
          <a:ext cx="14630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1535908" y="3968721"/>
            <a:ext cx="1108170" cy="2006603"/>
            <a:chOff x="1535908" y="4352921"/>
            <a:chExt cx="1108170" cy="2006603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1535908" y="4352921"/>
              <a:ext cx="0" cy="200660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1535908" y="4352921"/>
              <a:ext cx="369326" cy="200660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905233" y="4352922"/>
              <a:ext cx="0" cy="166370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1905233" y="4361378"/>
              <a:ext cx="369325" cy="164409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274557" y="4352922"/>
              <a:ext cx="0" cy="91440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2274753" y="4359974"/>
              <a:ext cx="369325" cy="903624"/>
            </a:xfrm>
            <a:prstGeom prst="line">
              <a:avLst/>
            </a:prstGeom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078758" y="3972664"/>
            <a:ext cx="1108170" cy="2006603"/>
            <a:chOff x="1535908" y="4352921"/>
            <a:chExt cx="1108170" cy="2006603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1535908" y="4352921"/>
              <a:ext cx="0" cy="200660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1535908" y="4352921"/>
              <a:ext cx="369326" cy="200660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905233" y="4352922"/>
              <a:ext cx="0" cy="166370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1905233" y="4361378"/>
              <a:ext cx="369325" cy="164409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2274557" y="4352922"/>
              <a:ext cx="0" cy="91440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2274753" y="4359974"/>
              <a:ext cx="369325" cy="903624"/>
            </a:xfrm>
            <a:prstGeom prst="line">
              <a:avLst/>
            </a:prstGeom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403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Jagged Diagonal Storage (JDS)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72024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23428" y="1864955"/>
            <a:ext cx="3405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…store </a:t>
            </a:r>
            <a:r>
              <a:rPr lang="en-US" sz="2400" dirty="0" err="1"/>
              <a:t>nonzeros</a:t>
            </a:r>
            <a:r>
              <a:rPr lang="en-US" sz="2400" dirty="0"/>
              <a:t> in column major…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86" y="4384251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343330"/>
              </p:ext>
            </p:extLst>
          </p:nvPr>
        </p:nvGraphicFramePr>
        <p:xfrm>
          <a:off x="1347613" y="4432203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9786" y="4930586"/>
            <a:ext cx="95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459313"/>
              </p:ext>
            </p:extLst>
          </p:nvPr>
        </p:nvGraphicFramePr>
        <p:xfrm>
          <a:off x="1347613" y="4978538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532425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</p:spTree>
    <p:extLst>
      <p:ext uri="{BB962C8B-B14F-4D97-AF65-F5344CB8AC3E}">
        <p14:creationId xmlns:p14="http://schemas.microsoft.com/office/powerpoint/2010/main" val="392978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Jagged Diagonal Storage (JDS)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553737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04732" y="1864955"/>
            <a:ext cx="3042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…and remember where the </a:t>
            </a:r>
            <a:r>
              <a:rPr lang="en-US" sz="2400" dirty="0" err="1"/>
              <a:t>nonzeros</a:t>
            </a:r>
            <a:r>
              <a:rPr lang="en-US" sz="2400" dirty="0"/>
              <a:t> of each iteration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215" y="3837915"/>
            <a:ext cx="1074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IterPtr</a:t>
            </a:r>
            <a:r>
              <a:rPr lang="en-US" sz="2400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087589"/>
              </p:ext>
            </p:extLst>
          </p:nvPr>
        </p:nvGraphicFramePr>
        <p:xfrm>
          <a:off x="1347613" y="3885867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6186" y="4384251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275996"/>
              </p:ext>
            </p:extLst>
          </p:nvPr>
        </p:nvGraphicFramePr>
        <p:xfrm>
          <a:off x="1347613" y="4432203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9786" y="4930586"/>
            <a:ext cx="95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64021"/>
              </p:ext>
            </p:extLst>
          </p:nvPr>
        </p:nvGraphicFramePr>
        <p:xfrm>
          <a:off x="1347613" y="4978538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424852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535730" y="4206849"/>
            <a:ext cx="5141391" cy="223519"/>
            <a:chOff x="1535730" y="4540249"/>
            <a:chExt cx="5141391" cy="27432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1535730" y="4540249"/>
              <a:ext cx="0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04030" y="4540249"/>
              <a:ext cx="181389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2224415" y="4540249"/>
              <a:ext cx="333183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2656602" y="4540249"/>
              <a:ext cx="4020519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260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55730"/>
              </p:ext>
            </p:extLst>
          </p:nvPr>
        </p:nvGraphicFramePr>
        <p:xfrm>
          <a:off x="1347613" y="4432203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680617"/>
              </p:ext>
            </p:extLst>
          </p:nvPr>
        </p:nvGraphicFramePr>
        <p:xfrm>
          <a:off x="1347613" y="4978538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/JDS Kernel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579404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3215" y="3837915"/>
            <a:ext cx="1074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IterPtr</a:t>
            </a:r>
            <a:r>
              <a:rPr lang="en-US" sz="2400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044971"/>
              </p:ext>
            </p:extLst>
          </p:nvPr>
        </p:nvGraphicFramePr>
        <p:xfrm>
          <a:off x="1347613" y="3885867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6186" y="4384251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86" y="4930586"/>
            <a:ext cx="95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152400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418235"/>
              </p:ext>
            </p:extLst>
          </p:nvPr>
        </p:nvGraphicFramePr>
        <p:xfrm>
          <a:off x="4277248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34589"/>
              </p:ext>
            </p:extLst>
          </p:nvPr>
        </p:nvGraphicFramePr>
        <p:xfrm>
          <a:off x="5377660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489414" y="5424292"/>
            <a:ext cx="1891907" cy="457200"/>
            <a:chOff x="1489414" y="5808492"/>
            <a:chExt cx="1891907" cy="457200"/>
          </a:xfrm>
        </p:grpSpPr>
        <p:sp>
          <p:nvSpPr>
            <p:cNvPr id="26" name="Freeform 25"/>
            <p:cNvSpPr/>
            <p:nvPr/>
          </p:nvSpPr>
          <p:spPr>
            <a:xfrm>
              <a:off x="1489414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858651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2227888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2597125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2966362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3335601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406098" y="955060"/>
            <a:ext cx="786689" cy="2389848"/>
            <a:chOff x="1406098" y="1339260"/>
            <a:chExt cx="786689" cy="2389848"/>
          </a:xfrm>
        </p:grpSpPr>
        <p:sp>
          <p:nvSpPr>
            <p:cNvPr id="32" name="Freeform 31"/>
            <p:cNvSpPr/>
            <p:nvPr/>
          </p:nvSpPr>
          <p:spPr>
            <a:xfrm>
              <a:off x="1406098" y="182331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1406098" y="2550113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1406098" y="327190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>
              <a:off x="2147067" y="214484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" name="Freeform 35"/>
            <p:cNvSpPr/>
            <p:nvPr/>
          </p:nvSpPr>
          <p:spPr>
            <a:xfrm>
              <a:off x="1759886" y="2882483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" name="Freeform 36"/>
            <p:cNvSpPr/>
            <p:nvPr/>
          </p:nvSpPr>
          <p:spPr>
            <a:xfrm>
              <a:off x="1406098" y="133926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535730" y="4206849"/>
            <a:ext cx="5141391" cy="223519"/>
            <a:chOff x="1535730" y="4540249"/>
            <a:chExt cx="5141391" cy="274320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1535730" y="4540249"/>
              <a:ext cx="0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904030" y="4540249"/>
              <a:ext cx="181389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2224415" y="4540249"/>
              <a:ext cx="333183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656602" y="4540249"/>
              <a:ext cx="4020519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1256432" y="5846226"/>
            <a:ext cx="333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accesses are coalesced…</a:t>
            </a:r>
          </a:p>
        </p:txBody>
      </p:sp>
    </p:spTree>
    <p:extLst>
      <p:ext uri="{BB962C8B-B14F-4D97-AF65-F5344CB8AC3E}">
        <p14:creationId xmlns:p14="http://schemas.microsoft.com/office/powerpoint/2010/main" val="359571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18129"/>
              </p:ext>
            </p:extLst>
          </p:nvPr>
        </p:nvGraphicFramePr>
        <p:xfrm>
          <a:off x="1347613" y="4432203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514586"/>
              </p:ext>
            </p:extLst>
          </p:nvPr>
        </p:nvGraphicFramePr>
        <p:xfrm>
          <a:off x="1347613" y="4978538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/JDS Kernel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23696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3215" y="3837915"/>
            <a:ext cx="1074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IterPtr</a:t>
            </a:r>
            <a:r>
              <a:rPr lang="en-US" sz="2400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994647"/>
              </p:ext>
            </p:extLst>
          </p:nvPr>
        </p:nvGraphicFramePr>
        <p:xfrm>
          <a:off x="1347613" y="3885867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6186" y="4384251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86" y="4930586"/>
            <a:ext cx="95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493248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505271"/>
              </p:ext>
            </p:extLst>
          </p:nvPr>
        </p:nvGraphicFramePr>
        <p:xfrm>
          <a:off x="4277248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563720"/>
              </p:ext>
            </p:extLst>
          </p:nvPr>
        </p:nvGraphicFramePr>
        <p:xfrm>
          <a:off x="5377660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3702406" y="5424292"/>
            <a:ext cx="1891907" cy="457200"/>
            <a:chOff x="1489414" y="5808492"/>
            <a:chExt cx="1891907" cy="457200"/>
          </a:xfrm>
        </p:grpSpPr>
        <p:sp>
          <p:nvSpPr>
            <p:cNvPr id="26" name="Freeform 25"/>
            <p:cNvSpPr/>
            <p:nvPr/>
          </p:nvSpPr>
          <p:spPr>
            <a:xfrm>
              <a:off x="1489414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858651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2227888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2597125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2966362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3335601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40000"/>
                  <a:lumOff val="6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32" name="Freeform 31"/>
          <p:cNvSpPr/>
          <p:nvPr/>
        </p:nvSpPr>
        <p:spPr>
          <a:xfrm>
            <a:off x="1768048" y="1439111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2504648" y="2165913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2136348" y="2887708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2877317" y="1760649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2858436" y="2498283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3625423" y="955060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5">
                <a:lumMod val="40000"/>
                <a:lumOff val="6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535730" y="4206849"/>
            <a:ext cx="5141391" cy="223519"/>
            <a:chOff x="1535730" y="4540249"/>
            <a:chExt cx="5141391" cy="274320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1535730" y="4540249"/>
              <a:ext cx="0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904030" y="4540249"/>
              <a:ext cx="181389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2224415" y="4540249"/>
              <a:ext cx="333183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656602" y="4540249"/>
              <a:ext cx="4020519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256432" y="5846226"/>
            <a:ext cx="6564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accesses are coalesced…</a:t>
            </a:r>
          </a:p>
          <a:p>
            <a:r>
              <a:rPr lang="en-US" dirty="0"/>
              <a:t>…and threads drop out from the end, minimizing control divergence</a:t>
            </a:r>
          </a:p>
        </p:txBody>
      </p:sp>
    </p:spTree>
    <p:extLst>
      <p:ext uri="{BB962C8B-B14F-4D97-AF65-F5344CB8AC3E}">
        <p14:creationId xmlns:p14="http://schemas.microsoft.com/office/powerpoint/2010/main" val="403769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049887"/>
              </p:ext>
            </p:extLst>
          </p:nvPr>
        </p:nvGraphicFramePr>
        <p:xfrm>
          <a:off x="1347613" y="4432203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63479"/>
              </p:ext>
            </p:extLst>
          </p:nvPr>
        </p:nvGraphicFramePr>
        <p:xfrm>
          <a:off x="1347613" y="4978538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/JDS Kernel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316956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3215" y="3837915"/>
            <a:ext cx="1074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IterPtr</a:t>
            </a:r>
            <a:r>
              <a:rPr lang="en-US" sz="2400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4098"/>
              </p:ext>
            </p:extLst>
          </p:nvPr>
        </p:nvGraphicFramePr>
        <p:xfrm>
          <a:off x="1347613" y="3885867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6186" y="4384251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86" y="4930586"/>
            <a:ext cx="95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45224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005822"/>
              </p:ext>
            </p:extLst>
          </p:nvPr>
        </p:nvGraphicFramePr>
        <p:xfrm>
          <a:off x="4277248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261116"/>
              </p:ext>
            </p:extLst>
          </p:nvPr>
        </p:nvGraphicFramePr>
        <p:xfrm>
          <a:off x="5377660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5531198" y="5424292"/>
            <a:ext cx="1891907" cy="457200"/>
            <a:chOff x="1489414" y="5808492"/>
            <a:chExt cx="1891907" cy="457200"/>
          </a:xfrm>
        </p:grpSpPr>
        <p:sp>
          <p:nvSpPr>
            <p:cNvPr id="26" name="Freeform 25"/>
            <p:cNvSpPr/>
            <p:nvPr/>
          </p:nvSpPr>
          <p:spPr>
            <a:xfrm>
              <a:off x="1489414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858651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2227888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2597125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40000"/>
                  <a:lumOff val="6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2966362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D7AFFF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3335601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40000"/>
                  <a:lumOff val="6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32" name="Freeform 31"/>
          <p:cNvSpPr/>
          <p:nvPr/>
        </p:nvSpPr>
        <p:spPr>
          <a:xfrm>
            <a:off x="2503378" y="1439111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3239978" y="2165913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3239978" y="2887708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3625423" y="1760649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4">
                <a:lumMod val="40000"/>
                <a:lumOff val="6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3625423" y="2498283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rgbClr val="D7AFFF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3625423" y="955060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5">
                <a:lumMod val="40000"/>
                <a:lumOff val="6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535730" y="4206849"/>
            <a:ext cx="5141391" cy="223519"/>
            <a:chOff x="1535730" y="4540249"/>
            <a:chExt cx="5141391" cy="274320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1535730" y="4540249"/>
              <a:ext cx="0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904030" y="4540249"/>
              <a:ext cx="181389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2224415" y="4540249"/>
              <a:ext cx="333183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656602" y="4540249"/>
              <a:ext cx="4020519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256432" y="5846226"/>
            <a:ext cx="6564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accesses are coalesced…</a:t>
            </a:r>
          </a:p>
          <a:p>
            <a:r>
              <a:rPr lang="en-US" dirty="0"/>
              <a:t>…and threads drop out from the end, minimizing control divergence</a:t>
            </a:r>
          </a:p>
        </p:txBody>
      </p:sp>
    </p:spTree>
    <p:extLst>
      <p:ext uri="{BB962C8B-B14F-4D97-AF65-F5344CB8AC3E}">
        <p14:creationId xmlns:p14="http://schemas.microsoft.com/office/powerpoint/2010/main" val="70008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172603"/>
              </p:ext>
            </p:extLst>
          </p:nvPr>
        </p:nvGraphicFramePr>
        <p:xfrm>
          <a:off x="1347613" y="4432203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611603"/>
              </p:ext>
            </p:extLst>
          </p:nvPr>
        </p:nvGraphicFramePr>
        <p:xfrm>
          <a:off x="1347613" y="4978538"/>
          <a:ext cx="5486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814971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990118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201756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0378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7067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464190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9611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7201495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301742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686777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/JDS Kernel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293328"/>
              </p:ext>
            </p:extLst>
          </p:nvPr>
        </p:nvGraphicFramePr>
        <p:xfrm>
          <a:off x="1358633" y="1288660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2993713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7866114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871308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8021109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877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80696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8725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4106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65510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19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</a:p>
                  </a:txBody>
                  <a:tcPr marL="0" marR="0" marT="0" marB="0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342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7384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3215" y="3837915"/>
            <a:ext cx="1074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IterPtr</a:t>
            </a:r>
            <a:r>
              <a:rPr lang="en-US" sz="2400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135" y="1243322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251009"/>
              </p:ext>
            </p:extLst>
          </p:nvPr>
        </p:nvGraphicFramePr>
        <p:xfrm>
          <a:off x="1347613" y="3885867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225839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8838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141375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58397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95957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12007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6186" y="4384251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86" y="4930586"/>
            <a:ext cx="95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96037"/>
              </p:ext>
            </p:extLst>
          </p:nvPr>
        </p:nvGraphicFramePr>
        <p:xfrm>
          <a:off x="7797848" y="3862811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9771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579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68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9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66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8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8429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85219" y="3807179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93126"/>
              </p:ext>
            </p:extLst>
          </p:nvPr>
        </p:nvGraphicFramePr>
        <p:xfrm>
          <a:off x="4277248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084996"/>
              </p:ext>
            </p:extLst>
          </p:nvPr>
        </p:nvGraphicFramePr>
        <p:xfrm>
          <a:off x="5377660" y="1288660"/>
          <a:ext cx="3657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110682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91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4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284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88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39912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645378" y="5424292"/>
            <a:ext cx="1072739" cy="457200"/>
            <a:chOff x="1489414" y="5808492"/>
            <a:chExt cx="1072739" cy="457200"/>
          </a:xfrm>
        </p:grpSpPr>
        <p:sp>
          <p:nvSpPr>
            <p:cNvPr id="26" name="Freeform 25"/>
            <p:cNvSpPr/>
            <p:nvPr/>
          </p:nvSpPr>
          <p:spPr>
            <a:xfrm>
              <a:off x="1489414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1720226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1919278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FF9999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2118330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40000"/>
                  <a:lumOff val="6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2317382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rgbClr val="D7AFFF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2516433" y="580849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40000"/>
                  <a:lumOff val="6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32" name="Freeform 31"/>
          <p:cNvSpPr/>
          <p:nvPr/>
        </p:nvSpPr>
        <p:spPr>
          <a:xfrm>
            <a:off x="2868503" y="1439111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3723848" y="2165913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2">
                <a:lumMod val="40000"/>
                <a:lumOff val="6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3723848" y="2887708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rgbClr val="FF9999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3625423" y="1760649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4">
                <a:lumMod val="40000"/>
                <a:lumOff val="6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3625423" y="2498283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rgbClr val="D7AFFF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3625423" y="955060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solidFill>
              <a:schemeClr val="accent5">
                <a:lumMod val="40000"/>
                <a:lumOff val="6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535730" y="4206849"/>
            <a:ext cx="5141391" cy="223519"/>
            <a:chOff x="1535730" y="4540249"/>
            <a:chExt cx="5141391" cy="274320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1535730" y="4540249"/>
              <a:ext cx="0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904030" y="4540249"/>
              <a:ext cx="181389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2224415" y="4540249"/>
              <a:ext cx="3331835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2656602" y="4540249"/>
              <a:ext cx="4020519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256432" y="5846226"/>
            <a:ext cx="6564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accesses are coalesced…</a:t>
            </a:r>
          </a:p>
          <a:p>
            <a:r>
              <a:rPr lang="en-US" dirty="0"/>
              <a:t>…and threads drop out from the end, minimizing control divergence</a:t>
            </a:r>
          </a:p>
        </p:txBody>
      </p:sp>
    </p:spTree>
    <p:extLst>
      <p:ext uri="{BB962C8B-B14F-4D97-AF65-F5344CB8AC3E}">
        <p14:creationId xmlns:p14="http://schemas.microsoft.com/office/powerpoint/2010/main" val="97277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JDS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Space efficiency: no padding</a:t>
            </a:r>
          </a:p>
          <a:p>
            <a:pPr lvl="1"/>
            <a:r>
              <a:rPr lang="en-US" dirty="0"/>
              <a:t>Accessibility: given a row, easy to find all </a:t>
            </a:r>
            <a:r>
              <a:rPr lang="en-US" dirty="0" err="1"/>
              <a:t>nonzeros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/JDS memory accesses are coalesced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/JDS minimizes control divergence</a:t>
            </a:r>
          </a:p>
          <a:p>
            <a:endParaRPr lang="en-US" sz="1400" dirty="0"/>
          </a:p>
          <a:p>
            <a:r>
              <a:rPr lang="en-US" dirty="0"/>
              <a:t>Disadvantage:</a:t>
            </a:r>
          </a:p>
          <a:p>
            <a:pPr lvl="1"/>
            <a:r>
              <a:rPr lang="en-US" dirty="0"/>
              <a:t>Flexibility: hard to add new elements to the matrix </a:t>
            </a:r>
          </a:p>
          <a:p>
            <a:pPr lvl="1"/>
            <a:r>
              <a:rPr lang="en-US" dirty="0"/>
              <a:t>Accessibility: given nonzero, hard to find row; given a column, hard to find all </a:t>
            </a:r>
            <a:r>
              <a:rPr lang="en-US" dirty="0" err="1"/>
              <a:t>nonzeros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19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175298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</TotalTime>
  <Words>1665</Words>
  <Application>Microsoft Office PowerPoint</Application>
  <PresentationFormat>On-screen Show (4:3)</PresentationFormat>
  <Paragraphs>886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85</cp:revision>
  <dcterms:created xsi:type="dcterms:W3CDTF">2022-03-30T06:33:52Z</dcterms:created>
  <dcterms:modified xsi:type="dcterms:W3CDTF">2022-10-24T11:18:33Z</dcterms:modified>
</cp:coreProperties>
</file>