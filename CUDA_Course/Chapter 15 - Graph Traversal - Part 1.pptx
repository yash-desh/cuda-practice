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6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31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26-10-2022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Graph Traversal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0E7F80-0400-4114-B13F-BE1ED744258C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1)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Representing Graphs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Graphs can be represented with adjacency matrices</a:t>
            </a:r>
          </a:p>
          <a:p>
            <a:pPr lvl="1"/>
            <a:r>
              <a:rPr lang="en-US" dirty="0"/>
              <a:t>Adjacency matrix is usually very sparse</a:t>
            </a:r>
          </a:p>
          <a:p>
            <a:pPr lvl="2"/>
            <a:r>
              <a:rPr lang="en-US" dirty="0"/>
              <a:t>Can use the same storage formats for sparse matrices</a:t>
            </a:r>
          </a:p>
          <a:p>
            <a:pPr lvl="1"/>
            <a:r>
              <a:rPr lang="en-US" dirty="0"/>
              <a:t>We will assume unweighted graphs</a:t>
            </a:r>
          </a:p>
          <a:p>
            <a:pPr lvl="2"/>
            <a:r>
              <a:rPr lang="en-US" dirty="0" err="1"/>
              <a:t>Nonzeros</a:t>
            </a:r>
            <a:r>
              <a:rPr lang="en-US" dirty="0"/>
              <a:t> all ones so no need to store their values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650786" y="1557928"/>
            <a:ext cx="1735271" cy="1900210"/>
            <a:chOff x="1066800" y="1892710"/>
            <a:chExt cx="1735271" cy="1900210"/>
          </a:xfrm>
        </p:grpSpPr>
        <p:sp>
          <p:nvSpPr>
            <p:cNvPr id="21" name="Oval 20"/>
            <p:cNvSpPr/>
            <p:nvPr/>
          </p:nvSpPr>
          <p:spPr>
            <a:xfrm>
              <a:off x="1295400" y="1892710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140974" y="2458892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1066800" y="3233182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2344871" y="3335720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5" name="Straight Connector 24"/>
            <p:cNvCxnSpPr>
              <a:stCxn id="21" idx="5"/>
              <a:endCxn id="22" idx="1"/>
            </p:cNvCxnSpPr>
            <p:nvPr/>
          </p:nvCxnSpPr>
          <p:spPr>
            <a:xfrm>
              <a:off x="1685645" y="2282955"/>
              <a:ext cx="522284" cy="242892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2" idx="3"/>
              <a:endCxn id="23" idx="7"/>
            </p:cNvCxnSpPr>
            <p:nvPr/>
          </p:nvCxnSpPr>
          <p:spPr>
            <a:xfrm flipH="1">
              <a:off x="1457045" y="2849137"/>
              <a:ext cx="750884" cy="45100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4" idx="0"/>
              <a:endCxn id="22" idx="4"/>
            </p:cNvCxnSpPr>
            <p:nvPr/>
          </p:nvCxnSpPr>
          <p:spPr>
            <a:xfrm flipH="1" flipV="1">
              <a:off x="2369574" y="2916092"/>
              <a:ext cx="203897" cy="41962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4"/>
              <a:endCxn id="23" idx="0"/>
            </p:cNvCxnSpPr>
            <p:nvPr/>
          </p:nvCxnSpPr>
          <p:spPr>
            <a:xfrm flipH="1">
              <a:off x="1295400" y="2349910"/>
              <a:ext cx="228600" cy="883272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3" idx="6"/>
              <a:endCxn id="24" idx="2"/>
            </p:cNvCxnSpPr>
            <p:nvPr/>
          </p:nvCxnSpPr>
          <p:spPr>
            <a:xfrm>
              <a:off x="1524000" y="3461782"/>
              <a:ext cx="820871" cy="10253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2315049" y="3611500"/>
            <a:ext cx="76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Graph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961635"/>
              </p:ext>
            </p:extLst>
          </p:nvPr>
        </p:nvGraphicFramePr>
        <p:xfrm>
          <a:off x="4944592" y="1172138"/>
          <a:ext cx="22860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8688467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4812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717992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3195617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1208596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650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809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8805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047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61352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13310" y="3611500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Adjacency Matrix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3778485" y="2329689"/>
            <a:ext cx="2139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Vertex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915" y="881473"/>
            <a:ext cx="2120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Destination Vertex</a:t>
            </a:r>
          </a:p>
        </p:txBody>
      </p:sp>
    </p:spTree>
    <p:extLst>
      <p:ext uri="{BB962C8B-B14F-4D97-AF65-F5344CB8AC3E}">
        <p14:creationId xmlns:p14="http://schemas.microsoft.com/office/powerpoint/2010/main" val="343234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  <p:bldP spid="29" grpId="0"/>
      <p:bldP spid="31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COO, CSR, and CSC Representation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90309"/>
              </p:ext>
            </p:extLst>
          </p:nvPr>
        </p:nvGraphicFramePr>
        <p:xfrm>
          <a:off x="3324312" y="5433012"/>
          <a:ext cx="2347278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478">
                  <a:extLst>
                    <a:ext uri="{9D8B030D-6E8A-4147-A177-3AD203B41FA5}">
                      <a16:colId xmlns:a16="http://schemas.microsoft.com/office/drawing/2014/main" val="3836855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0536267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9328473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7146777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5685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085024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src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117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/>
                      <a:endParaRPr lang="en-US" sz="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8933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dst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999554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193484"/>
              </p:ext>
            </p:extLst>
          </p:nvPr>
        </p:nvGraphicFramePr>
        <p:xfrm>
          <a:off x="1628008" y="4249722"/>
          <a:ext cx="2706624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3836855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0536267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9328473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7146777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5685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085024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srcPtrs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8117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/>
                      <a:endParaRPr lang="en-US" sz="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8933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dst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99955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625546" y="5628602"/>
            <a:ext cx="856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031" y="4445312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CSR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309229"/>
              </p:ext>
            </p:extLst>
          </p:nvPr>
        </p:nvGraphicFramePr>
        <p:xfrm>
          <a:off x="5404957" y="4249722"/>
          <a:ext cx="2685161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361">
                  <a:extLst>
                    <a:ext uri="{9D8B030D-6E8A-4147-A177-3AD203B41FA5}">
                      <a16:colId xmlns:a16="http://schemas.microsoft.com/office/drawing/2014/main" val="3836855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0536267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9328473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7146777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5685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085024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dstPtrs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8117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/>
                      <a:endParaRPr lang="en-US" sz="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8933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err="1"/>
                        <a:t>src</a:t>
                      </a:r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999554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4759980" y="4445312"/>
            <a:ext cx="73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CSC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650786" y="1557928"/>
            <a:ext cx="1735271" cy="1900210"/>
            <a:chOff x="1066800" y="1892710"/>
            <a:chExt cx="1735271" cy="1900210"/>
          </a:xfrm>
        </p:grpSpPr>
        <p:sp>
          <p:nvSpPr>
            <p:cNvPr id="55" name="Oval 54"/>
            <p:cNvSpPr/>
            <p:nvPr/>
          </p:nvSpPr>
          <p:spPr>
            <a:xfrm>
              <a:off x="1295400" y="1892710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2140974" y="2458892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1066800" y="3233182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58" name="Oval 57"/>
            <p:cNvSpPr/>
            <p:nvPr/>
          </p:nvSpPr>
          <p:spPr>
            <a:xfrm>
              <a:off x="2344871" y="3335720"/>
              <a:ext cx="457200" cy="457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59" name="Straight Connector 58"/>
            <p:cNvCxnSpPr>
              <a:stCxn id="55" idx="5"/>
              <a:endCxn id="56" idx="1"/>
            </p:cNvCxnSpPr>
            <p:nvPr/>
          </p:nvCxnSpPr>
          <p:spPr>
            <a:xfrm>
              <a:off x="1685645" y="2282955"/>
              <a:ext cx="522284" cy="242892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56" idx="3"/>
              <a:endCxn id="57" idx="7"/>
            </p:cNvCxnSpPr>
            <p:nvPr/>
          </p:nvCxnSpPr>
          <p:spPr>
            <a:xfrm flipH="1">
              <a:off x="1457045" y="2849137"/>
              <a:ext cx="750884" cy="45100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8" idx="0"/>
              <a:endCxn id="56" idx="4"/>
            </p:cNvCxnSpPr>
            <p:nvPr/>
          </p:nvCxnSpPr>
          <p:spPr>
            <a:xfrm flipH="1" flipV="1">
              <a:off x="2369574" y="2916092"/>
              <a:ext cx="203897" cy="41962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5" idx="4"/>
              <a:endCxn id="57" idx="0"/>
            </p:cNvCxnSpPr>
            <p:nvPr/>
          </p:nvCxnSpPr>
          <p:spPr>
            <a:xfrm flipH="1">
              <a:off x="1295400" y="2349910"/>
              <a:ext cx="228600" cy="883272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57" idx="6"/>
              <a:endCxn id="58" idx="2"/>
            </p:cNvCxnSpPr>
            <p:nvPr/>
          </p:nvCxnSpPr>
          <p:spPr>
            <a:xfrm>
              <a:off x="1524000" y="3461782"/>
              <a:ext cx="820871" cy="102538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2315049" y="3611500"/>
            <a:ext cx="76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Graph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346218"/>
              </p:ext>
            </p:extLst>
          </p:nvPr>
        </p:nvGraphicFramePr>
        <p:xfrm>
          <a:off x="4944592" y="1172138"/>
          <a:ext cx="22860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8688467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4812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717992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3195617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1208596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650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809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8805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047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61352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5413310" y="3611500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Adjacency Matrix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3778485" y="2329689"/>
            <a:ext cx="2139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Vertex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48915" y="881473"/>
            <a:ext cx="2120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Destination Vertex</a:t>
            </a:r>
          </a:p>
        </p:txBody>
      </p:sp>
    </p:spTree>
    <p:extLst>
      <p:ext uri="{BB962C8B-B14F-4D97-AF65-F5344CB8AC3E}">
        <p14:creationId xmlns:p14="http://schemas.microsoft.com/office/powerpoint/2010/main" val="321769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Approaches to Parallelizing Graph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Vertex-centric</a:t>
            </a:r>
          </a:p>
          <a:p>
            <a:pPr lvl="1"/>
            <a:r>
              <a:rPr lang="en-US" sz="2000" dirty="0"/>
              <a:t>Assign a thread to do something for each vertex</a:t>
            </a:r>
          </a:p>
          <a:p>
            <a:pPr lvl="1"/>
            <a:r>
              <a:rPr lang="en-US" sz="2000" dirty="0"/>
              <a:t>Typically use CSR/CSC</a:t>
            </a:r>
          </a:p>
          <a:p>
            <a:pPr lvl="2"/>
            <a:r>
              <a:rPr lang="en-US" sz="1800" dirty="0"/>
              <a:t>Given a vertex, easy to find all its incoming or outgoing edges</a:t>
            </a:r>
          </a:p>
          <a:p>
            <a:pPr lvl="2"/>
            <a:r>
              <a:rPr lang="en-US" sz="1800" dirty="0"/>
              <a:t>Might also use other formats (e.g., ELL, JDS) as optimization</a:t>
            </a:r>
          </a:p>
          <a:p>
            <a:r>
              <a:rPr lang="en-US" sz="2400" dirty="0"/>
              <a:t>Edge-centric</a:t>
            </a:r>
          </a:p>
          <a:p>
            <a:pPr lvl="1"/>
            <a:r>
              <a:rPr lang="en-US" sz="2000" dirty="0"/>
              <a:t>Assign a thread to do something for each edge</a:t>
            </a:r>
          </a:p>
          <a:p>
            <a:pPr lvl="1"/>
            <a:r>
              <a:rPr lang="en-US" sz="2000" dirty="0"/>
              <a:t>Typically use COO</a:t>
            </a:r>
          </a:p>
          <a:p>
            <a:pPr lvl="2"/>
            <a:r>
              <a:rPr lang="en-US" sz="1800" dirty="0"/>
              <a:t>Given an edge, easy to find its source and destination vertices</a:t>
            </a:r>
          </a:p>
          <a:p>
            <a:r>
              <a:rPr lang="en-US" sz="2400" dirty="0"/>
              <a:t>Hybrid</a:t>
            </a:r>
          </a:p>
          <a:p>
            <a:pPr lvl="1"/>
            <a:r>
              <a:rPr lang="en-US" sz="2000" dirty="0"/>
              <a:t>Example: </a:t>
            </a:r>
            <a:r>
              <a:rPr lang="en-US" sz="1800" dirty="0"/>
              <a:t>Given an edge, need neighbors of the source vertices and neighbors of the destination vertices</a:t>
            </a:r>
          </a:p>
          <a:p>
            <a:pPr lvl="1"/>
            <a:r>
              <a:rPr lang="en-US" sz="2000" dirty="0"/>
              <a:t>Use both COO and CSR/CSC</a:t>
            </a:r>
          </a:p>
        </p:txBody>
      </p:sp>
    </p:spTree>
    <p:extLst>
      <p:ext uri="{BB962C8B-B14F-4D97-AF65-F5344CB8AC3E}">
        <p14:creationId xmlns:p14="http://schemas.microsoft.com/office/powerpoint/2010/main" val="328163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0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153552" y="5137522"/>
            <a:ext cx="836896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Level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4583" y="199275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5872" y="203530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0715" y="326432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1449" y="391038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4876" y="277223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29416" y="476281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2330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51042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5202" y="190349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11135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149480" y="5137522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4876" y="277223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29416" y="476281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2330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51042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5202" y="190349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5671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149480" y="5137522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69142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149480" y="5137522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Level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44772" y="190426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3189" y="352827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5637" y="388732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12851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Oval 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7"/>
            <a:endCxn id="1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5"/>
            <a:endCxn id="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3"/>
            <a:endCxn id="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5"/>
            <a:endCxn id="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0" idx="3"/>
            <a:endCxn id="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3"/>
            <a:endCxn id="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3"/>
            <a:endCxn id="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2" idx="7"/>
            <a:endCxn id="1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4"/>
            <a:endCxn id="1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4" idx="3"/>
            <a:endCxn id="1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" idx="5"/>
            <a:endCxn id="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3" idx="6"/>
            <a:endCxn id="1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5"/>
            <a:endCxn id="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7" idx="1"/>
            <a:endCxn id="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8" idx="6"/>
            <a:endCxn id="1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5990" y="5647766"/>
            <a:ext cx="715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Objective: find the distance (level) of each vertex from some source vertex</a:t>
            </a:r>
          </a:p>
        </p:txBody>
      </p:sp>
      <p:sp>
        <p:nvSpPr>
          <p:cNvPr id="35" name="Oval 3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1"/>
            <a:endCxn id="3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874214" y="5137522"/>
            <a:ext cx="139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Unreachable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44772" y="190426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3189" y="352827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5637" y="388732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92109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Approaches to Parallelizing BFS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Vertex-centric (two versions)</a:t>
            </a:r>
          </a:p>
          <a:p>
            <a:pPr lvl="1"/>
            <a:r>
              <a:rPr lang="en-US" sz="2000" b="1" u="sng" dirty="0"/>
              <a:t>Push:</a:t>
            </a:r>
            <a:r>
              <a:rPr lang="en-US" sz="2000" dirty="0"/>
              <a:t> For every vertex, if it was in the previous level, add all its unvisited outgoing neighbors to the current level</a:t>
            </a:r>
          </a:p>
          <a:p>
            <a:pPr lvl="2"/>
            <a:r>
              <a:rPr lang="en-US" sz="1800" dirty="0"/>
              <a:t>i.e., a vertex pushes information to its outgoing neighbors</a:t>
            </a:r>
          </a:p>
        </p:txBody>
      </p:sp>
    </p:spTree>
    <p:extLst>
      <p:ext uri="{BB962C8B-B14F-4D97-AF65-F5344CB8AC3E}">
        <p14:creationId xmlns:p14="http://schemas.microsoft.com/office/powerpoint/2010/main" val="321322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BFS (Push)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0980" y="5155988"/>
            <a:ext cx="18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ysClr val="windowText" lastClr="000000"/>
                </a:solidFill>
              </a:rPr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5897" y="5647766"/>
            <a:ext cx="823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Threads whose vertices are in </a:t>
            </a:r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dirty="0"/>
              <a:t> mark their unvisited neighbors as being in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grpSp>
        <p:nvGrpSpPr>
          <p:cNvPr id="149" name="Group 148"/>
          <p:cNvGrpSpPr/>
          <p:nvPr/>
        </p:nvGrpSpPr>
        <p:grpSpPr>
          <a:xfrm>
            <a:off x="733118" y="956620"/>
            <a:ext cx="7701239" cy="3369854"/>
            <a:chOff x="733118" y="1340820"/>
            <a:chExt cx="7701239" cy="3369854"/>
          </a:xfrm>
        </p:grpSpPr>
        <p:sp>
          <p:nvSpPr>
            <p:cNvPr id="150" name="Freeform 149"/>
            <p:cNvSpPr/>
            <p:nvPr/>
          </p:nvSpPr>
          <p:spPr>
            <a:xfrm>
              <a:off x="1524000" y="134082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733118" y="201813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3398178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5071075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6659880" y="137428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4069080" y="259235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2365423" y="224074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7324367" y="225381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5745480" y="276949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1269638" y="29809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2925044" y="336204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7192221" y="339060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5451234" y="423126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839656" y="422764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2134290" y="42534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877381" y="401447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8388637" y="276040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67" name="Oval 166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Connector 179"/>
          <p:cNvCxnSpPr>
            <a:stCxn id="173" idx="7"/>
            <a:endCxn id="177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74" idx="6"/>
            <a:endCxn id="177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74" idx="5"/>
            <a:endCxn id="173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73" idx="3"/>
            <a:endCxn id="171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67" idx="5"/>
            <a:endCxn id="168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74" idx="3"/>
            <a:endCxn id="168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68" idx="3"/>
            <a:endCxn id="169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71" idx="3"/>
            <a:endCxn id="170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3" idx="6"/>
            <a:endCxn id="176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stCxn id="176" idx="7"/>
            <a:endCxn id="179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76" idx="4"/>
            <a:endCxn id="175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78" idx="3"/>
            <a:endCxn id="175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171" idx="5"/>
            <a:endCxn id="172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177" idx="6"/>
            <a:endCxn id="179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169" idx="5"/>
            <a:endCxn id="170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stCxn id="171" idx="1"/>
            <a:endCxn id="168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172" idx="6"/>
            <a:endCxn id="175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9" name="Straight Connector 198"/>
          <p:cNvCxnSpPr>
            <a:stCxn id="198" idx="1"/>
            <a:endCxn id="197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12123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BFS Code (Push)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5" y="1997839"/>
            <a:ext cx="9128631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bfs_kernel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level,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               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vertex =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(vertex &lt;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csrGraph.numVertices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(level[vertex] ==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edge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[vertex]; edge &lt;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 +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 ++edge)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neighbor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csrGraph.dst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(level[neighbor] ==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Neighbor not previously visited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level[neighbor]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*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533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Approaches to Parallelizing BFS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Vertex-centric (two versions)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Push: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For every vertex, if it was in the previous level, add all its unvisited outgoing neighbors to the current level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i.e., a vertex pushes information to its outgoing neighbors</a:t>
            </a:r>
          </a:p>
          <a:p>
            <a:pPr lvl="1"/>
            <a:r>
              <a:rPr lang="en-US" sz="2000" b="1" u="sng" dirty="0"/>
              <a:t>Pull:</a:t>
            </a:r>
            <a:r>
              <a:rPr lang="en-US" sz="2000" dirty="0"/>
              <a:t> For every vertex, if it has not been visited, if any of its incoming neighbors are in the previous level, add it to the current level</a:t>
            </a:r>
          </a:p>
          <a:p>
            <a:pPr lvl="2"/>
            <a:r>
              <a:rPr lang="en-US" sz="1800" dirty="0"/>
              <a:t>i.e., a vertex pulls information from its incoming neighbors</a:t>
            </a:r>
          </a:p>
        </p:txBody>
      </p:sp>
    </p:spTree>
    <p:extLst>
      <p:ext uri="{BB962C8B-B14F-4D97-AF65-F5344CB8AC3E}">
        <p14:creationId xmlns:p14="http://schemas.microsoft.com/office/powerpoint/2010/main" val="226179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BFS (Pull)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0980" y="5155988"/>
            <a:ext cx="18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ysClr val="windowText" lastClr="000000"/>
                </a:solidFill>
              </a:rPr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1175" y="5647766"/>
            <a:ext cx="722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Threads whose vertices are unvisited mark their vertices as being in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  <a:r>
              <a:rPr lang="en-US" dirty="0"/>
              <a:t> if any of their neighbors are in </a:t>
            </a:r>
            <a:r>
              <a:rPr lang="en-US" b="1" dirty="0">
                <a:solidFill>
                  <a:schemeClr val="accent6"/>
                </a:solidFill>
              </a:rPr>
              <a:t>level 1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733118" y="956620"/>
            <a:ext cx="7701239" cy="3369854"/>
            <a:chOff x="733118" y="1340820"/>
            <a:chExt cx="7701239" cy="3369854"/>
          </a:xfrm>
        </p:grpSpPr>
        <p:sp>
          <p:nvSpPr>
            <p:cNvPr id="87" name="Freeform 86"/>
            <p:cNvSpPr/>
            <p:nvPr/>
          </p:nvSpPr>
          <p:spPr>
            <a:xfrm>
              <a:off x="1524000" y="134082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8" name="Freeform 87"/>
            <p:cNvSpPr/>
            <p:nvPr/>
          </p:nvSpPr>
          <p:spPr>
            <a:xfrm>
              <a:off x="733118" y="201813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" name="Freeform 88"/>
            <p:cNvSpPr/>
            <p:nvPr/>
          </p:nvSpPr>
          <p:spPr>
            <a:xfrm>
              <a:off x="3398178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>
              <a:off x="5071075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" name="Freeform 90"/>
            <p:cNvSpPr/>
            <p:nvPr/>
          </p:nvSpPr>
          <p:spPr>
            <a:xfrm>
              <a:off x="6659880" y="137428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" name="Freeform 91"/>
            <p:cNvSpPr/>
            <p:nvPr/>
          </p:nvSpPr>
          <p:spPr>
            <a:xfrm>
              <a:off x="4069080" y="259235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2365423" y="224074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7324367" y="225381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5745480" y="276949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269638" y="29809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2925044" y="336204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7192221" y="339060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5451234" y="423126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3839656" y="422764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2134290" y="42534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877381" y="401447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8388637" y="276040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23" name="Oval 12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/>
          <p:cNvCxnSpPr>
            <a:stCxn id="129" idx="7"/>
            <a:endCxn id="13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30" idx="6"/>
            <a:endCxn id="13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30" idx="5"/>
            <a:endCxn id="12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29" idx="3"/>
            <a:endCxn id="12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23" idx="5"/>
            <a:endCxn id="12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30" idx="3"/>
            <a:endCxn id="12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24" idx="3"/>
            <a:endCxn id="12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>
            <a:stCxn id="127" idx="3"/>
            <a:endCxn id="12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29" idx="6"/>
            <a:endCxn id="13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32" idx="7"/>
            <a:endCxn id="13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32" idx="4"/>
            <a:endCxn id="13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34" idx="3"/>
            <a:endCxn id="13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27" idx="5"/>
            <a:endCxn id="12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33" idx="6"/>
            <a:endCxn id="13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25" idx="5"/>
            <a:endCxn id="12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27" idx="1"/>
            <a:endCxn id="12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28" idx="6"/>
            <a:endCxn id="13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/>
          <p:cNvCxnSpPr>
            <a:stCxn id="154" idx="1"/>
            <a:endCxn id="153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238241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BFS Code (Pull)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90550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bfs_kernel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level,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               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vertex =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(vertex &lt;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cscGraph.numVertices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(level[vertex] ==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Vertex not previously visited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edge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cscGraph.dstPtrs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[vertex]; edge &lt;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cscGraph.dstPtrs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 +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]; ++edge)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neighbor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cscGraph.src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(level[neighbor] ==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level[vertex]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*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break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3130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Approaches to Parallelizing BFS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Vertex-centric (two versions)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Push: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For every vertex, if it was in the previous level, add all its unvisited outgoing neighbors to the current level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i.e., a vertex pushes information to its outgoing neighbors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Pull: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For every vertex, if it has not been visited, if any of its incoming neighbors are in the previous level, add it to the current level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i.e., a vertex pulls information from its incoming neighbors</a:t>
            </a:r>
          </a:p>
          <a:p>
            <a:pPr lvl="1"/>
            <a:r>
              <a:rPr lang="en-US" sz="2000" b="1" u="sng" dirty="0"/>
              <a:t>Direction-optimized:</a:t>
            </a:r>
            <a:r>
              <a:rPr lang="en-US" sz="2000" dirty="0"/>
              <a:t> Start with push then switch to pull</a:t>
            </a:r>
          </a:p>
          <a:p>
            <a:pPr lvl="2"/>
            <a:r>
              <a:rPr lang="en-US" sz="1800" dirty="0"/>
              <a:t>Pull is inefficient at the beginning because most vertices will search all neighbors and not find any that are in the previous level</a:t>
            </a:r>
          </a:p>
        </p:txBody>
      </p:sp>
    </p:spTree>
    <p:extLst>
      <p:ext uri="{BB962C8B-B14F-4D97-AF65-F5344CB8AC3E}">
        <p14:creationId xmlns:p14="http://schemas.microsoft.com/office/powerpoint/2010/main" val="16086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Approaches to Parallelizing BFS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Vertex-centric (two versions)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Push: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For every vertex, if it was in the previous level, add all its unvisited outgoing neighbors to the current level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i.e., a vertex pushes information to its outgoing neighbors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Pull: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For every vertex, if it has not been visited, if any of its incoming neighbors are in the previous level, add it to the current level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i.e., a vertex pulls information from its incoming neighbors</a:t>
            </a:r>
          </a:p>
          <a:p>
            <a:pPr lvl="1"/>
            <a:r>
              <a:rPr lang="en-US" sz="2000" b="1" u="sng" dirty="0">
                <a:solidFill>
                  <a:schemeClr val="bg1">
                    <a:lumMod val="75000"/>
                  </a:schemeClr>
                </a:solidFill>
              </a:rPr>
              <a:t>Direction-optimized: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Start with push then switch to pull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Pull is inefficient at the beginning because most vertices will search all neighbors and not find any that are in the previous level</a:t>
            </a:r>
          </a:p>
          <a:p>
            <a:r>
              <a:rPr lang="en-US" sz="2400" dirty="0"/>
              <a:t>Edge-centric</a:t>
            </a:r>
          </a:p>
          <a:p>
            <a:pPr lvl="1"/>
            <a:r>
              <a:rPr lang="en-US" sz="2000" dirty="0"/>
              <a:t>For every edge, if its source vertex was in the previous level, add its destination vertex to the current level</a:t>
            </a:r>
          </a:p>
        </p:txBody>
      </p:sp>
    </p:spTree>
    <p:extLst>
      <p:ext uri="{BB962C8B-B14F-4D97-AF65-F5344CB8AC3E}">
        <p14:creationId xmlns:p14="http://schemas.microsoft.com/office/powerpoint/2010/main" val="85632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Edge-Centric BFS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0980" y="5155988"/>
            <a:ext cx="18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ysClr val="windowText" lastClr="000000"/>
                </a:solidFill>
              </a:rPr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8934" y="5647766"/>
            <a:ext cx="764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Threads whose edge’s source vertex is in </a:t>
            </a:r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dirty="0"/>
              <a:t> and whose edge’s destination vertex is unvisited mark their edge’s destination vertex as being in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  <a:endParaRPr lang="en-US" b="1" dirty="0">
              <a:solidFill>
                <a:schemeClr val="accent6"/>
              </a:solidFill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1694216" y="1300596"/>
            <a:ext cx="6269522" cy="3250902"/>
            <a:chOff x="1694216" y="1684796"/>
            <a:chExt cx="6269522" cy="3250902"/>
          </a:xfrm>
        </p:grpSpPr>
        <p:sp>
          <p:nvSpPr>
            <p:cNvPr id="96" name="Freeform 95"/>
            <p:cNvSpPr/>
            <p:nvPr/>
          </p:nvSpPr>
          <p:spPr>
            <a:xfrm>
              <a:off x="2021512" y="206474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2820011" y="2142973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5753684" y="168479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7918018" y="277374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6095153" y="244005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5009406" y="2916513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4443436" y="2407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3849511" y="239243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3397673" y="322181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2732877" y="319132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694216" y="288711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721185" y="382539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2395300" y="4111253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3448473" y="404507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4513740" y="447849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5550605" y="386853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6324078" y="407424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4244927" y="170086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25" name="Oval 124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>
            <a:stCxn id="131" idx="7"/>
            <a:endCxn id="135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32" idx="6"/>
            <a:endCxn id="135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32" idx="5"/>
            <a:endCxn id="131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31" idx="3"/>
            <a:endCxn id="129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25" idx="5"/>
            <a:endCxn id="126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>
            <a:stCxn id="132" idx="3"/>
            <a:endCxn id="126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26" idx="3"/>
            <a:endCxn id="127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9" idx="3"/>
            <a:endCxn id="128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31" idx="6"/>
            <a:endCxn id="134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34" idx="7"/>
            <a:endCxn id="137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34" idx="4"/>
            <a:endCxn id="133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36" idx="3"/>
            <a:endCxn id="133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29" idx="5"/>
            <a:endCxn id="130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35" idx="6"/>
            <a:endCxn id="137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27" idx="5"/>
            <a:endCxn id="128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129" idx="1"/>
            <a:endCxn id="126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130" idx="6"/>
            <a:endCxn id="133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/>
          <p:cNvCxnSpPr>
            <a:stCxn id="156" idx="1"/>
            <a:endCxn id="15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88290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Edge-Centric BFS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090172"/>
            <a:ext cx="914400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bfs_kernel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cooGraph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level,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               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edge =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0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(edge &lt;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cooGraph.numEdges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vertex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cooGraph.src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0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neighbor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cooGraph.dst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(level[vertex] ==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(level[neighbor] ==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1050" dirty="0">
                <a:solidFill>
                  <a:srgbClr val="00BFBF"/>
                </a:solidFill>
                <a:latin typeface="Lucida Console" panose="020B0609040504020204" pitchFamily="49" charset="0"/>
              </a:rPr>
              <a:t>// Destination vertex not previously visited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level[neighbor] = 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*</a:t>
            </a:r>
            <a:r>
              <a:rPr lang="en-US" sz="10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newVertexVisited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0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05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4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Dataset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best parallelization approach depends on the structure of the graph</a:t>
            </a:r>
          </a:p>
          <a:p>
            <a:endParaRPr lang="en-US" sz="100" dirty="0"/>
          </a:p>
          <a:p>
            <a:r>
              <a:rPr lang="en-US" dirty="0"/>
              <a:t>The vertex-centric pull and the edge-centric approaches are better on high-degree graphs</a:t>
            </a:r>
          </a:p>
          <a:p>
            <a:pPr lvl="1"/>
            <a:r>
              <a:rPr lang="en-US" dirty="0"/>
              <a:t>e.g., social network graphs with celebrities</a:t>
            </a:r>
          </a:p>
          <a:p>
            <a:pPr lvl="1"/>
            <a:r>
              <a:rPr lang="en-US" dirty="0"/>
              <a:t>Better at dealing with load imbalance </a:t>
            </a:r>
          </a:p>
          <a:p>
            <a:endParaRPr lang="en-US" sz="100" dirty="0"/>
          </a:p>
          <a:p>
            <a:r>
              <a:rPr lang="en-US" dirty="0"/>
              <a:t>The vertex-centric push approach is better on low-degree graphs</a:t>
            </a:r>
          </a:p>
          <a:p>
            <a:pPr lvl="1"/>
            <a:r>
              <a:rPr lang="en-US" dirty="0"/>
              <a:t>e.g., map of roads in a geographical area</a:t>
            </a:r>
          </a:p>
          <a:p>
            <a:pPr lvl="1"/>
            <a:r>
              <a:rPr lang="en-US" dirty="0"/>
              <a:t>Only promising threads will iterate through neighbors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44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Similarity Between BFS and </a:t>
            </a:r>
            <a:r>
              <a:rPr lang="en-US" dirty="0" err="1"/>
              <a:t>SpMV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23758" y="207280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4150" y="207280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84523"/>
              </p:ext>
            </p:extLst>
          </p:nvPr>
        </p:nvGraphicFramePr>
        <p:xfrm>
          <a:off x="3680999" y="1633670"/>
          <a:ext cx="36576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23608"/>
              </p:ext>
            </p:extLst>
          </p:nvPr>
        </p:nvGraphicFramePr>
        <p:xfrm>
          <a:off x="4771391" y="1633670"/>
          <a:ext cx="36576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87241"/>
              </p:ext>
            </p:extLst>
          </p:nvPr>
        </p:nvGraphicFramePr>
        <p:xfrm>
          <a:off x="1127567" y="1267910"/>
          <a:ext cx="1828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6884677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3481224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7179926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319561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120859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650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809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0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047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6135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91" y="2174626"/>
            <a:ext cx="60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0206" y="983102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Column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987913"/>
              </p:ext>
            </p:extLst>
          </p:nvPr>
        </p:nvGraphicFramePr>
        <p:xfrm>
          <a:off x="3680999" y="4129679"/>
          <a:ext cx="36576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99525"/>
              </p:ext>
            </p:extLst>
          </p:nvPr>
        </p:nvGraphicFramePr>
        <p:xfrm>
          <a:off x="4771391" y="4129679"/>
          <a:ext cx="36576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80161"/>
              </p:ext>
            </p:extLst>
          </p:nvPr>
        </p:nvGraphicFramePr>
        <p:xfrm>
          <a:off x="1127567" y="3763919"/>
          <a:ext cx="1828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86884677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3481224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7179926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3195617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120859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650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809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0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047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6135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-49450" y="4670635"/>
            <a:ext cx="128926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/>
              <a:t>Destination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5124" y="3463743"/>
            <a:ext cx="83061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/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437" y="983102"/>
            <a:ext cx="92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Vector</a:t>
            </a:r>
            <a:r>
              <a:rPr lang="en-US" b="1" baseline="-25000" dirty="0" err="1"/>
              <a:t>in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486819" y="983102"/>
            <a:ext cx="1020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Vector</a:t>
            </a:r>
            <a:r>
              <a:rPr lang="en-US" b="1" baseline="-25000" dirty="0" err="1"/>
              <a:t>out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378389" y="3463743"/>
            <a:ext cx="971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Levels</a:t>
            </a:r>
            <a:r>
              <a:rPr lang="en-US" b="1" baseline="-25000" dirty="0" err="1"/>
              <a:t>old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476370" y="3463743"/>
            <a:ext cx="1041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Levels</a:t>
            </a:r>
            <a:r>
              <a:rPr lang="en-US" b="1" baseline="-25000" dirty="0" err="1"/>
              <a:t>new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540188" y="1533778"/>
            <a:ext cx="3270960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every </a:t>
            </a:r>
            <a:r>
              <a:rPr lang="en-US" b="1" dirty="0">
                <a:solidFill>
                  <a:schemeClr val="accent6"/>
                </a:solidFill>
              </a:rPr>
              <a:t>row</a:t>
            </a:r>
          </a:p>
          <a:p>
            <a:r>
              <a:rPr lang="en-US" dirty="0"/>
              <a:t>    for every </a:t>
            </a:r>
            <a:r>
              <a:rPr lang="en-US" b="1" dirty="0">
                <a:solidFill>
                  <a:schemeClr val="accent5"/>
                </a:solidFill>
              </a:rPr>
              <a:t>nonzero</a:t>
            </a:r>
            <a:r>
              <a:rPr lang="en-US" dirty="0"/>
              <a:t> in the </a:t>
            </a:r>
            <a:r>
              <a:rPr lang="en-US" b="1" dirty="0">
                <a:solidFill>
                  <a:schemeClr val="accent6"/>
                </a:solidFill>
              </a:rPr>
              <a:t>row</a:t>
            </a:r>
          </a:p>
          <a:p>
            <a:r>
              <a:rPr lang="en-US" dirty="0"/>
              <a:t>        lookup in </a:t>
            </a:r>
            <a:r>
              <a:rPr lang="en-US" b="1" dirty="0" err="1">
                <a:solidFill>
                  <a:schemeClr val="accent4"/>
                </a:solidFill>
              </a:rPr>
              <a:t>Vector</a:t>
            </a:r>
            <a:r>
              <a:rPr lang="en-US" b="1" baseline="-25000" dirty="0" err="1">
                <a:solidFill>
                  <a:schemeClr val="accent4"/>
                </a:solidFill>
              </a:rPr>
              <a:t>in</a:t>
            </a:r>
            <a:r>
              <a:rPr lang="en-US" dirty="0"/>
              <a:t> at </a:t>
            </a:r>
            <a:r>
              <a:rPr lang="en-US" b="1" dirty="0">
                <a:solidFill>
                  <a:srgbClr val="7030A0"/>
                </a:solidFill>
              </a:rPr>
              <a:t>column</a:t>
            </a:r>
          </a:p>
          <a:p>
            <a:r>
              <a:rPr lang="en-US" dirty="0"/>
              <a:t>        update to </a:t>
            </a:r>
            <a:r>
              <a:rPr lang="en-US" b="1" dirty="0" err="1">
                <a:solidFill>
                  <a:schemeClr val="accent2"/>
                </a:solidFill>
              </a:rPr>
              <a:t>Vector</a:t>
            </a:r>
            <a:r>
              <a:rPr lang="en-US" b="1" baseline="-25000" dirty="0" err="1">
                <a:solidFill>
                  <a:schemeClr val="accent2"/>
                </a:solidFill>
              </a:rPr>
              <a:t>out</a:t>
            </a:r>
            <a:r>
              <a:rPr lang="en-US" dirty="0"/>
              <a:t> at </a:t>
            </a:r>
            <a:r>
              <a:rPr lang="en-US" b="1" dirty="0">
                <a:solidFill>
                  <a:schemeClr val="accent6"/>
                </a:solidFill>
              </a:rPr>
              <a:t>row</a:t>
            </a:r>
          </a:p>
          <a:p>
            <a:pPr algn="ctr"/>
            <a:endParaRPr lang="en-US" sz="1200" dirty="0"/>
          </a:p>
          <a:p>
            <a:pPr algn="ctr"/>
            <a:r>
              <a:rPr lang="en-US" b="1" dirty="0" err="1"/>
              <a:t>SpMV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540188" y="4033331"/>
            <a:ext cx="301441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every </a:t>
            </a:r>
            <a:r>
              <a:rPr lang="en-US" b="1" dirty="0" err="1">
                <a:solidFill>
                  <a:schemeClr val="accent6"/>
                </a:solidFill>
              </a:rPr>
              <a:t>dst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    for every </a:t>
            </a:r>
            <a:r>
              <a:rPr lang="en-US" b="1" dirty="0">
                <a:solidFill>
                  <a:schemeClr val="accent5"/>
                </a:solidFill>
              </a:rPr>
              <a:t>edge</a:t>
            </a:r>
            <a:r>
              <a:rPr lang="en-US" dirty="0"/>
              <a:t> to the </a:t>
            </a:r>
            <a:r>
              <a:rPr lang="en-US" b="1" dirty="0" err="1">
                <a:solidFill>
                  <a:schemeClr val="accent6"/>
                </a:solidFill>
              </a:rPr>
              <a:t>dst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        lookup in </a:t>
            </a:r>
            <a:r>
              <a:rPr lang="en-US" b="1" dirty="0" err="1">
                <a:solidFill>
                  <a:schemeClr val="accent4"/>
                </a:solidFill>
              </a:rPr>
              <a:t>Levels</a:t>
            </a:r>
            <a:r>
              <a:rPr lang="en-US" b="1" baseline="-25000" dirty="0" err="1">
                <a:solidFill>
                  <a:schemeClr val="accent4"/>
                </a:solidFill>
              </a:rPr>
              <a:t>old</a:t>
            </a:r>
            <a:r>
              <a:rPr lang="en-US" dirty="0"/>
              <a:t> at </a:t>
            </a:r>
            <a:r>
              <a:rPr lang="en-US" b="1" dirty="0" err="1">
                <a:solidFill>
                  <a:srgbClr val="7030A0"/>
                </a:solidFill>
              </a:rPr>
              <a:t>src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dirty="0"/>
              <a:t>        update to </a:t>
            </a:r>
            <a:r>
              <a:rPr lang="en-US" b="1" dirty="0" err="1">
                <a:solidFill>
                  <a:schemeClr val="accent2"/>
                </a:solidFill>
              </a:rPr>
              <a:t>Levels</a:t>
            </a:r>
            <a:r>
              <a:rPr lang="en-US" b="1" baseline="-25000" dirty="0" err="1">
                <a:solidFill>
                  <a:schemeClr val="accent2"/>
                </a:solidFill>
              </a:rPr>
              <a:t>new</a:t>
            </a:r>
            <a:r>
              <a:rPr lang="en-US" dirty="0"/>
              <a:t> at </a:t>
            </a:r>
            <a:r>
              <a:rPr lang="en-US" b="1" dirty="0" err="1">
                <a:solidFill>
                  <a:schemeClr val="accent6"/>
                </a:solidFill>
              </a:rPr>
              <a:t>dst</a:t>
            </a:r>
            <a:endParaRPr lang="en-US" b="1" dirty="0">
              <a:solidFill>
                <a:schemeClr val="accent6"/>
              </a:solidFill>
            </a:endParaRPr>
          </a:p>
          <a:p>
            <a:endParaRPr lang="en-US" sz="1200" dirty="0"/>
          </a:p>
          <a:p>
            <a:pPr algn="ctr"/>
            <a:r>
              <a:rPr lang="en-US" b="1" dirty="0"/>
              <a:t>BFS</a:t>
            </a:r>
          </a:p>
          <a:p>
            <a:pPr algn="ctr"/>
            <a:r>
              <a:rPr lang="en-US" sz="1200" dirty="0"/>
              <a:t>(vertex-centric pull)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372" y="5970496"/>
            <a:ext cx="8477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Vertex-centric push and edge-centric also correspond to other ways of performing </a:t>
            </a:r>
            <a:r>
              <a:rPr lang="en-US" dirty="0" err="1"/>
              <a:t>SpMV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68976" y="5606427"/>
            <a:ext cx="21037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(transposed adjacency matrix) </a:t>
            </a:r>
          </a:p>
        </p:txBody>
      </p:sp>
    </p:spTree>
    <p:extLst>
      <p:ext uri="{BB962C8B-B14F-4D97-AF65-F5344CB8AC3E}">
        <p14:creationId xmlns:p14="http://schemas.microsoft.com/office/powerpoint/2010/main" val="266426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6" grpId="0"/>
      <p:bldP spid="27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Linear Algebraic Formulation of Graph Problems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With a few tweaks, BFS can be formulated exactly as </a:t>
            </a:r>
            <a:r>
              <a:rPr lang="en-US" dirty="0" err="1"/>
              <a:t>SpMV</a:t>
            </a:r>
            <a:endParaRPr lang="en-US" dirty="0"/>
          </a:p>
          <a:p>
            <a:endParaRPr lang="en-US" dirty="0"/>
          </a:p>
          <a:p>
            <a:r>
              <a:rPr lang="en-US" dirty="0"/>
              <a:t>Many graph problems can be formulated in terms of sparse linear algebra computations</a:t>
            </a:r>
          </a:p>
          <a:p>
            <a:pPr lvl="1"/>
            <a:r>
              <a:rPr lang="en-US" dirty="0"/>
              <a:t>Advantage: leverage mature and well-optimized parallel libraries for high performance sparse linear algebra</a:t>
            </a:r>
          </a:p>
          <a:p>
            <a:pPr lvl="1"/>
            <a:r>
              <a:rPr lang="en-US" dirty="0"/>
              <a:t>Disadvantage: not always the most efficient way to solve the problem</a:t>
            </a:r>
          </a:p>
        </p:txBody>
      </p:sp>
    </p:spTree>
    <p:extLst>
      <p:ext uri="{BB962C8B-B14F-4D97-AF65-F5344CB8AC3E}">
        <p14:creationId xmlns:p14="http://schemas.microsoft.com/office/powerpoint/2010/main" val="11727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285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1690</Words>
  <Application>Microsoft Office PowerPoint</Application>
  <PresentationFormat>On-screen Show (4:3)</PresentationFormat>
  <Paragraphs>411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86</cp:revision>
  <dcterms:created xsi:type="dcterms:W3CDTF">2022-03-30T06:33:52Z</dcterms:created>
  <dcterms:modified xsi:type="dcterms:W3CDTF">2022-10-26T14:22:31Z</dcterms:modified>
</cp:coreProperties>
</file>