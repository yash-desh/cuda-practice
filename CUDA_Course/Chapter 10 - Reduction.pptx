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2" r:id="rId13"/>
    <p:sldId id="281" r:id="rId14"/>
    <p:sldId id="283" r:id="rId15"/>
    <p:sldId id="284" r:id="rId16"/>
    <p:sldId id="285" r:id="rId17"/>
    <p:sldId id="286" r:id="rId18"/>
    <p:sldId id="287" r:id="rId19"/>
    <p:sldId id="289" r:id="rId20"/>
    <p:sldId id="288" r:id="rId21"/>
    <p:sldId id="290" r:id="rId22"/>
    <p:sldId id="291" r:id="rId23"/>
    <p:sldId id="29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20-10-2022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reduction</a:t>
            </a:r>
            <a:r>
              <a:rPr lang="en-US" dirty="0"/>
              <a:t> operation reduces a set of input values to one value</a:t>
            </a:r>
          </a:p>
          <a:p>
            <a:pPr lvl="1"/>
            <a:r>
              <a:rPr lang="en-US" dirty="0"/>
              <a:t>e.g., sum, product, min, max</a:t>
            </a:r>
          </a:p>
          <a:p>
            <a:endParaRPr lang="en-US" dirty="0"/>
          </a:p>
          <a:p>
            <a:r>
              <a:rPr lang="en-US" dirty="0"/>
              <a:t>Reduction operations are:</a:t>
            </a:r>
          </a:p>
          <a:p>
            <a:pPr lvl="1"/>
            <a:r>
              <a:rPr lang="en-US" dirty="0"/>
              <a:t>Associative</a:t>
            </a:r>
          </a:p>
          <a:p>
            <a:pPr lvl="1"/>
            <a:r>
              <a:rPr lang="en-US" dirty="0"/>
              <a:t>Commutative</a:t>
            </a:r>
          </a:p>
          <a:p>
            <a:pPr lvl="1"/>
            <a:r>
              <a:rPr lang="en-US" dirty="0"/>
              <a:t>Have a well-define identity value</a:t>
            </a:r>
          </a:p>
          <a:p>
            <a:endParaRPr lang="en-US" dirty="0"/>
          </a:p>
          <a:p>
            <a:r>
              <a:rPr lang="en-US" dirty="0"/>
              <a:t>We will use sum as an example</a:t>
            </a:r>
          </a:p>
        </p:txBody>
      </p:sp>
    </p:spTree>
    <p:extLst>
      <p:ext uri="{BB962C8B-B14F-4D97-AF65-F5344CB8AC3E}">
        <p14:creationId xmlns:p14="http://schemas.microsoft.com/office/powerpoint/2010/main" val="5467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Sequential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Sequential reduction for sum: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general: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2266" y="1229627"/>
            <a:ext cx="47794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sum =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0.0f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sum += input[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2266" y="3273580"/>
            <a:ext cx="477946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acc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IDENTITY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acc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f(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acc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, input[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]);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283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Reduction with Atomics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Parallel reduction for sum using atomics: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Poor performance:</a:t>
            </a:r>
          </a:p>
          <a:p>
            <a:pPr lvl="1"/>
            <a:r>
              <a:rPr lang="en-US" dirty="0"/>
              <a:t>All additions are serialized by the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8709" y="1268047"/>
            <a:ext cx="67465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unsigned </a:t>
            </a:r>
            <a:r>
              <a:rPr lang="en-US" sz="16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(sum, input[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]);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679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Reduction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078784" y="1156569"/>
            <a:ext cx="4986433" cy="395805"/>
            <a:chOff x="1327599" y="1464569"/>
            <a:chExt cx="6719887" cy="5334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" name="Rectangle 3"/>
            <p:cNvSpPr/>
            <p:nvPr/>
          </p:nvSpPr>
          <p:spPr>
            <a:xfrm>
              <a:off x="1327599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4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211383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7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095167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978951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862735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46519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5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630303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9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514086" y="1464569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2406686" y="2304794"/>
            <a:ext cx="4330630" cy="395805"/>
            <a:chOff x="1769491" y="3037355"/>
            <a:chExt cx="5836104" cy="5334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1769491" y="3037355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11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537059" y="3037355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5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04627" y="3037355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13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72195" y="3037355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15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2401032" y="1725027"/>
            <a:ext cx="4341938" cy="407114"/>
            <a:chOff x="1761871" y="2243342"/>
            <a:chExt cx="5851344" cy="54864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1761871" y="2243342"/>
              <a:ext cx="548640" cy="54864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accent4">
                      <a:lumMod val="50000"/>
                    </a:schemeClr>
                  </a:solidFill>
                </a:rPr>
                <a:t>+</a:t>
              </a:r>
            </a:p>
          </p:txBody>
        </p: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7064575" y="2243342"/>
              <a:ext cx="548640" cy="54864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accent4">
                      <a:lumMod val="50000"/>
                    </a:schemeClr>
                  </a:solidFill>
                </a:rPr>
                <a:t>+</a:t>
              </a: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5297007" y="2243342"/>
              <a:ext cx="548640" cy="54864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accent4">
                      <a:lumMod val="50000"/>
                    </a:schemeClr>
                  </a:solidFill>
                </a:rPr>
                <a:t>+</a:t>
              </a: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3529439" y="2243342"/>
              <a:ext cx="548640" cy="54864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accent4">
                      <a:lumMod val="50000"/>
                    </a:schemeClr>
                  </a:solidFill>
                </a:rPr>
                <a:t>+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056836" y="2873252"/>
            <a:ext cx="3030330" cy="407114"/>
            <a:chOff x="2645655" y="3816128"/>
            <a:chExt cx="4083776" cy="548640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6180791" y="3816128"/>
              <a:ext cx="548640" cy="54864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accent4">
                      <a:lumMod val="50000"/>
                    </a:schemeClr>
                  </a:solidFill>
                </a:rPr>
                <a:t>+</a:t>
              </a:r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2645655" y="3816128"/>
              <a:ext cx="548640" cy="548640"/>
            </a:xfrm>
            <a:prstGeom prst="ellipse">
              <a:avLst/>
            </a:prstGeom>
            <a:grp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accent4">
                      <a:lumMod val="50000"/>
                    </a:schemeClr>
                  </a:solidFill>
                </a:rPr>
                <a:t>+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3062490" y="3453019"/>
            <a:ext cx="3019021" cy="395805"/>
            <a:chOff x="2653275" y="4610141"/>
            <a:chExt cx="4068536" cy="5334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2653275" y="4610141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16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88411" y="4610141"/>
              <a:ext cx="533400" cy="533400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28</a:t>
              </a:r>
            </a:p>
          </p:txBody>
        </p:sp>
      </p:grpSp>
      <p:sp>
        <p:nvSpPr>
          <p:cNvPr id="27" name="Oval 26"/>
          <p:cNvSpPr>
            <a:spLocks noChangeAspect="1"/>
          </p:cNvSpPr>
          <p:nvPr/>
        </p:nvSpPr>
        <p:spPr>
          <a:xfrm>
            <a:off x="4368444" y="4021478"/>
            <a:ext cx="407113" cy="4071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+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2276686" y="1552374"/>
            <a:ext cx="4590629" cy="232273"/>
            <a:chOff x="2276686" y="1936574"/>
            <a:chExt cx="4590629" cy="232273"/>
          </a:xfrm>
        </p:grpSpPr>
        <p:cxnSp>
          <p:nvCxnSpPr>
            <p:cNvPr id="17" name="Straight Arrow Connector 16"/>
            <p:cNvCxnSpPr>
              <a:stCxn id="4" idx="2"/>
              <a:endCxn id="16" idx="1"/>
            </p:cNvCxnSpPr>
            <p:nvPr/>
          </p:nvCxnSpPr>
          <p:spPr>
            <a:xfrm>
              <a:off x="2276686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/>
            <p:cNvCxnSpPr>
              <a:stCxn id="5" idx="2"/>
              <a:endCxn id="16" idx="7"/>
            </p:cNvCxnSpPr>
            <p:nvPr/>
          </p:nvCxnSpPr>
          <p:spPr>
            <a:xfrm flipH="1">
              <a:off x="2748525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0" name="Straight Arrow Connector 29"/>
            <p:cNvCxnSpPr>
              <a:stCxn id="8" idx="2"/>
              <a:endCxn id="21" idx="1"/>
            </p:cNvCxnSpPr>
            <p:nvPr/>
          </p:nvCxnSpPr>
          <p:spPr>
            <a:xfrm>
              <a:off x="4899903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Straight Arrow Connector 30"/>
            <p:cNvCxnSpPr>
              <a:stCxn id="6" idx="2"/>
              <a:endCxn id="22" idx="1"/>
            </p:cNvCxnSpPr>
            <p:nvPr/>
          </p:nvCxnSpPr>
          <p:spPr>
            <a:xfrm>
              <a:off x="3588295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2" name="Straight Arrow Connector 31"/>
            <p:cNvCxnSpPr>
              <a:stCxn id="10" idx="2"/>
              <a:endCxn id="20" idx="1"/>
            </p:cNvCxnSpPr>
            <p:nvPr/>
          </p:nvCxnSpPr>
          <p:spPr>
            <a:xfrm>
              <a:off x="6211511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Straight Arrow Connector 32"/>
            <p:cNvCxnSpPr>
              <a:stCxn id="7" idx="2"/>
              <a:endCxn id="22" idx="7"/>
            </p:cNvCxnSpPr>
            <p:nvPr/>
          </p:nvCxnSpPr>
          <p:spPr>
            <a:xfrm flipH="1">
              <a:off x="4060133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4" name="Straight Arrow Connector 33"/>
            <p:cNvCxnSpPr>
              <a:stCxn id="9" idx="2"/>
              <a:endCxn id="21" idx="7"/>
            </p:cNvCxnSpPr>
            <p:nvPr/>
          </p:nvCxnSpPr>
          <p:spPr>
            <a:xfrm flipH="1">
              <a:off x="5371742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Straight Arrow Connector 34"/>
            <p:cNvCxnSpPr>
              <a:stCxn id="11" idx="2"/>
              <a:endCxn id="20" idx="7"/>
            </p:cNvCxnSpPr>
            <p:nvPr/>
          </p:nvCxnSpPr>
          <p:spPr>
            <a:xfrm flipH="1">
              <a:off x="6683350" y="1936574"/>
              <a:ext cx="183965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2604588" y="2132141"/>
            <a:ext cx="3934825" cy="172653"/>
            <a:chOff x="2604588" y="2516341"/>
            <a:chExt cx="3934825" cy="172653"/>
          </a:xfrm>
        </p:grpSpPr>
        <p:cxnSp>
          <p:nvCxnSpPr>
            <p:cNvPr id="19" name="Straight Arrow Connector 18"/>
            <p:cNvCxnSpPr>
              <a:stCxn id="16" idx="4"/>
              <a:endCxn id="12" idx="0"/>
            </p:cNvCxnSpPr>
            <p:nvPr/>
          </p:nvCxnSpPr>
          <p:spPr>
            <a:xfrm>
              <a:off x="2604588" y="2516341"/>
              <a:ext cx="0" cy="17265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6" name="Straight Arrow Connector 35"/>
            <p:cNvCxnSpPr>
              <a:stCxn id="22" idx="4"/>
              <a:endCxn id="13" idx="0"/>
            </p:cNvCxnSpPr>
            <p:nvPr/>
          </p:nvCxnSpPr>
          <p:spPr>
            <a:xfrm>
              <a:off x="3916197" y="2516341"/>
              <a:ext cx="0" cy="17265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7" name="Straight Arrow Connector 36"/>
            <p:cNvCxnSpPr>
              <a:stCxn id="21" idx="4"/>
              <a:endCxn id="14" idx="0"/>
            </p:cNvCxnSpPr>
            <p:nvPr/>
          </p:nvCxnSpPr>
          <p:spPr>
            <a:xfrm>
              <a:off x="5227805" y="2516341"/>
              <a:ext cx="0" cy="17265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8" name="Straight Arrow Connector 37"/>
            <p:cNvCxnSpPr>
              <a:stCxn id="20" idx="4"/>
              <a:endCxn id="15" idx="0"/>
            </p:cNvCxnSpPr>
            <p:nvPr/>
          </p:nvCxnSpPr>
          <p:spPr>
            <a:xfrm>
              <a:off x="6539413" y="2516341"/>
              <a:ext cx="0" cy="17265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2604588" y="2700599"/>
            <a:ext cx="3934825" cy="232273"/>
            <a:chOff x="2604588" y="3084799"/>
            <a:chExt cx="3934825" cy="232273"/>
          </a:xfrm>
        </p:grpSpPr>
        <p:cxnSp>
          <p:nvCxnSpPr>
            <p:cNvPr id="28" name="Straight Arrow Connector 27"/>
            <p:cNvCxnSpPr>
              <a:stCxn id="12" idx="2"/>
              <a:endCxn id="24" idx="1"/>
            </p:cNvCxnSpPr>
            <p:nvPr/>
          </p:nvCxnSpPr>
          <p:spPr>
            <a:xfrm>
              <a:off x="2604588" y="3084799"/>
              <a:ext cx="511867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Straight Arrow Connector 28"/>
            <p:cNvCxnSpPr>
              <a:stCxn id="14" idx="2"/>
              <a:endCxn id="23" idx="1"/>
            </p:cNvCxnSpPr>
            <p:nvPr/>
          </p:nvCxnSpPr>
          <p:spPr>
            <a:xfrm>
              <a:off x="5227805" y="3084799"/>
              <a:ext cx="511867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Straight Arrow Connector 38"/>
            <p:cNvCxnSpPr>
              <a:stCxn id="13" idx="2"/>
              <a:endCxn id="24" idx="7"/>
            </p:cNvCxnSpPr>
            <p:nvPr/>
          </p:nvCxnSpPr>
          <p:spPr>
            <a:xfrm flipH="1">
              <a:off x="3404329" y="3084799"/>
              <a:ext cx="511867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Straight Arrow Connector 39"/>
            <p:cNvCxnSpPr>
              <a:stCxn id="15" idx="2"/>
              <a:endCxn id="23" idx="7"/>
            </p:cNvCxnSpPr>
            <p:nvPr/>
          </p:nvCxnSpPr>
          <p:spPr>
            <a:xfrm flipH="1">
              <a:off x="6027546" y="3084799"/>
              <a:ext cx="511867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3260393" y="3280366"/>
            <a:ext cx="2623216" cy="172653"/>
            <a:chOff x="3260393" y="3664566"/>
            <a:chExt cx="2623216" cy="172653"/>
          </a:xfrm>
        </p:grpSpPr>
        <p:cxnSp>
          <p:nvCxnSpPr>
            <p:cNvPr id="41" name="Straight Arrow Connector 40"/>
            <p:cNvCxnSpPr>
              <a:stCxn id="24" idx="4"/>
              <a:endCxn id="25" idx="0"/>
            </p:cNvCxnSpPr>
            <p:nvPr/>
          </p:nvCxnSpPr>
          <p:spPr>
            <a:xfrm>
              <a:off x="3260393" y="3664566"/>
              <a:ext cx="0" cy="17265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2" name="Straight Arrow Connector 41"/>
            <p:cNvCxnSpPr>
              <a:stCxn id="23" idx="4"/>
              <a:endCxn id="26" idx="0"/>
            </p:cNvCxnSpPr>
            <p:nvPr/>
          </p:nvCxnSpPr>
          <p:spPr>
            <a:xfrm>
              <a:off x="5883609" y="3664566"/>
              <a:ext cx="0" cy="17265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3260393" y="3848825"/>
            <a:ext cx="2623217" cy="232273"/>
            <a:chOff x="3260393" y="4233025"/>
            <a:chExt cx="2623217" cy="232273"/>
          </a:xfrm>
        </p:grpSpPr>
        <p:cxnSp>
          <p:nvCxnSpPr>
            <p:cNvPr id="43" name="Straight Arrow Connector 42"/>
            <p:cNvCxnSpPr>
              <a:stCxn id="25" idx="2"/>
              <a:endCxn id="27" idx="1"/>
            </p:cNvCxnSpPr>
            <p:nvPr/>
          </p:nvCxnSpPr>
          <p:spPr>
            <a:xfrm>
              <a:off x="3260393" y="4233025"/>
              <a:ext cx="1167672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4" name="Straight Arrow Connector 43"/>
            <p:cNvCxnSpPr>
              <a:stCxn id="26" idx="2"/>
              <a:endCxn id="27" idx="7"/>
            </p:cNvCxnSpPr>
            <p:nvPr/>
          </p:nvCxnSpPr>
          <p:spPr>
            <a:xfrm flipH="1">
              <a:off x="4715938" y="4233025"/>
              <a:ext cx="1167672" cy="23227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45" name="Rectangle 44"/>
          <p:cNvSpPr/>
          <p:nvPr/>
        </p:nvSpPr>
        <p:spPr>
          <a:xfrm>
            <a:off x="4374098" y="4601244"/>
            <a:ext cx="395805" cy="3958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44</a:t>
            </a:r>
          </a:p>
        </p:txBody>
      </p:sp>
      <p:cxnSp>
        <p:nvCxnSpPr>
          <p:cNvPr id="46" name="Straight Arrow Connector 45"/>
          <p:cNvCxnSpPr>
            <a:stCxn id="27" idx="4"/>
            <a:endCxn id="45" idx="0"/>
          </p:cNvCxnSpPr>
          <p:nvPr/>
        </p:nvCxnSpPr>
        <p:spPr>
          <a:xfrm>
            <a:off x="4572001" y="4428591"/>
            <a:ext cx="0" cy="17265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TextBox 77"/>
          <p:cNvSpPr txBox="1"/>
          <p:nvPr/>
        </p:nvSpPr>
        <p:spPr>
          <a:xfrm>
            <a:off x="1172079" y="5072546"/>
            <a:ext cx="679984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Approach:</a:t>
            </a:r>
            <a:r>
              <a:rPr lang="en-US" sz="2000" dirty="0"/>
              <a:t> Every thread adds two elements in each step</a:t>
            </a:r>
          </a:p>
          <a:p>
            <a:pPr algn="ctr"/>
            <a:endParaRPr lang="en-US" sz="1200" dirty="0"/>
          </a:p>
          <a:p>
            <a:pPr algn="ctr"/>
            <a:r>
              <a:rPr lang="en-US" sz="2000" dirty="0"/>
              <a:t>Takes </a:t>
            </a:r>
            <a:r>
              <a:rPr lang="en-US" sz="2000" i="1" dirty="0"/>
              <a:t>log(N)</a:t>
            </a:r>
            <a:r>
              <a:rPr lang="en-US" sz="2000" dirty="0"/>
              <a:t> steps and half the threads drop out every step</a:t>
            </a:r>
          </a:p>
          <a:p>
            <a:pPr algn="ctr"/>
            <a:endParaRPr lang="en-US" sz="1200" dirty="0"/>
          </a:p>
          <a:p>
            <a:pPr algn="ctr"/>
            <a:r>
              <a:rPr lang="en-US" sz="2000" dirty="0"/>
              <a:t>Pattern is called a </a:t>
            </a:r>
            <a:r>
              <a:rPr lang="en-US" sz="2000" b="1" dirty="0">
                <a:solidFill>
                  <a:schemeClr val="accent5"/>
                </a:solidFill>
              </a:rPr>
              <a:t>reduction tree</a:t>
            </a:r>
          </a:p>
        </p:txBody>
      </p:sp>
    </p:spTree>
    <p:extLst>
      <p:ext uri="{BB962C8B-B14F-4D97-AF65-F5344CB8AC3E}">
        <p14:creationId xmlns:p14="http://schemas.microsoft.com/office/powerpoint/2010/main" val="221591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5" grpId="0" animBg="1"/>
      <p:bldP spid="7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Segmented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Threads must synchronize between steps</a:t>
            </a:r>
          </a:p>
          <a:p>
            <a:pPr lvl="1"/>
            <a:r>
              <a:rPr lang="en-US" dirty="0"/>
              <a:t>Cannot synchronize across threads in different blocks</a:t>
            </a:r>
          </a:p>
          <a:p>
            <a:endParaRPr lang="en-US" dirty="0"/>
          </a:p>
          <a:p>
            <a:r>
              <a:rPr lang="en-US" dirty="0"/>
              <a:t>Solution: </a:t>
            </a:r>
            <a:r>
              <a:rPr lang="en-US" b="1" dirty="0">
                <a:solidFill>
                  <a:schemeClr val="accent5"/>
                </a:solidFill>
              </a:rPr>
              <a:t>segmented reduction</a:t>
            </a:r>
          </a:p>
          <a:p>
            <a:pPr lvl="1"/>
            <a:r>
              <a:rPr lang="en-US" dirty="0"/>
              <a:t>Every thread block reduces a segment of the input and produces a partial sum</a:t>
            </a:r>
          </a:p>
          <a:p>
            <a:pPr lvl="1"/>
            <a:r>
              <a:rPr lang="en-US" dirty="0"/>
              <a:t>The partial sum is atomically added to the final sum</a:t>
            </a:r>
          </a:p>
        </p:txBody>
      </p:sp>
    </p:spTree>
    <p:extLst>
      <p:ext uri="{BB962C8B-B14F-4D97-AF65-F5344CB8AC3E}">
        <p14:creationId xmlns:p14="http://schemas.microsoft.com/office/powerpoint/2010/main" val="348979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Table 1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970987"/>
              </p:ext>
            </p:extLst>
          </p:nvPr>
        </p:nvGraphicFramePr>
        <p:xfrm>
          <a:off x="4416552" y="4720217"/>
          <a:ext cx="310896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">
                  <a:extLst>
                    <a:ext uri="{9D8B030D-6E8A-4147-A177-3AD203B41FA5}">
                      <a16:colId xmlns:a16="http://schemas.microsoft.com/office/drawing/2014/main" val="160592555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79788"/>
                  </a:ext>
                </a:extLst>
              </a:tr>
            </a:tbl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Segmented Reduction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70866"/>
            <a:ext cx="7315200" cy="3095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Input</a:t>
            </a:r>
          </a:p>
        </p:txBody>
      </p:sp>
      <p:grpSp>
        <p:nvGrpSpPr>
          <p:cNvPr id="187" name="Group 186"/>
          <p:cNvGrpSpPr/>
          <p:nvPr/>
        </p:nvGrpSpPr>
        <p:grpSpPr>
          <a:xfrm>
            <a:off x="923925" y="2251902"/>
            <a:ext cx="7305675" cy="390525"/>
            <a:chOff x="923925" y="2551578"/>
            <a:chExt cx="7305675" cy="390525"/>
          </a:xfrm>
        </p:grpSpPr>
        <p:sp>
          <p:nvSpPr>
            <p:cNvPr id="5" name="Rectangle 4"/>
            <p:cNvSpPr/>
            <p:nvPr/>
          </p:nvSpPr>
          <p:spPr>
            <a:xfrm>
              <a:off x="923925" y="2632542"/>
              <a:ext cx="2103120" cy="30956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Segment</a:t>
              </a:r>
              <a:r>
                <a:rPr lang="en-US" baseline="-25000" dirty="0">
                  <a:solidFill>
                    <a:schemeClr val="accent5">
                      <a:lumMod val="50000"/>
                    </a:schemeClr>
                  </a:solidFill>
                </a:rPr>
                <a:t>0</a:t>
              </a:r>
              <a:endParaRPr 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228975" y="2632542"/>
              <a:ext cx="2103120" cy="30956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Segment</a:t>
              </a:r>
              <a:r>
                <a:rPr lang="en-US" baseline="-25000" dirty="0">
                  <a:solidFill>
                    <a:schemeClr val="accent5">
                      <a:lumMod val="50000"/>
                    </a:schemeClr>
                  </a:solidFill>
                </a:rPr>
                <a:t>1</a:t>
              </a:r>
              <a:endParaRPr 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126480" y="2632541"/>
              <a:ext cx="2103120" cy="30956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Segment</a:t>
              </a:r>
              <a:r>
                <a:rPr lang="en-US" baseline="-25000" dirty="0">
                  <a:solidFill>
                    <a:schemeClr val="accent5">
                      <a:lumMod val="50000"/>
                    </a:schemeClr>
                  </a:solidFill>
                </a:rPr>
                <a:t>B-1</a:t>
              </a:r>
              <a:endParaRPr 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53075" y="255157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>
                      <a:lumMod val="50000"/>
                    </a:schemeClr>
                  </a:solidFill>
                </a:rPr>
                <a:t>…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914400" y="2768262"/>
            <a:ext cx="7315200" cy="1619794"/>
            <a:chOff x="914400" y="3067938"/>
            <a:chExt cx="7315200" cy="1619794"/>
          </a:xfrm>
        </p:grpSpPr>
        <p:grpSp>
          <p:nvGrpSpPr>
            <p:cNvPr id="58" name="Group 57"/>
            <p:cNvGrpSpPr>
              <a:grpSpLocks noChangeAspect="1"/>
            </p:cNvGrpSpPr>
            <p:nvPr/>
          </p:nvGrpSpPr>
          <p:grpSpPr>
            <a:xfrm>
              <a:off x="914400" y="3067938"/>
              <a:ext cx="2103120" cy="1619794"/>
              <a:chOff x="1975485" y="3017520"/>
              <a:chExt cx="4986433" cy="384048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975485" y="3017520"/>
                <a:ext cx="4986433" cy="395805"/>
                <a:chOff x="1327599" y="1464569"/>
                <a:chExt cx="6719887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50" name="Rectangle 49"/>
                <p:cNvSpPr/>
                <p:nvPr/>
              </p:nvSpPr>
              <p:spPr>
                <a:xfrm>
                  <a:off x="1327599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2211383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3095167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3978951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4862735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5746519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6630303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7514086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2303387" y="4165745"/>
                <a:ext cx="4330630" cy="395805"/>
                <a:chOff x="1769491" y="3037355"/>
                <a:chExt cx="5836104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1769491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3537059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5304627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7072195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2" name="Straight Arrow Connector 11"/>
              <p:cNvCxnSpPr>
                <a:stCxn id="50" idx="2"/>
                <a:endCxn id="42" idx="1"/>
              </p:cNvCxnSpPr>
              <p:nvPr/>
            </p:nvCxnSpPr>
            <p:spPr>
              <a:xfrm>
                <a:off x="2173387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" name="Straight Arrow Connector 12"/>
              <p:cNvCxnSpPr>
                <a:stCxn id="51" idx="2"/>
                <a:endCxn id="42" idx="7"/>
              </p:cNvCxnSpPr>
              <p:nvPr/>
            </p:nvCxnSpPr>
            <p:spPr>
              <a:xfrm flipH="1">
                <a:off x="2645226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4" name="Straight Arrow Connector 13"/>
              <p:cNvCxnSpPr>
                <a:stCxn id="42" idx="4"/>
                <a:endCxn id="46" idx="0"/>
              </p:cNvCxnSpPr>
              <p:nvPr/>
            </p:nvCxnSpPr>
            <p:spPr>
              <a:xfrm>
                <a:off x="2501289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grpSp>
            <p:nvGrpSpPr>
              <p:cNvPr id="15" name="Group 14"/>
              <p:cNvGrpSpPr/>
              <p:nvPr/>
            </p:nvGrpSpPr>
            <p:grpSpPr>
              <a:xfrm>
                <a:off x="2297733" y="3585978"/>
                <a:ext cx="4341938" cy="407114"/>
                <a:chOff x="1761871" y="2243342"/>
                <a:chExt cx="5851344" cy="548640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42" name="Oval 41"/>
                <p:cNvSpPr>
                  <a:spLocks noChangeAspect="1"/>
                </p:cNvSpPr>
                <p:nvPr/>
              </p:nvSpPr>
              <p:spPr>
                <a:xfrm>
                  <a:off x="1761871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43" name="Oval 42"/>
                <p:cNvSpPr>
                  <a:spLocks noChangeAspect="1"/>
                </p:cNvSpPr>
                <p:nvPr/>
              </p:nvSpPr>
              <p:spPr>
                <a:xfrm>
                  <a:off x="7064575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44" name="Oval 43"/>
                <p:cNvSpPr>
                  <a:spLocks noChangeAspect="1"/>
                </p:cNvSpPr>
                <p:nvPr/>
              </p:nvSpPr>
              <p:spPr>
                <a:xfrm>
                  <a:off x="5297007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45" name="Oval 44"/>
                <p:cNvSpPr>
                  <a:spLocks noChangeAspect="1"/>
                </p:cNvSpPr>
                <p:nvPr/>
              </p:nvSpPr>
              <p:spPr>
                <a:xfrm>
                  <a:off x="3529439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2953537" y="4734203"/>
                <a:ext cx="3030330" cy="407114"/>
                <a:chOff x="2645655" y="3816128"/>
                <a:chExt cx="4083776" cy="548640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40" name="Oval 39"/>
                <p:cNvSpPr>
                  <a:spLocks noChangeAspect="1"/>
                </p:cNvSpPr>
                <p:nvPr/>
              </p:nvSpPr>
              <p:spPr>
                <a:xfrm>
                  <a:off x="6180791" y="3816128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41" name="Oval 40"/>
                <p:cNvSpPr>
                  <a:spLocks noChangeAspect="1"/>
                </p:cNvSpPr>
                <p:nvPr/>
              </p:nvSpPr>
              <p:spPr>
                <a:xfrm>
                  <a:off x="2645655" y="3816128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2959191" y="5313970"/>
                <a:ext cx="3019021" cy="395805"/>
                <a:chOff x="2653275" y="4610141"/>
                <a:chExt cx="4068536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2653275" y="4610141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6188411" y="4610141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8" name="Oval 17"/>
              <p:cNvSpPr>
                <a:spLocks noChangeAspect="1"/>
              </p:cNvSpPr>
              <p:nvPr/>
            </p:nvSpPr>
            <p:spPr>
              <a:xfrm>
                <a:off x="4265145" y="5882429"/>
                <a:ext cx="407113" cy="407114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accent4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/>
              <a:p>
                <a:pPr algn="ctr">
                  <a:defRPr/>
                </a:pPr>
                <a:r>
                  <a:rPr lang="en-US" sz="1100" dirty="0">
                    <a:solidFill>
                      <a:schemeClr val="accent4">
                        <a:lumMod val="50000"/>
                      </a:schemeClr>
                    </a:solidFill>
                  </a:rPr>
                  <a:t>+</a:t>
                </a:r>
              </a:p>
            </p:txBody>
          </p:sp>
          <p:cxnSp>
            <p:nvCxnSpPr>
              <p:cNvPr id="19" name="Straight Arrow Connector 18"/>
              <p:cNvCxnSpPr>
                <a:stCxn id="46" idx="2"/>
                <a:endCxn id="41" idx="1"/>
              </p:cNvCxnSpPr>
              <p:nvPr/>
            </p:nvCxnSpPr>
            <p:spPr>
              <a:xfrm>
                <a:off x="2501289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" name="Straight Arrow Connector 19"/>
              <p:cNvCxnSpPr>
                <a:stCxn id="48" idx="2"/>
                <a:endCxn id="40" idx="1"/>
              </p:cNvCxnSpPr>
              <p:nvPr/>
            </p:nvCxnSpPr>
            <p:spPr>
              <a:xfrm>
                <a:off x="5124506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" name="Straight Arrow Connector 20"/>
              <p:cNvCxnSpPr>
                <a:stCxn id="54" idx="2"/>
                <a:endCxn id="44" idx="1"/>
              </p:cNvCxnSpPr>
              <p:nvPr/>
            </p:nvCxnSpPr>
            <p:spPr>
              <a:xfrm>
                <a:off x="4796604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" name="Straight Arrow Connector 21"/>
              <p:cNvCxnSpPr>
                <a:stCxn id="52" idx="2"/>
                <a:endCxn id="45" idx="1"/>
              </p:cNvCxnSpPr>
              <p:nvPr/>
            </p:nvCxnSpPr>
            <p:spPr>
              <a:xfrm>
                <a:off x="3484996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3" name="Straight Arrow Connector 22"/>
              <p:cNvCxnSpPr>
                <a:stCxn id="56" idx="2"/>
                <a:endCxn id="43" idx="1"/>
              </p:cNvCxnSpPr>
              <p:nvPr/>
            </p:nvCxnSpPr>
            <p:spPr>
              <a:xfrm>
                <a:off x="6108212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4" name="Straight Arrow Connector 23"/>
              <p:cNvCxnSpPr>
                <a:stCxn id="53" idx="2"/>
                <a:endCxn id="45" idx="7"/>
              </p:cNvCxnSpPr>
              <p:nvPr/>
            </p:nvCxnSpPr>
            <p:spPr>
              <a:xfrm flipH="1">
                <a:off x="3956834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" name="Straight Arrow Connector 24"/>
              <p:cNvCxnSpPr>
                <a:stCxn id="55" idx="2"/>
                <a:endCxn id="44" idx="7"/>
              </p:cNvCxnSpPr>
              <p:nvPr/>
            </p:nvCxnSpPr>
            <p:spPr>
              <a:xfrm flipH="1">
                <a:off x="5268443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6" name="Straight Arrow Connector 25"/>
              <p:cNvCxnSpPr>
                <a:stCxn id="57" idx="2"/>
                <a:endCxn id="43" idx="7"/>
              </p:cNvCxnSpPr>
              <p:nvPr/>
            </p:nvCxnSpPr>
            <p:spPr>
              <a:xfrm flipH="1">
                <a:off x="6580051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7" name="Straight Arrow Connector 26"/>
              <p:cNvCxnSpPr>
                <a:stCxn id="45" idx="4"/>
                <a:endCxn id="47" idx="0"/>
              </p:cNvCxnSpPr>
              <p:nvPr/>
            </p:nvCxnSpPr>
            <p:spPr>
              <a:xfrm>
                <a:off x="3812898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8" name="Straight Arrow Connector 27"/>
              <p:cNvCxnSpPr>
                <a:stCxn id="44" idx="4"/>
                <a:endCxn id="48" idx="0"/>
              </p:cNvCxnSpPr>
              <p:nvPr/>
            </p:nvCxnSpPr>
            <p:spPr>
              <a:xfrm>
                <a:off x="5124506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9" name="Straight Arrow Connector 28"/>
              <p:cNvCxnSpPr>
                <a:stCxn id="43" idx="4"/>
                <a:endCxn id="49" idx="0"/>
              </p:cNvCxnSpPr>
              <p:nvPr/>
            </p:nvCxnSpPr>
            <p:spPr>
              <a:xfrm>
                <a:off x="6436114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0" name="Straight Arrow Connector 29"/>
              <p:cNvCxnSpPr>
                <a:stCxn id="47" idx="2"/>
                <a:endCxn id="41" idx="7"/>
              </p:cNvCxnSpPr>
              <p:nvPr/>
            </p:nvCxnSpPr>
            <p:spPr>
              <a:xfrm flipH="1">
                <a:off x="3301030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1" name="Straight Arrow Connector 30"/>
              <p:cNvCxnSpPr>
                <a:stCxn id="49" idx="2"/>
                <a:endCxn id="40" idx="7"/>
              </p:cNvCxnSpPr>
              <p:nvPr/>
            </p:nvCxnSpPr>
            <p:spPr>
              <a:xfrm flipH="1">
                <a:off x="5924247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2" name="Straight Arrow Connector 31"/>
              <p:cNvCxnSpPr>
                <a:stCxn id="41" idx="4"/>
                <a:endCxn id="38" idx="0"/>
              </p:cNvCxnSpPr>
              <p:nvPr/>
            </p:nvCxnSpPr>
            <p:spPr>
              <a:xfrm>
                <a:off x="3157094" y="5141317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3" name="Straight Arrow Connector 32"/>
              <p:cNvCxnSpPr>
                <a:stCxn id="40" idx="4"/>
                <a:endCxn id="39" idx="0"/>
              </p:cNvCxnSpPr>
              <p:nvPr/>
            </p:nvCxnSpPr>
            <p:spPr>
              <a:xfrm>
                <a:off x="5780310" y="5141317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4" name="Straight Arrow Connector 33"/>
              <p:cNvCxnSpPr>
                <a:stCxn id="38" idx="2"/>
                <a:endCxn id="18" idx="1"/>
              </p:cNvCxnSpPr>
              <p:nvPr/>
            </p:nvCxnSpPr>
            <p:spPr>
              <a:xfrm>
                <a:off x="3157094" y="5709776"/>
                <a:ext cx="1167672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5" name="Straight Arrow Connector 34"/>
              <p:cNvCxnSpPr>
                <a:stCxn id="39" idx="2"/>
                <a:endCxn id="18" idx="7"/>
              </p:cNvCxnSpPr>
              <p:nvPr/>
            </p:nvCxnSpPr>
            <p:spPr>
              <a:xfrm flipH="1">
                <a:off x="4612639" y="5709776"/>
                <a:ext cx="1167672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36" name="Rectangle 35"/>
              <p:cNvSpPr/>
              <p:nvPr/>
            </p:nvSpPr>
            <p:spPr>
              <a:xfrm>
                <a:off x="4270799" y="6462195"/>
                <a:ext cx="395805" cy="39580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/>
              <a:p>
                <a:pPr algn="ctr">
                  <a:defRPr/>
                </a:pPr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" name="Straight Arrow Connector 36"/>
              <p:cNvCxnSpPr>
                <a:stCxn id="18" idx="4"/>
                <a:endCxn id="36" idx="0"/>
              </p:cNvCxnSpPr>
              <p:nvPr/>
            </p:nvCxnSpPr>
            <p:spPr>
              <a:xfrm>
                <a:off x="4468702" y="6289542"/>
                <a:ext cx="0" cy="172652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59" name="Group 58"/>
            <p:cNvGrpSpPr>
              <a:grpSpLocks noChangeAspect="1"/>
            </p:cNvGrpSpPr>
            <p:nvPr/>
          </p:nvGrpSpPr>
          <p:grpSpPr>
            <a:xfrm>
              <a:off x="3228975" y="3067938"/>
              <a:ext cx="2103120" cy="1619794"/>
              <a:chOff x="1975485" y="3017520"/>
              <a:chExt cx="4986433" cy="3840480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1975485" y="3017520"/>
                <a:ext cx="4986433" cy="395805"/>
                <a:chOff x="1327599" y="1464569"/>
                <a:chExt cx="6719887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00" name="Rectangle 99"/>
                <p:cNvSpPr/>
                <p:nvPr/>
              </p:nvSpPr>
              <p:spPr>
                <a:xfrm>
                  <a:off x="1327599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/>
                <p:cNvSpPr/>
                <p:nvPr/>
              </p:nvSpPr>
              <p:spPr>
                <a:xfrm>
                  <a:off x="2211383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Rectangle 101"/>
                <p:cNvSpPr/>
                <p:nvPr/>
              </p:nvSpPr>
              <p:spPr>
                <a:xfrm>
                  <a:off x="3095167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>
                  <a:off x="3978951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4862735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>
                  <a:off x="5746519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6630303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7514086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>
                <a:off x="2303387" y="4165745"/>
                <a:ext cx="4330630" cy="395805"/>
                <a:chOff x="1769491" y="3037355"/>
                <a:chExt cx="5836104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96" name="Rectangle 95"/>
                <p:cNvSpPr/>
                <p:nvPr/>
              </p:nvSpPr>
              <p:spPr>
                <a:xfrm>
                  <a:off x="1769491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3537059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5304627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7072195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62" name="Straight Arrow Connector 61"/>
              <p:cNvCxnSpPr>
                <a:stCxn id="100" idx="2"/>
                <a:endCxn id="92" idx="1"/>
              </p:cNvCxnSpPr>
              <p:nvPr/>
            </p:nvCxnSpPr>
            <p:spPr>
              <a:xfrm>
                <a:off x="2173387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3" name="Straight Arrow Connector 62"/>
              <p:cNvCxnSpPr>
                <a:stCxn id="101" idx="2"/>
                <a:endCxn id="92" idx="7"/>
              </p:cNvCxnSpPr>
              <p:nvPr/>
            </p:nvCxnSpPr>
            <p:spPr>
              <a:xfrm flipH="1">
                <a:off x="2645226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4" name="Straight Arrow Connector 63"/>
              <p:cNvCxnSpPr>
                <a:stCxn id="92" idx="4"/>
                <a:endCxn id="96" idx="0"/>
              </p:cNvCxnSpPr>
              <p:nvPr/>
            </p:nvCxnSpPr>
            <p:spPr>
              <a:xfrm>
                <a:off x="2501289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grpSp>
            <p:nvGrpSpPr>
              <p:cNvPr id="65" name="Group 64"/>
              <p:cNvGrpSpPr/>
              <p:nvPr/>
            </p:nvGrpSpPr>
            <p:grpSpPr>
              <a:xfrm>
                <a:off x="2297733" y="3585978"/>
                <a:ext cx="4341938" cy="407114"/>
                <a:chOff x="1761871" y="2243342"/>
                <a:chExt cx="5851344" cy="548640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92" name="Oval 91"/>
                <p:cNvSpPr>
                  <a:spLocks noChangeAspect="1"/>
                </p:cNvSpPr>
                <p:nvPr/>
              </p:nvSpPr>
              <p:spPr>
                <a:xfrm>
                  <a:off x="1761871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93" name="Oval 92"/>
                <p:cNvSpPr>
                  <a:spLocks noChangeAspect="1"/>
                </p:cNvSpPr>
                <p:nvPr/>
              </p:nvSpPr>
              <p:spPr>
                <a:xfrm>
                  <a:off x="7064575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94" name="Oval 93"/>
                <p:cNvSpPr>
                  <a:spLocks noChangeAspect="1"/>
                </p:cNvSpPr>
                <p:nvPr/>
              </p:nvSpPr>
              <p:spPr>
                <a:xfrm>
                  <a:off x="5297007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95" name="Oval 94"/>
                <p:cNvSpPr>
                  <a:spLocks noChangeAspect="1"/>
                </p:cNvSpPr>
                <p:nvPr/>
              </p:nvSpPr>
              <p:spPr>
                <a:xfrm>
                  <a:off x="3529439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66" name="Group 65"/>
              <p:cNvGrpSpPr/>
              <p:nvPr/>
            </p:nvGrpSpPr>
            <p:grpSpPr>
              <a:xfrm>
                <a:off x="2953537" y="4734203"/>
                <a:ext cx="3030330" cy="407114"/>
                <a:chOff x="2645655" y="3816128"/>
                <a:chExt cx="4083776" cy="548640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90" name="Oval 89"/>
                <p:cNvSpPr>
                  <a:spLocks noChangeAspect="1"/>
                </p:cNvSpPr>
                <p:nvPr/>
              </p:nvSpPr>
              <p:spPr>
                <a:xfrm>
                  <a:off x="6180791" y="3816128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91" name="Oval 90"/>
                <p:cNvSpPr>
                  <a:spLocks noChangeAspect="1"/>
                </p:cNvSpPr>
                <p:nvPr/>
              </p:nvSpPr>
              <p:spPr>
                <a:xfrm>
                  <a:off x="2645655" y="3816128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67" name="Group 66"/>
              <p:cNvGrpSpPr/>
              <p:nvPr/>
            </p:nvGrpSpPr>
            <p:grpSpPr>
              <a:xfrm>
                <a:off x="2959191" y="5313970"/>
                <a:ext cx="3019021" cy="395805"/>
                <a:chOff x="2653275" y="4610141"/>
                <a:chExt cx="4068536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88" name="Rectangle 87"/>
                <p:cNvSpPr/>
                <p:nvPr/>
              </p:nvSpPr>
              <p:spPr>
                <a:xfrm>
                  <a:off x="2653275" y="4610141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Rectangle 88"/>
                <p:cNvSpPr/>
                <p:nvPr/>
              </p:nvSpPr>
              <p:spPr>
                <a:xfrm>
                  <a:off x="6188411" y="4610141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8" name="Oval 67"/>
              <p:cNvSpPr>
                <a:spLocks noChangeAspect="1"/>
              </p:cNvSpPr>
              <p:nvPr/>
            </p:nvSpPr>
            <p:spPr>
              <a:xfrm>
                <a:off x="4265145" y="5882429"/>
                <a:ext cx="407113" cy="407114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accent4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/>
              <a:p>
                <a:pPr algn="ctr">
                  <a:defRPr/>
                </a:pPr>
                <a:r>
                  <a:rPr lang="en-US" sz="1100" dirty="0">
                    <a:solidFill>
                      <a:schemeClr val="accent4">
                        <a:lumMod val="50000"/>
                      </a:schemeClr>
                    </a:solidFill>
                  </a:rPr>
                  <a:t>+</a:t>
                </a:r>
              </a:p>
            </p:txBody>
          </p:sp>
          <p:cxnSp>
            <p:nvCxnSpPr>
              <p:cNvPr id="69" name="Straight Arrow Connector 68"/>
              <p:cNvCxnSpPr>
                <a:stCxn id="96" idx="2"/>
                <a:endCxn id="91" idx="1"/>
              </p:cNvCxnSpPr>
              <p:nvPr/>
            </p:nvCxnSpPr>
            <p:spPr>
              <a:xfrm>
                <a:off x="2501289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0" name="Straight Arrow Connector 69"/>
              <p:cNvCxnSpPr>
                <a:stCxn id="98" idx="2"/>
                <a:endCxn id="90" idx="1"/>
              </p:cNvCxnSpPr>
              <p:nvPr/>
            </p:nvCxnSpPr>
            <p:spPr>
              <a:xfrm>
                <a:off x="5124506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1" name="Straight Arrow Connector 70"/>
              <p:cNvCxnSpPr>
                <a:stCxn id="104" idx="2"/>
                <a:endCxn id="94" idx="1"/>
              </p:cNvCxnSpPr>
              <p:nvPr/>
            </p:nvCxnSpPr>
            <p:spPr>
              <a:xfrm>
                <a:off x="4796604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2" name="Straight Arrow Connector 71"/>
              <p:cNvCxnSpPr>
                <a:stCxn id="102" idx="2"/>
                <a:endCxn id="95" idx="1"/>
              </p:cNvCxnSpPr>
              <p:nvPr/>
            </p:nvCxnSpPr>
            <p:spPr>
              <a:xfrm>
                <a:off x="3484996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3" name="Straight Arrow Connector 72"/>
              <p:cNvCxnSpPr>
                <a:stCxn id="106" idx="2"/>
                <a:endCxn id="93" idx="1"/>
              </p:cNvCxnSpPr>
              <p:nvPr/>
            </p:nvCxnSpPr>
            <p:spPr>
              <a:xfrm>
                <a:off x="6108212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4" name="Straight Arrow Connector 73"/>
              <p:cNvCxnSpPr>
                <a:stCxn id="103" idx="2"/>
                <a:endCxn id="95" idx="7"/>
              </p:cNvCxnSpPr>
              <p:nvPr/>
            </p:nvCxnSpPr>
            <p:spPr>
              <a:xfrm flipH="1">
                <a:off x="3956834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5" name="Straight Arrow Connector 74"/>
              <p:cNvCxnSpPr>
                <a:stCxn id="105" idx="2"/>
                <a:endCxn id="94" idx="7"/>
              </p:cNvCxnSpPr>
              <p:nvPr/>
            </p:nvCxnSpPr>
            <p:spPr>
              <a:xfrm flipH="1">
                <a:off x="5268443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6" name="Straight Arrow Connector 75"/>
              <p:cNvCxnSpPr>
                <a:stCxn id="107" idx="2"/>
                <a:endCxn id="93" idx="7"/>
              </p:cNvCxnSpPr>
              <p:nvPr/>
            </p:nvCxnSpPr>
            <p:spPr>
              <a:xfrm flipH="1">
                <a:off x="6580051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7" name="Straight Arrow Connector 76"/>
              <p:cNvCxnSpPr>
                <a:stCxn id="95" idx="4"/>
                <a:endCxn id="97" idx="0"/>
              </p:cNvCxnSpPr>
              <p:nvPr/>
            </p:nvCxnSpPr>
            <p:spPr>
              <a:xfrm>
                <a:off x="3812898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8" name="Straight Arrow Connector 77"/>
              <p:cNvCxnSpPr>
                <a:stCxn id="94" idx="4"/>
                <a:endCxn id="98" idx="0"/>
              </p:cNvCxnSpPr>
              <p:nvPr/>
            </p:nvCxnSpPr>
            <p:spPr>
              <a:xfrm>
                <a:off x="5124506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9" name="Straight Arrow Connector 78"/>
              <p:cNvCxnSpPr>
                <a:stCxn id="93" idx="4"/>
                <a:endCxn id="99" idx="0"/>
              </p:cNvCxnSpPr>
              <p:nvPr/>
            </p:nvCxnSpPr>
            <p:spPr>
              <a:xfrm>
                <a:off x="6436114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0" name="Straight Arrow Connector 79"/>
              <p:cNvCxnSpPr>
                <a:stCxn id="97" idx="2"/>
                <a:endCxn id="91" idx="7"/>
              </p:cNvCxnSpPr>
              <p:nvPr/>
            </p:nvCxnSpPr>
            <p:spPr>
              <a:xfrm flipH="1">
                <a:off x="3301030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1" name="Straight Arrow Connector 80"/>
              <p:cNvCxnSpPr>
                <a:stCxn id="99" idx="2"/>
                <a:endCxn id="90" idx="7"/>
              </p:cNvCxnSpPr>
              <p:nvPr/>
            </p:nvCxnSpPr>
            <p:spPr>
              <a:xfrm flipH="1">
                <a:off x="5924247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2" name="Straight Arrow Connector 81"/>
              <p:cNvCxnSpPr>
                <a:stCxn id="91" idx="4"/>
                <a:endCxn id="88" idx="0"/>
              </p:cNvCxnSpPr>
              <p:nvPr/>
            </p:nvCxnSpPr>
            <p:spPr>
              <a:xfrm>
                <a:off x="3157094" y="5141317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3" name="Straight Arrow Connector 82"/>
              <p:cNvCxnSpPr>
                <a:stCxn id="90" idx="4"/>
                <a:endCxn id="89" idx="0"/>
              </p:cNvCxnSpPr>
              <p:nvPr/>
            </p:nvCxnSpPr>
            <p:spPr>
              <a:xfrm>
                <a:off x="5780310" y="5141317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4" name="Straight Arrow Connector 83"/>
              <p:cNvCxnSpPr>
                <a:stCxn id="88" idx="2"/>
                <a:endCxn id="68" idx="1"/>
              </p:cNvCxnSpPr>
              <p:nvPr/>
            </p:nvCxnSpPr>
            <p:spPr>
              <a:xfrm>
                <a:off x="3157094" y="5709776"/>
                <a:ext cx="1167672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5" name="Straight Arrow Connector 84"/>
              <p:cNvCxnSpPr>
                <a:stCxn id="89" idx="2"/>
                <a:endCxn id="68" idx="7"/>
              </p:cNvCxnSpPr>
              <p:nvPr/>
            </p:nvCxnSpPr>
            <p:spPr>
              <a:xfrm flipH="1">
                <a:off x="4612639" y="5709776"/>
                <a:ext cx="1167672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6" name="Rectangle 85"/>
              <p:cNvSpPr/>
              <p:nvPr/>
            </p:nvSpPr>
            <p:spPr>
              <a:xfrm>
                <a:off x="4270799" y="6462195"/>
                <a:ext cx="395805" cy="39580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/>
              <a:p>
                <a:pPr algn="ctr">
                  <a:defRPr/>
                </a:pPr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Straight Arrow Connector 86"/>
              <p:cNvCxnSpPr>
                <a:stCxn id="68" idx="4"/>
                <a:endCxn id="86" idx="0"/>
              </p:cNvCxnSpPr>
              <p:nvPr/>
            </p:nvCxnSpPr>
            <p:spPr>
              <a:xfrm>
                <a:off x="4468702" y="6289542"/>
                <a:ext cx="0" cy="172652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108" name="Group 107"/>
            <p:cNvGrpSpPr>
              <a:grpSpLocks noChangeAspect="1"/>
            </p:cNvGrpSpPr>
            <p:nvPr/>
          </p:nvGrpSpPr>
          <p:grpSpPr>
            <a:xfrm>
              <a:off x="6126480" y="3067938"/>
              <a:ext cx="2103120" cy="1619794"/>
              <a:chOff x="1975485" y="3017520"/>
              <a:chExt cx="4986433" cy="3840480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1975485" y="3017520"/>
                <a:ext cx="4986433" cy="395805"/>
                <a:chOff x="1327599" y="1464569"/>
                <a:chExt cx="6719887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1327599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>
                <a:xfrm>
                  <a:off x="2211383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3095167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2" name="Rectangle 151"/>
                <p:cNvSpPr/>
                <p:nvPr/>
              </p:nvSpPr>
              <p:spPr>
                <a:xfrm>
                  <a:off x="3978951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3" name="Rectangle 152"/>
                <p:cNvSpPr/>
                <p:nvPr/>
              </p:nvSpPr>
              <p:spPr>
                <a:xfrm>
                  <a:off x="4862735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Rectangle 153"/>
                <p:cNvSpPr/>
                <p:nvPr/>
              </p:nvSpPr>
              <p:spPr>
                <a:xfrm>
                  <a:off x="5746519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5" name="Rectangle 154"/>
                <p:cNvSpPr/>
                <p:nvPr/>
              </p:nvSpPr>
              <p:spPr>
                <a:xfrm>
                  <a:off x="6630303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6" name="Rectangle 155"/>
                <p:cNvSpPr/>
                <p:nvPr/>
              </p:nvSpPr>
              <p:spPr>
                <a:xfrm>
                  <a:off x="7514086" y="1464569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0" name="Group 109"/>
              <p:cNvGrpSpPr/>
              <p:nvPr/>
            </p:nvGrpSpPr>
            <p:grpSpPr>
              <a:xfrm>
                <a:off x="2303387" y="4165745"/>
                <a:ext cx="4330630" cy="395805"/>
                <a:chOff x="1769491" y="3037355"/>
                <a:chExt cx="5836104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45" name="Rectangle 144"/>
                <p:cNvSpPr/>
                <p:nvPr/>
              </p:nvSpPr>
              <p:spPr>
                <a:xfrm>
                  <a:off x="1769491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" name="Rectangle 145"/>
                <p:cNvSpPr/>
                <p:nvPr/>
              </p:nvSpPr>
              <p:spPr>
                <a:xfrm>
                  <a:off x="3537059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7" name="Rectangle 146"/>
                <p:cNvSpPr/>
                <p:nvPr/>
              </p:nvSpPr>
              <p:spPr>
                <a:xfrm>
                  <a:off x="5304627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8" name="Rectangle 147"/>
                <p:cNvSpPr/>
                <p:nvPr/>
              </p:nvSpPr>
              <p:spPr>
                <a:xfrm>
                  <a:off x="7072195" y="3037355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11" name="Straight Arrow Connector 110"/>
              <p:cNvCxnSpPr>
                <a:stCxn id="149" idx="2"/>
                <a:endCxn id="141" idx="1"/>
              </p:cNvCxnSpPr>
              <p:nvPr/>
            </p:nvCxnSpPr>
            <p:spPr>
              <a:xfrm>
                <a:off x="2173387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2" name="Straight Arrow Connector 111"/>
              <p:cNvCxnSpPr>
                <a:stCxn id="150" idx="2"/>
                <a:endCxn id="141" idx="7"/>
              </p:cNvCxnSpPr>
              <p:nvPr/>
            </p:nvCxnSpPr>
            <p:spPr>
              <a:xfrm flipH="1">
                <a:off x="2645226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3" name="Straight Arrow Connector 112"/>
              <p:cNvCxnSpPr>
                <a:stCxn id="141" idx="4"/>
                <a:endCxn id="145" idx="0"/>
              </p:cNvCxnSpPr>
              <p:nvPr/>
            </p:nvCxnSpPr>
            <p:spPr>
              <a:xfrm>
                <a:off x="2501289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grpSp>
            <p:nvGrpSpPr>
              <p:cNvPr id="114" name="Group 113"/>
              <p:cNvGrpSpPr/>
              <p:nvPr/>
            </p:nvGrpSpPr>
            <p:grpSpPr>
              <a:xfrm>
                <a:off x="2297733" y="3585978"/>
                <a:ext cx="4341938" cy="407114"/>
                <a:chOff x="1761871" y="2243342"/>
                <a:chExt cx="5851344" cy="548640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141" name="Oval 140"/>
                <p:cNvSpPr>
                  <a:spLocks noChangeAspect="1"/>
                </p:cNvSpPr>
                <p:nvPr/>
              </p:nvSpPr>
              <p:spPr>
                <a:xfrm>
                  <a:off x="1761871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142" name="Oval 141"/>
                <p:cNvSpPr>
                  <a:spLocks noChangeAspect="1"/>
                </p:cNvSpPr>
                <p:nvPr/>
              </p:nvSpPr>
              <p:spPr>
                <a:xfrm>
                  <a:off x="7064575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143" name="Oval 142"/>
                <p:cNvSpPr>
                  <a:spLocks noChangeAspect="1"/>
                </p:cNvSpPr>
                <p:nvPr/>
              </p:nvSpPr>
              <p:spPr>
                <a:xfrm>
                  <a:off x="5297007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144" name="Oval 143"/>
                <p:cNvSpPr>
                  <a:spLocks noChangeAspect="1"/>
                </p:cNvSpPr>
                <p:nvPr/>
              </p:nvSpPr>
              <p:spPr>
                <a:xfrm>
                  <a:off x="3529439" y="2243342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2953537" y="4734203"/>
                <a:ext cx="3030330" cy="407114"/>
                <a:chOff x="2645655" y="3816128"/>
                <a:chExt cx="4083776" cy="548640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139" name="Oval 138"/>
                <p:cNvSpPr>
                  <a:spLocks noChangeAspect="1"/>
                </p:cNvSpPr>
                <p:nvPr/>
              </p:nvSpPr>
              <p:spPr>
                <a:xfrm>
                  <a:off x="6180791" y="3816128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140" name="Oval 139"/>
                <p:cNvSpPr>
                  <a:spLocks noChangeAspect="1"/>
                </p:cNvSpPr>
                <p:nvPr/>
              </p:nvSpPr>
              <p:spPr>
                <a:xfrm>
                  <a:off x="2645655" y="3816128"/>
                  <a:ext cx="548640" cy="548640"/>
                </a:xfrm>
                <a:prstGeom prst="ellipse">
                  <a:avLst/>
                </a:prstGeom>
                <a:grpFill/>
                <a:ln w="3175">
                  <a:solidFill>
                    <a:schemeClr val="accent4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r>
                    <a:rPr lang="en-US" sz="1100" dirty="0">
                      <a:solidFill>
                        <a:schemeClr val="accent4">
                          <a:lumMod val="50000"/>
                        </a:schemeClr>
                      </a:solidFill>
                    </a:rPr>
                    <a:t>+</a:t>
                  </a:r>
                </a:p>
              </p:txBody>
            </p:sp>
          </p:grpSp>
          <p:grpSp>
            <p:nvGrpSpPr>
              <p:cNvPr id="116" name="Group 115"/>
              <p:cNvGrpSpPr/>
              <p:nvPr/>
            </p:nvGrpSpPr>
            <p:grpSpPr>
              <a:xfrm>
                <a:off x="2959191" y="5313970"/>
                <a:ext cx="3019021" cy="395805"/>
                <a:chOff x="2653275" y="4610141"/>
                <a:chExt cx="4068536" cy="533400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37" name="Rectangle 136"/>
                <p:cNvSpPr/>
                <p:nvPr/>
              </p:nvSpPr>
              <p:spPr>
                <a:xfrm>
                  <a:off x="2653275" y="4610141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Rectangle 137"/>
                <p:cNvSpPr/>
                <p:nvPr/>
              </p:nvSpPr>
              <p:spPr>
                <a:xfrm>
                  <a:off x="6188411" y="4610141"/>
                  <a:ext cx="533400" cy="533400"/>
                </a:xfrm>
                <a:prstGeom prst="rect">
                  <a:avLst/>
                </a:prstGeom>
                <a:grpFill/>
                <a:ln w="3175">
                  <a:solidFill>
                    <a:schemeClr val="accent5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0" rIns="0" bIns="0" anchor="ctr"/>
                <a:lstStyle/>
                <a:p>
                  <a:pPr algn="ctr">
                    <a:defRPr/>
                  </a:pPr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17" name="Oval 116"/>
              <p:cNvSpPr>
                <a:spLocks noChangeAspect="1"/>
              </p:cNvSpPr>
              <p:nvPr/>
            </p:nvSpPr>
            <p:spPr>
              <a:xfrm>
                <a:off x="4265145" y="5882429"/>
                <a:ext cx="407113" cy="407114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accent4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/>
              <a:p>
                <a:pPr algn="ctr">
                  <a:defRPr/>
                </a:pPr>
                <a:r>
                  <a:rPr lang="en-US" sz="1100" dirty="0">
                    <a:solidFill>
                      <a:schemeClr val="accent4">
                        <a:lumMod val="50000"/>
                      </a:schemeClr>
                    </a:solidFill>
                  </a:rPr>
                  <a:t>+</a:t>
                </a:r>
              </a:p>
            </p:txBody>
          </p:sp>
          <p:cxnSp>
            <p:nvCxnSpPr>
              <p:cNvPr id="118" name="Straight Arrow Connector 117"/>
              <p:cNvCxnSpPr>
                <a:stCxn id="145" idx="2"/>
                <a:endCxn id="140" idx="1"/>
              </p:cNvCxnSpPr>
              <p:nvPr/>
            </p:nvCxnSpPr>
            <p:spPr>
              <a:xfrm>
                <a:off x="2501289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9" name="Straight Arrow Connector 118"/>
              <p:cNvCxnSpPr>
                <a:stCxn id="147" idx="2"/>
                <a:endCxn id="139" idx="1"/>
              </p:cNvCxnSpPr>
              <p:nvPr/>
            </p:nvCxnSpPr>
            <p:spPr>
              <a:xfrm>
                <a:off x="5124506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0" name="Straight Arrow Connector 119"/>
              <p:cNvCxnSpPr>
                <a:stCxn id="153" idx="2"/>
                <a:endCxn id="143" idx="1"/>
              </p:cNvCxnSpPr>
              <p:nvPr/>
            </p:nvCxnSpPr>
            <p:spPr>
              <a:xfrm>
                <a:off x="4796604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1" name="Straight Arrow Connector 120"/>
              <p:cNvCxnSpPr>
                <a:stCxn id="151" idx="2"/>
                <a:endCxn id="144" idx="1"/>
              </p:cNvCxnSpPr>
              <p:nvPr/>
            </p:nvCxnSpPr>
            <p:spPr>
              <a:xfrm>
                <a:off x="3484996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2" name="Straight Arrow Connector 121"/>
              <p:cNvCxnSpPr>
                <a:stCxn id="155" idx="2"/>
                <a:endCxn id="142" idx="1"/>
              </p:cNvCxnSpPr>
              <p:nvPr/>
            </p:nvCxnSpPr>
            <p:spPr>
              <a:xfrm>
                <a:off x="6108212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3" name="Straight Arrow Connector 122"/>
              <p:cNvCxnSpPr>
                <a:stCxn id="152" idx="2"/>
                <a:endCxn id="144" idx="7"/>
              </p:cNvCxnSpPr>
              <p:nvPr/>
            </p:nvCxnSpPr>
            <p:spPr>
              <a:xfrm flipH="1">
                <a:off x="3956834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4" name="Straight Arrow Connector 123"/>
              <p:cNvCxnSpPr>
                <a:stCxn id="154" idx="2"/>
                <a:endCxn id="143" idx="7"/>
              </p:cNvCxnSpPr>
              <p:nvPr/>
            </p:nvCxnSpPr>
            <p:spPr>
              <a:xfrm flipH="1">
                <a:off x="5268443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5" name="Straight Arrow Connector 124"/>
              <p:cNvCxnSpPr>
                <a:stCxn id="156" idx="2"/>
                <a:endCxn id="142" idx="7"/>
              </p:cNvCxnSpPr>
              <p:nvPr/>
            </p:nvCxnSpPr>
            <p:spPr>
              <a:xfrm flipH="1">
                <a:off x="6580051" y="3413325"/>
                <a:ext cx="183965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6" name="Straight Arrow Connector 125"/>
              <p:cNvCxnSpPr>
                <a:stCxn id="144" idx="4"/>
                <a:endCxn id="146" idx="0"/>
              </p:cNvCxnSpPr>
              <p:nvPr/>
            </p:nvCxnSpPr>
            <p:spPr>
              <a:xfrm>
                <a:off x="3812898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7" name="Straight Arrow Connector 126"/>
              <p:cNvCxnSpPr>
                <a:stCxn id="143" idx="4"/>
                <a:endCxn id="147" idx="0"/>
              </p:cNvCxnSpPr>
              <p:nvPr/>
            </p:nvCxnSpPr>
            <p:spPr>
              <a:xfrm>
                <a:off x="5124506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8" name="Straight Arrow Connector 127"/>
              <p:cNvCxnSpPr>
                <a:stCxn id="142" idx="4"/>
                <a:endCxn id="148" idx="0"/>
              </p:cNvCxnSpPr>
              <p:nvPr/>
            </p:nvCxnSpPr>
            <p:spPr>
              <a:xfrm>
                <a:off x="6436114" y="3993092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9" name="Straight Arrow Connector 128"/>
              <p:cNvCxnSpPr>
                <a:stCxn id="146" idx="2"/>
                <a:endCxn id="140" idx="7"/>
              </p:cNvCxnSpPr>
              <p:nvPr/>
            </p:nvCxnSpPr>
            <p:spPr>
              <a:xfrm flipH="1">
                <a:off x="3301030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0" name="Straight Arrow Connector 129"/>
              <p:cNvCxnSpPr>
                <a:stCxn id="148" idx="2"/>
                <a:endCxn id="139" idx="7"/>
              </p:cNvCxnSpPr>
              <p:nvPr/>
            </p:nvCxnSpPr>
            <p:spPr>
              <a:xfrm flipH="1">
                <a:off x="5924247" y="4561550"/>
                <a:ext cx="511867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1" name="Straight Arrow Connector 130"/>
              <p:cNvCxnSpPr>
                <a:stCxn id="140" idx="4"/>
                <a:endCxn id="137" idx="0"/>
              </p:cNvCxnSpPr>
              <p:nvPr/>
            </p:nvCxnSpPr>
            <p:spPr>
              <a:xfrm>
                <a:off x="3157094" y="5141317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2" name="Straight Arrow Connector 131"/>
              <p:cNvCxnSpPr>
                <a:stCxn id="139" idx="4"/>
                <a:endCxn id="138" idx="0"/>
              </p:cNvCxnSpPr>
              <p:nvPr/>
            </p:nvCxnSpPr>
            <p:spPr>
              <a:xfrm>
                <a:off x="5780310" y="5141317"/>
                <a:ext cx="0" cy="17265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3" name="Straight Arrow Connector 132"/>
              <p:cNvCxnSpPr>
                <a:stCxn id="137" idx="2"/>
                <a:endCxn id="117" idx="1"/>
              </p:cNvCxnSpPr>
              <p:nvPr/>
            </p:nvCxnSpPr>
            <p:spPr>
              <a:xfrm>
                <a:off x="3157094" y="5709776"/>
                <a:ext cx="1167672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4" name="Straight Arrow Connector 133"/>
              <p:cNvCxnSpPr>
                <a:stCxn id="138" idx="2"/>
                <a:endCxn id="117" idx="7"/>
              </p:cNvCxnSpPr>
              <p:nvPr/>
            </p:nvCxnSpPr>
            <p:spPr>
              <a:xfrm flipH="1">
                <a:off x="4612639" y="5709776"/>
                <a:ext cx="1167672" cy="232273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35" name="Rectangle 134"/>
              <p:cNvSpPr/>
              <p:nvPr/>
            </p:nvSpPr>
            <p:spPr>
              <a:xfrm>
                <a:off x="4270799" y="6462195"/>
                <a:ext cx="395805" cy="39580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anchor="ctr"/>
              <a:lstStyle/>
              <a:p>
                <a:pPr algn="ctr">
                  <a:defRPr/>
                </a:pPr>
                <a:endParaRPr lang="en-US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6" name="Straight Arrow Connector 135"/>
              <p:cNvCxnSpPr>
                <a:stCxn id="117" idx="4"/>
                <a:endCxn id="135" idx="0"/>
              </p:cNvCxnSpPr>
              <p:nvPr/>
            </p:nvCxnSpPr>
            <p:spPr>
              <a:xfrm>
                <a:off x="4468702" y="6289542"/>
                <a:ext cx="0" cy="172652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175">
                <a:solidFill>
                  <a:schemeClr val="accent5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157" name="Rectangle 156"/>
            <p:cNvSpPr/>
            <p:nvPr/>
          </p:nvSpPr>
          <p:spPr>
            <a:xfrm>
              <a:off x="923925" y="3840045"/>
              <a:ext cx="2103120" cy="309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Block</a:t>
              </a:r>
              <a:r>
                <a:rPr lang="en-US" baseline="-25000" dirty="0">
                  <a:solidFill>
                    <a:schemeClr val="tx1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3228975" y="3840045"/>
              <a:ext cx="2103120" cy="309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Block</a:t>
              </a:r>
              <a:r>
                <a:rPr lang="en-US" baseline="-250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6126480" y="3840044"/>
              <a:ext cx="2103120" cy="309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Block</a:t>
              </a:r>
              <a:r>
                <a:rPr lang="en-US" baseline="-25000" dirty="0">
                  <a:solidFill>
                    <a:schemeClr val="tx1"/>
                  </a:solidFill>
                </a:rPr>
                <a:t>B-1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1965960" y="4460626"/>
            <a:ext cx="5212080" cy="365760"/>
            <a:chOff x="1965960" y="4760302"/>
            <a:chExt cx="5212080" cy="648354"/>
          </a:xfrm>
        </p:grpSpPr>
        <p:cxnSp>
          <p:nvCxnSpPr>
            <p:cNvPr id="161" name="Straight Arrow Connector 160"/>
            <p:cNvCxnSpPr/>
            <p:nvPr/>
          </p:nvCxnSpPr>
          <p:spPr>
            <a:xfrm>
              <a:off x="1965960" y="4760302"/>
              <a:ext cx="2560320" cy="648354"/>
            </a:xfrm>
            <a:prstGeom prst="straightConnector1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4" name="Straight Arrow Connector 163"/>
            <p:cNvCxnSpPr/>
            <p:nvPr/>
          </p:nvCxnSpPr>
          <p:spPr>
            <a:xfrm>
              <a:off x="4280536" y="4760302"/>
              <a:ext cx="276597" cy="648354"/>
            </a:xfrm>
            <a:prstGeom prst="straightConnector1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7" name="Straight Arrow Connector 166"/>
            <p:cNvCxnSpPr/>
            <p:nvPr/>
          </p:nvCxnSpPr>
          <p:spPr>
            <a:xfrm flipH="1">
              <a:off x="4557133" y="4760302"/>
              <a:ext cx="2620907" cy="648354"/>
            </a:xfrm>
            <a:prstGeom prst="straightConnector1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180" name="TextBox 179"/>
          <p:cNvSpPr txBox="1"/>
          <p:nvPr/>
        </p:nvSpPr>
        <p:spPr>
          <a:xfrm>
            <a:off x="4296928" y="5043850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Sum</a:t>
            </a:r>
          </a:p>
        </p:txBody>
      </p:sp>
      <p:grpSp>
        <p:nvGrpSpPr>
          <p:cNvPr id="186" name="Group 185"/>
          <p:cNvGrpSpPr/>
          <p:nvPr/>
        </p:nvGrpSpPr>
        <p:grpSpPr>
          <a:xfrm>
            <a:off x="1975485" y="1969486"/>
            <a:ext cx="5202555" cy="274320"/>
            <a:chOff x="1975485" y="2269162"/>
            <a:chExt cx="5202555" cy="274320"/>
          </a:xfrm>
        </p:grpSpPr>
        <p:cxnSp>
          <p:nvCxnSpPr>
            <p:cNvPr id="181" name="Straight Arrow Connector 180"/>
            <p:cNvCxnSpPr/>
            <p:nvPr/>
          </p:nvCxnSpPr>
          <p:spPr>
            <a:xfrm>
              <a:off x="1975485" y="2269162"/>
              <a:ext cx="0" cy="274320"/>
            </a:xfrm>
            <a:prstGeom prst="straightConnector1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2" name="Straight Arrow Connector 181"/>
            <p:cNvCxnSpPr/>
            <p:nvPr/>
          </p:nvCxnSpPr>
          <p:spPr>
            <a:xfrm>
              <a:off x="4280535" y="2269162"/>
              <a:ext cx="0" cy="274320"/>
            </a:xfrm>
            <a:prstGeom prst="straightConnector1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3" name="Straight Arrow Connector 182"/>
            <p:cNvCxnSpPr/>
            <p:nvPr/>
          </p:nvCxnSpPr>
          <p:spPr>
            <a:xfrm>
              <a:off x="7178040" y="2269162"/>
              <a:ext cx="0" cy="274320"/>
            </a:xfrm>
            <a:prstGeom prst="straightConnector1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73064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Reduction Tree (Per Block)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775957"/>
              </p:ext>
            </p:extLst>
          </p:nvPr>
        </p:nvGraphicFramePr>
        <p:xfrm>
          <a:off x="914400" y="1907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447807"/>
              </p:ext>
            </p:extLst>
          </p:nvPr>
        </p:nvGraphicFramePr>
        <p:xfrm>
          <a:off x="914400" y="28596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75803"/>
              </p:ext>
            </p:extLst>
          </p:nvPr>
        </p:nvGraphicFramePr>
        <p:xfrm>
          <a:off x="914400" y="3812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131265"/>
              </p:ext>
            </p:extLst>
          </p:nvPr>
        </p:nvGraphicFramePr>
        <p:xfrm>
          <a:off x="914400" y="5717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10644"/>
              </p:ext>
            </p:extLst>
          </p:nvPr>
        </p:nvGraphicFramePr>
        <p:xfrm>
          <a:off x="914400" y="47646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1143000" y="2364330"/>
            <a:ext cx="6858000" cy="495300"/>
            <a:chOff x="1143000" y="1905000"/>
            <a:chExt cx="6858000" cy="49530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143000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1143000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042652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2042652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2986548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2986548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886200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886200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4800600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4800600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5700252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700252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644148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6644148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7543800" y="1905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H="1">
              <a:off x="7543800" y="1905000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143000" y="3316830"/>
            <a:ext cx="6400800" cy="495300"/>
            <a:chOff x="1143000" y="2857500"/>
            <a:chExt cx="6400800" cy="495300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1143000" y="28575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>
              <a:off x="1143000" y="2857500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2971800" y="28575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2971800" y="2857500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815348" y="28575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>
              <a:off x="4815348" y="2857500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6644148" y="28575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6644148" y="2857500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1143000" y="4269330"/>
            <a:ext cx="5486400" cy="495300"/>
            <a:chOff x="1143000" y="3810000"/>
            <a:chExt cx="5486400" cy="495300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1143000" y="3810000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4800600" y="38100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4800600" y="3810000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143000" y="5221830"/>
            <a:ext cx="3657600" cy="495300"/>
            <a:chOff x="1143000" y="4762500"/>
            <a:chExt cx="3657600" cy="495300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1143000" y="4762500"/>
              <a:ext cx="36576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1062074" y="1124454"/>
            <a:ext cx="6550689" cy="640080"/>
            <a:chOff x="1062074" y="1508654"/>
            <a:chExt cx="6550689" cy="640080"/>
          </a:xfrm>
        </p:grpSpPr>
        <p:sp>
          <p:nvSpPr>
            <p:cNvPr id="53" name="Freeform 52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>
              <a:off x="19763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7" name="Freeform 56"/>
            <p:cNvSpPr/>
            <p:nvPr/>
          </p:nvSpPr>
          <p:spPr>
            <a:xfrm>
              <a:off x="289065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>
              <a:off x="380495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>
              <a:off x="471924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>
              <a:off x="563353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5" name="Freeform 64"/>
            <p:cNvSpPr/>
            <p:nvPr/>
          </p:nvSpPr>
          <p:spPr>
            <a:xfrm>
              <a:off x="654782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7" name="Freeform 66"/>
            <p:cNvSpPr/>
            <p:nvPr/>
          </p:nvSpPr>
          <p:spPr>
            <a:xfrm>
              <a:off x="746211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91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Reduction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Problems:</a:t>
            </a:r>
          </a:p>
          <a:p>
            <a:pPr lvl="1"/>
            <a:r>
              <a:rPr lang="en-US" dirty="0"/>
              <a:t>Accesses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are not coalesced</a:t>
            </a:r>
          </a:p>
          <a:p>
            <a:pPr lvl="1"/>
            <a:r>
              <a:rPr lang="en-US" dirty="0"/>
              <a:t>Control divergence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678634"/>
            <a:ext cx="7112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segment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segment +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BLOCK_DIM; stride *=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    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.x%stride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8821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3870386" y="1287588"/>
            <a:ext cx="2866104" cy="4480560"/>
            <a:chOff x="3870386" y="1310640"/>
            <a:chExt cx="2866104" cy="4480560"/>
          </a:xfrm>
        </p:grpSpPr>
        <p:cxnSp>
          <p:nvCxnSpPr>
            <p:cNvPr id="93" name="Straight Connector 92"/>
            <p:cNvCxnSpPr/>
            <p:nvPr/>
          </p:nvCxnSpPr>
          <p:spPr>
            <a:xfrm flipH="1">
              <a:off x="3870386" y="1310640"/>
              <a:ext cx="6533" cy="448056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5303438" y="1310640"/>
              <a:ext cx="6533" cy="448056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6729957" y="1310640"/>
              <a:ext cx="6533" cy="448056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 Placeholder 2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Control Divergence Problem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2438400" y="1608612"/>
            <a:ext cx="5745889" cy="822960"/>
            <a:chOff x="2911414" y="1640304"/>
            <a:chExt cx="5745889" cy="822960"/>
          </a:xfrm>
        </p:grpSpPr>
        <p:grpSp>
          <p:nvGrpSpPr>
            <p:cNvPr id="20" name="Group 19"/>
            <p:cNvGrpSpPr/>
            <p:nvPr/>
          </p:nvGrpSpPr>
          <p:grpSpPr>
            <a:xfrm>
              <a:off x="3041158" y="1731744"/>
              <a:ext cx="5486400" cy="640080"/>
              <a:chOff x="2038879" y="3200400"/>
              <a:chExt cx="6571721" cy="1490133"/>
            </a:xfrm>
          </p:grpSpPr>
          <p:sp>
            <p:nvSpPr>
              <p:cNvPr id="4" name="Freeform 3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246496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289104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331713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374321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416930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459538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502147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544755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587364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629972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672581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715189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757798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800406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843015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89" name="Rectangle 88"/>
            <p:cNvSpPr/>
            <p:nvPr/>
          </p:nvSpPr>
          <p:spPr>
            <a:xfrm>
              <a:off x="2911414" y="1640304"/>
              <a:ext cx="5745889" cy="82296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727386" y="1224040"/>
            <a:ext cx="5128870" cy="369332"/>
            <a:chOff x="2727386" y="1247092"/>
            <a:chExt cx="5128870" cy="369332"/>
          </a:xfrm>
        </p:grpSpPr>
        <p:sp>
          <p:nvSpPr>
            <p:cNvPr id="109" name="TextBox 108"/>
            <p:cNvSpPr txBox="1"/>
            <p:nvPr/>
          </p:nvSpPr>
          <p:spPr>
            <a:xfrm>
              <a:off x="2727386" y="1247092"/>
              <a:ext cx="829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warp 0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160438" y="1247092"/>
              <a:ext cx="829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warp 1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5593490" y="1247092"/>
              <a:ext cx="829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warp 2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7026542" y="1247092"/>
              <a:ext cx="829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warp 3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38200" y="3406932"/>
            <a:ext cx="6149193" cy="640080"/>
            <a:chOff x="838200" y="3429984"/>
            <a:chExt cx="6149193" cy="640080"/>
          </a:xfrm>
        </p:grpSpPr>
        <p:grpSp>
          <p:nvGrpSpPr>
            <p:cNvPr id="133" name="Group 132"/>
            <p:cNvGrpSpPr/>
            <p:nvPr/>
          </p:nvGrpSpPr>
          <p:grpSpPr>
            <a:xfrm>
              <a:off x="2568144" y="3429984"/>
              <a:ext cx="4419249" cy="640080"/>
              <a:chOff x="2038879" y="3200400"/>
              <a:chExt cx="5293466" cy="1490133"/>
            </a:xfrm>
          </p:grpSpPr>
          <p:sp>
            <p:nvSpPr>
              <p:cNvPr id="135" name="Freeform 134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9" name="Freeform 138"/>
              <p:cNvSpPr/>
              <p:nvPr/>
            </p:nvSpPr>
            <p:spPr>
              <a:xfrm>
                <a:off x="374321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3" name="Freeform 142"/>
              <p:cNvSpPr/>
              <p:nvPr/>
            </p:nvSpPr>
            <p:spPr>
              <a:xfrm>
                <a:off x="544755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7" name="Freeform 146"/>
              <p:cNvSpPr/>
              <p:nvPr/>
            </p:nvSpPr>
            <p:spPr>
              <a:xfrm>
                <a:off x="715189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91" name="TextBox 190"/>
            <p:cNvSpPr txBox="1"/>
            <p:nvPr/>
          </p:nvSpPr>
          <p:spPr>
            <a:xfrm>
              <a:off x="838200" y="3523028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N-2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38200" y="2599212"/>
            <a:ext cx="6860627" cy="640080"/>
            <a:chOff x="838200" y="2622264"/>
            <a:chExt cx="6860627" cy="640080"/>
          </a:xfrm>
        </p:grpSpPr>
        <p:grpSp>
          <p:nvGrpSpPr>
            <p:cNvPr id="114" name="Group 113"/>
            <p:cNvGrpSpPr/>
            <p:nvPr/>
          </p:nvGrpSpPr>
          <p:grpSpPr>
            <a:xfrm>
              <a:off x="2568144" y="2622264"/>
              <a:ext cx="5130683" cy="640080"/>
              <a:chOff x="2038879" y="3200400"/>
              <a:chExt cx="6145636" cy="1490133"/>
            </a:xfrm>
          </p:grpSpPr>
          <p:sp>
            <p:nvSpPr>
              <p:cNvPr id="116" name="Freeform 115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8" name="Freeform 117"/>
              <p:cNvSpPr/>
              <p:nvPr/>
            </p:nvSpPr>
            <p:spPr>
              <a:xfrm>
                <a:off x="289104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0" name="Freeform 119"/>
              <p:cNvSpPr/>
              <p:nvPr/>
            </p:nvSpPr>
            <p:spPr>
              <a:xfrm>
                <a:off x="374321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Freeform 121"/>
              <p:cNvSpPr/>
              <p:nvPr/>
            </p:nvSpPr>
            <p:spPr>
              <a:xfrm>
                <a:off x="459538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4" name="Freeform 123"/>
              <p:cNvSpPr/>
              <p:nvPr/>
            </p:nvSpPr>
            <p:spPr>
              <a:xfrm>
                <a:off x="544755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6" name="Freeform 125"/>
              <p:cNvSpPr/>
              <p:nvPr/>
            </p:nvSpPr>
            <p:spPr>
              <a:xfrm>
                <a:off x="629972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8" name="Freeform 127"/>
              <p:cNvSpPr/>
              <p:nvPr/>
            </p:nvSpPr>
            <p:spPr>
              <a:xfrm>
                <a:off x="715189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0" name="Freeform 129"/>
              <p:cNvSpPr/>
              <p:nvPr/>
            </p:nvSpPr>
            <p:spPr>
              <a:xfrm>
                <a:off x="800406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92" name="TextBox 191"/>
            <p:cNvSpPr txBox="1"/>
            <p:nvPr/>
          </p:nvSpPr>
          <p:spPr>
            <a:xfrm>
              <a:off x="838200" y="2675914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N-3</a:t>
              </a:r>
            </a:p>
          </p:txBody>
        </p:sp>
      </p:grpSp>
      <p:sp>
        <p:nvSpPr>
          <p:cNvPr id="193" name="TextBox 192"/>
          <p:cNvSpPr txBox="1"/>
          <p:nvPr/>
        </p:nvSpPr>
        <p:spPr>
          <a:xfrm>
            <a:off x="838200" y="180574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Step N-4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838200" y="4214652"/>
            <a:ext cx="7235842" cy="640080"/>
            <a:chOff x="838200" y="4237704"/>
            <a:chExt cx="7235842" cy="640080"/>
          </a:xfrm>
        </p:grpSpPr>
        <p:grpSp>
          <p:nvGrpSpPr>
            <p:cNvPr id="152" name="Group 151"/>
            <p:cNvGrpSpPr/>
            <p:nvPr/>
          </p:nvGrpSpPr>
          <p:grpSpPr>
            <a:xfrm>
              <a:off x="2568144" y="4237704"/>
              <a:ext cx="2996381" cy="640080"/>
              <a:chOff x="2038879" y="3200400"/>
              <a:chExt cx="3589126" cy="1490133"/>
            </a:xfrm>
          </p:grpSpPr>
          <p:sp>
            <p:nvSpPr>
              <p:cNvPr id="154" name="Freeform 153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2" name="Freeform 161"/>
              <p:cNvSpPr/>
              <p:nvPr/>
            </p:nvSpPr>
            <p:spPr>
              <a:xfrm>
                <a:off x="544755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90" name="TextBox 189"/>
            <p:cNvSpPr txBox="1"/>
            <p:nvPr/>
          </p:nvSpPr>
          <p:spPr>
            <a:xfrm>
              <a:off x="838200" y="4370142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N-1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00948" y="4370142"/>
              <a:ext cx="1368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drops out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705600" y="4370142"/>
              <a:ext cx="1368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drops out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990600" y="5022372"/>
            <a:ext cx="5711842" cy="640080"/>
            <a:chOff x="990600" y="5045424"/>
            <a:chExt cx="5711842" cy="640080"/>
          </a:xfrm>
        </p:grpSpPr>
        <p:sp>
          <p:nvSpPr>
            <p:cNvPr id="173" name="Freeform 172"/>
            <p:cNvSpPr/>
            <p:nvPr/>
          </p:nvSpPr>
          <p:spPr>
            <a:xfrm>
              <a:off x="2568144" y="504542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990600" y="519942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334000" y="5199428"/>
              <a:ext cx="1368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drops 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15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Coalescing and Minimizing Divergence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17967"/>
              </p:ext>
            </p:extLst>
          </p:nvPr>
        </p:nvGraphicFramePr>
        <p:xfrm>
          <a:off x="914400" y="1907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68024"/>
              </p:ext>
            </p:extLst>
          </p:nvPr>
        </p:nvGraphicFramePr>
        <p:xfrm>
          <a:off x="914400" y="28596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209437"/>
              </p:ext>
            </p:extLst>
          </p:nvPr>
        </p:nvGraphicFramePr>
        <p:xfrm>
          <a:off x="914400" y="3812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532984"/>
              </p:ext>
            </p:extLst>
          </p:nvPr>
        </p:nvGraphicFramePr>
        <p:xfrm>
          <a:off x="914400" y="5717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330570"/>
              </p:ext>
            </p:extLst>
          </p:nvPr>
        </p:nvGraphicFramePr>
        <p:xfrm>
          <a:off x="914400" y="47646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143000" y="5221830"/>
            <a:ext cx="457200" cy="495300"/>
            <a:chOff x="1143000" y="4762500"/>
            <a:chExt cx="457200" cy="495300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143000" y="2364330"/>
            <a:ext cx="6858000" cy="495300"/>
            <a:chOff x="1143000" y="1905000"/>
            <a:chExt cx="6858000" cy="495300"/>
          </a:xfrm>
        </p:grpSpPr>
        <p:grpSp>
          <p:nvGrpSpPr>
            <p:cNvPr id="11" name="Group 10"/>
            <p:cNvGrpSpPr/>
            <p:nvPr/>
          </p:nvGrpSpPr>
          <p:grpSpPr>
            <a:xfrm>
              <a:off x="11430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/>
          </p:nvGrpSpPr>
          <p:grpSpPr>
            <a:xfrm>
              <a:off x="16002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51" name="Straight Arrow Connector 50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/>
            <p:cNvGrpSpPr/>
            <p:nvPr/>
          </p:nvGrpSpPr>
          <p:grpSpPr>
            <a:xfrm>
              <a:off x="20574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54" name="Straight Arrow Connector 53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/>
            <p:cNvGrpSpPr/>
            <p:nvPr/>
          </p:nvGrpSpPr>
          <p:grpSpPr>
            <a:xfrm>
              <a:off x="25146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57" name="Straight Arrow Connector 56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/>
            <p:cNvGrpSpPr/>
            <p:nvPr/>
          </p:nvGrpSpPr>
          <p:grpSpPr>
            <a:xfrm>
              <a:off x="29718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60" name="Straight Arrow Connector 59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/>
          </p:nvGrpSpPr>
          <p:grpSpPr>
            <a:xfrm>
              <a:off x="34290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63" name="Straight Arrow Connector 62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/>
            <p:cNvGrpSpPr/>
            <p:nvPr/>
          </p:nvGrpSpPr>
          <p:grpSpPr>
            <a:xfrm>
              <a:off x="38862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66" name="Straight Arrow Connector 65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4343400" y="1905000"/>
              <a:ext cx="3657600" cy="495300"/>
              <a:chOff x="1143000" y="1905000"/>
              <a:chExt cx="3657600" cy="495300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>
                <a:off x="1143000" y="19050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H="1">
                <a:off x="1143000" y="1905000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1143000" y="3316830"/>
            <a:ext cx="3200400" cy="495300"/>
            <a:chOff x="1143000" y="2857500"/>
            <a:chExt cx="3200400" cy="495300"/>
          </a:xfrm>
        </p:grpSpPr>
        <p:grpSp>
          <p:nvGrpSpPr>
            <p:cNvPr id="38" name="Group 37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2" name="Straight Arrow Connector 71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5" name="Straight Arrow Connector 74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8" name="Straight Arrow Connector 77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1143000" y="4269330"/>
            <a:ext cx="1371600" cy="495300"/>
            <a:chOff x="1143000" y="3810000"/>
            <a:chExt cx="1371600" cy="495300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1062074" y="1124454"/>
            <a:ext cx="3328522" cy="640080"/>
            <a:chOff x="1062074" y="1508654"/>
            <a:chExt cx="3328522" cy="640080"/>
          </a:xfrm>
        </p:grpSpPr>
        <p:sp>
          <p:nvSpPr>
            <p:cNvPr id="108" name="Freeform 107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29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Straight Connector 92"/>
          <p:cNvCxnSpPr/>
          <p:nvPr/>
        </p:nvCxnSpPr>
        <p:spPr>
          <a:xfrm flipH="1">
            <a:off x="3870386" y="1287588"/>
            <a:ext cx="6533" cy="448056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H="1">
            <a:off x="5303438" y="1287588"/>
            <a:ext cx="6533" cy="448056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>
            <a:off x="6729957" y="1287588"/>
            <a:ext cx="6533" cy="448056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Control Divergence Minimized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2438400" y="1608612"/>
            <a:ext cx="5745889" cy="822960"/>
            <a:chOff x="2911414" y="1640304"/>
            <a:chExt cx="5745889" cy="822960"/>
          </a:xfrm>
        </p:grpSpPr>
        <p:grpSp>
          <p:nvGrpSpPr>
            <p:cNvPr id="20" name="Group 19"/>
            <p:cNvGrpSpPr/>
            <p:nvPr/>
          </p:nvGrpSpPr>
          <p:grpSpPr>
            <a:xfrm>
              <a:off x="3041158" y="1731744"/>
              <a:ext cx="5486400" cy="640080"/>
              <a:chOff x="2038879" y="3200400"/>
              <a:chExt cx="6571721" cy="1490133"/>
            </a:xfrm>
          </p:grpSpPr>
          <p:sp>
            <p:nvSpPr>
              <p:cNvPr id="4" name="Freeform 3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246496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289104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331713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374321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416930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459538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502147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544755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587364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629972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672581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715189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757798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800406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" name="Freeform 18"/>
              <p:cNvSpPr/>
              <p:nvPr/>
            </p:nvSpPr>
            <p:spPr>
              <a:xfrm>
                <a:off x="843015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89" name="Rectangle 88"/>
            <p:cNvSpPr/>
            <p:nvPr/>
          </p:nvSpPr>
          <p:spPr>
            <a:xfrm>
              <a:off x="2911414" y="1640304"/>
              <a:ext cx="5745889" cy="82296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2727386" y="1224040"/>
            <a:ext cx="82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warp 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60438" y="1224040"/>
            <a:ext cx="82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warp 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93490" y="1224040"/>
            <a:ext cx="82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warp 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26542" y="1224040"/>
            <a:ext cx="82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warp 3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38200" y="180574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Step N-4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838200" y="4213668"/>
            <a:ext cx="2236305" cy="640080"/>
            <a:chOff x="838200" y="4236720"/>
            <a:chExt cx="2236305" cy="640080"/>
          </a:xfrm>
        </p:grpSpPr>
        <p:sp>
          <p:nvSpPr>
            <p:cNvPr id="190" name="TextBox 189"/>
            <p:cNvSpPr txBox="1"/>
            <p:nvPr/>
          </p:nvSpPr>
          <p:spPr>
            <a:xfrm>
              <a:off x="838200" y="4370142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N-1</a:t>
              </a:r>
            </a:p>
          </p:txBody>
        </p:sp>
        <p:grpSp>
          <p:nvGrpSpPr>
            <p:cNvPr id="88" name="Group 87"/>
            <p:cNvGrpSpPr/>
            <p:nvPr/>
          </p:nvGrpSpPr>
          <p:grpSpPr>
            <a:xfrm>
              <a:off x="2568143" y="4236720"/>
              <a:ext cx="506362" cy="640080"/>
              <a:chOff x="2038879" y="3200400"/>
              <a:chExt cx="606531" cy="1490133"/>
            </a:xfrm>
          </p:grpSpPr>
          <p:sp>
            <p:nvSpPr>
              <p:cNvPr id="91" name="Freeform 90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246496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990600" y="5051868"/>
            <a:ext cx="1728189" cy="640080"/>
            <a:chOff x="990600" y="5074920"/>
            <a:chExt cx="1728189" cy="640080"/>
          </a:xfrm>
        </p:grpSpPr>
        <p:sp>
          <p:nvSpPr>
            <p:cNvPr id="189" name="TextBox 188"/>
            <p:cNvSpPr txBox="1"/>
            <p:nvPr/>
          </p:nvSpPr>
          <p:spPr>
            <a:xfrm>
              <a:off x="990600" y="5217256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</a:t>
              </a: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2568144" y="5074920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38200" y="2537268"/>
            <a:ext cx="7235842" cy="640080"/>
            <a:chOff x="838200" y="2560320"/>
            <a:chExt cx="7235842" cy="640080"/>
          </a:xfrm>
        </p:grpSpPr>
        <p:sp>
          <p:nvSpPr>
            <p:cNvPr id="192" name="TextBox 191"/>
            <p:cNvSpPr txBox="1"/>
            <p:nvPr/>
          </p:nvSpPr>
          <p:spPr>
            <a:xfrm>
              <a:off x="838200" y="2672834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N-3</a:t>
              </a:r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2568144" y="2560320"/>
              <a:ext cx="2640664" cy="640080"/>
              <a:chOff x="2038879" y="3200400"/>
              <a:chExt cx="3163041" cy="1490133"/>
            </a:xfrm>
          </p:grpSpPr>
          <p:sp>
            <p:nvSpPr>
              <p:cNvPr id="55" name="Freeform 54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246496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289104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331713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374321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416930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459538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2" name="Freeform 61"/>
              <p:cNvSpPr/>
              <p:nvPr/>
            </p:nvSpPr>
            <p:spPr>
              <a:xfrm>
                <a:off x="502147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6705600" y="2672834"/>
              <a:ext cx="1368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drops out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37158" y="2672834"/>
              <a:ext cx="1368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drops out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38200" y="3375468"/>
            <a:ext cx="4431190" cy="640080"/>
            <a:chOff x="838200" y="3398520"/>
            <a:chExt cx="4431190" cy="640080"/>
          </a:xfrm>
        </p:grpSpPr>
        <p:sp>
          <p:nvSpPr>
            <p:cNvPr id="191" name="TextBox 190"/>
            <p:cNvSpPr txBox="1"/>
            <p:nvPr/>
          </p:nvSpPr>
          <p:spPr>
            <a:xfrm>
              <a:off x="838200" y="3528862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Step N-2</a:t>
              </a: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2568144" y="3398520"/>
              <a:ext cx="1217796" cy="640080"/>
              <a:chOff x="2038879" y="3200400"/>
              <a:chExt cx="1458701" cy="1490133"/>
            </a:xfrm>
          </p:grpSpPr>
          <p:sp>
            <p:nvSpPr>
              <p:cNvPr id="72" name="Freeform 71"/>
              <p:cNvSpPr/>
              <p:nvPr/>
            </p:nvSpPr>
            <p:spPr>
              <a:xfrm>
                <a:off x="203887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46496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2891049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3317134" y="3200400"/>
                <a:ext cx="180446" cy="1490133"/>
              </a:xfrm>
              <a:custGeom>
                <a:avLst/>
                <a:gdLst>
                  <a:gd name="connsiteX0" fmla="*/ 127000 w 196850"/>
                  <a:gd name="connsiteY0" fmla="*/ 0 h 1625600"/>
                  <a:gd name="connsiteX1" fmla="*/ 82550 w 196850"/>
                  <a:gd name="connsiteY1" fmla="*/ 38100 h 1625600"/>
                  <a:gd name="connsiteX2" fmla="*/ 50800 w 196850"/>
                  <a:gd name="connsiteY2" fmla="*/ 76200 h 1625600"/>
                  <a:gd name="connsiteX3" fmla="*/ 19050 w 196850"/>
                  <a:gd name="connsiteY3" fmla="*/ 133350 h 1625600"/>
                  <a:gd name="connsiteX4" fmla="*/ 0 w 196850"/>
                  <a:gd name="connsiteY4" fmla="*/ 196850 h 1625600"/>
                  <a:gd name="connsiteX5" fmla="*/ 25400 w 196850"/>
                  <a:gd name="connsiteY5" fmla="*/ 323850 h 1625600"/>
                  <a:gd name="connsiteX6" fmla="*/ 50800 w 196850"/>
                  <a:gd name="connsiteY6" fmla="*/ 361950 h 1625600"/>
                  <a:gd name="connsiteX7" fmla="*/ 82550 w 196850"/>
                  <a:gd name="connsiteY7" fmla="*/ 393700 h 1625600"/>
                  <a:gd name="connsiteX8" fmla="*/ 101600 w 196850"/>
                  <a:gd name="connsiteY8" fmla="*/ 400050 h 1625600"/>
                  <a:gd name="connsiteX9" fmla="*/ 165100 w 196850"/>
                  <a:gd name="connsiteY9" fmla="*/ 476250 h 1625600"/>
                  <a:gd name="connsiteX10" fmla="*/ 177800 w 196850"/>
                  <a:gd name="connsiteY10" fmla="*/ 495300 h 1625600"/>
                  <a:gd name="connsiteX11" fmla="*/ 184150 w 196850"/>
                  <a:gd name="connsiteY11" fmla="*/ 514350 h 1625600"/>
                  <a:gd name="connsiteX12" fmla="*/ 190500 w 196850"/>
                  <a:gd name="connsiteY12" fmla="*/ 552450 h 1625600"/>
                  <a:gd name="connsiteX13" fmla="*/ 196850 w 196850"/>
                  <a:gd name="connsiteY13" fmla="*/ 577850 h 1625600"/>
                  <a:gd name="connsiteX14" fmla="*/ 190500 w 196850"/>
                  <a:gd name="connsiteY14" fmla="*/ 660400 h 1625600"/>
                  <a:gd name="connsiteX15" fmla="*/ 158750 w 196850"/>
                  <a:gd name="connsiteY15" fmla="*/ 717550 h 1625600"/>
                  <a:gd name="connsiteX16" fmla="*/ 139700 w 196850"/>
                  <a:gd name="connsiteY16" fmla="*/ 736600 h 1625600"/>
                  <a:gd name="connsiteX17" fmla="*/ 107950 w 196850"/>
                  <a:gd name="connsiteY17" fmla="*/ 768350 h 1625600"/>
                  <a:gd name="connsiteX18" fmla="*/ 95250 w 196850"/>
                  <a:gd name="connsiteY18" fmla="*/ 787400 h 1625600"/>
                  <a:gd name="connsiteX19" fmla="*/ 88900 w 196850"/>
                  <a:gd name="connsiteY19" fmla="*/ 806450 h 1625600"/>
                  <a:gd name="connsiteX20" fmla="*/ 69850 w 196850"/>
                  <a:gd name="connsiteY20" fmla="*/ 819150 h 1625600"/>
                  <a:gd name="connsiteX21" fmla="*/ 44450 w 196850"/>
                  <a:gd name="connsiteY21" fmla="*/ 863600 h 1625600"/>
                  <a:gd name="connsiteX22" fmla="*/ 31750 w 196850"/>
                  <a:gd name="connsiteY22" fmla="*/ 882650 h 1625600"/>
                  <a:gd name="connsiteX23" fmla="*/ 19050 w 196850"/>
                  <a:gd name="connsiteY23" fmla="*/ 927100 h 1625600"/>
                  <a:gd name="connsiteX24" fmla="*/ 31750 w 196850"/>
                  <a:gd name="connsiteY24" fmla="*/ 1060450 h 1625600"/>
                  <a:gd name="connsiteX25" fmla="*/ 63500 w 196850"/>
                  <a:gd name="connsiteY25" fmla="*/ 1092200 h 1625600"/>
                  <a:gd name="connsiteX26" fmla="*/ 76200 w 196850"/>
                  <a:gd name="connsiteY26" fmla="*/ 1111250 h 1625600"/>
                  <a:gd name="connsiteX27" fmla="*/ 114300 w 196850"/>
                  <a:gd name="connsiteY27" fmla="*/ 1136650 h 1625600"/>
                  <a:gd name="connsiteX28" fmla="*/ 120650 w 196850"/>
                  <a:gd name="connsiteY28" fmla="*/ 1155700 h 1625600"/>
                  <a:gd name="connsiteX29" fmla="*/ 139700 w 196850"/>
                  <a:gd name="connsiteY29" fmla="*/ 1168400 h 1625600"/>
                  <a:gd name="connsiteX30" fmla="*/ 165100 w 196850"/>
                  <a:gd name="connsiteY30" fmla="*/ 1187450 h 1625600"/>
                  <a:gd name="connsiteX31" fmla="*/ 190500 w 196850"/>
                  <a:gd name="connsiteY31" fmla="*/ 1225550 h 1625600"/>
                  <a:gd name="connsiteX32" fmla="*/ 196850 w 196850"/>
                  <a:gd name="connsiteY32" fmla="*/ 1250950 h 1625600"/>
                  <a:gd name="connsiteX33" fmla="*/ 190500 w 196850"/>
                  <a:gd name="connsiteY33" fmla="*/ 1339850 h 1625600"/>
                  <a:gd name="connsiteX34" fmla="*/ 171450 w 196850"/>
                  <a:gd name="connsiteY34" fmla="*/ 1403350 h 1625600"/>
                  <a:gd name="connsiteX35" fmla="*/ 158750 w 196850"/>
                  <a:gd name="connsiteY35" fmla="*/ 1422400 h 1625600"/>
                  <a:gd name="connsiteX36" fmla="*/ 152400 w 196850"/>
                  <a:gd name="connsiteY36" fmla="*/ 1441450 h 1625600"/>
                  <a:gd name="connsiteX37" fmla="*/ 127000 w 196850"/>
                  <a:gd name="connsiteY37" fmla="*/ 1498600 h 1625600"/>
                  <a:gd name="connsiteX38" fmla="*/ 95250 w 196850"/>
                  <a:gd name="connsiteY38" fmla="*/ 1555750 h 1625600"/>
                  <a:gd name="connsiteX39" fmla="*/ 95250 w 196850"/>
                  <a:gd name="connsiteY39" fmla="*/ 162560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6850" h="1625600">
                    <a:moveTo>
                      <a:pt x="127000" y="0"/>
                    </a:moveTo>
                    <a:cubicBezTo>
                      <a:pt x="72901" y="32460"/>
                      <a:pt x="111869" y="2917"/>
                      <a:pt x="82550" y="38100"/>
                    </a:cubicBezTo>
                    <a:cubicBezTo>
                      <a:pt x="68308" y="55190"/>
                      <a:pt x="59809" y="55930"/>
                      <a:pt x="50800" y="76200"/>
                    </a:cubicBezTo>
                    <a:cubicBezTo>
                      <a:pt x="25936" y="132143"/>
                      <a:pt x="53821" y="98579"/>
                      <a:pt x="19050" y="133350"/>
                    </a:cubicBezTo>
                    <a:cubicBezTo>
                      <a:pt x="3590" y="179729"/>
                      <a:pt x="9597" y="158463"/>
                      <a:pt x="0" y="196850"/>
                    </a:cubicBezTo>
                    <a:cubicBezTo>
                      <a:pt x="14593" y="299002"/>
                      <a:pt x="3234" y="257352"/>
                      <a:pt x="25400" y="323850"/>
                    </a:cubicBezTo>
                    <a:cubicBezTo>
                      <a:pt x="30227" y="338330"/>
                      <a:pt x="42333" y="349250"/>
                      <a:pt x="50800" y="361950"/>
                    </a:cubicBezTo>
                    <a:cubicBezTo>
                      <a:pt x="63500" y="381000"/>
                      <a:pt x="61383" y="383117"/>
                      <a:pt x="82550" y="393700"/>
                    </a:cubicBezTo>
                    <a:cubicBezTo>
                      <a:pt x="88537" y="396693"/>
                      <a:pt x="95250" y="397933"/>
                      <a:pt x="101600" y="400050"/>
                    </a:cubicBezTo>
                    <a:cubicBezTo>
                      <a:pt x="150493" y="448943"/>
                      <a:pt x="129737" y="423206"/>
                      <a:pt x="165100" y="476250"/>
                    </a:cubicBezTo>
                    <a:cubicBezTo>
                      <a:pt x="169333" y="482600"/>
                      <a:pt x="175387" y="488060"/>
                      <a:pt x="177800" y="495300"/>
                    </a:cubicBezTo>
                    <a:cubicBezTo>
                      <a:pt x="179917" y="501650"/>
                      <a:pt x="182698" y="507816"/>
                      <a:pt x="184150" y="514350"/>
                    </a:cubicBezTo>
                    <a:cubicBezTo>
                      <a:pt x="186943" y="526919"/>
                      <a:pt x="187975" y="539825"/>
                      <a:pt x="190500" y="552450"/>
                    </a:cubicBezTo>
                    <a:cubicBezTo>
                      <a:pt x="192212" y="561008"/>
                      <a:pt x="194733" y="569383"/>
                      <a:pt x="196850" y="577850"/>
                    </a:cubicBezTo>
                    <a:cubicBezTo>
                      <a:pt x="194733" y="605367"/>
                      <a:pt x="193923" y="633015"/>
                      <a:pt x="190500" y="660400"/>
                    </a:cubicBezTo>
                    <a:cubicBezTo>
                      <a:pt x="188219" y="678652"/>
                      <a:pt x="167578" y="708722"/>
                      <a:pt x="158750" y="717550"/>
                    </a:cubicBezTo>
                    <a:cubicBezTo>
                      <a:pt x="152400" y="723900"/>
                      <a:pt x="145449" y="729701"/>
                      <a:pt x="139700" y="736600"/>
                    </a:cubicBezTo>
                    <a:cubicBezTo>
                      <a:pt x="113242" y="768350"/>
                      <a:pt x="142875" y="745067"/>
                      <a:pt x="107950" y="768350"/>
                    </a:cubicBezTo>
                    <a:cubicBezTo>
                      <a:pt x="103717" y="774700"/>
                      <a:pt x="98663" y="780574"/>
                      <a:pt x="95250" y="787400"/>
                    </a:cubicBezTo>
                    <a:cubicBezTo>
                      <a:pt x="92257" y="793387"/>
                      <a:pt x="93081" y="801223"/>
                      <a:pt x="88900" y="806450"/>
                    </a:cubicBezTo>
                    <a:cubicBezTo>
                      <a:pt x="84132" y="812409"/>
                      <a:pt x="76200" y="814917"/>
                      <a:pt x="69850" y="819150"/>
                    </a:cubicBezTo>
                    <a:cubicBezTo>
                      <a:pt x="38908" y="865562"/>
                      <a:pt x="76676" y="807204"/>
                      <a:pt x="44450" y="863600"/>
                    </a:cubicBezTo>
                    <a:cubicBezTo>
                      <a:pt x="40664" y="870226"/>
                      <a:pt x="35163" y="875824"/>
                      <a:pt x="31750" y="882650"/>
                    </a:cubicBezTo>
                    <a:cubicBezTo>
                      <a:pt x="27195" y="891760"/>
                      <a:pt x="21085" y="918962"/>
                      <a:pt x="19050" y="927100"/>
                    </a:cubicBezTo>
                    <a:cubicBezTo>
                      <a:pt x="19267" y="930136"/>
                      <a:pt x="24826" y="1037369"/>
                      <a:pt x="31750" y="1060450"/>
                    </a:cubicBezTo>
                    <a:cubicBezTo>
                      <a:pt x="37042" y="1078089"/>
                      <a:pt x="49742" y="1083028"/>
                      <a:pt x="63500" y="1092200"/>
                    </a:cubicBezTo>
                    <a:cubicBezTo>
                      <a:pt x="67733" y="1098550"/>
                      <a:pt x="70457" y="1106224"/>
                      <a:pt x="76200" y="1111250"/>
                    </a:cubicBezTo>
                    <a:cubicBezTo>
                      <a:pt x="87687" y="1121301"/>
                      <a:pt x="114300" y="1136650"/>
                      <a:pt x="114300" y="1136650"/>
                    </a:cubicBezTo>
                    <a:cubicBezTo>
                      <a:pt x="116417" y="1143000"/>
                      <a:pt x="116469" y="1150473"/>
                      <a:pt x="120650" y="1155700"/>
                    </a:cubicBezTo>
                    <a:cubicBezTo>
                      <a:pt x="125418" y="1161659"/>
                      <a:pt x="133490" y="1163964"/>
                      <a:pt x="139700" y="1168400"/>
                    </a:cubicBezTo>
                    <a:cubicBezTo>
                      <a:pt x="148312" y="1174551"/>
                      <a:pt x="158069" y="1179540"/>
                      <a:pt x="165100" y="1187450"/>
                    </a:cubicBezTo>
                    <a:cubicBezTo>
                      <a:pt x="175241" y="1198858"/>
                      <a:pt x="190500" y="1225550"/>
                      <a:pt x="190500" y="1225550"/>
                    </a:cubicBezTo>
                    <a:cubicBezTo>
                      <a:pt x="192617" y="1234017"/>
                      <a:pt x="196850" y="1242223"/>
                      <a:pt x="196850" y="1250950"/>
                    </a:cubicBezTo>
                    <a:cubicBezTo>
                      <a:pt x="196850" y="1280659"/>
                      <a:pt x="193781" y="1310323"/>
                      <a:pt x="190500" y="1339850"/>
                    </a:cubicBezTo>
                    <a:cubicBezTo>
                      <a:pt x="188901" y="1354245"/>
                      <a:pt x="174642" y="1393773"/>
                      <a:pt x="171450" y="1403350"/>
                    </a:cubicBezTo>
                    <a:cubicBezTo>
                      <a:pt x="169037" y="1410590"/>
                      <a:pt x="162163" y="1415574"/>
                      <a:pt x="158750" y="1422400"/>
                    </a:cubicBezTo>
                    <a:cubicBezTo>
                      <a:pt x="155757" y="1428387"/>
                      <a:pt x="155393" y="1435463"/>
                      <a:pt x="152400" y="1441450"/>
                    </a:cubicBezTo>
                    <a:cubicBezTo>
                      <a:pt x="122211" y="1501827"/>
                      <a:pt x="159765" y="1400306"/>
                      <a:pt x="127000" y="1498600"/>
                    </a:cubicBezTo>
                    <a:cubicBezTo>
                      <a:pt x="119404" y="1521388"/>
                      <a:pt x="96991" y="1531377"/>
                      <a:pt x="95250" y="1555750"/>
                    </a:cubicBezTo>
                    <a:cubicBezTo>
                      <a:pt x="93591" y="1578974"/>
                      <a:pt x="95250" y="1602317"/>
                      <a:pt x="95250" y="1625600"/>
                    </a:cubicBezTo>
                  </a:path>
                </a:pathLst>
              </a:cu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270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3900948" y="3528862"/>
              <a:ext cx="1368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drops 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77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Reduction Code with Coalescing and Minimizing Divergence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4293" y="2020329"/>
            <a:ext cx="702320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segment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segment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BLOCK_DIM; stride &gt;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/=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4043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While specific data values are not reused, the same memory locations are repeatedly read and written</a:t>
            </a:r>
          </a:p>
          <a:p>
            <a:endParaRPr lang="en-US" dirty="0"/>
          </a:p>
          <a:p>
            <a:r>
              <a:rPr lang="en-US" dirty="0"/>
              <a:t>Optimization: load input to shared memory first and perform reduction tree on shared memory</a:t>
            </a:r>
          </a:p>
          <a:p>
            <a:pPr lvl="1"/>
            <a:r>
              <a:rPr lang="en-US" dirty="0"/>
              <a:t>Also avoids modifying the input if needed in the future</a:t>
            </a:r>
          </a:p>
        </p:txBody>
      </p:sp>
    </p:spTree>
    <p:extLst>
      <p:ext uri="{BB962C8B-B14F-4D97-AF65-F5344CB8AC3E}">
        <p14:creationId xmlns:p14="http://schemas.microsoft.com/office/powerpoint/2010/main" val="92874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Using Shared Memory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67790"/>
              </p:ext>
            </p:extLst>
          </p:nvPr>
        </p:nvGraphicFramePr>
        <p:xfrm>
          <a:off x="914400" y="190713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122372"/>
              </p:ext>
            </p:extLst>
          </p:nvPr>
        </p:nvGraphicFramePr>
        <p:xfrm>
          <a:off x="914400" y="2859630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640129"/>
              </p:ext>
            </p:extLst>
          </p:nvPr>
        </p:nvGraphicFramePr>
        <p:xfrm>
          <a:off x="914400" y="3812130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891411"/>
              </p:ext>
            </p:extLst>
          </p:nvPr>
        </p:nvGraphicFramePr>
        <p:xfrm>
          <a:off x="914400" y="5717130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399517"/>
              </p:ext>
            </p:extLst>
          </p:nvPr>
        </p:nvGraphicFramePr>
        <p:xfrm>
          <a:off x="914400" y="4764630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143000" y="5221830"/>
            <a:ext cx="457200" cy="495300"/>
            <a:chOff x="1143000" y="4762500"/>
            <a:chExt cx="457200" cy="495300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143000" y="2364330"/>
            <a:ext cx="6858000" cy="495300"/>
            <a:chOff x="1143000" y="2748530"/>
            <a:chExt cx="6858000" cy="495300"/>
          </a:xfrm>
        </p:grpSpPr>
        <p:grpSp>
          <p:nvGrpSpPr>
            <p:cNvPr id="16" name="Group 15"/>
            <p:cNvGrpSpPr/>
            <p:nvPr/>
          </p:nvGrpSpPr>
          <p:grpSpPr>
            <a:xfrm>
              <a:off x="1143000" y="2748530"/>
              <a:ext cx="3200400" cy="495300"/>
              <a:chOff x="1143000" y="2891405"/>
              <a:chExt cx="3200400" cy="49530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>
                <a:off x="11430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>
                <a:off x="16002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>
                <a:off x="20574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>
                <a:off x="25146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29718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/>
              <p:nvPr/>
            </p:nvCxnSpPr>
            <p:spPr>
              <a:xfrm>
                <a:off x="34290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>
                <a:off x="38862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>
                <a:off x="4343400" y="2891405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>
            <a:xfrm>
              <a:off x="1143000" y="2748530"/>
              <a:ext cx="6858000" cy="495300"/>
              <a:chOff x="1143000" y="2891405"/>
              <a:chExt cx="6858000" cy="495300"/>
            </a:xfrm>
          </p:grpSpPr>
          <p:cxnSp>
            <p:nvCxnSpPr>
              <p:cNvPr id="10" name="Straight Arrow Connector 9"/>
              <p:cNvCxnSpPr/>
              <p:nvPr/>
            </p:nvCxnSpPr>
            <p:spPr>
              <a:xfrm flipH="1">
                <a:off x="11430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 flipH="1">
                <a:off x="16002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H="1">
                <a:off x="20574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H="1">
                <a:off x="25146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H="1">
                <a:off x="29718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 flipH="1">
                <a:off x="34290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 flipH="1">
                <a:off x="38862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 flipH="1">
                <a:off x="4343400" y="2891405"/>
                <a:ext cx="36576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1143000" y="3316830"/>
            <a:ext cx="3200400" cy="495300"/>
            <a:chOff x="1143000" y="2857500"/>
            <a:chExt cx="3200400" cy="495300"/>
          </a:xfrm>
        </p:grpSpPr>
        <p:grpSp>
          <p:nvGrpSpPr>
            <p:cNvPr id="38" name="Group 37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2" name="Straight Arrow Connector 71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5" name="Straight Arrow Connector 74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8" name="Straight Arrow Connector 77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1143000" y="4269330"/>
            <a:ext cx="1371600" cy="495300"/>
            <a:chOff x="1143000" y="3810000"/>
            <a:chExt cx="1371600" cy="495300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5668895" y="2674964"/>
            <a:ext cx="337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Initial load from </a:t>
            </a:r>
            <a:r>
              <a:rPr lang="en-US" b="1" dirty="0">
                <a:solidFill>
                  <a:schemeClr val="accent5"/>
                </a:solidFill>
              </a:rPr>
              <a:t>global memory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37522" y="3368323"/>
            <a:ext cx="3484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Subsequent writes and reads continue in </a:t>
            </a:r>
            <a:r>
              <a:rPr lang="en-US" b="1" dirty="0">
                <a:solidFill>
                  <a:schemeClr val="accent6"/>
                </a:solidFill>
              </a:rPr>
              <a:t>shared memory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062074" y="1124454"/>
            <a:ext cx="3328522" cy="640080"/>
            <a:chOff x="1062074" y="1508654"/>
            <a:chExt cx="3328522" cy="640080"/>
          </a:xfrm>
        </p:grpSpPr>
        <p:sp>
          <p:nvSpPr>
            <p:cNvPr id="142" name="Freeform 141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60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Reduction Code with Shared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9175" y="1735753"/>
            <a:ext cx="71056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segment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segment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Load data to shared memory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[BLOCK_DIM];</a:t>
            </a:r>
          </a:p>
          <a:p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BLOCK_DIM];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Reduction tree in shared memory</a:t>
            </a: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BLOCK_DIM/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&gt;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/=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585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Thread Coarsening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Cost of parallelization:</a:t>
            </a:r>
          </a:p>
          <a:p>
            <a:pPr lvl="1"/>
            <a:r>
              <a:rPr lang="en-US" dirty="0"/>
              <a:t>Synchronization every step</a:t>
            </a:r>
          </a:p>
          <a:p>
            <a:pPr lvl="1"/>
            <a:r>
              <a:rPr lang="en-US" dirty="0"/>
              <a:t>Control divergence in the final steps</a:t>
            </a:r>
          </a:p>
          <a:p>
            <a:endParaRPr lang="en-US" dirty="0"/>
          </a:p>
          <a:p>
            <a:r>
              <a:rPr lang="en-US" dirty="0"/>
              <a:t>Better to coarsen threads if there are many more blocks than resources available</a:t>
            </a:r>
          </a:p>
        </p:txBody>
      </p:sp>
    </p:spTree>
    <p:extLst>
      <p:ext uri="{BB962C8B-B14F-4D97-AF65-F5344CB8AC3E}">
        <p14:creationId xmlns:p14="http://schemas.microsoft.com/office/powerpoint/2010/main" val="204392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Applying Thread Coarsening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411494"/>
              </p:ext>
            </p:extLst>
          </p:nvPr>
        </p:nvGraphicFramePr>
        <p:xfrm>
          <a:off x="914400" y="1679889"/>
          <a:ext cx="73152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08480777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2448269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21809916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9751782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30350705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39410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25342411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05062765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77824424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61121655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31373879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8959946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43689428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676158058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9532916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2448705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076355"/>
              </p:ext>
            </p:extLst>
          </p:nvPr>
        </p:nvGraphicFramePr>
        <p:xfrm>
          <a:off x="914400" y="3410854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64068"/>
              </p:ext>
            </p:extLst>
          </p:nvPr>
        </p:nvGraphicFramePr>
        <p:xfrm>
          <a:off x="914400" y="4111894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53417"/>
              </p:ext>
            </p:extLst>
          </p:nvPr>
        </p:nvGraphicFramePr>
        <p:xfrm>
          <a:off x="914400" y="5468254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275023"/>
              </p:ext>
            </p:extLst>
          </p:nvPr>
        </p:nvGraphicFramePr>
        <p:xfrm>
          <a:off x="914400" y="4788169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019175" y="5034374"/>
            <a:ext cx="228600" cy="421066"/>
            <a:chOff x="1143000" y="4762500"/>
            <a:chExt cx="457200" cy="495300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019175" y="1920873"/>
            <a:ext cx="1600200" cy="421066"/>
            <a:chOff x="1019175" y="1906520"/>
            <a:chExt cx="1600200" cy="24765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019175" y="1920873"/>
            <a:ext cx="3429000" cy="421066"/>
            <a:chOff x="1019175" y="1906520"/>
            <a:chExt cx="3429000" cy="247650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10191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H="1">
              <a:off x="12477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14763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>
              <a:off x="17049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19335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21621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23907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26193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019175" y="3658729"/>
            <a:ext cx="1600200" cy="421066"/>
            <a:chOff x="1143000" y="2857500"/>
            <a:chExt cx="3200400" cy="495300"/>
          </a:xfrm>
        </p:grpSpPr>
        <p:grpSp>
          <p:nvGrpSpPr>
            <p:cNvPr id="38" name="Group 37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2" name="Straight Arrow Connector 71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5" name="Straight Arrow Connector 74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8" name="Straight Arrow Connector 77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1019175" y="4350362"/>
            <a:ext cx="685800" cy="421066"/>
            <a:chOff x="1143000" y="3810000"/>
            <a:chExt cx="1371600" cy="495300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1019175" y="2401856"/>
            <a:ext cx="1600200" cy="421066"/>
            <a:chOff x="1019175" y="1906520"/>
            <a:chExt cx="1600200" cy="247650"/>
          </a:xfrm>
        </p:grpSpPr>
        <p:cxnSp>
          <p:nvCxnSpPr>
            <p:cNvPr id="115" name="Straight Arrow Connector 114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019175" y="1911156"/>
            <a:ext cx="5257800" cy="939299"/>
            <a:chOff x="1019175" y="2167505"/>
            <a:chExt cx="5257800" cy="247650"/>
          </a:xfrm>
        </p:grpSpPr>
        <p:cxnSp>
          <p:nvCxnSpPr>
            <p:cNvPr id="124" name="Straight Arrow Connector 123"/>
            <p:cNvCxnSpPr/>
            <p:nvPr/>
          </p:nvCxnSpPr>
          <p:spPr>
            <a:xfrm flipH="1">
              <a:off x="10191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 flipH="1">
              <a:off x="12477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/>
            <p:nvPr/>
          </p:nvCxnSpPr>
          <p:spPr>
            <a:xfrm flipH="1">
              <a:off x="14763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/>
            <p:nvPr/>
          </p:nvCxnSpPr>
          <p:spPr>
            <a:xfrm flipH="1">
              <a:off x="17049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/>
            <p:nvPr/>
          </p:nvCxnSpPr>
          <p:spPr>
            <a:xfrm flipH="1">
              <a:off x="19335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/>
            <p:nvPr/>
          </p:nvCxnSpPr>
          <p:spPr>
            <a:xfrm flipH="1">
              <a:off x="21621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 flipH="1">
              <a:off x="23907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/>
            <p:nvPr/>
          </p:nvCxnSpPr>
          <p:spPr>
            <a:xfrm flipH="1">
              <a:off x="26193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>
            <a:off x="1019175" y="2931431"/>
            <a:ext cx="1600200" cy="421066"/>
            <a:chOff x="1019175" y="1906520"/>
            <a:chExt cx="1600200" cy="247650"/>
          </a:xfrm>
        </p:grpSpPr>
        <p:cxnSp>
          <p:nvCxnSpPr>
            <p:cNvPr id="133" name="Straight Arrow Connector 132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019175" y="1904678"/>
            <a:ext cx="7086600" cy="1463040"/>
            <a:chOff x="1019175" y="2224655"/>
            <a:chExt cx="7086600" cy="552449"/>
          </a:xfrm>
        </p:grpSpPr>
        <p:cxnSp>
          <p:nvCxnSpPr>
            <p:cNvPr id="142" name="Straight Arrow Connector 141"/>
            <p:cNvCxnSpPr/>
            <p:nvPr/>
          </p:nvCxnSpPr>
          <p:spPr>
            <a:xfrm flipH="1">
              <a:off x="10191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 flipH="1">
              <a:off x="12477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/>
            <p:nvPr/>
          </p:nvCxnSpPr>
          <p:spPr>
            <a:xfrm flipH="1">
              <a:off x="14763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/>
            <p:nvPr/>
          </p:nvCxnSpPr>
          <p:spPr>
            <a:xfrm flipH="1">
              <a:off x="17049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/>
            <p:nvPr/>
          </p:nvCxnSpPr>
          <p:spPr>
            <a:xfrm flipH="1">
              <a:off x="19335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 flipH="1">
              <a:off x="21621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 flipH="1">
              <a:off x="23907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/>
            <p:nvPr/>
          </p:nvCxnSpPr>
          <p:spPr>
            <a:xfrm flipH="1">
              <a:off x="26193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>
            <a:grpSpLocks noChangeAspect="1"/>
          </p:cNvGrpSpPr>
          <p:nvPr/>
        </p:nvGrpSpPr>
        <p:grpSpPr>
          <a:xfrm>
            <a:off x="981103" y="1321000"/>
            <a:ext cx="1664261" cy="320040"/>
            <a:chOff x="1062074" y="1508654"/>
            <a:chExt cx="3328522" cy="640080"/>
          </a:xfrm>
        </p:grpSpPr>
        <p:sp>
          <p:nvSpPr>
            <p:cNvPr id="177" name="Freeform 176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042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Before vs. After Coarsening</a:t>
            </a:r>
          </a:p>
        </p:txBody>
      </p:sp>
      <p:graphicFrame>
        <p:nvGraphicFramePr>
          <p:cNvPr id="844" name="Table 8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309124"/>
              </p:ext>
            </p:extLst>
          </p:nvPr>
        </p:nvGraphicFramePr>
        <p:xfrm>
          <a:off x="1232701" y="2236518"/>
          <a:ext cx="2243328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5" name="Table 8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7218"/>
              </p:ext>
            </p:extLst>
          </p:nvPr>
        </p:nvGraphicFramePr>
        <p:xfrm>
          <a:off x="1232701" y="2657305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6" name="Table 8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492079"/>
              </p:ext>
            </p:extLst>
          </p:nvPr>
        </p:nvGraphicFramePr>
        <p:xfrm>
          <a:off x="1232701" y="3077929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7" name="Table 8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271779"/>
              </p:ext>
            </p:extLst>
          </p:nvPr>
        </p:nvGraphicFramePr>
        <p:xfrm>
          <a:off x="1232701" y="3891745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8" name="Table 8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38707"/>
              </p:ext>
            </p:extLst>
          </p:nvPr>
        </p:nvGraphicFramePr>
        <p:xfrm>
          <a:off x="1232701" y="3483693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49" name="Group 848"/>
          <p:cNvGrpSpPr/>
          <p:nvPr/>
        </p:nvGrpSpPr>
        <p:grpSpPr>
          <a:xfrm>
            <a:off x="1295566" y="3631417"/>
            <a:ext cx="137160" cy="252641"/>
            <a:chOff x="1143000" y="4762500"/>
            <a:chExt cx="457200" cy="495300"/>
          </a:xfrm>
        </p:grpSpPr>
        <p:cxnSp>
          <p:nvCxnSpPr>
            <p:cNvPr id="850" name="Straight Arrow Connector 849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1" name="Straight Arrow Connector 850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852" name="Group 851"/>
          <p:cNvGrpSpPr/>
          <p:nvPr/>
        </p:nvGrpSpPr>
        <p:grpSpPr>
          <a:xfrm>
            <a:off x="1295566" y="2381109"/>
            <a:ext cx="960120" cy="252641"/>
            <a:chOff x="1019175" y="1906520"/>
            <a:chExt cx="1600200" cy="247650"/>
          </a:xfrm>
        </p:grpSpPr>
        <p:cxnSp>
          <p:nvCxnSpPr>
            <p:cNvPr id="853" name="Straight Arrow Connector 852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4" name="Straight Arrow Connector 853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5" name="Straight Arrow Connector 854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6" name="Straight Arrow Connector 855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7" name="Straight Arrow Connector 856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8" name="Straight Arrow Connector 857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9" name="Straight Arrow Connector 858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0" name="Straight Arrow Connector 859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861" name="Group 860"/>
          <p:cNvGrpSpPr/>
          <p:nvPr/>
        </p:nvGrpSpPr>
        <p:grpSpPr>
          <a:xfrm>
            <a:off x="1295566" y="2381109"/>
            <a:ext cx="2057400" cy="252641"/>
            <a:chOff x="1019175" y="1906520"/>
            <a:chExt cx="3429000" cy="247650"/>
          </a:xfrm>
        </p:grpSpPr>
        <p:cxnSp>
          <p:nvCxnSpPr>
            <p:cNvPr id="862" name="Straight Arrow Connector 861"/>
            <p:cNvCxnSpPr/>
            <p:nvPr/>
          </p:nvCxnSpPr>
          <p:spPr>
            <a:xfrm flipH="1">
              <a:off x="10191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3" name="Straight Arrow Connector 862"/>
            <p:cNvCxnSpPr/>
            <p:nvPr/>
          </p:nvCxnSpPr>
          <p:spPr>
            <a:xfrm flipH="1">
              <a:off x="12477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4" name="Straight Arrow Connector 863"/>
            <p:cNvCxnSpPr/>
            <p:nvPr/>
          </p:nvCxnSpPr>
          <p:spPr>
            <a:xfrm flipH="1">
              <a:off x="14763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5" name="Straight Arrow Connector 864"/>
            <p:cNvCxnSpPr/>
            <p:nvPr/>
          </p:nvCxnSpPr>
          <p:spPr>
            <a:xfrm flipH="1">
              <a:off x="17049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6" name="Straight Arrow Connector 865"/>
            <p:cNvCxnSpPr/>
            <p:nvPr/>
          </p:nvCxnSpPr>
          <p:spPr>
            <a:xfrm flipH="1">
              <a:off x="19335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7" name="Straight Arrow Connector 866"/>
            <p:cNvCxnSpPr/>
            <p:nvPr/>
          </p:nvCxnSpPr>
          <p:spPr>
            <a:xfrm flipH="1">
              <a:off x="21621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8" name="Straight Arrow Connector 867"/>
            <p:cNvCxnSpPr/>
            <p:nvPr/>
          </p:nvCxnSpPr>
          <p:spPr>
            <a:xfrm flipH="1">
              <a:off x="23907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9" name="Straight Arrow Connector 868"/>
            <p:cNvCxnSpPr/>
            <p:nvPr/>
          </p:nvCxnSpPr>
          <p:spPr>
            <a:xfrm flipH="1">
              <a:off x="26193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870" name="Group 869"/>
          <p:cNvGrpSpPr/>
          <p:nvPr/>
        </p:nvGrpSpPr>
        <p:grpSpPr>
          <a:xfrm>
            <a:off x="1295566" y="2806029"/>
            <a:ext cx="960120" cy="252641"/>
            <a:chOff x="1143000" y="2857500"/>
            <a:chExt cx="3200400" cy="495300"/>
          </a:xfrm>
        </p:grpSpPr>
        <p:grpSp>
          <p:nvGrpSpPr>
            <p:cNvPr id="871" name="Group 870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881" name="Straight Arrow Connector 880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82" name="Straight Arrow Connector 881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872" name="Group 871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879" name="Straight Arrow Connector 878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80" name="Straight Arrow Connector 879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873" name="Group 872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877" name="Straight Arrow Connector 876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78" name="Straight Arrow Connector 877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874" name="Group 873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875" name="Straight Arrow Connector 874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76" name="Straight Arrow Connector 875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883" name="Group 882"/>
          <p:cNvGrpSpPr/>
          <p:nvPr/>
        </p:nvGrpSpPr>
        <p:grpSpPr>
          <a:xfrm>
            <a:off x="1295566" y="3221010"/>
            <a:ext cx="411480" cy="252641"/>
            <a:chOff x="1143000" y="3810000"/>
            <a:chExt cx="1371600" cy="495300"/>
          </a:xfrm>
        </p:grpSpPr>
        <p:cxnSp>
          <p:nvCxnSpPr>
            <p:cNvPr id="884" name="Straight Arrow Connector 883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85" name="Straight Arrow Connector 884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86" name="Straight Arrow Connector 885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87" name="Straight Arrow Connector 886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888" name="Group 887"/>
          <p:cNvGrpSpPr>
            <a:grpSpLocks noChangeAspect="1"/>
          </p:cNvGrpSpPr>
          <p:nvPr/>
        </p:nvGrpSpPr>
        <p:grpSpPr>
          <a:xfrm>
            <a:off x="1272723" y="2021185"/>
            <a:ext cx="998558" cy="192024"/>
            <a:chOff x="1062074" y="1508654"/>
            <a:chExt cx="3328522" cy="640080"/>
          </a:xfrm>
        </p:grpSpPr>
        <p:sp>
          <p:nvSpPr>
            <p:cNvPr id="889" name="Freeform 888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0" name="Freeform 889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1" name="Freeform 890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2" name="Freeform 891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3" name="Freeform 892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4" name="Freeform 893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5" name="Freeform 894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6" name="Freeform 895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aphicFrame>
        <p:nvGraphicFramePr>
          <p:cNvPr id="897" name="Table 8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70439"/>
              </p:ext>
            </p:extLst>
          </p:nvPr>
        </p:nvGraphicFramePr>
        <p:xfrm>
          <a:off x="1232701" y="4312097"/>
          <a:ext cx="2243328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8" name="Table 8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763158"/>
              </p:ext>
            </p:extLst>
          </p:nvPr>
        </p:nvGraphicFramePr>
        <p:xfrm>
          <a:off x="1232701" y="4732883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9" name="Table 8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897175"/>
              </p:ext>
            </p:extLst>
          </p:nvPr>
        </p:nvGraphicFramePr>
        <p:xfrm>
          <a:off x="1232701" y="5153507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0" name="Table 8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108861"/>
              </p:ext>
            </p:extLst>
          </p:nvPr>
        </p:nvGraphicFramePr>
        <p:xfrm>
          <a:off x="1232701" y="5967322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1" name="Table 9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555980"/>
              </p:ext>
            </p:extLst>
          </p:nvPr>
        </p:nvGraphicFramePr>
        <p:xfrm>
          <a:off x="1232701" y="5559272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02" name="Group 901"/>
          <p:cNvGrpSpPr/>
          <p:nvPr/>
        </p:nvGrpSpPr>
        <p:grpSpPr>
          <a:xfrm>
            <a:off x="1295566" y="5706994"/>
            <a:ext cx="137160" cy="252640"/>
            <a:chOff x="1143000" y="4762500"/>
            <a:chExt cx="457200" cy="495300"/>
          </a:xfrm>
        </p:grpSpPr>
        <p:cxnSp>
          <p:nvCxnSpPr>
            <p:cNvPr id="903" name="Straight Arrow Connector 902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04" name="Straight Arrow Connector 903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05" name="Group 904"/>
          <p:cNvGrpSpPr/>
          <p:nvPr/>
        </p:nvGrpSpPr>
        <p:grpSpPr>
          <a:xfrm>
            <a:off x="1295566" y="4456688"/>
            <a:ext cx="960120" cy="252641"/>
            <a:chOff x="1019175" y="1906520"/>
            <a:chExt cx="1600200" cy="247650"/>
          </a:xfrm>
        </p:grpSpPr>
        <p:cxnSp>
          <p:nvCxnSpPr>
            <p:cNvPr id="906" name="Straight Arrow Connector 905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07" name="Straight Arrow Connector 906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08" name="Straight Arrow Connector 907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09" name="Straight Arrow Connector 908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0" name="Straight Arrow Connector 909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1" name="Straight Arrow Connector 910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2" name="Straight Arrow Connector 911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3" name="Straight Arrow Connector 912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14" name="Group 913"/>
          <p:cNvGrpSpPr/>
          <p:nvPr/>
        </p:nvGrpSpPr>
        <p:grpSpPr>
          <a:xfrm>
            <a:off x="1295566" y="4456688"/>
            <a:ext cx="2057400" cy="252641"/>
            <a:chOff x="1019175" y="1906520"/>
            <a:chExt cx="3429000" cy="247650"/>
          </a:xfrm>
        </p:grpSpPr>
        <p:cxnSp>
          <p:nvCxnSpPr>
            <p:cNvPr id="915" name="Straight Arrow Connector 914"/>
            <p:cNvCxnSpPr/>
            <p:nvPr/>
          </p:nvCxnSpPr>
          <p:spPr>
            <a:xfrm flipH="1">
              <a:off x="10191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6" name="Straight Arrow Connector 915"/>
            <p:cNvCxnSpPr/>
            <p:nvPr/>
          </p:nvCxnSpPr>
          <p:spPr>
            <a:xfrm flipH="1">
              <a:off x="12477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7" name="Straight Arrow Connector 916"/>
            <p:cNvCxnSpPr/>
            <p:nvPr/>
          </p:nvCxnSpPr>
          <p:spPr>
            <a:xfrm flipH="1">
              <a:off x="14763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8" name="Straight Arrow Connector 917"/>
            <p:cNvCxnSpPr/>
            <p:nvPr/>
          </p:nvCxnSpPr>
          <p:spPr>
            <a:xfrm flipH="1">
              <a:off x="17049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19" name="Straight Arrow Connector 918"/>
            <p:cNvCxnSpPr/>
            <p:nvPr/>
          </p:nvCxnSpPr>
          <p:spPr>
            <a:xfrm flipH="1">
              <a:off x="19335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20" name="Straight Arrow Connector 919"/>
            <p:cNvCxnSpPr/>
            <p:nvPr/>
          </p:nvCxnSpPr>
          <p:spPr>
            <a:xfrm flipH="1">
              <a:off x="21621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21" name="Straight Arrow Connector 920"/>
            <p:cNvCxnSpPr/>
            <p:nvPr/>
          </p:nvCxnSpPr>
          <p:spPr>
            <a:xfrm flipH="1">
              <a:off x="23907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22" name="Straight Arrow Connector 921"/>
            <p:cNvCxnSpPr/>
            <p:nvPr/>
          </p:nvCxnSpPr>
          <p:spPr>
            <a:xfrm flipH="1">
              <a:off x="26193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23" name="Group 922"/>
          <p:cNvGrpSpPr/>
          <p:nvPr/>
        </p:nvGrpSpPr>
        <p:grpSpPr>
          <a:xfrm>
            <a:off x="1295566" y="4881608"/>
            <a:ext cx="960120" cy="252641"/>
            <a:chOff x="1143000" y="2857500"/>
            <a:chExt cx="3200400" cy="495300"/>
          </a:xfrm>
        </p:grpSpPr>
        <p:grpSp>
          <p:nvGrpSpPr>
            <p:cNvPr id="924" name="Group 923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34" name="Straight Arrow Connector 933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35" name="Straight Arrow Connector 934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25" name="Group 924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32" name="Straight Arrow Connector 931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33" name="Straight Arrow Connector 932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26" name="Group 925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30" name="Straight Arrow Connector 929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31" name="Straight Arrow Connector 930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27" name="Group 926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28" name="Straight Arrow Connector 927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29" name="Straight Arrow Connector 928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936" name="Group 935"/>
          <p:cNvGrpSpPr/>
          <p:nvPr/>
        </p:nvGrpSpPr>
        <p:grpSpPr>
          <a:xfrm>
            <a:off x="1295566" y="5296587"/>
            <a:ext cx="411480" cy="252641"/>
            <a:chOff x="1143000" y="3810000"/>
            <a:chExt cx="1371600" cy="495300"/>
          </a:xfrm>
        </p:grpSpPr>
        <p:cxnSp>
          <p:nvCxnSpPr>
            <p:cNvPr id="937" name="Straight Arrow Connector 936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38" name="Straight Arrow Connector 937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39" name="Straight Arrow Connector 938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40" name="Straight Arrow Connector 939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41" name="Group 940"/>
          <p:cNvGrpSpPr>
            <a:grpSpLocks noChangeAspect="1"/>
          </p:cNvGrpSpPr>
          <p:nvPr/>
        </p:nvGrpSpPr>
        <p:grpSpPr>
          <a:xfrm>
            <a:off x="1272723" y="4096763"/>
            <a:ext cx="998558" cy="192024"/>
            <a:chOff x="1062074" y="1508654"/>
            <a:chExt cx="3328522" cy="640080"/>
          </a:xfrm>
        </p:grpSpPr>
        <p:sp>
          <p:nvSpPr>
            <p:cNvPr id="942" name="Freeform 941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3" name="Freeform 942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4" name="Freeform 943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5" name="Freeform 944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6" name="Freeform 945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7" name="Freeform 946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8" name="Freeform 947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9" name="Freeform 948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aphicFrame>
        <p:nvGraphicFramePr>
          <p:cNvPr id="950" name="Table 9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899740"/>
              </p:ext>
            </p:extLst>
          </p:nvPr>
        </p:nvGraphicFramePr>
        <p:xfrm>
          <a:off x="4615208" y="2236518"/>
          <a:ext cx="4486656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308480777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372448269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21809916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339751782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303507057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394104037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325342411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05062765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77824424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361121655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313738799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318959946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543689428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676158058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69532916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1244870515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1" name="Table 9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18220"/>
              </p:ext>
            </p:extLst>
          </p:nvPr>
        </p:nvGraphicFramePr>
        <p:xfrm>
          <a:off x="4615208" y="3275098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2" name="Table 9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695818"/>
              </p:ext>
            </p:extLst>
          </p:nvPr>
        </p:nvGraphicFramePr>
        <p:xfrm>
          <a:off x="4615208" y="3695722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3" name="Table 9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26778"/>
              </p:ext>
            </p:extLst>
          </p:nvPr>
        </p:nvGraphicFramePr>
        <p:xfrm>
          <a:off x="4615208" y="4509538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4" name="Table 9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41641"/>
              </p:ext>
            </p:extLst>
          </p:nvPr>
        </p:nvGraphicFramePr>
        <p:xfrm>
          <a:off x="4615208" y="4101486"/>
          <a:ext cx="1121664" cy="137160"/>
        </p:xfrm>
        <a:graphic>
          <a:graphicData uri="http://schemas.openxmlformats.org/drawingml/2006/table">
            <a:tbl>
              <a:tblPr firstRow="1" bandRow="1"/>
              <a:tblGrid>
                <a:gridCol w="1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71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54864" marR="54864" marT="27432" marB="27432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55" name="Group 954"/>
          <p:cNvGrpSpPr/>
          <p:nvPr/>
        </p:nvGrpSpPr>
        <p:grpSpPr>
          <a:xfrm>
            <a:off x="4678073" y="4249211"/>
            <a:ext cx="137160" cy="252641"/>
            <a:chOff x="1143000" y="4762500"/>
            <a:chExt cx="457200" cy="495300"/>
          </a:xfrm>
        </p:grpSpPr>
        <p:cxnSp>
          <p:nvCxnSpPr>
            <p:cNvPr id="956" name="Straight Arrow Connector 955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57" name="Straight Arrow Connector 956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58" name="Group 957"/>
          <p:cNvGrpSpPr/>
          <p:nvPr/>
        </p:nvGrpSpPr>
        <p:grpSpPr>
          <a:xfrm>
            <a:off x="4678073" y="2381109"/>
            <a:ext cx="960120" cy="252641"/>
            <a:chOff x="1019175" y="1906520"/>
            <a:chExt cx="1600200" cy="247650"/>
          </a:xfrm>
        </p:grpSpPr>
        <p:cxnSp>
          <p:nvCxnSpPr>
            <p:cNvPr id="959" name="Straight Arrow Connector 958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0" name="Straight Arrow Connector 959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1" name="Straight Arrow Connector 960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2" name="Straight Arrow Connector 961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3" name="Straight Arrow Connector 962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4" name="Straight Arrow Connector 963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5" name="Straight Arrow Connector 964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6" name="Straight Arrow Connector 965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67" name="Group 966"/>
          <p:cNvGrpSpPr/>
          <p:nvPr/>
        </p:nvGrpSpPr>
        <p:grpSpPr>
          <a:xfrm>
            <a:off x="4678073" y="2381109"/>
            <a:ext cx="2057400" cy="252641"/>
            <a:chOff x="1019175" y="1906520"/>
            <a:chExt cx="3429000" cy="247650"/>
          </a:xfrm>
        </p:grpSpPr>
        <p:cxnSp>
          <p:nvCxnSpPr>
            <p:cNvPr id="968" name="Straight Arrow Connector 967"/>
            <p:cNvCxnSpPr/>
            <p:nvPr/>
          </p:nvCxnSpPr>
          <p:spPr>
            <a:xfrm flipH="1">
              <a:off x="10191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9" name="Straight Arrow Connector 968"/>
            <p:cNvCxnSpPr/>
            <p:nvPr/>
          </p:nvCxnSpPr>
          <p:spPr>
            <a:xfrm flipH="1">
              <a:off x="12477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0" name="Straight Arrow Connector 969"/>
            <p:cNvCxnSpPr/>
            <p:nvPr/>
          </p:nvCxnSpPr>
          <p:spPr>
            <a:xfrm flipH="1">
              <a:off x="14763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1" name="Straight Arrow Connector 970"/>
            <p:cNvCxnSpPr/>
            <p:nvPr/>
          </p:nvCxnSpPr>
          <p:spPr>
            <a:xfrm flipH="1">
              <a:off x="17049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2" name="Straight Arrow Connector 971"/>
            <p:cNvCxnSpPr/>
            <p:nvPr/>
          </p:nvCxnSpPr>
          <p:spPr>
            <a:xfrm flipH="1">
              <a:off x="19335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3" name="Straight Arrow Connector 972"/>
            <p:cNvCxnSpPr/>
            <p:nvPr/>
          </p:nvCxnSpPr>
          <p:spPr>
            <a:xfrm flipH="1">
              <a:off x="21621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4" name="Straight Arrow Connector 973"/>
            <p:cNvCxnSpPr/>
            <p:nvPr/>
          </p:nvCxnSpPr>
          <p:spPr>
            <a:xfrm flipH="1">
              <a:off x="23907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5" name="Straight Arrow Connector 974"/>
            <p:cNvCxnSpPr/>
            <p:nvPr/>
          </p:nvCxnSpPr>
          <p:spPr>
            <a:xfrm flipH="1">
              <a:off x="2619375" y="1906520"/>
              <a:ext cx="18288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76" name="Group 975"/>
          <p:cNvGrpSpPr/>
          <p:nvPr/>
        </p:nvGrpSpPr>
        <p:grpSpPr>
          <a:xfrm>
            <a:off x="4678073" y="3423823"/>
            <a:ext cx="960120" cy="252641"/>
            <a:chOff x="1143000" y="2857500"/>
            <a:chExt cx="3200400" cy="495300"/>
          </a:xfrm>
        </p:grpSpPr>
        <p:grpSp>
          <p:nvGrpSpPr>
            <p:cNvPr id="977" name="Group 976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87" name="Straight Arrow Connector 986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88" name="Straight Arrow Connector 987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78" name="Group 977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85" name="Straight Arrow Connector 984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86" name="Straight Arrow Connector 985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79" name="Group 978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83" name="Straight Arrow Connector 982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84" name="Straight Arrow Connector 983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980" name="Group 979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981" name="Straight Arrow Connector 980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82" name="Straight Arrow Connector 981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989" name="Group 988"/>
          <p:cNvGrpSpPr/>
          <p:nvPr/>
        </p:nvGrpSpPr>
        <p:grpSpPr>
          <a:xfrm>
            <a:off x="4678073" y="3838803"/>
            <a:ext cx="411480" cy="252641"/>
            <a:chOff x="1143000" y="3810000"/>
            <a:chExt cx="1371600" cy="495300"/>
          </a:xfrm>
        </p:grpSpPr>
        <p:cxnSp>
          <p:nvCxnSpPr>
            <p:cNvPr id="990" name="Straight Arrow Connector 989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1" name="Straight Arrow Connector 990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2" name="Straight Arrow Connector 991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3" name="Straight Arrow Connector 992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94" name="Group 993"/>
          <p:cNvGrpSpPr/>
          <p:nvPr/>
        </p:nvGrpSpPr>
        <p:grpSpPr>
          <a:xfrm>
            <a:off x="4678073" y="2669699"/>
            <a:ext cx="960120" cy="252641"/>
            <a:chOff x="1019175" y="1906520"/>
            <a:chExt cx="1600200" cy="247650"/>
          </a:xfrm>
        </p:grpSpPr>
        <p:cxnSp>
          <p:nvCxnSpPr>
            <p:cNvPr id="995" name="Straight Arrow Connector 994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6" name="Straight Arrow Connector 995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7" name="Straight Arrow Connector 996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8" name="Straight Arrow Connector 997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9" name="Straight Arrow Connector 998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0" name="Straight Arrow Connector 999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1" name="Straight Arrow Connector 1000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2" name="Straight Arrow Connector 1001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003" name="Group 1002"/>
          <p:cNvGrpSpPr/>
          <p:nvPr/>
        </p:nvGrpSpPr>
        <p:grpSpPr>
          <a:xfrm>
            <a:off x="4678073" y="2375279"/>
            <a:ext cx="3154680" cy="563580"/>
            <a:chOff x="1019175" y="2167505"/>
            <a:chExt cx="5257800" cy="247650"/>
          </a:xfrm>
        </p:grpSpPr>
        <p:cxnSp>
          <p:nvCxnSpPr>
            <p:cNvPr id="1004" name="Straight Arrow Connector 1003"/>
            <p:cNvCxnSpPr/>
            <p:nvPr/>
          </p:nvCxnSpPr>
          <p:spPr>
            <a:xfrm flipH="1">
              <a:off x="10191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5" name="Straight Arrow Connector 1004"/>
            <p:cNvCxnSpPr/>
            <p:nvPr/>
          </p:nvCxnSpPr>
          <p:spPr>
            <a:xfrm flipH="1">
              <a:off x="12477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6" name="Straight Arrow Connector 1005"/>
            <p:cNvCxnSpPr/>
            <p:nvPr/>
          </p:nvCxnSpPr>
          <p:spPr>
            <a:xfrm flipH="1">
              <a:off x="14763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7" name="Straight Arrow Connector 1006"/>
            <p:cNvCxnSpPr/>
            <p:nvPr/>
          </p:nvCxnSpPr>
          <p:spPr>
            <a:xfrm flipH="1">
              <a:off x="17049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8" name="Straight Arrow Connector 1007"/>
            <p:cNvCxnSpPr/>
            <p:nvPr/>
          </p:nvCxnSpPr>
          <p:spPr>
            <a:xfrm flipH="1">
              <a:off x="19335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9" name="Straight Arrow Connector 1008"/>
            <p:cNvCxnSpPr/>
            <p:nvPr/>
          </p:nvCxnSpPr>
          <p:spPr>
            <a:xfrm flipH="1">
              <a:off x="21621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0" name="Straight Arrow Connector 1009"/>
            <p:cNvCxnSpPr/>
            <p:nvPr/>
          </p:nvCxnSpPr>
          <p:spPr>
            <a:xfrm flipH="1">
              <a:off x="23907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1" name="Straight Arrow Connector 1010"/>
            <p:cNvCxnSpPr/>
            <p:nvPr/>
          </p:nvCxnSpPr>
          <p:spPr>
            <a:xfrm flipH="1">
              <a:off x="2619375" y="2167505"/>
              <a:ext cx="365760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012" name="Group 1011"/>
          <p:cNvGrpSpPr/>
          <p:nvPr/>
        </p:nvGrpSpPr>
        <p:grpSpPr>
          <a:xfrm>
            <a:off x="4678073" y="2987444"/>
            <a:ext cx="960120" cy="252641"/>
            <a:chOff x="1019175" y="1906520"/>
            <a:chExt cx="1600200" cy="247650"/>
          </a:xfrm>
        </p:grpSpPr>
        <p:cxnSp>
          <p:nvCxnSpPr>
            <p:cNvPr id="1013" name="Straight Arrow Connector 1012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4" name="Straight Arrow Connector 1013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5" name="Straight Arrow Connector 1014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6" name="Straight Arrow Connector 1015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7" name="Straight Arrow Connector 1016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8" name="Straight Arrow Connector 1017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9" name="Straight Arrow Connector 1018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0" name="Straight Arrow Connector 1019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021" name="Group 1020"/>
          <p:cNvGrpSpPr/>
          <p:nvPr/>
        </p:nvGrpSpPr>
        <p:grpSpPr>
          <a:xfrm>
            <a:off x="4678073" y="2371393"/>
            <a:ext cx="4251960" cy="877824"/>
            <a:chOff x="1019175" y="2224655"/>
            <a:chExt cx="7086600" cy="552449"/>
          </a:xfrm>
        </p:grpSpPr>
        <p:cxnSp>
          <p:nvCxnSpPr>
            <p:cNvPr id="1022" name="Straight Arrow Connector 1021"/>
            <p:cNvCxnSpPr/>
            <p:nvPr/>
          </p:nvCxnSpPr>
          <p:spPr>
            <a:xfrm flipH="1">
              <a:off x="10191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3" name="Straight Arrow Connector 1022"/>
            <p:cNvCxnSpPr/>
            <p:nvPr/>
          </p:nvCxnSpPr>
          <p:spPr>
            <a:xfrm flipH="1">
              <a:off x="12477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4" name="Straight Arrow Connector 1023"/>
            <p:cNvCxnSpPr/>
            <p:nvPr/>
          </p:nvCxnSpPr>
          <p:spPr>
            <a:xfrm flipH="1">
              <a:off x="14763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5" name="Straight Arrow Connector 1024"/>
            <p:cNvCxnSpPr/>
            <p:nvPr/>
          </p:nvCxnSpPr>
          <p:spPr>
            <a:xfrm flipH="1">
              <a:off x="17049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6" name="Straight Arrow Connector 1025"/>
            <p:cNvCxnSpPr/>
            <p:nvPr/>
          </p:nvCxnSpPr>
          <p:spPr>
            <a:xfrm flipH="1">
              <a:off x="19335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7" name="Straight Arrow Connector 1026"/>
            <p:cNvCxnSpPr/>
            <p:nvPr/>
          </p:nvCxnSpPr>
          <p:spPr>
            <a:xfrm flipH="1">
              <a:off x="21621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8" name="Straight Arrow Connector 1027"/>
            <p:cNvCxnSpPr/>
            <p:nvPr/>
          </p:nvCxnSpPr>
          <p:spPr>
            <a:xfrm flipH="1">
              <a:off x="23907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29" name="Straight Arrow Connector 1028"/>
            <p:cNvCxnSpPr/>
            <p:nvPr/>
          </p:nvCxnSpPr>
          <p:spPr>
            <a:xfrm flipH="1">
              <a:off x="2619375" y="2224655"/>
              <a:ext cx="5486400" cy="552449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030" name="Group 1029"/>
          <p:cNvGrpSpPr>
            <a:grpSpLocks noChangeAspect="1"/>
          </p:cNvGrpSpPr>
          <p:nvPr/>
        </p:nvGrpSpPr>
        <p:grpSpPr>
          <a:xfrm>
            <a:off x="4655230" y="2021185"/>
            <a:ext cx="998558" cy="192024"/>
            <a:chOff x="1062074" y="1508654"/>
            <a:chExt cx="3328522" cy="640080"/>
          </a:xfrm>
        </p:grpSpPr>
        <p:sp>
          <p:nvSpPr>
            <p:cNvPr id="1031" name="Freeform 1030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2" name="Freeform 1031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4" name="Freeform 1033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6" name="Freeform 1035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38" name="Freeform 1037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 defTabSz="274314"/>
              <a:endParaRPr lang="en-US" sz="1100" kern="0">
                <a:ln w="12700">
                  <a:solidFill>
                    <a:prstClr val="black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39" name="Left Brace 1038"/>
          <p:cNvSpPr/>
          <p:nvPr/>
        </p:nvSpPr>
        <p:spPr>
          <a:xfrm>
            <a:off x="1121712" y="2306847"/>
            <a:ext cx="50716" cy="400507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74314"/>
            <a:endParaRPr lang="en-US" sz="11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-63571" y="2311921"/>
            <a:ext cx="1161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4314"/>
            <a:r>
              <a:rPr lang="en-US" sz="1400" kern="0" dirty="0">
                <a:solidFill>
                  <a:prstClr val="black"/>
                </a:solidFill>
              </a:rPr>
              <a:t>Hardware fully utilized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-117164" y="3133846"/>
            <a:ext cx="1215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4314"/>
            <a:r>
              <a:rPr lang="en-US" sz="1400" kern="0" dirty="0">
                <a:solidFill>
                  <a:prstClr val="black"/>
                </a:solidFill>
              </a:rPr>
              <a:t>Hardware underutilized</a:t>
            </a:r>
          </a:p>
        </p:txBody>
      </p:sp>
      <p:sp>
        <p:nvSpPr>
          <p:cNvPr id="1042" name="Left Brace 1041"/>
          <p:cNvSpPr/>
          <p:nvPr/>
        </p:nvSpPr>
        <p:spPr>
          <a:xfrm>
            <a:off x="1121712" y="2727785"/>
            <a:ext cx="50716" cy="1207008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74314"/>
            <a:endParaRPr lang="en-US" sz="11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3" name="Left Brace 1042"/>
          <p:cNvSpPr/>
          <p:nvPr/>
        </p:nvSpPr>
        <p:spPr>
          <a:xfrm>
            <a:off x="1123745" y="4386071"/>
            <a:ext cx="50716" cy="400507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74314"/>
            <a:endParaRPr lang="en-US" sz="11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4" name="TextBox 1043"/>
          <p:cNvSpPr txBox="1"/>
          <p:nvPr/>
        </p:nvSpPr>
        <p:spPr>
          <a:xfrm>
            <a:off x="-61538" y="4391146"/>
            <a:ext cx="1161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4314"/>
            <a:r>
              <a:rPr lang="en-US" sz="1400" kern="0" dirty="0">
                <a:solidFill>
                  <a:prstClr val="black"/>
                </a:solidFill>
              </a:rPr>
              <a:t>Hardware fully utilized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-115132" y="5213070"/>
            <a:ext cx="1215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4314"/>
            <a:r>
              <a:rPr lang="en-US" sz="1400" kern="0" dirty="0">
                <a:solidFill>
                  <a:prstClr val="black"/>
                </a:solidFill>
              </a:rPr>
              <a:t>Hardware underutilized</a:t>
            </a:r>
          </a:p>
        </p:txBody>
      </p:sp>
      <p:sp>
        <p:nvSpPr>
          <p:cNvPr id="1046" name="Left Brace 1045"/>
          <p:cNvSpPr/>
          <p:nvPr/>
        </p:nvSpPr>
        <p:spPr>
          <a:xfrm>
            <a:off x="1123745" y="4807009"/>
            <a:ext cx="50716" cy="1207008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74314"/>
            <a:endParaRPr lang="en-US" sz="11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7" name="Left Brace 1046"/>
          <p:cNvSpPr/>
          <p:nvPr/>
        </p:nvSpPr>
        <p:spPr>
          <a:xfrm>
            <a:off x="4514787" y="2306847"/>
            <a:ext cx="50716" cy="1017516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74314"/>
            <a:endParaRPr lang="en-US" sz="11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8" name="TextBox 1047"/>
          <p:cNvSpPr txBox="1"/>
          <p:nvPr/>
        </p:nvSpPr>
        <p:spPr>
          <a:xfrm>
            <a:off x="3329505" y="2622428"/>
            <a:ext cx="1161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4314"/>
            <a:r>
              <a:rPr lang="en-US" sz="1400" kern="0" dirty="0">
                <a:solidFill>
                  <a:prstClr val="black"/>
                </a:solidFill>
              </a:rPr>
              <a:t>Hardware fully utilized</a:t>
            </a:r>
          </a:p>
        </p:txBody>
      </p:sp>
      <p:sp>
        <p:nvSpPr>
          <p:cNvPr id="1049" name="Left Brace 1048"/>
          <p:cNvSpPr/>
          <p:nvPr/>
        </p:nvSpPr>
        <p:spPr>
          <a:xfrm>
            <a:off x="4514787" y="3344794"/>
            <a:ext cx="50716" cy="1207008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274314"/>
            <a:endParaRPr lang="en-US" sz="11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0" name="TextBox 1049"/>
          <p:cNvSpPr txBox="1"/>
          <p:nvPr/>
        </p:nvSpPr>
        <p:spPr>
          <a:xfrm>
            <a:off x="12450" y="1179039"/>
            <a:ext cx="4324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314"/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Execution of two non-coarsened thread blocks serialized by the hardware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4188482" y="1179039"/>
            <a:ext cx="4955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314"/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Execution of one coarsened thread block doing the work of two original non-coarsened thread blocks</a:t>
            </a:r>
          </a:p>
        </p:txBody>
      </p:sp>
      <p:cxnSp>
        <p:nvCxnSpPr>
          <p:cNvPr id="1052" name="Straight Connector 1051"/>
          <p:cNvCxnSpPr/>
          <p:nvPr/>
        </p:nvCxnSpPr>
        <p:spPr>
          <a:xfrm>
            <a:off x="286201" y="4057479"/>
            <a:ext cx="3182112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lgDash"/>
            <a:miter lim="800000"/>
          </a:ln>
          <a:effectLst/>
        </p:spPr>
      </p:cxnSp>
      <p:sp>
        <p:nvSpPr>
          <p:cNvPr id="1053" name="TextBox 1052"/>
          <p:cNvSpPr txBox="1"/>
          <p:nvPr/>
        </p:nvSpPr>
        <p:spPr>
          <a:xfrm>
            <a:off x="3275910" y="3756378"/>
            <a:ext cx="1215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4314"/>
            <a:r>
              <a:rPr lang="en-US" sz="1400" kern="0" dirty="0">
                <a:solidFill>
                  <a:prstClr val="black"/>
                </a:solidFill>
              </a:rPr>
              <a:t>Hardware underutilized</a:t>
            </a:r>
          </a:p>
        </p:txBody>
      </p:sp>
    </p:spTree>
    <p:extLst>
      <p:ext uri="{BB962C8B-B14F-4D97-AF65-F5344CB8AC3E}">
        <p14:creationId xmlns:p14="http://schemas.microsoft.com/office/powerpoint/2010/main" val="369497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Reduction Code with Thread Coarsening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9175" y="1382289"/>
            <a:ext cx="710565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segment = COARSE_FACTOR*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segment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Load data to shared memory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[BLOCK_DIM];</a:t>
            </a:r>
          </a:p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threadSum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0.0f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c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c &lt; COARSE_FACTOR*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++c)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threadSum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c*BLOCK_DIM];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threadSum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Reduction tree in shared memory</a:t>
            </a: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BLOCK_DIM/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&gt;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/=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&lt;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input_s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746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Coarsening Benefits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Let </a:t>
            </a:r>
            <a:r>
              <a:rPr lang="en-US" i="1" dirty="0"/>
              <a:t>N</a:t>
            </a:r>
            <a:r>
              <a:rPr lang="en-US" dirty="0"/>
              <a:t> be the number of elements per original block</a:t>
            </a:r>
          </a:p>
          <a:p>
            <a:pPr lvl="1"/>
            <a:r>
              <a:rPr lang="en-US" dirty="0"/>
              <a:t>i.e., </a:t>
            </a:r>
            <a:r>
              <a:rPr lang="en-US" i="1" dirty="0"/>
              <a:t>N</a:t>
            </a:r>
            <a:r>
              <a:rPr lang="en-US" dirty="0"/>
              <a:t> = 2*</a:t>
            </a:r>
            <a:r>
              <a:rPr lang="en-US" dirty="0" err="1"/>
              <a:t>blockDim.x</a:t>
            </a:r>
            <a:endParaRPr lang="en-US" dirty="0"/>
          </a:p>
          <a:p>
            <a:endParaRPr lang="en-US" sz="1400" dirty="0"/>
          </a:p>
          <a:p>
            <a:r>
              <a:rPr lang="en-US" dirty="0"/>
              <a:t>If blocks are all executed in parallel:</a:t>
            </a:r>
          </a:p>
          <a:p>
            <a:pPr lvl="1"/>
            <a:r>
              <a:rPr lang="en-US" i="1" dirty="0"/>
              <a:t>log(N)</a:t>
            </a:r>
            <a:r>
              <a:rPr lang="en-US" dirty="0"/>
              <a:t> steps, </a:t>
            </a:r>
            <a:r>
              <a:rPr lang="en-US" i="1" dirty="0"/>
              <a:t>log(N)</a:t>
            </a:r>
            <a:r>
              <a:rPr lang="en-US" dirty="0"/>
              <a:t> synchronizations</a:t>
            </a:r>
          </a:p>
          <a:p>
            <a:endParaRPr lang="en-US" sz="1400" dirty="0"/>
          </a:p>
          <a:p>
            <a:r>
              <a:rPr lang="en-US" dirty="0"/>
              <a:t>If blocks serialized by the hardware by a factor of C:</a:t>
            </a:r>
          </a:p>
          <a:p>
            <a:pPr lvl="1"/>
            <a:r>
              <a:rPr lang="en-US" i="1" dirty="0"/>
              <a:t>C*log(N)</a:t>
            </a:r>
            <a:r>
              <a:rPr lang="en-US" dirty="0"/>
              <a:t> steps, </a:t>
            </a:r>
            <a:r>
              <a:rPr lang="en-US" i="1" dirty="0"/>
              <a:t>C*log(N)</a:t>
            </a:r>
            <a:r>
              <a:rPr lang="en-US" dirty="0"/>
              <a:t> synchronizations</a:t>
            </a:r>
          </a:p>
          <a:p>
            <a:endParaRPr lang="en-US" sz="1400" dirty="0"/>
          </a:p>
          <a:p>
            <a:r>
              <a:rPr lang="en-US" dirty="0"/>
              <a:t>If blocks are coarsened by a factor of C:</a:t>
            </a:r>
          </a:p>
          <a:p>
            <a:pPr lvl="1"/>
            <a:r>
              <a:rPr lang="en-US" i="1" dirty="0"/>
              <a:t>2*(C – 1) + log(N)</a:t>
            </a:r>
            <a:r>
              <a:rPr lang="en-US" dirty="0"/>
              <a:t> steps, </a:t>
            </a:r>
            <a:r>
              <a:rPr lang="en-US" i="1" dirty="0"/>
              <a:t>log(N)</a:t>
            </a:r>
            <a:r>
              <a:rPr lang="en-US" dirty="0"/>
              <a:t> synchronizations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20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098070"/>
              </p:ext>
            </p:extLst>
          </p:nvPr>
        </p:nvGraphicFramePr>
        <p:xfrm>
          <a:off x="914400" y="1679889"/>
          <a:ext cx="73152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08480777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2448269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21809916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9751782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30350705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394104037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25342411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05062765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77824424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61121655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31373879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18959946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543689428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676158058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9532916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2448705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39375"/>
              </p:ext>
            </p:extLst>
          </p:nvPr>
        </p:nvGraphicFramePr>
        <p:xfrm>
          <a:off x="914400" y="3887262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647934"/>
              </p:ext>
            </p:extLst>
          </p:nvPr>
        </p:nvGraphicFramePr>
        <p:xfrm>
          <a:off x="914400" y="4588302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86673"/>
              </p:ext>
            </p:extLst>
          </p:nvPr>
        </p:nvGraphicFramePr>
        <p:xfrm>
          <a:off x="914400" y="5944662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831961"/>
              </p:ext>
            </p:extLst>
          </p:nvPr>
        </p:nvGraphicFramePr>
        <p:xfrm>
          <a:off x="914400" y="5264577"/>
          <a:ext cx="1828800" cy="22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019175" y="5510782"/>
            <a:ext cx="228600" cy="421066"/>
            <a:chOff x="1143000" y="4762500"/>
            <a:chExt cx="457200" cy="495300"/>
          </a:xfrm>
        </p:grpSpPr>
        <p:cxnSp>
          <p:nvCxnSpPr>
            <p:cNvPr id="43" name="Straight Arrow Connector 42"/>
            <p:cNvCxnSpPr/>
            <p:nvPr/>
          </p:nvCxnSpPr>
          <p:spPr>
            <a:xfrm>
              <a:off x="1143000" y="47625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1143000" y="4762500"/>
              <a:ext cx="4572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019175" y="1920873"/>
            <a:ext cx="1600200" cy="421066"/>
            <a:chOff x="1019175" y="1906520"/>
            <a:chExt cx="1600200" cy="247650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019175" y="1920873"/>
            <a:ext cx="3429000" cy="421066"/>
            <a:chOff x="1019175" y="1906520"/>
            <a:chExt cx="3429000" cy="247650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10191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H="1">
              <a:off x="12477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14763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>
              <a:off x="17049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19335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21621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23907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2619375" y="1906520"/>
              <a:ext cx="18288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1019175" y="4135137"/>
            <a:ext cx="1600200" cy="421066"/>
            <a:chOff x="1143000" y="2857500"/>
            <a:chExt cx="3200400" cy="495300"/>
          </a:xfrm>
        </p:grpSpPr>
        <p:grpSp>
          <p:nvGrpSpPr>
            <p:cNvPr id="38" name="Group 37"/>
            <p:cNvGrpSpPr/>
            <p:nvPr/>
          </p:nvGrpSpPr>
          <p:grpSpPr>
            <a:xfrm>
              <a:off x="11430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16002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2" name="Straight Arrow Connector 71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/>
            <p:cNvGrpSpPr/>
            <p:nvPr/>
          </p:nvGrpSpPr>
          <p:grpSpPr>
            <a:xfrm>
              <a:off x="20574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5" name="Straight Arrow Connector 74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2514600" y="2857500"/>
              <a:ext cx="1828800" cy="495300"/>
              <a:chOff x="1143000" y="2857500"/>
              <a:chExt cx="1828800" cy="495300"/>
            </a:xfrm>
          </p:grpSpPr>
          <p:cxnSp>
            <p:nvCxnSpPr>
              <p:cNvPr id="78" name="Straight Arrow Connector 77"/>
              <p:cNvCxnSpPr/>
              <p:nvPr/>
            </p:nvCxnSpPr>
            <p:spPr>
              <a:xfrm>
                <a:off x="1143000" y="2857500"/>
                <a:ext cx="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/>
              <p:nvPr/>
            </p:nvCxnSpPr>
            <p:spPr>
              <a:xfrm flipH="1">
                <a:off x="1143000" y="2857500"/>
                <a:ext cx="1828800" cy="495300"/>
              </a:xfrm>
              <a:prstGeom prst="straightConnector1">
                <a:avLst/>
              </a:prstGeom>
              <a:ln w="12700"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Group 81"/>
          <p:cNvGrpSpPr/>
          <p:nvPr/>
        </p:nvGrpSpPr>
        <p:grpSpPr>
          <a:xfrm>
            <a:off x="1019175" y="4826770"/>
            <a:ext cx="685800" cy="421066"/>
            <a:chOff x="1143000" y="3810000"/>
            <a:chExt cx="1371600" cy="495300"/>
          </a:xfrm>
        </p:grpSpPr>
        <p:cxnSp>
          <p:nvCxnSpPr>
            <p:cNvPr id="36" name="Straight Arrow Connector 35"/>
            <p:cNvCxnSpPr/>
            <p:nvPr/>
          </p:nvCxnSpPr>
          <p:spPr>
            <a:xfrm>
              <a:off x="11430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>
              <a:off x="11430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1600200" y="3810000"/>
              <a:ext cx="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1600200" y="3810000"/>
              <a:ext cx="914400" cy="49530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1019175" y="2401856"/>
            <a:ext cx="1600200" cy="421066"/>
            <a:chOff x="1019175" y="1906520"/>
            <a:chExt cx="1600200" cy="247650"/>
          </a:xfrm>
        </p:grpSpPr>
        <p:cxnSp>
          <p:nvCxnSpPr>
            <p:cNvPr id="115" name="Straight Arrow Connector 114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019175" y="1911156"/>
            <a:ext cx="5257800" cy="939299"/>
            <a:chOff x="1019175" y="2167505"/>
            <a:chExt cx="5257800" cy="247650"/>
          </a:xfrm>
        </p:grpSpPr>
        <p:cxnSp>
          <p:nvCxnSpPr>
            <p:cNvPr id="124" name="Straight Arrow Connector 123"/>
            <p:cNvCxnSpPr/>
            <p:nvPr/>
          </p:nvCxnSpPr>
          <p:spPr>
            <a:xfrm flipH="1">
              <a:off x="10191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 flipH="1">
              <a:off x="12477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/>
            <p:nvPr/>
          </p:nvCxnSpPr>
          <p:spPr>
            <a:xfrm flipH="1">
              <a:off x="14763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/>
            <p:nvPr/>
          </p:nvCxnSpPr>
          <p:spPr>
            <a:xfrm flipH="1">
              <a:off x="17049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/>
            <p:nvPr/>
          </p:nvCxnSpPr>
          <p:spPr>
            <a:xfrm flipH="1">
              <a:off x="19335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/>
            <p:nvPr/>
          </p:nvCxnSpPr>
          <p:spPr>
            <a:xfrm flipH="1">
              <a:off x="21621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 flipH="1">
              <a:off x="23907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/>
            <p:nvPr/>
          </p:nvCxnSpPr>
          <p:spPr>
            <a:xfrm flipH="1">
              <a:off x="2619375" y="2167505"/>
              <a:ext cx="365760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>
            <a:off x="1019175" y="2931431"/>
            <a:ext cx="1600200" cy="421066"/>
            <a:chOff x="1019175" y="1906520"/>
            <a:chExt cx="1600200" cy="247650"/>
          </a:xfrm>
        </p:grpSpPr>
        <p:cxnSp>
          <p:nvCxnSpPr>
            <p:cNvPr id="133" name="Straight Arrow Connector 132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1019175" y="1904678"/>
            <a:ext cx="7086600" cy="1496402"/>
            <a:chOff x="1019175" y="2224655"/>
            <a:chExt cx="7086600" cy="552449"/>
          </a:xfrm>
        </p:grpSpPr>
        <p:cxnSp>
          <p:nvCxnSpPr>
            <p:cNvPr id="142" name="Straight Arrow Connector 141"/>
            <p:cNvCxnSpPr/>
            <p:nvPr/>
          </p:nvCxnSpPr>
          <p:spPr>
            <a:xfrm flipH="1">
              <a:off x="10191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 flipH="1">
              <a:off x="12477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/>
            <p:nvPr/>
          </p:nvCxnSpPr>
          <p:spPr>
            <a:xfrm flipH="1">
              <a:off x="14763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/>
            <p:nvPr/>
          </p:nvCxnSpPr>
          <p:spPr>
            <a:xfrm flipH="1">
              <a:off x="17049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/>
            <p:nvPr/>
          </p:nvCxnSpPr>
          <p:spPr>
            <a:xfrm flipH="1">
              <a:off x="19335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 flipH="1">
              <a:off x="21621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 flipH="1">
              <a:off x="23907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/>
            <p:nvPr/>
          </p:nvCxnSpPr>
          <p:spPr>
            <a:xfrm flipH="1">
              <a:off x="2619375" y="2224655"/>
              <a:ext cx="5486400" cy="552449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8" name="Group 167"/>
          <p:cNvGrpSpPr/>
          <p:nvPr/>
        </p:nvGrpSpPr>
        <p:grpSpPr>
          <a:xfrm>
            <a:off x="1019174" y="3441087"/>
            <a:ext cx="1600200" cy="421066"/>
            <a:chOff x="1019175" y="1906520"/>
            <a:chExt cx="1600200" cy="247650"/>
          </a:xfrm>
        </p:grpSpPr>
        <p:cxnSp>
          <p:nvCxnSpPr>
            <p:cNvPr id="169" name="Straight Arrow Connector 168"/>
            <p:cNvCxnSpPr/>
            <p:nvPr/>
          </p:nvCxnSpPr>
          <p:spPr>
            <a:xfrm>
              <a:off x="1019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/>
            <p:cNvCxnSpPr/>
            <p:nvPr/>
          </p:nvCxnSpPr>
          <p:spPr>
            <a:xfrm>
              <a:off x="1247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Arrow Connector 170"/>
            <p:cNvCxnSpPr/>
            <p:nvPr/>
          </p:nvCxnSpPr>
          <p:spPr>
            <a:xfrm>
              <a:off x="1476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/>
            <p:nvPr/>
          </p:nvCxnSpPr>
          <p:spPr>
            <a:xfrm>
              <a:off x="17049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/>
            <p:nvPr/>
          </p:nvCxnSpPr>
          <p:spPr>
            <a:xfrm>
              <a:off x="19335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Arrow Connector 173"/>
            <p:cNvCxnSpPr/>
            <p:nvPr/>
          </p:nvCxnSpPr>
          <p:spPr>
            <a:xfrm>
              <a:off x="21621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/>
            <p:nvPr/>
          </p:nvCxnSpPr>
          <p:spPr>
            <a:xfrm>
              <a:off x="23907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/>
            <p:nvPr/>
          </p:nvCxnSpPr>
          <p:spPr>
            <a:xfrm>
              <a:off x="2619375" y="1906520"/>
              <a:ext cx="0" cy="24765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>
            <a:grpSpLocks noChangeAspect="1"/>
          </p:cNvGrpSpPr>
          <p:nvPr/>
        </p:nvGrpSpPr>
        <p:grpSpPr>
          <a:xfrm>
            <a:off x="981103" y="1321000"/>
            <a:ext cx="1664261" cy="320040"/>
            <a:chOff x="1062074" y="1508654"/>
            <a:chExt cx="3328522" cy="640080"/>
          </a:xfrm>
        </p:grpSpPr>
        <p:sp>
          <p:nvSpPr>
            <p:cNvPr id="177" name="Freeform 176"/>
            <p:cNvSpPr/>
            <p:nvPr/>
          </p:nvSpPr>
          <p:spPr>
            <a:xfrm>
              <a:off x="106207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151605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1970038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2424020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2878002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3331984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3785966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4239951" y="1508654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478488" y="1196875"/>
            <a:ext cx="2483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 not load and add out-of-bounds values</a:t>
            </a:r>
          </a:p>
        </p:txBody>
      </p:sp>
    </p:spTree>
    <p:extLst>
      <p:ext uri="{BB962C8B-B14F-4D97-AF65-F5344CB8AC3E}">
        <p14:creationId xmlns:p14="http://schemas.microsoft.com/office/powerpoint/2010/main" val="319282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113547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</TotalTime>
  <Words>1101</Words>
  <Application>Microsoft Office PowerPoint</Application>
  <PresentationFormat>On-screen Show (4:3)</PresentationFormat>
  <Paragraphs>237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73</cp:revision>
  <dcterms:created xsi:type="dcterms:W3CDTF">2022-03-30T06:33:52Z</dcterms:created>
  <dcterms:modified xsi:type="dcterms:W3CDTF">2022-10-20T07:22:46Z</dcterms:modified>
</cp:coreProperties>
</file>