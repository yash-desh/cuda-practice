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5"/>
  </p:handoutMasterIdLst>
  <p:sldIdLst>
    <p:sldId id="270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4" r:id="rId15"/>
    <p:sldId id="301" r:id="rId16"/>
    <p:sldId id="302" r:id="rId17"/>
    <p:sldId id="303" r:id="rId18"/>
    <p:sldId id="305" r:id="rId19"/>
    <p:sldId id="306" r:id="rId20"/>
    <p:sldId id="307" r:id="rId21"/>
    <p:sldId id="308" r:id="rId22"/>
    <p:sldId id="309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1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20-10-2022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Prefix Sum (Scan)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8B7E7A6-F6A2-424B-AB74-942673AC2485}"/>
              </a:ext>
            </a:extLst>
          </p:cNvPr>
          <p:cNvSpPr txBox="1">
            <a:spLocks/>
          </p:cNvSpPr>
          <p:nvPr/>
        </p:nvSpPr>
        <p:spPr>
          <a:xfrm>
            <a:off x="1291201" y="3204012"/>
            <a:ext cx="1496244" cy="606145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/>
              <a:t>(part 2)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Brent-Kung Parallel (Inclusive) Scan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000483"/>
              </p:ext>
            </p:extLst>
          </p:nvPr>
        </p:nvGraphicFramePr>
        <p:xfrm>
          <a:off x="2804673" y="3925641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733967"/>
              </p:ext>
            </p:extLst>
          </p:nvPr>
        </p:nvGraphicFramePr>
        <p:xfrm>
          <a:off x="2804673" y="4878141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910708"/>
              </p:ext>
            </p:extLst>
          </p:nvPr>
        </p:nvGraphicFramePr>
        <p:xfrm>
          <a:off x="2804673" y="5830641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4" name="Group 73"/>
          <p:cNvGrpSpPr/>
          <p:nvPr/>
        </p:nvGrpSpPr>
        <p:grpSpPr>
          <a:xfrm>
            <a:off x="4435605" y="4397893"/>
            <a:ext cx="899652" cy="495300"/>
            <a:chOff x="3490473" y="3706333"/>
            <a:chExt cx="899652" cy="495300"/>
          </a:xfrm>
        </p:grpSpPr>
        <p:cxnSp>
          <p:nvCxnSpPr>
            <p:cNvPr id="57" name="Straight Arrow Connector 56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478945" y="5335341"/>
            <a:ext cx="2300748" cy="495300"/>
            <a:chOff x="3033273" y="3061193"/>
            <a:chExt cx="2300748" cy="495300"/>
          </a:xfrm>
        </p:grpSpPr>
        <p:cxnSp>
          <p:nvCxnSpPr>
            <p:cNvPr id="13" name="Straight Arrow Connector 12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12988"/>
              </p:ext>
            </p:extLst>
          </p:nvPr>
        </p:nvGraphicFramePr>
        <p:xfrm>
          <a:off x="2804673" y="1067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462799"/>
              </p:ext>
            </p:extLst>
          </p:nvPr>
        </p:nvGraphicFramePr>
        <p:xfrm>
          <a:off x="2804673" y="20196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487101"/>
              </p:ext>
            </p:extLst>
          </p:nvPr>
        </p:nvGraphicFramePr>
        <p:xfrm>
          <a:off x="2804673" y="2972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3490473" y="2476893"/>
            <a:ext cx="2728452" cy="495300"/>
            <a:chOff x="3490473" y="3706333"/>
            <a:chExt cx="2728452" cy="495300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4385603" y="3429393"/>
            <a:ext cx="1828800" cy="495300"/>
            <a:chOff x="4385603" y="4658833"/>
            <a:chExt cx="1828800" cy="495300"/>
          </a:xfrm>
        </p:grpSpPr>
        <p:cxnSp>
          <p:nvCxnSpPr>
            <p:cNvPr id="32" name="Straight Arrow Connector 3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033273" y="1524393"/>
            <a:ext cx="3200400" cy="495300"/>
            <a:chOff x="3033273" y="3061193"/>
            <a:chExt cx="3200400" cy="495300"/>
          </a:xfrm>
        </p:grpSpPr>
        <p:cxnSp>
          <p:nvCxnSpPr>
            <p:cNvPr id="35" name="Straight Arrow Connector 34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6462272" y="1479855"/>
            <a:ext cx="2053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One thread for every two elements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115" y="2539877"/>
            <a:ext cx="170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Reduction Stage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859" y="4933013"/>
            <a:ext cx="2172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Post-Reduction Stage</a:t>
            </a:r>
          </a:p>
        </p:txBody>
      </p:sp>
      <p:sp>
        <p:nvSpPr>
          <p:cNvPr id="47" name="Left Brace 46"/>
          <p:cNvSpPr/>
          <p:nvPr/>
        </p:nvSpPr>
        <p:spPr>
          <a:xfrm>
            <a:off x="2494033" y="1306489"/>
            <a:ext cx="156959" cy="283606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Left Brace 48"/>
          <p:cNvSpPr/>
          <p:nvPr/>
        </p:nvSpPr>
        <p:spPr>
          <a:xfrm>
            <a:off x="2494033" y="4171132"/>
            <a:ext cx="156959" cy="189309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0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7" grpId="0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Kogge</a:t>
            </a:r>
            <a:r>
              <a:rPr lang="en-US" dirty="0"/>
              <a:t>-Stone vs. Brent-Kung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789600"/>
              </p:ext>
            </p:extLst>
          </p:nvPr>
        </p:nvGraphicFramePr>
        <p:xfrm>
          <a:off x="4879353" y="3925641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508728"/>
              </p:ext>
            </p:extLst>
          </p:nvPr>
        </p:nvGraphicFramePr>
        <p:xfrm>
          <a:off x="4879353" y="4878141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797504"/>
              </p:ext>
            </p:extLst>
          </p:nvPr>
        </p:nvGraphicFramePr>
        <p:xfrm>
          <a:off x="4879353" y="5830641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4" name="Group 73"/>
          <p:cNvGrpSpPr/>
          <p:nvPr/>
        </p:nvGrpSpPr>
        <p:grpSpPr>
          <a:xfrm>
            <a:off x="6510285" y="4397893"/>
            <a:ext cx="899652" cy="495300"/>
            <a:chOff x="3490473" y="3706333"/>
            <a:chExt cx="899652" cy="495300"/>
          </a:xfrm>
        </p:grpSpPr>
        <p:cxnSp>
          <p:nvCxnSpPr>
            <p:cNvPr id="57" name="Straight Arrow Connector 56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553625" y="5335341"/>
            <a:ext cx="2300748" cy="495300"/>
            <a:chOff x="3033273" y="3061193"/>
            <a:chExt cx="2300748" cy="495300"/>
          </a:xfrm>
        </p:grpSpPr>
        <p:cxnSp>
          <p:nvCxnSpPr>
            <p:cNvPr id="13" name="Straight Arrow Connector 12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5183"/>
              </p:ext>
            </p:extLst>
          </p:nvPr>
        </p:nvGraphicFramePr>
        <p:xfrm>
          <a:off x="4879353" y="1067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79196"/>
              </p:ext>
            </p:extLst>
          </p:nvPr>
        </p:nvGraphicFramePr>
        <p:xfrm>
          <a:off x="4879353" y="20196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393911"/>
              </p:ext>
            </p:extLst>
          </p:nvPr>
        </p:nvGraphicFramePr>
        <p:xfrm>
          <a:off x="4879353" y="2972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5565153" y="2476893"/>
            <a:ext cx="2728452" cy="495300"/>
            <a:chOff x="3490473" y="3706333"/>
            <a:chExt cx="2728452" cy="495300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460283" y="3429393"/>
            <a:ext cx="1828800" cy="495300"/>
            <a:chOff x="4385603" y="4658833"/>
            <a:chExt cx="1828800" cy="495300"/>
          </a:xfrm>
        </p:grpSpPr>
        <p:cxnSp>
          <p:nvCxnSpPr>
            <p:cNvPr id="32" name="Straight Arrow Connector 3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5107953" y="1524393"/>
            <a:ext cx="3200400" cy="495300"/>
            <a:chOff x="3033273" y="3061193"/>
            <a:chExt cx="3200400" cy="495300"/>
          </a:xfrm>
        </p:grpSpPr>
        <p:cxnSp>
          <p:nvCxnSpPr>
            <p:cNvPr id="35" name="Straight Arrow Connector 34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120729"/>
              </p:ext>
            </p:extLst>
          </p:nvPr>
        </p:nvGraphicFramePr>
        <p:xfrm>
          <a:off x="646383" y="1067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321479"/>
              </p:ext>
            </p:extLst>
          </p:nvPr>
        </p:nvGraphicFramePr>
        <p:xfrm>
          <a:off x="646383" y="20196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942800"/>
              </p:ext>
            </p:extLst>
          </p:nvPr>
        </p:nvGraphicFramePr>
        <p:xfrm>
          <a:off x="646383" y="2972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387693"/>
              </p:ext>
            </p:extLst>
          </p:nvPr>
        </p:nvGraphicFramePr>
        <p:xfrm>
          <a:off x="646383" y="39246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2" name="Group 51"/>
          <p:cNvGrpSpPr/>
          <p:nvPr/>
        </p:nvGrpSpPr>
        <p:grpSpPr>
          <a:xfrm>
            <a:off x="874983" y="2476893"/>
            <a:ext cx="3185652" cy="495300"/>
            <a:chOff x="3033273" y="3706333"/>
            <a:chExt cx="3185652" cy="495300"/>
          </a:xfrm>
        </p:grpSpPr>
        <p:cxnSp>
          <p:nvCxnSpPr>
            <p:cNvPr id="53" name="Straight Arrow Connector 52"/>
            <p:cNvCxnSpPr/>
            <p:nvPr/>
          </p:nvCxnSpPr>
          <p:spPr>
            <a:xfrm flipH="1">
              <a:off x="57617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8620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3932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3033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H="1">
              <a:off x="48428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39431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53000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4003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874983" y="3429393"/>
            <a:ext cx="3181130" cy="495300"/>
            <a:chOff x="3033273" y="4658833"/>
            <a:chExt cx="3181130" cy="495300"/>
          </a:xfrm>
        </p:grpSpPr>
        <p:cxnSp>
          <p:nvCxnSpPr>
            <p:cNvPr id="68" name="Straight Arrow Connector 67"/>
            <p:cNvCxnSpPr/>
            <p:nvPr/>
          </p:nvCxnSpPr>
          <p:spPr>
            <a:xfrm flipH="1">
              <a:off x="486207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03327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5320388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3491588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577761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394881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874983" y="1524393"/>
            <a:ext cx="3200400" cy="495300"/>
            <a:chOff x="3033273" y="3061193"/>
            <a:chExt cx="3200400" cy="495300"/>
          </a:xfrm>
        </p:grpSpPr>
        <p:cxnSp>
          <p:nvCxnSpPr>
            <p:cNvPr id="78" name="Straight Arrow Connector 77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5786699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5329499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H="1">
              <a:off x="484280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438560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394315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348595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309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Work Efficiency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2400" dirty="0"/>
              <a:t>Recall: </a:t>
            </a:r>
            <a:r>
              <a:rPr lang="en-US" sz="2400" dirty="0" err="1"/>
              <a:t>Kogge</a:t>
            </a:r>
            <a:r>
              <a:rPr lang="en-US" sz="2400" dirty="0"/>
              <a:t>-Stone</a:t>
            </a:r>
          </a:p>
          <a:p>
            <a:pPr lvl="1">
              <a:buClr>
                <a:schemeClr val="tx1"/>
              </a:buClr>
            </a:pPr>
            <a:r>
              <a:rPr lang="en-US" sz="2000" b="1" dirty="0">
                <a:solidFill>
                  <a:srgbClr val="C00000"/>
                </a:solidFill>
              </a:rPr>
              <a:t>log(N) steps</a:t>
            </a:r>
          </a:p>
          <a:p>
            <a:pPr lvl="1">
              <a:buClr>
                <a:schemeClr val="tx1"/>
              </a:buClr>
            </a:pPr>
            <a:r>
              <a:rPr lang="en-US" sz="2000" b="1" dirty="0">
                <a:solidFill>
                  <a:schemeClr val="accent6"/>
                </a:solidFill>
              </a:rPr>
              <a:t>O(N*log(N)) operations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Brent-Kung</a:t>
            </a:r>
          </a:p>
          <a:p>
            <a:pPr lvl="1">
              <a:buClr>
                <a:schemeClr val="tx1"/>
              </a:buClr>
            </a:pPr>
            <a:r>
              <a:rPr lang="en-US" sz="2000" dirty="0"/>
              <a:t>Reduction stage:</a:t>
            </a:r>
          </a:p>
          <a:p>
            <a:pPr lvl="2">
              <a:buClr>
                <a:schemeClr val="tx1"/>
              </a:buClr>
            </a:pPr>
            <a:r>
              <a:rPr lang="en-US" sz="1800" dirty="0"/>
              <a:t>log(N) steps</a:t>
            </a:r>
          </a:p>
          <a:p>
            <a:pPr lvl="2">
              <a:buClr>
                <a:schemeClr val="tx1"/>
              </a:buClr>
            </a:pPr>
            <a:r>
              <a:rPr lang="en-US" sz="1800" dirty="0"/>
              <a:t>N/2 + N/4 + … + 4 + 2 + 1 = N-1 operations</a:t>
            </a:r>
          </a:p>
          <a:p>
            <a:pPr lvl="1">
              <a:buClr>
                <a:schemeClr val="tx1"/>
              </a:buClr>
            </a:pPr>
            <a:r>
              <a:rPr lang="en-US" sz="2000" dirty="0"/>
              <a:t>Post-Reduction stage:</a:t>
            </a:r>
          </a:p>
          <a:p>
            <a:pPr lvl="2">
              <a:buClr>
                <a:schemeClr val="tx1"/>
              </a:buClr>
            </a:pPr>
            <a:r>
              <a:rPr lang="en-US" sz="1800" dirty="0"/>
              <a:t>log(N)-1 steps</a:t>
            </a:r>
          </a:p>
          <a:p>
            <a:pPr lvl="2">
              <a:buClr>
                <a:schemeClr val="tx1"/>
              </a:buClr>
            </a:pPr>
            <a:r>
              <a:rPr lang="en-US" sz="1800" dirty="0"/>
              <a:t>(2-1) + (4-1) + … + (N/2-1) = (N-2) - (log(N)-1)</a:t>
            </a:r>
          </a:p>
          <a:p>
            <a:pPr lvl="1">
              <a:buClr>
                <a:schemeClr val="tx1"/>
              </a:buClr>
            </a:pPr>
            <a:r>
              <a:rPr lang="en-US" sz="2000" dirty="0"/>
              <a:t>Total:</a:t>
            </a:r>
          </a:p>
          <a:p>
            <a:pPr lvl="2">
              <a:buClr>
                <a:schemeClr val="tx1"/>
              </a:buClr>
            </a:pPr>
            <a:r>
              <a:rPr lang="en-US" sz="1800" b="1" dirty="0">
                <a:solidFill>
                  <a:srgbClr val="C00000"/>
                </a:solidFill>
              </a:rPr>
              <a:t>2*log(N)-1 steps</a:t>
            </a:r>
          </a:p>
          <a:p>
            <a:pPr lvl="2">
              <a:buClr>
                <a:schemeClr val="tx1"/>
              </a:buClr>
            </a:pPr>
            <a:r>
              <a:rPr lang="en-US" sz="1800" dirty="0"/>
              <a:t>(N-1) + (N-2) - (log(N)-1) = 2*N – log(N) – 2 = </a:t>
            </a:r>
            <a:r>
              <a:rPr lang="en-US" sz="1800" b="1" dirty="0">
                <a:solidFill>
                  <a:schemeClr val="accent6"/>
                </a:solidFill>
              </a:rPr>
              <a:t>O(N) operations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Brent-Kung takes </a:t>
            </a:r>
            <a:r>
              <a:rPr lang="en-US" sz="2400" b="1" dirty="0">
                <a:solidFill>
                  <a:srgbClr val="C00000"/>
                </a:solidFill>
              </a:rPr>
              <a:t>more steps</a:t>
            </a:r>
            <a:r>
              <a:rPr lang="en-US" sz="2400" dirty="0"/>
              <a:t> but is </a:t>
            </a:r>
            <a:r>
              <a:rPr lang="en-US" sz="2400" b="1" dirty="0">
                <a:solidFill>
                  <a:schemeClr val="accent6"/>
                </a:solidFill>
              </a:rPr>
              <a:t>more work-efficient</a:t>
            </a:r>
          </a:p>
        </p:txBody>
      </p:sp>
    </p:spTree>
    <p:extLst>
      <p:ext uri="{BB962C8B-B14F-4D97-AF65-F5344CB8AC3E}">
        <p14:creationId xmlns:p14="http://schemas.microsoft.com/office/powerpoint/2010/main" val="296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Using </a:t>
            </a:r>
            <a:r>
              <a:rPr lang="en-US" b="1" dirty="0">
                <a:solidFill>
                  <a:schemeClr val="accent5"/>
                </a:solidFill>
              </a:rPr>
              <a:t>shared memory</a:t>
            </a:r>
          </a:p>
          <a:p>
            <a:pPr lvl="1"/>
            <a:r>
              <a:rPr lang="en-US" dirty="0"/>
              <a:t>Similar to </a:t>
            </a:r>
            <a:r>
              <a:rPr lang="en-US" dirty="0" err="1"/>
              <a:t>Kogge</a:t>
            </a:r>
            <a:r>
              <a:rPr lang="en-US" dirty="0"/>
              <a:t>-Stone</a:t>
            </a:r>
          </a:p>
          <a:p>
            <a:pPr lvl="1"/>
            <a:r>
              <a:rPr lang="en-US" dirty="0"/>
              <a:t>Also enables </a:t>
            </a:r>
            <a:r>
              <a:rPr lang="en-US" b="1" dirty="0">
                <a:solidFill>
                  <a:schemeClr val="accent5"/>
                </a:solidFill>
              </a:rPr>
              <a:t>coalescing</a:t>
            </a:r>
            <a:r>
              <a:rPr lang="en-US" dirty="0"/>
              <a:t> of global memory loads</a:t>
            </a:r>
            <a:endParaRPr lang="en-US" b="1" dirty="0">
              <a:solidFill>
                <a:schemeClr val="accent1"/>
              </a:solidFill>
            </a:endParaRPr>
          </a:p>
          <a:p>
            <a:pPr lvl="2"/>
            <a:r>
              <a:rPr lang="en-US" dirty="0"/>
              <a:t>In </a:t>
            </a:r>
            <a:r>
              <a:rPr lang="en-US" dirty="0" err="1"/>
              <a:t>Kogge</a:t>
            </a:r>
            <a:r>
              <a:rPr lang="en-US" dirty="0"/>
              <a:t>-Stone, they were already coalesced</a:t>
            </a:r>
          </a:p>
          <a:p>
            <a:endParaRPr lang="en-US" dirty="0"/>
          </a:p>
          <a:p>
            <a:r>
              <a:rPr lang="en-US" dirty="0"/>
              <a:t>No need for </a:t>
            </a:r>
            <a:r>
              <a:rPr lang="en-US" b="1" dirty="0">
                <a:solidFill>
                  <a:schemeClr val="accent5"/>
                </a:solidFill>
              </a:rPr>
              <a:t>double-buffering</a:t>
            </a:r>
          </a:p>
          <a:p>
            <a:pPr lvl="1"/>
            <a:r>
              <a:rPr lang="en-US" dirty="0"/>
              <a:t>Unlike </a:t>
            </a:r>
            <a:r>
              <a:rPr lang="en-US" dirty="0" err="1"/>
              <a:t>Kogge</a:t>
            </a:r>
            <a:r>
              <a:rPr lang="en-US" dirty="0"/>
              <a:t>-Stone, no data element is read and written by different threads on the same iteration</a:t>
            </a:r>
          </a:p>
          <a:p>
            <a:endParaRPr lang="en-US" dirty="0"/>
          </a:p>
          <a:p>
            <a:r>
              <a:rPr lang="en-US" dirty="0"/>
              <a:t>Minimizing </a:t>
            </a:r>
            <a:r>
              <a:rPr lang="en-US" b="1" dirty="0">
                <a:solidFill>
                  <a:schemeClr val="accent5"/>
                </a:solidFill>
              </a:rPr>
              <a:t>control divergence</a:t>
            </a:r>
            <a:endParaRPr lang="en-US" dirty="0">
              <a:solidFill>
                <a:schemeClr val="accent5"/>
              </a:solidFill>
            </a:endParaRPr>
          </a:p>
          <a:p>
            <a:pPr lvl="1"/>
            <a:r>
              <a:rPr lang="en-US" dirty="0"/>
              <a:t>Do not assign threads to specific data elements</a:t>
            </a:r>
          </a:p>
          <a:p>
            <a:pPr lvl="1"/>
            <a:r>
              <a:rPr lang="en-US" dirty="0"/>
              <a:t>Re-index threads on every iteration to different elements</a:t>
            </a:r>
          </a:p>
          <a:p>
            <a:pPr lvl="2"/>
            <a:r>
              <a:rPr lang="en-US" dirty="0"/>
              <a:t>If there are M operations, assign them to the first M threads based on the thread index and stride value</a:t>
            </a:r>
          </a:p>
        </p:txBody>
      </p:sp>
    </p:spTree>
    <p:extLst>
      <p:ext uri="{BB962C8B-B14F-4D97-AF65-F5344CB8AC3E}">
        <p14:creationId xmlns:p14="http://schemas.microsoft.com/office/powerpoint/2010/main" val="12969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Re-index Threads to Minimize Divergence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031316"/>
              </p:ext>
            </p:extLst>
          </p:nvPr>
        </p:nvGraphicFramePr>
        <p:xfrm>
          <a:off x="110310" y="1285868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284778"/>
              </p:ext>
            </p:extLst>
          </p:nvPr>
        </p:nvGraphicFramePr>
        <p:xfrm>
          <a:off x="110310" y="1967427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75989"/>
              </p:ext>
            </p:extLst>
          </p:nvPr>
        </p:nvGraphicFramePr>
        <p:xfrm>
          <a:off x="110310" y="2648986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84852"/>
              </p:ext>
            </p:extLst>
          </p:nvPr>
        </p:nvGraphicFramePr>
        <p:xfrm>
          <a:off x="110310" y="3330545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70520"/>
              </p:ext>
            </p:extLst>
          </p:nvPr>
        </p:nvGraphicFramePr>
        <p:xfrm>
          <a:off x="110310" y="4012104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674451"/>
              </p:ext>
            </p:extLst>
          </p:nvPr>
        </p:nvGraphicFramePr>
        <p:xfrm>
          <a:off x="110310" y="4693663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883719"/>
              </p:ext>
            </p:extLst>
          </p:nvPr>
        </p:nvGraphicFramePr>
        <p:xfrm>
          <a:off x="110310" y="5375222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998528"/>
              </p:ext>
            </p:extLst>
          </p:nvPr>
        </p:nvGraphicFramePr>
        <p:xfrm>
          <a:off x="110310" y="6056779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214042" y="1560187"/>
            <a:ext cx="4123464" cy="403920"/>
            <a:chOff x="286612" y="1827849"/>
            <a:chExt cx="4123464" cy="329301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410076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1349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89122" y="2239969"/>
            <a:ext cx="3848383" cy="403920"/>
            <a:chOff x="584268" y="2431470"/>
            <a:chExt cx="1925570" cy="329301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509838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2347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040321" y="2925725"/>
            <a:ext cx="3297184" cy="403920"/>
            <a:chOff x="1112891" y="3035091"/>
            <a:chExt cx="1622002" cy="32930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2734893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2188348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59434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112891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2151326" y="3612336"/>
            <a:ext cx="2184283" cy="403920"/>
            <a:chOff x="3297170" y="3638712"/>
            <a:chExt cx="1111009" cy="329301"/>
          </a:xfrm>
        </p:grpSpPr>
        <p:cxnSp>
          <p:nvCxnSpPr>
            <p:cNvPr id="69" name="Straight Arrow Connector 68"/>
            <p:cNvCxnSpPr/>
            <p:nvPr/>
          </p:nvCxnSpPr>
          <p:spPr>
            <a:xfrm flipH="1">
              <a:off x="4408179" y="3638712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97170" y="3638712"/>
              <a:ext cx="1111005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2151326" y="4291263"/>
            <a:ext cx="1111005" cy="403921"/>
            <a:chOff x="2223896" y="4797128"/>
            <a:chExt cx="1111005" cy="403921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3334901" y="4797128"/>
              <a:ext cx="0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223896" y="4797129"/>
              <a:ext cx="1111005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84786" y="4970193"/>
            <a:ext cx="2766580" cy="403920"/>
            <a:chOff x="584268" y="2431470"/>
            <a:chExt cx="1384281" cy="329301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520271" y="5649123"/>
            <a:ext cx="3582175" cy="403920"/>
            <a:chOff x="286612" y="1827849"/>
            <a:chExt cx="3582175" cy="329301"/>
          </a:xfrm>
        </p:grpSpPr>
        <p:cxnSp>
          <p:nvCxnSpPr>
            <p:cNvPr id="89" name="Straight Arrow Connector 88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76760"/>
              </p:ext>
            </p:extLst>
          </p:nvPr>
        </p:nvGraphicFramePr>
        <p:xfrm>
          <a:off x="4594953" y="879470"/>
          <a:ext cx="4480560" cy="534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84877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623590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54926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52878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588081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621863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431342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(t)</a:t>
                      </a:r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509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491126"/>
                  </a:ext>
                </a:extLst>
              </a:tr>
              <a:tr h="68580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stride (s)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3867210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8846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0373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0333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621927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9475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910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9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Re-index Threads to Minimize Divergence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02464"/>
              </p:ext>
            </p:extLst>
          </p:nvPr>
        </p:nvGraphicFramePr>
        <p:xfrm>
          <a:off x="110310" y="1285868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655219"/>
              </p:ext>
            </p:extLst>
          </p:nvPr>
        </p:nvGraphicFramePr>
        <p:xfrm>
          <a:off x="110310" y="1967427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83753"/>
              </p:ext>
            </p:extLst>
          </p:nvPr>
        </p:nvGraphicFramePr>
        <p:xfrm>
          <a:off x="110310" y="2648986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3528"/>
              </p:ext>
            </p:extLst>
          </p:nvPr>
        </p:nvGraphicFramePr>
        <p:xfrm>
          <a:off x="110310" y="3330545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105069"/>
              </p:ext>
            </p:extLst>
          </p:nvPr>
        </p:nvGraphicFramePr>
        <p:xfrm>
          <a:off x="110310" y="4012104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85306"/>
              </p:ext>
            </p:extLst>
          </p:nvPr>
        </p:nvGraphicFramePr>
        <p:xfrm>
          <a:off x="110310" y="4693663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78007"/>
              </p:ext>
            </p:extLst>
          </p:nvPr>
        </p:nvGraphicFramePr>
        <p:xfrm>
          <a:off x="110310" y="5375222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901187"/>
              </p:ext>
            </p:extLst>
          </p:nvPr>
        </p:nvGraphicFramePr>
        <p:xfrm>
          <a:off x="110310" y="6056779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214042" y="1560187"/>
            <a:ext cx="4123464" cy="403920"/>
            <a:chOff x="286612" y="1827849"/>
            <a:chExt cx="4123464" cy="329301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410076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1349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89122" y="2239969"/>
            <a:ext cx="3848383" cy="403920"/>
            <a:chOff x="584268" y="2431470"/>
            <a:chExt cx="1925570" cy="329301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509838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2347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040321" y="2925725"/>
            <a:ext cx="3297184" cy="403920"/>
            <a:chOff x="1112891" y="3035091"/>
            <a:chExt cx="1622002" cy="32930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2734893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2188348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59434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112891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2151326" y="3612336"/>
            <a:ext cx="2184283" cy="403920"/>
            <a:chOff x="3297170" y="3638712"/>
            <a:chExt cx="1111009" cy="329301"/>
          </a:xfrm>
        </p:grpSpPr>
        <p:cxnSp>
          <p:nvCxnSpPr>
            <p:cNvPr id="69" name="Straight Arrow Connector 68"/>
            <p:cNvCxnSpPr/>
            <p:nvPr/>
          </p:nvCxnSpPr>
          <p:spPr>
            <a:xfrm flipH="1">
              <a:off x="4408179" y="3638712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97170" y="3638712"/>
              <a:ext cx="1111005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2151326" y="4291263"/>
            <a:ext cx="1111005" cy="403921"/>
            <a:chOff x="2223896" y="4797128"/>
            <a:chExt cx="1111005" cy="403921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3334901" y="4797128"/>
              <a:ext cx="0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223896" y="4797129"/>
              <a:ext cx="1111005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84786" y="4970193"/>
            <a:ext cx="2766580" cy="403920"/>
            <a:chOff x="584268" y="2431470"/>
            <a:chExt cx="1384281" cy="329301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520271" y="5649123"/>
            <a:ext cx="3582175" cy="403920"/>
            <a:chOff x="286612" y="1827849"/>
            <a:chExt cx="3582175" cy="329301"/>
          </a:xfrm>
        </p:grpSpPr>
        <p:cxnSp>
          <p:nvCxnSpPr>
            <p:cNvPr id="89" name="Straight Arrow Connector 88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914128"/>
              </p:ext>
            </p:extLst>
          </p:nvPr>
        </p:nvGraphicFramePr>
        <p:xfrm>
          <a:off x="4594953" y="879470"/>
          <a:ext cx="4480560" cy="534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84877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623590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54926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52878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588081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621863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431342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(t)</a:t>
                      </a:r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509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491126"/>
                  </a:ext>
                </a:extLst>
              </a:tr>
              <a:tr h="68580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stride (s)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3867210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8846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0373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0333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621927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9475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910180"/>
                  </a:ext>
                </a:extLst>
              </a:tr>
            </a:tbl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7433309" y="2990651"/>
            <a:ext cx="1737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of thread’s right source element and destination element</a:t>
            </a:r>
          </a:p>
        </p:txBody>
      </p:sp>
      <p:cxnSp>
        <p:nvCxnSpPr>
          <p:cNvPr id="110" name="Straight Arrow Connector 109"/>
          <p:cNvCxnSpPr/>
          <p:nvPr/>
        </p:nvCxnSpPr>
        <p:spPr>
          <a:xfrm flipH="1">
            <a:off x="6198719" y="3612336"/>
            <a:ext cx="1145510" cy="20196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H="1" flipV="1">
            <a:off x="7026001" y="3154338"/>
            <a:ext cx="567910" cy="5238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H="1" flipV="1">
            <a:off x="8055492" y="2809850"/>
            <a:ext cx="42713" cy="18080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V="1">
            <a:off x="8605259" y="2126881"/>
            <a:ext cx="327689" cy="86376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91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Re-index Threads to Minimize Divergence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917564"/>
              </p:ext>
            </p:extLst>
          </p:nvPr>
        </p:nvGraphicFramePr>
        <p:xfrm>
          <a:off x="110310" y="1285868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11838"/>
              </p:ext>
            </p:extLst>
          </p:nvPr>
        </p:nvGraphicFramePr>
        <p:xfrm>
          <a:off x="110310" y="1967427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39429"/>
              </p:ext>
            </p:extLst>
          </p:nvPr>
        </p:nvGraphicFramePr>
        <p:xfrm>
          <a:off x="110310" y="2648986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96148"/>
              </p:ext>
            </p:extLst>
          </p:nvPr>
        </p:nvGraphicFramePr>
        <p:xfrm>
          <a:off x="110310" y="3330545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686825"/>
              </p:ext>
            </p:extLst>
          </p:nvPr>
        </p:nvGraphicFramePr>
        <p:xfrm>
          <a:off x="110310" y="4012104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603101"/>
              </p:ext>
            </p:extLst>
          </p:nvPr>
        </p:nvGraphicFramePr>
        <p:xfrm>
          <a:off x="110310" y="4693663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443476"/>
              </p:ext>
            </p:extLst>
          </p:nvPr>
        </p:nvGraphicFramePr>
        <p:xfrm>
          <a:off x="110310" y="5375222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68846"/>
              </p:ext>
            </p:extLst>
          </p:nvPr>
        </p:nvGraphicFramePr>
        <p:xfrm>
          <a:off x="110310" y="6056779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214042" y="1560187"/>
            <a:ext cx="4123464" cy="403920"/>
            <a:chOff x="286612" y="1827849"/>
            <a:chExt cx="4123464" cy="329301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410076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1349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89122" y="2239969"/>
            <a:ext cx="3848383" cy="403920"/>
            <a:chOff x="584268" y="2431470"/>
            <a:chExt cx="1925570" cy="329301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509838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2347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040321" y="2925725"/>
            <a:ext cx="3297184" cy="403920"/>
            <a:chOff x="1112891" y="3035091"/>
            <a:chExt cx="1622002" cy="32930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2734893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2188348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59434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112891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2151326" y="3612336"/>
            <a:ext cx="2184283" cy="403920"/>
            <a:chOff x="3297170" y="3638712"/>
            <a:chExt cx="1111009" cy="329301"/>
          </a:xfrm>
        </p:grpSpPr>
        <p:cxnSp>
          <p:nvCxnSpPr>
            <p:cNvPr id="69" name="Straight Arrow Connector 68"/>
            <p:cNvCxnSpPr/>
            <p:nvPr/>
          </p:nvCxnSpPr>
          <p:spPr>
            <a:xfrm flipH="1">
              <a:off x="4408179" y="3638712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97170" y="3638712"/>
              <a:ext cx="1111005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2151326" y="4291263"/>
            <a:ext cx="1111005" cy="403921"/>
            <a:chOff x="2223896" y="4797128"/>
            <a:chExt cx="1111005" cy="403921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3334901" y="4797128"/>
              <a:ext cx="0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223896" y="4797129"/>
              <a:ext cx="1111005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84786" y="4970193"/>
            <a:ext cx="2766580" cy="403920"/>
            <a:chOff x="584268" y="2431470"/>
            <a:chExt cx="1384281" cy="329301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520271" y="5649123"/>
            <a:ext cx="3582175" cy="403920"/>
            <a:chOff x="286612" y="1827849"/>
            <a:chExt cx="3582175" cy="329301"/>
          </a:xfrm>
        </p:grpSpPr>
        <p:cxnSp>
          <p:nvCxnSpPr>
            <p:cNvPr id="89" name="Straight Arrow Connector 88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841287"/>
              </p:ext>
            </p:extLst>
          </p:nvPr>
        </p:nvGraphicFramePr>
        <p:xfrm>
          <a:off x="4594953" y="879470"/>
          <a:ext cx="4480560" cy="534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84877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623590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54926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52878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588081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621863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431342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(t)</a:t>
                      </a:r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509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491126"/>
                  </a:ext>
                </a:extLst>
              </a:tr>
              <a:tr h="68580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stride (s)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3867210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8846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0373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0333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621927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9475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910180"/>
                  </a:ext>
                </a:extLst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7433309" y="4275155"/>
            <a:ext cx="173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index of thread’s left source element</a:t>
            </a:r>
          </a:p>
        </p:txBody>
      </p:sp>
      <p:cxnSp>
        <p:nvCxnSpPr>
          <p:cNvPr id="122" name="Straight Arrow Connector 121"/>
          <p:cNvCxnSpPr/>
          <p:nvPr/>
        </p:nvCxnSpPr>
        <p:spPr>
          <a:xfrm flipH="1" flipV="1">
            <a:off x="6142416" y="4536765"/>
            <a:ext cx="1402956" cy="2252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H="1">
            <a:off x="7964472" y="4798375"/>
            <a:ext cx="133733" cy="19749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H="1">
            <a:off x="8316465" y="4802185"/>
            <a:ext cx="134115" cy="65815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30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Re-index Threads to Minimize Divergence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4591"/>
              </p:ext>
            </p:extLst>
          </p:nvPr>
        </p:nvGraphicFramePr>
        <p:xfrm>
          <a:off x="110310" y="1285868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090302"/>
              </p:ext>
            </p:extLst>
          </p:nvPr>
        </p:nvGraphicFramePr>
        <p:xfrm>
          <a:off x="110310" y="1967427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660816"/>
              </p:ext>
            </p:extLst>
          </p:nvPr>
        </p:nvGraphicFramePr>
        <p:xfrm>
          <a:off x="110310" y="2648986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45130"/>
              </p:ext>
            </p:extLst>
          </p:nvPr>
        </p:nvGraphicFramePr>
        <p:xfrm>
          <a:off x="110310" y="3330545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283923"/>
              </p:ext>
            </p:extLst>
          </p:nvPr>
        </p:nvGraphicFramePr>
        <p:xfrm>
          <a:off x="110310" y="4012104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084998"/>
              </p:ext>
            </p:extLst>
          </p:nvPr>
        </p:nvGraphicFramePr>
        <p:xfrm>
          <a:off x="110310" y="4693663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5802"/>
              </p:ext>
            </p:extLst>
          </p:nvPr>
        </p:nvGraphicFramePr>
        <p:xfrm>
          <a:off x="110310" y="5375222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021375"/>
              </p:ext>
            </p:extLst>
          </p:nvPr>
        </p:nvGraphicFramePr>
        <p:xfrm>
          <a:off x="110310" y="6056779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214042" y="1560187"/>
            <a:ext cx="4123464" cy="403920"/>
            <a:chOff x="286612" y="1827849"/>
            <a:chExt cx="4123464" cy="329301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410076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1349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89122" y="2239969"/>
            <a:ext cx="3848383" cy="403920"/>
            <a:chOff x="584268" y="2431470"/>
            <a:chExt cx="1925570" cy="329301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509838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2347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040321" y="2925725"/>
            <a:ext cx="3297184" cy="403920"/>
            <a:chOff x="1112891" y="3035091"/>
            <a:chExt cx="1622002" cy="32930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2734893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2188348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59434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112891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2151326" y="3612336"/>
            <a:ext cx="2184283" cy="403920"/>
            <a:chOff x="3297170" y="3638712"/>
            <a:chExt cx="1111009" cy="329301"/>
          </a:xfrm>
        </p:grpSpPr>
        <p:cxnSp>
          <p:nvCxnSpPr>
            <p:cNvPr id="69" name="Straight Arrow Connector 68"/>
            <p:cNvCxnSpPr/>
            <p:nvPr/>
          </p:nvCxnSpPr>
          <p:spPr>
            <a:xfrm flipH="1">
              <a:off x="4408179" y="3638712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97170" y="3638712"/>
              <a:ext cx="1111005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2151326" y="4291263"/>
            <a:ext cx="1111005" cy="403921"/>
            <a:chOff x="2223896" y="4797128"/>
            <a:chExt cx="1111005" cy="403921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3334901" y="4797128"/>
              <a:ext cx="0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223896" y="4797129"/>
              <a:ext cx="1111005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84786" y="4970193"/>
            <a:ext cx="2766580" cy="403920"/>
            <a:chOff x="584268" y="2431470"/>
            <a:chExt cx="1384281" cy="329301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520271" y="5649123"/>
            <a:ext cx="3582175" cy="403920"/>
            <a:chOff x="286612" y="1827849"/>
            <a:chExt cx="3582175" cy="329301"/>
          </a:xfrm>
        </p:grpSpPr>
        <p:cxnSp>
          <p:nvCxnSpPr>
            <p:cNvPr id="89" name="Straight Arrow Connector 88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452927"/>
              </p:ext>
            </p:extLst>
          </p:nvPr>
        </p:nvGraphicFramePr>
        <p:xfrm>
          <a:off x="4594953" y="879470"/>
          <a:ext cx="4480560" cy="534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84877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623590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54926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52878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588081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621863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431342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(t)</a:t>
                      </a:r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509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491126"/>
                  </a:ext>
                </a:extLst>
              </a:tr>
              <a:tr h="68580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stride (s)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3867210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8846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0373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0333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621927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9475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910180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6133412" y="3814296"/>
            <a:ext cx="2864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to express index in terms of </a:t>
            </a:r>
            <a:r>
              <a:rPr lang="en-US" b="1" dirty="0">
                <a:solidFill>
                  <a:schemeClr val="accent6"/>
                </a:solidFill>
              </a:rPr>
              <a:t>s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5"/>
                </a:solidFill>
              </a:rPr>
              <a:t>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8941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Re-index Threads to Minimize Divergence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849994"/>
              </p:ext>
            </p:extLst>
          </p:nvPr>
        </p:nvGraphicFramePr>
        <p:xfrm>
          <a:off x="110310" y="1285868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424056"/>
              </p:ext>
            </p:extLst>
          </p:nvPr>
        </p:nvGraphicFramePr>
        <p:xfrm>
          <a:off x="110310" y="1967427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532504"/>
              </p:ext>
            </p:extLst>
          </p:nvPr>
        </p:nvGraphicFramePr>
        <p:xfrm>
          <a:off x="110310" y="2648986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875509"/>
              </p:ext>
            </p:extLst>
          </p:nvPr>
        </p:nvGraphicFramePr>
        <p:xfrm>
          <a:off x="110310" y="3330545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717393"/>
              </p:ext>
            </p:extLst>
          </p:nvPr>
        </p:nvGraphicFramePr>
        <p:xfrm>
          <a:off x="110310" y="4012104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711282"/>
              </p:ext>
            </p:extLst>
          </p:nvPr>
        </p:nvGraphicFramePr>
        <p:xfrm>
          <a:off x="110310" y="4693663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131531"/>
              </p:ext>
            </p:extLst>
          </p:nvPr>
        </p:nvGraphicFramePr>
        <p:xfrm>
          <a:off x="110310" y="5375222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493379"/>
              </p:ext>
            </p:extLst>
          </p:nvPr>
        </p:nvGraphicFramePr>
        <p:xfrm>
          <a:off x="110310" y="6056779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214042" y="1560187"/>
            <a:ext cx="4123464" cy="403920"/>
            <a:chOff x="286612" y="1827849"/>
            <a:chExt cx="4123464" cy="329301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410076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1349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89122" y="2239969"/>
            <a:ext cx="3848383" cy="403920"/>
            <a:chOff x="584268" y="2431470"/>
            <a:chExt cx="1925570" cy="329301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509838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2347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040321" y="2925725"/>
            <a:ext cx="3297184" cy="403920"/>
            <a:chOff x="1112891" y="3035091"/>
            <a:chExt cx="1622002" cy="32930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2734893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2188348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59434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112891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2151326" y="3612336"/>
            <a:ext cx="2184283" cy="403920"/>
            <a:chOff x="3297170" y="3638712"/>
            <a:chExt cx="1111009" cy="329301"/>
          </a:xfrm>
        </p:grpSpPr>
        <p:cxnSp>
          <p:nvCxnSpPr>
            <p:cNvPr id="69" name="Straight Arrow Connector 68"/>
            <p:cNvCxnSpPr/>
            <p:nvPr/>
          </p:nvCxnSpPr>
          <p:spPr>
            <a:xfrm flipH="1">
              <a:off x="4408179" y="3638712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97170" y="3638712"/>
              <a:ext cx="1111005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2151326" y="4291263"/>
            <a:ext cx="1111005" cy="403921"/>
            <a:chOff x="2223896" y="4797128"/>
            <a:chExt cx="1111005" cy="403921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3334901" y="4797128"/>
              <a:ext cx="0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223896" y="4797129"/>
              <a:ext cx="1111005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84786" y="4970193"/>
            <a:ext cx="2766580" cy="403920"/>
            <a:chOff x="584268" y="2431470"/>
            <a:chExt cx="1384281" cy="329301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520271" y="5649123"/>
            <a:ext cx="3582175" cy="403920"/>
            <a:chOff x="286612" y="1827849"/>
            <a:chExt cx="3582175" cy="329301"/>
          </a:xfrm>
        </p:grpSpPr>
        <p:cxnSp>
          <p:nvCxnSpPr>
            <p:cNvPr id="89" name="Straight Arrow Connector 88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360985"/>
              </p:ext>
            </p:extLst>
          </p:nvPr>
        </p:nvGraphicFramePr>
        <p:xfrm>
          <a:off x="4594953" y="879470"/>
          <a:ext cx="4480560" cy="534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84877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623590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54926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52878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588081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621863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431342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(t)</a:t>
                      </a:r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509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491126"/>
                  </a:ext>
                </a:extLst>
              </a:tr>
              <a:tr h="68580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stride (s)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3867210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8846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0373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0333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621927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9475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91018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6133412" y="3814296"/>
            <a:ext cx="2864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Pattern:</a:t>
            </a:r>
            <a:r>
              <a:rPr lang="en-US" dirty="0"/>
              <a:t> indexes are multiples of </a:t>
            </a:r>
            <a:r>
              <a:rPr lang="en-US" b="1" dirty="0">
                <a:solidFill>
                  <a:schemeClr val="accent6"/>
                </a:solidFill>
              </a:rPr>
              <a:t>2*s</a:t>
            </a:r>
            <a:r>
              <a:rPr lang="en-US" dirty="0"/>
              <a:t> minus </a:t>
            </a:r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787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Re-index Threads to Minimize Divergence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296552"/>
              </p:ext>
            </p:extLst>
          </p:nvPr>
        </p:nvGraphicFramePr>
        <p:xfrm>
          <a:off x="110310" y="1285868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46273"/>
              </p:ext>
            </p:extLst>
          </p:nvPr>
        </p:nvGraphicFramePr>
        <p:xfrm>
          <a:off x="110310" y="1967427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338797"/>
              </p:ext>
            </p:extLst>
          </p:nvPr>
        </p:nvGraphicFramePr>
        <p:xfrm>
          <a:off x="110310" y="2648986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056391"/>
              </p:ext>
            </p:extLst>
          </p:nvPr>
        </p:nvGraphicFramePr>
        <p:xfrm>
          <a:off x="110310" y="3330545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988486"/>
              </p:ext>
            </p:extLst>
          </p:nvPr>
        </p:nvGraphicFramePr>
        <p:xfrm>
          <a:off x="110310" y="4012104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729605"/>
              </p:ext>
            </p:extLst>
          </p:nvPr>
        </p:nvGraphicFramePr>
        <p:xfrm>
          <a:off x="110310" y="4693663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568350"/>
              </p:ext>
            </p:extLst>
          </p:nvPr>
        </p:nvGraphicFramePr>
        <p:xfrm>
          <a:off x="110310" y="5375222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844519"/>
              </p:ext>
            </p:extLst>
          </p:nvPr>
        </p:nvGraphicFramePr>
        <p:xfrm>
          <a:off x="110310" y="6056779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214042" y="1560187"/>
            <a:ext cx="4123464" cy="403920"/>
            <a:chOff x="286612" y="1827849"/>
            <a:chExt cx="4123464" cy="329301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410076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1349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89122" y="2239969"/>
            <a:ext cx="3848383" cy="403920"/>
            <a:chOff x="584268" y="2431470"/>
            <a:chExt cx="1925570" cy="329301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509838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2347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040321" y="2925725"/>
            <a:ext cx="3297184" cy="403920"/>
            <a:chOff x="1112891" y="3035091"/>
            <a:chExt cx="1622002" cy="32930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2734893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2188348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59434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112891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2151326" y="3612336"/>
            <a:ext cx="2184283" cy="403920"/>
            <a:chOff x="3297170" y="3638712"/>
            <a:chExt cx="1111009" cy="329301"/>
          </a:xfrm>
        </p:grpSpPr>
        <p:cxnSp>
          <p:nvCxnSpPr>
            <p:cNvPr id="69" name="Straight Arrow Connector 68"/>
            <p:cNvCxnSpPr/>
            <p:nvPr/>
          </p:nvCxnSpPr>
          <p:spPr>
            <a:xfrm flipH="1">
              <a:off x="4408179" y="3638712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97170" y="3638712"/>
              <a:ext cx="1111005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2151326" y="4291263"/>
            <a:ext cx="1111005" cy="403921"/>
            <a:chOff x="2223896" y="4797128"/>
            <a:chExt cx="1111005" cy="403921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3334901" y="4797128"/>
              <a:ext cx="0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223896" y="4797129"/>
              <a:ext cx="1111005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84786" y="4970193"/>
            <a:ext cx="2766580" cy="403920"/>
            <a:chOff x="584268" y="2431470"/>
            <a:chExt cx="1384281" cy="329301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520271" y="5649123"/>
            <a:ext cx="3582175" cy="403920"/>
            <a:chOff x="286612" y="1827849"/>
            <a:chExt cx="3582175" cy="329301"/>
          </a:xfrm>
        </p:grpSpPr>
        <p:cxnSp>
          <p:nvCxnSpPr>
            <p:cNvPr id="89" name="Straight Arrow Connector 88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899447"/>
              </p:ext>
            </p:extLst>
          </p:nvPr>
        </p:nvGraphicFramePr>
        <p:xfrm>
          <a:off x="4594953" y="879470"/>
          <a:ext cx="4480560" cy="534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84877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623590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54926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52878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588081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621863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431342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(t)</a:t>
                      </a:r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509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491126"/>
                  </a:ext>
                </a:extLst>
              </a:tr>
              <a:tr h="68580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stride (s)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3867210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8846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0373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0333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621927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9475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910180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6133412" y="3814296"/>
            <a:ext cx="2864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Pattern:</a:t>
            </a:r>
            <a:r>
              <a:rPr lang="en-US" dirty="0"/>
              <a:t> indexes are the </a:t>
            </a:r>
            <a:r>
              <a:rPr lang="en-US" b="1" dirty="0">
                <a:solidFill>
                  <a:schemeClr val="accent5"/>
                </a:solidFill>
              </a:rPr>
              <a:t>(t+1)</a:t>
            </a:r>
            <a:r>
              <a:rPr lang="en-US" b="1" baseline="30000" dirty="0" err="1">
                <a:solidFill>
                  <a:schemeClr val="accent5"/>
                </a:solidFill>
              </a:rPr>
              <a:t>th</a:t>
            </a:r>
            <a:r>
              <a:rPr lang="en-US" dirty="0"/>
              <a:t> multiple of </a:t>
            </a:r>
            <a:r>
              <a:rPr lang="en-US" b="1" dirty="0">
                <a:solidFill>
                  <a:schemeClr val="accent6"/>
                </a:solidFill>
              </a:rPr>
              <a:t>2*s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24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Re-index Threads to Minimize Divergence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626464"/>
              </p:ext>
            </p:extLst>
          </p:nvPr>
        </p:nvGraphicFramePr>
        <p:xfrm>
          <a:off x="110310" y="1285868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16360"/>
              </p:ext>
            </p:extLst>
          </p:nvPr>
        </p:nvGraphicFramePr>
        <p:xfrm>
          <a:off x="110310" y="1967427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259242"/>
              </p:ext>
            </p:extLst>
          </p:nvPr>
        </p:nvGraphicFramePr>
        <p:xfrm>
          <a:off x="110310" y="2648986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548002"/>
              </p:ext>
            </p:extLst>
          </p:nvPr>
        </p:nvGraphicFramePr>
        <p:xfrm>
          <a:off x="110310" y="3330545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512575"/>
              </p:ext>
            </p:extLst>
          </p:nvPr>
        </p:nvGraphicFramePr>
        <p:xfrm>
          <a:off x="110310" y="4012104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467034"/>
              </p:ext>
            </p:extLst>
          </p:nvPr>
        </p:nvGraphicFramePr>
        <p:xfrm>
          <a:off x="110310" y="4693663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45180"/>
              </p:ext>
            </p:extLst>
          </p:nvPr>
        </p:nvGraphicFramePr>
        <p:xfrm>
          <a:off x="110310" y="5375222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211851"/>
              </p:ext>
            </p:extLst>
          </p:nvPr>
        </p:nvGraphicFramePr>
        <p:xfrm>
          <a:off x="110310" y="6056779"/>
          <a:ext cx="43891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8327624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5059436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79610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359222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294560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470369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4537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1736664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214042" y="1560187"/>
            <a:ext cx="4123464" cy="403920"/>
            <a:chOff x="286612" y="1827849"/>
            <a:chExt cx="4123464" cy="329301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410076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1349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89122" y="2239969"/>
            <a:ext cx="3848383" cy="403920"/>
            <a:chOff x="584268" y="2431470"/>
            <a:chExt cx="1925570" cy="329301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509838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2347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040321" y="2925725"/>
            <a:ext cx="3297184" cy="403920"/>
            <a:chOff x="1112891" y="3035091"/>
            <a:chExt cx="1622002" cy="32930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2734893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2188348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59434" y="3035091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112891" y="3035091"/>
              <a:ext cx="546543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2151326" y="3612336"/>
            <a:ext cx="2184283" cy="403920"/>
            <a:chOff x="3297170" y="3638712"/>
            <a:chExt cx="1111009" cy="329301"/>
          </a:xfrm>
        </p:grpSpPr>
        <p:cxnSp>
          <p:nvCxnSpPr>
            <p:cNvPr id="69" name="Straight Arrow Connector 68"/>
            <p:cNvCxnSpPr/>
            <p:nvPr/>
          </p:nvCxnSpPr>
          <p:spPr>
            <a:xfrm flipH="1">
              <a:off x="4408179" y="3638712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97170" y="3638712"/>
              <a:ext cx="1111005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2151326" y="4291263"/>
            <a:ext cx="1111005" cy="403921"/>
            <a:chOff x="2223896" y="4797128"/>
            <a:chExt cx="1111005" cy="403921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3334901" y="4797128"/>
              <a:ext cx="0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223896" y="4797129"/>
              <a:ext cx="1111005" cy="40392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84786" y="4970193"/>
            <a:ext cx="2766580" cy="403920"/>
            <a:chOff x="584268" y="2431470"/>
            <a:chExt cx="1384281" cy="329301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19685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169346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140063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125557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859349" y="2431470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84268" y="2431470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520271" y="5649123"/>
            <a:ext cx="3582175" cy="403920"/>
            <a:chOff x="286612" y="1827849"/>
            <a:chExt cx="3582175" cy="329301"/>
          </a:xfrm>
        </p:grpSpPr>
        <p:cxnSp>
          <p:nvCxnSpPr>
            <p:cNvPr id="89" name="Straight Arrow Connector 88"/>
            <p:cNvCxnSpPr/>
            <p:nvPr/>
          </p:nvCxnSpPr>
          <p:spPr>
            <a:xfrm flipH="1">
              <a:off x="2212182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19371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16708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139581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110298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827901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61693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286612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38687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359370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0087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3025795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2759587" y="1827849"/>
              <a:ext cx="0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2484506" y="1827849"/>
              <a:ext cx="275081" cy="32930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091694"/>
              </p:ext>
            </p:extLst>
          </p:nvPr>
        </p:nvGraphicFramePr>
        <p:xfrm>
          <a:off x="4594953" y="879470"/>
          <a:ext cx="4480560" cy="534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84877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623590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54926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52878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588081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621863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431342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(t)</a:t>
                      </a:r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9509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491126"/>
                  </a:ext>
                </a:extLst>
              </a:tr>
              <a:tr h="68580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stride (s)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3867210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884604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0373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033301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621927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94752"/>
                  </a:ext>
                </a:extLst>
              </a:tr>
              <a:tr h="685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(t+1)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*2*s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-1</a:t>
                      </a:r>
                      <a:endParaRPr lang="en-US" sz="14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91018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6133412" y="3437780"/>
            <a:ext cx="2864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Every thread processes element </a:t>
            </a:r>
            <a:r>
              <a:rPr lang="en-US" dirty="0">
                <a:solidFill>
                  <a:schemeClr val="accent5"/>
                </a:solidFill>
              </a:rPr>
              <a:t>(t+1)</a:t>
            </a:r>
            <a:r>
              <a:rPr lang="en-US" dirty="0">
                <a:solidFill>
                  <a:schemeClr val="accent6"/>
                </a:solidFill>
              </a:rPr>
              <a:t>*2*s</a:t>
            </a:r>
            <a:r>
              <a:rPr lang="en-US" dirty="0">
                <a:solidFill>
                  <a:schemeClr val="accent2"/>
                </a:solidFill>
              </a:rPr>
              <a:t>-1</a:t>
            </a:r>
            <a:r>
              <a:rPr lang="en-US" dirty="0"/>
              <a:t>…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…if the destination is in bounds</a:t>
            </a:r>
          </a:p>
        </p:txBody>
      </p:sp>
    </p:spTree>
    <p:extLst>
      <p:ext uri="{BB962C8B-B14F-4D97-AF65-F5344CB8AC3E}">
        <p14:creationId xmlns:p14="http://schemas.microsoft.com/office/powerpoint/2010/main" val="127574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Brent Kung Inclusive Scan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4958" y="573935"/>
            <a:ext cx="8099042" cy="6070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scan_kernel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input,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output,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segment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*BLOCK_DIM];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input[segment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BLOCK_DIM] = input[segment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BLOCK_DIM];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First tree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BLOCK_DIM; stride *=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(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)*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*stride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*BLOCK_DIM)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+=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- stride];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Second tree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BLOCK_DIM/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&gt;=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/=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(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)*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*stride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stride &lt;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*BLOCK_DIM)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stride] +=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Store partial sum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*BLOCK_DIM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Store output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output[segment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output[segment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BLOCK_DIM]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BLOCK_DIM];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889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Work Efficiency (the Reality)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Brent-Kung has higher theoretical work-efficiency than </a:t>
            </a:r>
            <a:r>
              <a:rPr lang="en-US" dirty="0" err="1"/>
              <a:t>Kogge</a:t>
            </a:r>
            <a:r>
              <a:rPr lang="en-US" dirty="0"/>
              <a:t>-Stone, in practice, its actual resource consumption on GPUs after accounting for inactive threads is O(N*log(N))</a:t>
            </a:r>
          </a:p>
          <a:p>
            <a:endParaRPr lang="en-US" dirty="0"/>
          </a:p>
          <a:p>
            <a:r>
              <a:rPr lang="en-US" dirty="0"/>
              <a:t>Performance of Brent-Kung on GPUs is similar or may even be worse than </a:t>
            </a:r>
            <a:r>
              <a:rPr lang="en-US" dirty="0" err="1"/>
              <a:t>Kogge</a:t>
            </a:r>
            <a:r>
              <a:rPr lang="en-US" dirty="0"/>
              <a:t>-Stone</a:t>
            </a:r>
          </a:p>
          <a:p>
            <a:endParaRPr lang="en-US" dirty="0"/>
          </a:p>
          <a:p>
            <a:r>
              <a:rPr lang="en-US" dirty="0"/>
              <a:t>Still is an interesting case to study</a:t>
            </a:r>
          </a:p>
        </p:txBody>
      </p:sp>
    </p:spTree>
    <p:extLst>
      <p:ext uri="{BB962C8B-B14F-4D97-AF65-F5344CB8AC3E}">
        <p14:creationId xmlns:p14="http://schemas.microsoft.com/office/powerpoint/2010/main" val="278857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Exclusive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approach: formulate as an inclusive scan by shifting input elements when loading them</a:t>
            </a:r>
          </a:p>
          <a:p>
            <a:pPr lvl="1"/>
            <a:r>
              <a:rPr lang="en-US" dirty="0"/>
              <a:t>Similar to what we did with the </a:t>
            </a:r>
            <a:r>
              <a:rPr lang="en-US" dirty="0" err="1"/>
              <a:t>Kogge</a:t>
            </a:r>
            <a:r>
              <a:rPr lang="en-US" dirty="0"/>
              <a:t>-Stone approach</a:t>
            </a:r>
          </a:p>
          <a:p>
            <a:pPr lvl="1"/>
            <a:endParaRPr lang="en-US" dirty="0"/>
          </a:p>
          <a:p>
            <a:r>
              <a:rPr lang="en-US" dirty="0"/>
              <a:t>Second approach: use a different post-reduction stage</a:t>
            </a:r>
          </a:p>
          <a:p>
            <a:pPr lvl="1"/>
            <a:r>
              <a:rPr lang="en-US" dirty="0"/>
              <a:t>Incurs one more step compared to the inclusive scan post-reduction stage</a:t>
            </a:r>
          </a:p>
        </p:txBody>
      </p:sp>
    </p:spTree>
    <p:extLst>
      <p:ext uri="{BB962C8B-B14F-4D97-AF65-F5344CB8AC3E}">
        <p14:creationId xmlns:p14="http://schemas.microsoft.com/office/powerpoint/2010/main" val="136551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Brent-Kung Parallel (Exclusive) Scan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146785"/>
              </p:ext>
            </p:extLst>
          </p:nvPr>
        </p:nvGraphicFramePr>
        <p:xfrm>
          <a:off x="2804673" y="3463644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04940"/>
              </p:ext>
            </p:extLst>
          </p:nvPr>
        </p:nvGraphicFramePr>
        <p:xfrm>
          <a:off x="2804673" y="1067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06524"/>
              </p:ext>
            </p:extLst>
          </p:nvPr>
        </p:nvGraphicFramePr>
        <p:xfrm>
          <a:off x="2804673" y="1866010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620439"/>
              </p:ext>
            </p:extLst>
          </p:nvPr>
        </p:nvGraphicFramePr>
        <p:xfrm>
          <a:off x="2804673" y="266482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3490473" y="2325189"/>
            <a:ext cx="2728452" cy="347072"/>
            <a:chOff x="3490473" y="3706333"/>
            <a:chExt cx="2728452" cy="495300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4385603" y="3125985"/>
            <a:ext cx="1828800" cy="347072"/>
            <a:chOff x="4385603" y="4658833"/>
            <a:chExt cx="1828800" cy="495300"/>
          </a:xfrm>
        </p:grpSpPr>
        <p:cxnSp>
          <p:nvCxnSpPr>
            <p:cNvPr id="32" name="Straight Arrow Connector 3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033273" y="1524393"/>
            <a:ext cx="3200400" cy="347072"/>
            <a:chOff x="3033273" y="3061193"/>
            <a:chExt cx="3200400" cy="495300"/>
          </a:xfrm>
        </p:grpSpPr>
        <p:cxnSp>
          <p:nvCxnSpPr>
            <p:cNvPr id="35" name="Straight Arrow Connector 34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475115" y="2232517"/>
            <a:ext cx="1701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Reduction Stage</a:t>
            </a:r>
          </a:p>
          <a:p>
            <a:pPr algn="ctr"/>
            <a:r>
              <a:rPr lang="en-US" sz="1400" dirty="0"/>
              <a:t>(same as inclusive)</a:t>
            </a:r>
            <a:endParaRPr lang="en-US" dirty="0"/>
          </a:p>
        </p:txBody>
      </p:sp>
      <p:sp>
        <p:nvSpPr>
          <p:cNvPr id="47" name="Left Brace 46"/>
          <p:cNvSpPr/>
          <p:nvPr/>
        </p:nvSpPr>
        <p:spPr>
          <a:xfrm>
            <a:off x="2494033" y="1306489"/>
            <a:ext cx="156959" cy="24225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3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Brent-Kung Parallel (Exclusive) Scan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96587"/>
              </p:ext>
            </p:extLst>
          </p:nvPr>
        </p:nvGraphicFramePr>
        <p:xfrm>
          <a:off x="2804673" y="3463644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3923"/>
              </p:ext>
            </p:extLst>
          </p:nvPr>
        </p:nvGraphicFramePr>
        <p:xfrm>
          <a:off x="2804673" y="4262461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000923"/>
              </p:ext>
            </p:extLst>
          </p:nvPr>
        </p:nvGraphicFramePr>
        <p:xfrm>
          <a:off x="2804673" y="5061278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288535"/>
              </p:ext>
            </p:extLst>
          </p:nvPr>
        </p:nvGraphicFramePr>
        <p:xfrm>
          <a:off x="2804673" y="10671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244103"/>
              </p:ext>
            </p:extLst>
          </p:nvPr>
        </p:nvGraphicFramePr>
        <p:xfrm>
          <a:off x="2804673" y="1866010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66709"/>
              </p:ext>
            </p:extLst>
          </p:nvPr>
        </p:nvGraphicFramePr>
        <p:xfrm>
          <a:off x="2804673" y="266482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3490473" y="2325189"/>
            <a:ext cx="2728452" cy="347072"/>
            <a:chOff x="3490473" y="3706333"/>
            <a:chExt cx="2728452" cy="495300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4385603" y="3125985"/>
            <a:ext cx="1828800" cy="347072"/>
            <a:chOff x="4385603" y="4658833"/>
            <a:chExt cx="1828800" cy="495300"/>
          </a:xfrm>
        </p:grpSpPr>
        <p:cxnSp>
          <p:nvCxnSpPr>
            <p:cNvPr id="32" name="Straight Arrow Connector 3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033273" y="1524393"/>
            <a:ext cx="3200400" cy="347072"/>
            <a:chOff x="3033273" y="3061193"/>
            <a:chExt cx="3200400" cy="495300"/>
          </a:xfrm>
        </p:grpSpPr>
        <p:cxnSp>
          <p:nvCxnSpPr>
            <p:cNvPr id="35" name="Straight Arrow Connector 34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475115" y="2232517"/>
            <a:ext cx="1701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Reduction Stage</a:t>
            </a:r>
          </a:p>
          <a:p>
            <a:pPr algn="ctr"/>
            <a:r>
              <a:rPr lang="en-US" sz="1400" dirty="0"/>
              <a:t>(same as inclusive)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39858" y="4617969"/>
            <a:ext cx="2172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Post-Reduction Stage</a:t>
            </a:r>
          </a:p>
          <a:p>
            <a:pPr algn="ctr"/>
            <a:r>
              <a:rPr lang="en-US" sz="1400" dirty="0"/>
              <a:t>(for exclusive)</a:t>
            </a:r>
            <a:endParaRPr lang="en-US" dirty="0"/>
          </a:p>
        </p:txBody>
      </p:sp>
      <p:sp>
        <p:nvSpPr>
          <p:cNvPr id="47" name="Left Brace 46"/>
          <p:cNvSpPr/>
          <p:nvPr/>
        </p:nvSpPr>
        <p:spPr>
          <a:xfrm>
            <a:off x="2494033" y="1306489"/>
            <a:ext cx="156959" cy="24225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Left Brace 48"/>
          <p:cNvSpPr/>
          <p:nvPr/>
        </p:nvSpPr>
        <p:spPr>
          <a:xfrm>
            <a:off x="2494033" y="3760763"/>
            <a:ext cx="156959" cy="233045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117726"/>
              </p:ext>
            </p:extLst>
          </p:nvPr>
        </p:nvGraphicFramePr>
        <p:xfrm>
          <a:off x="2804673" y="586009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419230"/>
              </p:ext>
            </p:extLst>
          </p:nvPr>
        </p:nvGraphicFramePr>
        <p:xfrm>
          <a:off x="6686550" y="3463644"/>
          <a:ext cx="457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43750" y="3399856"/>
            <a:ext cx="1429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Save as block’s partial sum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381415" y="3918116"/>
            <a:ext cx="1837510" cy="356485"/>
            <a:chOff x="4381415" y="4302316"/>
            <a:chExt cx="1837510" cy="356485"/>
          </a:xfrm>
        </p:grpSpPr>
        <p:grpSp>
          <p:nvGrpSpPr>
            <p:cNvPr id="48" name="Group 47"/>
            <p:cNvGrpSpPr/>
            <p:nvPr/>
          </p:nvGrpSpPr>
          <p:grpSpPr>
            <a:xfrm>
              <a:off x="4381415" y="4302316"/>
              <a:ext cx="1828800" cy="347072"/>
              <a:chOff x="4385603" y="4658833"/>
              <a:chExt cx="1828800" cy="495300"/>
            </a:xfrm>
          </p:grpSpPr>
          <p:cxnSp>
            <p:nvCxnSpPr>
              <p:cNvPr id="50" name="Straight Arrow Connector 49"/>
              <p:cNvCxnSpPr/>
              <p:nvPr/>
            </p:nvCxnSpPr>
            <p:spPr>
              <a:xfrm flipH="1">
                <a:off x="6214403" y="4658833"/>
                <a:ext cx="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>
                <a:off x="4385603" y="4658833"/>
                <a:ext cx="182880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Arrow Connector 51"/>
            <p:cNvCxnSpPr/>
            <p:nvPr/>
          </p:nvCxnSpPr>
          <p:spPr>
            <a:xfrm flipH="1">
              <a:off x="4390125" y="4311729"/>
              <a:ext cx="1828800" cy="347072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490473" y="4714206"/>
            <a:ext cx="2729828" cy="353811"/>
            <a:chOff x="3490473" y="5098406"/>
            <a:chExt cx="2729828" cy="353811"/>
          </a:xfrm>
        </p:grpSpPr>
        <p:grpSp>
          <p:nvGrpSpPr>
            <p:cNvPr id="53" name="Group 52"/>
            <p:cNvGrpSpPr/>
            <p:nvPr/>
          </p:nvGrpSpPr>
          <p:grpSpPr>
            <a:xfrm>
              <a:off x="3491849" y="5105145"/>
              <a:ext cx="2728452" cy="347072"/>
              <a:chOff x="3490473" y="3706333"/>
              <a:chExt cx="2728452" cy="495300"/>
            </a:xfrm>
          </p:grpSpPr>
          <p:cxnSp>
            <p:nvCxnSpPr>
              <p:cNvPr id="54" name="Straight Arrow Connector 53"/>
              <p:cNvCxnSpPr/>
              <p:nvPr/>
            </p:nvCxnSpPr>
            <p:spPr>
              <a:xfrm flipH="1">
                <a:off x="6218925" y="3706333"/>
                <a:ext cx="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>
                <a:off x="5319273" y="3706333"/>
                <a:ext cx="899652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 flipH="1">
                <a:off x="4390125" y="3706333"/>
                <a:ext cx="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>
                <a:off x="3490473" y="3706333"/>
                <a:ext cx="899652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/>
            <p:cNvGrpSpPr/>
            <p:nvPr/>
          </p:nvGrpSpPr>
          <p:grpSpPr>
            <a:xfrm>
              <a:off x="3490473" y="5098406"/>
              <a:ext cx="2728452" cy="347072"/>
              <a:chOff x="3644249" y="5257545"/>
              <a:chExt cx="2728452" cy="347072"/>
            </a:xfrm>
          </p:grpSpPr>
          <p:cxnSp>
            <p:nvCxnSpPr>
              <p:cNvPr id="58" name="Straight Arrow Connector 57"/>
              <p:cNvCxnSpPr/>
              <p:nvPr/>
            </p:nvCxnSpPr>
            <p:spPr>
              <a:xfrm flipH="1">
                <a:off x="5473049" y="5257545"/>
                <a:ext cx="899652" cy="347072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 flipH="1">
                <a:off x="3644249" y="5257545"/>
                <a:ext cx="899652" cy="347072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Group 10"/>
          <p:cNvGrpSpPr/>
          <p:nvPr/>
        </p:nvGrpSpPr>
        <p:grpSpPr>
          <a:xfrm>
            <a:off x="3033273" y="5514106"/>
            <a:ext cx="3200400" cy="351444"/>
            <a:chOff x="3033273" y="5898306"/>
            <a:chExt cx="3200400" cy="351444"/>
          </a:xfrm>
        </p:grpSpPr>
        <p:grpSp>
          <p:nvGrpSpPr>
            <p:cNvPr id="60" name="Group 59"/>
            <p:cNvGrpSpPr/>
            <p:nvPr/>
          </p:nvGrpSpPr>
          <p:grpSpPr>
            <a:xfrm>
              <a:off x="3033273" y="5902678"/>
              <a:ext cx="3200400" cy="347072"/>
              <a:chOff x="3033273" y="3061193"/>
              <a:chExt cx="3200400" cy="495300"/>
            </a:xfrm>
          </p:grpSpPr>
          <p:cxnSp>
            <p:nvCxnSpPr>
              <p:cNvPr id="61" name="Straight Arrow Connector 60"/>
              <p:cNvCxnSpPr/>
              <p:nvPr/>
            </p:nvCxnSpPr>
            <p:spPr>
              <a:xfrm flipH="1">
                <a:off x="6233673" y="3061193"/>
                <a:ext cx="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/>
              <p:nvPr/>
            </p:nvCxnSpPr>
            <p:spPr>
              <a:xfrm>
                <a:off x="5776473" y="3061193"/>
                <a:ext cx="45720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/>
              <p:cNvCxnSpPr/>
              <p:nvPr/>
            </p:nvCxnSpPr>
            <p:spPr>
              <a:xfrm flipH="1">
                <a:off x="5334021" y="3061193"/>
                <a:ext cx="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>
              <a:xfrm>
                <a:off x="4876821" y="3061193"/>
                <a:ext cx="45720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/>
              <p:nvPr/>
            </p:nvCxnSpPr>
            <p:spPr>
              <a:xfrm flipH="1">
                <a:off x="4390125" y="3061193"/>
                <a:ext cx="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>
                <a:off x="3932925" y="3061193"/>
                <a:ext cx="45720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 flipH="1">
                <a:off x="3490473" y="3061193"/>
                <a:ext cx="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>
                <a:off x="3033273" y="3061193"/>
                <a:ext cx="457200" cy="49530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3033273" y="5898306"/>
              <a:ext cx="3200400" cy="347072"/>
              <a:chOff x="3185673" y="6055078"/>
              <a:chExt cx="3200400" cy="347072"/>
            </a:xfrm>
          </p:grpSpPr>
          <p:cxnSp>
            <p:nvCxnSpPr>
              <p:cNvPr id="69" name="Straight Arrow Connector 68"/>
              <p:cNvCxnSpPr/>
              <p:nvPr/>
            </p:nvCxnSpPr>
            <p:spPr>
              <a:xfrm flipH="1">
                <a:off x="5928873" y="6055078"/>
                <a:ext cx="457200" cy="347072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flipH="1">
                <a:off x="5029221" y="6055078"/>
                <a:ext cx="457200" cy="347072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/>
              <p:nvPr/>
            </p:nvCxnSpPr>
            <p:spPr>
              <a:xfrm flipH="1">
                <a:off x="4085325" y="6055078"/>
                <a:ext cx="457200" cy="347072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/>
              <p:nvPr/>
            </p:nvCxnSpPr>
            <p:spPr>
              <a:xfrm flipH="1">
                <a:off x="3185673" y="6055078"/>
                <a:ext cx="457200" cy="347072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6969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Thread Coarsening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Parallelizing scan incurs the overhead of lowering work efficiency</a:t>
            </a:r>
          </a:p>
          <a:p>
            <a:pPr lvl="1"/>
            <a:r>
              <a:rPr lang="en-US" dirty="0"/>
              <a:t>It also incurs the overhead of barrier synchronization every step and control divergence in the final steps (similar to reduction)</a:t>
            </a:r>
          </a:p>
          <a:p>
            <a:endParaRPr lang="en-US" sz="2000" dirty="0"/>
          </a:p>
          <a:p>
            <a:r>
              <a:rPr lang="en-US" dirty="0"/>
              <a:t>If resources are insufficient, the hardware will serialize the thread blocks, incurring overhead unnecessarily</a:t>
            </a:r>
          </a:p>
          <a:p>
            <a:endParaRPr lang="en-US" sz="1600" dirty="0"/>
          </a:p>
          <a:p>
            <a:r>
              <a:rPr lang="en-US" dirty="0"/>
              <a:t>Apply </a:t>
            </a:r>
            <a:r>
              <a:rPr lang="en-US" b="1" dirty="0">
                <a:solidFill>
                  <a:schemeClr val="accent5"/>
                </a:solidFill>
              </a:rPr>
              <a:t>thread coarsening</a:t>
            </a:r>
            <a:r>
              <a:rPr lang="en-US" dirty="0"/>
              <a:t> via segmented scan</a:t>
            </a:r>
          </a:p>
          <a:p>
            <a:pPr lvl="1"/>
            <a:r>
              <a:rPr lang="en-US" dirty="0"/>
              <a:t>Each thread scans a segment sequentially</a:t>
            </a:r>
          </a:p>
          <a:p>
            <a:pPr lvl="2"/>
            <a:r>
              <a:rPr lang="en-US" dirty="0"/>
              <a:t>Sequential scan is work efficient</a:t>
            </a:r>
          </a:p>
          <a:p>
            <a:pPr lvl="1"/>
            <a:r>
              <a:rPr lang="en-US" dirty="0"/>
              <a:t>Only scan the partial sums of each segment in parallel</a:t>
            </a:r>
          </a:p>
        </p:txBody>
      </p:sp>
    </p:spTree>
    <p:extLst>
      <p:ext uri="{BB962C8B-B14F-4D97-AF65-F5344CB8AC3E}">
        <p14:creationId xmlns:p14="http://schemas.microsoft.com/office/powerpoint/2010/main" val="405675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4826003" y="3078844"/>
            <a:ext cx="1538748" cy="1005840"/>
            <a:chOff x="5029200" y="3094212"/>
            <a:chExt cx="1538748" cy="1005840"/>
          </a:xfrm>
        </p:grpSpPr>
        <p:cxnSp>
          <p:nvCxnSpPr>
            <p:cNvPr id="47" name="Straight Connector 46"/>
            <p:cNvCxnSpPr/>
            <p:nvPr/>
          </p:nvCxnSpPr>
          <p:spPr>
            <a:xfrm flipH="1">
              <a:off x="5029200" y="3094212"/>
              <a:ext cx="0" cy="100584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6567948" y="3094212"/>
              <a:ext cx="0" cy="100584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762000" y="4601400"/>
            <a:ext cx="7757653" cy="1174432"/>
            <a:chOff x="764050" y="1385888"/>
            <a:chExt cx="1705937" cy="3262312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76405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119134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61864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204593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2469987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764049" y="1370520"/>
            <a:ext cx="7772400" cy="1174432"/>
            <a:chOff x="764050" y="1385888"/>
            <a:chExt cx="1709180" cy="3262312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76405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119134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161864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204593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247323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Text Placeholder 4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Recall: Segmented Scan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356232"/>
            <a:ext cx="7772400" cy="381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762000" y="2163952"/>
            <a:ext cx="7772400" cy="381000"/>
            <a:chOff x="747252" y="2590800"/>
            <a:chExt cx="7772400" cy="381000"/>
          </a:xfrm>
        </p:grpSpPr>
        <p:sp>
          <p:nvSpPr>
            <p:cNvPr id="13" name="Rectangle 12"/>
            <p:cNvSpPr/>
            <p:nvPr/>
          </p:nvSpPr>
          <p:spPr>
            <a:xfrm>
              <a:off x="6562429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70896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47252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4036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8559" y="2971672"/>
            <a:ext cx="1536192" cy="381000"/>
            <a:chOff x="899652" y="3657600"/>
            <a:chExt cx="7772400" cy="381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" name="Rectangle 13"/>
            <p:cNvSpPr/>
            <p:nvPr/>
          </p:nvSpPr>
          <p:spPr>
            <a:xfrm>
              <a:off x="6714829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23296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9652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76436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828559" y="3779392"/>
            <a:ext cx="1536192" cy="381000"/>
            <a:chOff x="899652" y="3657600"/>
            <a:chExt cx="7772400" cy="381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0" name="Rectangle 19"/>
            <p:cNvSpPr/>
            <p:nvPr/>
          </p:nvSpPr>
          <p:spPr>
            <a:xfrm>
              <a:off x="6714829" y="3657600"/>
              <a:ext cx="1957223" cy="381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823296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99652" y="3657600"/>
              <a:ext cx="1957223" cy="381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76436" y="3657600"/>
              <a:ext cx="1957223" cy="381000"/>
            </a:xfrm>
            <a:prstGeom prst="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62000" y="4587112"/>
            <a:ext cx="7762849" cy="381000"/>
            <a:chOff x="762000" y="4876800"/>
            <a:chExt cx="7762849" cy="381000"/>
          </a:xfrm>
        </p:grpSpPr>
        <p:sp>
          <p:nvSpPr>
            <p:cNvPr id="24" name="Rectangle 23"/>
            <p:cNvSpPr/>
            <p:nvPr/>
          </p:nvSpPr>
          <p:spPr>
            <a:xfrm>
              <a:off x="6577177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00392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`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62000" y="4876800"/>
              <a:ext cx="1938528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638784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762000" y="5394832"/>
            <a:ext cx="7772400" cy="381000"/>
          </a:xfrm>
          <a:prstGeom prst="rect">
            <a:avLst/>
          </a:prstGeom>
          <a:gradFill>
            <a:gsLst>
              <a:gs pos="7500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  <a:gs pos="2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bg1"/>
              </a:gs>
            </a:gsLst>
            <a:lin ang="10800000" scaled="1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981912" y="1780856"/>
            <a:ext cx="7319824" cy="369332"/>
            <a:chOff x="981912" y="1796224"/>
            <a:chExt cx="7319824" cy="369332"/>
          </a:xfrm>
        </p:grpSpPr>
        <p:sp>
          <p:nvSpPr>
            <p:cNvPr id="31" name="TextBox 30"/>
            <p:cNvSpPr txBox="1"/>
            <p:nvPr/>
          </p:nvSpPr>
          <p:spPr>
            <a:xfrm>
              <a:off x="981912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0 (Scan)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927058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1 (Scan)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72206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2 (Scan)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17354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3 (Scan)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4767588" y="3381676"/>
            <a:ext cx="1638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Scan Partial Sums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719223" y="2544952"/>
            <a:ext cx="5817226" cy="601460"/>
            <a:chOff x="2719223" y="2560320"/>
            <a:chExt cx="5817226" cy="426720"/>
          </a:xfrm>
        </p:grpSpPr>
        <p:cxnSp>
          <p:nvCxnSpPr>
            <p:cNvPr id="51" name="Straight Arrow Connector 50"/>
            <p:cNvCxnSpPr/>
            <p:nvPr/>
          </p:nvCxnSpPr>
          <p:spPr>
            <a:xfrm>
              <a:off x="2719223" y="2560320"/>
              <a:ext cx="2286000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650249" y="2560320"/>
              <a:ext cx="731520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H="1">
              <a:off x="5788214" y="2560320"/>
              <a:ext cx="807793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6171332" y="2560320"/>
              <a:ext cx="2365117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3674228" y="4204671"/>
            <a:ext cx="3867407" cy="330816"/>
            <a:chOff x="3674228" y="3789587"/>
            <a:chExt cx="3867407" cy="812921"/>
          </a:xfrm>
        </p:grpSpPr>
        <p:cxnSp>
          <p:nvCxnSpPr>
            <p:cNvPr id="68" name="Straight Arrow Connector 67"/>
            <p:cNvCxnSpPr>
              <a:endCxn id="25" idx="0"/>
            </p:cNvCxnSpPr>
            <p:nvPr/>
          </p:nvCxnSpPr>
          <p:spPr>
            <a:xfrm flipH="1">
              <a:off x="3674228" y="4222264"/>
              <a:ext cx="0" cy="380244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21" idx="2"/>
              <a:endCxn id="27" idx="0"/>
            </p:cNvCxnSpPr>
            <p:nvPr/>
          </p:nvCxnSpPr>
          <p:spPr>
            <a:xfrm>
              <a:off x="5605379" y="4175760"/>
              <a:ext cx="0" cy="426721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7541635" y="4175760"/>
              <a:ext cx="0" cy="426721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5605279" y="3789587"/>
              <a:ext cx="0" cy="390984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3674228" y="4175760"/>
              <a:ext cx="3867407" cy="0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2955754" y="5010752"/>
            <a:ext cx="5317289" cy="369332"/>
            <a:chOff x="2955754" y="5026120"/>
            <a:chExt cx="5317289" cy="369332"/>
          </a:xfrm>
        </p:grpSpPr>
        <p:sp>
          <p:nvSpPr>
            <p:cNvPr id="82" name="TextBox 81"/>
            <p:cNvSpPr txBox="1"/>
            <p:nvPr/>
          </p:nvSpPr>
          <p:spPr>
            <a:xfrm>
              <a:off x="2955754" y="5026120"/>
              <a:ext cx="1426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1 (Add)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900901" y="5026120"/>
              <a:ext cx="1426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2 (Add)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846049" y="5026120"/>
              <a:ext cx="1426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Block 3 </a:t>
              </a:r>
              <a:r>
                <a:rPr lang="en-US" dirty="0"/>
                <a:t>(Add)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983400" y="5947444"/>
            <a:ext cx="3177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Segment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grid</a:t>
            </a:r>
            <a:r>
              <a:rPr lang="en-US" dirty="0"/>
              <a:t> scan across </a:t>
            </a:r>
            <a:r>
              <a:rPr lang="en-US" b="1" dirty="0">
                <a:solidFill>
                  <a:schemeClr val="accent1"/>
                </a:solidFill>
              </a:rPr>
              <a:t>blocks</a:t>
            </a:r>
          </a:p>
        </p:txBody>
      </p:sp>
    </p:spTree>
    <p:extLst>
      <p:ext uri="{BB962C8B-B14F-4D97-AF65-F5344CB8AC3E}">
        <p14:creationId xmlns:p14="http://schemas.microsoft.com/office/powerpoint/2010/main" val="74755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4826003" y="3078844"/>
            <a:ext cx="1538748" cy="1005840"/>
            <a:chOff x="5029200" y="3094212"/>
            <a:chExt cx="1538748" cy="1005840"/>
          </a:xfrm>
        </p:grpSpPr>
        <p:cxnSp>
          <p:nvCxnSpPr>
            <p:cNvPr id="47" name="Straight Connector 46"/>
            <p:cNvCxnSpPr/>
            <p:nvPr/>
          </p:nvCxnSpPr>
          <p:spPr>
            <a:xfrm flipH="1">
              <a:off x="5029200" y="3094212"/>
              <a:ext cx="0" cy="100584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6567948" y="3094212"/>
              <a:ext cx="0" cy="100584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762000" y="4601400"/>
            <a:ext cx="7757653" cy="1174432"/>
            <a:chOff x="764050" y="1385888"/>
            <a:chExt cx="1705937" cy="3262312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76405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119134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61864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204593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2469987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764049" y="1370520"/>
            <a:ext cx="7772400" cy="1174432"/>
            <a:chOff x="764050" y="1385888"/>
            <a:chExt cx="1709180" cy="3262312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76405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119134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161864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204593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247323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 Placeholder 28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Segmented Scan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356232"/>
            <a:ext cx="7772400" cy="381000"/>
          </a:xfrm>
          <a:prstGeom prst="rect">
            <a:avLst/>
          </a:prstGeom>
          <a:pattFill prst="pct25">
            <a:fgClr>
              <a:schemeClr val="accent6"/>
            </a:fgClr>
            <a:bgClr>
              <a:schemeClr val="bg1"/>
            </a:bgClr>
          </a:patt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577177" y="216395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1"/>
              </a:gs>
            </a:gsLst>
            <a:lin ang="10800000" scaled="1"/>
            <a:tileRect/>
          </a:gra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685644" y="216395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1"/>
              </a:gs>
            </a:gsLst>
            <a:lin ang="10800000" scaled="1"/>
            <a:tileRect/>
          </a:gra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62000" y="216395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1"/>
              </a:gs>
            </a:gsLst>
            <a:lin ang="10800000" scaled="1"/>
            <a:tileRect/>
          </a:gra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38784" y="216395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1"/>
              </a:gs>
            </a:gsLst>
            <a:lin ang="10800000" scaled="1"/>
            <a:tileRect/>
          </a:gra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4828559" y="2971672"/>
            <a:ext cx="1536192" cy="381000"/>
            <a:chOff x="899652" y="3657600"/>
            <a:chExt cx="7772400" cy="381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4" name="Rectangle 13"/>
            <p:cNvSpPr/>
            <p:nvPr/>
          </p:nvSpPr>
          <p:spPr>
            <a:xfrm>
              <a:off x="6714829" y="3657600"/>
              <a:ext cx="1957223" cy="381000"/>
            </a:xfrm>
            <a:prstGeom prst="rect">
              <a:avLst/>
            </a:prstGeom>
            <a:grpFill/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23296" y="3657600"/>
              <a:ext cx="1957223" cy="381000"/>
            </a:xfrm>
            <a:prstGeom prst="rect">
              <a:avLst/>
            </a:prstGeom>
            <a:grpFill/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9652" y="3657600"/>
              <a:ext cx="1957223" cy="381000"/>
            </a:xfrm>
            <a:prstGeom prst="rect">
              <a:avLst/>
            </a:prstGeom>
            <a:grpFill/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76436" y="3657600"/>
              <a:ext cx="1957223" cy="381000"/>
            </a:xfrm>
            <a:prstGeom prst="rect">
              <a:avLst/>
            </a:prstGeom>
            <a:grpFill/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828559" y="3779392"/>
            <a:ext cx="1536192" cy="381000"/>
            <a:chOff x="899652" y="3657600"/>
            <a:chExt cx="7772400" cy="381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0" name="Rectangle 19"/>
            <p:cNvSpPr/>
            <p:nvPr/>
          </p:nvSpPr>
          <p:spPr>
            <a:xfrm>
              <a:off x="6714829" y="3657600"/>
              <a:ext cx="1957223" cy="381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823296" y="3657600"/>
              <a:ext cx="1957223" cy="381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99652" y="3657600"/>
              <a:ext cx="1957223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76436" y="3657600"/>
              <a:ext cx="1957223" cy="38100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62000" y="4587112"/>
            <a:ext cx="7762849" cy="381000"/>
            <a:chOff x="762000" y="4876800"/>
            <a:chExt cx="7762849" cy="381000"/>
          </a:xfrm>
        </p:grpSpPr>
        <p:sp>
          <p:nvSpPr>
            <p:cNvPr id="24" name="Rectangle 23"/>
            <p:cNvSpPr/>
            <p:nvPr/>
          </p:nvSpPr>
          <p:spPr>
            <a:xfrm>
              <a:off x="6577177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00392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`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62000" y="4876800"/>
              <a:ext cx="1938528" cy="381000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638784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762000" y="5394832"/>
            <a:ext cx="7772400" cy="381000"/>
          </a:xfrm>
          <a:prstGeom prst="rect">
            <a:avLst/>
          </a:prstGeom>
          <a:gradFill>
            <a:gsLst>
              <a:gs pos="75000">
                <a:schemeClr val="accent6">
                  <a:lumMod val="60000"/>
                  <a:lumOff val="40000"/>
                </a:schemeClr>
              </a:gs>
              <a:gs pos="50000">
                <a:schemeClr val="accent6"/>
              </a:gs>
              <a:gs pos="25000">
                <a:schemeClr val="accent6">
                  <a:lumMod val="75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10800000" scaled="1"/>
          </a:gra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903269" y="1780856"/>
            <a:ext cx="7477110" cy="369332"/>
            <a:chOff x="903269" y="1796224"/>
            <a:chExt cx="7477110" cy="369332"/>
          </a:xfrm>
        </p:grpSpPr>
        <p:sp>
          <p:nvSpPr>
            <p:cNvPr id="31" name="TextBox 30"/>
            <p:cNvSpPr txBox="1"/>
            <p:nvPr/>
          </p:nvSpPr>
          <p:spPr>
            <a:xfrm>
              <a:off x="903269" y="1796224"/>
              <a:ext cx="1641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Thread 0 (Scan)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848415" y="1796224"/>
              <a:ext cx="1641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Thread 1 (Scan)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93563" y="1796224"/>
              <a:ext cx="1641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Thread 2 (Scan)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38711" y="1796224"/>
              <a:ext cx="1641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Thread 3 (Scan)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4747187" y="3335572"/>
            <a:ext cx="1695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Block scans partial sums</a:t>
            </a:r>
          </a:p>
          <a:p>
            <a:pPr algn="ctr"/>
            <a:r>
              <a:rPr lang="en-US" sz="1200" dirty="0"/>
              <a:t>(in parallel)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719223" y="2544952"/>
            <a:ext cx="5817226" cy="601460"/>
            <a:chOff x="2719223" y="2560320"/>
            <a:chExt cx="5817226" cy="426720"/>
          </a:xfrm>
        </p:grpSpPr>
        <p:cxnSp>
          <p:nvCxnSpPr>
            <p:cNvPr id="51" name="Straight Arrow Connector 50"/>
            <p:cNvCxnSpPr/>
            <p:nvPr/>
          </p:nvCxnSpPr>
          <p:spPr>
            <a:xfrm>
              <a:off x="2719223" y="2560320"/>
              <a:ext cx="2286000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650249" y="2560320"/>
              <a:ext cx="731520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H="1">
              <a:off x="5788214" y="2560320"/>
              <a:ext cx="807793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6171332" y="2560320"/>
              <a:ext cx="2365117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3674228" y="4204671"/>
            <a:ext cx="3867407" cy="330816"/>
            <a:chOff x="3674228" y="3789587"/>
            <a:chExt cx="3867407" cy="812921"/>
          </a:xfrm>
        </p:grpSpPr>
        <p:cxnSp>
          <p:nvCxnSpPr>
            <p:cNvPr id="68" name="Straight Arrow Connector 67"/>
            <p:cNvCxnSpPr>
              <a:endCxn id="25" idx="0"/>
            </p:cNvCxnSpPr>
            <p:nvPr/>
          </p:nvCxnSpPr>
          <p:spPr>
            <a:xfrm flipH="1">
              <a:off x="3674228" y="4222264"/>
              <a:ext cx="0" cy="380244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21" idx="2"/>
              <a:endCxn id="27" idx="0"/>
            </p:cNvCxnSpPr>
            <p:nvPr/>
          </p:nvCxnSpPr>
          <p:spPr>
            <a:xfrm>
              <a:off x="5605379" y="4175760"/>
              <a:ext cx="0" cy="426721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7541635" y="4175760"/>
              <a:ext cx="0" cy="426721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5605279" y="3789587"/>
              <a:ext cx="0" cy="390984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3674228" y="4175760"/>
              <a:ext cx="3867407" cy="0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2877111" y="5010752"/>
            <a:ext cx="5474575" cy="369332"/>
            <a:chOff x="2877111" y="5026120"/>
            <a:chExt cx="5474575" cy="369332"/>
          </a:xfrm>
        </p:grpSpPr>
        <p:sp>
          <p:nvSpPr>
            <p:cNvPr id="82" name="TextBox 81"/>
            <p:cNvSpPr txBox="1"/>
            <p:nvPr/>
          </p:nvSpPr>
          <p:spPr>
            <a:xfrm>
              <a:off x="2877111" y="5026120"/>
              <a:ext cx="15842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Thread 1 (Add)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22258" y="5026120"/>
              <a:ext cx="15842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Thread 2 (Add)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767406" y="5026120"/>
              <a:ext cx="15842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Thread 3 (Add)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852404" y="5947444"/>
            <a:ext cx="3439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Segment </a:t>
            </a:r>
            <a:r>
              <a:rPr lang="en-US" b="1" dirty="0">
                <a:solidFill>
                  <a:schemeClr val="accent1"/>
                </a:solidFill>
              </a:rPr>
              <a:t>block</a:t>
            </a:r>
            <a:r>
              <a:rPr lang="en-US" dirty="0"/>
              <a:t> scan across </a:t>
            </a:r>
            <a:r>
              <a:rPr lang="en-US" b="1" dirty="0">
                <a:solidFill>
                  <a:schemeClr val="accent6"/>
                </a:solidFill>
              </a:rPr>
              <a:t>threads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77177" y="539483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08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2685644" y="539483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762000" y="539483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638784" y="5394832"/>
            <a:ext cx="1957223" cy="381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4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10" grpId="0" animBg="1"/>
      <p:bldP spid="12" grpId="0" animBg="1"/>
      <p:bldP spid="28" grpId="0" animBg="1"/>
      <p:bldP spid="49" grpId="0"/>
      <p:bldP spid="40" grpId="0"/>
      <p:bldP spid="63" grpId="0" animBg="1"/>
      <p:bldP spid="64" grpId="0" animBg="1"/>
      <p:bldP spid="65" grpId="0" animBg="1"/>
      <p:bldP spid="6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2200" dirty="0" err="1"/>
              <a:t>Kogge</a:t>
            </a:r>
            <a:r>
              <a:rPr lang="en-US" sz="2200" dirty="0"/>
              <a:t>-Stone Parallel (Inclusive) Scan with Thread Coarsening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652" y="530196"/>
            <a:ext cx="8133347" cy="6232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segment = COARSE_FACTOR*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Load data to shared memory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[COARSE_FACTOR*BLOCK_DIM];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c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c &lt; COARSE_FACTOR; ++c)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[c*BLOCK_DIM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input[segment + c*BLOCK_DIM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Scan thread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subsegment</a:t>
            </a:r>
            <a:endParaRPr lang="en-US" sz="105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threadSegment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*COARSE_FACTOR;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c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c &lt; COARSE_FACTOR; ++c)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threadSegment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c] +=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threadSegment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c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Allocate and initialize double buffers for partial sums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buffer1_s[BLOCK_DIM];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buffer2_s[BLOCK_DIM];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buffer1_s;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buffer2_s;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partialSumIdx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threadSegment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COARSE_FACTOR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partialSumIdx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Parallel scan of partial sums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BLOCK_DIM/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*=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+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- stride];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tmp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tmp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...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8016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2200" dirty="0" err="1"/>
              <a:t>Kogge</a:t>
            </a:r>
            <a:r>
              <a:rPr lang="en-US" sz="2200" dirty="0"/>
              <a:t>-Stone Parallel (Inclusive) Scan with Thread Coarsening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652" y="1536800"/>
            <a:ext cx="7641569" cy="3485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...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Add previous thread's partial sums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&gt;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prevPartialSum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c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c &lt; COARSE_FACTOR; ++c)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threadSegment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c] +=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prevPartialSum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Save block's partial sum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== BLOCK_DIM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[COARSE_FACTOR*BLOCK_DIM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0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Write output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c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 c &lt; COARSE_FACTOR; ++c)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output[segment + c*BLOCK_DIM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[c*BLOCK_DIM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9501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31659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</TotalTime>
  <Words>2580</Words>
  <Application>Microsoft Office PowerPoint</Application>
  <PresentationFormat>On-screen Show (4:3)</PresentationFormat>
  <Paragraphs>750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91</cp:revision>
  <dcterms:created xsi:type="dcterms:W3CDTF">2022-03-30T06:33:52Z</dcterms:created>
  <dcterms:modified xsi:type="dcterms:W3CDTF">2022-10-20T07:31:45Z</dcterms:modified>
</cp:coreProperties>
</file>