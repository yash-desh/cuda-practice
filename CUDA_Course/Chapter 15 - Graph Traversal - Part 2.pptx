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4"/>
  </p:handoutMasterIdLst>
  <p:sldIdLst>
    <p:sldId id="270" r:id="rId2"/>
    <p:sldId id="293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3" r:id="rId21"/>
    <p:sldId id="314" r:id="rId22"/>
    <p:sldId id="31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6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31-10-2022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Graph Traversal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85FFED2-6924-4AAD-8E7E-8CDBA1DD7A5F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2)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Redundant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Approaches discussed so far check every vertex or edge on every iteration for relevance</a:t>
            </a:r>
          </a:p>
          <a:p>
            <a:pPr lvl="1"/>
            <a:r>
              <a:rPr lang="en-US" dirty="0"/>
              <a:t>Strengths: easy to implement, highly parallel, no synchronization across threads</a:t>
            </a:r>
          </a:p>
          <a:p>
            <a:pPr lvl="1"/>
            <a:r>
              <a:rPr lang="en-US" dirty="0"/>
              <a:t>Weaknesses: a lot of unnecessary threads/work</a:t>
            </a:r>
          </a:p>
          <a:p>
            <a:pPr lvl="2"/>
            <a:r>
              <a:rPr lang="en-US" dirty="0"/>
              <a:t>Many threads will find that their vertex or edge are not relevant for this iteration and just exit</a:t>
            </a:r>
          </a:p>
          <a:p>
            <a:endParaRPr lang="en-US" dirty="0"/>
          </a:p>
          <a:p>
            <a:r>
              <a:rPr lang="en-US" dirty="0"/>
              <a:t>Alternative for reducing redundancy:</a:t>
            </a:r>
          </a:p>
          <a:p>
            <a:pPr lvl="1"/>
            <a:r>
              <a:rPr lang="en-US" u="sng" dirty="0"/>
              <a:t>Objective:</a:t>
            </a:r>
            <a:r>
              <a:rPr lang="en-US" dirty="0"/>
              <a:t> only check the vertices that are part of the previous level</a:t>
            </a:r>
          </a:p>
          <a:p>
            <a:pPr lvl="1"/>
            <a:r>
              <a:rPr lang="en-US" u="sng" dirty="0"/>
              <a:t>Approach:</a:t>
            </a:r>
            <a:r>
              <a:rPr lang="en-US" dirty="0"/>
              <a:t> each level adds the vertices it visits to a list for the next level to process</a:t>
            </a:r>
          </a:p>
          <a:p>
            <a:pPr lvl="2"/>
            <a:r>
              <a:rPr lang="en-US" dirty="0"/>
              <a:t>Vertices added at each level form that level’s </a:t>
            </a:r>
            <a:r>
              <a:rPr lang="en-US" i="1" dirty="0"/>
              <a:t>frontier</a:t>
            </a:r>
            <a:endParaRPr lang="en-US" dirty="0"/>
          </a:p>
          <a:p>
            <a:pPr lvl="1"/>
            <a:r>
              <a:rPr lang="en-US" u="sng" dirty="0"/>
              <a:t>Overhead:</a:t>
            </a:r>
            <a:r>
              <a:rPr lang="en-US" dirty="0"/>
              <a:t> synchronization across threads to add to a shared list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18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grpSp>
        <p:nvGrpSpPr>
          <p:cNvPr id="136" name="Group 135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137" name="Rectangle 136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23459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sp>
        <p:nvSpPr>
          <p:cNvPr id="72" name="Oval 71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/>
          <p:cNvCxnSpPr>
            <a:stCxn id="78" idx="7"/>
            <a:endCxn id="82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79" idx="6"/>
            <a:endCxn id="82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79" idx="5"/>
            <a:endCxn id="78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78" idx="3"/>
            <a:endCxn id="76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72" idx="5"/>
            <a:endCxn id="73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79" idx="3"/>
            <a:endCxn id="73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73" idx="3"/>
            <a:endCxn id="74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76" idx="3"/>
            <a:endCxn id="75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78" idx="6"/>
            <a:endCxn id="81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81" idx="7"/>
            <a:endCxn id="84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81" idx="4"/>
            <a:endCxn id="80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83" idx="3"/>
            <a:endCxn id="80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76" idx="5"/>
            <a:endCxn id="77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82" idx="6"/>
            <a:endCxn id="84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74" idx="5"/>
            <a:endCxn id="75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76" idx="1"/>
            <a:endCxn id="73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77" idx="6"/>
            <a:endCxn id="80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/>
          <p:cNvCxnSpPr>
            <a:stCxn id="103" idx="1"/>
            <a:endCxn id="102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54583" y="199275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05872" y="203530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800715" y="326432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81449" y="391038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74876" y="277223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29416" y="476281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82330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51042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575202" y="190349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0981" y="5155988"/>
            <a:ext cx="18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Level 0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Level 1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4069080" y="2208152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2309600" y="5461258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982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/>
      <p:bldP spid="125" grpId="0" animBg="1"/>
      <p:bldP spid="1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50981" y="5155988"/>
            <a:ext cx="184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Level 0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Level 1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4069080" y="2208152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136" name="Group 135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137" name="Rectangle 136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4944106" y="5990302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Frontier: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141" name="Group 140"/>
          <p:cNvGrpSpPr>
            <a:grpSpLocks noChangeAspect="1"/>
          </p:cNvGrpSpPr>
          <p:nvPr/>
        </p:nvGrpSpPr>
        <p:grpSpPr>
          <a:xfrm>
            <a:off x="6434310" y="5946368"/>
            <a:ext cx="2468880" cy="457200"/>
            <a:chOff x="523568" y="5909520"/>
            <a:chExt cx="3316815" cy="614225"/>
          </a:xfrm>
        </p:grpSpPr>
        <p:sp>
          <p:nvSpPr>
            <p:cNvPr id="142" name="Rectangle 141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/>
            <p:cNvSpPr/>
            <p:nvPr/>
          </p:nvSpPr>
          <p:spPr>
            <a:xfrm>
              <a:off x="1171287" y="5988033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/>
            <p:cNvSpPr/>
            <p:nvPr/>
          </p:nvSpPr>
          <p:spPr>
            <a:xfrm>
              <a:off x="1713218" y="5988033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/>
            <p:cNvSpPr/>
            <p:nvPr/>
          </p:nvSpPr>
          <p:spPr>
            <a:xfrm>
              <a:off x="2255148" y="5988033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0" name="Freeform 149"/>
          <p:cNvSpPr/>
          <p:nvPr/>
        </p:nvSpPr>
        <p:spPr>
          <a:xfrm>
            <a:off x="2309600" y="5461258"/>
            <a:ext cx="45720" cy="45720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151" name="Oval 150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/>
          <p:cNvCxnSpPr>
            <a:stCxn id="157" idx="7"/>
            <a:endCxn id="161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158" idx="6"/>
            <a:endCxn id="161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8" idx="5"/>
            <a:endCxn id="157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stCxn id="157" idx="3"/>
            <a:endCxn id="155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151" idx="5"/>
            <a:endCxn id="152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58" idx="3"/>
            <a:endCxn id="152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stCxn id="152" idx="3"/>
            <a:endCxn id="153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155" idx="3"/>
            <a:endCxn id="154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>
            <a:stCxn id="157" idx="6"/>
            <a:endCxn id="160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stCxn id="160" idx="7"/>
            <a:endCxn id="163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60" idx="4"/>
            <a:endCxn id="159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>
            <a:stCxn id="162" idx="3"/>
            <a:endCxn id="159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55" idx="5"/>
            <a:endCxn id="156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>
            <a:stCxn id="161" idx="6"/>
            <a:endCxn id="163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3" idx="5"/>
            <a:endCxn id="154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55" idx="1"/>
            <a:endCxn id="152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56" idx="6"/>
            <a:endCxn id="159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/>
          <p:cNvCxnSpPr>
            <a:stCxn id="182" idx="1"/>
            <a:endCxn id="181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074876" y="277223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029416" y="476281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782330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451042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575202" y="190349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09489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151" name="Oval 150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4" name="Straight Connector 163"/>
          <p:cNvCxnSpPr>
            <a:stCxn id="157" idx="7"/>
            <a:endCxn id="161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158" idx="6"/>
            <a:endCxn id="161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8" idx="5"/>
            <a:endCxn id="157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stCxn id="157" idx="3"/>
            <a:endCxn id="155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151" idx="5"/>
            <a:endCxn id="152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58" idx="3"/>
            <a:endCxn id="152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stCxn id="152" idx="3"/>
            <a:endCxn id="153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155" idx="3"/>
            <a:endCxn id="154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>
            <a:stCxn id="157" idx="6"/>
            <a:endCxn id="160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/>
          <p:cNvCxnSpPr>
            <a:stCxn id="160" idx="7"/>
            <a:endCxn id="163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stCxn id="160" idx="4"/>
            <a:endCxn id="159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/>
          <p:cNvCxnSpPr>
            <a:stCxn id="162" idx="3"/>
            <a:endCxn id="159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55" idx="5"/>
            <a:endCxn id="156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>
            <a:stCxn id="161" idx="6"/>
            <a:endCxn id="163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3" idx="5"/>
            <a:endCxn id="154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55" idx="1"/>
            <a:endCxn id="152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56" idx="6"/>
            <a:endCxn id="159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3" name="Straight Connector 182"/>
          <p:cNvCxnSpPr>
            <a:stCxn id="182" idx="1"/>
            <a:endCxn id="181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TextBox 185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074876" y="2772231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029416" y="476281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782330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451042" y="472439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575202" y="190349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2925044" y="1101547"/>
            <a:ext cx="2866156" cy="2333498"/>
            <a:chOff x="2925044" y="1485747"/>
            <a:chExt cx="2866156" cy="2333498"/>
          </a:xfrm>
        </p:grpSpPr>
        <p:sp>
          <p:nvSpPr>
            <p:cNvPr id="73" name="Freeform 72"/>
            <p:cNvSpPr/>
            <p:nvPr/>
          </p:nvSpPr>
          <p:spPr>
            <a:xfrm>
              <a:off x="3398178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>
              <a:off x="5071075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Freeform 74"/>
            <p:cNvSpPr/>
            <p:nvPr/>
          </p:nvSpPr>
          <p:spPr>
            <a:xfrm>
              <a:off x="5745480" y="276949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6" name="Freeform 75"/>
            <p:cNvSpPr/>
            <p:nvPr/>
          </p:nvSpPr>
          <p:spPr>
            <a:xfrm>
              <a:off x="2925044" y="336204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7" name="Group 76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78" name="Rectangle 77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2309600" y="5461258"/>
            <a:ext cx="1257963" cy="457200"/>
            <a:chOff x="2309600" y="5845458"/>
            <a:chExt cx="1257963" cy="457200"/>
          </a:xfrm>
        </p:grpSpPr>
        <p:sp>
          <p:nvSpPr>
            <p:cNvPr id="85" name="Freeform 84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7" name="Freeform 86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8" name="Freeform 87"/>
            <p:cNvSpPr/>
            <p:nvPr/>
          </p:nvSpPr>
          <p:spPr>
            <a:xfrm>
              <a:off x="3521843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89" name="TextBox 88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38447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Level 1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</a:p>
        </p:txBody>
      </p: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126" name="Rectangle 125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4944106" y="5990302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Frontier: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119" name="Group 118"/>
          <p:cNvGrpSpPr>
            <a:grpSpLocks noChangeAspect="1"/>
          </p:cNvGrpSpPr>
          <p:nvPr/>
        </p:nvGrpSpPr>
        <p:grpSpPr>
          <a:xfrm>
            <a:off x="6434310" y="5946368"/>
            <a:ext cx="2468880" cy="457200"/>
            <a:chOff x="523568" y="5909520"/>
            <a:chExt cx="3316815" cy="614225"/>
          </a:xfrm>
        </p:grpSpPr>
        <p:sp>
          <p:nvSpPr>
            <p:cNvPr id="120" name="Rectangle 119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/>
            <p:cNvSpPr/>
            <p:nvPr/>
          </p:nvSpPr>
          <p:spPr>
            <a:xfrm>
              <a:off x="2796374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309600" y="5461258"/>
            <a:ext cx="1257963" cy="457200"/>
            <a:chOff x="2309600" y="5845458"/>
            <a:chExt cx="1257963" cy="457200"/>
          </a:xfrm>
        </p:grpSpPr>
        <p:sp>
          <p:nvSpPr>
            <p:cNvPr id="133" name="Freeform 132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3521843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2925044" y="1101547"/>
            <a:ext cx="2866156" cy="2333498"/>
            <a:chOff x="2925044" y="1485747"/>
            <a:chExt cx="2866156" cy="2333498"/>
          </a:xfrm>
        </p:grpSpPr>
        <p:sp>
          <p:nvSpPr>
            <p:cNvPr id="158" name="Freeform 157"/>
            <p:cNvSpPr/>
            <p:nvPr/>
          </p:nvSpPr>
          <p:spPr>
            <a:xfrm>
              <a:off x="3398178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9" name="Freeform 158"/>
            <p:cNvSpPr/>
            <p:nvPr/>
          </p:nvSpPr>
          <p:spPr>
            <a:xfrm>
              <a:off x="5071075" y="148574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0" name="Freeform 159"/>
            <p:cNvSpPr/>
            <p:nvPr/>
          </p:nvSpPr>
          <p:spPr>
            <a:xfrm>
              <a:off x="5745480" y="276949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2925044" y="3362045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62" name="Oval 161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/>
          <p:cNvCxnSpPr>
            <a:stCxn id="168" idx="7"/>
            <a:endCxn id="172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69" idx="6"/>
            <a:endCxn id="172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>
            <a:stCxn id="169" idx="5"/>
            <a:endCxn id="168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68" idx="3"/>
            <a:endCxn id="166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62" idx="5"/>
            <a:endCxn id="163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69" idx="3"/>
            <a:endCxn id="163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63" idx="3"/>
            <a:endCxn id="164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66" idx="3"/>
            <a:endCxn id="165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68" idx="6"/>
            <a:endCxn id="171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71" idx="7"/>
            <a:endCxn id="174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71" idx="4"/>
            <a:endCxn id="170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3" idx="3"/>
            <a:endCxn id="170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66" idx="5"/>
            <a:endCxn id="167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2" idx="6"/>
            <a:endCxn id="174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stCxn id="164" idx="5"/>
            <a:endCxn id="165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66" idx="1"/>
            <a:endCxn id="163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67" idx="6"/>
            <a:endCxn id="170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4" name="Straight Connector 193"/>
          <p:cNvCxnSpPr>
            <a:stCxn id="193" idx="1"/>
            <a:endCxn id="192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84749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162" name="Oval 161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/>
          <p:cNvCxnSpPr>
            <a:stCxn id="168" idx="7"/>
            <a:endCxn id="172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69" idx="6"/>
            <a:endCxn id="172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/>
          <p:cNvCxnSpPr>
            <a:stCxn id="169" idx="5"/>
            <a:endCxn id="168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68" idx="3"/>
            <a:endCxn id="166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62" idx="5"/>
            <a:endCxn id="163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69" idx="3"/>
            <a:endCxn id="163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63" idx="3"/>
            <a:endCxn id="164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66" idx="3"/>
            <a:endCxn id="165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68" idx="6"/>
            <a:endCxn id="171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71" idx="7"/>
            <a:endCxn id="174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71" idx="4"/>
            <a:endCxn id="170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3" idx="3"/>
            <a:endCxn id="170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66" idx="5"/>
            <a:endCxn id="167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2" idx="6"/>
            <a:endCxn id="174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stCxn id="164" idx="5"/>
            <a:endCxn id="165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66" idx="1"/>
            <a:endCxn id="163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67" idx="6"/>
            <a:endCxn id="170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4" name="Straight Connector 193"/>
          <p:cNvCxnSpPr>
            <a:stCxn id="193" idx="1"/>
            <a:endCxn id="192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TextBox 196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306300" y="190426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74717" y="3528270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177165" y="388732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Level 3</a:t>
            </a:r>
          </a:p>
        </p:txBody>
      </p:sp>
      <p:grpSp>
        <p:nvGrpSpPr>
          <p:cNvPr id="82" name="Group 81"/>
          <p:cNvGrpSpPr/>
          <p:nvPr/>
        </p:nvGrpSpPr>
        <p:grpSpPr>
          <a:xfrm>
            <a:off x="2134290" y="990087"/>
            <a:ext cx="4571310" cy="3336387"/>
            <a:chOff x="2134290" y="1374287"/>
            <a:chExt cx="4571310" cy="3336387"/>
          </a:xfrm>
        </p:grpSpPr>
        <p:sp>
          <p:nvSpPr>
            <p:cNvPr id="83" name="Freeform 82"/>
            <p:cNvSpPr/>
            <p:nvPr/>
          </p:nvSpPr>
          <p:spPr>
            <a:xfrm>
              <a:off x="6659880" y="137428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4" name="Freeform 83"/>
            <p:cNvSpPr/>
            <p:nvPr/>
          </p:nvSpPr>
          <p:spPr>
            <a:xfrm>
              <a:off x="2365423" y="224074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5" name="Freeform 84"/>
            <p:cNvSpPr/>
            <p:nvPr/>
          </p:nvSpPr>
          <p:spPr>
            <a:xfrm>
              <a:off x="5451234" y="423126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>
              <a:off x="3839656" y="422764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7" name="Freeform 86"/>
            <p:cNvSpPr/>
            <p:nvPr/>
          </p:nvSpPr>
          <p:spPr>
            <a:xfrm>
              <a:off x="2134290" y="42534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88" name="Group 87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89" name="Rectangle 88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/>
            <p:cNvSpPr/>
            <p:nvPr/>
          </p:nvSpPr>
          <p:spPr>
            <a:xfrm>
              <a:off x="2796374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5" name="TextBox 94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96" name="Group 95"/>
          <p:cNvGrpSpPr/>
          <p:nvPr/>
        </p:nvGrpSpPr>
        <p:grpSpPr>
          <a:xfrm>
            <a:off x="2309600" y="5461258"/>
            <a:ext cx="1662045" cy="457200"/>
            <a:chOff x="2309600" y="5845458"/>
            <a:chExt cx="1662045" cy="457200"/>
          </a:xfrm>
        </p:grpSpPr>
        <p:sp>
          <p:nvSpPr>
            <p:cNvPr id="97" name="Freeform 96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3521843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3925925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85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Level 2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Level 3</a:t>
            </a:r>
          </a:p>
        </p:txBody>
      </p:sp>
      <p:grpSp>
        <p:nvGrpSpPr>
          <p:cNvPr id="117" name="Group 116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127" name="Rectangle 126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/>
            <p:cNvSpPr/>
            <p:nvPr/>
          </p:nvSpPr>
          <p:spPr>
            <a:xfrm>
              <a:off x="2254443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/>
            <p:cNvSpPr/>
            <p:nvPr/>
          </p:nvSpPr>
          <p:spPr>
            <a:xfrm>
              <a:off x="2796374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4944106" y="5990302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Frontier: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120" name="Group 119"/>
          <p:cNvGrpSpPr>
            <a:grpSpLocks noChangeAspect="1"/>
          </p:cNvGrpSpPr>
          <p:nvPr/>
        </p:nvGrpSpPr>
        <p:grpSpPr>
          <a:xfrm>
            <a:off x="6434310" y="5946368"/>
            <a:ext cx="2468880" cy="457200"/>
            <a:chOff x="523568" y="5909520"/>
            <a:chExt cx="3316815" cy="614225"/>
          </a:xfrm>
        </p:grpSpPr>
        <p:sp>
          <p:nvSpPr>
            <p:cNvPr id="121" name="Rectangle 120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2309600" y="5461258"/>
            <a:ext cx="1662045" cy="457200"/>
            <a:chOff x="2309600" y="5845458"/>
            <a:chExt cx="1662045" cy="457200"/>
          </a:xfrm>
        </p:grpSpPr>
        <p:sp>
          <p:nvSpPr>
            <p:cNvPr id="134" name="Freeform 133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3521843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3925925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2134290" y="990087"/>
            <a:ext cx="4571310" cy="3336387"/>
            <a:chOff x="2134290" y="1374287"/>
            <a:chExt cx="4571310" cy="3336387"/>
          </a:xfrm>
        </p:grpSpPr>
        <p:sp>
          <p:nvSpPr>
            <p:cNvPr id="160" name="Freeform 159"/>
            <p:cNvSpPr/>
            <p:nvPr/>
          </p:nvSpPr>
          <p:spPr>
            <a:xfrm>
              <a:off x="6659880" y="137428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>
              <a:off x="2365423" y="2240746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5451234" y="4231262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3839656" y="4227641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2134290" y="4253474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65" name="Oval 164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/>
          <p:cNvCxnSpPr>
            <a:stCxn id="171" idx="7"/>
            <a:endCxn id="175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72" idx="6"/>
            <a:endCxn id="175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72" idx="5"/>
            <a:endCxn id="171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71" idx="3"/>
            <a:endCxn id="169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65" idx="5"/>
            <a:endCxn id="166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72" idx="3"/>
            <a:endCxn id="166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66" idx="3"/>
            <a:endCxn id="167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69" idx="3"/>
            <a:endCxn id="168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1" idx="6"/>
            <a:endCxn id="174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74" idx="7"/>
            <a:endCxn id="177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4" idx="4"/>
            <a:endCxn id="173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stCxn id="176" idx="3"/>
            <a:endCxn id="173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69" idx="5"/>
            <a:endCxn id="170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75" idx="6"/>
            <a:endCxn id="177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167" idx="5"/>
            <a:endCxn id="168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169" idx="1"/>
            <a:endCxn id="166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170" idx="6"/>
            <a:endCxn id="173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Connector 196"/>
          <p:cNvCxnSpPr>
            <a:stCxn id="196" idx="1"/>
            <a:endCxn id="19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44772" y="190426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13189" y="352827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215637" y="388732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58694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165" name="Oval 164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8" name="Straight Connector 177"/>
          <p:cNvCxnSpPr>
            <a:stCxn id="171" idx="7"/>
            <a:endCxn id="175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>
            <a:stCxn id="172" idx="6"/>
            <a:endCxn id="175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72" idx="5"/>
            <a:endCxn id="171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/>
          <p:cNvCxnSpPr>
            <a:stCxn id="171" idx="3"/>
            <a:endCxn id="169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65" idx="5"/>
            <a:endCxn id="166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>
            <a:stCxn id="172" idx="3"/>
            <a:endCxn id="166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66" idx="3"/>
            <a:endCxn id="167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>
            <a:stCxn id="169" idx="3"/>
            <a:endCxn id="168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1" idx="6"/>
            <a:endCxn id="174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>
            <a:stCxn id="174" idx="7"/>
            <a:endCxn id="177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4" idx="4"/>
            <a:endCxn id="173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stCxn id="176" idx="3"/>
            <a:endCxn id="173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69" idx="5"/>
            <a:endCxn id="170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/>
          <p:cNvCxnSpPr>
            <a:stCxn id="175" idx="6"/>
            <a:endCxn id="177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167" idx="5"/>
            <a:endCxn id="168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169" idx="1"/>
            <a:endCxn id="166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>
            <a:stCxn id="170" idx="6"/>
            <a:endCxn id="173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Connector 196"/>
          <p:cNvCxnSpPr>
            <a:stCxn id="196" idx="1"/>
            <a:endCxn id="195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344772" y="190426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113189" y="352827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215637" y="388732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Level 3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Level 4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1269638" y="956620"/>
            <a:ext cx="5968303" cy="2506987"/>
            <a:chOff x="1269638" y="1340820"/>
            <a:chExt cx="5968303" cy="2506987"/>
          </a:xfrm>
        </p:grpSpPr>
        <p:sp>
          <p:nvSpPr>
            <p:cNvPr id="84" name="Freeform 83"/>
            <p:cNvSpPr/>
            <p:nvPr/>
          </p:nvSpPr>
          <p:spPr>
            <a:xfrm>
              <a:off x="1524000" y="134082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5" name="Freeform 84"/>
            <p:cNvSpPr/>
            <p:nvPr/>
          </p:nvSpPr>
          <p:spPr>
            <a:xfrm>
              <a:off x="1269638" y="29809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6" name="Freeform 85"/>
            <p:cNvSpPr/>
            <p:nvPr/>
          </p:nvSpPr>
          <p:spPr>
            <a:xfrm>
              <a:off x="7192221" y="339060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87" name="Group 86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88" name="Rectangle 87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2309600" y="5461258"/>
            <a:ext cx="853882" cy="457200"/>
            <a:chOff x="2309600" y="5845458"/>
            <a:chExt cx="853882" cy="457200"/>
          </a:xfrm>
        </p:grpSpPr>
        <p:sp>
          <p:nvSpPr>
            <p:cNvPr id="94" name="Freeform 93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060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0977" y="5155988"/>
            <a:ext cx="18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Level 3 </a:t>
            </a:r>
            <a:r>
              <a:rPr lang="en-US" b="1" dirty="0"/>
              <a:t>=&gt;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Level 4</a:t>
            </a:r>
          </a:p>
        </p:txBody>
      </p:sp>
      <p:grpSp>
        <p:nvGrpSpPr>
          <p:cNvPr id="116" name="Group 115"/>
          <p:cNvGrpSpPr>
            <a:grpSpLocks noChangeAspect="1"/>
          </p:cNvGrpSpPr>
          <p:nvPr/>
        </p:nvGrpSpPr>
        <p:grpSpPr>
          <a:xfrm>
            <a:off x="2086786" y="5946368"/>
            <a:ext cx="2468880" cy="457200"/>
            <a:chOff x="523568" y="5909520"/>
            <a:chExt cx="3316815" cy="614225"/>
          </a:xfrm>
        </p:grpSpPr>
        <p:sp>
          <p:nvSpPr>
            <p:cNvPr id="126" name="Rectangle 125"/>
            <p:cNvSpPr/>
            <p:nvPr/>
          </p:nvSpPr>
          <p:spPr>
            <a:xfrm>
              <a:off x="523568" y="5909520"/>
              <a:ext cx="3316815" cy="6142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Oval 126"/>
            <p:cNvSpPr/>
            <p:nvPr/>
          </p:nvSpPr>
          <p:spPr>
            <a:xfrm>
              <a:off x="628650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/>
            <p:cNvSpPr/>
            <p:nvPr/>
          </p:nvSpPr>
          <p:spPr>
            <a:xfrm>
              <a:off x="1170581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/>
            <p:cNvSpPr/>
            <p:nvPr/>
          </p:nvSpPr>
          <p:spPr>
            <a:xfrm>
              <a:off x="1712512" y="5988032"/>
              <a:ext cx="457200" cy="457200"/>
            </a:xfrm>
            <a:prstGeom prst="ellips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4944106" y="5990302"/>
            <a:ext cx="1487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Frontier: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40811" y="5990302"/>
            <a:ext cx="184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Frontier: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34310" y="5946368"/>
            <a:ext cx="2468880" cy="457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" name="Group 131"/>
          <p:cNvGrpSpPr/>
          <p:nvPr/>
        </p:nvGrpSpPr>
        <p:grpSpPr>
          <a:xfrm>
            <a:off x="2309600" y="5461258"/>
            <a:ext cx="853882" cy="457200"/>
            <a:chOff x="2309600" y="5845458"/>
            <a:chExt cx="853882" cy="457200"/>
          </a:xfrm>
        </p:grpSpPr>
        <p:sp>
          <p:nvSpPr>
            <p:cNvPr id="133" name="Freeform 132"/>
            <p:cNvSpPr/>
            <p:nvPr/>
          </p:nvSpPr>
          <p:spPr>
            <a:xfrm>
              <a:off x="2309600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2713681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3117762" y="5845458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1269638" y="956620"/>
            <a:ext cx="5968303" cy="2506987"/>
            <a:chOff x="1269638" y="1340820"/>
            <a:chExt cx="5968303" cy="2506987"/>
          </a:xfrm>
        </p:grpSpPr>
        <p:sp>
          <p:nvSpPr>
            <p:cNvPr id="80" name="Freeform 79"/>
            <p:cNvSpPr/>
            <p:nvPr/>
          </p:nvSpPr>
          <p:spPr>
            <a:xfrm>
              <a:off x="1524000" y="1340820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1" name="Freeform 80"/>
            <p:cNvSpPr/>
            <p:nvPr/>
          </p:nvSpPr>
          <p:spPr>
            <a:xfrm>
              <a:off x="1269638" y="2980999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2" name="Freeform 81"/>
            <p:cNvSpPr/>
            <p:nvPr/>
          </p:nvSpPr>
          <p:spPr>
            <a:xfrm>
              <a:off x="7192221" y="3390607"/>
              <a:ext cx="45720" cy="45720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43" name="Oval 142"/>
          <p:cNvSpPr/>
          <p:nvPr/>
        </p:nvSpPr>
        <p:spPr>
          <a:xfrm>
            <a:off x="1295400" y="150851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2140974" y="23590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1066800" y="313329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1912374" y="4372155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2713703" y="3497084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>
            <a:off x="3647768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>
            <a:off x="3886200" y="2740000"/>
            <a:ext cx="457200" cy="457200"/>
          </a:xfrm>
          <a:prstGeom prst="ellipse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>
            <a:off x="3200400" y="15970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>
            <a:off x="5334000" y="43402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>
            <a:off x="5562600" y="2892400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>
            <a:off x="4886632" y="1624039"/>
            <a:ext cx="457200" cy="45720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>
            <a:off x="7086600" y="3497084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6477000" y="150851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/>
          <p:cNvCxnSpPr>
            <a:stCxn id="149" idx="7"/>
            <a:endCxn id="153" idx="3"/>
          </p:cNvCxnSpPr>
          <p:nvPr/>
        </p:nvCxnSpPr>
        <p:spPr>
          <a:xfrm flipV="1">
            <a:off x="4276445" y="2014284"/>
            <a:ext cx="677142" cy="79267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150" idx="6"/>
            <a:endCxn id="153" idx="2"/>
          </p:cNvCxnSpPr>
          <p:nvPr/>
        </p:nvCxnSpPr>
        <p:spPr>
          <a:xfrm>
            <a:off x="3657600" y="1825600"/>
            <a:ext cx="1229032" cy="270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>
            <a:stCxn id="150" idx="5"/>
            <a:endCxn id="149" idx="1"/>
          </p:cNvCxnSpPr>
          <p:nvPr/>
        </p:nvCxnSpPr>
        <p:spPr>
          <a:xfrm>
            <a:off x="3590645" y="1987245"/>
            <a:ext cx="362510" cy="81971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>
            <a:stCxn id="149" idx="3"/>
            <a:endCxn id="147" idx="7"/>
          </p:cNvCxnSpPr>
          <p:nvPr/>
        </p:nvCxnSpPr>
        <p:spPr>
          <a:xfrm flipH="1">
            <a:off x="3103948" y="3130245"/>
            <a:ext cx="849207" cy="43379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/>
          <p:cNvCxnSpPr>
            <a:stCxn id="143" idx="5"/>
            <a:endCxn id="144" idx="1"/>
          </p:cNvCxnSpPr>
          <p:nvPr/>
        </p:nvCxnSpPr>
        <p:spPr>
          <a:xfrm>
            <a:off x="1685645" y="1898755"/>
            <a:ext cx="522284" cy="52720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>
            <a:stCxn id="150" idx="3"/>
            <a:endCxn id="144" idx="6"/>
          </p:cNvCxnSpPr>
          <p:nvPr/>
        </p:nvCxnSpPr>
        <p:spPr>
          <a:xfrm flipH="1">
            <a:off x="2598174" y="1987245"/>
            <a:ext cx="669181" cy="60035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>
            <a:stCxn id="144" idx="3"/>
            <a:endCxn id="145" idx="7"/>
          </p:cNvCxnSpPr>
          <p:nvPr/>
        </p:nvCxnSpPr>
        <p:spPr>
          <a:xfrm flipH="1">
            <a:off x="1457045" y="2749245"/>
            <a:ext cx="750884" cy="4510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47" idx="3"/>
            <a:endCxn id="146" idx="7"/>
          </p:cNvCxnSpPr>
          <p:nvPr/>
        </p:nvCxnSpPr>
        <p:spPr>
          <a:xfrm flipH="1">
            <a:off x="2302619" y="3887329"/>
            <a:ext cx="478039" cy="55178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49" idx="6"/>
            <a:endCxn id="152" idx="2"/>
          </p:cNvCxnSpPr>
          <p:nvPr/>
        </p:nvCxnSpPr>
        <p:spPr>
          <a:xfrm>
            <a:off x="4343400" y="2968600"/>
            <a:ext cx="1219200" cy="1524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>
            <a:stCxn id="152" idx="7"/>
            <a:endCxn id="155" idx="3"/>
          </p:cNvCxnSpPr>
          <p:nvPr/>
        </p:nvCxnSpPr>
        <p:spPr>
          <a:xfrm flipV="1">
            <a:off x="5952845" y="1898755"/>
            <a:ext cx="591110" cy="106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/>
          <p:cNvCxnSpPr>
            <a:stCxn id="152" idx="4"/>
            <a:endCxn id="151" idx="0"/>
          </p:cNvCxnSpPr>
          <p:nvPr/>
        </p:nvCxnSpPr>
        <p:spPr>
          <a:xfrm flipH="1">
            <a:off x="5562600" y="3349600"/>
            <a:ext cx="228600" cy="9906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stCxn id="154" idx="3"/>
            <a:endCxn id="151" idx="7"/>
          </p:cNvCxnSpPr>
          <p:nvPr/>
        </p:nvCxnSpPr>
        <p:spPr>
          <a:xfrm flipH="1">
            <a:off x="5724245" y="3887329"/>
            <a:ext cx="1429310" cy="51982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>
            <a:stCxn id="147" idx="5"/>
            <a:endCxn id="148" idx="1"/>
          </p:cNvCxnSpPr>
          <p:nvPr/>
        </p:nvCxnSpPr>
        <p:spPr>
          <a:xfrm>
            <a:off x="3103948" y="3887329"/>
            <a:ext cx="610775" cy="51982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/>
          <p:cNvCxnSpPr>
            <a:stCxn id="153" idx="6"/>
            <a:endCxn id="155" idx="2"/>
          </p:cNvCxnSpPr>
          <p:nvPr/>
        </p:nvCxnSpPr>
        <p:spPr>
          <a:xfrm flipV="1">
            <a:off x="5343832" y="1737110"/>
            <a:ext cx="1133168" cy="11552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/>
          <p:cNvCxnSpPr>
            <a:stCxn id="145" idx="5"/>
            <a:endCxn id="146" idx="1"/>
          </p:cNvCxnSpPr>
          <p:nvPr/>
        </p:nvCxnSpPr>
        <p:spPr>
          <a:xfrm>
            <a:off x="1457045" y="3523535"/>
            <a:ext cx="522284" cy="91557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>
            <a:stCxn id="147" idx="1"/>
            <a:endCxn id="144" idx="4"/>
          </p:cNvCxnSpPr>
          <p:nvPr/>
        </p:nvCxnSpPr>
        <p:spPr>
          <a:xfrm flipH="1" flipV="1">
            <a:off x="2369574" y="2816200"/>
            <a:ext cx="411084" cy="74783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>
            <a:stCxn id="148" idx="6"/>
            <a:endCxn id="151" idx="2"/>
          </p:cNvCxnSpPr>
          <p:nvPr/>
        </p:nvCxnSpPr>
        <p:spPr>
          <a:xfrm>
            <a:off x="4104968" y="4568800"/>
            <a:ext cx="122903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7137880" y="235900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/>
          <p:cNvSpPr/>
          <p:nvPr/>
        </p:nvSpPr>
        <p:spPr>
          <a:xfrm>
            <a:off x="8182897" y="2889942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/>
          <p:cNvCxnSpPr>
            <a:stCxn id="174" idx="1"/>
            <a:endCxn id="173" idx="5"/>
          </p:cNvCxnSpPr>
          <p:nvPr/>
        </p:nvCxnSpPr>
        <p:spPr>
          <a:xfrm flipH="1" flipV="1">
            <a:off x="7528125" y="2749245"/>
            <a:ext cx="721727" cy="20765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523568" y="2182019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/>
          <p:cNvSpPr/>
          <p:nvPr/>
        </p:nvSpPr>
        <p:spPr>
          <a:xfrm>
            <a:off x="676555" y="4111600"/>
            <a:ext cx="457200" cy="4572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/>
          <p:cNvSpPr txBox="1"/>
          <p:nvPr/>
        </p:nvSpPr>
        <p:spPr>
          <a:xfrm>
            <a:off x="4200245" y="30835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293055" y="199275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44344" y="203530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839187" y="32643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819921" y="391038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113348" y="2772231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067888" y="476281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820802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489514" y="4724397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613674" y="190349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344772" y="190426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113189" y="3528270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215637" y="3887329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45119" y="257006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52168" y="4512627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177165" y="2760913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260602" y="3279696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405499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-23052" y="1613264"/>
            <a:ext cx="923620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bfs_kernel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level,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numPrevFrontier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numPrevFrontier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vertex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edge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[vertex]; edge &lt;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[vertex +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                          ++edge)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neighbor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csrGraph.dst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atomicCAS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(&amp;level[neighbor],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==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  <a:endParaRPr lang="en-US" sz="1200" dirty="0">
              <a:solidFill>
                <a:srgbClr val="00BFBF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neighbor;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299680" y="4975211"/>
            <a:ext cx="3088980" cy="923330"/>
          </a:xfrm>
          <a:prstGeom prst="callout1">
            <a:avLst>
              <a:gd name="adj1" fmla="val 5434"/>
              <a:gd name="adj2" fmla="val 34448"/>
              <a:gd name="adj3" fmla="val -157136"/>
              <a:gd name="adj4" fmla="val 38672"/>
            </a:avLst>
          </a:prstGeom>
          <a:noFill/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Ensure only one thread visits the neighbor to avoid adding it to the frontier multiple times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54055" y="4610076"/>
            <a:ext cx="2873828" cy="646331"/>
          </a:xfrm>
          <a:prstGeom prst="callout1">
            <a:avLst>
              <a:gd name="adj1" fmla="val 5434"/>
              <a:gd name="adj2" fmla="val 34448"/>
              <a:gd name="adj3" fmla="val -140492"/>
              <a:gd name="adj4" fmla="val -9991"/>
            </a:avLst>
          </a:prstGeom>
          <a:noFill/>
          <a:ln w="127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Avoid race conditions when adding to the frontier</a:t>
            </a:r>
          </a:p>
        </p:txBody>
      </p:sp>
    </p:spTree>
    <p:extLst>
      <p:ext uri="{BB962C8B-B14F-4D97-AF65-F5344CB8AC3E}">
        <p14:creationId xmlns:p14="http://schemas.microsoft.com/office/powerpoint/2010/main" val="373659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Adding Frontier Vertices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58294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>
            <a:endCxn id="20" idx="2"/>
          </p:cNvCxnSpPr>
          <p:nvPr/>
        </p:nvCxnSpPr>
        <p:spPr>
          <a:xfrm flipH="1" flipV="1">
            <a:off x="2086894" y="4677696"/>
            <a:ext cx="1140400" cy="3048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886200" y="4572000"/>
            <a:ext cx="0" cy="3810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810000" y="4449096"/>
            <a:ext cx="201278" cy="533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1858294" y="4220496"/>
          <a:ext cx="457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84677939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875156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11" idx="39"/>
          </p:cNvCxnSpPr>
          <p:nvPr/>
        </p:nvCxnSpPr>
        <p:spPr>
          <a:xfrm flipH="1">
            <a:off x="2064997" y="3505200"/>
            <a:ext cx="2247312" cy="95833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39"/>
          </p:cNvCxnSpPr>
          <p:nvPr/>
        </p:nvCxnSpPr>
        <p:spPr>
          <a:xfrm>
            <a:off x="1597837" y="3505200"/>
            <a:ext cx="473016" cy="95833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9"/>
          </p:cNvCxnSpPr>
          <p:nvPr/>
        </p:nvCxnSpPr>
        <p:spPr>
          <a:xfrm flipH="1">
            <a:off x="2064997" y="3505200"/>
            <a:ext cx="3604549" cy="943586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35107" y="4278868"/>
            <a:ext cx="16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race condition!</a:t>
            </a:r>
          </a:p>
        </p:txBody>
      </p:sp>
    </p:spTree>
    <p:extLst>
      <p:ext uri="{BB962C8B-B14F-4D97-AF65-F5344CB8AC3E}">
        <p14:creationId xmlns:p14="http://schemas.microsoft.com/office/powerpoint/2010/main" val="196436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Adding Frontier Vertices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58294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/>
          </p:nvPr>
        </p:nvGraphicFramePr>
        <p:xfrm>
          <a:off x="1860756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2667000" y="5518977"/>
            <a:ext cx="1517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write conflict!</a:t>
            </a:r>
          </a:p>
        </p:txBody>
      </p:sp>
      <p:cxnSp>
        <p:nvCxnSpPr>
          <p:cNvPr id="27" name="Straight Arrow Connector 26"/>
          <p:cNvCxnSpPr>
            <a:endCxn id="29" idx="2"/>
          </p:cNvCxnSpPr>
          <p:nvPr/>
        </p:nvCxnSpPr>
        <p:spPr>
          <a:xfrm flipH="1" flipV="1">
            <a:off x="2086894" y="4677696"/>
            <a:ext cx="1600200" cy="3048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/>
          <p:cNvGraphicFramePr>
            <a:graphicFrameLocks noGrp="1"/>
          </p:cNvGraphicFramePr>
          <p:nvPr>
            <p:extLst/>
          </p:nvPr>
        </p:nvGraphicFramePr>
        <p:xfrm>
          <a:off x="1858294" y="4220496"/>
          <a:ext cx="457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84677939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875156"/>
                  </a:ext>
                </a:extLst>
              </a:tr>
            </a:tbl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1597837" y="3505199"/>
            <a:ext cx="4071709" cy="1804468"/>
            <a:chOff x="1597837" y="3505200"/>
            <a:chExt cx="4071709" cy="1447800"/>
          </a:xfrm>
        </p:grpSpPr>
        <p:cxnSp>
          <p:nvCxnSpPr>
            <p:cNvPr id="30" name="Straight Arrow Connector 29"/>
            <p:cNvCxnSpPr>
              <a:stCxn id="11" idx="39"/>
            </p:cNvCxnSpPr>
            <p:nvPr/>
          </p:nvCxnSpPr>
          <p:spPr>
            <a:xfrm flipH="1">
              <a:off x="3410575" y="3505200"/>
              <a:ext cx="901734" cy="144780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5" idx="39"/>
            </p:cNvCxnSpPr>
            <p:nvPr/>
          </p:nvCxnSpPr>
          <p:spPr>
            <a:xfrm>
              <a:off x="1597837" y="3505200"/>
              <a:ext cx="1920240" cy="144780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4" idx="39"/>
            </p:cNvCxnSpPr>
            <p:nvPr/>
          </p:nvCxnSpPr>
          <p:spPr>
            <a:xfrm flipH="1">
              <a:off x="3410575" y="3505200"/>
              <a:ext cx="2258971" cy="144780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608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Adding Frontier Vertices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58294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Arrow Connector 28"/>
          <p:cNvCxnSpPr>
            <a:endCxn id="20" idx="2"/>
          </p:cNvCxnSpPr>
          <p:nvPr/>
        </p:nvCxnSpPr>
        <p:spPr>
          <a:xfrm flipH="1" flipV="1">
            <a:off x="2086894" y="4677696"/>
            <a:ext cx="1140400" cy="3048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886200" y="4572000"/>
            <a:ext cx="0" cy="38100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810000" y="4449096"/>
            <a:ext cx="201278" cy="533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858294" y="4220496"/>
          <a:ext cx="457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84677939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875156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stCxn id="11" idx="39"/>
            <a:endCxn id="1026" idx="1"/>
          </p:cNvCxnSpPr>
          <p:nvPr/>
        </p:nvCxnSpPr>
        <p:spPr>
          <a:xfrm flipH="1">
            <a:off x="2439125" y="3505200"/>
            <a:ext cx="1873184" cy="660217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5" idx="39"/>
          </p:cNvCxnSpPr>
          <p:nvPr/>
        </p:nvCxnSpPr>
        <p:spPr>
          <a:xfrm>
            <a:off x="1597837" y="3505200"/>
            <a:ext cx="473016" cy="95833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4" idx="39"/>
            <a:endCxn id="1026" idx="1"/>
          </p:cNvCxnSpPr>
          <p:nvPr/>
        </p:nvCxnSpPr>
        <p:spPr>
          <a:xfrm flipH="1">
            <a:off x="2439125" y="3505200"/>
            <a:ext cx="3230421" cy="660217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8112" y="4100036"/>
            <a:ext cx="1342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use atomics operations</a:t>
            </a:r>
          </a:p>
        </p:txBody>
      </p:sp>
      <p:pic>
        <p:nvPicPr>
          <p:cNvPr id="1026" name="Picture 2" descr="Image result for lock icon"/>
          <p:cNvPicPr>
            <a:picLocks noChangeAspect="1" noChangeArrowheads="1"/>
          </p:cNvPicPr>
          <p:nvPr/>
        </p:nvPicPr>
        <p:blipFill rotWithShape="1">
          <a:blip r:embed="rId2" cstate="hq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8" t="9239" r="14608" b="9239"/>
          <a:stretch/>
        </p:blipFill>
        <p:spPr bwMode="auto">
          <a:xfrm flipH="1">
            <a:off x="2239903" y="4050694"/>
            <a:ext cx="199222" cy="22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40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Frontier Privatization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threads atomically increment the same global counter to add elements to the frontier</a:t>
            </a:r>
          </a:p>
          <a:p>
            <a:pPr lvl="1"/>
            <a:r>
              <a:rPr lang="en-US" dirty="0"/>
              <a:t>High latency due to global memory access and serialization due to high contention</a:t>
            </a:r>
          </a:p>
          <a:p>
            <a:endParaRPr lang="en-US" dirty="0"/>
          </a:p>
          <a:p>
            <a:r>
              <a:rPr lang="en-US" dirty="0"/>
              <a:t>Optimization: privatization and shared memory</a:t>
            </a:r>
          </a:p>
          <a:p>
            <a:pPr lvl="1"/>
            <a:r>
              <a:rPr lang="en-US" dirty="0"/>
              <a:t>Each thread block maintains a private frontier in shared memory and commits entries to the global frontier upon completion</a:t>
            </a:r>
          </a:p>
        </p:txBody>
      </p:sp>
    </p:spTree>
    <p:extLst>
      <p:ext uri="{BB962C8B-B14F-4D97-AF65-F5344CB8AC3E}">
        <p14:creationId xmlns:p14="http://schemas.microsoft.com/office/powerpoint/2010/main" val="85315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Frontier Privatization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58294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943896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747460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51024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354588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984504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40"/>
          <p:cNvCxnSpPr/>
          <p:nvPr/>
        </p:nvCxnSpPr>
        <p:spPr>
          <a:xfrm flipV="1">
            <a:off x="1098756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2782988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Straight Arrow Connector 44"/>
          <p:cNvCxnSpPr/>
          <p:nvPr/>
        </p:nvCxnSpPr>
        <p:spPr>
          <a:xfrm flipV="1">
            <a:off x="2898060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581472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" name="Straight Arrow Connector 46"/>
          <p:cNvCxnSpPr/>
          <p:nvPr/>
        </p:nvCxnSpPr>
        <p:spPr>
          <a:xfrm flipV="1">
            <a:off x="4686252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6379956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Straight Arrow Connector 48"/>
          <p:cNvCxnSpPr/>
          <p:nvPr/>
        </p:nvCxnSpPr>
        <p:spPr>
          <a:xfrm flipV="1">
            <a:off x="6494208" y="3733800"/>
            <a:ext cx="0" cy="182880"/>
          </a:xfrm>
          <a:prstGeom prst="straightConnector1">
            <a:avLst/>
          </a:prstGeom>
          <a:ln w="12700">
            <a:solidFill>
              <a:srgbClr val="9966FF"/>
            </a:solidFill>
            <a:headEnd type="arrow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16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Frontier Privatization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8" name="Table 27"/>
          <p:cNvGraphicFramePr>
            <a:graphicFrameLocks noGrp="1"/>
          </p:cNvGraphicFramePr>
          <p:nvPr>
            <p:extLst/>
          </p:nvPr>
        </p:nvGraphicFramePr>
        <p:xfrm>
          <a:off x="1858294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943896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747460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51024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354588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984504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40"/>
          <p:cNvCxnSpPr/>
          <p:nvPr/>
        </p:nvCxnSpPr>
        <p:spPr>
          <a:xfrm flipV="1">
            <a:off x="1720644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2782988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Straight Arrow Connector 44"/>
          <p:cNvCxnSpPr/>
          <p:nvPr/>
        </p:nvCxnSpPr>
        <p:spPr>
          <a:xfrm flipV="1">
            <a:off x="3733800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581472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" name="Straight Arrow Connector 46"/>
          <p:cNvCxnSpPr/>
          <p:nvPr/>
        </p:nvCxnSpPr>
        <p:spPr>
          <a:xfrm flipV="1">
            <a:off x="5105400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6379956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Straight Arrow Connector 48"/>
          <p:cNvCxnSpPr/>
          <p:nvPr/>
        </p:nvCxnSpPr>
        <p:spPr>
          <a:xfrm flipV="1">
            <a:off x="7116096" y="3733800"/>
            <a:ext cx="0" cy="182880"/>
          </a:xfrm>
          <a:prstGeom prst="straightConnector1">
            <a:avLst/>
          </a:prstGeom>
          <a:ln w="12700">
            <a:solidFill>
              <a:srgbClr val="9966FF"/>
            </a:solidFill>
            <a:headEnd type="arrow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52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Frontier Privatization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52718" y="2015067"/>
            <a:ext cx="6948282" cy="1490133"/>
            <a:chOff x="2038879" y="3200400"/>
            <a:chExt cx="6543943" cy="1490133"/>
          </a:xfrm>
        </p:grpSpPr>
        <p:sp>
          <p:nvSpPr>
            <p:cNvPr id="4" name="Freeform 3"/>
            <p:cNvSpPr/>
            <p:nvPr/>
          </p:nvSpPr>
          <p:spPr>
            <a:xfrm>
              <a:off x="203887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246496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289104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331713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7432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416930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459538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502147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544755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87364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29972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672581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7124119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7564094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7962400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8402376" y="3200400"/>
              <a:ext cx="180446" cy="1490133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943896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747460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51024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354588" y="1905000"/>
            <a:ext cx="1737360" cy="1737360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/>
          </p:nvPr>
        </p:nvGraphicFramePr>
        <p:xfrm>
          <a:off x="984504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Arrow Connector 40"/>
          <p:cNvCxnSpPr/>
          <p:nvPr/>
        </p:nvCxnSpPr>
        <p:spPr>
          <a:xfrm flipV="1">
            <a:off x="1720644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/>
          </p:nvPr>
        </p:nvGraphicFramePr>
        <p:xfrm>
          <a:off x="2782988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Straight Arrow Connector 44"/>
          <p:cNvCxnSpPr/>
          <p:nvPr/>
        </p:nvCxnSpPr>
        <p:spPr>
          <a:xfrm flipV="1">
            <a:off x="3733800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>
            <p:extLst/>
          </p:nvPr>
        </p:nvGraphicFramePr>
        <p:xfrm>
          <a:off x="4581472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" name="Straight Arrow Connector 46"/>
          <p:cNvCxnSpPr/>
          <p:nvPr/>
        </p:nvCxnSpPr>
        <p:spPr>
          <a:xfrm flipV="1">
            <a:off x="5105400" y="3733800"/>
            <a:ext cx="0" cy="182880"/>
          </a:xfrm>
          <a:prstGeom prst="straightConnector1">
            <a:avLst/>
          </a:prstGeom>
          <a:ln w="12700">
            <a:headEnd type="arrow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/>
          </p:nvPr>
        </p:nvGraphicFramePr>
        <p:xfrm>
          <a:off x="6379956" y="3947652"/>
          <a:ext cx="1682496" cy="210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2062" marR="42062" marT="21031" marB="210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9" name="Straight Arrow Connector 48"/>
          <p:cNvCxnSpPr/>
          <p:nvPr/>
        </p:nvCxnSpPr>
        <p:spPr>
          <a:xfrm flipV="1">
            <a:off x="7116096" y="3733800"/>
            <a:ext cx="0" cy="182880"/>
          </a:xfrm>
          <a:prstGeom prst="straightConnector1">
            <a:avLst/>
          </a:prstGeom>
          <a:ln w="12700">
            <a:solidFill>
              <a:srgbClr val="9966FF"/>
            </a:solidFill>
            <a:headEnd type="arrow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1288557" y="4235244"/>
            <a:ext cx="5417043" cy="731520"/>
            <a:chOff x="1288557" y="4235244"/>
            <a:chExt cx="5417043" cy="731520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1288557" y="4235244"/>
              <a:ext cx="1280160" cy="7315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3200401" y="4235244"/>
              <a:ext cx="914399" cy="7315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4767811" y="4235244"/>
              <a:ext cx="651893" cy="7315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>
              <a:off x="6643761" y="4235244"/>
              <a:ext cx="61839" cy="731520"/>
            </a:xfrm>
            <a:prstGeom prst="straightConnector1">
              <a:avLst/>
            </a:prstGeom>
            <a:ln>
              <a:solidFill>
                <a:srgbClr val="9966FF"/>
              </a:solidFill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53" name="Table 52"/>
          <p:cNvGraphicFramePr>
            <a:graphicFrameLocks noGrp="1"/>
          </p:cNvGraphicFramePr>
          <p:nvPr>
            <p:extLst/>
          </p:nvPr>
        </p:nvGraphicFramePr>
        <p:xfrm>
          <a:off x="1860756" y="5029200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45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Vertex-Centric Frontier-Based BFS Code with Privatization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2514" y="487940"/>
            <a:ext cx="8098972" cy="624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bfs_kernel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* level,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numPrevFrontier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BF"/>
                </a:solidFill>
                <a:latin typeface="Lucida Console" panose="020B0609040504020204" pitchFamily="49" charset="0"/>
              </a:rPr>
              <a:t>// Initialize privatized frontier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[LOCAL_FRONTIER_CAPACITY];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BF"/>
                </a:solidFill>
                <a:latin typeface="Lucida Console" panose="020B0609040504020204" pitchFamily="49" charset="0"/>
              </a:rPr>
              <a:t>// Perform BFS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numPrevFrontier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vertex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prevFrontier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edge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[vertex]; edge &lt;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csrGraph.srcPtrs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[vertex +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]; ++edge)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neighbor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csrGraph.dst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[edge];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atomicCAS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(&amp;level[neighbor],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currLevel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==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UINT_MAX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 </a:t>
            </a:r>
            <a:r>
              <a:rPr lang="en-US" sz="850" dirty="0">
                <a:solidFill>
                  <a:srgbClr val="00BFBF"/>
                </a:solidFill>
                <a:latin typeface="Lucida Console" panose="020B0609040504020204" pitchFamily="49" charset="0"/>
              </a:rPr>
              <a:t>// Vertex not previously visited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(&amp;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&lt; LOCAL_FRONTIER_CAPACITY)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 = neighbor;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}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LOCAL_FRONTIER_CAPACITY;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 = neighbor;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BF"/>
                </a:solidFill>
                <a:latin typeface="Lucida Console" panose="020B0609040504020204" pitchFamily="49" charset="0"/>
              </a:rPr>
              <a:t>// Allocate in global frontier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currFrontierStartIdx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currFrontierStartIdx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atomicAdd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00BFBF"/>
                </a:solidFill>
                <a:latin typeface="Lucida Console" panose="020B0609040504020204" pitchFamily="49" charset="0"/>
              </a:rPr>
              <a:t>// Commit to global frontier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85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numCurrFrontier_s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                                                       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+= </a:t>
            </a:r>
            <a:r>
              <a:rPr lang="en-US" sz="85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currFrontierStartIdx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85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currFrontierIdx_s</a:t>
            </a:r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85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85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823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Minimizing Launch Overhead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Need to synchronize between levels</a:t>
            </a:r>
          </a:p>
          <a:p>
            <a:pPr lvl="1"/>
            <a:r>
              <a:rPr lang="en-US" dirty="0"/>
              <a:t>Wait for all threads to add all vertices in the current level to the frontier before proceeding to the next level</a:t>
            </a:r>
          </a:p>
          <a:p>
            <a:endParaRPr lang="en-US" sz="1050" dirty="0"/>
          </a:p>
          <a:p>
            <a:r>
              <a:rPr lang="en-US" dirty="0"/>
              <a:t>So far, we have launched a new grid for each level</a:t>
            </a:r>
          </a:p>
          <a:p>
            <a:pPr lvl="1"/>
            <a:r>
              <a:rPr lang="en-US" dirty="0"/>
              <a:t>Overhead of launching new grid and copying counter</a:t>
            </a:r>
          </a:p>
          <a:p>
            <a:endParaRPr lang="en-US" sz="1050" dirty="0"/>
          </a:p>
          <a:p>
            <a:r>
              <a:rPr lang="en-US" dirty="0"/>
              <a:t>Optimization: If consecutive levels have few enough vertices that can be executed by one thread block:</a:t>
            </a:r>
          </a:p>
          <a:p>
            <a:pPr lvl="1"/>
            <a:r>
              <a:rPr lang="en-US" dirty="0"/>
              <a:t>Execute multiple levels in one single-block grid and synchronize between levels using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syncthreads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Reduces total number of number of grid launches</a:t>
            </a:r>
          </a:p>
        </p:txBody>
      </p:sp>
    </p:spTree>
    <p:extLst>
      <p:ext uri="{BB962C8B-B14F-4D97-AF65-F5344CB8AC3E}">
        <p14:creationId xmlns:p14="http://schemas.microsoft.com/office/powerpoint/2010/main" val="894616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Minimizing Launch Overhead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97806" y="991033"/>
            <a:ext cx="3595193" cy="5306264"/>
            <a:chOff x="797806" y="1505861"/>
            <a:chExt cx="3595193" cy="5306264"/>
          </a:xfrm>
        </p:grpSpPr>
        <p:grpSp>
          <p:nvGrpSpPr>
            <p:cNvPr id="31" name="Group 30"/>
            <p:cNvGrpSpPr/>
            <p:nvPr/>
          </p:nvGrpSpPr>
          <p:grpSpPr>
            <a:xfrm>
              <a:off x="1606975" y="1505861"/>
              <a:ext cx="585087" cy="585088"/>
              <a:chOff x="943896" y="1905001"/>
              <a:chExt cx="888993" cy="888993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5" name="Freeform 4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" name="Freeform 5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" name="Freeform 6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" name="Freeform 7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21" name="Rectangle 20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606975" y="2216067"/>
              <a:ext cx="585087" cy="585088"/>
              <a:chOff x="943896" y="1905001"/>
              <a:chExt cx="888993" cy="888993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35" name="Freeform 34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6" name="Freeform 35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34" name="Rectangle 33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1606975" y="2926272"/>
              <a:ext cx="585087" cy="585088"/>
              <a:chOff x="943896" y="1905001"/>
              <a:chExt cx="888993" cy="888993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42" name="Freeform 41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3" name="Freeform 42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4" name="Freeform 43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" name="Freeform 44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41" name="Rectangle 40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305651" y="2926272"/>
              <a:ext cx="585087" cy="585088"/>
              <a:chOff x="943896" y="1905001"/>
              <a:chExt cx="888993" cy="888993"/>
            </a:xfrm>
          </p:grpSpPr>
          <p:grpSp>
            <p:nvGrpSpPr>
              <p:cNvPr id="47" name="Group 46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49" name="Freeform 48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2" name="Freeform 51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48" name="Rectangle 47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1606975" y="3636478"/>
              <a:ext cx="585087" cy="585088"/>
              <a:chOff x="943896" y="1905001"/>
              <a:chExt cx="888993" cy="888993"/>
            </a:xfrm>
          </p:grpSpPr>
          <p:grpSp>
            <p:nvGrpSpPr>
              <p:cNvPr id="61" name="Group 60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63" name="Freeform 62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4" name="Freeform 63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5" name="Freeform 64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62" name="Rectangle 61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2305651" y="3636478"/>
              <a:ext cx="585087" cy="585088"/>
              <a:chOff x="943896" y="1905001"/>
              <a:chExt cx="888993" cy="888993"/>
            </a:xfrm>
          </p:grpSpPr>
          <p:grpSp>
            <p:nvGrpSpPr>
              <p:cNvPr id="68" name="Group 67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70" name="Freeform 69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1" name="Freeform 70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2" name="Freeform 71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3" name="Freeform 72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69" name="Rectangle 68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3004327" y="3636478"/>
              <a:ext cx="585087" cy="585088"/>
              <a:chOff x="943896" y="1905001"/>
              <a:chExt cx="888993" cy="888993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77" name="Freeform 76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8" name="Freeform 77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79" name="Freeform 78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0" name="Freeform 79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76" name="Rectangle 75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1606975" y="4346683"/>
              <a:ext cx="585087" cy="585088"/>
              <a:chOff x="943896" y="1905001"/>
              <a:chExt cx="888993" cy="888993"/>
            </a:xfrm>
          </p:grpSpPr>
          <p:grpSp>
            <p:nvGrpSpPr>
              <p:cNvPr id="82" name="Group 81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84" name="Freeform 83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5" name="Freeform 84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6" name="Freeform 85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87" name="Freeform 86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83" name="Rectangle 82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2305651" y="4346683"/>
              <a:ext cx="585087" cy="585088"/>
              <a:chOff x="943896" y="1905001"/>
              <a:chExt cx="888993" cy="888993"/>
            </a:xfrm>
          </p:grpSpPr>
          <p:grpSp>
            <p:nvGrpSpPr>
              <p:cNvPr id="89" name="Group 88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91" name="Freeform 90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2" name="Freeform 91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3" name="Freeform 92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4" name="Freeform 93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90" name="Rectangle 89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1606975" y="5056889"/>
              <a:ext cx="585087" cy="585088"/>
              <a:chOff x="943896" y="1905001"/>
              <a:chExt cx="888993" cy="888993"/>
            </a:xfrm>
          </p:grpSpPr>
          <p:grpSp>
            <p:nvGrpSpPr>
              <p:cNvPr id="96" name="Group 95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98" name="Freeform 97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99" name="Freeform 98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0" name="Freeform 99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1" name="Freeform 100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97" name="Rectangle 96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1606975" y="5767093"/>
              <a:ext cx="585087" cy="585088"/>
              <a:chOff x="943896" y="1905001"/>
              <a:chExt cx="888993" cy="888993"/>
            </a:xfrm>
          </p:grpSpPr>
          <p:grpSp>
            <p:nvGrpSpPr>
              <p:cNvPr id="103" name="Group 102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05" name="Freeform 104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6" name="Freeform 105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7" name="Freeform 106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08" name="Freeform 107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3703003" y="3636478"/>
              <a:ext cx="585087" cy="585088"/>
              <a:chOff x="943896" y="1905001"/>
              <a:chExt cx="888993" cy="888993"/>
            </a:xfrm>
          </p:grpSpPr>
          <p:grpSp>
            <p:nvGrpSpPr>
              <p:cNvPr id="111" name="Group 110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13" name="Freeform 112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4" name="Freeform 113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5" name="Freeform 114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16" name="Freeform 115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12" name="Rectangle 111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7" name="Group 116"/>
            <p:cNvGrpSpPr/>
            <p:nvPr/>
          </p:nvGrpSpPr>
          <p:grpSpPr>
            <a:xfrm>
              <a:off x="3004327" y="4346683"/>
              <a:ext cx="585087" cy="585088"/>
              <a:chOff x="943896" y="1905001"/>
              <a:chExt cx="888993" cy="888993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20" name="Freeform 119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21" name="Freeform 120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22" name="Freeform 121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23" name="Freeform 122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19" name="Rectangle 118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6" name="Straight Connector 125"/>
            <p:cNvCxnSpPr/>
            <p:nvPr/>
          </p:nvCxnSpPr>
          <p:spPr>
            <a:xfrm flipV="1">
              <a:off x="797806" y="4284125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 flipV="1">
              <a:off x="797806" y="3573919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797806" y="2863714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797806" y="2153508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797806" y="4994330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97806" y="5704535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847128" y="1626699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0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47128" y="2336905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1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847128" y="3047110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2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47128" y="3757316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3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847128" y="4467521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4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847128" y="5177725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5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847128" y="5887930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6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815228" y="6442793"/>
              <a:ext cx="35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Launching a new grid for each level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873865" y="991033"/>
            <a:ext cx="3595193" cy="5306264"/>
            <a:chOff x="4873865" y="1505861"/>
            <a:chExt cx="3595193" cy="5306264"/>
          </a:xfrm>
        </p:grpSpPr>
        <p:grpSp>
          <p:nvGrpSpPr>
            <p:cNvPr id="142" name="Group 141"/>
            <p:cNvGrpSpPr/>
            <p:nvPr/>
          </p:nvGrpSpPr>
          <p:grpSpPr>
            <a:xfrm>
              <a:off x="5683034" y="1505861"/>
              <a:ext cx="585087" cy="1295294"/>
              <a:chOff x="943896" y="1905001"/>
              <a:chExt cx="888993" cy="888993"/>
            </a:xfrm>
          </p:grpSpPr>
          <p:grpSp>
            <p:nvGrpSpPr>
              <p:cNvPr id="143" name="Group 142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45" name="Freeform 144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46" name="Freeform 145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47" name="Freeform 146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48" name="Freeform 147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44" name="Rectangle 143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/>
            <p:cNvGrpSpPr/>
            <p:nvPr/>
          </p:nvGrpSpPr>
          <p:grpSpPr>
            <a:xfrm>
              <a:off x="5683034" y="2926272"/>
              <a:ext cx="585087" cy="585088"/>
              <a:chOff x="943896" y="1905001"/>
              <a:chExt cx="888993" cy="888993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59" name="Freeform 158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0" name="Freeform 159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1" name="Freeform 160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2" name="Freeform 161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58" name="Rectangle 157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6381710" y="2926272"/>
              <a:ext cx="585087" cy="585088"/>
              <a:chOff x="943896" y="1905001"/>
              <a:chExt cx="888993" cy="888993"/>
            </a:xfrm>
          </p:grpSpPr>
          <p:grpSp>
            <p:nvGrpSpPr>
              <p:cNvPr id="164" name="Group 163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66" name="Freeform 165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7" name="Freeform 166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8" name="Freeform 167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69" name="Freeform 168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65" name="Rectangle 164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0" name="Group 169"/>
            <p:cNvGrpSpPr/>
            <p:nvPr/>
          </p:nvGrpSpPr>
          <p:grpSpPr>
            <a:xfrm>
              <a:off x="5683034" y="3636478"/>
              <a:ext cx="585087" cy="585088"/>
              <a:chOff x="943896" y="1905001"/>
              <a:chExt cx="888993" cy="888993"/>
            </a:xfrm>
          </p:grpSpPr>
          <p:grpSp>
            <p:nvGrpSpPr>
              <p:cNvPr id="171" name="Group 170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73" name="Freeform 172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4" name="Freeform 173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5" name="Freeform 174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76" name="Freeform 175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72" name="Rectangle 171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7" name="Group 176"/>
            <p:cNvGrpSpPr/>
            <p:nvPr/>
          </p:nvGrpSpPr>
          <p:grpSpPr>
            <a:xfrm>
              <a:off x="6381710" y="3636478"/>
              <a:ext cx="585087" cy="585088"/>
              <a:chOff x="943896" y="1905001"/>
              <a:chExt cx="888993" cy="888993"/>
            </a:xfrm>
          </p:grpSpPr>
          <p:grpSp>
            <p:nvGrpSpPr>
              <p:cNvPr id="178" name="Group 177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80" name="Freeform 179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1" name="Freeform 180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2" name="Freeform 181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3" name="Freeform 182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79" name="Rectangle 178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4" name="Group 183"/>
            <p:cNvGrpSpPr/>
            <p:nvPr/>
          </p:nvGrpSpPr>
          <p:grpSpPr>
            <a:xfrm>
              <a:off x="7080386" y="3636478"/>
              <a:ext cx="585087" cy="585088"/>
              <a:chOff x="943896" y="1905001"/>
              <a:chExt cx="888993" cy="888993"/>
            </a:xfrm>
          </p:grpSpPr>
          <p:grpSp>
            <p:nvGrpSpPr>
              <p:cNvPr id="185" name="Group 184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87" name="Freeform 186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8" name="Freeform 187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89" name="Freeform 188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0" name="Freeform 189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86" name="Rectangle 185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oup 190"/>
            <p:cNvGrpSpPr/>
            <p:nvPr/>
          </p:nvGrpSpPr>
          <p:grpSpPr>
            <a:xfrm>
              <a:off x="5683034" y="4346683"/>
              <a:ext cx="585087" cy="585088"/>
              <a:chOff x="943896" y="1905001"/>
              <a:chExt cx="888993" cy="888993"/>
            </a:xfrm>
          </p:grpSpPr>
          <p:grpSp>
            <p:nvGrpSpPr>
              <p:cNvPr id="192" name="Group 191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194" name="Freeform 193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5" name="Freeform 194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6" name="Freeform 195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197" name="Freeform 196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193" name="Rectangle 192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8" name="Group 197"/>
            <p:cNvGrpSpPr/>
            <p:nvPr/>
          </p:nvGrpSpPr>
          <p:grpSpPr>
            <a:xfrm>
              <a:off x="6381710" y="4346683"/>
              <a:ext cx="585087" cy="585088"/>
              <a:chOff x="943896" y="1905001"/>
              <a:chExt cx="888993" cy="888993"/>
            </a:xfrm>
          </p:grpSpPr>
          <p:grpSp>
            <p:nvGrpSpPr>
              <p:cNvPr id="199" name="Group 198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201" name="Freeform 200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2" name="Freeform 201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3" name="Freeform 202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4" name="Freeform 203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200" name="Rectangle 199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5683034" y="5056889"/>
              <a:ext cx="585087" cy="1295292"/>
              <a:chOff x="943896" y="1905001"/>
              <a:chExt cx="888993" cy="888993"/>
            </a:xfrm>
          </p:grpSpPr>
          <p:grpSp>
            <p:nvGrpSpPr>
              <p:cNvPr id="206" name="Group 205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208" name="Freeform 207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09" name="Freeform 208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0" name="Freeform 209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11" name="Freeform 210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207" name="Rectangle 206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9" name="Group 218"/>
            <p:cNvGrpSpPr/>
            <p:nvPr/>
          </p:nvGrpSpPr>
          <p:grpSpPr>
            <a:xfrm>
              <a:off x="7779062" y="3636478"/>
              <a:ext cx="585087" cy="585088"/>
              <a:chOff x="943896" y="1905001"/>
              <a:chExt cx="888993" cy="888993"/>
            </a:xfrm>
          </p:grpSpPr>
          <p:grpSp>
            <p:nvGrpSpPr>
              <p:cNvPr id="220" name="Group 219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222" name="Freeform 221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3" name="Freeform 222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4" name="Freeform 223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25" name="Freeform 224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221" name="Rectangle 220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6" name="Group 225"/>
            <p:cNvGrpSpPr/>
            <p:nvPr/>
          </p:nvGrpSpPr>
          <p:grpSpPr>
            <a:xfrm>
              <a:off x="7080386" y="4346683"/>
              <a:ext cx="585087" cy="585088"/>
              <a:chOff x="943896" y="1905001"/>
              <a:chExt cx="888993" cy="888993"/>
            </a:xfrm>
          </p:grpSpPr>
          <p:grpSp>
            <p:nvGrpSpPr>
              <p:cNvPr id="227" name="Group 226"/>
              <p:cNvGrpSpPr/>
              <p:nvPr/>
            </p:nvGrpSpPr>
            <p:grpSpPr>
              <a:xfrm>
                <a:off x="1020702" y="1968253"/>
                <a:ext cx="735381" cy="762489"/>
                <a:chOff x="1028151" y="1961321"/>
                <a:chExt cx="735381" cy="762489"/>
              </a:xfrm>
            </p:grpSpPr>
            <p:sp>
              <p:nvSpPr>
                <p:cNvPr id="229" name="Freeform 228"/>
                <p:cNvSpPr/>
                <p:nvPr/>
              </p:nvSpPr>
              <p:spPr>
                <a:xfrm>
                  <a:off x="1028151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0" name="Freeform 229"/>
                <p:cNvSpPr/>
                <p:nvPr/>
              </p:nvSpPr>
              <p:spPr>
                <a:xfrm>
                  <a:off x="1240599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1" name="Freeform 230"/>
                <p:cNvSpPr/>
                <p:nvPr/>
              </p:nvSpPr>
              <p:spPr>
                <a:xfrm>
                  <a:off x="1453047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232" name="Freeform 231"/>
                <p:cNvSpPr/>
                <p:nvPr/>
              </p:nvSpPr>
              <p:spPr>
                <a:xfrm>
                  <a:off x="1665494" y="1961321"/>
                  <a:ext cx="98038" cy="762489"/>
                </a:xfrm>
                <a:custGeom>
                  <a:avLst/>
                  <a:gdLst>
                    <a:gd name="connsiteX0" fmla="*/ 127000 w 196850"/>
                    <a:gd name="connsiteY0" fmla="*/ 0 h 1625600"/>
                    <a:gd name="connsiteX1" fmla="*/ 82550 w 196850"/>
                    <a:gd name="connsiteY1" fmla="*/ 38100 h 1625600"/>
                    <a:gd name="connsiteX2" fmla="*/ 50800 w 196850"/>
                    <a:gd name="connsiteY2" fmla="*/ 76200 h 1625600"/>
                    <a:gd name="connsiteX3" fmla="*/ 19050 w 196850"/>
                    <a:gd name="connsiteY3" fmla="*/ 133350 h 1625600"/>
                    <a:gd name="connsiteX4" fmla="*/ 0 w 196850"/>
                    <a:gd name="connsiteY4" fmla="*/ 196850 h 1625600"/>
                    <a:gd name="connsiteX5" fmla="*/ 25400 w 196850"/>
                    <a:gd name="connsiteY5" fmla="*/ 323850 h 1625600"/>
                    <a:gd name="connsiteX6" fmla="*/ 50800 w 196850"/>
                    <a:gd name="connsiteY6" fmla="*/ 361950 h 1625600"/>
                    <a:gd name="connsiteX7" fmla="*/ 82550 w 196850"/>
                    <a:gd name="connsiteY7" fmla="*/ 393700 h 1625600"/>
                    <a:gd name="connsiteX8" fmla="*/ 101600 w 196850"/>
                    <a:gd name="connsiteY8" fmla="*/ 400050 h 1625600"/>
                    <a:gd name="connsiteX9" fmla="*/ 165100 w 196850"/>
                    <a:gd name="connsiteY9" fmla="*/ 476250 h 1625600"/>
                    <a:gd name="connsiteX10" fmla="*/ 177800 w 196850"/>
                    <a:gd name="connsiteY10" fmla="*/ 495300 h 1625600"/>
                    <a:gd name="connsiteX11" fmla="*/ 184150 w 196850"/>
                    <a:gd name="connsiteY11" fmla="*/ 514350 h 1625600"/>
                    <a:gd name="connsiteX12" fmla="*/ 190500 w 196850"/>
                    <a:gd name="connsiteY12" fmla="*/ 552450 h 1625600"/>
                    <a:gd name="connsiteX13" fmla="*/ 196850 w 196850"/>
                    <a:gd name="connsiteY13" fmla="*/ 577850 h 1625600"/>
                    <a:gd name="connsiteX14" fmla="*/ 190500 w 196850"/>
                    <a:gd name="connsiteY14" fmla="*/ 660400 h 1625600"/>
                    <a:gd name="connsiteX15" fmla="*/ 158750 w 196850"/>
                    <a:gd name="connsiteY15" fmla="*/ 717550 h 1625600"/>
                    <a:gd name="connsiteX16" fmla="*/ 139700 w 196850"/>
                    <a:gd name="connsiteY16" fmla="*/ 736600 h 1625600"/>
                    <a:gd name="connsiteX17" fmla="*/ 107950 w 196850"/>
                    <a:gd name="connsiteY17" fmla="*/ 768350 h 1625600"/>
                    <a:gd name="connsiteX18" fmla="*/ 95250 w 196850"/>
                    <a:gd name="connsiteY18" fmla="*/ 787400 h 1625600"/>
                    <a:gd name="connsiteX19" fmla="*/ 88900 w 196850"/>
                    <a:gd name="connsiteY19" fmla="*/ 806450 h 1625600"/>
                    <a:gd name="connsiteX20" fmla="*/ 69850 w 196850"/>
                    <a:gd name="connsiteY20" fmla="*/ 819150 h 1625600"/>
                    <a:gd name="connsiteX21" fmla="*/ 44450 w 196850"/>
                    <a:gd name="connsiteY21" fmla="*/ 863600 h 1625600"/>
                    <a:gd name="connsiteX22" fmla="*/ 31750 w 196850"/>
                    <a:gd name="connsiteY22" fmla="*/ 882650 h 1625600"/>
                    <a:gd name="connsiteX23" fmla="*/ 19050 w 196850"/>
                    <a:gd name="connsiteY23" fmla="*/ 927100 h 1625600"/>
                    <a:gd name="connsiteX24" fmla="*/ 31750 w 196850"/>
                    <a:gd name="connsiteY24" fmla="*/ 1060450 h 1625600"/>
                    <a:gd name="connsiteX25" fmla="*/ 63500 w 196850"/>
                    <a:gd name="connsiteY25" fmla="*/ 1092200 h 1625600"/>
                    <a:gd name="connsiteX26" fmla="*/ 76200 w 196850"/>
                    <a:gd name="connsiteY26" fmla="*/ 1111250 h 1625600"/>
                    <a:gd name="connsiteX27" fmla="*/ 114300 w 196850"/>
                    <a:gd name="connsiteY27" fmla="*/ 1136650 h 1625600"/>
                    <a:gd name="connsiteX28" fmla="*/ 120650 w 196850"/>
                    <a:gd name="connsiteY28" fmla="*/ 1155700 h 1625600"/>
                    <a:gd name="connsiteX29" fmla="*/ 139700 w 196850"/>
                    <a:gd name="connsiteY29" fmla="*/ 1168400 h 1625600"/>
                    <a:gd name="connsiteX30" fmla="*/ 165100 w 196850"/>
                    <a:gd name="connsiteY30" fmla="*/ 1187450 h 1625600"/>
                    <a:gd name="connsiteX31" fmla="*/ 190500 w 196850"/>
                    <a:gd name="connsiteY31" fmla="*/ 1225550 h 1625600"/>
                    <a:gd name="connsiteX32" fmla="*/ 196850 w 196850"/>
                    <a:gd name="connsiteY32" fmla="*/ 1250950 h 1625600"/>
                    <a:gd name="connsiteX33" fmla="*/ 190500 w 196850"/>
                    <a:gd name="connsiteY33" fmla="*/ 1339850 h 1625600"/>
                    <a:gd name="connsiteX34" fmla="*/ 171450 w 196850"/>
                    <a:gd name="connsiteY34" fmla="*/ 1403350 h 1625600"/>
                    <a:gd name="connsiteX35" fmla="*/ 158750 w 196850"/>
                    <a:gd name="connsiteY35" fmla="*/ 1422400 h 1625600"/>
                    <a:gd name="connsiteX36" fmla="*/ 152400 w 196850"/>
                    <a:gd name="connsiteY36" fmla="*/ 1441450 h 1625600"/>
                    <a:gd name="connsiteX37" fmla="*/ 127000 w 196850"/>
                    <a:gd name="connsiteY37" fmla="*/ 1498600 h 1625600"/>
                    <a:gd name="connsiteX38" fmla="*/ 95250 w 196850"/>
                    <a:gd name="connsiteY38" fmla="*/ 1555750 h 1625600"/>
                    <a:gd name="connsiteX39" fmla="*/ 95250 w 196850"/>
                    <a:gd name="connsiteY39" fmla="*/ 1625600 h 1625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196850" h="1625600">
                      <a:moveTo>
                        <a:pt x="127000" y="0"/>
                      </a:moveTo>
                      <a:cubicBezTo>
                        <a:pt x="72901" y="32460"/>
                        <a:pt x="111869" y="2917"/>
                        <a:pt x="82550" y="38100"/>
                      </a:cubicBezTo>
                      <a:cubicBezTo>
                        <a:pt x="68308" y="55190"/>
                        <a:pt x="59809" y="55930"/>
                        <a:pt x="50800" y="76200"/>
                      </a:cubicBezTo>
                      <a:cubicBezTo>
                        <a:pt x="25936" y="132143"/>
                        <a:pt x="53821" y="98579"/>
                        <a:pt x="19050" y="133350"/>
                      </a:cubicBezTo>
                      <a:cubicBezTo>
                        <a:pt x="3590" y="179729"/>
                        <a:pt x="9597" y="158463"/>
                        <a:pt x="0" y="196850"/>
                      </a:cubicBezTo>
                      <a:cubicBezTo>
                        <a:pt x="14593" y="299002"/>
                        <a:pt x="3234" y="257352"/>
                        <a:pt x="25400" y="323850"/>
                      </a:cubicBezTo>
                      <a:cubicBezTo>
                        <a:pt x="30227" y="338330"/>
                        <a:pt x="42333" y="349250"/>
                        <a:pt x="50800" y="361950"/>
                      </a:cubicBezTo>
                      <a:cubicBezTo>
                        <a:pt x="63500" y="381000"/>
                        <a:pt x="61383" y="383117"/>
                        <a:pt x="82550" y="393700"/>
                      </a:cubicBezTo>
                      <a:cubicBezTo>
                        <a:pt x="88537" y="396693"/>
                        <a:pt x="95250" y="397933"/>
                        <a:pt x="101600" y="400050"/>
                      </a:cubicBezTo>
                      <a:cubicBezTo>
                        <a:pt x="150493" y="448943"/>
                        <a:pt x="129737" y="423206"/>
                        <a:pt x="165100" y="476250"/>
                      </a:cubicBezTo>
                      <a:cubicBezTo>
                        <a:pt x="169333" y="482600"/>
                        <a:pt x="175387" y="488060"/>
                        <a:pt x="177800" y="495300"/>
                      </a:cubicBezTo>
                      <a:cubicBezTo>
                        <a:pt x="179917" y="501650"/>
                        <a:pt x="182698" y="507816"/>
                        <a:pt x="184150" y="514350"/>
                      </a:cubicBezTo>
                      <a:cubicBezTo>
                        <a:pt x="186943" y="526919"/>
                        <a:pt x="187975" y="539825"/>
                        <a:pt x="190500" y="552450"/>
                      </a:cubicBezTo>
                      <a:cubicBezTo>
                        <a:pt x="192212" y="561008"/>
                        <a:pt x="194733" y="569383"/>
                        <a:pt x="196850" y="577850"/>
                      </a:cubicBezTo>
                      <a:cubicBezTo>
                        <a:pt x="194733" y="605367"/>
                        <a:pt x="193923" y="633015"/>
                        <a:pt x="190500" y="660400"/>
                      </a:cubicBezTo>
                      <a:cubicBezTo>
                        <a:pt x="188219" y="678652"/>
                        <a:pt x="167578" y="708722"/>
                        <a:pt x="158750" y="717550"/>
                      </a:cubicBezTo>
                      <a:cubicBezTo>
                        <a:pt x="152400" y="723900"/>
                        <a:pt x="145449" y="729701"/>
                        <a:pt x="139700" y="736600"/>
                      </a:cubicBezTo>
                      <a:cubicBezTo>
                        <a:pt x="113242" y="768350"/>
                        <a:pt x="142875" y="745067"/>
                        <a:pt x="107950" y="768350"/>
                      </a:cubicBezTo>
                      <a:cubicBezTo>
                        <a:pt x="103717" y="774700"/>
                        <a:pt x="98663" y="780574"/>
                        <a:pt x="95250" y="787400"/>
                      </a:cubicBezTo>
                      <a:cubicBezTo>
                        <a:pt x="92257" y="793387"/>
                        <a:pt x="93081" y="801223"/>
                        <a:pt x="88900" y="806450"/>
                      </a:cubicBezTo>
                      <a:cubicBezTo>
                        <a:pt x="84132" y="812409"/>
                        <a:pt x="76200" y="814917"/>
                        <a:pt x="69850" y="819150"/>
                      </a:cubicBezTo>
                      <a:cubicBezTo>
                        <a:pt x="38908" y="865562"/>
                        <a:pt x="76676" y="807204"/>
                        <a:pt x="44450" y="863600"/>
                      </a:cubicBezTo>
                      <a:cubicBezTo>
                        <a:pt x="40664" y="870226"/>
                        <a:pt x="35163" y="875824"/>
                        <a:pt x="31750" y="882650"/>
                      </a:cubicBezTo>
                      <a:cubicBezTo>
                        <a:pt x="27195" y="891760"/>
                        <a:pt x="21085" y="918962"/>
                        <a:pt x="19050" y="927100"/>
                      </a:cubicBezTo>
                      <a:cubicBezTo>
                        <a:pt x="19267" y="930136"/>
                        <a:pt x="24826" y="1037369"/>
                        <a:pt x="31750" y="1060450"/>
                      </a:cubicBezTo>
                      <a:cubicBezTo>
                        <a:pt x="37042" y="1078089"/>
                        <a:pt x="49742" y="1083028"/>
                        <a:pt x="63500" y="1092200"/>
                      </a:cubicBezTo>
                      <a:cubicBezTo>
                        <a:pt x="67733" y="1098550"/>
                        <a:pt x="70457" y="1106224"/>
                        <a:pt x="76200" y="1111250"/>
                      </a:cubicBezTo>
                      <a:cubicBezTo>
                        <a:pt x="87687" y="1121301"/>
                        <a:pt x="114300" y="1136650"/>
                        <a:pt x="114300" y="1136650"/>
                      </a:cubicBezTo>
                      <a:cubicBezTo>
                        <a:pt x="116417" y="1143000"/>
                        <a:pt x="116469" y="1150473"/>
                        <a:pt x="120650" y="1155700"/>
                      </a:cubicBezTo>
                      <a:cubicBezTo>
                        <a:pt x="125418" y="1161659"/>
                        <a:pt x="133490" y="1163964"/>
                        <a:pt x="139700" y="1168400"/>
                      </a:cubicBezTo>
                      <a:cubicBezTo>
                        <a:pt x="148312" y="1174551"/>
                        <a:pt x="158069" y="1179540"/>
                        <a:pt x="165100" y="1187450"/>
                      </a:cubicBezTo>
                      <a:cubicBezTo>
                        <a:pt x="175241" y="1198858"/>
                        <a:pt x="190500" y="1225550"/>
                        <a:pt x="190500" y="1225550"/>
                      </a:cubicBezTo>
                      <a:cubicBezTo>
                        <a:pt x="192617" y="1234017"/>
                        <a:pt x="196850" y="1242223"/>
                        <a:pt x="196850" y="1250950"/>
                      </a:cubicBezTo>
                      <a:cubicBezTo>
                        <a:pt x="196850" y="1280659"/>
                        <a:pt x="193781" y="1310323"/>
                        <a:pt x="190500" y="1339850"/>
                      </a:cubicBezTo>
                      <a:cubicBezTo>
                        <a:pt x="188901" y="1354245"/>
                        <a:pt x="174642" y="1393773"/>
                        <a:pt x="171450" y="1403350"/>
                      </a:cubicBezTo>
                      <a:cubicBezTo>
                        <a:pt x="169037" y="1410590"/>
                        <a:pt x="162163" y="1415574"/>
                        <a:pt x="158750" y="1422400"/>
                      </a:cubicBezTo>
                      <a:cubicBezTo>
                        <a:pt x="155757" y="1428387"/>
                        <a:pt x="155393" y="1435463"/>
                        <a:pt x="152400" y="1441450"/>
                      </a:cubicBezTo>
                      <a:cubicBezTo>
                        <a:pt x="122211" y="1501827"/>
                        <a:pt x="159765" y="1400306"/>
                        <a:pt x="127000" y="1498600"/>
                      </a:cubicBezTo>
                      <a:cubicBezTo>
                        <a:pt x="119404" y="1521388"/>
                        <a:pt x="96991" y="1531377"/>
                        <a:pt x="95250" y="1555750"/>
                      </a:cubicBezTo>
                      <a:cubicBezTo>
                        <a:pt x="93591" y="1578974"/>
                        <a:pt x="95250" y="1602317"/>
                        <a:pt x="95250" y="1625600"/>
                      </a:cubicBezTo>
                    </a:path>
                  </a:pathLst>
                </a:custGeom>
                <a:ln w="19050">
                  <a:headEnd type="none" w="med" len="med"/>
                  <a:tailEnd type="triangle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2700">
                      <a:solidFill>
                        <a:schemeClr val="tx1"/>
                      </a:solidFill>
                    </a:ln>
                  </a:endParaRPr>
                </a:p>
              </p:txBody>
            </p:sp>
          </p:grpSp>
          <p:sp>
            <p:nvSpPr>
              <p:cNvPr id="228" name="Rectangle 227"/>
              <p:cNvSpPr/>
              <p:nvPr/>
            </p:nvSpPr>
            <p:spPr>
              <a:xfrm>
                <a:off x="943896" y="1905001"/>
                <a:ext cx="888993" cy="888993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3" name="Straight Connector 232"/>
            <p:cNvCxnSpPr/>
            <p:nvPr/>
          </p:nvCxnSpPr>
          <p:spPr>
            <a:xfrm flipV="1">
              <a:off x="4873865" y="4284125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 flipV="1">
              <a:off x="4873865" y="3573919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 flipV="1">
              <a:off x="4873865" y="2863714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 flipV="1">
              <a:off x="5721601" y="2153508"/>
              <a:ext cx="50292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flipV="1">
              <a:off x="4873865" y="4994330"/>
              <a:ext cx="357097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flipV="1">
              <a:off x="5721601" y="5704535"/>
              <a:ext cx="50292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9" name="TextBox 238"/>
            <p:cNvSpPr txBox="1"/>
            <p:nvPr/>
          </p:nvSpPr>
          <p:spPr>
            <a:xfrm>
              <a:off x="4923187" y="1626699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0</a:t>
              </a: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4923187" y="2336905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1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4923187" y="3047110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2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4923187" y="3757316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3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923187" y="4467521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4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923187" y="5177725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5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4923187" y="5887930"/>
              <a:ext cx="778166" cy="343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Level 6</a:t>
              </a: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4891287" y="6442793"/>
              <a:ext cx="3577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Consecutive small levels in one grid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466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2855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</TotalTime>
  <Words>1184</Words>
  <Application>Microsoft Office PowerPoint</Application>
  <PresentationFormat>On-screen Show (4:3)</PresentationFormat>
  <Paragraphs>289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86</cp:revision>
  <dcterms:created xsi:type="dcterms:W3CDTF">2022-03-30T06:33:52Z</dcterms:created>
  <dcterms:modified xsi:type="dcterms:W3CDTF">2022-10-31T12:08:58Z</dcterms:modified>
</cp:coreProperties>
</file>