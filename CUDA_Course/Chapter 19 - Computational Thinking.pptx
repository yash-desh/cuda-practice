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handoutMasterIdLst>
    <p:handoutMasterId r:id="rId32"/>
  </p:handoutMasterIdLst>
  <p:sldIdLst>
    <p:sldId id="270" r:id="rId2"/>
    <p:sldId id="311" r:id="rId3"/>
    <p:sldId id="312" r:id="rId4"/>
    <p:sldId id="314" r:id="rId5"/>
    <p:sldId id="315" r:id="rId6"/>
    <p:sldId id="344" r:id="rId7"/>
    <p:sldId id="317" r:id="rId8"/>
    <p:sldId id="318" r:id="rId9"/>
    <p:sldId id="320" r:id="rId10"/>
    <p:sldId id="321" r:id="rId11"/>
    <p:sldId id="322" r:id="rId12"/>
    <p:sldId id="323" r:id="rId13"/>
    <p:sldId id="324" r:id="rId14"/>
    <p:sldId id="325" r:id="rId15"/>
    <p:sldId id="333" r:id="rId16"/>
    <p:sldId id="335" r:id="rId17"/>
    <p:sldId id="336" r:id="rId18"/>
    <p:sldId id="337" r:id="rId19"/>
    <p:sldId id="338" r:id="rId20"/>
    <p:sldId id="339" r:id="rId21"/>
    <p:sldId id="340" r:id="rId22"/>
    <p:sldId id="341" r:id="rId23"/>
    <p:sldId id="347" r:id="rId24"/>
    <p:sldId id="346" r:id="rId25"/>
    <p:sldId id="342" r:id="rId26"/>
    <p:sldId id="343" r:id="rId27"/>
    <p:sldId id="345" r:id="rId28"/>
    <p:sldId id="332" r:id="rId29"/>
    <p:sldId id="348"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C4C4C"/>
    <a:srgbClr val="E08E2F"/>
    <a:srgbClr val="E09135"/>
    <a:srgbClr val="FFFFFF"/>
    <a:srgbClr val="DC8623"/>
    <a:srgbClr val="DB8522"/>
    <a:srgbClr val="4D4D4D"/>
    <a:srgbClr val="EB6500"/>
    <a:srgbClr val="53565A"/>
    <a:srgbClr val="FF984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97" d="100"/>
          <a:sy n="97" d="100"/>
        </p:scale>
        <p:origin x="91" y="3288"/>
      </p:cViewPr>
      <p:guideLst>
        <p:guide orient="horz" pos="2160"/>
        <p:guide pos="2880"/>
      </p:guideLst>
    </p:cSldViewPr>
  </p:slideViewPr>
  <p:notesTextViewPr>
    <p:cViewPr>
      <p:scale>
        <a:sx n="1" d="1"/>
        <a:sy n="1" d="1"/>
      </p:scale>
      <p:origin x="0" y="0"/>
    </p:cViewPr>
  </p:notesText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C9F2AD-ACD9-4F52-8557-48C099C603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315BD4B-9B5A-4159-B729-CBA6AE207B3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7D2E7-9FC7-4207-9062-A3303B783802}" type="datetimeFigureOut">
              <a:rPr lang="en-IN" smtClean="0"/>
              <a:t>18-10-2022</a:t>
            </a:fld>
            <a:endParaRPr lang="en-IN"/>
          </a:p>
        </p:txBody>
      </p:sp>
      <p:sp>
        <p:nvSpPr>
          <p:cNvPr id="4" name="Footer Placeholder 3">
            <a:extLst>
              <a:ext uri="{FF2B5EF4-FFF2-40B4-BE49-F238E27FC236}">
                <a16:creationId xmlns:a16="http://schemas.microsoft.com/office/drawing/2014/main" id="{D794C69D-016E-496D-B1AA-E9EE96139DA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5A5A0A3E-29D3-4009-A482-439DDE028B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4528DA-F324-4659-A143-8781AC34D3E0}" type="slidenum">
              <a:rPr lang="en-IN" smtClean="0"/>
              <a:t>‹#›</a:t>
            </a:fld>
            <a:endParaRPr lang="en-IN"/>
          </a:p>
        </p:txBody>
      </p:sp>
    </p:spTree>
    <p:extLst>
      <p:ext uri="{BB962C8B-B14F-4D97-AF65-F5344CB8AC3E}">
        <p14:creationId xmlns:p14="http://schemas.microsoft.com/office/powerpoint/2010/main" val="2795357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CCA975-873C-42CF-81DF-BF9F6E6B2B51}" type="datetimeFigureOut">
              <a:rPr lang="en-US" smtClean="0"/>
              <a:t>10/18/2022</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780EE9-3B5D-4E1D-A688-15251188762D}" type="slidenum">
              <a:rPr lang="en-US" smtClean="0"/>
              <a:t>‹#›</a:t>
            </a:fld>
            <a:endParaRPr lang="en-US"/>
          </a:p>
        </p:txBody>
      </p:sp>
    </p:spTree>
    <p:extLst>
      <p:ext uri="{BB962C8B-B14F-4D97-AF65-F5344CB8AC3E}">
        <p14:creationId xmlns:p14="http://schemas.microsoft.com/office/powerpoint/2010/main" val="1088031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www.psc.edu/science/2008/erks.html/"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cerncourier.com/cws/article/cern/29686"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ln/>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atin typeface="Times New Roman" pitchFamily="18" charset="0"/>
            </a:endParaRPr>
          </a:p>
        </p:txBody>
      </p:sp>
      <p:sp>
        <p:nvSpPr>
          <p:cNvPr id="3482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fld id="{8E85BD43-94E3-4BC6-A957-8629B5F5FA55}" type="slidenum">
              <a:rPr lang="en-US" sz="1200">
                <a:latin typeface="Times New Roman" pitchFamily="18" charset="0"/>
              </a:rPr>
              <a:pPr/>
              <a:t>15</a:t>
            </a:fld>
            <a:endParaRPr lang="en-US" sz="1200">
              <a:latin typeface="Times New Roman" pitchFamily="18" charset="0"/>
            </a:endParaRPr>
          </a:p>
        </p:txBody>
      </p:sp>
    </p:spTree>
    <p:extLst>
      <p:ext uri="{BB962C8B-B14F-4D97-AF65-F5344CB8AC3E}">
        <p14:creationId xmlns:p14="http://schemas.microsoft.com/office/powerpoint/2010/main" val="4051383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fld id="{9F58059D-4A21-4EB1-95D2-FCF14FF1AD47}" type="slidenum">
              <a:rPr lang="en-US" sz="1200">
                <a:latin typeface="Times New Roman" pitchFamily="18" charset="0"/>
              </a:rPr>
              <a:pPr/>
              <a:t>16</a:t>
            </a:fld>
            <a:endParaRPr lang="en-US" sz="1200">
              <a:latin typeface="Times New Roman" pitchFamily="18" charset="0"/>
            </a:endParaRPr>
          </a:p>
        </p:txBody>
      </p:sp>
      <p:sp>
        <p:nvSpPr>
          <p:cNvPr id="35843" name="Rectangle 7"/>
          <p:cNvSpPr txBox="1">
            <a:spLocks noGrp="1" noChangeArrowheads="1"/>
          </p:cNvSpPr>
          <p:nvPr/>
        </p:nvSpPr>
        <p:spPr bwMode="auto">
          <a:xfrm>
            <a:off x="3979863" y="8805863"/>
            <a:ext cx="30432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92" tIns="46547" rIns="93092" bIns="46547" anchor="b"/>
          <a:lstStyle>
            <a:lvl1pPr defTabSz="931863">
              <a:defRPr sz="2400">
                <a:solidFill>
                  <a:schemeClr val="tx1"/>
                </a:solidFill>
                <a:latin typeface="Palatino" pitchFamily="18" charset="0"/>
                <a:ea typeface="ＭＳ Ｐゴシック" pitchFamily="34" charset="-128"/>
              </a:defRPr>
            </a:lvl1pPr>
            <a:lvl2pPr marL="742950" indent="-285750" defTabSz="931863">
              <a:defRPr sz="2400">
                <a:solidFill>
                  <a:schemeClr val="tx1"/>
                </a:solidFill>
                <a:latin typeface="Palatino" pitchFamily="18" charset="0"/>
                <a:ea typeface="ＭＳ Ｐゴシック" pitchFamily="34" charset="-128"/>
              </a:defRPr>
            </a:lvl2pPr>
            <a:lvl3pPr marL="1143000" indent="-228600" defTabSz="931863">
              <a:defRPr sz="2400">
                <a:solidFill>
                  <a:schemeClr val="tx1"/>
                </a:solidFill>
                <a:latin typeface="Palatino" pitchFamily="18" charset="0"/>
                <a:ea typeface="ＭＳ Ｐゴシック" pitchFamily="34" charset="-128"/>
              </a:defRPr>
            </a:lvl3pPr>
            <a:lvl4pPr marL="1600200" indent="-228600" defTabSz="931863">
              <a:defRPr sz="2400">
                <a:solidFill>
                  <a:schemeClr val="tx1"/>
                </a:solidFill>
                <a:latin typeface="Palatino" pitchFamily="18" charset="0"/>
                <a:ea typeface="ＭＳ Ｐゴシック" pitchFamily="34" charset="-128"/>
              </a:defRPr>
            </a:lvl4pPr>
            <a:lvl5pPr marL="2057400" indent="-228600" defTabSz="931863">
              <a:defRPr sz="2400">
                <a:solidFill>
                  <a:schemeClr val="tx1"/>
                </a:solidFill>
                <a:latin typeface="Palatino" pitchFamily="18" charset="0"/>
                <a:ea typeface="ＭＳ Ｐゴシック" pitchFamily="34" charset="-128"/>
              </a:defRPr>
            </a:lvl5pPr>
            <a:lvl6pPr marL="25146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r"/>
            <a:fld id="{C2704216-0E7B-4EC2-B504-331D5C0D9C42}" type="slidenum">
              <a:rPr lang="en-US" sz="1300">
                <a:latin typeface="Times New Roman" pitchFamily="18" charset="0"/>
              </a:rPr>
              <a:pPr algn="r"/>
              <a:t>16</a:t>
            </a:fld>
            <a:endParaRPr lang="en-US" sz="1300">
              <a:latin typeface="Times New Roman" pitchFamily="18" charset="0"/>
            </a:endParaRPr>
          </a:p>
        </p:txBody>
      </p:sp>
      <p:sp>
        <p:nvSpPr>
          <p:cNvPr id="35844" name="Rectangle 2"/>
          <p:cNvSpPr>
            <a:spLocks noGrp="1" noRot="1" noChangeAspect="1" noChangeArrowheads="1" noTextEdit="1"/>
          </p:cNvSpPr>
          <p:nvPr>
            <p:ph type="sldImg"/>
          </p:nvPr>
        </p:nvSpPr>
        <p:spPr>
          <a:ln/>
        </p:spPr>
      </p:sp>
      <p:sp>
        <p:nvSpPr>
          <p:cNvPr id="35845" name="Rectangle 3"/>
          <p:cNvSpPr>
            <a:spLocks noGrp="1" noChangeArrowheads="1"/>
          </p:cNvSpPr>
          <p:nvPr>
            <p:ph type="body" idx="1"/>
          </p:nvPr>
        </p:nvSpPr>
        <p:spPr>
          <a:xfrm>
            <a:off x="935038" y="4403725"/>
            <a:ext cx="5153025" cy="4170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92" tIns="46547" rIns="93092" bIns="46547"/>
          <a:lstStyle/>
          <a:p>
            <a:pPr eaLnBrk="1" hangingPunct="1"/>
            <a:endParaRPr lang="en-US">
              <a:latin typeface="Times New Roman" pitchFamily="18" charset="0"/>
            </a:endParaRPr>
          </a:p>
        </p:txBody>
      </p:sp>
    </p:spTree>
    <p:extLst>
      <p:ext uri="{BB962C8B-B14F-4D97-AF65-F5344CB8AC3E}">
        <p14:creationId xmlns:p14="http://schemas.microsoft.com/office/powerpoint/2010/main" val="14388290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fld id="{DD6D53DA-615F-4019-B03F-4146E8B43CEE}" type="slidenum">
              <a:rPr lang="en-US" sz="1200">
                <a:latin typeface="Times New Roman" pitchFamily="18" charset="0"/>
              </a:rPr>
              <a:pPr/>
              <a:t>17</a:t>
            </a:fld>
            <a:endParaRPr lang="en-US" sz="1200">
              <a:latin typeface="Times New Roman" pitchFamily="18" charset="0"/>
            </a:endParaRPr>
          </a:p>
        </p:txBody>
      </p:sp>
      <p:sp>
        <p:nvSpPr>
          <p:cNvPr id="36867" name="Rectangle 7"/>
          <p:cNvSpPr txBox="1">
            <a:spLocks noGrp="1" noChangeArrowheads="1"/>
          </p:cNvSpPr>
          <p:nvPr/>
        </p:nvSpPr>
        <p:spPr bwMode="auto">
          <a:xfrm>
            <a:off x="3979863" y="8805863"/>
            <a:ext cx="30432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92" tIns="46547" rIns="93092" bIns="46547" anchor="b"/>
          <a:lstStyle>
            <a:lvl1pPr defTabSz="931863">
              <a:defRPr sz="2400">
                <a:solidFill>
                  <a:schemeClr val="tx1"/>
                </a:solidFill>
                <a:latin typeface="Palatino" pitchFamily="18" charset="0"/>
                <a:ea typeface="ＭＳ Ｐゴシック" pitchFamily="34" charset="-128"/>
              </a:defRPr>
            </a:lvl1pPr>
            <a:lvl2pPr marL="742950" indent="-285750" defTabSz="931863">
              <a:defRPr sz="2400">
                <a:solidFill>
                  <a:schemeClr val="tx1"/>
                </a:solidFill>
                <a:latin typeface="Palatino" pitchFamily="18" charset="0"/>
                <a:ea typeface="ＭＳ Ｐゴシック" pitchFamily="34" charset="-128"/>
              </a:defRPr>
            </a:lvl2pPr>
            <a:lvl3pPr marL="1143000" indent="-228600" defTabSz="931863">
              <a:defRPr sz="2400">
                <a:solidFill>
                  <a:schemeClr val="tx1"/>
                </a:solidFill>
                <a:latin typeface="Palatino" pitchFamily="18" charset="0"/>
                <a:ea typeface="ＭＳ Ｐゴシック" pitchFamily="34" charset="-128"/>
              </a:defRPr>
            </a:lvl3pPr>
            <a:lvl4pPr marL="1600200" indent="-228600" defTabSz="931863">
              <a:defRPr sz="2400">
                <a:solidFill>
                  <a:schemeClr val="tx1"/>
                </a:solidFill>
                <a:latin typeface="Palatino" pitchFamily="18" charset="0"/>
                <a:ea typeface="ＭＳ Ｐゴシック" pitchFamily="34" charset="-128"/>
              </a:defRPr>
            </a:lvl4pPr>
            <a:lvl5pPr marL="2057400" indent="-228600" defTabSz="931863">
              <a:defRPr sz="2400">
                <a:solidFill>
                  <a:schemeClr val="tx1"/>
                </a:solidFill>
                <a:latin typeface="Palatino" pitchFamily="18" charset="0"/>
                <a:ea typeface="ＭＳ Ｐゴシック" pitchFamily="34" charset="-128"/>
              </a:defRPr>
            </a:lvl5pPr>
            <a:lvl6pPr marL="25146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defTabSz="931863"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r"/>
            <a:fld id="{F38A1A06-9615-472B-926D-6DE90FE77157}" type="slidenum">
              <a:rPr lang="en-US" sz="1300">
                <a:latin typeface="Times New Roman" pitchFamily="18" charset="0"/>
              </a:rPr>
              <a:pPr algn="r"/>
              <a:t>17</a:t>
            </a:fld>
            <a:endParaRPr lang="en-US" sz="1300">
              <a:latin typeface="Times New Roman" pitchFamily="18" charset="0"/>
            </a:endParaRPr>
          </a:p>
        </p:txBody>
      </p:sp>
      <p:sp>
        <p:nvSpPr>
          <p:cNvPr id="36868" name="Rectangle 2"/>
          <p:cNvSpPr>
            <a:spLocks noGrp="1" noRot="1" noChangeAspect="1" noChangeArrowheads="1" noTextEdit="1"/>
          </p:cNvSpPr>
          <p:nvPr>
            <p:ph type="sldImg"/>
          </p:nvPr>
        </p:nvSpPr>
        <p:spPr>
          <a:ln/>
        </p:spPr>
      </p:sp>
      <p:sp>
        <p:nvSpPr>
          <p:cNvPr id="36869" name="Rectangle 3"/>
          <p:cNvSpPr>
            <a:spLocks noGrp="1" noChangeArrowheads="1"/>
          </p:cNvSpPr>
          <p:nvPr>
            <p:ph type="body" idx="1"/>
          </p:nvPr>
        </p:nvSpPr>
        <p:spPr>
          <a:xfrm>
            <a:off x="935038" y="4403725"/>
            <a:ext cx="5153025" cy="4170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092" tIns="46547" rIns="93092" bIns="46547"/>
          <a:lstStyle/>
          <a:p>
            <a:pPr eaLnBrk="1" hangingPunct="1"/>
            <a:endParaRPr lang="en-US">
              <a:latin typeface="Times New Roman" pitchFamily="18" charset="0"/>
            </a:endParaRPr>
          </a:p>
        </p:txBody>
      </p:sp>
    </p:spTree>
    <p:extLst>
      <p:ext uri="{BB962C8B-B14F-4D97-AF65-F5344CB8AC3E}">
        <p14:creationId xmlns:p14="http://schemas.microsoft.com/office/powerpoint/2010/main" val="970308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fld id="{6EB66F64-31EF-41D9-BE66-BD2F03C91D4A}" type="slidenum">
              <a:rPr lang="en-US" sz="1200">
                <a:latin typeface="Times New Roman" pitchFamily="18" charset="0"/>
              </a:rPr>
              <a:pPr/>
              <a:t>18</a:t>
            </a:fld>
            <a:endParaRPr lang="en-US" sz="1200">
              <a:latin typeface="Times New Roman" pitchFamily="18"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xfrm>
            <a:off x="935038" y="4403725"/>
            <a:ext cx="5153025" cy="4170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Times New Roman" pitchFamily="18" charset="0"/>
              </a:rPr>
              <a:t>Thus, non-Cartesian trajectories, such as the spiral trajectory shown here, are becoming increasingly popular. These non-Cartesian scans are faster and less susceptible to artifacts than Cartesian scans.</a:t>
            </a:r>
          </a:p>
          <a:p>
            <a:pPr eaLnBrk="1" hangingPunct="1"/>
            <a:endParaRPr lang="en-US">
              <a:latin typeface="Times New Roman" pitchFamily="18" charset="0"/>
            </a:endParaRPr>
          </a:p>
          <a:p>
            <a:pPr eaLnBrk="1" hangingPunct="1"/>
            <a:r>
              <a:rPr lang="en-US">
                <a:latin typeface="Times New Roman" pitchFamily="18" charset="0"/>
              </a:rPr>
              <a:t>However, the FFT cannot be applied directly to the non-Cartesian scan data. One popular approach is to “grid” the data. That is, the non-Cartesian data (shown in orange) is interpolated onto a uniform grid (shown in blue) using some sort of windowing function. The FFT can then be applied to the interpolated data. This technique introduces inaccuracies and satisfies no statistical optimality criterion, but is very fast, and does produce better images than a Cartesian scan.</a:t>
            </a:r>
          </a:p>
        </p:txBody>
      </p:sp>
    </p:spTree>
    <p:extLst>
      <p:ext uri="{BB962C8B-B14F-4D97-AF65-F5344CB8AC3E}">
        <p14:creationId xmlns:p14="http://schemas.microsoft.com/office/powerpoint/2010/main" val="427861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fld id="{82C78CA4-BAB9-400B-B8E7-4FD4757370A6}" type="slidenum">
              <a:rPr lang="en-US" sz="1200">
                <a:latin typeface="Times New Roman" pitchFamily="18" charset="0"/>
              </a:rPr>
              <a:pPr/>
              <a:t>19</a:t>
            </a:fld>
            <a:endParaRPr lang="en-US" sz="1200">
              <a:latin typeface="Times New Roman" pitchFamily="18"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xfrm>
            <a:off x="935038" y="4403725"/>
            <a:ext cx="5153025" cy="417036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Times New Roman" pitchFamily="18" charset="0"/>
              </a:rPr>
              <a:t>Least-squares reconstruction is a superior technique that operates directly on the non-uniform data using the least-squares optimality criterion. The combination of a non-Cartesian scan and the LS reconstruction produces images superior to those obtained via Cartesian scans or gridding. However, these superior images come at the expense of increasing the amount of computation by several orders of magnitude. For the LS reconstruction to be practical in clinical settings, it needs to be accelerated a lot.</a:t>
            </a:r>
          </a:p>
          <a:p>
            <a:pPr eaLnBrk="1" hangingPunct="1"/>
            <a:endParaRPr lang="en-US">
              <a:latin typeface="Times New Roman" pitchFamily="18" charset="0"/>
            </a:endParaRPr>
          </a:p>
          <a:p>
            <a:pPr eaLnBrk="1" hangingPunct="1"/>
            <a:r>
              <a:rPr lang="en-US">
                <a:latin typeface="Times New Roman" pitchFamily="18" charset="0"/>
              </a:rPr>
              <a:t>Again, this is what we mean when we say that the GPU allows us to change the boundaries of science. The LS reconstruction algorithm isn’t viable on the CPU. It’s the GPU that makes the LS reconstruction practical, so that we don’t have to use approximate techniques like gridding.</a:t>
            </a:r>
          </a:p>
        </p:txBody>
      </p:sp>
    </p:spTree>
    <p:extLst>
      <p:ext uri="{BB962C8B-B14F-4D97-AF65-F5344CB8AC3E}">
        <p14:creationId xmlns:p14="http://schemas.microsoft.com/office/powerpoint/2010/main" val="38329626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
          <p:cNvSpPr>
            <a:spLocks noGrp="1" noRot="1" noChangeAspect="1" noChangeArrowheads="1" noTextEdit="1"/>
          </p:cNvSpPr>
          <p:nvPr>
            <p:ph type="sldImg"/>
          </p:nvPr>
        </p:nvSpPr>
        <p:spPr>
          <a:xfrm>
            <a:off x="1193800" y="693738"/>
            <a:ext cx="4635500" cy="3476625"/>
          </a:xfrm>
          <a:solidFill>
            <a:srgbClr val="FFFFFF"/>
          </a:solidFill>
          <a:ln/>
        </p:spPr>
      </p:sp>
      <p:sp>
        <p:nvSpPr>
          <p:cNvPr id="3993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Helvetica" pitchFamily="34" charset="0"/>
                <a:cs typeface="Helvetica" pitchFamily="34" charset="0"/>
                <a:sym typeface="Helvetica" pitchFamily="34" charset="0"/>
              </a:rPr>
              <a:t>Image source:</a:t>
            </a:r>
          </a:p>
          <a:p>
            <a:r>
              <a:rPr lang="en-US">
                <a:latin typeface="Helvetica" pitchFamily="34" charset="0"/>
                <a:cs typeface="Helvetica" pitchFamily="34" charset="0"/>
                <a:sym typeface="Helvetica" pitchFamily="34" charset="0"/>
                <a:hlinkClick r:id="rId3"/>
              </a:rPr>
              <a:t>http://www.psc.edu/science/2008/erks.html/</a:t>
            </a:r>
            <a:endParaRPr lang="en-US">
              <a:latin typeface="Helvetica" pitchFamily="34" charset="0"/>
              <a:cs typeface="Helvetica" pitchFamily="34" charset="0"/>
              <a:sym typeface="Helvetica" pitchFamily="34" charset="0"/>
            </a:endParaRPr>
          </a:p>
        </p:txBody>
      </p:sp>
    </p:spTree>
    <p:extLst>
      <p:ext uri="{BB962C8B-B14F-4D97-AF65-F5344CB8AC3E}">
        <p14:creationId xmlns:p14="http://schemas.microsoft.com/office/powerpoint/2010/main" val="439021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
          <p:cNvSpPr>
            <a:spLocks noGrp="1" noRot="1" noChangeAspect="1" noChangeArrowheads="1" noTextEdit="1"/>
          </p:cNvSpPr>
          <p:nvPr>
            <p:ph type="sldImg"/>
          </p:nvPr>
        </p:nvSpPr>
        <p:spPr>
          <a:xfrm>
            <a:off x="1193800" y="693738"/>
            <a:ext cx="4635500" cy="3476625"/>
          </a:xfrm>
          <a:solidFill>
            <a:srgbClr val="FFFFFF"/>
          </a:solidFill>
          <a:ln/>
        </p:spPr>
      </p:sp>
      <p:sp>
        <p:nvSpPr>
          <p:cNvPr id="40963"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Helvetica" pitchFamily="34" charset="0"/>
                <a:cs typeface="Helvetica" pitchFamily="34" charset="0"/>
                <a:sym typeface="Helvetica" pitchFamily="34" charset="0"/>
              </a:rPr>
              <a:t>In silico screening assists drug discovery, for example, by identifying small molecules that can selectively act on a target protein.  The goal is to find drugs to treat cancer, diabetes, and so on.</a:t>
            </a:r>
          </a:p>
          <a:p>
            <a:r>
              <a:rPr lang="en-US">
                <a:latin typeface="Helvetica" pitchFamily="34" charset="0"/>
                <a:cs typeface="Helvetica" pitchFamily="34" charset="0"/>
                <a:sym typeface="Helvetica" pitchFamily="34" charset="0"/>
              </a:rPr>
              <a:t>Hundreds of thousands possible drugs need to be studied, to find those that can dock on the active sites of a virus, say.</a:t>
            </a:r>
          </a:p>
          <a:p>
            <a:endParaRPr lang="en-US">
              <a:latin typeface="Helvetica" pitchFamily="34" charset="0"/>
              <a:cs typeface="Helvetica" pitchFamily="34" charset="0"/>
              <a:sym typeface="Helvetica" pitchFamily="34" charset="0"/>
            </a:endParaRPr>
          </a:p>
          <a:p>
            <a:r>
              <a:rPr lang="en-US">
                <a:latin typeface="Helvetica" pitchFamily="34" charset="0"/>
                <a:cs typeface="Helvetica" pitchFamily="34" charset="0"/>
                <a:sym typeface="Helvetica" pitchFamily="34" charset="0"/>
              </a:rPr>
              <a:t>Source for CERN example:  </a:t>
            </a:r>
            <a:r>
              <a:rPr lang="en-US" u="sng">
                <a:latin typeface="Helvetica" pitchFamily="34" charset="0"/>
                <a:cs typeface="Helvetica" pitchFamily="34" charset="0"/>
                <a:sym typeface="Helvetica" pitchFamily="34" charset="0"/>
                <a:hlinkClick r:id="rId3"/>
              </a:rPr>
              <a:t>http://cerncourier.com/cws/article/cern/29686</a:t>
            </a:r>
            <a:endParaRPr lang="en-US">
              <a:latin typeface="Helvetica" pitchFamily="34" charset="0"/>
              <a:cs typeface="Helvetica" pitchFamily="34" charset="0"/>
              <a:sym typeface="Helvetica" pitchFamily="34" charset="0"/>
            </a:endParaRPr>
          </a:p>
          <a:p>
            <a:endParaRPr lang="en-US">
              <a:latin typeface="Helvetica" pitchFamily="34" charset="0"/>
              <a:cs typeface="Helvetica" pitchFamily="34" charset="0"/>
              <a:sym typeface="Helvetica" pitchFamily="34" charset="0"/>
            </a:endParaRPr>
          </a:p>
        </p:txBody>
      </p:sp>
    </p:spTree>
    <p:extLst>
      <p:ext uri="{BB962C8B-B14F-4D97-AF65-F5344CB8AC3E}">
        <p14:creationId xmlns:p14="http://schemas.microsoft.com/office/powerpoint/2010/main" val="4272668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
          <p:cNvSpPr>
            <a:spLocks noGrp="1" noRot="1" noChangeAspect="1" noChangeArrowheads="1" noTextEdit="1"/>
          </p:cNvSpPr>
          <p:nvPr>
            <p:ph type="sldImg"/>
          </p:nvPr>
        </p:nvSpPr>
        <p:spPr>
          <a:xfrm>
            <a:off x="1193800" y="693738"/>
            <a:ext cx="4635500" cy="3476625"/>
          </a:xfrm>
          <a:solidFill>
            <a:srgbClr val="FFFFFF"/>
          </a:solidFill>
          <a:ln/>
        </p:spPr>
      </p:sp>
      <p:sp>
        <p:nvSpPr>
          <p:cNvPr id="41987"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Helvetica" pitchFamily="34" charset="0"/>
                <a:cs typeface="Helvetica" pitchFamily="34" charset="0"/>
                <a:sym typeface="Helvetica" pitchFamily="34" charset="0"/>
              </a:rPr>
              <a:t>The bioelectrostatic interactions play a crucial role in the function of biological molecules.  </a:t>
            </a:r>
          </a:p>
          <a:p>
            <a:endParaRPr lang="en-US">
              <a:latin typeface="Helvetica" pitchFamily="34" charset="0"/>
              <a:cs typeface="Helvetica" pitchFamily="34" charset="0"/>
              <a:sym typeface="Helvetica" pitchFamily="34" charset="0"/>
            </a:endParaRPr>
          </a:p>
          <a:p>
            <a:r>
              <a:rPr lang="en-US">
                <a:latin typeface="Helvetica" pitchFamily="34" charset="0"/>
                <a:cs typeface="Helvetica" pitchFamily="34" charset="0"/>
                <a:sym typeface="Helvetica" pitchFamily="34" charset="0"/>
              </a:rPr>
              <a:t>Classical molecular dynamics methods use all-atom representation of the bio-molecule and solvent ... they are very detailed, but too expensive for large systems.</a:t>
            </a:r>
          </a:p>
          <a:p>
            <a:endParaRPr lang="en-US">
              <a:latin typeface="Helvetica" pitchFamily="34" charset="0"/>
              <a:cs typeface="Helvetica" pitchFamily="34" charset="0"/>
              <a:sym typeface="Helvetica" pitchFamily="34" charset="0"/>
            </a:endParaRPr>
          </a:p>
          <a:p>
            <a:r>
              <a:rPr lang="en-US">
                <a:latin typeface="Helvetica" pitchFamily="34" charset="0"/>
                <a:cs typeface="Helvetica" pitchFamily="34" charset="0"/>
                <a:sym typeface="Helvetica" pitchFamily="34" charset="0"/>
              </a:rPr>
              <a:t>An alternative formulation of the physics is to use a continuum model of the solvated molecule. The model leads to a boundary integral equation problem on the molecular surface, which then needs to be solved using a fast algorithm (fast multipole method).</a:t>
            </a:r>
          </a:p>
        </p:txBody>
      </p:sp>
    </p:spTree>
    <p:extLst>
      <p:ext uri="{BB962C8B-B14F-4D97-AF65-F5344CB8AC3E}">
        <p14:creationId xmlns:p14="http://schemas.microsoft.com/office/powerpoint/2010/main" val="23772476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1.png"/><Relationship Id="rId5" Type="http://schemas.openxmlformats.org/officeDocument/2006/relationships/image" Target="../media/image2.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5614FD1-D902-4A59-BCAB-4AA8AF3D9081}"/>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descr="A picture containing shape&#10;&#10;Description automatically generated">
            <a:extLst>
              <a:ext uri="{FF2B5EF4-FFF2-40B4-BE49-F238E27FC236}">
                <a16:creationId xmlns:a16="http://schemas.microsoft.com/office/drawing/2014/main" id="{BA4AD1CF-AA6C-4924-8675-811F23CE0DB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24"/>
            <a:ext cx="9144000" cy="6850625"/>
          </a:xfrm>
          <a:prstGeom prst="rect">
            <a:avLst/>
          </a:prstGeom>
        </p:spPr>
      </p:pic>
      <p:sp>
        <p:nvSpPr>
          <p:cNvPr id="5" name="Rectangle 4">
            <a:extLst>
              <a:ext uri="{FF2B5EF4-FFF2-40B4-BE49-F238E27FC236}">
                <a16:creationId xmlns:a16="http://schemas.microsoft.com/office/drawing/2014/main" id="{F2E2EB6C-4AC4-41A2-8F72-A329B2E1580B}"/>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CDB9DDB9-4BD9-4BCF-86A4-772414CF0629}"/>
              </a:ext>
            </a:extLst>
          </p:cNvPr>
          <p:cNvGrpSpPr/>
          <p:nvPr userDrawn="1"/>
        </p:nvGrpSpPr>
        <p:grpSpPr>
          <a:xfrm>
            <a:off x="-72699" y="-3125"/>
            <a:ext cx="1374756" cy="1441923"/>
            <a:chOff x="-113156" y="25300"/>
            <a:chExt cx="1332205" cy="1441923"/>
          </a:xfrm>
        </p:grpSpPr>
        <p:sp>
          <p:nvSpPr>
            <p:cNvPr id="7" name="Rectangle: Rounded Corners 35">
              <a:extLst>
                <a:ext uri="{FF2B5EF4-FFF2-40B4-BE49-F238E27FC236}">
                  <a16:creationId xmlns:a16="http://schemas.microsoft.com/office/drawing/2014/main" id="{7957AE27-1DC8-4907-8AB1-2560A90A543A}"/>
                </a:ext>
              </a:extLst>
            </p:cNvPr>
            <p:cNvSpPr/>
            <p:nvPr/>
          </p:nvSpPr>
          <p:spPr>
            <a:xfrm>
              <a:off x="-43557" y="25300"/>
              <a:ext cx="1262606" cy="1441923"/>
            </a:xfrm>
            <a:prstGeom prst="roundRect">
              <a:avLst>
                <a:gd name="adj" fmla="val 0"/>
              </a:avLst>
            </a:prstGeom>
            <a:solidFill>
              <a:srgbClr val="4D4D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8" name="Picture 2" descr="Data Mining. Concepts and Techniques, 3rd Edition (The Morgan Kaufmann  Series in Data Management Systems)">
              <a:extLst>
                <a:ext uri="{FF2B5EF4-FFF2-40B4-BE49-F238E27FC236}">
                  <a16:creationId xmlns:a16="http://schemas.microsoft.com/office/drawing/2014/main" id="{9E395FDB-906D-4C55-85C3-0A95428EBDB4}"/>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12187" r="-1"/>
            <a:stretch/>
          </p:blipFill>
          <p:spPr bwMode="auto">
            <a:xfrm>
              <a:off x="-113156" y="357913"/>
              <a:ext cx="1317458" cy="770070"/>
            </a:xfrm>
            <a:prstGeom prst="rect">
              <a:avLst/>
            </a:prstGeom>
            <a:noFill/>
            <a:extLst>
              <a:ext uri="{909E8E84-426E-40DD-AFC4-6F175D3DCCD1}">
                <a14:hiddenFill xmlns:a14="http://schemas.microsoft.com/office/drawing/2010/main">
                  <a:solidFill>
                    <a:srgbClr val="FFFFFF"/>
                  </a:solidFill>
                </a14:hiddenFill>
              </a:ext>
            </a:extLst>
          </p:spPr>
        </p:pic>
      </p:grpSp>
      <p:sp>
        <p:nvSpPr>
          <p:cNvPr id="9" name="TextBox 8">
            <a:extLst>
              <a:ext uri="{FF2B5EF4-FFF2-40B4-BE49-F238E27FC236}">
                <a16:creationId xmlns:a16="http://schemas.microsoft.com/office/drawing/2014/main" id="{A2C3EE6A-8657-4A6B-87F7-02627342A27B}"/>
              </a:ext>
            </a:extLst>
          </p:cNvPr>
          <p:cNvSpPr txBox="1">
            <a:spLocks noChangeArrowheads="1"/>
          </p:cNvSpPr>
          <p:nvPr userDrawn="1"/>
        </p:nvSpPr>
        <p:spPr bwMode="auto">
          <a:xfrm>
            <a:off x="2636487" y="1788690"/>
            <a:ext cx="3731741" cy="261610"/>
          </a:xfrm>
          <a:prstGeom prst="roundRect">
            <a:avLst>
              <a:gd name="adj" fmla="val 0"/>
            </a:avLst>
          </a:prstGeom>
          <a:noFill/>
          <a:ln w="9525">
            <a:noFill/>
            <a:miter lim="800000"/>
            <a:headEnd/>
            <a:tailEnd/>
          </a:ln>
        </p:spPr>
        <p:txBody>
          <a:bodyPr wrap="square">
            <a:spAutoFit/>
          </a:bodyPr>
          <a:lstStyle/>
          <a:p>
            <a:pPr>
              <a:defRPr/>
            </a:pPr>
            <a:r>
              <a:rPr lang="en-GB" sz="1100" i="1" dirty="0">
                <a:solidFill>
                  <a:srgbClr val="53565A"/>
                </a:solidFill>
                <a:latin typeface="+mj-lt"/>
              </a:rPr>
              <a:t>Wen-</a:t>
            </a:r>
            <a:r>
              <a:rPr lang="en-GB" sz="1100" i="1" dirty="0" err="1">
                <a:solidFill>
                  <a:srgbClr val="53565A"/>
                </a:solidFill>
                <a:latin typeface="+mj-lt"/>
              </a:rPr>
              <a:t>mei</a:t>
            </a:r>
            <a:r>
              <a:rPr lang="en-GB" sz="1100" i="1" dirty="0">
                <a:solidFill>
                  <a:srgbClr val="53565A"/>
                </a:solidFill>
                <a:latin typeface="+mj-lt"/>
              </a:rPr>
              <a:t> </a:t>
            </a:r>
            <a:r>
              <a:rPr lang="en-GB" sz="1100" i="1" dirty="0" err="1">
                <a:solidFill>
                  <a:srgbClr val="53565A"/>
                </a:solidFill>
                <a:latin typeface="+mj-lt"/>
              </a:rPr>
              <a:t>Hwu</a:t>
            </a:r>
            <a:r>
              <a:rPr lang="en-GB" sz="1100" i="1" dirty="0">
                <a:solidFill>
                  <a:srgbClr val="53565A"/>
                </a:solidFill>
                <a:latin typeface="+mj-lt"/>
              </a:rPr>
              <a:t>, David Kirk, Izzat El Hajj</a:t>
            </a:r>
            <a:endParaRPr lang="en-US" sz="1100" i="1" dirty="0">
              <a:solidFill>
                <a:srgbClr val="53565A"/>
              </a:solidFill>
              <a:latin typeface="+mj-lt"/>
            </a:endParaRPr>
          </a:p>
        </p:txBody>
      </p:sp>
      <p:cxnSp>
        <p:nvCxnSpPr>
          <p:cNvPr id="10" name="Straight Connector 9">
            <a:extLst>
              <a:ext uri="{FF2B5EF4-FFF2-40B4-BE49-F238E27FC236}">
                <a16:creationId xmlns:a16="http://schemas.microsoft.com/office/drawing/2014/main" id="{243523CE-3289-4AA1-A7D0-4D0378C02A45}"/>
              </a:ext>
            </a:extLst>
          </p:cNvPr>
          <p:cNvCxnSpPr/>
          <p:nvPr userDrawn="1"/>
        </p:nvCxnSpPr>
        <p:spPr>
          <a:xfrm>
            <a:off x="2360588" y="1928406"/>
            <a:ext cx="275899" cy="0"/>
          </a:xfrm>
          <a:prstGeom prst="line">
            <a:avLst/>
          </a:prstGeom>
          <a:ln w="19050">
            <a:solidFill>
              <a:srgbClr val="53565A"/>
            </a:solidFill>
          </a:ln>
        </p:spPr>
        <p:style>
          <a:lnRef idx="1">
            <a:schemeClr val="accent1"/>
          </a:lnRef>
          <a:fillRef idx="0">
            <a:schemeClr val="accent1"/>
          </a:fillRef>
          <a:effectRef idx="0">
            <a:schemeClr val="accent1"/>
          </a:effectRef>
          <a:fontRef idx="minor">
            <a:schemeClr val="tx1"/>
          </a:fontRef>
        </p:style>
      </p:cxnSp>
      <p:pic>
        <p:nvPicPr>
          <p:cNvPr id="11" name="Picture 10" descr="Background pattern&#10;&#10;Description automatically generated">
            <a:extLst>
              <a:ext uri="{FF2B5EF4-FFF2-40B4-BE49-F238E27FC236}">
                <a16:creationId xmlns:a16="http://schemas.microsoft.com/office/drawing/2014/main" id="{2B1CFD73-162D-4195-B0FC-38DEE10693FE}"/>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r="14303"/>
          <a:stretch/>
        </p:blipFill>
        <p:spPr>
          <a:xfrm>
            <a:off x="1299246" y="1441973"/>
            <a:ext cx="7844400" cy="1577329"/>
          </a:xfrm>
          <a:prstGeom prst="rect">
            <a:avLst/>
          </a:prstGeom>
        </p:spPr>
      </p:pic>
      <p:sp>
        <p:nvSpPr>
          <p:cNvPr id="12" name="TextBox 11">
            <a:extLst>
              <a:ext uri="{FF2B5EF4-FFF2-40B4-BE49-F238E27FC236}">
                <a16:creationId xmlns:a16="http://schemas.microsoft.com/office/drawing/2014/main" id="{2BF7728A-41A1-445F-A9FF-56DF9F9BB7F1}"/>
              </a:ext>
            </a:extLst>
          </p:cNvPr>
          <p:cNvSpPr txBox="1"/>
          <p:nvPr userDrawn="1"/>
        </p:nvSpPr>
        <p:spPr bwMode="auto">
          <a:xfrm>
            <a:off x="1567422" y="1743145"/>
            <a:ext cx="5679695" cy="461665"/>
          </a:xfrm>
          <a:prstGeom prst="rect">
            <a:avLst/>
          </a:prstGeom>
          <a:noFill/>
        </p:spPr>
        <p:txBody>
          <a:bodyPr wrap="none">
            <a:spAutoFit/>
          </a:bodyPr>
          <a:lstStyle/>
          <a:p>
            <a:pPr>
              <a:defRPr/>
            </a:pPr>
            <a:r>
              <a:rPr lang="en-GB" sz="2400" b="1" dirty="0">
                <a:solidFill>
                  <a:schemeClr val="bg1"/>
                </a:solidFill>
              </a:rPr>
              <a:t>Programming Massively Parallel Processors</a:t>
            </a:r>
            <a:endParaRPr lang="en-US" sz="2400" b="1" dirty="0">
              <a:solidFill>
                <a:schemeClr val="bg1"/>
              </a:solidFill>
            </a:endParaRPr>
          </a:p>
        </p:txBody>
      </p:sp>
      <p:sp>
        <p:nvSpPr>
          <p:cNvPr id="13" name="TextBox 12">
            <a:extLst>
              <a:ext uri="{FF2B5EF4-FFF2-40B4-BE49-F238E27FC236}">
                <a16:creationId xmlns:a16="http://schemas.microsoft.com/office/drawing/2014/main" id="{0B215409-9B9B-4DB6-906D-C53B1CDED403}"/>
              </a:ext>
            </a:extLst>
          </p:cNvPr>
          <p:cNvSpPr txBox="1"/>
          <p:nvPr userDrawn="1"/>
        </p:nvSpPr>
        <p:spPr>
          <a:xfrm>
            <a:off x="1567421" y="2143201"/>
            <a:ext cx="2206373" cy="646331"/>
          </a:xfrm>
          <a:prstGeom prst="rect">
            <a:avLst/>
          </a:prstGeom>
          <a:noFill/>
        </p:spPr>
        <p:txBody>
          <a:bodyPr wrap="none" rtlCol="0">
            <a:spAutoFit/>
          </a:bodyPr>
          <a:lstStyle/>
          <a:p>
            <a:r>
              <a:rPr lang="en-GB" sz="1800" dirty="0">
                <a:solidFill>
                  <a:schemeClr val="bg1"/>
                </a:solidFill>
                <a:latin typeface="+mj-lt"/>
              </a:rPr>
              <a:t>A Hands-on Approach</a:t>
            </a:r>
            <a:endParaRPr lang="en-US" sz="1800" dirty="0">
              <a:solidFill>
                <a:schemeClr val="bg1"/>
              </a:solidFill>
              <a:latin typeface="+mj-lt"/>
            </a:endParaRPr>
          </a:p>
          <a:p>
            <a:endParaRPr lang="en-IN" dirty="0"/>
          </a:p>
        </p:txBody>
      </p:sp>
      <p:sp>
        <p:nvSpPr>
          <p:cNvPr id="14" name="Rectangle 13">
            <a:extLst>
              <a:ext uri="{FF2B5EF4-FFF2-40B4-BE49-F238E27FC236}">
                <a16:creationId xmlns:a16="http://schemas.microsoft.com/office/drawing/2014/main" id="{C364E5FD-D2A2-4A68-8897-43FA77D6453D}"/>
              </a:ext>
            </a:extLst>
          </p:cNvPr>
          <p:cNvSpPr/>
          <p:nvPr userDrawn="1"/>
        </p:nvSpPr>
        <p:spPr>
          <a:xfrm>
            <a:off x="1299245" y="3024958"/>
            <a:ext cx="7836105" cy="6006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dirty="0"/>
              <a:t>z</a:t>
            </a:r>
          </a:p>
        </p:txBody>
      </p:sp>
      <p:pic>
        <p:nvPicPr>
          <p:cNvPr id="17" name="Picture 16" descr="A picture containing night sky&#10;&#10;Description automatically generated">
            <a:extLst>
              <a:ext uri="{FF2B5EF4-FFF2-40B4-BE49-F238E27FC236}">
                <a16:creationId xmlns:a16="http://schemas.microsoft.com/office/drawing/2014/main" id="{CB3A55CF-D158-4A58-A4DE-DEEA1CF1071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93773" y="4445883"/>
            <a:ext cx="4410075" cy="1952625"/>
          </a:xfrm>
          <a:prstGeom prst="rect">
            <a:avLst/>
          </a:prstGeom>
        </p:spPr>
      </p:pic>
      <p:sp>
        <p:nvSpPr>
          <p:cNvPr id="18" name="L-Shape 17">
            <a:extLst>
              <a:ext uri="{FF2B5EF4-FFF2-40B4-BE49-F238E27FC236}">
                <a16:creationId xmlns:a16="http://schemas.microsoft.com/office/drawing/2014/main" id="{715CF1CF-E105-4089-BA77-56B70A742ECB}"/>
              </a:ext>
            </a:extLst>
          </p:cNvPr>
          <p:cNvSpPr/>
          <p:nvPr userDrawn="1"/>
        </p:nvSpPr>
        <p:spPr>
          <a:xfrm rot="13500000">
            <a:off x="2939485" y="3242288"/>
            <a:ext cx="140020" cy="140020"/>
          </a:xfrm>
          <a:prstGeom prst="corner">
            <a:avLst>
              <a:gd name="adj1" fmla="val 27650"/>
              <a:gd name="adj2" fmla="val 25788"/>
            </a:avLst>
          </a:prstGeom>
          <a:solidFill>
            <a:srgbClr val="DB85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0E928E1F-54E8-4389-82DD-5CF4C77F4AB0}"/>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0" name="Picture 19" descr="Chart&#10;&#10;Description automatically generated">
            <a:extLst>
              <a:ext uri="{FF2B5EF4-FFF2-40B4-BE49-F238E27FC236}">
                <a16:creationId xmlns:a16="http://schemas.microsoft.com/office/drawing/2014/main" id="{083DB60B-7D3C-470B-9BE6-C4062D6A1D49}"/>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6690372" y="3636069"/>
            <a:ext cx="2232972" cy="2762439"/>
          </a:xfrm>
          <a:prstGeom prst="rect">
            <a:avLst/>
          </a:prstGeom>
        </p:spPr>
      </p:pic>
      <p:sp>
        <p:nvSpPr>
          <p:cNvPr id="21" name="Rectangle 7">
            <a:extLst>
              <a:ext uri="{FF2B5EF4-FFF2-40B4-BE49-F238E27FC236}">
                <a16:creationId xmlns:a16="http://schemas.microsoft.com/office/drawing/2014/main" id="{21B15398-A182-4C0B-854E-654EA8B5B28D}"/>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23" name="Text Placeholder 22"/>
          <p:cNvSpPr>
            <a:spLocks noGrp="1"/>
          </p:cNvSpPr>
          <p:nvPr>
            <p:ph type="body" sz="quarter" idx="10" hasCustomPrompt="1"/>
          </p:nvPr>
        </p:nvSpPr>
        <p:spPr>
          <a:xfrm>
            <a:off x="1298575" y="3011550"/>
            <a:ext cx="1611556" cy="606145"/>
          </a:xfrm>
          <a:prstGeom prst="rect">
            <a:avLst/>
          </a:prstGeom>
        </p:spPr>
        <p:txBody>
          <a:bodyPr anchor="ctr" anchorCtr="0"/>
          <a:lstStyle>
            <a:lvl1pPr marL="0" indent="0">
              <a:buNone/>
              <a:defRPr sz="2000" b="1" cap="all" baseline="0">
                <a:latin typeface="+mn-lt"/>
              </a:defRPr>
            </a:lvl1pPr>
          </a:lstStyle>
          <a:p>
            <a:pPr lvl="0"/>
            <a:r>
              <a:rPr lang="en-US" dirty="0"/>
              <a:t>Chapter #</a:t>
            </a:r>
          </a:p>
        </p:txBody>
      </p:sp>
      <p:sp>
        <p:nvSpPr>
          <p:cNvPr id="27" name="Text Placeholder 22"/>
          <p:cNvSpPr>
            <a:spLocks noGrp="1"/>
          </p:cNvSpPr>
          <p:nvPr>
            <p:ph type="body" sz="quarter" idx="11" hasCustomPrompt="1"/>
          </p:nvPr>
        </p:nvSpPr>
        <p:spPr>
          <a:xfrm>
            <a:off x="3146829" y="3011550"/>
            <a:ext cx="5898609" cy="606145"/>
          </a:xfrm>
          <a:prstGeom prst="rect">
            <a:avLst/>
          </a:prstGeom>
        </p:spPr>
        <p:txBody>
          <a:bodyPr anchor="ctr" anchorCtr="0"/>
          <a:lstStyle>
            <a:lvl1pPr marL="0" indent="0">
              <a:buNone/>
              <a:defRPr sz="2000" b="1" cap="none" baseline="0">
                <a:latin typeface="+mj-lt"/>
              </a:defRPr>
            </a:lvl1pPr>
          </a:lstStyle>
          <a:p>
            <a:pPr lvl="0"/>
            <a:r>
              <a:rPr lang="en-US" dirty="0"/>
              <a:t>Chapter Title</a:t>
            </a:r>
          </a:p>
        </p:txBody>
      </p:sp>
    </p:spTree>
    <p:extLst>
      <p:ext uri="{BB962C8B-B14F-4D97-AF65-F5344CB8AC3E}">
        <p14:creationId xmlns:p14="http://schemas.microsoft.com/office/powerpoint/2010/main" val="2487965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8" name="Content Placeholder 2">
            <a:extLst>
              <a:ext uri="{FF2B5EF4-FFF2-40B4-BE49-F238E27FC236}">
                <a16:creationId xmlns:a16="http://schemas.microsoft.com/office/drawing/2014/main" id="{370D1EB3-9074-4E31-9DCF-ADFD596A7E89}"/>
              </a:ext>
            </a:extLst>
          </p:cNvPr>
          <p:cNvSpPr>
            <a:spLocks noGrp="1"/>
          </p:cNvSpPr>
          <p:nvPr>
            <p:ph sz="half" idx="1"/>
          </p:nvPr>
        </p:nvSpPr>
        <p:spPr>
          <a:xfrm>
            <a:off x="350672" y="838072"/>
            <a:ext cx="8464802" cy="5584630"/>
          </a:xfrm>
          <a:prstGeom prst="rect">
            <a:avLst/>
          </a:prstGeo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21174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ext Placeholder 2">
            <a:extLst>
              <a:ext uri="{FF2B5EF4-FFF2-40B4-BE49-F238E27FC236}">
                <a16:creationId xmlns:a16="http://schemas.microsoft.com/office/drawing/2014/main" id="{71011D6E-2CED-4BBC-A66B-38F7B0BDDCF4}"/>
              </a:ext>
            </a:extLst>
          </p:cNvPr>
          <p:cNvSpPr>
            <a:spLocks noGrp="1"/>
          </p:cNvSpPr>
          <p:nvPr>
            <p:ph type="body" idx="10"/>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654453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514897"/>
            <a:ext cx="3868340"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Edit Master text styles</a:t>
            </a:r>
          </a:p>
        </p:txBody>
      </p:sp>
      <p:sp>
        <p:nvSpPr>
          <p:cNvPr id="4" name="Content Placeholder 3"/>
          <p:cNvSpPr>
            <a:spLocks noGrp="1"/>
          </p:cNvSpPr>
          <p:nvPr>
            <p:ph sz="half" idx="2"/>
          </p:nvPr>
        </p:nvSpPr>
        <p:spPr>
          <a:xfrm>
            <a:off x="629842" y="1248402"/>
            <a:ext cx="3868340"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29150" y="514897"/>
            <a:ext cx="3887391" cy="645898"/>
          </a:xfrm>
        </p:spPr>
        <p:txBody>
          <a:bodyPr anchor="b"/>
          <a:lstStyle>
            <a:lvl1pPr marL="0" indent="0" algn="ctr">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1248402"/>
            <a:ext cx="3887391" cy="5261907"/>
          </a:xfrm>
        </p:spPr>
        <p:txBody>
          <a:bodyPr/>
          <a:lstStyle>
            <a:lvl1pPr>
              <a:defRPr sz="20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71011D6E-2CED-4BBC-A66B-38F7B0BDDCF4}"/>
              </a:ext>
            </a:extLst>
          </p:cNvPr>
          <p:cNvSpPr>
            <a:spLocks noGrp="1"/>
          </p:cNvSpPr>
          <p:nvPr>
            <p:ph type="body" idx="13"/>
          </p:nvPr>
        </p:nvSpPr>
        <p:spPr>
          <a:xfrm>
            <a:off x="1018908" y="43891"/>
            <a:ext cx="7886700" cy="453544"/>
          </a:xfrm>
          <a:prstGeom prst="rect">
            <a:avLst/>
          </a:prstGeo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Tree>
    <p:extLst>
      <p:ext uri="{BB962C8B-B14F-4D97-AF65-F5344CB8AC3E}">
        <p14:creationId xmlns:p14="http://schemas.microsoft.com/office/powerpoint/2010/main" val="336891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1018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Picture 11" descr="A picture containing night sky&#10;&#10;Description automatically generated">
            <a:extLst>
              <a:ext uri="{FF2B5EF4-FFF2-40B4-BE49-F238E27FC236}">
                <a16:creationId xmlns:a16="http://schemas.microsoft.com/office/drawing/2014/main" id="{0451918C-3068-494B-B756-EB2CEF6603DC}"/>
              </a:ext>
            </a:extLst>
          </p:cNvPr>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flipH="1">
            <a:off x="-1" y="5538866"/>
            <a:ext cx="3013881" cy="1334439"/>
          </a:xfrm>
          <a:prstGeom prst="rect">
            <a:avLst/>
          </a:prstGeom>
        </p:spPr>
      </p:pic>
      <p:sp>
        <p:nvSpPr>
          <p:cNvPr id="13" name="Rectangle 5">
            <a:extLst>
              <a:ext uri="{FF2B5EF4-FFF2-40B4-BE49-F238E27FC236}">
                <a16:creationId xmlns:a16="http://schemas.microsoft.com/office/drawing/2014/main" id="{31DF901C-E89A-4945-9091-D20419752365}"/>
              </a:ext>
            </a:extLst>
          </p:cNvPr>
          <p:cNvSpPr/>
          <p:nvPr userDrawn="1"/>
        </p:nvSpPr>
        <p:spPr>
          <a:xfrm>
            <a:off x="6914848" y="4280108"/>
            <a:ext cx="2226852" cy="2533254"/>
          </a:xfrm>
          <a:custGeom>
            <a:avLst/>
            <a:gdLst>
              <a:gd name="connsiteX0" fmla="*/ 0 w 4572000"/>
              <a:gd name="connsiteY0" fmla="*/ 0 h 3429000"/>
              <a:gd name="connsiteX1" fmla="*/ 4572000 w 4572000"/>
              <a:gd name="connsiteY1" fmla="*/ 0 h 3429000"/>
              <a:gd name="connsiteX2" fmla="*/ 4572000 w 4572000"/>
              <a:gd name="connsiteY2" fmla="*/ 3429000 h 3429000"/>
              <a:gd name="connsiteX3" fmla="*/ 0 w 4572000"/>
              <a:gd name="connsiteY3" fmla="*/ 3429000 h 3429000"/>
              <a:gd name="connsiteX4" fmla="*/ 0 w 4572000"/>
              <a:gd name="connsiteY4" fmla="*/ 0 h 3429000"/>
              <a:gd name="connsiteX0" fmla="*/ 0 w 4572000"/>
              <a:gd name="connsiteY0" fmla="*/ 3429000 h 3429000"/>
              <a:gd name="connsiteX1" fmla="*/ 4572000 w 4572000"/>
              <a:gd name="connsiteY1" fmla="*/ 0 h 3429000"/>
              <a:gd name="connsiteX2" fmla="*/ 4572000 w 4572000"/>
              <a:gd name="connsiteY2" fmla="*/ 3429000 h 3429000"/>
              <a:gd name="connsiteX3" fmla="*/ 0 w 457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4572000" h="3429000">
                <a:moveTo>
                  <a:pt x="0" y="3429000"/>
                </a:moveTo>
                <a:lnTo>
                  <a:pt x="4572000" y="0"/>
                </a:lnTo>
                <a:lnTo>
                  <a:pt x="4572000" y="3429000"/>
                </a:lnTo>
                <a:lnTo>
                  <a:pt x="0" y="3429000"/>
                </a:lnTo>
                <a:close/>
              </a:path>
            </a:pathLst>
          </a:custGeom>
          <a:solidFill>
            <a:schemeClr val="bg1">
              <a:lumMod val="95000"/>
              <a:alpha val="4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7" name="Picture 6">
            <a:extLst>
              <a:ext uri="{FF2B5EF4-FFF2-40B4-BE49-F238E27FC236}">
                <a16:creationId xmlns:a16="http://schemas.microsoft.com/office/drawing/2014/main" id="{967E801F-3FA2-4ED1-804F-E330EBA748E7}"/>
              </a:ext>
            </a:extLst>
          </p:cNvPr>
          <p:cNvPicPr>
            <a:picLocks noChangeAspect="1"/>
          </p:cNvPicPr>
          <p:nvPr userDrawn="1"/>
        </p:nvPicPr>
        <p:blipFill rotWithShape="1">
          <a:blip r:embed="rId8">
            <a:extLst>
              <a:ext uri="{28A0092B-C50C-407E-A947-70E740481C1C}">
                <a14:useLocalDpi xmlns:a14="http://schemas.microsoft.com/office/drawing/2010/main" val="0"/>
              </a:ext>
            </a:extLst>
          </a:blip>
          <a:srcRect l="991" t="4554" r="77" b="59326"/>
          <a:stretch/>
        </p:blipFill>
        <p:spPr>
          <a:xfrm>
            <a:off x="930683" y="-1553"/>
            <a:ext cx="8211017" cy="511200"/>
          </a:xfrm>
          <a:prstGeom prst="rect">
            <a:avLst/>
          </a:prstGeom>
        </p:spPr>
      </p:pic>
      <p:pic>
        <p:nvPicPr>
          <p:cNvPr id="8" name="Picture 2" descr="Data Mining. Concepts and Techniques, 3rd Edition (The Morgan Kaufmann  Series in Data Management Systems)">
            <a:extLst>
              <a:ext uri="{FF2B5EF4-FFF2-40B4-BE49-F238E27FC236}">
                <a16:creationId xmlns:a16="http://schemas.microsoft.com/office/drawing/2014/main" id="{A52DA9B2-CDDD-4030-BA37-75FEC690ABAD}"/>
              </a:ext>
            </a:extLst>
          </p:cNvPr>
          <p:cNvPicPr>
            <a:picLocks noChangeAspect="1" noChangeArrowheads="1"/>
          </p:cNvPicPr>
          <p:nvPr userDrawn="1"/>
        </p:nvPicPr>
        <p:blipFill>
          <a:blip r:embed="rId9">
            <a:extLst>
              <a:ext uri="{BEBA8EAE-BF5A-486C-A8C5-ECC9F3942E4B}">
                <a14:imgProps xmlns:a14="http://schemas.microsoft.com/office/drawing/2010/main">
                  <a14:imgLayer r:embed="rId10">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0" y="0"/>
            <a:ext cx="930682" cy="509878"/>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a:extLst>
              <a:ext uri="{FF2B5EF4-FFF2-40B4-BE49-F238E27FC236}">
                <a16:creationId xmlns:a16="http://schemas.microsoft.com/office/drawing/2014/main" id="{6E92C0D8-7584-4BDC-BE7D-11D53629CF58}"/>
              </a:ext>
            </a:extLst>
          </p:cNvPr>
          <p:cNvSpPr/>
          <p:nvPr userDrawn="1"/>
        </p:nvSpPr>
        <p:spPr>
          <a:xfrm>
            <a:off x="-2300" y="6812281"/>
            <a:ext cx="9144000" cy="45719"/>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7">
            <a:extLst>
              <a:ext uri="{FF2B5EF4-FFF2-40B4-BE49-F238E27FC236}">
                <a16:creationId xmlns:a16="http://schemas.microsoft.com/office/drawing/2014/main" id="{80D6273C-93F4-4ED4-A1B6-1578A4766C97}"/>
              </a:ext>
            </a:extLst>
          </p:cNvPr>
          <p:cNvSpPr>
            <a:spLocks/>
          </p:cNvSpPr>
          <p:nvPr userDrawn="1"/>
        </p:nvSpPr>
        <p:spPr bwMode="auto">
          <a:xfrm>
            <a:off x="59677" y="6603329"/>
            <a:ext cx="1579154" cy="185454"/>
          </a:xfrm>
          <a:prstGeom prst="rect">
            <a:avLst/>
          </a:prstGeom>
          <a:noFill/>
          <a:ln>
            <a:noFill/>
          </a:ln>
        </p:spPr>
        <p:txBody>
          <a:bodyPr lIns="0" tIns="0" rIns="40639" bIns="0" anchor="ctr"/>
          <a:lstStyle>
            <a:lvl1pPr marL="39688" eaLnBrk="0" hangingPunct="0">
              <a:defRPr sz="2400">
                <a:solidFill>
                  <a:srgbClr val="000000"/>
                </a:solidFill>
                <a:latin typeface="Times New Roman" panose="02020603050405020304" pitchFamily="18" charset="0"/>
                <a:sym typeface="Times New Roman" panose="02020603050405020304" pitchFamily="18" charset="0"/>
              </a:defRPr>
            </a:lvl1pPr>
            <a:lvl2pPr marL="742950" indent="-285750" eaLnBrk="0" hangingPunct="0">
              <a:defRPr sz="2400">
                <a:solidFill>
                  <a:srgbClr val="000000"/>
                </a:solidFill>
                <a:latin typeface="Times New Roman" panose="02020603050405020304" pitchFamily="18" charset="0"/>
                <a:sym typeface="Times New Roman" panose="02020603050405020304" pitchFamily="18" charset="0"/>
              </a:defRPr>
            </a:lvl2pPr>
            <a:lvl3pPr marL="1143000" indent="-228600" eaLnBrk="0" hangingPunct="0">
              <a:defRPr sz="2400">
                <a:solidFill>
                  <a:srgbClr val="000000"/>
                </a:solidFill>
                <a:latin typeface="Times New Roman" panose="02020603050405020304" pitchFamily="18" charset="0"/>
                <a:sym typeface="Times New Roman" panose="02020603050405020304" pitchFamily="18" charset="0"/>
              </a:defRPr>
            </a:lvl3pPr>
            <a:lvl4pPr marL="1600200" indent="-228600" eaLnBrk="0" hangingPunct="0">
              <a:defRPr sz="2400">
                <a:solidFill>
                  <a:srgbClr val="000000"/>
                </a:solidFill>
                <a:latin typeface="Times New Roman" panose="02020603050405020304" pitchFamily="18" charset="0"/>
                <a:sym typeface="Times New Roman" panose="02020603050405020304" pitchFamily="18" charset="0"/>
              </a:defRPr>
            </a:lvl4pPr>
            <a:lvl5pPr marL="2057400" indent="-228600" eaLnBrk="0" hangingPunct="0">
              <a:defRPr sz="2400">
                <a:solidFill>
                  <a:srgbClr val="000000"/>
                </a:solidFill>
                <a:latin typeface="Times New Roman" panose="02020603050405020304" pitchFamily="18" charset="0"/>
                <a:sym typeface="Times New Roman" panose="02020603050405020304" pitchFamily="18" charset="0"/>
              </a:defRPr>
            </a:lvl5pPr>
            <a:lvl6pPr marL="25146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6pPr>
            <a:lvl7pPr marL="29718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7pPr>
            <a:lvl8pPr marL="34290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8pPr>
            <a:lvl9pPr marL="3886200" indent="-228600" eaLnBrk="0" fontAlgn="base" hangingPunct="0">
              <a:spcBef>
                <a:spcPct val="0"/>
              </a:spcBef>
              <a:spcAft>
                <a:spcPct val="0"/>
              </a:spcAft>
              <a:defRPr sz="2400">
                <a:solidFill>
                  <a:srgbClr val="000000"/>
                </a:solidFill>
                <a:latin typeface="Times New Roman" panose="02020603050405020304" pitchFamily="18" charset="0"/>
                <a:sym typeface="Times New Roman" panose="02020603050405020304" pitchFamily="18" charset="0"/>
              </a:defRPr>
            </a:lvl9pPr>
          </a:lstStyle>
          <a:p>
            <a:pPr eaLnBrk="1" hangingPunct="1"/>
            <a:r>
              <a:rPr lang="en-US" altLang="en-US" sz="800" dirty="0">
                <a:solidFill>
                  <a:schemeClr val="tx1">
                    <a:lumMod val="50000"/>
                    <a:lumOff val="50000"/>
                  </a:schemeClr>
                </a:solidFill>
                <a:latin typeface="Arial" panose="020B0604020202020204" pitchFamily="34" charset="0"/>
                <a:cs typeface="Arial" panose="020B0604020202020204" pitchFamily="34" charset="0"/>
                <a:sym typeface="Arial" panose="020B0604020202020204" pitchFamily="34" charset="0"/>
              </a:rPr>
              <a:t>Copyright © 2022 Elsevier</a:t>
            </a:r>
          </a:p>
        </p:txBody>
      </p:sp>
      <p:sp>
        <p:nvSpPr>
          <p:cNvPr id="14" name="Rectangle 13">
            <a:extLst>
              <a:ext uri="{FF2B5EF4-FFF2-40B4-BE49-F238E27FC236}">
                <a16:creationId xmlns:a16="http://schemas.microsoft.com/office/drawing/2014/main" id="{D26B0C97-5D7F-45E4-B756-6265FC57D53E}"/>
              </a:ext>
            </a:extLst>
          </p:cNvPr>
          <p:cNvSpPr/>
          <p:nvPr userDrawn="1"/>
        </p:nvSpPr>
        <p:spPr>
          <a:xfrm>
            <a:off x="7884826" y="6812281"/>
            <a:ext cx="1259174" cy="45719"/>
          </a:xfrm>
          <a:prstGeom prst="rect">
            <a:avLst/>
          </a:prstGeom>
          <a:solidFill>
            <a:srgbClr val="DC86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236460033"/>
      </p:ext>
    </p:extLst>
  </p:cSld>
  <p:clrMap bg1="lt1" tx1="dk1" bg2="lt2" tx2="dk2" accent1="accent1" accent2="accent2" accent3="accent3" accent4="accent4" accent5="accent5" accent6="accent6" hlink="hlink" folHlink="folHlink"/>
  <p:sldLayoutIdLst>
    <p:sldLayoutId id="2147483663" r:id="rId1"/>
    <p:sldLayoutId id="2147483662" r:id="rId2"/>
    <p:sldLayoutId id="2147483664" r:id="rId3"/>
    <p:sldLayoutId id="2147483667" r:id="rId4"/>
    <p:sldLayoutId id="2147483665" r:id="rId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9.emf"/><Relationship Id="rId4" Type="http://schemas.openxmlformats.org/officeDocument/2006/relationships/image" Target="../media/image8.emf"/></Relationships>
</file>

<file path=ppt/slides/_rels/slide1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7.emf"/><Relationship Id="rId4" Type="http://schemas.openxmlformats.org/officeDocument/2006/relationships/image" Target="../media/image10.emf"/></Relationships>
</file>

<file path=ppt/slides/_rels/slide20.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r>
              <a:rPr lang="en-US" dirty="0"/>
              <a:t>Chapter 19</a:t>
            </a:r>
          </a:p>
        </p:txBody>
      </p:sp>
      <p:sp>
        <p:nvSpPr>
          <p:cNvPr id="5" name="Text Placeholder 4"/>
          <p:cNvSpPr>
            <a:spLocks noGrp="1"/>
          </p:cNvSpPr>
          <p:nvPr>
            <p:ph type="body" sz="quarter" idx="11"/>
          </p:nvPr>
        </p:nvSpPr>
        <p:spPr/>
        <p:txBody>
          <a:bodyPr/>
          <a:lstStyle/>
          <a:p>
            <a:r>
              <a:rPr lang="en-US" dirty="0"/>
              <a:t>Computational Thinking</a:t>
            </a:r>
          </a:p>
        </p:txBody>
      </p:sp>
    </p:spTree>
    <p:extLst>
      <p:ext uri="{BB962C8B-B14F-4D97-AF65-F5344CB8AC3E}">
        <p14:creationId xmlns:p14="http://schemas.microsoft.com/office/powerpoint/2010/main" val="3831425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901B08-4C3A-181A-21E3-75278B50D4DA}"/>
              </a:ext>
            </a:extLst>
          </p:cNvPr>
          <p:cNvSpPr>
            <a:spLocks noGrp="1"/>
          </p:cNvSpPr>
          <p:nvPr>
            <p:ph type="body" idx="10"/>
          </p:nvPr>
        </p:nvSpPr>
        <p:spPr/>
        <p:txBody>
          <a:bodyPr/>
          <a:lstStyle/>
          <a:p>
            <a:r>
              <a:rPr lang="en-US" dirty="0"/>
              <a:t>Objective</a:t>
            </a:r>
          </a:p>
        </p:txBody>
      </p:sp>
      <p:sp>
        <p:nvSpPr>
          <p:cNvPr id="3" name="Content Placeholder 2">
            <a:extLst>
              <a:ext uri="{FF2B5EF4-FFF2-40B4-BE49-F238E27FC236}">
                <a16:creationId xmlns:a16="http://schemas.microsoft.com/office/drawing/2014/main" id="{4C164611-65EB-8644-C4E9-288F125AF68F}"/>
              </a:ext>
            </a:extLst>
          </p:cNvPr>
          <p:cNvSpPr>
            <a:spLocks noGrp="1"/>
          </p:cNvSpPr>
          <p:nvPr>
            <p:ph sz="half" idx="1"/>
          </p:nvPr>
        </p:nvSpPr>
        <p:spPr/>
        <p:txBody>
          <a:bodyPr/>
          <a:lstStyle/>
          <a:p>
            <a:pPr eaLnBrk="1" hangingPunct="1"/>
            <a:r>
              <a:rPr lang="en-US" dirty="0"/>
              <a:t>To provide you with a framework for further studies on</a:t>
            </a:r>
          </a:p>
          <a:p>
            <a:pPr lvl="1" eaLnBrk="1" hangingPunct="1"/>
            <a:r>
              <a:rPr lang="en-US" dirty="0"/>
              <a:t>Thinking about the problems of parallel programming</a:t>
            </a:r>
          </a:p>
          <a:p>
            <a:pPr lvl="1" eaLnBrk="1" hangingPunct="1"/>
            <a:r>
              <a:rPr lang="en-US" dirty="0"/>
              <a:t>Discussing your work with others</a:t>
            </a:r>
          </a:p>
          <a:p>
            <a:pPr lvl="1" eaLnBrk="1" hangingPunct="1"/>
            <a:r>
              <a:rPr lang="en-US" dirty="0"/>
              <a:t>Approaching complex parallel programming problems</a:t>
            </a:r>
          </a:p>
          <a:p>
            <a:pPr lvl="1" eaLnBrk="1" hangingPunct="1"/>
            <a:r>
              <a:rPr lang="en-US" dirty="0"/>
              <a:t>Using or building useful tools and environments</a:t>
            </a:r>
          </a:p>
          <a:p>
            <a:endParaRPr lang="en-US" dirty="0"/>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3E75BEF-4463-3467-1F73-2570518D1220}"/>
              </a:ext>
            </a:extLst>
          </p:cNvPr>
          <p:cNvSpPr>
            <a:spLocks noGrp="1"/>
          </p:cNvSpPr>
          <p:nvPr>
            <p:ph type="body" idx="10"/>
          </p:nvPr>
        </p:nvSpPr>
        <p:spPr/>
        <p:txBody>
          <a:bodyPr/>
          <a:lstStyle/>
          <a:p>
            <a:r>
              <a:rPr lang="en-US" dirty="0"/>
              <a:t>Fundamentals of Parallel Computing </a:t>
            </a:r>
          </a:p>
        </p:txBody>
      </p:sp>
      <p:sp>
        <p:nvSpPr>
          <p:cNvPr id="3" name="Content Placeholder 2">
            <a:extLst>
              <a:ext uri="{FF2B5EF4-FFF2-40B4-BE49-F238E27FC236}">
                <a16:creationId xmlns:a16="http://schemas.microsoft.com/office/drawing/2014/main" id="{E97A502F-C068-659A-4A8F-F9A777C55488}"/>
              </a:ext>
            </a:extLst>
          </p:cNvPr>
          <p:cNvSpPr>
            <a:spLocks noGrp="1"/>
          </p:cNvSpPr>
          <p:nvPr>
            <p:ph sz="half" idx="1"/>
          </p:nvPr>
        </p:nvSpPr>
        <p:spPr/>
        <p:txBody>
          <a:bodyPr/>
          <a:lstStyle/>
          <a:p>
            <a:pPr eaLnBrk="1" hangingPunct="1"/>
            <a:r>
              <a:rPr lang="en-US" dirty="0"/>
              <a:t>Parallel computing requires that</a:t>
            </a:r>
          </a:p>
          <a:p>
            <a:pPr lvl="1" eaLnBrk="1" hangingPunct="1"/>
            <a:r>
              <a:rPr lang="en-US" dirty="0"/>
              <a:t>The problem can be decomposed into sub-problems that can be safely solved at the same time</a:t>
            </a:r>
          </a:p>
          <a:p>
            <a:pPr lvl="1" eaLnBrk="1" hangingPunct="1"/>
            <a:r>
              <a:rPr lang="en-US" dirty="0"/>
              <a:t>The programmer structures the code and data to solve these sub-problems concurrently</a:t>
            </a:r>
          </a:p>
          <a:p>
            <a:pPr eaLnBrk="1" hangingPunct="1"/>
            <a:r>
              <a:rPr lang="en-US" dirty="0"/>
              <a:t>The goals of parallel computing  are</a:t>
            </a:r>
          </a:p>
          <a:p>
            <a:pPr lvl="1" eaLnBrk="1" hangingPunct="1"/>
            <a:r>
              <a:rPr lang="en-US" dirty="0"/>
              <a:t>To solve problems in less time (strong scaling), and/or</a:t>
            </a:r>
          </a:p>
          <a:p>
            <a:pPr lvl="1" eaLnBrk="1" hangingPunct="1"/>
            <a:r>
              <a:rPr lang="en-US" dirty="0"/>
              <a:t>To solve bigger problems (weak scaling), and/or</a:t>
            </a:r>
          </a:p>
          <a:p>
            <a:pPr lvl="1" eaLnBrk="1" hangingPunct="1"/>
            <a:r>
              <a:rPr lang="en-US" dirty="0"/>
              <a:t>To achieve better solutions (advancing science)</a:t>
            </a:r>
          </a:p>
          <a:p>
            <a:endParaRPr lang="en-US" dirty="0"/>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3</a:t>
            </a:fld>
            <a:endParaRPr lang="en-US"/>
          </a:p>
        </p:txBody>
      </p:sp>
      <p:sp>
        <p:nvSpPr>
          <p:cNvPr id="7173" name="Text Box 4"/>
          <p:cNvSpPr txBox="1">
            <a:spLocks noChangeArrowheads="1"/>
          </p:cNvSpPr>
          <p:nvPr/>
        </p:nvSpPr>
        <p:spPr bwMode="auto">
          <a:xfrm>
            <a:off x="990600" y="5410200"/>
            <a:ext cx="7772400" cy="822325"/>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eaLnBrk="1" hangingPunct="1"/>
            <a:r>
              <a:rPr lang="en-US" b="1"/>
              <a:t>The problems must be large enough to </a:t>
            </a:r>
            <a:r>
              <a:rPr lang="en-US" b="1">
                <a:solidFill>
                  <a:schemeClr val="accent2"/>
                </a:solidFill>
              </a:rPr>
              <a:t>justify</a:t>
            </a:r>
            <a:r>
              <a:rPr lang="en-US" b="1"/>
              <a:t> parallel computing and to exhibit </a:t>
            </a:r>
            <a:r>
              <a:rPr lang="en-US" b="1">
                <a:solidFill>
                  <a:schemeClr val="accent2"/>
                </a:solidFill>
              </a:rPr>
              <a:t>exploitable concurrency</a:t>
            </a:r>
            <a:r>
              <a:rPr lang="en-US" b="1"/>
              <a:t>.</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1481990-1C47-4252-0258-0E2546FC2F8D}"/>
              </a:ext>
            </a:extLst>
          </p:cNvPr>
          <p:cNvSpPr>
            <a:spLocks noGrp="1"/>
          </p:cNvSpPr>
          <p:nvPr>
            <p:ph type="body" idx="10"/>
          </p:nvPr>
        </p:nvSpPr>
        <p:spPr/>
        <p:txBody>
          <a:bodyPr/>
          <a:lstStyle/>
          <a:p>
            <a:r>
              <a:rPr lang="en-US" dirty="0"/>
              <a:t>Shared Memory vs. Message Passing</a:t>
            </a:r>
          </a:p>
        </p:txBody>
      </p:sp>
      <p:sp>
        <p:nvSpPr>
          <p:cNvPr id="3" name="Content Placeholder 2">
            <a:extLst>
              <a:ext uri="{FF2B5EF4-FFF2-40B4-BE49-F238E27FC236}">
                <a16:creationId xmlns:a16="http://schemas.microsoft.com/office/drawing/2014/main" id="{D01E02CE-BD65-5045-FD0C-E8E7219BDE6C}"/>
              </a:ext>
            </a:extLst>
          </p:cNvPr>
          <p:cNvSpPr>
            <a:spLocks noGrp="1"/>
          </p:cNvSpPr>
          <p:nvPr>
            <p:ph sz="half" idx="1"/>
          </p:nvPr>
        </p:nvSpPr>
        <p:spPr/>
        <p:txBody>
          <a:bodyPr/>
          <a:lstStyle/>
          <a:p>
            <a:pPr eaLnBrk="1" hangingPunct="1"/>
            <a:r>
              <a:rPr lang="en-US" dirty="0"/>
              <a:t>We have focused on shared memory parallel programming</a:t>
            </a:r>
          </a:p>
          <a:p>
            <a:pPr lvl="1" eaLnBrk="1" hangingPunct="1"/>
            <a:r>
              <a:rPr lang="en-US" dirty="0"/>
              <a:t>This is what CUDA (and OpenMP, OpenCL) is based on</a:t>
            </a:r>
          </a:p>
          <a:p>
            <a:pPr lvl="1" eaLnBrk="1" hangingPunct="1"/>
            <a:r>
              <a:rPr lang="en-US" dirty="0"/>
              <a:t>Future massively parallel microprocessors are expected to support shared memory at the chip level</a:t>
            </a:r>
          </a:p>
          <a:p>
            <a:pPr eaLnBrk="1" hangingPunct="1"/>
            <a:r>
              <a:rPr lang="en-US" dirty="0"/>
              <a:t>The programming considerations of message passing model is quite different!</a:t>
            </a:r>
          </a:p>
          <a:p>
            <a:pPr lvl="1" eaLnBrk="1" hangingPunct="1"/>
            <a:r>
              <a:rPr lang="en-US" dirty="0"/>
              <a:t>However, you will find parallels for almost every technique you learned in this course</a:t>
            </a:r>
          </a:p>
          <a:p>
            <a:pPr lvl="1" eaLnBrk="1" hangingPunct="1"/>
            <a:r>
              <a:rPr lang="en-US" dirty="0"/>
              <a:t>Need to be aware of space-time constraints</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4</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F234684A-3856-B2A6-8557-665276502891}"/>
              </a:ext>
            </a:extLst>
          </p:cNvPr>
          <p:cNvSpPr>
            <a:spLocks noGrp="1"/>
          </p:cNvSpPr>
          <p:nvPr>
            <p:ph type="body" idx="10"/>
          </p:nvPr>
        </p:nvSpPr>
        <p:spPr/>
        <p:txBody>
          <a:bodyPr/>
          <a:lstStyle/>
          <a:p>
            <a:r>
              <a:rPr lang="en-US" dirty="0"/>
              <a:t>Data Sharing</a:t>
            </a:r>
          </a:p>
        </p:txBody>
      </p:sp>
      <p:sp>
        <p:nvSpPr>
          <p:cNvPr id="3" name="Content Placeholder 2">
            <a:extLst>
              <a:ext uri="{FF2B5EF4-FFF2-40B4-BE49-F238E27FC236}">
                <a16:creationId xmlns:a16="http://schemas.microsoft.com/office/drawing/2014/main" id="{D2DE359A-8A8B-A6D9-CE21-3D027671FFFF}"/>
              </a:ext>
            </a:extLst>
          </p:cNvPr>
          <p:cNvSpPr>
            <a:spLocks noGrp="1"/>
          </p:cNvSpPr>
          <p:nvPr>
            <p:ph sz="half" idx="1"/>
          </p:nvPr>
        </p:nvSpPr>
        <p:spPr/>
        <p:txBody>
          <a:bodyPr/>
          <a:lstStyle/>
          <a:p>
            <a:pPr eaLnBrk="1" hangingPunct="1"/>
            <a:r>
              <a:rPr lang="en-US" sz="2400" dirty="0"/>
              <a:t>Data sharing can be a double-edged sword</a:t>
            </a:r>
          </a:p>
          <a:p>
            <a:pPr lvl="1" eaLnBrk="1" hangingPunct="1"/>
            <a:r>
              <a:rPr lang="en-US" sz="2000" dirty="0"/>
              <a:t>Excessive data sharing drastically reduces advantage of parallel execution</a:t>
            </a:r>
          </a:p>
          <a:p>
            <a:pPr lvl="1" eaLnBrk="1" hangingPunct="1"/>
            <a:r>
              <a:rPr lang="en-US" sz="2000" dirty="0"/>
              <a:t>Localized sharing can improve memory bandwidth efficiency</a:t>
            </a:r>
          </a:p>
          <a:p>
            <a:pPr eaLnBrk="1" hangingPunct="1"/>
            <a:r>
              <a:rPr lang="en-US" sz="2400" dirty="0"/>
              <a:t>Efficient memory bandwidth usage can be achieved by synchronizing the execution of task groups and coordinating their usage of memory data</a:t>
            </a:r>
          </a:p>
          <a:p>
            <a:pPr lvl="1" eaLnBrk="1" hangingPunct="1"/>
            <a:r>
              <a:rPr lang="en-US" sz="2000" dirty="0"/>
              <a:t>Efficient use of on-chip, shared storage and </a:t>
            </a:r>
            <a:r>
              <a:rPr lang="en-US" sz="2000" dirty="0" err="1"/>
              <a:t>datapaths</a:t>
            </a:r>
            <a:endParaRPr lang="en-US" sz="2000" dirty="0"/>
          </a:p>
          <a:p>
            <a:pPr eaLnBrk="1" hangingPunct="1"/>
            <a:r>
              <a:rPr lang="en-US" sz="2400" dirty="0"/>
              <a:t>Read-only sharing can usually be done at much higher efficiency than read-write sharing, which often requires more synchronization</a:t>
            </a:r>
          </a:p>
          <a:p>
            <a:pPr eaLnBrk="1" hangingPunct="1"/>
            <a:r>
              <a:rPr lang="en-US" sz="2400" dirty="0" err="1">
                <a:solidFill>
                  <a:srgbClr val="FF0000"/>
                </a:solidFill>
              </a:rPr>
              <a:t>Many:Many</a:t>
            </a:r>
            <a:r>
              <a:rPr lang="en-US" sz="2400" dirty="0"/>
              <a:t>, </a:t>
            </a:r>
            <a:r>
              <a:rPr lang="en-US" sz="2400" dirty="0" err="1">
                <a:solidFill>
                  <a:srgbClr val="FFC000"/>
                </a:solidFill>
              </a:rPr>
              <a:t>One:Many</a:t>
            </a:r>
            <a:r>
              <a:rPr lang="en-US" sz="2400" dirty="0">
                <a:solidFill>
                  <a:srgbClr val="FFC000"/>
                </a:solidFill>
              </a:rPr>
              <a:t>, </a:t>
            </a:r>
            <a:r>
              <a:rPr lang="en-US" sz="2400" dirty="0" err="1">
                <a:solidFill>
                  <a:srgbClr val="FFC000"/>
                </a:solidFill>
              </a:rPr>
              <a:t>Many:One</a:t>
            </a:r>
            <a:r>
              <a:rPr lang="en-US" sz="2400" dirty="0"/>
              <a:t>, </a:t>
            </a:r>
            <a:r>
              <a:rPr lang="en-US" sz="2400" dirty="0" err="1">
                <a:solidFill>
                  <a:srgbClr val="00B050"/>
                </a:solidFill>
              </a:rPr>
              <a:t>One:One</a:t>
            </a:r>
            <a:endParaRPr lang="en-US" sz="2400" dirty="0">
              <a:solidFill>
                <a:srgbClr val="00B050"/>
              </a:solidFill>
            </a:endParaRPr>
          </a:p>
          <a:p>
            <a:endParaRPr lang="en-US" dirty="0"/>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5</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46D25D-27BA-19D9-DA30-4FD033FB43E6}"/>
              </a:ext>
            </a:extLst>
          </p:cNvPr>
          <p:cNvSpPr>
            <a:spLocks noGrp="1"/>
          </p:cNvSpPr>
          <p:nvPr>
            <p:ph type="body" idx="10"/>
          </p:nvPr>
        </p:nvSpPr>
        <p:spPr/>
        <p:txBody>
          <a:bodyPr/>
          <a:lstStyle/>
          <a:p>
            <a:r>
              <a:rPr lang="en-US" dirty="0"/>
              <a:t>Synchronization</a:t>
            </a:r>
          </a:p>
        </p:txBody>
      </p:sp>
      <p:sp>
        <p:nvSpPr>
          <p:cNvPr id="3" name="Content Placeholder 2">
            <a:extLst>
              <a:ext uri="{FF2B5EF4-FFF2-40B4-BE49-F238E27FC236}">
                <a16:creationId xmlns:a16="http://schemas.microsoft.com/office/drawing/2014/main" id="{44C32AB1-E5CD-68FC-FEDA-BCAFBEA81F51}"/>
              </a:ext>
            </a:extLst>
          </p:cNvPr>
          <p:cNvSpPr>
            <a:spLocks noGrp="1"/>
          </p:cNvSpPr>
          <p:nvPr>
            <p:ph sz="half" idx="1"/>
          </p:nvPr>
        </p:nvSpPr>
        <p:spPr/>
        <p:txBody>
          <a:bodyPr/>
          <a:lstStyle/>
          <a:p>
            <a:r>
              <a:rPr lang="en-US" dirty="0"/>
              <a:t>Synchronization == Control Sharing</a:t>
            </a:r>
          </a:p>
          <a:p>
            <a:r>
              <a:rPr lang="en-US" dirty="0"/>
              <a:t>Barriers make threads wait until all threads catch up</a:t>
            </a:r>
          </a:p>
          <a:p>
            <a:r>
              <a:rPr lang="en-US" dirty="0"/>
              <a:t>Waiting is lost opportunity for work</a:t>
            </a:r>
          </a:p>
          <a:p>
            <a:r>
              <a:rPr lang="en-US" dirty="0"/>
              <a:t>Atomic operations may reduce waiting</a:t>
            </a:r>
          </a:p>
          <a:p>
            <a:pPr lvl="1"/>
            <a:r>
              <a:rPr lang="en-US" dirty="0"/>
              <a:t>Watch out for serialization</a:t>
            </a:r>
          </a:p>
          <a:p>
            <a:pPr lvl="1"/>
            <a:endParaRPr lang="en-US" dirty="0"/>
          </a:p>
          <a:p>
            <a:r>
              <a:rPr lang="en-US" dirty="0"/>
              <a:t>Important: be aware of which items of work are truly independent</a:t>
            </a:r>
          </a:p>
          <a:p>
            <a:endParaRPr lang="en-US" dirty="0"/>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6</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88A79F57-8C65-7231-4D73-85A939619A52}"/>
              </a:ext>
            </a:extLst>
          </p:cNvPr>
          <p:cNvSpPr>
            <a:spLocks noGrp="1"/>
          </p:cNvSpPr>
          <p:nvPr>
            <p:ph type="body" idx="10"/>
          </p:nvPr>
        </p:nvSpPr>
        <p:spPr>
          <a:xfrm>
            <a:off x="1018908" y="43891"/>
            <a:ext cx="8125092" cy="453544"/>
          </a:xfrm>
        </p:spPr>
        <p:txBody>
          <a:bodyPr/>
          <a:lstStyle/>
          <a:p>
            <a:r>
              <a:rPr lang="en-US" dirty="0"/>
              <a:t>Parallel Programming Coding Styles - Program and Data Models</a:t>
            </a:r>
          </a:p>
        </p:txBody>
      </p:sp>
      <p:sp>
        <p:nvSpPr>
          <p:cNvPr id="11268" name="AutoShape 3"/>
          <p:cNvSpPr>
            <a:spLocks noChangeArrowheads="1"/>
          </p:cNvSpPr>
          <p:nvPr/>
        </p:nvSpPr>
        <p:spPr bwMode="auto">
          <a:xfrm>
            <a:off x="1752600" y="1219200"/>
            <a:ext cx="2590800" cy="4038600"/>
          </a:xfrm>
          <a:prstGeom prst="flowChartAlternateProcess">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mn-lt"/>
            </a:endParaRPr>
          </a:p>
        </p:txBody>
      </p:sp>
      <p:sp>
        <p:nvSpPr>
          <p:cNvPr id="11269" name="Rectangle 4"/>
          <p:cNvSpPr>
            <a:spLocks noChangeArrowheads="1"/>
          </p:cNvSpPr>
          <p:nvPr/>
        </p:nvSpPr>
        <p:spPr bwMode="auto">
          <a:xfrm>
            <a:off x="1905000" y="4419600"/>
            <a:ext cx="2209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latin typeface="+mn-lt"/>
              </a:rPr>
              <a:t>Fork/Join</a:t>
            </a:r>
          </a:p>
        </p:txBody>
      </p:sp>
      <p:sp>
        <p:nvSpPr>
          <p:cNvPr id="11270" name="Rectangle 5"/>
          <p:cNvSpPr>
            <a:spLocks noChangeArrowheads="1"/>
          </p:cNvSpPr>
          <p:nvPr/>
        </p:nvSpPr>
        <p:spPr bwMode="auto">
          <a:xfrm>
            <a:off x="1905000" y="2743200"/>
            <a:ext cx="2209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latin typeface="+mn-lt"/>
              </a:rPr>
              <a:t>Master/Worker</a:t>
            </a:r>
          </a:p>
        </p:txBody>
      </p:sp>
      <p:sp>
        <p:nvSpPr>
          <p:cNvPr id="11271" name="Rectangle 6"/>
          <p:cNvSpPr>
            <a:spLocks noChangeArrowheads="1"/>
          </p:cNvSpPr>
          <p:nvPr/>
        </p:nvSpPr>
        <p:spPr bwMode="auto">
          <a:xfrm>
            <a:off x="1905000" y="1905000"/>
            <a:ext cx="2209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n-lt"/>
            </a:endParaRPr>
          </a:p>
        </p:txBody>
      </p:sp>
      <p:sp>
        <p:nvSpPr>
          <p:cNvPr id="11272" name="Text Box 7"/>
          <p:cNvSpPr txBox="1">
            <a:spLocks noChangeArrowheads="1"/>
          </p:cNvSpPr>
          <p:nvPr/>
        </p:nvSpPr>
        <p:spPr bwMode="auto">
          <a:xfrm>
            <a:off x="2514600" y="1981200"/>
            <a:ext cx="11144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eaLnBrk="1" hangingPunct="1"/>
            <a:r>
              <a:rPr lang="en-US" b="1">
                <a:latin typeface="+mn-lt"/>
              </a:rPr>
              <a:t>SPMD</a:t>
            </a:r>
          </a:p>
        </p:txBody>
      </p:sp>
      <p:sp>
        <p:nvSpPr>
          <p:cNvPr id="11273" name="Text Box 8"/>
          <p:cNvSpPr txBox="1">
            <a:spLocks noChangeArrowheads="1"/>
          </p:cNvSpPr>
          <p:nvPr/>
        </p:nvSpPr>
        <p:spPr bwMode="auto">
          <a:xfrm>
            <a:off x="1981200" y="1371600"/>
            <a:ext cx="20701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eaLnBrk="1" hangingPunct="1"/>
            <a:r>
              <a:rPr lang="en-US" sz="2000" dirty="0">
                <a:latin typeface="+mn-lt"/>
              </a:rPr>
              <a:t>Program Models</a:t>
            </a:r>
          </a:p>
        </p:txBody>
      </p:sp>
      <p:sp>
        <p:nvSpPr>
          <p:cNvPr id="11274" name="Rectangle 9"/>
          <p:cNvSpPr>
            <a:spLocks noChangeArrowheads="1"/>
          </p:cNvSpPr>
          <p:nvPr/>
        </p:nvSpPr>
        <p:spPr bwMode="auto">
          <a:xfrm>
            <a:off x="1905000" y="3581400"/>
            <a:ext cx="2209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latin typeface="+mn-lt"/>
              </a:rPr>
              <a:t>Loop Parallelism</a:t>
            </a:r>
          </a:p>
        </p:txBody>
      </p:sp>
      <p:sp>
        <p:nvSpPr>
          <p:cNvPr id="11275" name="AutoShape 10"/>
          <p:cNvSpPr>
            <a:spLocks noChangeArrowheads="1"/>
          </p:cNvSpPr>
          <p:nvPr/>
        </p:nvSpPr>
        <p:spPr bwMode="auto">
          <a:xfrm>
            <a:off x="5334000" y="1524000"/>
            <a:ext cx="2590800" cy="3276600"/>
          </a:xfrm>
          <a:prstGeom prst="flowChartAlternateProcess">
            <a:avLst/>
          </a:prstGeom>
          <a:solidFill>
            <a:schemeClr va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mn-lt"/>
            </a:endParaRPr>
          </a:p>
        </p:txBody>
      </p:sp>
      <p:sp>
        <p:nvSpPr>
          <p:cNvPr id="11276" name="Rectangle 11"/>
          <p:cNvSpPr>
            <a:spLocks noChangeArrowheads="1"/>
          </p:cNvSpPr>
          <p:nvPr/>
        </p:nvSpPr>
        <p:spPr bwMode="auto">
          <a:xfrm>
            <a:off x="5486400" y="3886200"/>
            <a:ext cx="2209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latin typeface="+mn-lt"/>
              </a:rPr>
              <a:t>Distributed Array</a:t>
            </a:r>
          </a:p>
        </p:txBody>
      </p:sp>
      <p:sp>
        <p:nvSpPr>
          <p:cNvPr id="11277" name="Rectangle 12"/>
          <p:cNvSpPr>
            <a:spLocks noChangeArrowheads="1"/>
          </p:cNvSpPr>
          <p:nvPr/>
        </p:nvSpPr>
        <p:spPr bwMode="auto">
          <a:xfrm>
            <a:off x="5486400" y="3048000"/>
            <a:ext cx="2209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800">
                <a:latin typeface="+mn-lt"/>
              </a:rPr>
              <a:t>Shared Queue</a:t>
            </a:r>
          </a:p>
        </p:txBody>
      </p:sp>
      <p:sp>
        <p:nvSpPr>
          <p:cNvPr id="11278" name="Rectangle 13"/>
          <p:cNvSpPr>
            <a:spLocks noChangeArrowheads="1"/>
          </p:cNvSpPr>
          <p:nvPr/>
        </p:nvSpPr>
        <p:spPr bwMode="auto">
          <a:xfrm>
            <a:off x="5486400" y="2209800"/>
            <a:ext cx="2209800" cy="60960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mn-lt"/>
            </a:endParaRPr>
          </a:p>
        </p:txBody>
      </p:sp>
      <p:sp>
        <p:nvSpPr>
          <p:cNvPr id="11279" name="Text Box 14"/>
          <p:cNvSpPr txBox="1">
            <a:spLocks noChangeArrowheads="1"/>
          </p:cNvSpPr>
          <p:nvPr/>
        </p:nvSpPr>
        <p:spPr bwMode="auto">
          <a:xfrm>
            <a:off x="5867400" y="2362200"/>
            <a:ext cx="147989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eaLnBrk="1" hangingPunct="1"/>
            <a:r>
              <a:rPr lang="en-US" sz="1800">
                <a:latin typeface="+mn-lt"/>
              </a:rPr>
              <a:t>Shared Data</a:t>
            </a:r>
          </a:p>
        </p:txBody>
      </p:sp>
      <p:sp>
        <p:nvSpPr>
          <p:cNvPr id="11280" name="Text Box 15"/>
          <p:cNvSpPr txBox="1">
            <a:spLocks noChangeArrowheads="1"/>
          </p:cNvSpPr>
          <p:nvPr/>
        </p:nvSpPr>
        <p:spPr bwMode="auto">
          <a:xfrm>
            <a:off x="5791200" y="1600200"/>
            <a:ext cx="16192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eaLnBrk="1" hangingPunct="1"/>
            <a:r>
              <a:rPr lang="en-US" sz="2000">
                <a:latin typeface="+mn-lt"/>
              </a:rPr>
              <a:t>Data Models</a:t>
            </a:r>
          </a:p>
        </p:txBody>
      </p:sp>
      <p:sp>
        <p:nvSpPr>
          <p:cNvPr id="11281" name="Text Box 16"/>
          <p:cNvSpPr txBox="1">
            <a:spLocks noChangeArrowheads="1"/>
          </p:cNvSpPr>
          <p:nvPr/>
        </p:nvSpPr>
        <p:spPr bwMode="auto">
          <a:xfrm>
            <a:off x="4419600" y="5029200"/>
            <a:ext cx="4267200" cy="83099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eaLnBrk="1" hangingPunct="1"/>
            <a:r>
              <a:rPr lang="en-US">
                <a:latin typeface="+mn-lt"/>
              </a:rPr>
              <a:t>These are not necessarily mutually exclusive.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D9258D-116A-3BAE-C4EB-9899AB5BA66A}"/>
              </a:ext>
            </a:extLst>
          </p:cNvPr>
          <p:cNvSpPr>
            <a:spLocks noGrp="1"/>
          </p:cNvSpPr>
          <p:nvPr>
            <p:ph type="body" idx="10"/>
          </p:nvPr>
        </p:nvSpPr>
        <p:spPr/>
        <p:txBody>
          <a:bodyPr/>
          <a:lstStyle/>
          <a:p>
            <a:r>
              <a:rPr lang="en-US" dirty="0"/>
              <a:t>Parallel Program Models</a:t>
            </a:r>
          </a:p>
        </p:txBody>
      </p:sp>
      <p:sp>
        <p:nvSpPr>
          <p:cNvPr id="12292" name="Rectangle 3"/>
          <p:cNvSpPr>
            <a:spLocks noGrp="1" noChangeArrowheads="1"/>
          </p:cNvSpPr>
          <p:nvPr>
            <p:ph sz="half" idx="1"/>
          </p:nvPr>
        </p:nvSpPr>
        <p:spPr/>
        <p:txBody>
          <a:bodyPr/>
          <a:lstStyle/>
          <a:p>
            <a:pPr>
              <a:lnSpc>
                <a:spcPct val="90000"/>
              </a:lnSpc>
            </a:pPr>
            <a:r>
              <a:rPr lang="en-US" dirty="0"/>
              <a:t>SPMD (Single Program, Multiple Data)</a:t>
            </a:r>
          </a:p>
          <a:p>
            <a:pPr lvl="1">
              <a:lnSpc>
                <a:spcPct val="90000"/>
              </a:lnSpc>
            </a:pPr>
            <a:r>
              <a:rPr lang="en-US" dirty="0"/>
              <a:t>All threads execute the same program in parallel, but each has its own data</a:t>
            </a:r>
          </a:p>
          <a:p>
            <a:pPr lvl="1">
              <a:lnSpc>
                <a:spcPct val="90000"/>
              </a:lnSpc>
            </a:pPr>
            <a:r>
              <a:rPr lang="en-US" dirty="0"/>
              <a:t>Each thread uses a unique ID to access its portion of data</a:t>
            </a:r>
          </a:p>
          <a:p>
            <a:pPr lvl="1">
              <a:lnSpc>
                <a:spcPct val="90000"/>
              </a:lnSpc>
            </a:pPr>
            <a:r>
              <a:rPr lang="en-US" dirty="0"/>
              <a:t>Different threads can follow different paths through the same code</a:t>
            </a:r>
          </a:p>
          <a:p>
            <a:pPr lvl="1">
              <a:lnSpc>
                <a:spcPct val="90000"/>
              </a:lnSpc>
            </a:pPr>
            <a:r>
              <a:rPr lang="en-US" dirty="0"/>
              <a:t>This is essentially the CUDA Grid model (also </a:t>
            </a:r>
            <a:r>
              <a:rPr lang="en-US" dirty="0" err="1"/>
              <a:t>OpenCL</a:t>
            </a:r>
            <a:r>
              <a:rPr lang="en-US" dirty="0"/>
              <a:t>, MPI)</a:t>
            </a:r>
          </a:p>
          <a:p>
            <a:pPr lvl="1">
              <a:lnSpc>
                <a:spcPct val="90000"/>
              </a:lnSpc>
            </a:pPr>
            <a:r>
              <a:rPr lang="en-US" dirty="0"/>
              <a:t>SIMD is a special case where all thread execute the same instruction at any moment in time </a:t>
            </a:r>
          </a:p>
          <a:p>
            <a:pPr lvl="2"/>
            <a:r>
              <a:rPr lang="en-US" dirty="0"/>
              <a:t>GPU Warps are examples of SIMD execution</a:t>
            </a:r>
          </a:p>
          <a:p>
            <a:pPr>
              <a:lnSpc>
                <a:spcPct val="90000"/>
              </a:lnSpc>
            </a:pPr>
            <a:r>
              <a:rPr lang="en-US" dirty="0"/>
              <a:t>Master/Worker</a:t>
            </a:r>
          </a:p>
          <a:p>
            <a:pPr lvl="1"/>
            <a:r>
              <a:rPr lang="en-US" dirty="0"/>
              <a:t>A leader thread identifies and distributes work to multiple worker threads</a:t>
            </a:r>
          </a:p>
          <a:p>
            <a:pPr lvl="1"/>
            <a:endParaRPr lang="en-US" dirty="0"/>
          </a:p>
          <a:p>
            <a:pPr>
              <a:lnSpc>
                <a:spcPct val="90000"/>
              </a:lnSpc>
            </a:pPr>
            <a:r>
              <a:rPr lang="en-US" dirty="0"/>
              <a:t>Loop Parallelism</a:t>
            </a:r>
          </a:p>
          <a:p>
            <a:pPr lvl="1"/>
            <a:r>
              <a:rPr lang="en-US" dirty="0"/>
              <a:t>A loop is deemed to be parallel and its iterations are executed in parallel.</a:t>
            </a:r>
          </a:p>
          <a:p>
            <a:pPr lvl="1"/>
            <a:r>
              <a:rPr lang="en-US" dirty="0"/>
              <a:t>FORTRAN do-all (truly parallel),  do-across (with dependence), OpenMP parallel loop pragma.</a:t>
            </a:r>
          </a:p>
          <a:p>
            <a:pPr>
              <a:lnSpc>
                <a:spcPct val="90000"/>
              </a:lnSpc>
            </a:pPr>
            <a:r>
              <a:rPr lang="en-US" dirty="0"/>
              <a:t>Fork/Join</a:t>
            </a:r>
          </a:p>
          <a:p>
            <a:pPr lvl="1"/>
            <a:r>
              <a:rPr lang="en-US" dirty="0"/>
              <a:t>A parent thread forks out children threads to do work in parallel. The children threads can join back into the parent thread when its done.</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8</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05D179C-1B23-0C9E-05B6-427293DC46C2}"/>
              </a:ext>
            </a:extLst>
          </p:cNvPr>
          <p:cNvSpPr>
            <a:spLocks noGrp="1"/>
          </p:cNvSpPr>
          <p:nvPr>
            <p:ph type="body" idx="10"/>
          </p:nvPr>
        </p:nvSpPr>
        <p:spPr/>
        <p:txBody>
          <a:bodyPr/>
          <a:lstStyle/>
          <a:p>
            <a:r>
              <a:rPr lang="en-US" dirty="0"/>
              <a:t>Parallel Algorithm Structure</a:t>
            </a:r>
          </a:p>
        </p:txBody>
      </p:sp>
      <p:sp>
        <p:nvSpPr>
          <p:cNvPr id="2" name="1 Marcador de número de diapositiva"/>
          <p:cNvSpPr>
            <a:spLocks noGrp="1"/>
          </p:cNvSpPr>
          <p:nvPr>
            <p:ph type="sldNum" sz="quarter" idx="4294967295"/>
          </p:nvPr>
        </p:nvSpPr>
        <p:spPr>
          <a:xfrm>
            <a:off x="0" y="0"/>
            <a:ext cx="0" cy="0"/>
          </a:xfrm>
        </p:spPr>
        <p:txBody>
          <a:bodyPr/>
          <a:lstStyle/>
          <a:p>
            <a:pPr>
              <a:defRPr/>
            </a:pPr>
            <a:endParaRPr lang="en-US" dirty="0"/>
          </a:p>
        </p:txBody>
      </p:sp>
      <p:sp>
        <p:nvSpPr>
          <p:cNvPr id="14340" name="AutoShape 3"/>
          <p:cNvSpPr>
            <a:spLocks noChangeArrowheads="1"/>
          </p:cNvSpPr>
          <p:nvPr/>
        </p:nvSpPr>
        <p:spPr bwMode="auto">
          <a:xfrm>
            <a:off x="3581400" y="1295400"/>
            <a:ext cx="2057400" cy="6858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mn-lt"/>
              </a:rPr>
              <a:t>Start</a:t>
            </a:r>
          </a:p>
        </p:txBody>
      </p:sp>
      <p:sp>
        <p:nvSpPr>
          <p:cNvPr id="14341" name="AutoShape 4"/>
          <p:cNvSpPr>
            <a:spLocks noChangeArrowheads="1"/>
          </p:cNvSpPr>
          <p:nvPr/>
        </p:nvSpPr>
        <p:spPr bwMode="auto">
          <a:xfrm>
            <a:off x="762000" y="2438400"/>
            <a:ext cx="2057400" cy="6858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mn-lt"/>
              </a:rPr>
              <a:t>Organize </a:t>
            </a:r>
          </a:p>
          <a:p>
            <a:pPr algn="ctr"/>
            <a:r>
              <a:rPr lang="en-US">
                <a:latin typeface="+mn-lt"/>
              </a:rPr>
              <a:t>by Task</a:t>
            </a:r>
          </a:p>
        </p:txBody>
      </p:sp>
      <p:sp>
        <p:nvSpPr>
          <p:cNvPr id="14342" name="AutoShape 5"/>
          <p:cNvSpPr>
            <a:spLocks noChangeArrowheads="1"/>
          </p:cNvSpPr>
          <p:nvPr/>
        </p:nvSpPr>
        <p:spPr bwMode="auto">
          <a:xfrm>
            <a:off x="3581400" y="2438400"/>
            <a:ext cx="2057400" cy="6858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mn-lt"/>
              </a:rPr>
              <a:t>Organize by </a:t>
            </a:r>
          </a:p>
          <a:p>
            <a:pPr algn="ctr"/>
            <a:r>
              <a:rPr lang="en-US">
                <a:latin typeface="+mn-lt"/>
              </a:rPr>
              <a:t>Data</a:t>
            </a:r>
          </a:p>
        </p:txBody>
      </p:sp>
      <p:sp>
        <p:nvSpPr>
          <p:cNvPr id="14343" name="AutoShape 6"/>
          <p:cNvSpPr>
            <a:spLocks noChangeArrowheads="1"/>
          </p:cNvSpPr>
          <p:nvPr/>
        </p:nvSpPr>
        <p:spPr bwMode="auto">
          <a:xfrm>
            <a:off x="6400800" y="2438400"/>
            <a:ext cx="2057400" cy="6858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atin typeface="+mn-lt"/>
              </a:rPr>
              <a:t>Organize by </a:t>
            </a:r>
          </a:p>
          <a:p>
            <a:pPr algn="ctr"/>
            <a:r>
              <a:rPr lang="en-US">
                <a:latin typeface="+mn-lt"/>
              </a:rPr>
              <a:t>Data Flow</a:t>
            </a:r>
          </a:p>
        </p:txBody>
      </p:sp>
      <p:sp>
        <p:nvSpPr>
          <p:cNvPr id="14344" name="AutoShape 7"/>
          <p:cNvSpPr>
            <a:spLocks noChangeArrowheads="1"/>
          </p:cNvSpPr>
          <p:nvPr/>
        </p:nvSpPr>
        <p:spPr bwMode="auto">
          <a:xfrm>
            <a:off x="457200" y="3657600"/>
            <a:ext cx="1219200" cy="3810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Linear</a:t>
            </a:r>
          </a:p>
        </p:txBody>
      </p:sp>
      <p:sp>
        <p:nvSpPr>
          <p:cNvPr id="14345" name="AutoShape 8"/>
          <p:cNvSpPr>
            <a:spLocks noChangeArrowheads="1"/>
          </p:cNvSpPr>
          <p:nvPr/>
        </p:nvSpPr>
        <p:spPr bwMode="auto">
          <a:xfrm>
            <a:off x="1905000" y="3657600"/>
            <a:ext cx="1219200" cy="3810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Recursive</a:t>
            </a:r>
          </a:p>
        </p:txBody>
      </p:sp>
      <p:sp>
        <p:nvSpPr>
          <p:cNvPr id="14346" name="Line 9"/>
          <p:cNvSpPr>
            <a:spLocks noChangeShapeType="1"/>
          </p:cNvSpPr>
          <p:nvPr/>
        </p:nvSpPr>
        <p:spPr bwMode="auto">
          <a:xfrm flipH="1">
            <a:off x="2286000" y="1981200"/>
            <a:ext cx="19050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47" name="Line 10"/>
          <p:cNvSpPr>
            <a:spLocks noChangeShapeType="1"/>
          </p:cNvSpPr>
          <p:nvPr/>
        </p:nvSpPr>
        <p:spPr bwMode="auto">
          <a:xfrm>
            <a:off x="4572000" y="1981200"/>
            <a:ext cx="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48" name="Line 11"/>
          <p:cNvSpPr>
            <a:spLocks noChangeShapeType="1"/>
          </p:cNvSpPr>
          <p:nvPr/>
        </p:nvSpPr>
        <p:spPr bwMode="auto">
          <a:xfrm>
            <a:off x="5105400" y="1981200"/>
            <a:ext cx="1752600" cy="4572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49" name="Text Box 12"/>
          <p:cNvSpPr txBox="1">
            <a:spLocks noChangeArrowheads="1"/>
          </p:cNvSpPr>
          <p:nvPr/>
        </p:nvSpPr>
        <p:spPr bwMode="auto">
          <a:xfrm>
            <a:off x="1736725" y="2570163"/>
            <a:ext cx="184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eaLnBrk="1" hangingPunct="1"/>
            <a:endParaRPr lang="en-US">
              <a:latin typeface="+mn-lt"/>
            </a:endParaRPr>
          </a:p>
        </p:txBody>
      </p:sp>
      <p:sp>
        <p:nvSpPr>
          <p:cNvPr id="14350" name="Line 13"/>
          <p:cNvSpPr>
            <a:spLocks noChangeShapeType="1"/>
          </p:cNvSpPr>
          <p:nvPr/>
        </p:nvSpPr>
        <p:spPr bwMode="auto">
          <a:xfrm flipH="1">
            <a:off x="1143000" y="3124200"/>
            <a:ext cx="381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51" name="Line 14"/>
          <p:cNvSpPr>
            <a:spLocks noChangeShapeType="1"/>
          </p:cNvSpPr>
          <p:nvPr/>
        </p:nvSpPr>
        <p:spPr bwMode="auto">
          <a:xfrm>
            <a:off x="1981200" y="3124200"/>
            <a:ext cx="381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52" name="AutoShape 15"/>
          <p:cNvSpPr>
            <a:spLocks noChangeArrowheads="1"/>
          </p:cNvSpPr>
          <p:nvPr/>
        </p:nvSpPr>
        <p:spPr bwMode="auto">
          <a:xfrm>
            <a:off x="3352800" y="3657600"/>
            <a:ext cx="1219200" cy="3810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Linear</a:t>
            </a:r>
          </a:p>
        </p:txBody>
      </p:sp>
      <p:sp>
        <p:nvSpPr>
          <p:cNvPr id="14353" name="AutoShape 16"/>
          <p:cNvSpPr>
            <a:spLocks noChangeArrowheads="1"/>
          </p:cNvSpPr>
          <p:nvPr/>
        </p:nvSpPr>
        <p:spPr bwMode="auto">
          <a:xfrm>
            <a:off x="4800600" y="3657600"/>
            <a:ext cx="1219200" cy="3810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Recursive</a:t>
            </a:r>
          </a:p>
        </p:txBody>
      </p:sp>
      <p:sp>
        <p:nvSpPr>
          <p:cNvPr id="14354" name="Line 17"/>
          <p:cNvSpPr>
            <a:spLocks noChangeShapeType="1"/>
          </p:cNvSpPr>
          <p:nvPr/>
        </p:nvSpPr>
        <p:spPr bwMode="auto">
          <a:xfrm flipH="1">
            <a:off x="3962400" y="3124200"/>
            <a:ext cx="381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55" name="Line 18"/>
          <p:cNvSpPr>
            <a:spLocks noChangeShapeType="1"/>
          </p:cNvSpPr>
          <p:nvPr/>
        </p:nvSpPr>
        <p:spPr bwMode="auto">
          <a:xfrm>
            <a:off x="4953000" y="3124200"/>
            <a:ext cx="304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56" name="AutoShape 19"/>
          <p:cNvSpPr>
            <a:spLocks noChangeArrowheads="1"/>
          </p:cNvSpPr>
          <p:nvPr/>
        </p:nvSpPr>
        <p:spPr bwMode="auto">
          <a:xfrm>
            <a:off x="457200" y="4343400"/>
            <a:ext cx="1219200" cy="6096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Task</a:t>
            </a:r>
          </a:p>
          <a:p>
            <a:pPr algn="ctr"/>
            <a:r>
              <a:rPr lang="en-US" sz="1600">
                <a:latin typeface="+mn-lt"/>
              </a:rPr>
              <a:t>Parallelism</a:t>
            </a:r>
          </a:p>
        </p:txBody>
      </p:sp>
      <p:sp>
        <p:nvSpPr>
          <p:cNvPr id="14357" name="AutoShape 20"/>
          <p:cNvSpPr>
            <a:spLocks noChangeArrowheads="1"/>
          </p:cNvSpPr>
          <p:nvPr/>
        </p:nvSpPr>
        <p:spPr bwMode="auto">
          <a:xfrm>
            <a:off x="1905000" y="4343400"/>
            <a:ext cx="1219200" cy="6096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Divide and</a:t>
            </a:r>
          </a:p>
          <a:p>
            <a:pPr algn="ctr"/>
            <a:r>
              <a:rPr lang="en-US" sz="1600">
                <a:latin typeface="+mn-lt"/>
              </a:rPr>
              <a:t>Conquer</a:t>
            </a:r>
          </a:p>
        </p:txBody>
      </p:sp>
      <p:sp>
        <p:nvSpPr>
          <p:cNvPr id="14358" name="Line 21"/>
          <p:cNvSpPr>
            <a:spLocks noChangeShapeType="1"/>
          </p:cNvSpPr>
          <p:nvPr/>
        </p:nvSpPr>
        <p:spPr bwMode="auto">
          <a:xfrm>
            <a:off x="1143000" y="4038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59" name="Line 22"/>
          <p:cNvSpPr>
            <a:spLocks noChangeShapeType="1"/>
          </p:cNvSpPr>
          <p:nvPr/>
        </p:nvSpPr>
        <p:spPr bwMode="auto">
          <a:xfrm>
            <a:off x="2438400" y="4038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60" name="AutoShape 23"/>
          <p:cNvSpPr>
            <a:spLocks noChangeArrowheads="1"/>
          </p:cNvSpPr>
          <p:nvPr/>
        </p:nvSpPr>
        <p:spPr bwMode="auto">
          <a:xfrm>
            <a:off x="3352800" y="4343400"/>
            <a:ext cx="1219200" cy="6096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mn-lt"/>
              </a:rPr>
              <a:t>Geometric</a:t>
            </a:r>
          </a:p>
          <a:p>
            <a:pPr algn="ctr"/>
            <a:r>
              <a:rPr lang="en-US" sz="1400">
                <a:latin typeface="+mn-lt"/>
              </a:rPr>
              <a:t>Decomposition</a:t>
            </a:r>
          </a:p>
        </p:txBody>
      </p:sp>
      <p:sp>
        <p:nvSpPr>
          <p:cNvPr id="14361" name="AutoShape 24"/>
          <p:cNvSpPr>
            <a:spLocks noChangeArrowheads="1"/>
          </p:cNvSpPr>
          <p:nvPr/>
        </p:nvSpPr>
        <p:spPr bwMode="auto">
          <a:xfrm>
            <a:off x="4800600" y="4343400"/>
            <a:ext cx="1219200" cy="6096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Recursive</a:t>
            </a:r>
          </a:p>
          <a:p>
            <a:pPr algn="ctr"/>
            <a:r>
              <a:rPr lang="en-US" sz="1600">
                <a:latin typeface="+mn-lt"/>
              </a:rPr>
              <a:t>Data</a:t>
            </a:r>
          </a:p>
        </p:txBody>
      </p:sp>
      <p:sp>
        <p:nvSpPr>
          <p:cNvPr id="14362" name="AutoShape 25"/>
          <p:cNvSpPr>
            <a:spLocks noChangeArrowheads="1"/>
          </p:cNvSpPr>
          <p:nvPr/>
        </p:nvSpPr>
        <p:spPr bwMode="auto">
          <a:xfrm>
            <a:off x="6172200" y="3657600"/>
            <a:ext cx="1219200" cy="3810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Regular</a:t>
            </a:r>
          </a:p>
        </p:txBody>
      </p:sp>
      <p:sp>
        <p:nvSpPr>
          <p:cNvPr id="14363" name="AutoShape 26"/>
          <p:cNvSpPr>
            <a:spLocks noChangeArrowheads="1"/>
          </p:cNvSpPr>
          <p:nvPr/>
        </p:nvSpPr>
        <p:spPr bwMode="auto">
          <a:xfrm>
            <a:off x="7620000" y="3657600"/>
            <a:ext cx="1219200" cy="3810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Irregular</a:t>
            </a:r>
          </a:p>
        </p:txBody>
      </p:sp>
      <p:sp>
        <p:nvSpPr>
          <p:cNvPr id="14364" name="Line 27"/>
          <p:cNvSpPr>
            <a:spLocks noChangeShapeType="1"/>
          </p:cNvSpPr>
          <p:nvPr/>
        </p:nvSpPr>
        <p:spPr bwMode="auto">
          <a:xfrm flipH="1">
            <a:off x="6781800" y="3124200"/>
            <a:ext cx="3810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65" name="Line 28"/>
          <p:cNvSpPr>
            <a:spLocks noChangeShapeType="1"/>
          </p:cNvSpPr>
          <p:nvPr/>
        </p:nvSpPr>
        <p:spPr bwMode="auto">
          <a:xfrm>
            <a:off x="7772400" y="3124200"/>
            <a:ext cx="304800" cy="533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66" name="Line 29"/>
          <p:cNvSpPr>
            <a:spLocks noChangeShapeType="1"/>
          </p:cNvSpPr>
          <p:nvPr/>
        </p:nvSpPr>
        <p:spPr bwMode="auto">
          <a:xfrm>
            <a:off x="3962400" y="4038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67" name="Line 30"/>
          <p:cNvSpPr>
            <a:spLocks noChangeShapeType="1"/>
          </p:cNvSpPr>
          <p:nvPr/>
        </p:nvSpPr>
        <p:spPr bwMode="auto">
          <a:xfrm>
            <a:off x="5410200" y="4038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68" name="AutoShape 31"/>
          <p:cNvSpPr>
            <a:spLocks noChangeArrowheads="1"/>
          </p:cNvSpPr>
          <p:nvPr/>
        </p:nvSpPr>
        <p:spPr bwMode="auto">
          <a:xfrm>
            <a:off x="6172200" y="4343400"/>
            <a:ext cx="1219200" cy="6096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Pipeline</a:t>
            </a:r>
          </a:p>
        </p:txBody>
      </p:sp>
      <p:sp>
        <p:nvSpPr>
          <p:cNvPr id="14369" name="AutoShape 32"/>
          <p:cNvSpPr>
            <a:spLocks noChangeArrowheads="1"/>
          </p:cNvSpPr>
          <p:nvPr/>
        </p:nvSpPr>
        <p:spPr bwMode="auto">
          <a:xfrm>
            <a:off x="7620000" y="4343400"/>
            <a:ext cx="1219200" cy="609600"/>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600">
                <a:latin typeface="+mn-lt"/>
              </a:rPr>
              <a:t>Event Driven</a:t>
            </a:r>
          </a:p>
        </p:txBody>
      </p:sp>
      <p:sp>
        <p:nvSpPr>
          <p:cNvPr id="14370" name="Line 33"/>
          <p:cNvSpPr>
            <a:spLocks noChangeShapeType="1"/>
          </p:cNvSpPr>
          <p:nvPr/>
        </p:nvSpPr>
        <p:spPr bwMode="auto">
          <a:xfrm>
            <a:off x="6781800" y="4038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71" name="Line 34"/>
          <p:cNvSpPr>
            <a:spLocks noChangeShapeType="1"/>
          </p:cNvSpPr>
          <p:nvPr/>
        </p:nvSpPr>
        <p:spPr bwMode="auto">
          <a:xfrm>
            <a:off x="8229600" y="4038600"/>
            <a:ext cx="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mn-lt"/>
            </a:endParaRPr>
          </a:p>
        </p:txBody>
      </p:sp>
      <p:sp>
        <p:nvSpPr>
          <p:cNvPr id="14372" name="Rectangle 1"/>
          <p:cNvSpPr>
            <a:spLocks noChangeArrowheads="1"/>
          </p:cNvSpPr>
          <p:nvPr/>
        </p:nvSpPr>
        <p:spPr bwMode="auto">
          <a:xfrm>
            <a:off x="457200" y="5751513"/>
            <a:ext cx="8686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000"/>
              <a:t>Mattson, Sanders, Massingill, </a:t>
            </a:r>
            <a:r>
              <a:rPr lang="en-US" sz="2000" i="1"/>
              <a:t>Patterns for Parallel Programming</a:t>
            </a:r>
            <a:r>
              <a:rPr lang="en-US" sz="2000"/>
              <a:t>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B68B32-635C-5CC2-9F0E-E4A25292C2A2}"/>
              </a:ext>
            </a:extLst>
          </p:cNvPr>
          <p:cNvSpPr>
            <a:spLocks noGrp="1"/>
          </p:cNvSpPr>
          <p:nvPr>
            <p:ph type="body" idx="10"/>
          </p:nvPr>
        </p:nvSpPr>
        <p:spPr/>
        <p:txBody>
          <a:bodyPr/>
          <a:lstStyle/>
          <a:p>
            <a:r>
              <a:rPr lang="en-US" dirty="0"/>
              <a:t>Algorithm Structures vs. Coding Styles</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fld id="{C2C70B5C-5768-4E93-A2AD-CAE52D5F7E5D}" type="slidenum">
              <a:rPr lang="en-US" smtClean="0"/>
              <a:pPr/>
              <a:t>10</a:t>
            </a:fld>
            <a:endParaRPr lang="en-US"/>
          </a:p>
        </p:txBody>
      </p:sp>
      <p:graphicFrame>
        <p:nvGraphicFramePr>
          <p:cNvPr id="324698" name="Group 90"/>
          <p:cNvGraphicFramePr>
            <a:graphicFrameLocks noGrp="1"/>
          </p:cNvGraphicFramePr>
          <p:nvPr>
            <p:ph idx="4294967295"/>
            <p:extLst>
              <p:ext uri="{D42A27DB-BD31-4B8C-83A1-F6EECF244321}">
                <p14:modId xmlns:p14="http://schemas.microsoft.com/office/powerpoint/2010/main" val="314821800"/>
              </p:ext>
            </p:extLst>
          </p:nvPr>
        </p:nvGraphicFramePr>
        <p:xfrm>
          <a:off x="107950" y="935312"/>
          <a:ext cx="8928100" cy="4572000"/>
        </p:xfrm>
        <a:graphic>
          <a:graphicData uri="http://schemas.openxmlformats.org/drawingml/2006/table">
            <a:tbl>
              <a:tblPr/>
              <a:tblGrid>
                <a:gridCol w="1064819">
                  <a:extLst>
                    <a:ext uri="{9D8B030D-6E8A-4147-A177-3AD203B41FA5}">
                      <a16:colId xmlns:a16="http://schemas.microsoft.com/office/drawing/2014/main" val="20000"/>
                    </a:ext>
                  </a:extLst>
                </a:gridCol>
                <a:gridCol w="1228638">
                  <a:extLst>
                    <a:ext uri="{9D8B030D-6E8A-4147-A177-3AD203B41FA5}">
                      <a16:colId xmlns:a16="http://schemas.microsoft.com/office/drawing/2014/main" val="20001"/>
                    </a:ext>
                  </a:extLst>
                </a:gridCol>
                <a:gridCol w="1474365">
                  <a:extLst>
                    <a:ext uri="{9D8B030D-6E8A-4147-A177-3AD203B41FA5}">
                      <a16:colId xmlns:a16="http://schemas.microsoft.com/office/drawing/2014/main" val="20002"/>
                    </a:ext>
                  </a:extLst>
                </a:gridCol>
                <a:gridCol w="1392456">
                  <a:extLst>
                    <a:ext uri="{9D8B030D-6E8A-4147-A177-3AD203B41FA5}">
                      <a16:colId xmlns:a16="http://schemas.microsoft.com/office/drawing/2014/main" val="20003"/>
                    </a:ext>
                  </a:extLst>
                </a:gridCol>
                <a:gridCol w="1310547">
                  <a:extLst>
                    <a:ext uri="{9D8B030D-6E8A-4147-A177-3AD203B41FA5}">
                      <a16:colId xmlns:a16="http://schemas.microsoft.com/office/drawing/2014/main" val="20004"/>
                    </a:ext>
                  </a:extLst>
                </a:gridCol>
                <a:gridCol w="1180857">
                  <a:extLst>
                    <a:ext uri="{9D8B030D-6E8A-4147-A177-3AD203B41FA5}">
                      <a16:colId xmlns:a16="http://schemas.microsoft.com/office/drawing/2014/main" val="20005"/>
                    </a:ext>
                  </a:extLst>
                </a:gridCol>
                <a:gridCol w="1276418">
                  <a:extLst>
                    <a:ext uri="{9D8B030D-6E8A-4147-A177-3AD203B41FA5}">
                      <a16:colId xmlns:a16="http://schemas.microsoft.com/office/drawing/2014/main" val="20006"/>
                    </a:ext>
                  </a:extLst>
                </a:gridCol>
              </a:tblGrid>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98291" marR="98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Task Parallel.</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Divide/Conquer</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Geometric Decomp.</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Recursive Data</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Pipeline</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Event-based</a:t>
                      </a:r>
                    </a:p>
                  </a:txBody>
                  <a:tcPr marL="98291" marR="982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SPMD</a:t>
                      </a:r>
                    </a:p>
                  </a:txBody>
                  <a:tcPr marL="98291" marR="98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Loop Parallel</a:t>
                      </a:r>
                    </a:p>
                  </a:txBody>
                  <a:tcPr marL="98291" marR="98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98291" marR="982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Master/Worker</a:t>
                      </a:r>
                    </a:p>
                  </a:txBody>
                  <a:tcPr marL="98291" marR="98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Fork/</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Join</a:t>
                      </a:r>
                    </a:p>
                  </a:txBody>
                  <a:tcPr marL="98291" marR="9829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dirty="0">
                          <a:ln>
                            <a:noFill/>
                          </a:ln>
                          <a:solidFill>
                            <a:schemeClr val="tx1"/>
                          </a:solidFill>
                          <a:effectLst/>
                          <a:latin typeface="Century" panose="02040604050505020304" pitchFamily="18" charset="0"/>
                          <a:ea typeface="ＭＳ Ｐゴシック" panose="020B0600070205080204" pitchFamily="34" charset="-128"/>
                        </a:rPr>
                        <a:t>☺☺☺☺</a:t>
                      </a:r>
                    </a:p>
                  </a:txBody>
                  <a:tcPr marL="98291" marR="9829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5414" name="Text Box 91"/>
          <p:cNvSpPr txBox="1">
            <a:spLocks noChangeArrowheads="1"/>
          </p:cNvSpPr>
          <p:nvPr/>
        </p:nvSpPr>
        <p:spPr bwMode="auto">
          <a:xfrm>
            <a:off x="4937125" y="6151563"/>
            <a:ext cx="30797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eaLnBrk="1" hangingPunct="1"/>
            <a:r>
              <a:rPr lang="en-US"/>
              <a:t>Source: Mattson, et al</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4B58190-AAA4-69A6-28F6-911CE0F83CCF}"/>
              </a:ext>
            </a:extLst>
          </p:cNvPr>
          <p:cNvSpPr>
            <a:spLocks noGrp="1"/>
          </p:cNvSpPr>
          <p:nvPr>
            <p:ph type="body" idx="10"/>
          </p:nvPr>
        </p:nvSpPr>
        <p:spPr/>
        <p:txBody>
          <a:bodyPr/>
          <a:lstStyle/>
          <a:p>
            <a:r>
              <a:rPr lang="en-US" sz="2400" dirty="0"/>
              <a:t>Programming Models vs. Program Models</a:t>
            </a:r>
            <a:endParaRPr lang="en-US" dirty="0"/>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C2C70B5C-5768-4E93-A2AD-CAE52D5F7E5D}" type="slidenum">
              <a:rPr lang="en-US" smtClean="0"/>
              <a:pPr>
                <a:defRPr/>
              </a:pPr>
              <a:t>11</a:t>
            </a:fld>
            <a:endParaRPr lang="en-US"/>
          </a:p>
        </p:txBody>
      </p:sp>
      <p:graphicFrame>
        <p:nvGraphicFramePr>
          <p:cNvPr id="327727" name="Group 47"/>
          <p:cNvGraphicFramePr>
            <a:graphicFrameLocks noGrp="1"/>
          </p:cNvGraphicFramePr>
          <p:nvPr>
            <p:ph idx="4294967295"/>
            <p:extLst>
              <p:ext uri="{D42A27DB-BD31-4B8C-83A1-F6EECF244321}">
                <p14:modId xmlns:p14="http://schemas.microsoft.com/office/powerpoint/2010/main" val="1178892569"/>
              </p:ext>
            </p:extLst>
          </p:nvPr>
        </p:nvGraphicFramePr>
        <p:xfrm>
          <a:off x="0" y="981075"/>
          <a:ext cx="8928099" cy="4572000"/>
        </p:xfrm>
        <a:graphic>
          <a:graphicData uri="http://schemas.openxmlformats.org/drawingml/2006/table">
            <a:tbl>
              <a:tblPr/>
              <a:tblGrid>
                <a:gridCol w="2005754">
                  <a:extLst>
                    <a:ext uri="{9D8B030D-6E8A-4147-A177-3AD203B41FA5}">
                      <a16:colId xmlns:a16="http://schemas.microsoft.com/office/drawing/2014/main" val="20000"/>
                    </a:ext>
                  </a:extLst>
                </a:gridCol>
                <a:gridCol w="2596359">
                  <a:extLst>
                    <a:ext uri="{9D8B030D-6E8A-4147-A177-3AD203B41FA5}">
                      <a16:colId xmlns:a16="http://schemas.microsoft.com/office/drawing/2014/main" val="20001"/>
                    </a:ext>
                  </a:extLst>
                </a:gridCol>
                <a:gridCol w="2209014">
                  <a:extLst>
                    <a:ext uri="{9D8B030D-6E8A-4147-A177-3AD203B41FA5}">
                      <a16:colId xmlns:a16="http://schemas.microsoft.com/office/drawing/2014/main" val="20002"/>
                    </a:ext>
                  </a:extLst>
                </a:gridCol>
                <a:gridCol w="2116972">
                  <a:extLst>
                    <a:ext uri="{9D8B030D-6E8A-4147-A177-3AD203B41FA5}">
                      <a16:colId xmlns:a16="http://schemas.microsoft.com/office/drawing/2014/main" val="20003"/>
                    </a:ext>
                  </a:extLst>
                </a:gridCol>
              </a:tblGrid>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110451" marR="1104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OpenMP</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MPI</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CUDA/</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OpenCL</a:t>
                      </a:r>
                    </a:p>
                  </a:txBody>
                  <a:tcPr marL="110451" marR="1104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SPMD</a:t>
                      </a:r>
                    </a:p>
                  </a:txBody>
                  <a:tcPr marL="110451" marR="1104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Loop Parallel</a:t>
                      </a:r>
                    </a:p>
                  </a:txBody>
                  <a:tcPr marL="110451" marR="1104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110451" marR="1104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Master/</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Slave</a:t>
                      </a:r>
                    </a:p>
                  </a:txBody>
                  <a:tcPr marL="110451" marR="1104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110451" marR="1104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400">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rPr>
                        <a:t>Fork/Join</a:t>
                      </a:r>
                    </a:p>
                  </a:txBody>
                  <a:tcPr marL="110451" marR="11045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400" b="0" i="0" u="none" strike="noStrike" cap="none" normalizeH="0" baseline="0">
                          <a:ln>
                            <a:noFill/>
                          </a:ln>
                          <a:solidFill>
                            <a:schemeClr val="tx1"/>
                          </a:solidFill>
                          <a:effectLst/>
                          <a:latin typeface="Century" panose="02040604050505020304" pitchFamily="18" charset="0"/>
                          <a:ea typeface="ＭＳ Ｐゴシック" panose="020B0600070205080204" pitchFamily="34" charset="-128"/>
                        </a:rPr>
                        <a:t>☺☺☺</a:t>
                      </a: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110451" marR="11045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defRPr sz="20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defRPr>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defRPr>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defRPr>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defRPr>
                          <a:solidFill>
                            <a:schemeClr val="tx1"/>
                          </a:solidFill>
                          <a:latin typeface="Times New Roman" panose="02020603050405020304" pitchFamily="18"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anose="02020603050405020304" pitchFamily="18" charset="0"/>
                        <a:ea typeface="ＭＳ Ｐゴシック" panose="020B0600070205080204" pitchFamily="34" charset="-128"/>
                      </a:endParaRPr>
                    </a:p>
                  </a:txBody>
                  <a:tcPr marL="110451" marR="11045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6F8E8C-A6F0-1D2C-6FD1-56788CA79E58}"/>
              </a:ext>
            </a:extLst>
          </p:cNvPr>
          <p:cNvSpPr>
            <a:spLocks noGrp="1"/>
          </p:cNvSpPr>
          <p:nvPr>
            <p:ph type="body" idx="10"/>
          </p:nvPr>
        </p:nvSpPr>
        <p:spPr/>
        <p:txBody>
          <a:bodyPr/>
          <a:lstStyle/>
          <a:p>
            <a:r>
              <a:rPr lang="en-US" dirty="0"/>
              <a:t>More on SPMD</a:t>
            </a:r>
          </a:p>
        </p:txBody>
      </p:sp>
      <p:sp>
        <p:nvSpPr>
          <p:cNvPr id="17412" name="Rectangle 3"/>
          <p:cNvSpPr>
            <a:spLocks noGrp="1" noChangeArrowheads="1"/>
          </p:cNvSpPr>
          <p:nvPr>
            <p:ph sz="half" idx="1"/>
          </p:nvPr>
        </p:nvSpPr>
        <p:spPr/>
        <p:txBody>
          <a:bodyPr/>
          <a:lstStyle/>
          <a:p>
            <a:r>
              <a:rPr lang="en-US"/>
              <a:t>Dominant coding style of scalable parallel computing</a:t>
            </a:r>
          </a:p>
          <a:p>
            <a:pPr lvl="1"/>
            <a:r>
              <a:rPr lang="en-US"/>
              <a:t>MPI code is mostly developed in SPMD style</a:t>
            </a:r>
          </a:p>
          <a:p>
            <a:pPr lvl="1"/>
            <a:r>
              <a:rPr lang="en-US"/>
              <a:t>Many OpenMP code is also in SPMD (next to loop parallelism)</a:t>
            </a:r>
          </a:p>
          <a:p>
            <a:pPr lvl="1"/>
            <a:r>
              <a:rPr lang="en-US"/>
              <a:t>Particularly suitable for algorithms based on task parallelism and geometric decomposition.</a:t>
            </a:r>
          </a:p>
          <a:p>
            <a:r>
              <a:rPr lang="en-US"/>
              <a:t>Main advantage</a:t>
            </a:r>
          </a:p>
          <a:p>
            <a:pPr lvl="1"/>
            <a:r>
              <a:rPr lang="en-US"/>
              <a:t>Tasks and their interactions visible in one piece of source code, no need to correlated multiple sources</a:t>
            </a:r>
          </a:p>
          <a:p>
            <a:pPr lvl="1"/>
            <a:endParaRPr lang="en-US"/>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12</a:t>
            </a:fld>
            <a:endParaRPr lang="en-US"/>
          </a:p>
        </p:txBody>
      </p:sp>
      <p:sp>
        <p:nvSpPr>
          <p:cNvPr id="17413" name="Text Box 4"/>
          <p:cNvSpPr txBox="1">
            <a:spLocks noChangeArrowheads="1"/>
          </p:cNvSpPr>
          <p:nvPr/>
        </p:nvSpPr>
        <p:spPr bwMode="auto">
          <a:xfrm>
            <a:off x="914400" y="4876800"/>
            <a:ext cx="7559675"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eaLnBrk="1" hangingPunct="1"/>
            <a:r>
              <a:rPr lang="en-US" dirty="0">
                <a:solidFill>
                  <a:schemeClr val="accent2"/>
                </a:solidFill>
              </a:rPr>
              <a:t>SPMD is by far the most commonly used pattern for structuring massively parallel programs.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D77242A-A9C2-04DC-BE28-DA1AF3A139B7}"/>
              </a:ext>
            </a:extLst>
          </p:cNvPr>
          <p:cNvSpPr>
            <a:spLocks noGrp="1"/>
          </p:cNvSpPr>
          <p:nvPr>
            <p:ph type="body" idx="10"/>
          </p:nvPr>
        </p:nvSpPr>
        <p:spPr/>
        <p:txBody>
          <a:bodyPr/>
          <a:lstStyle/>
          <a:p>
            <a:r>
              <a:rPr lang="en-US" dirty="0"/>
              <a:t>Typical SPMD Program Phases</a:t>
            </a:r>
          </a:p>
        </p:txBody>
      </p:sp>
      <p:sp>
        <p:nvSpPr>
          <p:cNvPr id="18436" name="Rectangle 3"/>
          <p:cNvSpPr>
            <a:spLocks noGrp="1" noChangeArrowheads="1"/>
          </p:cNvSpPr>
          <p:nvPr>
            <p:ph sz="half" idx="1"/>
          </p:nvPr>
        </p:nvSpPr>
        <p:spPr/>
        <p:txBody>
          <a:bodyPr/>
          <a:lstStyle/>
          <a:p>
            <a:pPr>
              <a:lnSpc>
                <a:spcPct val="80000"/>
              </a:lnSpc>
            </a:pPr>
            <a:r>
              <a:rPr lang="en-US" sz="2400" dirty="0"/>
              <a:t>Initialize</a:t>
            </a:r>
          </a:p>
          <a:p>
            <a:pPr lvl="1">
              <a:lnSpc>
                <a:spcPct val="80000"/>
              </a:lnSpc>
            </a:pPr>
            <a:r>
              <a:rPr lang="en-US" sz="2000" dirty="0"/>
              <a:t>Establish localized data structure and communication channels</a:t>
            </a:r>
          </a:p>
          <a:p>
            <a:pPr>
              <a:lnSpc>
                <a:spcPct val="80000"/>
              </a:lnSpc>
            </a:pPr>
            <a:r>
              <a:rPr lang="en-US" sz="2400" dirty="0"/>
              <a:t>Obtain a unique identifier</a:t>
            </a:r>
          </a:p>
          <a:p>
            <a:pPr lvl="1">
              <a:lnSpc>
                <a:spcPct val="80000"/>
              </a:lnSpc>
            </a:pPr>
            <a:r>
              <a:rPr lang="en-US" sz="2000" dirty="0"/>
              <a:t>Each thread acquires a unique identifier, typically range from 0 to N-1, where N is the number of threads.</a:t>
            </a:r>
          </a:p>
          <a:p>
            <a:pPr lvl="1">
              <a:lnSpc>
                <a:spcPct val="80000"/>
              </a:lnSpc>
            </a:pPr>
            <a:r>
              <a:rPr lang="en-US" sz="2000" dirty="0"/>
              <a:t>Both </a:t>
            </a:r>
            <a:r>
              <a:rPr lang="en-US" sz="2000" dirty="0" err="1"/>
              <a:t>OpenMP</a:t>
            </a:r>
            <a:r>
              <a:rPr lang="en-US" sz="2000" dirty="0"/>
              <a:t> and CUDA have built-in support for this.</a:t>
            </a:r>
          </a:p>
          <a:p>
            <a:pPr>
              <a:lnSpc>
                <a:spcPct val="80000"/>
              </a:lnSpc>
            </a:pPr>
            <a:r>
              <a:rPr lang="en-US" sz="2400" dirty="0"/>
              <a:t>Distribute Data</a:t>
            </a:r>
          </a:p>
          <a:p>
            <a:pPr lvl="1">
              <a:lnSpc>
                <a:spcPct val="80000"/>
              </a:lnSpc>
            </a:pPr>
            <a:r>
              <a:rPr lang="en-US" sz="2000" dirty="0"/>
              <a:t>Decompose global data into chunks and localize them, or</a:t>
            </a:r>
          </a:p>
          <a:p>
            <a:pPr lvl="1">
              <a:lnSpc>
                <a:spcPct val="80000"/>
              </a:lnSpc>
            </a:pPr>
            <a:r>
              <a:rPr lang="en-US" sz="2000" dirty="0"/>
              <a:t>Sharing/replicating major data structure using thread ID to associate subset of the data to threads</a:t>
            </a:r>
          </a:p>
          <a:p>
            <a:pPr>
              <a:lnSpc>
                <a:spcPct val="80000"/>
              </a:lnSpc>
            </a:pPr>
            <a:r>
              <a:rPr lang="en-US" sz="2400" dirty="0"/>
              <a:t>Run the core computation</a:t>
            </a:r>
          </a:p>
          <a:p>
            <a:pPr lvl="1">
              <a:lnSpc>
                <a:spcPct val="80000"/>
              </a:lnSpc>
            </a:pPr>
            <a:r>
              <a:rPr lang="en-US" sz="2000" dirty="0"/>
              <a:t>More details in next slide…</a:t>
            </a:r>
          </a:p>
          <a:p>
            <a:pPr>
              <a:lnSpc>
                <a:spcPct val="80000"/>
              </a:lnSpc>
            </a:pPr>
            <a:r>
              <a:rPr lang="en-US" sz="2400" dirty="0"/>
              <a:t>Finalize</a:t>
            </a:r>
          </a:p>
          <a:p>
            <a:pPr lvl="1">
              <a:lnSpc>
                <a:spcPct val="80000"/>
              </a:lnSpc>
            </a:pPr>
            <a:r>
              <a:rPr lang="en-US" sz="2000" dirty="0"/>
              <a:t>Reconcile global data structure, prepare for the next major iteration</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13</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DF1E1FC-E6ED-1566-7D7C-5DCA354317EC}"/>
              </a:ext>
            </a:extLst>
          </p:cNvPr>
          <p:cNvSpPr>
            <a:spLocks noGrp="1"/>
          </p:cNvSpPr>
          <p:nvPr>
            <p:ph type="body" idx="10"/>
          </p:nvPr>
        </p:nvSpPr>
        <p:spPr/>
        <p:txBody>
          <a:bodyPr/>
          <a:lstStyle/>
          <a:p>
            <a:r>
              <a:rPr lang="en-US" dirty="0"/>
              <a:t>Core Computation Phase</a:t>
            </a:r>
          </a:p>
        </p:txBody>
      </p:sp>
      <p:sp>
        <p:nvSpPr>
          <p:cNvPr id="19460" name="Rectangle 3"/>
          <p:cNvSpPr>
            <a:spLocks noGrp="1" noChangeArrowheads="1"/>
          </p:cNvSpPr>
          <p:nvPr>
            <p:ph sz="half" idx="1"/>
          </p:nvPr>
        </p:nvSpPr>
        <p:spPr/>
        <p:txBody>
          <a:bodyPr/>
          <a:lstStyle/>
          <a:p>
            <a:r>
              <a:rPr lang="en-US" dirty="0"/>
              <a:t>Thread IDs are used to differentiate behavior of threads</a:t>
            </a:r>
          </a:p>
          <a:p>
            <a:pPr lvl="1"/>
            <a:r>
              <a:rPr lang="en-US" dirty="0"/>
              <a:t>Use thread ID in loop index calculations to split loop iterations among threads</a:t>
            </a:r>
          </a:p>
          <a:p>
            <a:pPr lvl="2"/>
            <a:r>
              <a:rPr lang="en-US" dirty="0"/>
              <a:t>Potential for memory/data divergence</a:t>
            </a:r>
          </a:p>
          <a:p>
            <a:pPr lvl="1"/>
            <a:r>
              <a:rPr lang="en-US" dirty="0"/>
              <a:t>Use thread ID or conditions based on thread ID to branch to their specific actions</a:t>
            </a:r>
          </a:p>
          <a:p>
            <a:pPr lvl="2"/>
            <a:r>
              <a:rPr lang="en-US" dirty="0"/>
              <a:t>Potential for instruction/execution divergence</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14</a:t>
            </a:fld>
            <a:endParaRPr lang="en-US"/>
          </a:p>
        </p:txBody>
      </p:sp>
      <p:sp>
        <p:nvSpPr>
          <p:cNvPr id="19461" name="Text Box 4"/>
          <p:cNvSpPr txBox="1">
            <a:spLocks noChangeArrowheads="1"/>
          </p:cNvSpPr>
          <p:nvPr/>
        </p:nvSpPr>
        <p:spPr bwMode="auto">
          <a:xfrm>
            <a:off x="974725" y="4627563"/>
            <a:ext cx="74834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eaLnBrk="1" hangingPunct="1"/>
            <a:r>
              <a:rPr lang="en-US">
                <a:solidFill>
                  <a:schemeClr val="accent2"/>
                </a:solidFill>
              </a:rPr>
              <a:t>Both can have very different performance results and code complexity depending on the way they are done.</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C226DC5-AEA9-F47D-A41B-6B183FD71E7F}"/>
              </a:ext>
            </a:extLst>
          </p:cNvPr>
          <p:cNvSpPr>
            <a:spLocks noGrp="1"/>
          </p:cNvSpPr>
          <p:nvPr>
            <p:ph type="body" idx="10"/>
          </p:nvPr>
        </p:nvSpPr>
        <p:spPr/>
        <p:txBody>
          <a:bodyPr/>
          <a:lstStyle/>
          <a:p>
            <a:r>
              <a:rPr lang="en-US" dirty="0"/>
              <a:t>The Real Goals of Parallel Programming</a:t>
            </a:r>
          </a:p>
        </p:txBody>
      </p:sp>
      <p:sp>
        <p:nvSpPr>
          <p:cNvPr id="5" name="Content Placeholder 4">
            <a:extLst>
              <a:ext uri="{FF2B5EF4-FFF2-40B4-BE49-F238E27FC236}">
                <a16:creationId xmlns:a16="http://schemas.microsoft.com/office/drawing/2014/main" id="{258D7829-A457-2C52-D484-6C86589DFD0A}"/>
              </a:ext>
            </a:extLst>
          </p:cNvPr>
          <p:cNvSpPr>
            <a:spLocks noGrp="1"/>
          </p:cNvSpPr>
          <p:nvPr>
            <p:ph sz="half" idx="1"/>
          </p:nvPr>
        </p:nvSpPr>
        <p:spPr/>
        <p:txBody>
          <a:bodyPr/>
          <a:lstStyle/>
          <a:p>
            <a:r>
              <a:rPr lang="en-US" dirty="0"/>
              <a:t>Making Science Better, not just Faster</a:t>
            </a:r>
          </a:p>
          <a:p>
            <a:pPr lvl="1"/>
            <a:r>
              <a:rPr lang="en-US" dirty="0"/>
              <a:t>computational microscope, …</a:t>
            </a:r>
          </a:p>
          <a:p>
            <a:pPr marL="457200" lvl="1" indent="0">
              <a:buNone/>
            </a:pPr>
            <a:br>
              <a:rPr lang="en-US" dirty="0"/>
            </a:br>
            <a:r>
              <a:rPr lang="en-US" dirty="0"/>
              <a:t>or… in other words:</a:t>
            </a:r>
            <a:br>
              <a:rPr lang="en-US" dirty="0"/>
            </a:br>
            <a:r>
              <a:rPr lang="en-US" dirty="0"/>
              <a:t>There will be no Nobel Prizes or Turing Awards awarded for “just recompile” or using more threads</a:t>
            </a:r>
          </a:p>
          <a:p>
            <a:endParaRPr lang="en-US" dirty="0"/>
          </a:p>
          <a:p>
            <a:r>
              <a:rPr lang="en-US" dirty="0"/>
              <a:t>Enable More Innovative Applications</a:t>
            </a:r>
          </a:p>
          <a:p>
            <a:pPr lvl="1"/>
            <a:r>
              <a:rPr lang="en-US" dirty="0"/>
              <a:t>Self-driving cars, nano-scale lithography, …</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15</a:t>
            </a:fld>
            <a:endParaRPr lang="en-US"/>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17" descr="Na325mm_1e-15_axial"/>
          <p:cNvPicPr>
            <a:picLocks noChangeAspect="1" noChangeArrowheads="1"/>
          </p:cNvPicPr>
          <p:nvPr/>
        </p:nvPicPr>
        <p:blipFill>
          <a:blip r:embed="rId3">
            <a:lum bright="30000" contrast="30000"/>
            <a:extLst>
              <a:ext uri="{28A0092B-C50C-407E-A947-70E740481C1C}">
                <a14:useLocalDpi xmlns:a14="http://schemas.microsoft.com/office/drawing/2010/main" val="0"/>
              </a:ext>
            </a:extLst>
          </a:blip>
          <a:srcRect/>
          <a:stretch>
            <a:fillRect/>
          </a:stretch>
        </p:blipFill>
        <p:spPr bwMode="auto">
          <a:xfrm>
            <a:off x="228600" y="914400"/>
            <a:ext cx="8763000"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Placeholder 3">
            <a:extLst>
              <a:ext uri="{FF2B5EF4-FFF2-40B4-BE49-F238E27FC236}">
                <a16:creationId xmlns:a16="http://schemas.microsoft.com/office/drawing/2014/main" id="{91C46207-2B77-29E7-A674-80ADDFE90113}"/>
              </a:ext>
            </a:extLst>
          </p:cNvPr>
          <p:cNvSpPr>
            <a:spLocks noGrp="1"/>
          </p:cNvSpPr>
          <p:nvPr>
            <p:ph type="body" idx="10"/>
          </p:nvPr>
        </p:nvSpPr>
        <p:spPr/>
        <p:txBody>
          <a:bodyPr/>
          <a:lstStyle/>
          <a:p>
            <a:r>
              <a:rPr lang="en-US" dirty="0"/>
              <a:t>An Exciting Revolution - Sodium Map of the Brain</a:t>
            </a:r>
          </a:p>
        </p:txBody>
      </p:sp>
      <p:sp>
        <p:nvSpPr>
          <p:cNvPr id="5" name="Content Placeholder 4">
            <a:extLst>
              <a:ext uri="{FF2B5EF4-FFF2-40B4-BE49-F238E27FC236}">
                <a16:creationId xmlns:a16="http://schemas.microsoft.com/office/drawing/2014/main" id="{8AA42769-1FED-D750-086A-083E1FEC216D}"/>
              </a:ext>
            </a:extLst>
          </p:cNvPr>
          <p:cNvSpPr>
            <a:spLocks noGrp="1"/>
          </p:cNvSpPr>
          <p:nvPr>
            <p:ph sz="half" idx="1"/>
          </p:nvPr>
        </p:nvSpPr>
        <p:spPr>
          <a:xfrm>
            <a:off x="350672" y="3901440"/>
            <a:ext cx="8464802" cy="2521262"/>
          </a:xfrm>
        </p:spPr>
        <p:txBody>
          <a:bodyPr/>
          <a:lstStyle/>
          <a:p>
            <a:pPr eaLnBrk="1" hangingPunct="1">
              <a:lnSpc>
                <a:spcPct val="90000"/>
              </a:lnSpc>
            </a:pPr>
            <a:r>
              <a:rPr lang="en-US" sz="2400" dirty="0"/>
              <a:t>Images of sodium in the brain</a:t>
            </a:r>
          </a:p>
          <a:p>
            <a:pPr lvl="1" eaLnBrk="1" hangingPunct="1">
              <a:lnSpc>
                <a:spcPct val="90000"/>
              </a:lnSpc>
            </a:pPr>
            <a:r>
              <a:rPr lang="en-US" sz="2000" dirty="0"/>
              <a:t>Sodium is one of the most regulated substance in human tissues</a:t>
            </a:r>
          </a:p>
          <a:p>
            <a:pPr lvl="1" eaLnBrk="1" hangingPunct="1">
              <a:lnSpc>
                <a:spcPct val="90000"/>
              </a:lnSpc>
            </a:pPr>
            <a:r>
              <a:rPr lang="en-US" sz="2000" dirty="0"/>
              <a:t>Any significant shift in sodium concentration signals cell death</a:t>
            </a:r>
          </a:p>
          <a:p>
            <a:pPr lvl="1" eaLnBrk="1" hangingPunct="1">
              <a:lnSpc>
                <a:spcPct val="90000"/>
              </a:lnSpc>
            </a:pPr>
            <a:r>
              <a:rPr lang="en-US" sz="2000" dirty="0"/>
              <a:t>Much less abundant than water in human tissues, about 1/2000</a:t>
            </a:r>
          </a:p>
          <a:p>
            <a:pPr lvl="1" eaLnBrk="1" hangingPunct="1">
              <a:lnSpc>
                <a:spcPct val="90000"/>
              </a:lnSpc>
            </a:pPr>
            <a:r>
              <a:rPr lang="en-US" sz="2000" dirty="0"/>
              <a:t>Very large number of samples are needed for good SNR</a:t>
            </a:r>
          </a:p>
          <a:p>
            <a:pPr lvl="1" eaLnBrk="1" hangingPunct="1">
              <a:lnSpc>
                <a:spcPct val="90000"/>
              </a:lnSpc>
            </a:pPr>
            <a:r>
              <a:rPr lang="en-US" sz="2000" dirty="0"/>
              <a:t>Requires high-quality reconstruction, currently considered impractical</a:t>
            </a:r>
          </a:p>
          <a:p>
            <a:endParaRPr lang="en-US" dirty="0"/>
          </a:p>
        </p:txBody>
      </p:sp>
      <p:sp>
        <p:nvSpPr>
          <p:cNvPr id="2" name="1 Marcador de número de diapositiva"/>
          <p:cNvSpPr>
            <a:spLocks noGrp="1"/>
          </p:cNvSpPr>
          <p:nvPr>
            <p:ph type="sldNum" sz="quarter" idx="4294967295"/>
          </p:nvPr>
        </p:nvSpPr>
        <p:spPr>
          <a:xfrm>
            <a:off x="0" y="0"/>
            <a:ext cx="0" cy="0"/>
          </a:xfrm>
        </p:spPr>
        <p:txBody>
          <a:bodyPr/>
          <a:lstStyle/>
          <a:p>
            <a:pPr>
              <a:defRPr/>
            </a:pPr>
            <a:fld id="{285CE1B5-6F67-45DC-90CE-4D4426AC7323}" type="slidenum">
              <a:rPr lang="en-US" smtClean="0"/>
              <a:pPr>
                <a:defRPr/>
              </a:pPr>
              <a:t>16</a:t>
            </a:fld>
            <a:endParaRPr lang="en-US" dirty="0"/>
          </a:p>
        </p:txBody>
      </p:sp>
      <p:sp>
        <p:nvSpPr>
          <p:cNvPr id="21509" name="Text Box 19"/>
          <p:cNvSpPr txBox="1">
            <a:spLocks noChangeArrowheads="1"/>
          </p:cNvSpPr>
          <p:nvPr/>
        </p:nvSpPr>
        <p:spPr bwMode="auto">
          <a:xfrm>
            <a:off x="304800" y="3048000"/>
            <a:ext cx="8458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sz="1400">
                <a:latin typeface="Arial Narrow" pitchFamily="34" charset="0"/>
              </a:rPr>
              <a:t>Courtesy of Keith Thulborn and Ian Atkinson, Center for MR Research, University of Illinois at Chicago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17" descr="Na325mm_1e-15_axial"/>
          <p:cNvPicPr>
            <a:picLocks noChangeAspect="1" noChangeArrowheads="1"/>
          </p:cNvPicPr>
          <p:nvPr/>
        </p:nvPicPr>
        <p:blipFill>
          <a:blip r:embed="rId3">
            <a:lum bright="30000" contrast="30000"/>
            <a:extLst>
              <a:ext uri="{28A0092B-C50C-407E-A947-70E740481C1C}">
                <a14:useLocalDpi xmlns:a14="http://schemas.microsoft.com/office/drawing/2010/main" val="0"/>
              </a:ext>
            </a:extLst>
          </a:blip>
          <a:srcRect/>
          <a:stretch>
            <a:fillRect/>
          </a:stretch>
        </p:blipFill>
        <p:spPr bwMode="auto">
          <a:xfrm>
            <a:off x="228600" y="914400"/>
            <a:ext cx="8763000" cy="219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a:extLst>
              <a:ext uri="{FF2B5EF4-FFF2-40B4-BE49-F238E27FC236}">
                <a16:creationId xmlns:a16="http://schemas.microsoft.com/office/drawing/2014/main" id="{FBE21667-9E94-7145-5DC1-FAC5603AA5C8}"/>
              </a:ext>
            </a:extLst>
          </p:cNvPr>
          <p:cNvSpPr>
            <a:spLocks noGrp="1"/>
          </p:cNvSpPr>
          <p:nvPr>
            <p:ph type="body" idx="10"/>
          </p:nvPr>
        </p:nvSpPr>
        <p:spPr/>
        <p:txBody>
          <a:bodyPr/>
          <a:lstStyle/>
          <a:p>
            <a:r>
              <a:rPr lang="en-US" dirty="0"/>
              <a:t>An Exciting Revolution - Sodium Map of the Brain</a:t>
            </a:r>
          </a:p>
        </p:txBody>
      </p:sp>
      <p:sp>
        <p:nvSpPr>
          <p:cNvPr id="3" name="Content Placeholder 2">
            <a:extLst>
              <a:ext uri="{FF2B5EF4-FFF2-40B4-BE49-F238E27FC236}">
                <a16:creationId xmlns:a16="http://schemas.microsoft.com/office/drawing/2014/main" id="{EA1375A4-AF3A-7342-1C2A-22B0D281FEDE}"/>
              </a:ext>
            </a:extLst>
          </p:cNvPr>
          <p:cNvSpPr>
            <a:spLocks noGrp="1"/>
          </p:cNvSpPr>
          <p:nvPr>
            <p:ph sz="half" idx="1"/>
          </p:nvPr>
        </p:nvSpPr>
        <p:spPr>
          <a:xfrm>
            <a:off x="350672" y="3522114"/>
            <a:ext cx="8464802" cy="2900587"/>
          </a:xfrm>
        </p:spPr>
        <p:txBody>
          <a:bodyPr/>
          <a:lstStyle/>
          <a:p>
            <a:pPr eaLnBrk="1" hangingPunct="1">
              <a:lnSpc>
                <a:spcPct val="90000"/>
              </a:lnSpc>
            </a:pPr>
            <a:r>
              <a:rPr lang="en-US" sz="2400" dirty="0"/>
              <a:t>Enables study of brain-cell viability before anatomic changes occur in stroke and cancer treatment.</a:t>
            </a:r>
          </a:p>
          <a:p>
            <a:pPr lvl="1" eaLnBrk="1" hangingPunct="1">
              <a:lnSpc>
                <a:spcPct val="90000"/>
              </a:lnSpc>
            </a:pPr>
            <a:r>
              <a:rPr lang="en-US" sz="2000" dirty="0"/>
              <a:t>Drastic improvement of timeliness of treatment decision </a:t>
            </a:r>
          </a:p>
          <a:p>
            <a:pPr lvl="1" eaLnBrk="1" hangingPunct="1">
              <a:lnSpc>
                <a:spcPct val="90000"/>
              </a:lnSpc>
            </a:pPr>
            <a:r>
              <a:rPr lang="en-US" sz="2000" dirty="0"/>
              <a:t>Minutes for stroke and days for oncology.</a:t>
            </a:r>
          </a:p>
          <a:p>
            <a:endParaRPr lang="en-US" dirty="0"/>
          </a:p>
        </p:txBody>
      </p:sp>
      <p:sp>
        <p:nvSpPr>
          <p:cNvPr id="2" name="1 Marcador de número de diapositiva"/>
          <p:cNvSpPr>
            <a:spLocks noGrp="1"/>
          </p:cNvSpPr>
          <p:nvPr>
            <p:ph type="sldNum" sz="quarter" idx="4294967295"/>
          </p:nvPr>
        </p:nvSpPr>
        <p:spPr>
          <a:xfrm>
            <a:off x="0" y="0"/>
            <a:ext cx="0" cy="0"/>
          </a:xfrm>
        </p:spPr>
        <p:txBody>
          <a:bodyPr/>
          <a:lstStyle/>
          <a:p>
            <a:pPr>
              <a:defRPr/>
            </a:pPr>
            <a:endParaRPr lang="en-US" dirty="0"/>
          </a:p>
        </p:txBody>
      </p:sp>
      <p:sp>
        <p:nvSpPr>
          <p:cNvPr id="22533" name="Text Box 19"/>
          <p:cNvSpPr txBox="1">
            <a:spLocks noChangeArrowheads="1"/>
          </p:cNvSpPr>
          <p:nvPr/>
        </p:nvSpPr>
        <p:spPr bwMode="auto">
          <a:xfrm>
            <a:off x="304800" y="3048000"/>
            <a:ext cx="84582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sz="1400">
                <a:latin typeface="Arial Narrow" pitchFamily="34" charset="0"/>
              </a:rPr>
              <a:t>Courtesy of Keith Thulborn and Ian Atkinson, Center for MR Research, University of Illinois at Chicago</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B44FBC6-6377-CC0A-3B3D-5440C3EBB9C2}"/>
              </a:ext>
            </a:extLst>
          </p:cNvPr>
          <p:cNvSpPr>
            <a:spLocks noGrp="1"/>
          </p:cNvSpPr>
          <p:nvPr>
            <p:ph type="body" idx="10"/>
          </p:nvPr>
        </p:nvSpPr>
        <p:spPr>
          <a:xfrm>
            <a:off x="984074" y="70091"/>
            <a:ext cx="7886700" cy="453544"/>
          </a:xfrm>
        </p:spPr>
        <p:txBody>
          <a:bodyPr/>
          <a:lstStyle/>
          <a:p>
            <a:r>
              <a:rPr lang="en-US" dirty="0"/>
              <a:t>Computation that Enables Sodium map of the Brain</a:t>
            </a:r>
          </a:p>
        </p:txBody>
      </p:sp>
      <p:sp>
        <p:nvSpPr>
          <p:cNvPr id="23555" name="Text Box 3"/>
          <p:cNvSpPr txBox="1">
            <a:spLocks noChangeArrowheads="1"/>
          </p:cNvSpPr>
          <p:nvPr/>
        </p:nvSpPr>
        <p:spPr bwMode="auto">
          <a:xfrm>
            <a:off x="457200" y="990600"/>
            <a:ext cx="251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a:solidFill>
                  <a:schemeClr val="folHlink"/>
                </a:solidFill>
                <a:latin typeface="Arial Narrow" pitchFamily="34" charset="0"/>
              </a:rPr>
              <a:t>Cartesian Scan Data</a:t>
            </a:r>
          </a:p>
        </p:txBody>
      </p:sp>
      <p:sp>
        <p:nvSpPr>
          <p:cNvPr id="23556" name="Text Box 4"/>
          <p:cNvSpPr txBox="1">
            <a:spLocks noChangeArrowheads="1"/>
          </p:cNvSpPr>
          <p:nvPr/>
        </p:nvSpPr>
        <p:spPr bwMode="auto">
          <a:xfrm>
            <a:off x="5943600" y="990600"/>
            <a:ext cx="213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a:latin typeface="Arial Narrow" pitchFamily="34" charset="0"/>
              </a:rPr>
              <a:t>Spiral Scan Data</a:t>
            </a:r>
          </a:p>
        </p:txBody>
      </p:sp>
      <p:sp>
        <p:nvSpPr>
          <p:cNvPr id="23557" name="Text Box 5"/>
          <p:cNvSpPr txBox="1">
            <a:spLocks noChangeArrowheads="1"/>
          </p:cNvSpPr>
          <p:nvPr/>
        </p:nvSpPr>
        <p:spPr bwMode="auto">
          <a:xfrm>
            <a:off x="3505200" y="1752600"/>
            <a:ext cx="213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a:latin typeface="Arial Narrow" pitchFamily="34" charset="0"/>
              </a:rPr>
              <a:t>Gridding</a:t>
            </a:r>
            <a:r>
              <a:rPr lang="en-US" baseline="45000">
                <a:latin typeface="Arial Narrow" pitchFamily="34" charset="0"/>
              </a:rPr>
              <a:t>1</a:t>
            </a:r>
          </a:p>
        </p:txBody>
      </p:sp>
      <p:sp>
        <p:nvSpPr>
          <p:cNvPr id="23558" name="Text Box 6"/>
          <p:cNvSpPr txBox="1">
            <a:spLocks noChangeArrowheads="1"/>
          </p:cNvSpPr>
          <p:nvPr/>
        </p:nvSpPr>
        <p:spPr bwMode="auto">
          <a:xfrm>
            <a:off x="457200" y="4267200"/>
            <a:ext cx="2286000" cy="461963"/>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b="1">
                <a:solidFill>
                  <a:schemeClr val="bg1"/>
                </a:solidFill>
                <a:latin typeface="Arial Narrow" pitchFamily="34" charset="0"/>
              </a:rPr>
              <a:t>FFT</a:t>
            </a:r>
          </a:p>
        </p:txBody>
      </p:sp>
      <p:sp>
        <p:nvSpPr>
          <p:cNvPr id="23559" name="Line 7"/>
          <p:cNvSpPr>
            <a:spLocks noChangeShapeType="1"/>
          </p:cNvSpPr>
          <p:nvPr/>
        </p:nvSpPr>
        <p:spPr bwMode="auto">
          <a:xfrm flipH="1">
            <a:off x="5486400" y="2057400"/>
            <a:ext cx="685800" cy="381000"/>
          </a:xfrm>
          <a:prstGeom prst="line">
            <a:avLst/>
          </a:prstGeom>
          <a:noFill/>
          <a:ln w="69850" cmpd="tri">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60" name="Line 8"/>
          <p:cNvSpPr>
            <a:spLocks noChangeShapeType="1"/>
          </p:cNvSpPr>
          <p:nvPr/>
        </p:nvSpPr>
        <p:spPr bwMode="auto">
          <a:xfrm flipH="1">
            <a:off x="2590800" y="3657600"/>
            <a:ext cx="685800" cy="381000"/>
          </a:xfrm>
          <a:prstGeom prst="line">
            <a:avLst/>
          </a:prstGeom>
          <a:noFill/>
          <a:ln w="69850" cmpd="tri">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61" name="Line 9"/>
          <p:cNvSpPr>
            <a:spLocks noChangeShapeType="1"/>
          </p:cNvSpPr>
          <p:nvPr/>
        </p:nvSpPr>
        <p:spPr bwMode="auto">
          <a:xfrm>
            <a:off x="1524000" y="3429000"/>
            <a:ext cx="0" cy="685800"/>
          </a:xfrm>
          <a:prstGeom prst="line">
            <a:avLst/>
          </a:prstGeom>
          <a:noFill/>
          <a:ln w="69850" cmpd="tri">
            <a:solidFill>
              <a:srgbClr val="C0C0C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62" name="Text Box 10"/>
          <p:cNvSpPr txBox="1">
            <a:spLocks noChangeArrowheads="1"/>
          </p:cNvSpPr>
          <p:nvPr/>
        </p:nvSpPr>
        <p:spPr bwMode="auto">
          <a:xfrm>
            <a:off x="6400800" y="4267200"/>
            <a:ext cx="2286000" cy="4619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b="1">
                <a:solidFill>
                  <a:schemeClr val="bg1"/>
                </a:solidFill>
                <a:latin typeface="Arial Narrow" pitchFamily="34" charset="0"/>
              </a:rPr>
              <a:t>LS</a:t>
            </a:r>
          </a:p>
        </p:txBody>
      </p:sp>
      <p:sp>
        <p:nvSpPr>
          <p:cNvPr id="23563" name="Line 11"/>
          <p:cNvSpPr>
            <a:spLocks noChangeShapeType="1"/>
          </p:cNvSpPr>
          <p:nvPr/>
        </p:nvSpPr>
        <p:spPr bwMode="auto">
          <a:xfrm>
            <a:off x="7010400" y="3276600"/>
            <a:ext cx="0" cy="838200"/>
          </a:xfrm>
          <a:prstGeom prst="line">
            <a:avLst/>
          </a:prstGeom>
          <a:noFill/>
          <a:ln w="69850" cmpd="tri">
            <a:solidFill>
              <a:srgbClr val="C0C0C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3564" name="Text Box 12"/>
          <p:cNvSpPr txBox="1">
            <a:spLocks noChangeArrowheads="1"/>
          </p:cNvSpPr>
          <p:nvPr/>
        </p:nvSpPr>
        <p:spPr bwMode="auto">
          <a:xfrm>
            <a:off x="914400" y="4800600"/>
            <a:ext cx="73152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r>
              <a:rPr lang="en-US" sz="2800">
                <a:latin typeface="Arial Narrow" pitchFamily="34" charset="0"/>
              </a:rPr>
              <a:t>Spiral scan data + Gridding + FFT: </a:t>
            </a:r>
          </a:p>
          <a:p>
            <a:pPr algn="ctr"/>
            <a:r>
              <a:rPr lang="en-US" sz="2800">
                <a:latin typeface="Arial Narrow" pitchFamily="34" charset="0"/>
              </a:rPr>
              <a:t>Fast scan, fast reconstruction, good images</a:t>
            </a:r>
          </a:p>
          <a:p>
            <a:pPr algn="ctr"/>
            <a:r>
              <a:rPr lang="en-US" sz="2800">
                <a:latin typeface="Arial Narrow" pitchFamily="34" charset="0"/>
              </a:rPr>
              <a:t>Can become realtime with about 10X speedup.</a:t>
            </a:r>
          </a:p>
        </p:txBody>
      </p:sp>
      <p:pic>
        <p:nvPicPr>
          <p:cNvPr id="23565"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1371600"/>
            <a:ext cx="2133600"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6"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286000"/>
            <a:ext cx="2209800" cy="183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7"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1371600"/>
            <a:ext cx="2286000" cy="183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8" name="Text Box 17"/>
          <p:cNvSpPr txBox="1">
            <a:spLocks noChangeArrowheads="1"/>
          </p:cNvSpPr>
          <p:nvPr/>
        </p:nvSpPr>
        <p:spPr bwMode="auto">
          <a:xfrm>
            <a:off x="4762500" y="6324600"/>
            <a:ext cx="43815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r">
              <a:spcBef>
                <a:spcPct val="50000"/>
              </a:spcBef>
            </a:pPr>
            <a:r>
              <a:rPr lang="en-US" sz="1200" baseline="45000">
                <a:latin typeface="Arial Narrow" pitchFamily="34" charset="0"/>
              </a:rPr>
              <a:t>1 </a:t>
            </a:r>
            <a:r>
              <a:rPr lang="en-US" sz="1200">
                <a:latin typeface="Arial Narrow" pitchFamily="34" charset="0"/>
              </a:rPr>
              <a:t>Based on Fig 1 of Lustig et al, Fast Spiral Fourier Transform for Iterative MR Image Reconstruction, IEEE Int’l Symp. on Biomedical Imaging, 2004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12"/>
          <p:cNvSpPr txBox="1">
            <a:spLocks noChangeArrowheads="1"/>
          </p:cNvSpPr>
          <p:nvPr/>
        </p:nvSpPr>
        <p:spPr bwMode="auto">
          <a:xfrm>
            <a:off x="228600" y="4632325"/>
            <a:ext cx="86868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r>
              <a:rPr lang="en-US" sz="2800">
                <a:latin typeface="Arial Narrow" pitchFamily="34" charset="0"/>
              </a:rPr>
              <a:t>Spiral scan data + LS</a:t>
            </a:r>
          </a:p>
          <a:p>
            <a:pPr algn="ctr"/>
            <a:r>
              <a:rPr lang="en-US" sz="2800">
                <a:latin typeface="Arial Narrow" pitchFamily="34" charset="0"/>
              </a:rPr>
              <a:t>Superior images at expense of significantly more computation; several hundred times slower than gridding.</a:t>
            </a:r>
          </a:p>
          <a:p>
            <a:pPr algn="ctr"/>
            <a:r>
              <a:rPr lang="en-US" sz="2800">
                <a:latin typeface="Arial Narrow" pitchFamily="34" charset="0"/>
              </a:rPr>
              <a:t>Traditionally considered impractical!</a:t>
            </a:r>
          </a:p>
        </p:txBody>
      </p:sp>
      <p:sp>
        <p:nvSpPr>
          <p:cNvPr id="4" name="Text Placeholder 3">
            <a:extLst>
              <a:ext uri="{FF2B5EF4-FFF2-40B4-BE49-F238E27FC236}">
                <a16:creationId xmlns:a16="http://schemas.microsoft.com/office/drawing/2014/main" id="{2A7465C9-45D6-7A64-4DD1-EAC3F678844D}"/>
              </a:ext>
            </a:extLst>
          </p:cNvPr>
          <p:cNvSpPr>
            <a:spLocks noGrp="1"/>
          </p:cNvSpPr>
          <p:nvPr>
            <p:ph type="body" idx="10"/>
          </p:nvPr>
        </p:nvSpPr>
        <p:spPr/>
        <p:txBody>
          <a:bodyPr/>
          <a:lstStyle/>
          <a:p>
            <a:r>
              <a:rPr lang="en-US" dirty="0"/>
              <a:t>Computation that Enables Sodium Map of the brain (cont.)</a:t>
            </a:r>
          </a:p>
          <a:p>
            <a:endParaRPr lang="en-US" dirty="0"/>
          </a:p>
        </p:txBody>
      </p:sp>
      <p:sp>
        <p:nvSpPr>
          <p:cNvPr id="2" name="1 Marcador de número de diapositiva"/>
          <p:cNvSpPr>
            <a:spLocks noGrp="1"/>
          </p:cNvSpPr>
          <p:nvPr>
            <p:ph type="sldNum" sz="quarter" idx="4294967295"/>
          </p:nvPr>
        </p:nvSpPr>
        <p:spPr>
          <a:xfrm>
            <a:off x="0" y="0"/>
            <a:ext cx="0" cy="0"/>
          </a:xfrm>
        </p:spPr>
        <p:txBody>
          <a:bodyPr/>
          <a:lstStyle/>
          <a:p>
            <a:pPr>
              <a:defRPr/>
            </a:pPr>
            <a:fld id="{285CE1B5-6F67-45DC-90CE-4D4426AC7323}" type="slidenum">
              <a:rPr lang="en-US" smtClean="0"/>
              <a:pPr>
                <a:defRPr/>
              </a:pPr>
              <a:t>19</a:t>
            </a:fld>
            <a:endParaRPr lang="en-US"/>
          </a:p>
        </p:txBody>
      </p:sp>
      <p:sp>
        <p:nvSpPr>
          <p:cNvPr id="24580" name="Text Box 3"/>
          <p:cNvSpPr txBox="1">
            <a:spLocks noChangeArrowheads="1"/>
          </p:cNvSpPr>
          <p:nvPr/>
        </p:nvSpPr>
        <p:spPr bwMode="auto">
          <a:xfrm>
            <a:off x="457200" y="990600"/>
            <a:ext cx="2514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a:solidFill>
                  <a:schemeClr val="folHlink"/>
                </a:solidFill>
                <a:latin typeface="Arial Narrow" pitchFamily="34" charset="0"/>
              </a:rPr>
              <a:t>Cartesian Scan Data</a:t>
            </a:r>
          </a:p>
        </p:txBody>
      </p:sp>
      <p:sp>
        <p:nvSpPr>
          <p:cNvPr id="24581" name="Text Box 4"/>
          <p:cNvSpPr txBox="1">
            <a:spLocks noChangeArrowheads="1"/>
          </p:cNvSpPr>
          <p:nvPr/>
        </p:nvSpPr>
        <p:spPr bwMode="auto">
          <a:xfrm>
            <a:off x="5943600" y="990600"/>
            <a:ext cx="213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a:latin typeface="Arial Narrow" pitchFamily="34" charset="0"/>
              </a:rPr>
              <a:t>Spiral Scan Data</a:t>
            </a:r>
          </a:p>
        </p:txBody>
      </p:sp>
      <p:sp>
        <p:nvSpPr>
          <p:cNvPr id="24582" name="Text Box 5"/>
          <p:cNvSpPr txBox="1">
            <a:spLocks noChangeArrowheads="1"/>
          </p:cNvSpPr>
          <p:nvPr/>
        </p:nvSpPr>
        <p:spPr bwMode="auto">
          <a:xfrm>
            <a:off x="3505200" y="1752600"/>
            <a:ext cx="21336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a:solidFill>
                  <a:schemeClr val="folHlink"/>
                </a:solidFill>
                <a:latin typeface="Arial Narrow" pitchFamily="34" charset="0"/>
              </a:rPr>
              <a:t>Gridding</a:t>
            </a:r>
          </a:p>
        </p:txBody>
      </p:sp>
      <p:sp>
        <p:nvSpPr>
          <p:cNvPr id="24583" name="Text Box 6"/>
          <p:cNvSpPr txBox="1">
            <a:spLocks noChangeArrowheads="1"/>
          </p:cNvSpPr>
          <p:nvPr/>
        </p:nvSpPr>
        <p:spPr bwMode="auto">
          <a:xfrm>
            <a:off x="457200" y="4267200"/>
            <a:ext cx="2590800" cy="4619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b="1">
                <a:solidFill>
                  <a:schemeClr val="bg1"/>
                </a:solidFill>
                <a:latin typeface="Arial Narrow" pitchFamily="34" charset="0"/>
              </a:rPr>
              <a:t>FFT</a:t>
            </a:r>
          </a:p>
        </p:txBody>
      </p:sp>
      <p:sp>
        <p:nvSpPr>
          <p:cNvPr id="24584" name="Line 7"/>
          <p:cNvSpPr>
            <a:spLocks noChangeShapeType="1"/>
          </p:cNvSpPr>
          <p:nvPr/>
        </p:nvSpPr>
        <p:spPr bwMode="auto">
          <a:xfrm flipH="1">
            <a:off x="5486400" y="2057400"/>
            <a:ext cx="685800" cy="381000"/>
          </a:xfrm>
          <a:prstGeom prst="line">
            <a:avLst/>
          </a:prstGeom>
          <a:noFill/>
          <a:ln w="69850" cmpd="tri">
            <a:solidFill>
              <a:srgbClr val="C0C0C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5" name="Line 8"/>
          <p:cNvSpPr>
            <a:spLocks noChangeShapeType="1"/>
          </p:cNvSpPr>
          <p:nvPr/>
        </p:nvSpPr>
        <p:spPr bwMode="auto">
          <a:xfrm flipH="1">
            <a:off x="2590800" y="3657600"/>
            <a:ext cx="685800" cy="381000"/>
          </a:xfrm>
          <a:prstGeom prst="line">
            <a:avLst/>
          </a:prstGeom>
          <a:noFill/>
          <a:ln w="69850" cmpd="tri">
            <a:solidFill>
              <a:srgbClr val="C0C0C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6" name="Line 9"/>
          <p:cNvSpPr>
            <a:spLocks noChangeShapeType="1"/>
          </p:cNvSpPr>
          <p:nvPr/>
        </p:nvSpPr>
        <p:spPr bwMode="auto">
          <a:xfrm>
            <a:off x="1524000" y="3429000"/>
            <a:ext cx="0" cy="685800"/>
          </a:xfrm>
          <a:prstGeom prst="line">
            <a:avLst/>
          </a:prstGeom>
          <a:noFill/>
          <a:ln w="69850" cmpd="tri">
            <a:solidFill>
              <a:srgbClr val="C0C0C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7" name="Text Box 10"/>
          <p:cNvSpPr txBox="1">
            <a:spLocks noChangeArrowheads="1"/>
          </p:cNvSpPr>
          <p:nvPr/>
        </p:nvSpPr>
        <p:spPr bwMode="auto">
          <a:xfrm>
            <a:off x="6096000" y="4267200"/>
            <a:ext cx="2590800" cy="461963"/>
          </a:xfrm>
          <a:prstGeom prst="rect">
            <a:avLst/>
          </a:prstGeom>
          <a:solidFill>
            <a:srgbClr val="0000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Palatino" pitchFamily="18" charset="0"/>
                <a:ea typeface="ＭＳ Ｐゴシック" pitchFamily="34" charset="-128"/>
              </a:defRPr>
            </a:lvl1pPr>
            <a:lvl2pPr marL="742950" indent="-285750">
              <a:defRPr sz="2400">
                <a:solidFill>
                  <a:schemeClr val="tx1"/>
                </a:solidFill>
                <a:latin typeface="Palatino" pitchFamily="18" charset="0"/>
                <a:ea typeface="ＭＳ Ｐゴシック" pitchFamily="34" charset="-128"/>
              </a:defRPr>
            </a:lvl2pPr>
            <a:lvl3pPr marL="1143000" indent="-228600">
              <a:defRPr sz="2400">
                <a:solidFill>
                  <a:schemeClr val="tx1"/>
                </a:solidFill>
                <a:latin typeface="Palatino" pitchFamily="18" charset="0"/>
                <a:ea typeface="ＭＳ Ｐゴシック" pitchFamily="34" charset="-128"/>
              </a:defRPr>
            </a:lvl3pPr>
            <a:lvl4pPr marL="1600200" indent="-228600">
              <a:defRPr sz="2400">
                <a:solidFill>
                  <a:schemeClr val="tx1"/>
                </a:solidFill>
                <a:latin typeface="Palatino" pitchFamily="18" charset="0"/>
                <a:ea typeface="ＭＳ Ｐゴシック" pitchFamily="34" charset="-128"/>
              </a:defRPr>
            </a:lvl4pPr>
            <a:lvl5pPr marL="2057400" indent="-228600">
              <a:defRPr sz="2400">
                <a:solidFill>
                  <a:schemeClr val="tx1"/>
                </a:solidFill>
                <a:latin typeface="Palatino" pitchFamily="18"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Palatino" pitchFamily="18" charset="0"/>
                <a:ea typeface="ＭＳ Ｐゴシック" pitchFamily="34" charset="-128"/>
              </a:defRPr>
            </a:lvl9pPr>
          </a:lstStyle>
          <a:p>
            <a:pPr algn="ctr">
              <a:spcBef>
                <a:spcPct val="50000"/>
              </a:spcBef>
            </a:pPr>
            <a:r>
              <a:rPr lang="en-US" b="1">
                <a:solidFill>
                  <a:schemeClr val="bg1"/>
                </a:solidFill>
                <a:latin typeface="Arial Narrow" pitchFamily="34" charset="0"/>
              </a:rPr>
              <a:t>Least-Squares (LS)</a:t>
            </a:r>
          </a:p>
        </p:txBody>
      </p:sp>
      <p:sp>
        <p:nvSpPr>
          <p:cNvPr id="24588" name="Line 11"/>
          <p:cNvSpPr>
            <a:spLocks noChangeShapeType="1"/>
          </p:cNvSpPr>
          <p:nvPr/>
        </p:nvSpPr>
        <p:spPr bwMode="auto">
          <a:xfrm>
            <a:off x="7010400" y="3276600"/>
            <a:ext cx="0" cy="838200"/>
          </a:xfrm>
          <a:prstGeom prst="line">
            <a:avLst/>
          </a:prstGeom>
          <a:noFill/>
          <a:ln w="69850" cmpd="tri">
            <a:solidFill>
              <a:srgbClr val="000099"/>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pic>
        <p:nvPicPr>
          <p:cNvPr id="24589" name="Picture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371600"/>
            <a:ext cx="2286000" cy="183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0" name="Picture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286000"/>
            <a:ext cx="2225675" cy="184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591"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72200" y="1371600"/>
            <a:ext cx="2133600" cy="182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8288" y="838200"/>
            <a:ext cx="6450012"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 name="Text Placeholder 2">
            <a:extLst>
              <a:ext uri="{FF2B5EF4-FFF2-40B4-BE49-F238E27FC236}">
                <a16:creationId xmlns:a16="http://schemas.microsoft.com/office/drawing/2014/main" id="{A0D86431-BA5F-C0D5-0834-0E7825D807E7}"/>
              </a:ext>
            </a:extLst>
          </p:cNvPr>
          <p:cNvSpPr>
            <a:spLocks noGrp="1"/>
          </p:cNvSpPr>
          <p:nvPr>
            <p:ph type="body" idx="1"/>
          </p:nvPr>
        </p:nvSpPr>
        <p:spPr/>
        <p:txBody>
          <a:bodyPr/>
          <a:lstStyle/>
          <a:p>
            <a:endParaRPr lang="en-US"/>
          </a:p>
        </p:txBody>
      </p:sp>
      <p:sp>
        <p:nvSpPr>
          <p:cNvPr id="25603" name="Rectangle 2"/>
          <p:cNvSpPr>
            <a:spLocks noGrp="1" noChangeArrowheads="1"/>
          </p:cNvSpPr>
          <p:nvPr>
            <p:ph sz="half" idx="2"/>
          </p:nvPr>
        </p:nvSpPr>
        <p:spPr/>
        <p:txBody>
          <a:bodyPr>
            <a:normAutofit/>
          </a:bodyPr>
          <a:lstStyle/>
          <a:p>
            <a:pPr marL="190500" indent="-190500">
              <a:buSzPct val="85000"/>
            </a:pPr>
            <a:r>
              <a:rPr lang="en-US"/>
              <a:t>in-silico screening of drugs</a:t>
            </a:r>
          </a:p>
          <a:p>
            <a:pPr marL="190500" indent="-190500">
              <a:buSzPct val="85000"/>
            </a:pPr>
            <a:r>
              <a:rPr lang="en-US"/>
              <a:t>mastering diseases</a:t>
            </a:r>
          </a:p>
          <a:p>
            <a:pPr marL="190500" indent="-190500">
              <a:buSzPct val="85000"/>
            </a:pPr>
            <a:r>
              <a:rPr lang="en-US"/>
              <a:t>personalized medicine</a:t>
            </a:r>
          </a:p>
          <a:p>
            <a:pPr marL="190500" indent="-190500">
              <a:buSzPct val="85000"/>
              <a:buFontTx/>
              <a:buNone/>
            </a:pPr>
            <a:endParaRPr lang="en-US"/>
          </a:p>
          <a:p>
            <a:pPr marL="190500" indent="-190500">
              <a:buSzPct val="85000"/>
              <a:buFontTx/>
              <a:buNone/>
            </a:pPr>
            <a:r>
              <a:rPr lang="en-US" sz="1400"/>
              <a:t>Thanks: Lorena Barba </a:t>
            </a:r>
          </a:p>
        </p:txBody>
      </p:sp>
      <p:sp>
        <p:nvSpPr>
          <p:cNvPr id="4" name="Text Placeholder 3">
            <a:extLst>
              <a:ext uri="{FF2B5EF4-FFF2-40B4-BE49-F238E27FC236}">
                <a16:creationId xmlns:a16="http://schemas.microsoft.com/office/drawing/2014/main" id="{8414F843-5692-0C7C-846B-E8941E3F4FDD}"/>
              </a:ext>
            </a:extLst>
          </p:cNvPr>
          <p:cNvSpPr>
            <a:spLocks noGrp="1"/>
          </p:cNvSpPr>
          <p:nvPr>
            <p:ph type="body" sz="quarter" idx="3"/>
          </p:nvPr>
        </p:nvSpPr>
        <p:spPr/>
        <p:txBody>
          <a:bodyPr/>
          <a:lstStyle/>
          <a:p>
            <a:endParaRPr lang="en-US"/>
          </a:p>
        </p:txBody>
      </p:sp>
      <p:sp>
        <p:nvSpPr>
          <p:cNvPr id="5" name="Content Placeholder 4">
            <a:extLst>
              <a:ext uri="{FF2B5EF4-FFF2-40B4-BE49-F238E27FC236}">
                <a16:creationId xmlns:a16="http://schemas.microsoft.com/office/drawing/2014/main" id="{CCF17A12-8CEA-8178-B0AC-5D14D0796E9B}"/>
              </a:ext>
            </a:extLst>
          </p:cNvPr>
          <p:cNvSpPr>
            <a:spLocks noGrp="1"/>
          </p:cNvSpPr>
          <p:nvPr>
            <p:ph sz="quarter" idx="4"/>
          </p:nvPr>
        </p:nvSpPr>
        <p:spPr/>
        <p:txBody>
          <a:bodyPr/>
          <a:lstStyle/>
          <a:p>
            <a:endParaRPr lang="en-US"/>
          </a:p>
        </p:txBody>
      </p:sp>
      <p:sp>
        <p:nvSpPr>
          <p:cNvPr id="6" name="Text Placeholder 5">
            <a:extLst>
              <a:ext uri="{FF2B5EF4-FFF2-40B4-BE49-F238E27FC236}">
                <a16:creationId xmlns:a16="http://schemas.microsoft.com/office/drawing/2014/main" id="{9F595167-52ED-44A1-D2F4-A90DF994412E}"/>
              </a:ext>
            </a:extLst>
          </p:cNvPr>
          <p:cNvSpPr>
            <a:spLocks noGrp="1"/>
          </p:cNvSpPr>
          <p:nvPr>
            <p:ph type="body" idx="13"/>
          </p:nvPr>
        </p:nvSpPr>
        <p:spPr/>
        <p:txBody>
          <a:bodyPr/>
          <a:lstStyle/>
          <a:p>
            <a:r>
              <a:rPr lang="en-US" dirty="0"/>
              <a:t>High-Throughput Computing = Futuristic Biology</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20</a:t>
            </a:fld>
            <a:endParaRPr lang="en-US"/>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CD452B9F-5B9F-A712-4120-1146C9D0F7D0}"/>
              </a:ext>
            </a:extLst>
          </p:cNvPr>
          <p:cNvSpPr>
            <a:spLocks noGrp="1"/>
          </p:cNvSpPr>
          <p:nvPr>
            <p:ph type="body" idx="1"/>
          </p:nvPr>
        </p:nvSpPr>
        <p:spPr/>
        <p:txBody>
          <a:bodyPr/>
          <a:lstStyle/>
          <a:p>
            <a:endParaRPr lang="en-US"/>
          </a:p>
        </p:txBody>
      </p:sp>
      <p:sp>
        <p:nvSpPr>
          <p:cNvPr id="26627" name="Rectangle 2"/>
          <p:cNvSpPr>
            <a:spLocks noGrp="1" noChangeArrowheads="1"/>
          </p:cNvSpPr>
          <p:nvPr>
            <p:ph sz="half" idx="2"/>
          </p:nvPr>
        </p:nvSpPr>
        <p:spPr/>
        <p:txBody>
          <a:bodyPr/>
          <a:lstStyle/>
          <a:p>
            <a:pPr marL="487363" lvl="1"/>
            <a:r>
              <a:rPr lang="en-US"/>
              <a:t>Weed out inactive compounds</a:t>
            </a:r>
          </a:p>
          <a:p>
            <a:pPr marL="487363" lvl="1"/>
            <a:r>
              <a:rPr lang="en-US"/>
              <a:t>Rank “drug candidates” for given targets </a:t>
            </a:r>
          </a:p>
          <a:p>
            <a:r>
              <a:rPr lang="en-US"/>
              <a:t>Example: </a:t>
            </a:r>
          </a:p>
          <a:p>
            <a:pPr marL="944563" lvl="2"/>
            <a:r>
              <a:rPr lang="en-US"/>
              <a:t>CERN grid — 300,000 potential drugs against </a:t>
            </a:r>
            <a:r>
              <a:rPr lang="en-US">
                <a:latin typeface="WhitneyHTF-Book"/>
                <a:ea typeface="WhitneyHTF-Book"/>
                <a:cs typeface="WhitneyHTF-Book"/>
                <a:sym typeface="WhitneyHTF-Book"/>
              </a:rPr>
              <a:t>avian flu</a:t>
            </a:r>
            <a:r>
              <a:rPr lang="en-US"/>
              <a:t> screened</a:t>
            </a:r>
          </a:p>
          <a:p>
            <a:pPr marL="944563" lvl="2"/>
            <a:r>
              <a:rPr lang="en-US"/>
              <a:t>2000 computers, 4 weeks!</a:t>
            </a:r>
          </a:p>
          <a:p>
            <a:pPr marL="944563" lvl="2"/>
            <a:r>
              <a:rPr lang="en-US"/>
              <a:t>4 years cpu-time</a:t>
            </a:r>
          </a:p>
        </p:txBody>
      </p:sp>
      <p:sp>
        <p:nvSpPr>
          <p:cNvPr id="5" name="Text Placeholder 4">
            <a:extLst>
              <a:ext uri="{FF2B5EF4-FFF2-40B4-BE49-F238E27FC236}">
                <a16:creationId xmlns:a16="http://schemas.microsoft.com/office/drawing/2014/main" id="{76B1EDE7-7CEA-2A54-04DD-EF024607192F}"/>
              </a:ext>
            </a:extLst>
          </p:cNvPr>
          <p:cNvSpPr>
            <a:spLocks noGrp="1"/>
          </p:cNvSpPr>
          <p:nvPr>
            <p:ph type="body" sz="quarter" idx="3"/>
          </p:nvPr>
        </p:nvSpPr>
        <p:spPr/>
        <p:txBody>
          <a:bodyPr/>
          <a:lstStyle/>
          <a:p>
            <a:endParaRPr lang="en-US"/>
          </a:p>
        </p:txBody>
      </p:sp>
      <p:sp>
        <p:nvSpPr>
          <p:cNvPr id="4" name="3 Marcador de contenido"/>
          <p:cNvSpPr>
            <a:spLocks noGrp="1"/>
          </p:cNvSpPr>
          <p:nvPr>
            <p:ph sz="quarter" idx="4"/>
          </p:nvPr>
        </p:nvSpPr>
        <p:spPr/>
        <p:txBody>
          <a:bodyPr/>
          <a:lstStyle/>
          <a:p>
            <a:pPr marL="0" indent="0">
              <a:spcBef>
                <a:spcPts val="1513"/>
              </a:spcBef>
              <a:buNone/>
            </a:pPr>
            <a:br>
              <a:rPr lang="en-US" sz="2100" dirty="0">
                <a:latin typeface="Trebuchet MS" pitchFamily="34" charset="0"/>
                <a:sym typeface="Trebuchet MS" pitchFamily="34" charset="0"/>
              </a:rPr>
            </a:br>
            <a:endParaRPr lang="en-US" sz="2100" dirty="0">
              <a:latin typeface="Trebuchet MS" pitchFamily="34" charset="0"/>
              <a:sym typeface="Trebuchet MS" pitchFamily="34" charset="0"/>
            </a:endParaRPr>
          </a:p>
          <a:p>
            <a:pPr>
              <a:spcBef>
                <a:spcPts val="1513"/>
              </a:spcBef>
            </a:pPr>
            <a:r>
              <a:rPr lang="en-US" sz="2100" dirty="0">
                <a:latin typeface="Trebuchet MS" pitchFamily="34" charset="0"/>
                <a:sym typeface="Trebuchet MS" pitchFamily="34" charset="0"/>
              </a:rPr>
              <a:t>a process critical in</a:t>
            </a:r>
            <a:endParaRPr lang="en-US" sz="2300" dirty="0">
              <a:latin typeface="Trebuchet MS" pitchFamily="34" charset="0"/>
              <a:sym typeface="Trebuchet MS" pitchFamily="34" charset="0"/>
            </a:endParaRPr>
          </a:p>
          <a:p>
            <a:pPr marL="487363" lvl="1" indent="-200025">
              <a:spcBef>
                <a:spcPts val="1513"/>
              </a:spcBef>
              <a:buSzPct val="85000"/>
              <a:buFont typeface="Lucida Grande"/>
              <a:buChar char="‣"/>
            </a:pPr>
            <a:r>
              <a:rPr lang="en-US" sz="2100" dirty="0">
                <a:latin typeface="WhitneyHTF-Light"/>
                <a:ea typeface="WhitneyHTF-Light"/>
                <a:cs typeface="WhitneyHTF-Light"/>
                <a:sym typeface="WhitneyHTF-Light"/>
              </a:rPr>
              <a:t>some degenerative diseases (e.g., Parkinson’s):  aggregates abnormal</a:t>
            </a:r>
          </a:p>
          <a:p>
            <a:pPr marL="487363" lvl="1" indent="-200025">
              <a:spcBef>
                <a:spcPts val="1513"/>
              </a:spcBef>
              <a:buSzPct val="85000"/>
              <a:buFont typeface="Lucida Grande"/>
              <a:buChar char="‣"/>
            </a:pPr>
            <a:r>
              <a:rPr lang="en-US" sz="2100" dirty="0">
                <a:latin typeface="WhitneyHTF-Light"/>
                <a:ea typeface="WhitneyHTF-Light"/>
                <a:cs typeface="WhitneyHTF-Light"/>
                <a:sym typeface="WhitneyHTF-Light"/>
              </a:rPr>
              <a:t>drug production: aggregates undesirable</a:t>
            </a:r>
          </a:p>
          <a:p>
            <a:pPr>
              <a:spcBef>
                <a:spcPts val="1513"/>
              </a:spcBef>
            </a:pPr>
            <a:r>
              <a:rPr lang="en-US" sz="2100" dirty="0">
                <a:latin typeface="Trebuchet MS" pitchFamily="34" charset="0"/>
                <a:sym typeface="Trebuchet MS" pitchFamily="34" charset="0"/>
              </a:rPr>
              <a:t>time scale of the process:</a:t>
            </a:r>
            <a:endParaRPr lang="en-US" sz="2300" dirty="0">
              <a:latin typeface="Trebuchet MS" pitchFamily="34" charset="0"/>
              <a:sym typeface="Trebuchet MS" pitchFamily="34" charset="0"/>
            </a:endParaRPr>
          </a:p>
          <a:p>
            <a:pPr marL="487363" lvl="1" indent="-200025">
              <a:spcBef>
                <a:spcPts val="1513"/>
              </a:spcBef>
              <a:buSzPct val="85000"/>
              <a:buFont typeface="Lucida Grande"/>
              <a:buChar char="‣"/>
            </a:pPr>
            <a:r>
              <a:rPr lang="en-US" sz="2100" dirty="0">
                <a:latin typeface="WhitneyHTF-Light"/>
                <a:ea typeface="WhitneyHTF-Light"/>
                <a:cs typeface="WhitneyHTF-Light"/>
                <a:sym typeface="WhitneyHTF-Light"/>
              </a:rPr>
              <a:t>in vitro:  up to days!  </a:t>
            </a:r>
          </a:p>
          <a:p>
            <a:pPr marL="487363" lvl="1" indent="-200025">
              <a:spcBef>
                <a:spcPts val="1513"/>
              </a:spcBef>
              <a:buSzPct val="85000"/>
              <a:buFont typeface="Lucida Grande"/>
              <a:buChar char="‣"/>
            </a:pPr>
            <a:r>
              <a:rPr lang="en-US" sz="2100" dirty="0">
                <a:latin typeface="WhitneyHTF-Light"/>
                <a:ea typeface="WhitneyHTF-Light"/>
                <a:cs typeface="WhitneyHTF-Light"/>
                <a:sym typeface="WhitneyHTF-Light"/>
              </a:rPr>
              <a:t>impossible for molecular dynamics</a:t>
            </a:r>
          </a:p>
          <a:p>
            <a:endParaRPr lang="en-US" dirty="0"/>
          </a:p>
        </p:txBody>
      </p:sp>
      <p:sp>
        <p:nvSpPr>
          <p:cNvPr id="6" name="Text Placeholder 5">
            <a:extLst>
              <a:ext uri="{FF2B5EF4-FFF2-40B4-BE49-F238E27FC236}">
                <a16:creationId xmlns:a16="http://schemas.microsoft.com/office/drawing/2014/main" id="{7A7C356B-3D76-E2FC-C618-D98C85B89B5F}"/>
              </a:ext>
            </a:extLst>
          </p:cNvPr>
          <p:cNvSpPr>
            <a:spLocks noGrp="1"/>
          </p:cNvSpPr>
          <p:nvPr>
            <p:ph type="body" idx="13"/>
          </p:nvPr>
        </p:nvSpPr>
        <p:spPr/>
        <p:txBody>
          <a:bodyPr/>
          <a:lstStyle/>
          <a:p>
            <a:r>
              <a:rPr lang="en-US" dirty="0"/>
              <a:t>In-silico Drug Screening</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21</a:t>
            </a:fld>
            <a:endParaRPr lang="en-US"/>
          </a:p>
        </p:txBody>
      </p:sp>
      <p:sp>
        <p:nvSpPr>
          <p:cNvPr id="26628" name="Rectangle 3"/>
          <p:cNvSpPr>
            <a:spLocks/>
          </p:cNvSpPr>
          <p:nvPr/>
        </p:nvSpPr>
        <p:spPr bwMode="auto">
          <a:xfrm>
            <a:off x="4687888" y="912813"/>
            <a:ext cx="4170362" cy="68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nchor="b"/>
          <a:lstStyle/>
          <a:p>
            <a:r>
              <a:rPr lang="en-US" sz="3200" b="1" dirty="0">
                <a:solidFill>
                  <a:schemeClr val="tx2"/>
                </a:solidFill>
                <a:latin typeface="Trebuchet MS" pitchFamily="34" charset="0"/>
                <a:sym typeface="Trebuchet MS" pitchFamily="34" charset="0"/>
              </a:rPr>
              <a:t>Protein Aggregation</a:t>
            </a:r>
          </a:p>
        </p:txBody>
      </p:sp>
      <p:sp>
        <p:nvSpPr>
          <p:cNvPr id="26629" name="Rectangle 4"/>
          <p:cNvSpPr>
            <a:spLocks/>
          </p:cNvSpPr>
          <p:nvPr/>
        </p:nvSpPr>
        <p:spPr bwMode="auto">
          <a:xfrm>
            <a:off x="4687888" y="1241425"/>
            <a:ext cx="4170362" cy="500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lstStyle/>
          <a:p>
            <a:pPr>
              <a:spcBef>
                <a:spcPts val="1513"/>
              </a:spcBef>
            </a:pPr>
            <a:endParaRPr lang="en-US" sz="2100" dirty="0">
              <a:latin typeface="WhitneyHTF-Light"/>
              <a:ea typeface="WhitneyHTF-Light"/>
              <a:cs typeface="WhitneyHTF-Light"/>
              <a:sym typeface="WhitneyHTF-Light"/>
            </a:endParaRPr>
          </a:p>
        </p:txBody>
      </p:sp>
      <p:sp>
        <p:nvSpPr>
          <p:cNvPr id="26630" name="Line 5"/>
          <p:cNvSpPr>
            <a:spLocks noChangeShapeType="1"/>
          </p:cNvSpPr>
          <p:nvPr/>
        </p:nvSpPr>
        <p:spPr bwMode="auto">
          <a:xfrm>
            <a:off x="4572000" y="790575"/>
            <a:ext cx="0" cy="5686425"/>
          </a:xfrm>
          <a:prstGeom prst="line">
            <a:avLst/>
          </a:prstGeom>
          <a:noFill/>
          <a:ln w="12700">
            <a:solidFill>
              <a:srgbClr val="4C4C4C"/>
            </a:solidFill>
            <a:round/>
            <a:headEnd/>
            <a:tailEnd/>
          </a:ln>
          <a:extLst>
            <a:ext uri="{909E8E84-426E-40DD-AFC4-6F175D3DCCD1}">
              <a14:hiddenFill xmlns:a14="http://schemas.microsoft.com/office/drawing/2010/main">
                <a:noFill/>
              </a14:hiddenFill>
            </a:ext>
          </a:extLst>
        </p:spPr>
        <p:txBody>
          <a:bodyPr lIns="68882" tIns="34441" rIns="68882" bIns="34441"/>
          <a:lstStyle/>
          <a:p>
            <a:endParaRPr lang="en-US"/>
          </a:p>
        </p:txBody>
      </p:sp>
    </p:spTree>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1988" y="3217862"/>
            <a:ext cx="3325812" cy="2497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
        <p:nvSpPr>
          <p:cNvPr id="3" name="Text Placeholder 2">
            <a:extLst>
              <a:ext uri="{FF2B5EF4-FFF2-40B4-BE49-F238E27FC236}">
                <a16:creationId xmlns:a16="http://schemas.microsoft.com/office/drawing/2014/main" id="{F4CE45B3-618C-0592-FEEC-3E6FDB4665C9}"/>
              </a:ext>
            </a:extLst>
          </p:cNvPr>
          <p:cNvSpPr>
            <a:spLocks noGrp="1"/>
          </p:cNvSpPr>
          <p:nvPr>
            <p:ph type="body" idx="10"/>
          </p:nvPr>
        </p:nvSpPr>
        <p:spPr/>
        <p:txBody>
          <a:bodyPr/>
          <a:lstStyle/>
          <a:p>
            <a:r>
              <a:rPr lang="en-US" dirty="0"/>
              <a:t>Electrostatic Interactions Play a Crucial Role</a:t>
            </a:r>
          </a:p>
        </p:txBody>
      </p:sp>
      <p:sp>
        <p:nvSpPr>
          <p:cNvPr id="27652" name="Rectangle 3"/>
          <p:cNvSpPr>
            <a:spLocks noGrp="1" noChangeArrowheads="1"/>
          </p:cNvSpPr>
          <p:nvPr>
            <p:ph sz="half" idx="1"/>
          </p:nvPr>
        </p:nvSpPr>
        <p:spPr/>
        <p:txBody>
          <a:bodyPr/>
          <a:lstStyle/>
          <a:p>
            <a:r>
              <a:rPr lang="en-US" dirty="0"/>
              <a:t>Classical molecular dynamics:</a:t>
            </a:r>
          </a:p>
          <a:p>
            <a:pPr marL="944563" lvl="2"/>
            <a:r>
              <a:rPr lang="en-US" dirty="0"/>
              <a:t>very detailed ... but too expensive at large scale!</a:t>
            </a:r>
          </a:p>
          <a:p>
            <a:r>
              <a:rPr lang="en-US" dirty="0"/>
              <a:t>Alternative:  continuum model of surrounding water</a:t>
            </a:r>
          </a:p>
          <a:p>
            <a:pPr marL="944563" lvl="2"/>
            <a:r>
              <a:rPr lang="en-US" dirty="0"/>
              <a:t>don’t care what the H</a:t>
            </a:r>
            <a:r>
              <a:rPr lang="en-US" baseline="-6000" dirty="0"/>
              <a:t>2</a:t>
            </a:r>
            <a:r>
              <a:rPr lang="en-US" dirty="0"/>
              <a:t>0 molecules do</a:t>
            </a:r>
          </a:p>
          <a:p>
            <a:pPr marL="944563" lvl="2"/>
            <a:r>
              <a:rPr lang="en-US" dirty="0"/>
              <a:t>model as a continuum dielectric</a:t>
            </a:r>
          </a:p>
          <a:p>
            <a:pPr marL="944563" lvl="2"/>
            <a:r>
              <a:rPr lang="en-US" dirty="0"/>
              <a:t>leads to a boundary integral equation (BIE) problem</a:t>
            </a:r>
          </a:p>
          <a:p>
            <a:r>
              <a:rPr lang="en-US" dirty="0"/>
              <a:t>Fast algorithm, well-suited for GPU:</a:t>
            </a:r>
          </a:p>
          <a:p>
            <a:pPr marL="944563" lvl="2"/>
            <a:r>
              <a:rPr lang="en-US" dirty="0"/>
              <a:t>fast multipole method, solves BIE in O(N) ops</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22</a:t>
            </a:fld>
            <a:endParaRPr lang="en-US"/>
          </a:p>
        </p:txBody>
      </p:sp>
    </p:spTree>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23</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3338"/>
            <a:ext cx="9401175" cy="679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724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B65CCE5F-E318-1B35-E42D-B509C511C555}"/>
              </a:ext>
            </a:extLst>
          </p:cNvPr>
          <p:cNvSpPr>
            <a:spLocks noGrp="1"/>
          </p:cNvSpPr>
          <p:nvPr>
            <p:ph type="body" idx="10"/>
          </p:nvPr>
        </p:nvSpPr>
        <p:spPr/>
        <p:txBody>
          <a:bodyPr/>
          <a:lstStyle/>
          <a:p>
            <a:endParaRPr lang="en-US"/>
          </a:p>
        </p:txBody>
      </p:sp>
      <p:sp>
        <p:nvSpPr>
          <p:cNvPr id="2" name="Slide Number Placeholder 1"/>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24</a:t>
            </a:fld>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7917"/>
            <a:ext cx="11430000" cy="614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938654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0DE750-9F96-5811-D81E-A5876E96B35A}"/>
              </a:ext>
            </a:extLst>
          </p:cNvPr>
          <p:cNvSpPr>
            <a:spLocks noGrp="1"/>
          </p:cNvSpPr>
          <p:nvPr>
            <p:ph type="body" idx="10"/>
          </p:nvPr>
        </p:nvSpPr>
        <p:spPr/>
        <p:txBody>
          <a:bodyPr/>
          <a:lstStyle/>
          <a:p>
            <a:r>
              <a:rPr lang="en-US" dirty="0"/>
              <a:t>As in Many Computation-hungry Applications</a:t>
            </a:r>
          </a:p>
        </p:txBody>
      </p:sp>
      <p:sp>
        <p:nvSpPr>
          <p:cNvPr id="28674" name="Rectangle 1"/>
          <p:cNvSpPr>
            <a:spLocks noGrp="1" noChangeArrowheads="1"/>
          </p:cNvSpPr>
          <p:nvPr>
            <p:ph sz="half" idx="1"/>
          </p:nvPr>
        </p:nvSpPr>
        <p:spPr/>
        <p:txBody>
          <a:bodyPr/>
          <a:lstStyle/>
          <a:p>
            <a:r>
              <a:rPr lang="en-US" dirty="0"/>
              <a:t>Three-step approach:</a:t>
            </a:r>
          </a:p>
          <a:p>
            <a:pPr marL="620713" lvl="1" indent="-333375">
              <a:buSzPct val="99000"/>
              <a:buFont typeface="WhitneyHTF-Light"/>
              <a:buAutoNum type="arabicPeriod"/>
            </a:pPr>
            <a:r>
              <a:rPr lang="en-US" dirty="0"/>
              <a:t> Restructure the mathematical formulation</a:t>
            </a:r>
          </a:p>
          <a:p>
            <a:pPr marL="620713" lvl="1" indent="-333375">
              <a:buSzPct val="99000"/>
              <a:buFont typeface="WhitneyHTF-Light"/>
              <a:buAutoNum type="arabicPeriod"/>
            </a:pPr>
            <a:r>
              <a:rPr lang="en-US" dirty="0"/>
              <a:t> Innovate at the algorithm level</a:t>
            </a:r>
          </a:p>
          <a:p>
            <a:pPr marL="620713" lvl="1" indent="-333375">
              <a:buSzPct val="99000"/>
              <a:buFont typeface="WhitneyHTF-Light"/>
              <a:buAutoNum type="arabicPeriod"/>
            </a:pPr>
            <a:r>
              <a:rPr lang="en-US" dirty="0"/>
              <a:t> Tune core software for hardware architecture</a:t>
            </a: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25</a:t>
            </a:fld>
            <a:endParaRPr lang="en-US"/>
          </a:p>
        </p:txBody>
      </p:sp>
      <p:pic>
        <p:nvPicPr>
          <p:cNvPr id="2867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3962400"/>
            <a:ext cx="2482850" cy="200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1F2D3A-9526-D257-32E7-37210C0502A8}"/>
              </a:ext>
            </a:extLst>
          </p:cNvPr>
          <p:cNvSpPr>
            <a:spLocks noGrp="1"/>
          </p:cNvSpPr>
          <p:nvPr>
            <p:ph type="body" idx="10"/>
          </p:nvPr>
        </p:nvSpPr>
        <p:spPr/>
        <p:txBody>
          <a:bodyPr/>
          <a:lstStyle/>
          <a:p>
            <a:r>
              <a:rPr lang="en-US" dirty="0"/>
              <a:t>Conclusion: Three Options</a:t>
            </a:r>
          </a:p>
        </p:txBody>
      </p:sp>
      <p:sp>
        <p:nvSpPr>
          <p:cNvPr id="29699" name="Rectangle 3"/>
          <p:cNvSpPr>
            <a:spLocks noGrp="1" noChangeArrowheads="1"/>
          </p:cNvSpPr>
          <p:nvPr>
            <p:ph sz="half" idx="1"/>
          </p:nvPr>
        </p:nvSpPr>
        <p:spPr/>
        <p:txBody>
          <a:bodyPr/>
          <a:lstStyle/>
          <a:p>
            <a:r>
              <a:rPr lang="en-US">
                <a:solidFill>
                  <a:srgbClr val="FF0000"/>
                </a:solidFill>
              </a:rPr>
              <a:t>Good: </a:t>
            </a:r>
            <a:r>
              <a:rPr lang="en-US"/>
              <a:t>“Accelerate” Legacy Codes</a:t>
            </a:r>
          </a:p>
          <a:p>
            <a:pPr lvl="1"/>
            <a:r>
              <a:rPr lang="en-US"/>
              <a:t>Recompile/Run</a:t>
            </a:r>
          </a:p>
          <a:p>
            <a:pPr lvl="1"/>
            <a:r>
              <a:rPr lang="en-US"/>
              <a:t>Call CUBLAS/CUFFT/thrust/matlab/PGI pragmas/etc. </a:t>
            </a:r>
          </a:p>
          <a:p>
            <a:pPr lvl="1">
              <a:buFontTx/>
              <a:buNone/>
            </a:pPr>
            <a:r>
              <a:rPr lang="en-US"/>
              <a:t>	=&gt; good work for domain scientists (minimal CS required)</a:t>
            </a:r>
          </a:p>
          <a:p>
            <a:r>
              <a:rPr lang="en-US">
                <a:solidFill>
                  <a:srgbClr val="FFC000"/>
                </a:solidFill>
              </a:rPr>
              <a:t>Better: </a:t>
            </a:r>
            <a:r>
              <a:rPr lang="en-US"/>
              <a:t>Rewrite / Create new codes</a:t>
            </a:r>
          </a:p>
          <a:p>
            <a:pPr lvl="1"/>
            <a:r>
              <a:rPr lang="en-US"/>
              <a:t>Opportunity for clever algorithmic thinking</a:t>
            </a:r>
          </a:p>
          <a:p>
            <a:pPr lvl="1">
              <a:buFontTx/>
              <a:buNone/>
            </a:pPr>
            <a:r>
              <a:rPr lang="en-US"/>
              <a:t>	=&gt; good work for computer scientists (minimal domain knowledge required)</a:t>
            </a:r>
          </a:p>
          <a:p>
            <a:r>
              <a:rPr lang="en-US">
                <a:solidFill>
                  <a:srgbClr val="00B050"/>
                </a:solidFill>
              </a:rPr>
              <a:t>Best: </a:t>
            </a:r>
            <a:r>
              <a:rPr lang="en-US"/>
              <a:t>Rethink Numerical Methods &amp; Algorithms</a:t>
            </a:r>
          </a:p>
          <a:p>
            <a:pPr lvl="1"/>
            <a:r>
              <a:rPr lang="en-US"/>
              <a:t>Potential for biggest performance advantage</a:t>
            </a:r>
          </a:p>
          <a:p>
            <a:pPr lvl="1">
              <a:buFontTx/>
              <a:buNone/>
            </a:pPr>
            <a:r>
              <a:rPr lang="en-US"/>
              <a:t>	</a:t>
            </a:r>
            <a:r>
              <a:rPr lang="en-US">
                <a:solidFill>
                  <a:schemeClr val="accent2"/>
                </a:solidFill>
              </a:rPr>
              <a:t>=&gt; Interdisciplinary: requires CS </a:t>
            </a:r>
            <a:r>
              <a:rPr lang="en-US" i="1">
                <a:solidFill>
                  <a:schemeClr val="accent2"/>
                </a:solidFill>
              </a:rPr>
              <a:t>and</a:t>
            </a:r>
            <a:r>
              <a:rPr lang="en-US">
                <a:solidFill>
                  <a:schemeClr val="accent2"/>
                </a:solidFill>
              </a:rPr>
              <a:t> domain insight</a:t>
            </a:r>
          </a:p>
          <a:p>
            <a:pPr lvl="1">
              <a:buFontTx/>
              <a:buNone/>
            </a:pPr>
            <a:r>
              <a:rPr lang="en-US">
                <a:solidFill>
                  <a:schemeClr val="accent2"/>
                </a:solidFill>
              </a:rPr>
              <a:t>	=&gt; Exciting time to be a computational scientist</a:t>
            </a:r>
            <a:endParaRPr lang="en-US"/>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26</a:t>
            </a:fld>
            <a:endParaRPr lang="en-US"/>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82B14C-A399-9251-A7DF-9B7F6008D262}"/>
              </a:ext>
            </a:extLst>
          </p:cNvPr>
          <p:cNvSpPr>
            <a:spLocks noGrp="1"/>
          </p:cNvSpPr>
          <p:nvPr>
            <p:ph type="body" idx="10"/>
          </p:nvPr>
        </p:nvSpPr>
        <p:spPr/>
        <p:txBody>
          <a:bodyPr/>
          <a:lstStyle/>
          <a:p>
            <a:r>
              <a:rPr lang="en-US" dirty="0"/>
              <a:t>Think, Understand… then, Program</a:t>
            </a:r>
          </a:p>
        </p:txBody>
      </p:sp>
      <p:sp>
        <p:nvSpPr>
          <p:cNvPr id="30723" name="Content Placeholder 2"/>
          <p:cNvSpPr>
            <a:spLocks noGrp="1"/>
          </p:cNvSpPr>
          <p:nvPr>
            <p:ph sz="half" idx="1"/>
          </p:nvPr>
        </p:nvSpPr>
        <p:spPr/>
        <p:txBody>
          <a:bodyPr/>
          <a:lstStyle/>
          <a:p>
            <a:r>
              <a:rPr lang="en-US"/>
              <a:t>Think about the problem you are trying to solve</a:t>
            </a:r>
          </a:p>
          <a:p>
            <a:r>
              <a:rPr lang="en-US"/>
              <a:t>Understand the structure of the problem</a:t>
            </a:r>
          </a:p>
          <a:p>
            <a:r>
              <a:rPr lang="en-US"/>
              <a:t>Apply mathematical techniques to find solution</a:t>
            </a:r>
          </a:p>
          <a:p>
            <a:r>
              <a:rPr lang="en-US"/>
              <a:t>Map the problem to an algorithmic approach</a:t>
            </a:r>
          </a:p>
          <a:p>
            <a:r>
              <a:rPr lang="en-US"/>
              <a:t>Plan the structure of computation</a:t>
            </a:r>
          </a:p>
          <a:p>
            <a:pPr lvl="1"/>
            <a:r>
              <a:rPr lang="en-US"/>
              <a:t>Be aware of in/dependence, interactions, bottlenecks</a:t>
            </a:r>
          </a:p>
          <a:p>
            <a:r>
              <a:rPr lang="en-US"/>
              <a:t>Plan the organization of data</a:t>
            </a:r>
          </a:p>
          <a:p>
            <a:pPr lvl="1"/>
            <a:r>
              <a:rPr lang="en-US"/>
              <a:t>Be explicitly aware of locality, and minimize global data</a:t>
            </a:r>
          </a:p>
          <a:p>
            <a:r>
              <a:rPr lang="en-US"/>
              <a:t>Finally, write some code! (this is the easy part </a:t>
            </a:r>
            <a:r>
              <a:rPr lang="en-US">
                <a:sym typeface="Wingdings" pitchFamily="2" charset="2"/>
              </a:rPr>
              <a:t>)</a:t>
            </a:r>
            <a:endParaRPr lang="en-US"/>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27</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73831D-0663-FBA2-D19C-1EBCB09B3AF0}"/>
              </a:ext>
            </a:extLst>
          </p:cNvPr>
          <p:cNvSpPr>
            <a:spLocks noGrp="1"/>
          </p:cNvSpPr>
          <p:nvPr>
            <p:ph type="body" idx="10"/>
          </p:nvPr>
        </p:nvSpPr>
        <p:spPr/>
        <p:txBody>
          <a:bodyPr/>
          <a:lstStyle/>
          <a:p>
            <a:r>
              <a:rPr lang="en-US" dirty="0"/>
              <a:t>Future Studies</a:t>
            </a:r>
          </a:p>
        </p:txBody>
      </p:sp>
      <p:sp>
        <p:nvSpPr>
          <p:cNvPr id="5" name="Content Placeholder 4"/>
          <p:cNvSpPr>
            <a:spLocks noGrp="1"/>
          </p:cNvSpPr>
          <p:nvPr>
            <p:ph sz="half" idx="1"/>
          </p:nvPr>
        </p:nvSpPr>
        <p:spPr/>
        <p:txBody>
          <a:bodyPr/>
          <a:lstStyle/>
          <a:p>
            <a:pPr>
              <a:defRPr/>
            </a:pPr>
            <a:r>
              <a:rPr lang="en-US" dirty="0">
                <a:ea typeface="MS PGothic" panose="020B0600070205080204" pitchFamily="34" charset="-128"/>
              </a:rPr>
              <a:t>More complex data structures</a:t>
            </a:r>
          </a:p>
          <a:p>
            <a:pPr>
              <a:defRPr/>
            </a:pPr>
            <a:r>
              <a:rPr lang="en-US" dirty="0">
                <a:ea typeface="MS PGothic" panose="020B0600070205080204" pitchFamily="34" charset="-128"/>
              </a:rPr>
              <a:t>More scalable algorithms and building blocks</a:t>
            </a:r>
          </a:p>
          <a:p>
            <a:pPr>
              <a:defRPr/>
            </a:pPr>
            <a:r>
              <a:rPr lang="en-US" dirty="0">
                <a:ea typeface="MS PGothic" panose="020B0600070205080204" pitchFamily="34" charset="-128"/>
              </a:rPr>
              <a:t>More scalable math models</a:t>
            </a:r>
          </a:p>
          <a:p>
            <a:pPr>
              <a:defRPr/>
            </a:pPr>
            <a:endParaRPr lang="en-US" dirty="0">
              <a:ea typeface="MS PGothic" panose="020B0600070205080204" pitchFamily="34" charset="-128"/>
            </a:endParaRPr>
          </a:p>
          <a:p>
            <a:pPr>
              <a:defRPr/>
            </a:pPr>
            <a:r>
              <a:rPr lang="en-US" dirty="0">
                <a:ea typeface="MS PGothic" panose="020B0600070205080204" pitchFamily="34" charset="-128"/>
              </a:rPr>
              <a:t>Thread-aware approaches</a:t>
            </a:r>
          </a:p>
          <a:p>
            <a:pPr lvl="1">
              <a:defRPr/>
            </a:pPr>
            <a:r>
              <a:rPr lang="en-US" dirty="0">
                <a:ea typeface="MS PGothic" panose="020B0600070205080204" pitchFamily="34" charset="-128"/>
              </a:rPr>
              <a:t>More available parallelism</a:t>
            </a:r>
          </a:p>
          <a:p>
            <a:pPr>
              <a:defRPr/>
            </a:pPr>
            <a:r>
              <a:rPr lang="en-US" dirty="0">
                <a:ea typeface="MS PGothic" panose="020B0600070205080204" pitchFamily="34" charset="-128"/>
              </a:rPr>
              <a:t> Locality-aware approaches</a:t>
            </a:r>
          </a:p>
          <a:p>
            <a:pPr lvl="1">
              <a:defRPr/>
            </a:pPr>
            <a:r>
              <a:rPr lang="en-US" dirty="0">
                <a:ea typeface="MS PGothic" panose="020B0600070205080204" pitchFamily="34" charset="-128"/>
              </a:rPr>
              <a:t>Computing is becoming bigger, and everything is further away</a:t>
            </a:r>
          </a:p>
          <a:p>
            <a:pPr marL="0" indent="0">
              <a:buFontTx/>
              <a:buNone/>
              <a:defRPr/>
            </a:pPr>
            <a:endParaRPr lang="en-US" dirty="0">
              <a:ea typeface="MS PGothic" panose="020B0600070205080204" pitchFamily="34" charset="-128"/>
            </a:endParaRPr>
          </a:p>
        </p:txBody>
      </p:sp>
      <p:sp>
        <p:nvSpPr>
          <p:cNvPr id="2" name="1 Marcador de número de diapositiva"/>
          <p:cNvSpPr>
            <a:spLocks noGrp="1"/>
          </p:cNvSpPr>
          <p:nvPr>
            <p:ph type="sldNum" sz="quarter" idx="4294967295"/>
          </p:nvPr>
        </p:nvSpPr>
        <p:spPr>
          <a:xfrm>
            <a:off x="8701088" y="6357938"/>
            <a:ext cx="442912" cy="412750"/>
          </a:xfrm>
          <a:prstGeom prst="rect">
            <a:avLst/>
          </a:prstGeom>
        </p:spPr>
        <p:txBody>
          <a:bodyPr/>
          <a:lstStyle/>
          <a:p>
            <a:pPr>
              <a:defRPr/>
            </a:pPr>
            <a:fld id="{285CE1B5-6F67-45DC-90CE-4D4426AC7323}" type="slidenum">
              <a:rPr lang="en-US" smtClean="0"/>
              <a:pPr>
                <a:defRPr/>
              </a:pPr>
              <a:t>28</a:t>
            </a:fld>
            <a:endParaRPr 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0"/>
          </p:nvPr>
        </p:nvSpPr>
        <p:spPr/>
        <p:txBody>
          <a:bodyPr/>
          <a:lstStyle/>
          <a:p>
            <a:r>
              <a:rPr lang="en-US" dirty="0"/>
              <a:t>References</a:t>
            </a:r>
          </a:p>
        </p:txBody>
      </p:sp>
      <p:sp>
        <p:nvSpPr>
          <p:cNvPr id="6" name="Content Placeholder 5"/>
          <p:cNvSpPr>
            <a:spLocks noGrp="1"/>
          </p:cNvSpPr>
          <p:nvPr>
            <p:ph sz="half" idx="1"/>
          </p:nvPr>
        </p:nvSpPr>
        <p:spPr/>
        <p:txBody>
          <a:bodyPr/>
          <a:lstStyle/>
          <a:p>
            <a:r>
              <a:rPr lang="en-US" dirty="0"/>
              <a:t>Wen-</a:t>
            </a:r>
            <a:r>
              <a:rPr lang="en-US" dirty="0" err="1"/>
              <a:t>mei</a:t>
            </a:r>
            <a:r>
              <a:rPr lang="en-US" dirty="0"/>
              <a:t> W. </a:t>
            </a:r>
            <a:r>
              <a:rPr lang="en-US" dirty="0" err="1"/>
              <a:t>Hwu</a:t>
            </a:r>
            <a:r>
              <a:rPr lang="en-US" dirty="0"/>
              <a:t>, David B. Kirk, and Izzat El Hajj. </a:t>
            </a:r>
            <a:r>
              <a:rPr lang="en-US" i="1" dirty="0"/>
              <a:t>Programming Massively Parallel Processors: A Hands-on Approach</a:t>
            </a:r>
            <a:r>
              <a:rPr lang="en-US" dirty="0"/>
              <a:t>. Morgan Kaufmann, 2022.</a:t>
            </a:r>
          </a:p>
        </p:txBody>
      </p:sp>
    </p:spTree>
    <p:extLst>
      <p:ext uri="{BB962C8B-B14F-4D97-AF65-F5344CB8AC3E}">
        <p14:creationId xmlns:p14="http://schemas.microsoft.com/office/powerpoint/2010/main" val="2928556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1509</TotalTime>
  <Words>2114</Words>
  <Application>Microsoft Office PowerPoint</Application>
  <PresentationFormat>On-screen Show (4:3)</PresentationFormat>
  <Paragraphs>326</Paragraphs>
  <Slides>29</Slides>
  <Notes>8</Notes>
  <HiddenSlides>0</HiddenSlides>
  <MMClips>0</MMClips>
  <ScaleCrop>false</ScaleCrop>
  <HeadingPairs>
    <vt:vector size="6" baseType="variant">
      <vt:variant>
        <vt:lpstr>Fonts Used</vt:lpstr>
      </vt:variant>
      <vt:variant>
        <vt:i4>15</vt:i4>
      </vt:variant>
      <vt:variant>
        <vt:lpstr>Theme</vt:lpstr>
      </vt:variant>
      <vt:variant>
        <vt:i4>1</vt:i4>
      </vt:variant>
      <vt:variant>
        <vt:lpstr>Slide Titles</vt:lpstr>
      </vt:variant>
      <vt:variant>
        <vt:i4>29</vt:i4>
      </vt:variant>
    </vt:vector>
  </HeadingPairs>
  <TitlesOfParts>
    <vt:vector size="45" baseType="lpstr">
      <vt:lpstr>ＭＳ Ｐゴシック</vt:lpstr>
      <vt:lpstr>ＭＳ Ｐゴシック</vt:lpstr>
      <vt:lpstr>Arial</vt:lpstr>
      <vt:lpstr>Arial Narrow</vt:lpstr>
      <vt:lpstr>Calibri</vt:lpstr>
      <vt:lpstr>Calibri Light</vt:lpstr>
      <vt:lpstr>Century</vt:lpstr>
      <vt:lpstr>Helvetica</vt:lpstr>
      <vt:lpstr>Lucida Grande</vt:lpstr>
      <vt:lpstr>Palatino</vt:lpstr>
      <vt:lpstr>Times New Roman</vt:lpstr>
      <vt:lpstr>Trebuchet MS</vt:lpstr>
      <vt:lpstr>WhitneyHTF-Book</vt:lpstr>
      <vt:lpstr>WhitneyHTF-Light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Tejasvi Waghmare (IL-IN)</dc:creator>
  <cp:lastModifiedBy>Izzat El Hajj</cp:lastModifiedBy>
  <cp:revision>66</cp:revision>
  <dcterms:created xsi:type="dcterms:W3CDTF">2022-03-30T06:33:52Z</dcterms:created>
  <dcterms:modified xsi:type="dcterms:W3CDTF">2022-10-18T05:55:06Z</dcterms:modified>
</cp:coreProperties>
</file>