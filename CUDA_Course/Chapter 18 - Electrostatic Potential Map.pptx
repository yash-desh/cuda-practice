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27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5" r:id="rId14"/>
    <p:sldId id="276" r:id="rId15"/>
    <p:sldId id="311" r:id="rId16"/>
    <p:sldId id="312" r:id="rId17"/>
    <p:sldId id="308" r:id="rId18"/>
    <p:sldId id="309" r:id="rId19"/>
    <p:sldId id="310" r:id="rId20"/>
    <p:sldId id="313" r:id="rId21"/>
    <p:sldId id="302" r:id="rId22"/>
    <p:sldId id="303" r:id="rId23"/>
    <p:sldId id="304" r:id="rId24"/>
    <p:sldId id="277" r:id="rId25"/>
    <p:sldId id="278" r:id="rId26"/>
    <p:sldId id="279" r:id="rId27"/>
    <p:sldId id="280" r:id="rId28"/>
    <p:sldId id="281" r:id="rId29"/>
    <p:sldId id="305" r:id="rId30"/>
    <p:sldId id="283" r:id="rId31"/>
    <p:sldId id="284" r:id="rId32"/>
    <p:sldId id="285" r:id="rId33"/>
    <p:sldId id="286" r:id="rId34"/>
    <p:sldId id="306" r:id="rId35"/>
    <p:sldId id="288" r:id="rId36"/>
    <p:sldId id="289" r:id="rId37"/>
    <p:sldId id="290" r:id="rId38"/>
    <p:sldId id="307" r:id="rId39"/>
    <p:sldId id="292" r:id="rId40"/>
    <p:sldId id="293" r:id="rId41"/>
    <p:sldId id="294" r:id="rId42"/>
    <p:sldId id="295" r:id="rId43"/>
    <p:sldId id="296" r:id="rId44"/>
    <p:sldId id="315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1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CA975-873C-42CF-81DF-BF9F6E6B2B51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80EE9-3B5D-4E1D-A688-15251188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3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1pPr>
            <a:lvl2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2pPr>
            <a:lvl3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3pPr>
            <a:lvl4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4pPr>
            <a:lvl5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5pPr>
            <a:lvl6pPr marL="2378560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6pPr>
            <a:lvl7pPr marL="2811026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7pPr>
            <a:lvl8pPr marL="3243491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8pPr>
            <a:lvl9pPr marL="3675957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fld id="{22AD67BA-8907-439C-B6BB-396BA26D07F7}" type="slidenum">
              <a:rPr lang="en-US"/>
              <a:pPr/>
              <a:t>3</a:t>
            </a:fld>
            <a:endParaRPr 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7" y="4343704"/>
            <a:ext cx="5033367" cy="411389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The algorithms for Q and FHd are nearly identical, so in the interest of time we’ll examine only Q.</a:t>
            </a:r>
          </a:p>
          <a:p>
            <a:r>
              <a:rPr lang="en-US"/>
              <a:t>There are M scan points, with the 3D scan data represented by kx, ky, kz, and phi.</a:t>
            </a:r>
          </a:p>
          <a:p>
            <a:r>
              <a:rPr lang="en-US"/>
              <a:t>There are N pixels, with the 3D pixel data represented by x, y, and z (inputs) and Q (output).</a:t>
            </a:r>
          </a:p>
          <a:p>
            <a:endParaRPr lang="en-US"/>
          </a:p>
          <a:p>
            <a:r>
              <a:rPr lang="en-US"/>
              <a:t>As you can see, the algorithm is embarrassingly data-parallel.</a:t>
            </a:r>
          </a:p>
          <a:p>
            <a:r>
              <a:rPr lang="en-US"/>
              <a:t>Each iteration of the outer loop corresponds to a single point of scan data. For that single point of scan data, we first compute the magnitude-squared of phi. Then, the inner loop iterates over all the pixels, because the current scan data point contributes to the value of Q at every pixel. In other words, the value of Q at each pixel depends on every scan point. Clearly, the algorithm is O(MN).</a:t>
            </a:r>
          </a:p>
          <a:p>
            <a:endParaRPr lang="en-US"/>
          </a:p>
          <a:p>
            <a:r>
              <a:rPr lang="en-US"/>
              <a:t>Examining the inner loop more closely, we see that there are 10 floating-point arithmetic operations, 2 floating-point trig operations, and 10 loads. This instruction mix hints at the bottlenecks we face as we map this algorithm to the G80.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60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1pPr>
            <a:lvl2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2pPr>
            <a:lvl3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3pPr>
            <a:lvl4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4pPr>
            <a:lvl5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5pPr>
            <a:lvl6pPr marL="2378560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6pPr>
            <a:lvl7pPr marL="2811026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7pPr>
            <a:lvl8pPr marL="3243491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8pPr>
            <a:lvl9pPr marL="3675957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fld id="{5F71CDBF-64B9-4240-B5EC-DA39BFD66310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22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1pPr>
            <a:lvl2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2pPr>
            <a:lvl3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3pPr>
            <a:lvl4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4pPr>
            <a:lvl5pPr defTabSz="441475"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5pPr>
            <a:lvl6pPr marL="2378560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6pPr>
            <a:lvl7pPr marL="2811026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7pPr>
            <a:lvl8pPr marL="3243491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8pPr>
            <a:lvl9pPr marL="3675957" indent="-216233" defTabSz="4414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897967" algn="l"/>
                <a:tab pos="1795933" algn="l"/>
                <a:tab pos="2693900" algn="l"/>
                <a:tab pos="3591866" algn="l"/>
                <a:tab pos="4489833" algn="l"/>
                <a:tab pos="5387799" algn="l"/>
                <a:tab pos="6285766" algn="l"/>
                <a:tab pos="7183732" algn="l"/>
                <a:tab pos="8081699" algn="l"/>
                <a:tab pos="8979665" algn="l"/>
                <a:tab pos="9877632" algn="l"/>
              </a:tabLst>
              <a:defRPr sz="11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fld id="{E5059C63-F8B9-4262-AB30-55312BACA083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1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 anchor="ctr" anchorCtr="0"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78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04" y="1052736"/>
            <a:ext cx="4388296" cy="5112568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736"/>
            <a:ext cx="4388296" cy="5112568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4448" y="6357553"/>
            <a:ext cx="442392" cy="412838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>
                <a:solidFill>
                  <a:srgbClr val="004990"/>
                </a:solidFill>
              </a:defRPr>
            </a:lvl1pPr>
          </a:lstStyle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928992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746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 anchor="ctr" anchorCtr="0"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228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4448" y="6357553"/>
            <a:ext cx="442392" cy="412838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>
                <a:solidFill>
                  <a:srgbClr val="004990"/>
                </a:solidFill>
              </a:defRPr>
            </a:lvl1pPr>
          </a:lstStyle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928992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ts val="3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0" name="Tex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508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 anchor="ctr" anchorCtr="0"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886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 anchor="ctr" anchorCtr="0"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575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Application Case Study – Electrostatic Potential Map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8F3F97-63E1-9EC8-52C0-B7BC5D4DEE3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Common Sequential Computation Pattern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61BA0A8D-F656-4FF9-BA27-A17557D1B35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18269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22841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26" name="Rectangle 5"/>
          <p:cNvSpPr>
            <a:spLocks noChangeArrowheads="1"/>
          </p:cNvSpPr>
          <p:nvPr/>
        </p:nvSpPr>
        <p:spPr bwMode="auto">
          <a:xfrm>
            <a:off x="27413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27" name="Rectangle 6"/>
          <p:cNvSpPr>
            <a:spLocks noChangeArrowheads="1"/>
          </p:cNvSpPr>
          <p:nvPr/>
        </p:nvSpPr>
        <p:spPr bwMode="auto">
          <a:xfrm>
            <a:off x="31985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36557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29" name="Rectangle 8"/>
          <p:cNvSpPr>
            <a:spLocks noChangeArrowheads="1"/>
          </p:cNvSpPr>
          <p:nvPr/>
        </p:nvSpPr>
        <p:spPr bwMode="auto">
          <a:xfrm>
            <a:off x="41129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0" name="Rectangle 9"/>
          <p:cNvSpPr>
            <a:spLocks noChangeArrowheads="1"/>
          </p:cNvSpPr>
          <p:nvPr/>
        </p:nvSpPr>
        <p:spPr bwMode="auto">
          <a:xfrm>
            <a:off x="45701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1" name="Rectangle 10"/>
          <p:cNvSpPr>
            <a:spLocks noChangeArrowheads="1"/>
          </p:cNvSpPr>
          <p:nvPr/>
        </p:nvSpPr>
        <p:spPr bwMode="auto">
          <a:xfrm>
            <a:off x="50273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2" name="Rectangle 11"/>
          <p:cNvSpPr>
            <a:spLocks noChangeArrowheads="1"/>
          </p:cNvSpPr>
          <p:nvPr/>
        </p:nvSpPr>
        <p:spPr bwMode="auto">
          <a:xfrm>
            <a:off x="54845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3" name="Rectangle 12"/>
          <p:cNvSpPr>
            <a:spLocks noChangeArrowheads="1"/>
          </p:cNvSpPr>
          <p:nvPr/>
        </p:nvSpPr>
        <p:spPr bwMode="auto">
          <a:xfrm>
            <a:off x="59417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4" name="Rectangle 13"/>
          <p:cNvSpPr>
            <a:spLocks noChangeArrowheads="1"/>
          </p:cNvSpPr>
          <p:nvPr/>
        </p:nvSpPr>
        <p:spPr bwMode="auto">
          <a:xfrm>
            <a:off x="63989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5" name="Rectangle 14"/>
          <p:cNvSpPr>
            <a:spLocks noChangeArrowheads="1"/>
          </p:cNvSpPr>
          <p:nvPr/>
        </p:nvSpPr>
        <p:spPr bwMode="auto">
          <a:xfrm>
            <a:off x="6856164" y="1228501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6" name="Rectangle 15"/>
          <p:cNvSpPr>
            <a:spLocks noChangeArrowheads="1"/>
          </p:cNvSpPr>
          <p:nvPr/>
        </p:nvSpPr>
        <p:spPr bwMode="auto">
          <a:xfrm>
            <a:off x="3046164" y="5343301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7" name="Rectangle 16"/>
          <p:cNvSpPr>
            <a:spLocks noChangeArrowheads="1"/>
          </p:cNvSpPr>
          <p:nvPr/>
        </p:nvSpPr>
        <p:spPr bwMode="auto">
          <a:xfrm>
            <a:off x="3503364" y="5343301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8" name="Rectangle 17"/>
          <p:cNvSpPr>
            <a:spLocks noChangeArrowheads="1"/>
          </p:cNvSpPr>
          <p:nvPr/>
        </p:nvSpPr>
        <p:spPr bwMode="auto">
          <a:xfrm>
            <a:off x="3960564" y="5343301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39" name="Rectangle 18"/>
          <p:cNvSpPr>
            <a:spLocks noChangeArrowheads="1"/>
          </p:cNvSpPr>
          <p:nvPr/>
        </p:nvSpPr>
        <p:spPr bwMode="auto">
          <a:xfrm>
            <a:off x="4417764" y="5343301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40" name="Rectangle 19"/>
          <p:cNvSpPr>
            <a:spLocks noChangeArrowheads="1"/>
          </p:cNvSpPr>
          <p:nvPr/>
        </p:nvSpPr>
        <p:spPr bwMode="auto">
          <a:xfrm>
            <a:off x="4874964" y="5343301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41" name="Rectangle 20"/>
          <p:cNvSpPr>
            <a:spLocks noChangeArrowheads="1"/>
          </p:cNvSpPr>
          <p:nvPr/>
        </p:nvSpPr>
        <p:spPr bwMode="auto">
          <a:xfrm>
            <a:off x="5332164" y="5343301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42" name="Rectangle 21"/>
          <p:cNvSpPr>
            <a:spLocks noChangeArrowheads="1"/>
          </p:cNvSpPr>
          <p:nvPr/>
        </p:nvSpPr>
        <p:spPr bwMode="auto">
          <a:xfrm>
            <a:off x="5789364" y="5343301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5143" name="Oval 23"/>
          <p:cNvSpPr>
            <a:spLocks noChangeArrowheads="1"/>
          </p:cNvSpPr>
          <p:nvPr/>
        </p:nvSpPr>
        <p:spPr bwMode="auto">
          <a:xfrm>
            <a:off x="3808164" y="2600101"/>
            <a:ext cx="1447800" cy="1447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>
                <a:latin typeface="+mj-lt"/>
              </a:rPr>
              <a:t>Double Nested Loop</a:t>
            </a:r>
          </a:p>
        </p:txBody>
      </p:sp>
      <p:cxnSp>
        <p:nvCxnSpPr>
          <p:cNvPr id="5144" name="Straight Arrow Connector 25"/>
          <p:cNvCxnSpPr>
            <a:cxnSpLocks noChangeShapeType="1"/>
            <a:stCxn id="5124" idx="2"/>
          </p:cNvCxnSpPr>
          <p:nvPr/>
        </p:nvCxnSpPr>
        <p:spPr bwMode="auto">
          <a:xfrm rot="16200000" flipH="1">
            <a:off x="2322264" y="1419001"/>
            <a:ext cx="1295400" cy="1828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5" name="Straight Arrow Connector 29"/>
          <p:cNvCxnSpPr>
            <a:cxnSpLocks noChangeShapeType="1"/>
            <a:endCxn id="5137" idx="0"/>
          </p:cNvCxnSpPr>
          <p:nvPr/>
        </p:nvCxnSpPr>
        <p:spPr bwMode="auto">
          <a:xfrm rot="5400000">
            <a:off x="3236664" y="4467001"/>
            <a:ext cx="13716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6" name="Straight Arrow Connector 31"/>
          <p:cNvCxnSpPr>
            <a:cxnSpLocks noChangeShapeType="1"/>
            <a:endCxn id="5138" idx="0"/>
          </p:cNvCxnSpPr>
          <p:nvPr/>
        </p:nvCxnSpPr>
        <p:spPr bwMode="auto">
          <a:xfrm rot="5400000">
            <a:off x="3579564" y="4657501"/>
            <a:ext cx="12954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7" name="Straight Arrow Connector 33"/>
          <p:cNvCxnSpPr>
            <a:cxnSpLocks noChangeShapeType="1"/>
            <a:endCxn id="5139" idx="0"/>
          </p:cNvCxnSpPr>
          <p:nvPr/>
        </p:nvCxnSpPr>
        <p:spPr bwMode="auto">
          <a:xfrm rot="16200000" flipH="1">
            <a:off x="3884364" y="4581301"/>
            <a:ext cx="12954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8" name="Straight Arrow Connector 35"/>
          <p:cNvCxnSpPr>
            <a:cxnSpLocks noChangeShapeType="1"/>
            <a:stCxn id="5143" idx="3"/>
            <a:endCxn id="5136" idx="0"/>
          </p:cNvCxnSpPr>
          <p:nvPr/>
        </p:nvCxnSpPr>
        <p:spPr bwMode="auto">
          <a:xfrm rot="5400000">
            <a:off x="2893764" y="4216176"/>
            <a:ext cx="1508125" cy="7461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9" name="Straight Arrow Connector 37"/>
          <p:cNvCxnSpPr>
            <a:cxnSpLocks noChangeShapeType="1"/>
            <a:stCxn id="5125" idx="2"/>
          </p:cNvCxnSpPr>
          <p:nvPr/>
        </p:nvCxnSpPr>
        <p:spPr bwMode="auto">
          <a:xfrm rot="16200000" flipH="1">
            <a:off x="2627064" y="1571401"/>
            <a:ext cx="1219200" cy="1447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0" name="Straight Arrow Connector 42"/>
          <p:cNvCxnSpPr>
            <a:cxnSpLocks noChangeShapeType="1"/>
            <a:endCxn id="5143" idx="1"/>
          </p:cNvCxnSpPr>
          <p:nvPr/>
        </p:nvCxnSpPr>
        <p:spPr bwMode="auto">
          <a:xfrm rot="16200000" flipH="1">
            <a:off x="2969964" y="1761901"/>
            <a:ext cx="1127125" cy="9747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1" name="Straight Arrow Connector 44"/>
          <p:cNvCxnSpPr>
            <a:cxnSpLocks noChangeShapeType="1"/>
            <a:endCxn id="5141" idx="0"/>
          </p:cNvCxnSpPr>
          <p:nvPr/>
        </p:nvCxnSpPr>
        <p:spPr bwMode="auto">
          <a:xfrm rot="16200000" flipH="1">
            <a:off x="4455864" y="4238401"/>
            <a:ext cx="1295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2" name="Straight Arrow Connector 58"/>
          <p:cNvCxnSpPr>
            <a:cxnSpLocks noChangeShapeType="1"/>
            <a:endCxn id="5142" idx="0"/>
          </p:cNvCxnSpPr>
          <p:nvPr/>
        </p:nvCxnSpPr>
        <p:spPr bwMode="auto">
          <a:xfrm rot="16200000" flipH="1">
            <a:off x="4760664" y="4086001"/>
            <a:ext cx="1371600" cy="1143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3" name="Straight Arrow Connector 67"/>
          <p:cNvCxnSpPr>
            <a:cxnSpLocks noChangeShapeType="1"/>
            <a:stCxn id="5143" idx="4"/>
            <a:endCxn id="5140" idx="0"/>
          </p:cNvCxnSpPr>
          <p:nvPr/>
        </p:nvCxnSpPr>
        <p:spPr bwMode="auto">
          <a:xfrm rot="16200000" flipH="1">
            <a:off x="4170114" y="4409851"/>
            <a:ext cx="1295400" cy="571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4" name="TextBox 51"/>
          <p:cNvSpPr txBox="1">
            <a:spLocks noChangeArrowheads="1"/>
          </p:cNvSpPr>
          <p:nvPr/>
        </p:nvSpPr>
        <p:spPr bwMode="auto">
          <a:xfrm>
            <a:off x="6703764" y="2828701"/>
            <a:ext cx="2247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iterate over output</a:t>
            </a:r>
          </a:p>
        </p:txBody>
      </p:sp>
      <p:sp>
        <p:nvSpPr>
          <p:cNvPr id="5155" name="TextBox 53"/>
          <p:cNvSpPr txBox="1">
            <a:spLocks noChangeArrowheads="1"/>
          </p:cNvSpPr>
          <p:nvPr/>
        </p:nvSpPr>
        <p:spPr bwMode="auto">
          <a:xfrm>
            <a:off x="6779964" y="4047901"/>
            <a:ext cx="20922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iterate over input</a:t>
            </a:r>
          </a:p>
        </p:txBody>
      </p:sp>
      <p:cxnSp>
        <p:nvCxnSpPr>
          <p:cNvPr id="5156" name="Straight Arrow Connector 61"/>
          <p:cNvCxnSpPr>
            <a:cxnSpLocks noChangeShapeType="1"/>
            <a:stCxn id="5127" idx="2"/>
          </p:cNvCxnSpPr>
          <p:nvPr/>
        </p:nvCxnSpPr>
        <p:spPr bwMode="auto">
          <a:xfrm rot="16200000" flipH="1">
            <a:off x="3312864" y="1800001"/>
            <a:ext cx="990600" cy="762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7" name="Straight Arrow Connector 64"/>
          <p:cNvCxnSpPr>
            <a:cxnSpLocks noChangeShapeType="1"/>
            <a:stCxn id="5128" idx="2"/>
          </p:cNvCxnSpPr>
          <p:nvPr/>
        </p:nvCxnSpPr>
        <p:spPr bwMode="auto">
          <a:xfrm rot="16200000" flipH="1">
            <a:off x="3617664" y="1952401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8" name="Straight Arrow Connector 68"/>
          <p:cNvCxnSpPr>
            <a:cxnSpLocks noChangeShapeType="1"/>
            <a:stCxn id="5129" idx="2"/>
            <a:endCxn id="5143" idx="0"/>
          </p:cNvCxnSpPr>
          <p:nvPr/>
        </p:nvCxnSpPr>
        <p:spPr bwMode="auto">
          <a:xfrm rot="16200000" flipH="1">
            <a:off x="3979614" y="2047651"/>
            <a:ext cx="914400" cy="190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9" name="Straight Arrow Connector 72"/>
          <p:cNvCxnSpPr>
            <a:cxnSpLocks noChangeShapeType="1"/>
            <a:stCxn id="5130" idx="2"/>
          </p:cNvCxnSpPr>
          <p:nvPr/>
        </p:nvCxnSpPr>
        <p:spPr bwMode="auto">
          <a:xfrm rot="5400000">
            <a:off x="4303464" y="2104801"/>
            <a:ext cx="9144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60" name="Straight Arrow Connector 81"/>
          <p:cNvCxnSpPr>
            <a:cxnSpLocks noChangeShapeType="1"/>
            <a:stCxn id="5131" idx="2"/>
          </p:cNvCxnSpPr>
          <p:nvPr/>
        </p:nvCxnSpPr>
        <p:spPr bwMode="auto">
          <a:xfrm rot="5400000">
            <a:off x="4532064" y="1952401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61" name="Straight Arrow Connector 83"/>
          <p:cNvCxnSpPr>
            <a:cxnSpLocks noChangeShapeType="1"/>
            <a:stCxn id="5132" idx="2"/>
          </p:cNvCxnSpPr>
          <p:nvPr/>
        </p:nvCxnSpPr>
        <p:spPr bwMode="auto">
          <a:xfrm rot="5400000">
            <a:off x="4836864" y="1800001"/>
            <a:ext cx="990600" cy="762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62" name="Straight Arrow Connector 85"/>
          <p:cNvCxnSpPr>
            <a:cxnSpLocks noChangeShapeType="1"/>
            <a:stCxn id="5133" idx="2"/>
            <a:endCxn id="5143" idx="7"/>
          </p:cNvCxnSpPr>
          <p:nvPr/>
        </p:nvCxnSpPr>
        <p:spPr bwMode="auto">
          <a:xfrm rot="5400000">
            <a:off x="5043239" y="1685701"/>
            <a:ext cx="1127125" cy="11271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63" name="Straight Arrow Connector 87"/>
          <p:cNvCxnSpPr>
            <a:cxnSpLocks noChangeShapeType="1"/>
            <a:stCxn id="5134" idx="2"/>
          </p:cNvCxnSpPr>
          <p:nvPr/>
        </p:nvCxnSpPr>
        <p:spPr bwMode="auto">
          <a:xfrm rot="5400000">
            <a:off x="5255964" y="1533301"/>
            <a:ext cx="1219200" cy="1524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64" name="Straight Arrow Connector 89"/>
          <p:cNvCxnSpPr>
            <a:cxnSpLocks noChangeShapeType="1"/>
            <a:stCxn id="5135" idx="2"/>
          </p:cNvCxnSpPr>
          <p:nvPr/>
        </p:nvCxnSpPr>
        <p:spPr bwMode="auto">
          <a:xfrm rot="5400000">
            <a:off x="5446464" y="1342801"/>
            <a:ext cx="1295400" cy="1981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65" name="TextBox 95"/>
          <p:cNvSpPr txBox="1">
            <a:spLocks noChangeArrowheads="1"/>
          </p:cNvSpPr>
          <p:nvPr/>
        </p:nvSpPr>
        <p:spPr bwMode="auto">
          <a:xfrm>
            <a:off x="683964" y="1228501"/>
            <a:ext cx="8921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>
                <a:solidFill>
                  <a:schemeClr val="tx1"/>
                </a:solidFill>
                <a:latin typeface="+mj-lt"/>
              </a:rPr>
              <a:t>in</a:t>
            </a:r>
          </a:p>
        </p:txBody>
      </p:sp>
      <p:sp>
        <p:nvSpPr>
          <p:cNvPr id="5166" name="TextBox 96"/>
          <p:cNvSpPr txBox="1">
            <a:spLocks noChangeArrowheads="1"/>
          </p:cNvSpPr>
          <p:nvPr/>
        </p:nvSpPr>
        <p:spPr bwMode="auto">
          <a:xfrm>
            <a:off x="1674564" y="5343301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>
                <a:solidFill>
                  <a:schemeClr val="tx1"/>
                </a:solidFill>
                <a:latin typeface="+mj-lt"/>
              </a:rPr>
              <a:t>out</a:t>
            </a:r>
          </a:p>
        </p:txBody>
      </p:sp>
      <p:sp>
        <p:nvSpPr>
          <p:cNvPr id="49" name="Arc 48"/>
          <p:cNvSpPr/>
          <p:nvPr/>
        </p:nvSpPr>
        <p:spPr bwMode="auto">
          <a:xfrm>
            <a:off x="3427164" y="3057301"/>
            <a:ext cx="3505200" cy="6096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1600">
              <a:latin typeface="+mj-lt"/>
            </a:endParaRPr>
          </a:p>
        </p:txBody>
      </p:sp>
      <p:sp>
        <p:nvSpPr>
          <p:cNvPr id="50" name="Arc 49"/>
          <p:cNvSpPr/>
          <p:nvPr/>
        </p:nvSpPr>
        <p:spPr bwMode="auto">
          <a:xfrm flipV="1">
            <a:off x="3427164" y="3057301"/>
            <a:ext cx="3505200" cy="6096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1600">
              <a:latin typeface="+mj-lt"/>
            </a:endParaRPr>
          </a:p>
        </p:txBody>
      </p:sp>
      <p:sp>
        <p:nvSpPr>
          <p:cNvPr id="54" name="Arc 53"/>
          <p:cNvSpPr/>
          <p:nvPr/>
        </p:nvSpPr>
        <p:spPr bwMode="auto">
          <a:xfrm rot="1380000">
            <a:off x="3371602" y="3336701"/>
            <a:ext cx="3505200" cy="6096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1600">
              <a:latin typeface="+mj-lt"/>
            </a:endParaRPr>
          </a:p>
        </p:txBody>
      </p:sp>
      <p:sp>
        <p:nvSpPr>
          <p:cNvPr id="55" name="Arc 54"/>
          <p:cNvSpPr/>
          <p:nvPr/>
        </p:nvSpPr>
        <p:spPr bwMode="auto">
          <a:xfrm rot="1380000" flipV="1">
            <a:off x="3371602" y="3336701"/>
            <a:ext cx="3505200" cy="6096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1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877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16682" y="1448346"/>
            <a:ext cx="4724400" cy="20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</a:rPr>
              <a:t>for (m = 0; m &lt; M; m++) {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800" b="1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</a:rPr>
              <a:t>  for (n = 0; n &lt; N; n++) {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800" b="1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</a:rPr>
              <a:t>    out[n] += f(in[m], m, n);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</a:rPr>
              <a:t>  }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</a:rPr>
              <a:t>}	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259566-55DF-B800-0152-AAB01F4F1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7258CA-8BB5-B2ED-FBD8-3789F1507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0DEE8-7B87-2B18-2F55-584B0743F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39927" y="1596093"/>
            <a:ext cx="3887391" cy="526190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Input data “in”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M = # scan points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Output data “out”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N = # regularized scan points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Complexity is O(MN)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Output tends to be more regular than input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04C36-0D55-175F-DD3E-4EF47E20385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A Simple Code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2004120" y="5301208"/>
            <a:ext cx="914400" cy="0"/>
          </a:xfrm>
          <a:prstGeom prst="line">
            <a:avLst/>
          </a:prstGeom>
          <a:noFill/>
          <a:ln w="69850" cmpd="tri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152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855368"/>
            <a:ext cx="2133600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20" y="3861048"/>
            <a:ext cx="22098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77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BCD766-D7E1-FF43-126B-015D1E4748D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Scatter Parallelization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61BA0A8D-F656-4FF9-BA27-A17557D1B35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20174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24746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29318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33890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0" name="Rectangle 7"/>
          <p:cNvSpPr>
            <a:spLocks noChangeArrowheads="1"/>
          </p:cNvSpPr>
          <p:nvPr/>
        </p:nvSpPr>
        <p:spPr bwMode="auto">
          <a:xfrm>
            <a:off x="38462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1" name="Rectangle 8"/>
          <p:cNvSpPr>
            <a:spLocks noChangeArrowheads="1"/>
          </p:cNvSpPr>
          <p:nvPr/>
        </p:nvSpPr>
        <p:spPr bwMode="auto">
          <a:xfrm>
            <a:off x="43034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2" name="Rectangle 9"/>
          <p:cNvSpPr>
            <a:spLocks noChangeArrowheads="1"/>
          </p:cNvSpPr>
          <p:nvPr/>
        </p:nvSpPr>
        <p:spPr bwMode="auto">
          <a:xfrm>
            <a:off x="47606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3" name="Rectangle 10"/>
          <p:cNvSpPr>
            <a:spLocks noChangeArrowheads="1"/>
          </p:cNvSpPr>
          <p:nvPr/>
        </p:nvSpPr>
        <p:spPr bwMode="auto">
          <a:xfrm>
            <a:off x="52178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4" name="Rectangle 11"/>
          <p:cNvSpPr>
            <a:spLocks noChangeArrowheads="1"/>
          </p:cNvSpPr>
          <p:nvPr/>
        </p:nvSpPr>
        <p:spPr bwMode="auto">
          <a:xfrm>
            <a:off x="56750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5" name="Rectangle 12"/>
          <p:cNvSpPr>
            <a:spLocks noChangeArrowheads="1"/>
          </p:cNvSpPr>
          <p:nvPr/>
        </p:nvSpPr>
        <p:spPr bwMode="auto">
          <a:xfrm>
            <a:off x="61322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6" name="Rectangle 13"/>
          <p:cNvSpPr>
            <a:spLocks noChangeArrowheads="1"/>
          </p:cNvSpPr>
          <p:nvPr/>
        </p:nvSpPr>
        <p:spPr bwMode="auto">
          <a:xfrm>
            <a:off x="65894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7" name="Rectangle 14"/>
          <p:cNvSpPr>
            <a:spLocks noChangeArrowheads="1"/>
          </p:cNvSpPr>
          <p:nvPr/>
        </p:nvSpPr>
        <p:spPr bwMode="auto">
          <a:xfrm>
            <a:off x="7046640" y="1628800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8" name="Rectangle 15"/>
          <p:cNvSpPr>
            <a:spLocks noChangeArrowheads="1"/>
          </p:cNvSpPr>
          <p:nvPr/>
        </p:nvSpPr>
        <p:spPr bwMode="auto">
          <a:xfrm>
            <a:off x="2855640" y="4981600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09" name="Rectangle 16"/>
          <p:cNvSpPr>
            <a:spLocks noChangeArrowheads="1"/>
          </p:cNvSpPr>
          <p:nvPr/>
        </p:nvSpPr>
        <p:spPr bwMode="auto">
          <a:xfrm>
            <a:off x="3312840" y="4981600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10" name="Rectangle 17"/>
          <p:cNvSpPr>
            <a:spLocks noChangeArrowheads="1"/>
          </p:cNvSpPr>
          <p:nvPr/>
        </p:nvSpPr>
        <p:spPr bwMode="auto">
          <a:xfrm>
            <a:off x="3770040" y="4981600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11" name="Rectangle 18"/>
          <p:cNvSpPr>
            <a:spLocks noChangeArrowheads="1"/>
          </p:cNvSpPr>
          <p:nvPr/>
        </p:nvSpPr>
        <p:spPr bwMode="auto">
          <a:xfrm>
            <a:off x="4227240" y="4981600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12" name="Rectangle 19"/>
          <p:cNvSpPr>
            <a:spLocks noChangeArrowheads="1"/>
          </p:cNvSpPr>
          <p:nvPr/>
        </p:nvSpPr>
        <p:spPr bwMode="auto">
          <a:xfrm>
            <a:off x="4684440" y="4981600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13" name="Rectangle 20"/>
          <p:cNvSpPr>
            <a:spLocks noChangeArrowheads="1"/>
          </p:cNvSpPr>
          <p:nvPr/>
        </p:nvSpPr>
        <p:spPr bwMode="auto">
          <a:xfrm>
            <a:off x="5141640" y="4981600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14" name="Rectangle 21"/>
          <p:cNvSpPr>
            <a:spLocks noChangeArrowheads="1"/>
          </p:cNvSpPr>
          <p:nvPr/>
        </p:nvSpPr>
        <p:spPr bwMode="auto">
          <a:xfrm>
            <a:off x="5598840" y="4981600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8215" name="Oval 22"/>
          <p:cNvSpPr>
            <a:spLocks noChangeArrowheads="1"/>
          </p:cNvSpPr>
          <p:nvPr/>
        </p:nvSpPr>
        <p:spPr bwMode="auto">
          <a:xfrm>
            <a:off x="2705281" y="2924200"/>
            <a:ext cx="1447800" cy="1447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600" dirty="0">
                <a:latin typeface="+mj-lt"/>
              </a:rPr>
              <a:t>Thread 1</a:t>
            </a:r>
          </a:p>
        </p:txBody>
      </p:sp>
      <p:sp>
        <p:nvSpPr>
          <p:cNvPr id="8216" name="Oval 23"/>
          <p:cNvSpPr>
            <a:spLocks noChangeArrowheads="1"/>
          </p:cNvSpPr>
          <p:nvPr/>
        </p:nvSpPr>
        <p:spPr bwMode="auto">
          <a:xfrm>
            <a:off x="4646340" y="2916263"/>
            <a:ext cx="1447800" cy="1447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600" dirty="0">
                <a:latin typeface="+mj-lt"/>
              </a:rPr>
              <a:t>Thread 2</a:t>
            </a:r>
          </a:p>
        </p:txBody>
      </p:sp>
      <p:cxnSp>
        <p:nvCxnSpPr>
          <p:cNvPr id="8217" name="Straight Arrow Connector 25"/>
          <p:cNvCxnSpPr>
            <a:cxnSpLocks noChangeShapeType="1"/>
            <a:stCxn id="8196" idx="2"/>
            <a:endCxn id="8215" idx="0"/>
          </p:cNvCxnSpPr>
          <p:nvPr/>
        </p:nvCxnSpPr>
        <p:spPr bwMode="auto">
          <a:xfrm>
            <a:off x="2246040" y="2086000"/>
            <a:ext cx="1183141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8" name="Straight Arrow Connector 27"/>
          <p:cNvCxnSpPr>
            <a:cxnSpLocks noChangeShapeType="1"/>
            <a:endCxn id="8208" idx="0"/>
          </p:cNvCxnSpPr>
          <p:nvPr/>
        </p:nvCxnSpPr>
        <p:spPr bwMode="auto">
          <a:xfrm rot="5400000">
            <a:off x="2893740" y="4562500"/>
            <a:ext cx="6096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9" name="Straight Arrow Connector 29"/>
          <p:cNvCxnSpPr>
            <a:cxnSpLocks noChangeShapeType="1"/>
            <a:endCxn id="8209" idx="0"/>
          </p:cNvCxnSpPr>
          <p:nvPr/>
        </p:nvCxnSpPr>
        <p:spPr bwMode="auto">
          <a:xfrm rot="5400000">
            <a:off x="3236641" y="4676800"/>
            <a:ext cx="6096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0" name="Straight Arrow Connector 31"/>
          <p:cNvCxnSpPr>
            <a:cxnSpLocks noChangeShapeType="1"/>
            <a:endCxn id="8210" idx="0"/>
          </p:cNvCxnSpPr>
          <p:nvPr/>
        </p:nvCxnSpPr>
        <p:spPr bwMode="auto">
          <a:xfrm rot="16200000" flipH="1">
            <a:off x="3503340" y="4486300"/>
            <a:ext cx="6858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1" name="Straight Arrow Connector 33"/>
          <p:cNvCxnSpPr>
            <a:cxnSpLocks noChangeShapeType="1"/>
            <a:endCxn id="8211" idx="0"/>
          </p:cNvCxnSpPr>
          <p:nvPr/>
        </p:nvCxnSpPr>
        <p:spPr bwMode="auto">
          <a:xfrm rot="16200000" flipH="1">
            <a:off x="3808140" y="43339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2" name="Straight Arrow Connector 35"/>
          <p:cNvCxnSpPr>
            <a:cxnSpLocks noChangeShapeType="1"/>
            <a:stCxn id="8216" idx="3"/>
            <a:endCxn id="8208" idx="0"/>
          </p:cNvCxnSpPr>
          <p:nvPr/>
        </p:nvCxnSpPr>
        <p:spPr bwMode="auto">
          <a:xfrm flipH="1">
            <a:off x="3084240" y="4152038"/>
            <a:ext cx="1774125" cy="8295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3" name="Straight Arrow Connector 37"/>
          <p:cNvCxnSpPr>
            <a:cxnSpLocks noChangeShapeType="1"/>
            <a:stCxn id="8197" idx="2"/>
          </p:cNvCxnSpPr>
          <p:nvPr/>
        </p:nvCxnSpPr>
        <p:spPr bwMode="auto">
          <a:xfrm rot="16200000" flipH="1">
            <a:off x="3503340" y="1285900"/>
            <a:ext cx="838200" cy="2438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4" name="Straight Arrow Connector 40"/>
          <p:cNvCxnSpPr>
            <a:cxnSpLocks noChangeShapeType="1"/>
            <a:endCxn id="8209" idx="0"/>
          </p:cNvCxnSpPr>
          <p:nvPr/>
        </p:nvCxnSpPr>
        <p:spPr bwMode="auto">
          <a:xfrm rot="10800000" flipV="1">
            <a:off x="3541440" y="4219600"/>
            <a:ext cx="1371600" cy="762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5" name="Straight Arrow Connector 42"/>
          <p:cNvCxnSpPr>
            <a:cxnSpLocks noChangeShapeType="1"/>
            <a:stCxn id="8215" idx="5"/>
          </p:cNvCxnSpPr>
          <p:nvPr/>
        </p:nvCxnSpPr>
        <p:spPr bwMode="auto">
          <a:xfrm rot="16200000" flipH="1">
            <a:off x="4054656" y="4044975"/>
            <a:ext cx="822325" cy="1050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6" name="Straight Arrow Connector 44"/>
          <p:cNvCxnSpPr>
            <a:cxnSpLocks noChangeShapeType="1"/>
            <a:endCxn id="8213" idx="0"/>
          </p:cNvCxnSpPr>
          <p:nvPr/>
        </p:nvCxnSpPr>
        <p:spPr bwMode="auto">
          <a:xfrm>
            <a:off x="4074840" y="4067200"/>
            <a:ext cx="1295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7" name="Straight Arrow Connector 58"/>
          <p:cNvCxnSpPr>
            <a:cxnSpLocks noChangeShapeType="1"/>
            <a:endCxn id="8214" idx="0"/>
          </p:cNvCxnSpPr>
          <p:nvPr/>
        </p:nvCxnSpPr>
        <p:spPr bwMode="auto">
          <a:xfrm>
            <a:off x="4151040" y="3991000"/>
            <a:ext cx="1676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8" name="Straight Arrow Connector 63"/>
          <p:cNvCxnSpPr>
            <a:cxnSpLocks noChangeShapeType="1"/>
            <a:endCxn id="8210" idx="0"/>
          </p:cNvCxnSpPr>
          <p:nvPr/>
        </p:nvCxnSpPr>
        <p:spPr bwMode="auto">
          <a:xfrm rot="10800000" flipV="1">
            <a:off x="3998640" y="4295800"/>
            <a:ext cx="990600" cy="685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9" name="Straight Arrow Connector 65"/>
          <p:cNvCxnSpPr>
            <a:cxnSpLocks noChangeShapeType="1"/>
            <a:endCxn id="8211" idx="0"/>
          </p:cNvCxnSpPr>
          <p:nvPr/>
        </p:nvCxnSpPr>
        <p:spPr bwMode="auto">
          <a:xfrm rot="10800000" flipV="1">
            <a:off x="4455840" y="43720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0" name="Straight Arrow Connector 67"/>
          <p:cNvCxnSpPr>
            <a:cxnSpLocks noChangeShapeType="1"/>
            <a:stCxn id="8216" idx="4"/>
            <a:endCxn id="8212" idx="0"/>
          </p:cNvCxnSpPr>
          <p:nvPr/>
        </p:nvCxnSpPr>
        <p:spPr bwMode="auto">
          <a:xfrm flipH="1">
            <a:off x="4913040" y="4364063"/>
            <a:ext cx="457200" cy="6175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1" name="Straight Arrow Connector 69"/>
          <p:cNvCxnSpPr>
            <a:cxnSpLocks noChangeShapeType="1"/>
          </p:cNvCxnSpPr>
          <p:nvPr/>
        </p:nvCxnSpPr>
        <p:spPr bwMode="auto">
          <a:xfrm rot="5400000">
            <a:off x="5179740" y="45625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2" name="Straight Arrow Connector 71"/>
          <p:cNvCxnSpPr>
            <a:cxnSpLocks noChangeShapeType="1"/>
            <a:endCxn id="8214" idx="0"/>
          </p:cNvCxnSpPr>
          <p:nvPr/>
        </p:nvCxnSpPr>
        <p:spPr bwMode="auto">
          <a:xfrm rot="16200000" flipH="1">
            <a:off x="5446440" y="4600600"/>
            <a:ext cx="6858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3" name="TextBox 72"/>
          <p:cNvSpPr txBox="1">
            <a:spLocks noChangeArrowheads="1"/>
          </p:cNvSpPr>
          <p:nvPr/>
        </p:nvSpPr>
        <p:spPr bwMode="auto">
          <a:xfrm>
            <a:off x="6437040" y="2848000"/>
            <a:ext cx="1524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5400">
                <a:solidFill>
                  <a:schemeClr val="tx1"/>
                </a:solidFill>
                <a:latin typeface="+mj-lt"/>
              </a:rPr>
              <a:t>…</a:t>
            </a:r>
          </a:p>
        </p:txBody>
      </p:sp>
      <p:sp>
        <p:nvSpPr>
          <p:cNvPr id="8234" name="TextBox 73"/>
          <p:cNvSpPr txBox="1">
            <a:spLocks noChangeArrowheads="1"/>
          </p:cNvSpPr>
          <p:nvPr/>
        </p:nvSpPr>
        <p:spPr bwMode="auto">
          <a:xfrm>
            <a:off x="1331640" y="1628800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>
                <a:solidFill>
                  <a:schemeClr val="tx1"/>
                </a:solidFill>
                <a:latin typeface="+mj-lt"/>
              </a:rPr>
              <a:t>in</a:t>
            </a:r>
          </a:p>
        </p:txBody>
      </p:sp>
      <p:sp>
        <p:nvSpPr>
          <p:cNvPr id="8235" name="TextBox 74"/>
          <p:cNvSpPr txBox="1">
            <a:spLocks noChangeArrowheads="1"/>
          </p:cNvSpPr>
          <p:nvPr/>
        </p:nvSpPr>
        <p:spPr bwMode="auto">
          <a:xfrm>
            <a:off x="1865040" y="5057800"/>
            <a:ext cx="838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>
                <a:solidFill>
                  <a:schemeClr val="tx1"/>
                </a:solidFill>
                <a:latin typeface="+mj-lt"/>
              </a:rPr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410950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E353A-1289-A7FD-6339-022901588E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Scatter can be very slow.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221" name="Oval 15"/>
          <p:cNvSpPr>
            <a:spLocks noChangeArrowheads="1"/>
          </p:cNvSpPr>
          <p:nvPr/>
        </p:nvSpPr>
        <p:spPr bwMode="auto">
          <a:xfrm>
            <a:off x="37338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  <a:endParaRPr lang="en-US" sz="3200" dirty="0"/>
          </a:p>
        </p:txBody>
      </p:sp>
      <p:sp>
        <p:nvSpPr>
          <p:cNvPr id="9222" name="Oval 16"/>
          <p:cNvSpPr>
            <a:spLocks noChangeArrowheads="1"/>
          </p:cNvSpPr>
          <p:nvPr/>
        </p:nvSpPr>
        <p:spPr bwMode="auto">
          <a:xfrm>
            <a:off x="6096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 dirty="0"/>
              <a:t>+</a:t>
            </a:r>
          </a:p>
        </p:txBody>
      </p:sp>
      <p:sp>
        <p:nvSpPr>
          <p:cNvPr id="9223" name="Oval 17"/>
          <p:cNvSpPr>
            <a:spLocks noChangeArrowheads="1"/>
          </p:cNvSpPr>
          <p:nvPr/>
        </p:nvSpPr>
        <p:spPr bwMode="auto">
          <a:xfrm>
            <a:off x="14478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9224" name="Oval 18"/>
          <p:cNvSpPr>
            <a:spLocks noChangeArrowheads="1"/>
          </p:cNvSpPr>
          <p:nvPr/>
        </p:nvSpPr>
        <p:spPr bwMode="auto">
          <a:xfrm>
            <a:off x="22860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cxnSp>
        <p:nvCxnSpPr>
          <p:cNvPr id="9225" name="Straight Arrow Connector 22"/>
          <p:cNvCxnSpPr>
            <a:cxnSpLocks noChangeShapeType="1"/>
            <a:stCxn id="9222" idx="6"/>
            <a:endCxn id="9223" idx="2"/>
          </p:cNvCxnSpPr>
          <p:nvPr/>
        </p:nvCxnSpPr>
        <p:spPr bwMode="auto">
          <a:xfrm>
            <a:off x="1143000" y="4420145"/>
            <a:ext cx="304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6" name="Straight Arrow Connector 24"/>
          <p:cNvCxnSpPr>
            <a:cxnSpLocks noChangeShapeType="1"/>
            <a:stCxn id="9223" idx="6"/>
            <a:endCxn id="9224" idx="2"/>
          </p:cNvCxnSpPr>
          <p:nvPr/>
        </p:nvCxnSpPr>
        <p:spPr bwMode="auto">
          <a:xfrm>
            <a:off x="1981200" y="4420145"/>
            <a:ext cx="304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7" name="TextBox 32"/>
          <p:cNvSpPr txBox="1">
            <a:spLocks noChangeArrowheads="1"/>
          </p:cNvSpPr>
          <p:nvPr/>
        </p:nvSpPr>
        <p:spPr bwMode="auto">
          <a:xfrm>
            <a:off x="2895600" y="4153445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……</a:t>
            </a:r>
          </a:p>
        </p:txBody>
      </p:sp>
      <p:sp>
        <p:nvSpPr>
          <p:cNvPr id="9228" name="Right Arrow 12"/>
          <p:cNvSpPr>
            <a:spLocks noChangeArrowheads="1"/>
          </p:cNvSpPr>
          <p:nvPr/>
        </p:nvSpPr>
        <p:spPr bwMode="auto">
          <a:xfrm>
            <a:off x="2667000" y="3467645"/>
            <a:ext cx="20574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9229" name="TextBox 13"/>
          <p:cNvSpPr txBox="1">
            <a:spLocks noChangeArrowheads="1"/>
          </p:cNvSpPr>
          <p:nvPr/>
        </p:nvSpPr>
        <p:spPr bwMode="auto">
          <a:xfrm>
            <a:off x="4953000" y="3467645"/>
            <a:ext cx="820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Time</a:t>
            </a:r>
          </a:p>
        </p:txBody>
      </p:sp>
      <p:sp>
        <p:nvSpPr>
          <p:cNvPr id="9230" name="Oval 15"/>
          <p:cNvSpPr>
            <a:spLocks noChangeArrowheads="1"/>
          </p:cNvSpPr>
          <p:nvPr/>
        </p:nvSpPr>
        <p:spPr bwMode="auto">
          <a:xfrm>
            <a:off x="80010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 dirty="0"/>
              <a:t>+</a:t>
            </a:r>
          </a:p>
        </p:txBody>
      </p:sp>
      <p:sp>
        <p:nvSpPr>
          <p:cNvPr id="9231" name="Oval 16"/>
          <p:cNvSpPr>
            <a:spLocks noChangeArrowheads="1"/>
          </p:cNvSpPr>
          <p:nvPr/>
        </p:nvSpPr>
        <p:spPr bwMode="auto">
          <a:xfrm>
            <a:off x="48768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9232" name="Oval 17"/>
          <p:cNvSpPr>
            <a:spLocks noChangeArrowheads="1"/>
          </p:cNvSpPr>
          <p:nvPr/>
        </p:nvSpPr>
        <p:spPr bwMode="auto">
          <a:xfrm>
            <a:off x="57150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9233" name="Oval 18"/>
          <p:cNvSpPr>
            <a:spLocks noChangeArrowheads="1"/>
          </p:cNvSpPr>
          <p:nvPr/>
        </p:nvSpPr>
        <p:spPr bwMode="auto">
          <a:xfrm>
            <a:off x="6553200" y="4153445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cxnSp>
        <p:nvCxnSpPr>
          <p:cNvPr id="9234" name="Straight Arrow Connector 22"/>
          <p:cNvCxnSpPr>
            <a:cxnSpLocks noChangeShapeType="1"/>
            <a:stCxn id="9231" idx="6"/>
            <a:endCxn id="9232" idx="2"/>
          </p:cNvCxnSpPr>
          <p:nvPr/>
        </p:nvCxnSpPr>
        <p:spPr bwMode="auto">
          <a:xfrm>
            <a:off x="5410200" y="4420145"/>
            <a:ext cx="304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5" name="Straight Arrow Connector 24"/>
          <p:cNvCxnSpPr>
            <a:cxnSpLocks noChangeShapeType="1"/>
            <a:stCxn id="9232" idx="6"/>
            <a:endCxn id="9233" idx="2"/>
          </p:cNvCxnSpPr>
          <p:nvPr/>
        </p:nvCxnSpPr>
        <p:spPr bwMode="auto">
          <a:xfrm>
            <a:off x="6248400" y="4420145"/>
            <a:ext cx="304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6" name="TextBox 32"/>
          <p:cNvSpPr txBox="1">
            <a:spLocks noChangeArrowheads="1"/>
          </p:cNvSpPr>
          <p:nvPr/>
        </p:nvSpPr>
        <p:spPr bwMode="auto">
          <a:xfrm>
            <a:off x="7162800" y="4153445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……</a:t>
            </a:r>
          </a:p>
        </p:txBody>
      </p:sp>
      <p:sp>
        <p:nvSpPr>
          <p:cNvPr id="9237" name="TextBox 21"/>
          <p:cNvSpPr txBox="1">
            <a:spLocks noChangeArrowheads="1"/>
          </p:cNvSpPr>
          <p:nvPr/>
        </p:nvSpPr>
        <p:spPr bwMode="auto">
          <a:xfrm>
            <a:off x="1219200" y="4839245"/>
            <a:ext cx="3267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All threads update out[0]</a:t>
            </a:r>
          </a:p>
        </p:txBody>
      </p:sp>
      <p:sp>
        <p:nvSpPr>
          <p:cNvPr id="9238" name="TextBox 22"/>
          <p:cNvSpPr txBox="1">
            <a:spLocks noChangeArrowheads="1"/>
          </p:cNvSpPr>
          <p:nvPr/>
        </p:nvSpPr>
        <p:spPr bwMode="auto">
          <a:xfrm>
            <a:off x="5648325" y="4839245"/>
            <a:ext cx="3267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All threads update out[1]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1DF9D0E-58E1-FC6B-A4E0-A74D3034D3AF}"/>
              </a:ext>
            </a:extLst>
          </p:cNvPr>
          <p:cNvSpPr txBox="1">
            <a:spLocks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All threads have conflicting updates to the same out elements</a:t>
            </a:r>
          </a:p>
          <a:p>
            <a:pPr lvl="1"/>
            <a:r>
              <a:rPr lang="en-US"/>
              <a:t>Serialized with atomic operations</a:t>
            </a:r>
          </a:p>
          <a:p>
            <a:pPr lvl="1"/>
            <a:r>
              <a:rPr lang="en-US"/>
              <a:t>Potentially very costly (slow) for large number of threads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5BFD29-CD03-7606-1B43-4893B3B43C5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Gather Parallelization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61BA0A8D-F656-4FF9-BA27-A17557D1B35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15853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20425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24997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29569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34141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38713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0" name="Rectangle 9"/>
          <p:cNvSpPr>
            <a:spLocks noChangeArrowheads="1"/>
          </p:cNvSpPr>
          <p:nvPr/>
        </p:nvSpPr>
        <p:spPr bwMode="auto">
          <a:xfrm>
            <a:off x="43285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1" name="Rectangle 10"/>
          <p:cNvSpPr>
            <a:spLocks noChangeArrowheads="1"/>
          </p:cNvSpPr>
          <p:nvPr/>
        </p:nvSpPr>
        <p:spPr bwMode="auto">
          <a:xfrm>
            <a:off x="47857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2" name="Rectangle 11"/>
          <p:cNvSpPr>
            <a:spLocks noChangeArrowheads="1"/>
          </p:cNvSpPr>
          <p:nvPr/>
        </p:nvSpPr>
        <p:spPr bwMode="auto">
          <a:xfrm>
            <a:off x="52429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3" name="Rectangle 12"/>
          <p:cNvSpPr>
            <a:spLocks noChangeArrowheads="1"/>
          </p:cNvSpPr>
          <p:nvPr/>
        </p:nvSpPr>
        <p:spPr bwMode="auto">
          <a:xfrm>
            <a:off x="57001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4" name="Rectangle 13"/>
          <p:cNvSpPr>
            <a:spLocks noChangeArrowheads="1"/>
          </p:cNvSpPr>
          <p:nvPr/>
        </p:nvSpPr>
        <p:spPr bwMode="auto">
          <a:xfrm>
            <a:off x="61573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5" name="Rectangle 14"/>
          <p:cNvSpPr>
            <a:spLocks noChangeArrowheads="1"/>
          </p:cNvSpPr>
          <p:nvPr/>
        </p:nvSpPr>
        <p:spPr bwMode="auto">
          <a:xfrm>
            <a:off x="6614592" y="1556792"/>
            <a:ext cx="457200" cy="4572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6" name="Rectangle 15"/>
          <p:cNvSpPr>
            <a:spLocks noChangeArrowheads="1"/>
          </p:cNvSpPr>
          <p:nvPr/>
        </p:nvSpPr>
        <p:spPr bwMode="auto">
          <a:xfrm>
            <a:off x="2423592" y="4909592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7" name="Rectangle 16"/>
          <p:cNvSpPr>
            <a:spLocks noChangeArrowheads="1"/>
          </p:cNvSpPr>
          <p:nvPr/>
        </p:nvSpPr>
        <p:spPr bwMode="auto">
          <a:xfrm>
            <a:off x="2880792" y="4909592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8" name="Rectangle 17"/>
          <p:cNvSpPr>
            <a:spLocks noChangeArrowheads="1"/>
          </p:cNvSpPr>
          <p:nvPr/>
        </p:nvSpPr>
        <p:spPr bwMode="auto">
          <a:xfrm>
            <a:off x="3337992" y="4909592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59" name="Rectangle 18"/>
          <p:cNvSpPr>
            <a:spLocks noChangeArrowheads="1"/>
          </p:cNvSpPr>
          <p:nvPr/>
        </p:nvSpPr>
        <p:spPr bwMode="auto">
          <a:xfrm>
            <a:off x="3795192" y="4909592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60" name="Rectangle 19"/>
          <p:cNvSpPr>
            <a:spLocks noChangeArrowheads="1"/>
          </p:cNvSpPr>
          <p:nvPr/>
        </p:nvSpPr>
        <p:spPr bwMode="auto">
          <a:xfrm>
            <a:off x="4252392" y="4909592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61" name="Rectangle 20"/>
          <p:cNvSpPr>
            <a:spLocks noChangeArrowheads="1"/>
          </p:cNvSpPr>
          <p:nvPr/>
        </p:nvSpPr>
        <p:spPr bwMode="auto">
          <a:xfrm>
            <a:off x="4709592" y="4909592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62" name="Rectangle 21"/>
          <p:cNvSpPr>
            <a:spLocks noChangeArrowheads="1"/>
          </p:cNvSpPr>
          <p:nvPr/>
        </p:nvSpPr>
        <p:spPr bwMode="auto">
          <a:xfrm>
            <a:off x="5166792" y="4909592"/>
            <a:ext cx="457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1600">
              <a:latin typeface="+mj-lt"/>
            </a:endParaRPr>
          </a:p>
        </p:txBody>
      </p:sp>
      <p:sp>
        <p:nvSpPr>
          <p:cNvPr id="10263" name="Oval 22"/>
          <p:cNvSpPr>
            <a:spLocks noChangeArrowheads="1"/>
          </p:cNvSpPr>
          <p:nvPr/>
        </p:nvSpPr>
        <p:spPr bwMode="auto">
          <a:xfrm>
            <a:off x="2273061" y="2852192"/>
            <a:ext cx="1447800" cy="1447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600" dirty="0">
                <a:latin typeface="+mj-lt"/>
              </a:rPr>
              <a:t>Thread 1</a:t>
            </a:r>
          </a:p>
        </p:txBody>
      </p:sp>
      <p:sp>
        <p:nvSpPr>
          <p:cNvPr id="10264" name="Oval 23"/>
          <p:cNvSpPr>
            <a:spLocks noChangeArrowheads="1"/>
          </p:cNvSpPr>
          <p:nvPr/>
        </p:nvSpPr>
        <p:spPr bwMode="auto">
          <a:xfrm>
            <a:off x="4176192" y="2852192"/>
            <a:ext cx="1447800" cy="1447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600">
                <a:latin typeface="+mj-lt"/>
              </a:rPr>
              <a:t>Thread </a:t>
            </a:r>
            <a:r>
              <a:rPr lang="en-US" sz="1600" dirty="0">
                <a:latin typeface="+mj-lt"/>
              </a:rPr>
              <a:t>2</a:t>
            </a:r>
          </a:p>
        </p:txBody>
      </p:sp>
      <p:cxnSp>
        <p:nvCxnSpPr>
          <p:cNvPr id="10265" name="Straight Arrow Connector 25"/>
          <p:cNvCxnSpPr>
            <a:cxnSpLocks noChangeShapeType="1"/>
            <a:stCxn id="10244" idx="2"/>
            <a:endCxn id="10263" idx="1"/>
          </p:cNvCxnSpPr>
          <p:nvPr/>
        </p:nvCxnSpPr>
        <p:spPr bwMode="auto">
          <a:xfrm>
            <a:off x="1813992" y="2013992"/>
            <a:ext cx="671094" cy="1050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6" name="Straight Arrow Connector 27"/>
          <p:cNvCxnSpPr>
            <a:cxnSpLocks noChangeShapeType="1"/>
            <a:endCxn id="10256" idx="0"/>
          </p:cNvCxnSpPr>
          <p:nvPr/>
        </p:nvCxnSpPr>
        <p:spPr bwMode="auto">
          <a:xfrm rot="5400000">
            <a:off x="2461692" y="4490492"/>
            <a:ext cx="6096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7" name="Straight Arrow Connector 37"/>
          <p:cNvCxnSpPr>
            <a:cxnSpLocks noChangeShapeType="1"/>
          </p:cNvCxnSpPr>
          <p:nvPr/>
        </p:nvCxnSpPr>
        <p:spPr bwMode="auto">
          <a:xfrm rot="16200000" flipH="1">
            <a:off x="2004492" y="2356892"/>
            <a:ext cx="990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8" name="Straight Arrow Connector 40"/>
          <p:cNvCxnSpPr>
            <a:cxnSpLocks noChangeShapeType="1"/>
            <a:endCxn id="10257" idx="0"/>
          </p:cNvCxnSpPr>
          <p:nvPr/>
        </p:nvCxnSpPr>
        <p:spPr bwMode="auto">
          <a:xfrm rot="10800000" flipV="1">
            <a:off x="3109392" y="4147592"/>
            <a:ext cx="1371600" cy="762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69" name="TextBox 72"/>
          <p:cNvSpPr txBox="1">
            <a:spLocks noChangeArrowheads="1"/>
          </p:cNvSpPr>
          <p:nvPr/>
        </p:nvSpPr>
        <p:spPr bwMode="auto">
          <a:xfrm>
            <a:off x="6004992" y="2937718"/>
            <a:ext cx="1524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5400" dirty="0">
                <a:solidFill>
                  <a:schemeClr val="tx1"/>
                </a:solidFill>
                <a:latin typeface="+mj-lt"/>
              </a:rPr>
              <a:t>…</a:t>
            </a:r>
          </a:p>
        </p:txBody>
      </p:sp>
      <p:sp>
        <p:nvSpPr>
          <p:cNvPr id="10270" name="TextBox 73"/>
          <p:cNvSpPr txBox="1">
            <a:spLocks noChangeArrowheads="1"/>
          </p:cNvSpPr>
          <p:nvPr/>
        </p:nvSpPr>
        <p:spPr bwMode="auto">
          <a:xfrm>
            <a:off x="899592" y="1556792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>
                <a:solidFill>
                  <a:schemeClr val="tx1"/>
                </a:solidFill>
                <a:latin typeface="+mj-lt"/>
              </a:rPr>
              <a:t>in</a:t>
            </a:r>
          </a:p>
        </p:txBody>
      </p:sp>
      <p:sp>
        <p:nvSpPr>
          <p:cNvPr id="10271" name="TextBox 74"/>
          <p:cNvSpPr txBox="1">
            <a:spLocks noChangeArrowheads="1"/>
          </p:cNvSpPr>
          <p:nvPr/>
        </p:nvSpPr>
        <p:spPr bwMode="auto">
          <a:xfrm>
            <a:off x="1432992" y="4985792"/>
            <a:ext cx="838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>
                <a:solidFill>
                  <a:schemeClr val="tx1"/>
                </a:solidFill>
                <a:latin typeface="+mj-lt"/>
              </a:rPr>
              <a:t>out</a:t>
            </a:r>
          </a:p>
        </p:txBody>
      </p:sp>
      <p:cxnSp>
        <p:nvCxnSpPr>
          <p:cNvPr id="10272" name="Straight Arrow Connector 48"/>
          <p:cNvCxnSpPr>
            <a:cxnSpLocks noChangeShapeType="1"/>
            <a:stCxn id="10246" idx="2"/>
          </p:cNvCxnSpPr>
          <p:nvPr/>
        </p:nvCxnSpPr>
        <p:spPr bwMode="auto">
          <a:xfrm rot="16200000" flipH="1">
            <a:off x="2347392" y="2394992"/>
            <a:ext cx="8382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3" name="Straight Arrow Connector 50"/>
          <p:cNvCxnSpPr>
            <a:cxnSpLocks noChangeShapeType="1"/>
            <a:stCxn id="10247" idx="2"/>
            <a:endCxn id="10263" idx="0"/>
          </p:cNvCxnSpPr>
          <p:nvPr/>
        </p:nvCxnSpPr>
        <p:spPr bwMode="auto">
          <a:xfrm flipH="1">
            <a:off x="2996961" y="2013992"/>
            <a:ext cx="188631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4" name="Straight Arrow Connector 52"/>
          <p:cNvCxnSpPr>
            <a:cxnSpLocks noChangeShapeType="1"/>
            <a:stCxn id="10248" idx="2"/>
          </p:cNvCxnSpPr>
          <p:nvPr/>
        </p:nvCxnSpPr>
        <p:spPr bwMode="auto">
          <a:xfrm rot="5400000">
            <a:off x="2956992" y="2166392"/>
            <a:ext cx="8382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5" name="Straight Arrow Connector 54"/>
          <p:cNvCxnSpPr>
            <a:cxnSpLocks noChangeShapeType="1"/>
            <a:stCxn id="10249" idx="2"/>
          </p:cNvCxnSpPr>
          <p:nvPr/>
        </p:nvCxnSpPr>
        <p:spPr bwMode="auto">
          <a:xfrm rot="5400000">
            <a:off x="3261792" y="2013992"/>
            <a:ext cx="838200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6" name="Straight Arrow Connector 56"/>
          <p:cNvCxnSpPr>
            <a:cxnSpLocks noChangeShapeType="1"/>
            <a:stCxn id="10250" idx="2"/>
          </p:cNvCxnSpPr>
          <p:nvPr/>
        </p:nvCxnSpPr>
        <p:spPr bwMode="auto">
          <a:xfrm rot="5400000">
            <a:off x="3528492" y="1899692"/>
            <a:ext cx="914400" cy="1143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7" name="Straight Arrow Connector 59"/>
          <p:cNvCxnSpPr>
            <a:cxnSpLocks noChangeShapeType="1"/>
            <a:stCxn id="10251" idx="2"/>
            <a:endCxn id="10263" idx="7"/>
          </p:cNvCxnSpPr>
          <p:nvPr/>
        </p:nvCxnSpPr>
        <p:spPr bwMode="auto">
          <a:xfrm flipH="1">
            <a:off x="3508836" y="2013992"/>
            <a:ext cx="1505556" cy="1050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8" name="Straight Arrow Connector 61"/>
          <p:cNvCxnSpPr>
            <a:cxnSpLocks noChangeShapeType="1"/>
            <a:stCxn id="10252" idx="2"/>
          </p:cNvCxnSpPr>
          <p:nvPr/>
        </p:nvCxnSpPr>
        <p:spPr bwMode="auto">
          <a:xfrm rot="5400000">
            <a:off x="3985692" y="1671092"/>
            <a:ext cx="1143000" cy="1828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9" name="Straight Arrow Connector 64"/>
          <p:cNvCxnSpPr>
            <a:cxnSpLocks noChangeShapeType="1"/>
            <a:stCxn id="10253" idx="2"/>
          </p:cNvCxnSpPr>
          <p:nvPr/>
        </p:nvCxnSpPr>
        <p:spPr bwMode="auto">
          <a:xfrm rot="5400000">
            <a:off x="4176192" y="1480592"/>
            <a:ext cx="1219200" cy="2286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0" name="Straight Arrow Connector 68"/>
          <p:cNvCxnSpPr>
            <a:cxnSpLocks noChangeShapeType="1"/>
            <a:stCxn id="10244" idx="2"/>
          </p:cNvCxnSpPr>
          <p:nvPr/>
        </p:nvCxnSpPr>
        <p:spPr bwMode="auto">
          <a:xfrm rot="16200000" flipH="1">
            <a:off x="2728392" y="1099592"/>
            <a:ext cx="914400" cy="2743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1" name="Straight Arrow Connector 75"/>
          <p:cNvCxnSpPr>
            <a:cxnSpLocks noChangeShapeType="1"/>
            <a:stCxn id="10245" idx="2"/>
          </p:cNvCxnSpPr>
          <p:nvPr/>
        </p:nvCxnSpPr>
        <p:spPr bwMode="auto">
          <a:xfrm rot="16200000" flipH="1">
            <a:off x="3071292" y="1213892"/>
            <a:ext cx="838200" cy="2438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2" name="Straight Arrow Connector 78"/>
          <p:cNvCxnSpPr>
            <a:cxnSpLocks noChangeShapeType="1"/>
            <a:stCxn id="10246" idx="2"/>
            <a:endCxn id="10264" idx="0"/>
          </p:cNvCxnSpPr>
          <p:nvPr/>
        </p:nvCxnSpPr>
        <p:spPr bwMode="auto">
          <a:xfrm rot="16200000" flipH="1">
            <a:off x="3395142" y="1347242"/>
            <a:ext cx="838200" cy="2171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3" name="Straight Arrow Connector 81"/>
          <p:cNvCxnSpPr>
            <a:cxnSpLocks noChangeShapeType="1"/>
            <a:stCxn id="10247" idx="2"/>
            <a:endCxn id="10264" idx="0"/>
          </p:cNvCxnSpPr>
          <p:nvPr/>
        </p:nvCxnSpPr>
        <p:spPr bwMode="auto">
          <a:xfrm rot="16200000" flipH="1">
            <a:off x="3623742" y="1575842"/>
            <a:ext cx="838200" cy="1714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4" name="Straight Arrow Connector 83"/>
          <p:cNvCxnSpPr>
            <a:cxnSpLocks noChangeShapeType="1"/>
            <a:stCxn id="10248" idx="2"/>
            <a:endCxn id="10264" idx="0"/>
          </p:cNvCxnSpPr>
          <p:nvPr/>
        </p:nvCxnSpPr>
        <p:spPr bwMode="auto">
          <a:xfrm rot="16200000" flipH="1">
            <a:off x="3852342" y="1804442"/>
            <a:ext cx="838200" cy="1257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5" name="Straight Arrow Connector 85"/>
          <p:cNvCxnSpPr>
            <a:cxnSpLocks noChangeShapeType="1"/>
            <a:stCxn id="10249" idx="2"/>
          </p:cNvCxnSpPr>
          <p:nvPr/>
        </p:nvCxnSpPr>
        <p:spPr bwMode="auto">
          <a:xfrm rot="16200000" flipH="1">
            <a:off x="4138092" y="1975892"/>
            <a:ext cx="762000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6" name="Straight Arrow Connector 87"/>
          <p:cNvCxnSpPr>
            <a:cxnSpLocks noChangeShapeType="1"/>
            <a:stCxn id="10250" idx="2"/>
          </p:cNvCxnSpPr>
          <p:nvPr/>
        </p:nvCxnSpPr>
        <p:spPr bwMode="auto">
          <a:xfrm rot="16200000" flipH="1">
            <a:off x="4366692" y="2204492"/>
            <a:ext cx="7620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7" name="Straight Arrow Connector 89"/>
          <p:cNvCxnSpPr>
            <a:cxnSpLocks noChangeShapeType="1"/>
            <a:stCxn id="10251" idx="2"/>
            <a:endCxn id="10264" idx="0"/>
          </p:cNvCxnSpPr>
          <p:nvPr/>
        </p:nvCxnSpPr>
        <p:spPr bwMode="auto">
          <a:xfrm rot="5400000">
            <a:off x="4538142" y="2375942"/>
            <a:ext cx="838200" cy="114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8" name="Straight Arrow Connector 91"/>
          <p:cNvCxnSpPr>
            <a:cxnSpLocks noChangeShapeType="1"/>
            <a:stCxn id="10252" idx="2"/>
          </p:cNvCxnSpPr>
          <p:nvPr/>
        </p:nvCxnSpPr>
        <p:spPr bwMode="auto">
          <a:xfrm rot="5400000">
            <a:off x="4823892" y="2128292"/>
            <a:ext cx="762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89" name="Straight Arrow Connector 93"/>
          <p:cNvCxnSpPr>
            <a:cxnSpLocks noChangeShapeType="1"/>
            <a:stCxn id="10254" idx="2"/>
          </p:cNvCxnSpPr>
          <p:nvPr/>
        </p:nvCxnSpPr>
        <p:spPr bwMode="auto">
          <a:xfrm rot="5400000">
            <a:off x="4480992" y="1251992"/>
            <a:ext cx="1143000" cy="2667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90" name="Straight Arrow Connector 95"/>
          <p:cNvCxnSpPr>
            <a:cxnSpLocks noChangeShapeType="1"/>
            <a:stCxn id="10255" idx="2"/>
          </p:cNvCxnSpPr>
          <p:nvPr/>
        </p:nvCxnSpPr>
        <p:spPr bwMode="auto">
          <a:xfrm rot="5400000">
            <a:off x="4671492" y="1061492"/>
            <a:ext cx="1219200" cy="3124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91" name="Straight Arrow Connector 97"/>
          <p:cNvCxnSpPr>
            <a:cxnSpLocks noChangeShapeType="1"/>
            <a:stCxn id="10253" idx="2"/>
            <a:endCxn id="10264" idx="0"/>
          </p:cNvCxnSpPr>
          <p:nvPr/>
        </p:nvCxnSpPr>
        <p:spPr bwMode="auto">
          <a:xfrm rot="5400000">
            <a:off x="4995342" y="1918742"/>
            <a:ext cx="838200" cy="1028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92" name="Straight Arrow Connector 99"/>
          <p:cNvCxnSpPr>
            <a:cxnSpLocks noChangeShapeType="1"/>
            <a:stCxn id="10254" idx="2"/>
          </p:cNvCxnSpPr>
          <p:nvPr/>
        </p:nvCxnSpPr>
        <p:spPr bwMode="auto">
          <a:xfrm rot="5400000">
            <a:off x="5319192" y="1785392"/>
            <a:ext cx="838200" cy="1295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93" name="Straight Arrow Connector 101"/>
          <p:cNvCxnSpPr>
            <a:cxnSpLocks noChangeShapeType="1"/>
            <a:stCxn id="10255" idx="2"/>
          </p:cNvCxnSpPr>
          <p:nvPr/>
        </p:nvCxnSpPr>
        <p:spPr bwMode="auto">
          <a:xfrm rot="5400000">
            <a:off x="5585892" y="1671092"/>
            <a:ext cx="914400" cy="1600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94" name="TextBox 1"/>
          <p:cNvSpPr txBox="1">
            <a:spLocks noChangeArrowheads="1"/>
          </p:cNvSpPr>
          <p:nvPr/>
        </p:nvSpPr>
        <p:spPr bwMode="auto">
          <a:xfrm>
            <a:off x="6059298" y="4330155"/>
            <a:ext cx="285366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Also called the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“Owner Computes” rule</a:t>
            </a:r>
          </a:p>
        </p:txBody>
      </p:sp>
    </p:spTree>
    <p:extLst>
      <p:ext uri="{BB962C8B-B14F-4D97-AF65-F5344CB8AC3E}">
        <p14:creationId xmlns:p14="http://schemas.microsoft.com/office/powerpoint/2010/main" val="379471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018DD3-E5FA-E4C7-1F37-FB16A77C63C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Gather can be very fast.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269" name="Oval 15"/>
          <p:cNvSpPr>
            <a:spLocks noChangeArrowheads="1"/>
          </p:cNvSpPr>
          <p:nvPr/>
        </p:nvSpPr>
        <p:spPr bwMode="auto">
          <a:xfrm>
            <a:off x="1568152" y="52319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 dirty="0"/>
              <a:t>+</a:t>
            </a:r>
          </a:p>
        </p:txBody>
      </p:sp>
      <p:sp>
        <p:nvSpPr>
          <p:cNvPr id="11270" name="Oval 16"/>
          <p:cNvSpPr>
            <a:spLocks noChangeArrowheads="1"/>
          </p:cNvSpPr>
          <p:nvPr/>
        </p:nvSpPr>
        <p:spPr bwMode="auto">
          <a:xfrm>
            <a:off x="1568152" y="41651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71" name="Oval 17"/>
          <p:cNvSpPr>
            <a:spLocks noChangeArrowheads="1"/>
          </p:cNvSpPr>
          <p:nvPr/>
        </p:nvSpPr>
        <p:spPr bwMode="auto">
          <a:xfrm>
            <a:off x="1568152" y="34793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72" name="Oval 18"/>
          <p:cNvSpPr>
            <a:spLocks noChangeArrowheads="1"/>
          </p:cNvSpPr>
          <p:nvPr/>
        </p:nvSpPr>
        <p:spPr bwMode="auto">
          <a:xfrm>
            <a:off x="1568152" y="28697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73" name="TextBox 32"/>
          <p:cNvSpPr txBox="1">
            <a:spLocks noChangeArrowheads="1"/>
          </p:cNvSpPr>
          <p:nvPr/>
        </p:nvSpPr>
        <p:spPr bwMode="auto">
          <a:xfrm>
            <a:off x="5073352" y="3784104"/>
            <a:ext cx="990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6000">
                <a:solidFill>
                  <a:schemeClr val="tx1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11274" name="Right Arrow 12"/>
          <p:cNvSpPr>
            <a:spLocks noChangeArrowheads="1"/>
          </p:cNvSpPr>
          <p:nvPr/>
        </p:nvSpPr>
        <p:spPr bwMode="auto">
          <a:xfrm>
            <a:off x="5150246" y="2924944"/>
            <a:ext cx="20574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1275" name="TextBox 13"/>
          <p:cNvSpPr txBox="1">
            <a:spLocks noChangeArrowheads="1"/>
          </p:cNvSpPr>
          <p:nvPr/>
        </p:nvSpPr>
        <p:spPr bwMode="auto">
          <a:xfrm>
            <a:off x="7207646" y="2924944"/>
            <a:ext cx="820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2040" y="5014917"/>
            <a:ext cx="31242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All threads update their own out elements, no need for atomics</a:t>
            </a:r>
          </a:p>
        </p:txBody>
      </p:sp>
      <p:cxnSp>
        <p:nvCxnSpPr>
          <p:cNvPr id="11277" name="Straight Connector 26"/>
          <p:cNvCxnSpPr>
            <a:cxnSpLocks noChangeShapeType="1"/>
          </p:cNvCxnSpPr>
          <p:nvPr/>
        </p:nvCxnSpPr>
        <p:spPr bwMode="auto">
          <a:xfrm rot="5400000">
            <a:off x="1682452" y="4965204"/>
            <a:ext cx="3810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8" name="Oval 15"/>
          <p:cNvSpPr>
            <a:spLocks noChangeArrowheads="1"/>
          </p:cNvSpPr>
          <p:nvPr/>
        </p:nvSpPr>
        <p:spPr bwMode="auto">
          <a:xfrm>
            <a:off x="2558752" y="52319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79" name="Oval 16"/>
          <p:cNvSpPr>
            <a:spLocks noChangeArrowheads="1"/>
          </p:cNvSpPr>
          <p:nvPr/>
        </p:nvSpPr>
        <p:spPr bwMode="auto">
          <a:xfrm>
            <a:off x="2558752" y="41651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80" name="Oval 17"/>
          <p:cNvSpPr>
            <a:spLocks noChangeArrowheads="1"/>
          </p:cNvSpPr>
          <p:nvPr/>
        </p:nvSpPr>
        <p:spPr bwMode="auto">
          <a:xfrm>
            <a:off x="2558752" y="34793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81" name="Oval 18"/>
          <p:cNvSpPr>
            <a:spLocks noChangeArrowheads="1"/>
          </p:cNvSpPr>
          <p:nvPr/>
        </p:nvSpPr>
        <p:spPr bwMode="auto">
          <a:xfrm>
            <a:off x="2558752" y="28697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cxnSp>
        <p:nvCxnSpPr>
          <p:cNvPr id="11282" name="Straight Connector 31"/>
          <p:cNvCxnSpPr>
            <a:cxnSpLocks noChangeShapeType="1"/>
          </p:cNvCxnSpPr>
          <p:nvPr/>
        </p:nvCxnSpPr>
        <p:spPr bwMode="auto">
          <a:xfrm rot="5400000">
            <a:off x="2673052" y="4965204"/>
            <a:ext cx="3810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3" name="Oval 15"/>
          <p:cNvSpPr>
            <a:spLocks noChangeArrowheads="1"/>
          </p:cNvSpPr>
          <p:nvPr/>
        </p:nvSpPr>
        <p:spPr bwMode="auto">
          <a:xfrm>
            <a:off x="3549352" y="52319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 dirty="0"/>
              <a:t>+</a:t>
            </a:r>
          </a:p>
        </p:txBody>
      </p:sp>
      <p:sp>
        <p:nvSpPr>
          <p:cNvPr id="11284" name="Oval 16"/>
          <p:cNvSpPr>
            <a:spLocks noChangeArrowheads="1"/>
          </p:cNvSpPr>
          <p:nvPr/>
        </p:nvSpPr>
        <p:spPr bwMode="auto">
          <a:xfrm>
            <a:off x="3549352" y="41651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85" name="Oval 17"/>
          <p:cNvSpPr>
            <a:spLocks noChangeArrowheads="1"/>
          </p:cNvSpPr>
          <p:nvPr/>
        </p:nvSpPr>
        <p:spPr bwMode="auto">
          <a:xfrm>
            <a:off x="3549352" y="34793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sp>
        <p:nvSpPr>
          <p:cNvPr id="11286" name="Oval 18"/>
          <p:cNvSpPr>
            <a:spLocks noChangeArrowheads="1"/>
          </p:cNvSpPr>
          <p:nvPr/>
        </p:nvSpPr>
        <p:spPr bwMode="auto">
          <a:xfrm>
            <a:off x="3549352" y="2869704"/>
            <a:ext cx="533400" cy="5334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0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3200"/>
              <a:t>+</a:t>
            </a:r>
          </a:p>
        </p:txBody>
      </p:sp>
      <p:cxnSp>
        <p:nvCxnSpPr>
          <p:cNvPr id="11287" name="Straight Connector 38"/>
          <p:cNvCxnSpPr>
            <a:cxnSpLocks noChangeShapeType="1"/>
          </p:cNvCxnSpPr>
          <p:nvPr/>
        </p:nvCxnSpPr>
        <p:spPr bwMode="auto">
          <a:xfrm rot="5400000">
            <a:off x="3663652" y="4965204"/>
            <a:ext cx="3810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8" name="Straight Arrow Connector 43"/>
          <p:cNvCxnSpPr>
            <a:cxnSpLocks noChangeShapeType="1"/>
            <a:stCxn id="11272" idx="6"/>
            <a:endCxn id="11281" idx="2"/>
          </p:cNvCxnSpPr>
          <p:nvPr/>
        </p:nvCxnSpPr>
        <p:spPr bwMode="auto">
          <a:xfrm>
            <a:off x="2101552" y="31364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9" name="Straight Arrow Connector 45"/>
          <p:cNvCxnSpPr>
            <a:cxnSpLocks noChangeShapeType="1"/>
            <a:stCxn id="11281" idx="6"/>
            <a:endCxn id="11286" idx="2"/>
          </p:cNvCxnSpPr>
          <p:nvPr/>
        </p:nvCxnSpPr>
        <p:spPr bwMode="auto">
          <a:xfrm>
            <a:off x="3092152" y="31364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0" name="Straight Arrow Connector 52"/>
          <p:cNvCxnSpPr>
            <a:cxnSpLocks noChangeShapeType="1"/>
          </p:cNvCxnSpPr>
          <p:nvPr/>
        </p:nvCxnSpPr>
        <p:spPr bwMode="auto">
          <a:xfrm>
            <a:off x="4082752" y="30983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1" name="Straight Arrow Connector 53"/>
          <p:cNvCxnSpPr>
            <a:cxnSpLocks noChangeShapeType="1"/>
          </p:cNvCxnSpPr>
          <p:nvPr/>
        </p:nvCxnSpPr>
        <p:spPr bwMode="auto">
          <a:xfrm>
            <a:off x="2101552" y="37841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2" name="Straight Arrow Connector 54"/>
          <p:cNvCxnSpPr>
            <a:cxnSpLocks noChangeShapeType="1"/>
          </p:cNvCxnSpPr>
          <p:nvPr/>
        </p:nvCxnSpPr>
        <p:spPr bwMode="auto">
          <a:xfrm>
            <a:off x="2101552" y="44699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3" name="Straight Arrow Connector 55"/>
          <p:cNvCxnSpPr>
            <a:cxnSpLocks noChangeShapeType="1"/>
          </p:cNvCxnSpPr>
          <p:nvPr/>
        </p:nvCxnSpPr>
        <p:spPr bwMode="auto">
          <a:xfrm>
            <a:off x="2101552" y="55367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4" name="Straight Arrow Connector 56"/>
          <p:cNvCxnSpPr>
            <a:cxnSpLocks noChangeShapeType="1"/>
          </p:cNvCxnSpPr>
          <p:nvPr/>
        </p:nvCxnSpPr>
        <p:spPr bwMode="auto">
          <a:xfrm>
            <a:off x="3092152" y="37841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5" name="Straight Arrow Connector 57"/>
          <p:cNvCxnSpPr>
            <a:cxnSpLocks noChangeShapeType="1"/>
          </p:cNvCxnSpPr>
          <p:nvPr/>
        </p:nvCxnSpPr>
        <p:spPr bwMode="auto">
          <a:xfrm>
            <a:off x="3092152" y="44699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6" name="Straight Arrow Connector 58"/>
          <p:cNvCxnSpPr>
            <a:cxnSpLocks noChangeShapeType="1"/>
          </p:cNvCxnSpPr>
          <p:nvPr/>
        </p:nvCxnSpPr>
        <p:spPr bwMode="auto">
          <a:xfrm>
            <a:off x="3092152" y="55367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7" name="Straight Arrow Connector 59"/>
          <p:cNvCxnSpPr>
            <a:cxnSpLocks noChangeShapeType="1"/>
          </p:cNvCxnSpPr>
          <p:nvPr/>
        </p:nvCxnSpPr>
        <p:spPr bwMode="auto">
          <a:xfrm>
            <a:off x="4082752" y="37841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8" name="Straight Arrow Connector 60"/>
          <p:cNvCxnSpPr>
            <a:cxnSpLocks noChangeShapeType="1"/>
          </p:cNvCxnSpPr>
          <p:nvPr/>
        </p:nvCxnSpPr>
        <p:spPr bwMode="auto">
          <a:xfrm>
            <a:off x="4082752" y="44699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9" name="Straight Arrow Connector 61"/>
          <p:cNvCxnSpPr>
            <a:cxnSpLocks noChangeShapeType="1"/>
          </p:cNvCxnSpPr>
          <p:nvPr/>
        </p:nvCxnSpPr>
        <p:spPr bwMode="auto">
          <a:xfrm>
            <a:off x="4082752" y="5536704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32F3C2E7-5FE7-EEB9-8878-0D51BD9B1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838" y="838200"/>
            <a:ext cx="8464550" cy="5584825"/>
          </a:xfrm>
        </p:spPr>
        <p:txBody>
          <a:bodyPr/>
          <a:lstStyle/>
          <a:p>
            <a:r>
              <a:rPr lang="en-US" dirty="0"/>
              <a:t>All threads can read the same “in” elements</a:t>
            </a:r>
          </a:p>
          <a:p>
            <a:pPr lvl="1"/>
            <a:r>
              <a:rPr lang="en-US" dirty="0"/>
              <a:t>No serialization</a:t>
            </a:r>
          </a:p>
          <a:p>
            <a:pPr lvl="1"/>
            <a:r>
              <a:rPr lang="en-US" dirty="0"/>
              <a:t>Can even be efficiently consolidated through caches or scratchpad (shared) memories</a:t>
            </a:r>
          </a:p>
        </p:txBody>
      </p:sp>
    </p:spTree>
    <p:extLst>
      <p:ext uri="{BB962C8B-B14F-4D97-AF65-F5344CB8AC3E}">
        <p14:creationId xmlns:p14="http://schemas.microsoft.com/office/powerpoint/2010/main" val="324149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Placeholder 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Why is scatter parallelization often used rather than gather?</a:t>
            </a:r>
          </a:p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344724-2882-6060-8C61-F5FCEA7C62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practice, each in element does not affect all “out” elements</a:t>
            </a:r>
          </a:p>
          <a:p>
            <a:endParaRPr lang="en-US" dirty="0"/>
          </a:p>
          <a:p>
            <a:r>
              <a:rPr lang="en-US" dirty="0"/>
              <a:t>Output tends to be much more regular than input</a:t>
            </a:r>
          </a:p>
          <a:p>
            <a:endParaRPr lang="en-US" dirty="0"/>
          </a:p>
          <a:p>
            <a:r>
              <a:rPr lang="en-US" dirty="0"/>
              <a:t>It is easy to calculate all out elements affected by an in element</a:t>
            </a:r>
          </a:p>
          <a:p>
            <a:pPr lvl="1"/>
            <a:r>
              <a:rPr lang="en-US" dirty="0"/>
              <a:t>Harder to calculate all in elements needed for an out element</a:t>
            </a:r>
          </a:p>
          <a:p>
            <a:pPr lvl="1"/>
            <a:r>
              <a:rPr lang="en-US" dirty="0"/>
              <a:t>Easy thread kernel code if written in scatter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317" name="Line 7"/>
          <p:cNvSpPr>
            <a:spLocks noChangeShapeType="1"/>
          </p:cNvSpPr>
          <p:nvPr/>
        </p:nvSpPr>
        <p:spPr bwMode="auto">
          <a:xfrm>
            <a:off x="3886956" y="4950688"/>
            <a:ext cx="914400" cy="0"/>
          </a:xfrm>
          <a:prstGeom prst="line">
            <a:avLst/>
          </a:prstGeom>
          <a:noFill/>
          <a:ln w="69850" cmpd="tri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3318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860" y="3985189"/>
            <a:ext cx="2133600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068" y="4033907"/>
            <a:ext cx="2209800" cy="183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531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D1088-1250-B589-53E7-F96026EE8C4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Challenges in Gather Parallelization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AF2978-5541-C0D1-8996-88BBAC57A4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Regularize input elements so that it is easier to find all in elements that affect an out element</a:t>
            </a:r>
          </a:p>
          <a:p>
            <a:pPr lvl="1"/>
            <a:r>
              <a:rPr lang="en-US" dirty="0"/>
              <a:t>Cut-off Binning Lecture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this lecture, we assume that all in elements affect all out elements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38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22DF05-70FB-14EA-8B81-416681B80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389" name="Rectangle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Biomolecular</a:t>
            </a:r>
            <a:r>
              <a:rPr lang="en-US" sz="2400" dirty="0"/>
              <a:t> simulations attempt to replicate </a:t>
            </a:r>
            <a:r>
              <a:rPr lang="en-US" sz="2400" i="1" dirty="0"/>
              <a:t>in vivo</a:t>
            </a:r>
            <a:r>
              <a:rPr lang="en-US" sz="2400" dirty="0"/>
              <a:t> conditions </a:t>
            </a:r>
            <a:r>
              <a:rPr lang="en-US" sz="2400" i="1" dirty="0"/>
              <a:t>in </a:t>
            </a:r>
            <a:r>
              <a:rPr lang="en-US" sz="2400" i="1" dirty="0" err="1"/>
              <a:t>silico</a:t>
            </a:r>
            <a:endParaRPr lang="en-US" sz="2400" i="1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Model structures are initially constructed in vacuum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Solvent (water) and ions are added as necessary to reproduce the required biological conditions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DCA15C-F66D-E1D0-0086-659409E17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D35300-240F-1054-EE77-9B615CD3F99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29150" y="2185988"/>
            <a:ext cx="3887788" cy="3386137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4B57FC-30AE-87C5-4A4A-790914F44AF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Example – Ion Placement in Molecular Modeling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F2D99B0-301C-4775-AD2B-DA2128F5F69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8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9011A-BC00-FF32-F311-EDF45758801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Ion Placement Process (Step 1)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E195F-C154-FB4D-D4C1-992FB1EE17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Calculate an initial electrostatic potential map around the simulated structure considering the contributions of all atoms</a:t>
            </a:r>
          </a:p>
          <a:p>
            <a:pPr lvl="1" eaLnBrk="1" hangingPunct="1"/>
            <a:r>
              <a:rPr lang="en-US" dirty="0"/>
              <a:t>Very time consuming in VMD, focus of our example.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2431489" y="24435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4107889" y="24435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3269689" y="24435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4946089" y="24435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auto">
          <a:xfrm>
            <a:off x="5784289" y="24435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18" name="Rectangle 9"/>
          <p:cNvSpPr>
            <a:spLocks noChangeArrowheads="1"/>
          </p:cNvSpPr>
          <p:nvPr/>
        </p:nvSpPr>
        <p:spPr bwMode="auto">
          <a:xfrm>
            <a:off x="2431489" y="32817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19" name="Rectangle 10"/>
          <p:cNvSpPr>
            <a:spLocks noChangeArrowheads="1"/>
          </p:cNvSpPr>
          <p:nvPr/>
        </p:nvSpPr>
        <p:spPr bwMode="auto">
          <a:xfrm>
            <a:off x="4107889" y="32817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0" name="Rectangle 11"/>
          <p:cNvSpPr>
            <a:spLocks noChangeArrowheads="1"/>
          </p:cNvSpPr>
          <p:nvPr/>
        </p:nvSpPr>
        <p:spPr bwMode="auto">
          <a:xfrm>
            <a:off x="3269689" y="32817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1" name="Rectangle 12"/>
          <p:cNvSpPr>
            <a:spLocks noChangeArrowheads="1"/>
          </p:cNvSpPr>
          <p:nvPr/>
        </p:nvSpPr>
        <p:spPr bwMode="auto">
          <a:xfrm>
            <a:off x="4946089" y="32817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2" name="Rectangle 13"/>
          <p:cNvSpPr>
            <a:spLocks noChangeArrowheads="1"/>
          </p:cNvSpPr>
          <p:nvPr/>
        </p:nvSpPr>
        <p:spPr bwMode="auto">
          <a:xfrm>
            <a:off x="5784289" y="32817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3" name="Rectangle 14"/>
          <p:cNvSpPr>
            <a:spLocks noChangeArrowheads="1"/>
          </p:cNvSpPr>
          <p:nvPr/>
        </p:nvSpPr>
        <p:spPr bwMode="auto">
          <a:xfrm>
            <a:off x="2431489" y="41199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4" name="Rectangle 15"/>
          <p:cNvSpPr>
            <a:spLocks noChangeArrowheads="1"/>
          </p:cNvSpPr>
          <p:nvPr/>
        </p:nvSpPr>
        <p:spPr bwMode="auto">
          <a:xfrm>
            <a:off x="4107889" y="41199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5" name="Rectangle 16"/>
          <p:cNvSpPr>
            <a:spLocks noChangeArrowheads="1"/>
          </p:cNvSpPr>
          <p:nvPr/>
        </p:nvSpPr>
        <p:spPr bwMode="auto">
          <a:xfrm>
            <a:off x="3269689" y="41199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6" name="Rectangle 17"/>
          <p:cNvSpPr>
            <a:spLocks noChangeArrowheads="1"/>
          </p:cNvSpPr>
          <p:nvPr/>
        </p:nvSpPr>
        <p:spPr bwMode="auto">
          <a:xfrm>
            <a:off x="4946089" y="41199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7" name="Rectangle 18"/>
          <p:cNvSpPr>
            <a:spLocks noChangeArrowheads="1"/>
          </p:cNvSpPr>
          <p:nvPr/>
        </p:nvSpPr>
        <p:spPr bwMode="auto">
          <a:xfrm>
            <a:off x="5784289" y="4119994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8" name="Oval 19"/>
          <p:cNvSpPr>
            <a:spLocks noChangeArrowheads="1"/>
          </p:cNvSpPr>
          <p:nvPr/>
        </p:nvSpPr>
        <p:spPr bwMode="auto">
          <a:xfrm>
            <a:off x="4793689" y="3129394"/>
            <a:ext cx="990600" cy="1066800"/>
          </a:xfrm>
          <a:prstGeom prst="ellipse">
            <a:avLst/>
          </a:prstGeom>
          <a:solidFill>
            <a:srgbClr val="33CCCC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29" name="Oval 20"/>
          <p:cNvSpPr>
            <a:spLocks noChangeArrowheads="1"/>
          </p:cNvSpPr>
          <p:nvPr/>
        </p:nvSpPr>
        <p:spPr bwMode="auto">
          <a:xfrm>
            <a:off x="2736289" y="3815194"/>
            <a:ext cx="990600" cy="10668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7430" name="Line 21"/>
          <p:cNvSpPr>
            <a:spLocks noChangeShapeType="1"/>
          </p:cNvSpPr>
          <p:nvPr/>
        </p:nvSpPr>
        <p:spPr bwMode="auto">
          <a:xfrm flipH="1">
            <a:off x="3193489" y="2443594"/>
            <a:ext cx="91440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2"/>
          <p:cNvSpPr>
            <a:spLocks noChangeShapeType="1"/>
          </p:cNvSpPr>
          <p:nvPr/>
        </p:nvSpPr>
        <p:spPr bwMode="auto">
          <a:xfrm>
            <a:off x="4107889" y="2443594"/>
            <a:ext cx="121920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AutoShape 25"/>
          <p:cNvSpPr>
            <a:spLocks noChangeArrowheads="1"/>
          </p:cNvSpPr>
          <p:nvPr/>
        </p:nvSpPr>
        <p:spPr bwMode="auto">
          <a:xfrm>
            <a:off x="678889" y="2748394"/>
            <a:ext cx="2133600" cy="990600"/>
          </a:xfrm>
          <a:prstGeom prst="wedgeRectCallout">
            <a:avLst>
              <a:gd name="adj1" fmla="val 110046"/>
              <a:gd name="adj2" fmla="val -80287"/>
            </a:avLst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Lattice point being evaluated</a:t>
            </a:r>
          </a:p>
        </p:txBody>
      </p:sp>
    </p:spTree>
    <p:extLst>
      <p:ext uri="{BB962C8B-B14F-4D97-AF65-F5344CB8AC3E}">
        <p14:creationId xmlns:p14="http://schemas.microsoft.com/office/powerpoint/2010/main" val="147780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0AA48C-DA22-3CF1-9F98-53C2BE5CF48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Ion Placement Process (Step 2)</a:t>
            </a:r>
          </a:p>
        </p:txBody>
      </p:sp>
      <p:sp>
        <p:nvSpPr>
          <p:cNvPr id="18435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Ions are then placed one at a time:</a:t>
            </a:r>
          </a:p>
          <a:p>
            <a:pPr lvl="1" eaLnBrk="1" hangingPunct="1"/>
            <a:r>
              <a:rPr lang="en-US" dirty="0"/>
              <a:t>Find the point with the minimum potential value</a:t>
            </a:r>
          </a:p>
          <a:p>
            <a:pPr lvl="1" eaLnBrk="1" hangingPunct="1"/>
            <a:r>
              <a:rPr lang="en-US" dirty="0"/>
              <a:t>Add a new ion atom at location of minimum potential</a:t>
            </a:r>
          </a:p>
          <a:p>
            <a:pPr lvl="1" eaLnBrk="1" hangingPunct="1"/>
            <a:r>
              <a:rPr lang="en-US" dirty="0"/>
              <a:t>Add the potential contribution of the newly placed ion to the entire map</a:t>
            </a:r>
          </a:p>
          <a:p>
            <a:pPr lvl="1" eaLnBrk="1" hangingPunct="1"/>
            <a:r>
              <a:rPr lang="en-US" dirty="0"/>
              <a:t>Repeat until the required number of ions have been added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1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55E7A-DEDC-B581-E179-30D7682FD64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Overview of Direct Coulomb Summation (DCS) Algorithm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CC2633-216E-E645-254A-163258637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400" dirty="0"/>
              <a:t>Most accurate way to compute the electrostatic potentials on a grid, ideally suited for the GPU</a:t>
            </a:r>
          </a:p>
          <a:p>
            <a:pPr lvl="1" eaLnBrk="1" hangingPunct="1"/>
            <a:r>
              <a:rPr lang="en-US" sz="2000" dirty="0"/>
              <a:t>All atoms affect all map lattice points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For each lattice point, sum potential contributions for all atoms in the simulated structure: </a:t>
            </a:r>
          </a:p>
          <a:p>
            <a:pPr lvl="1" eaLnBrk="1" hangingPunct="1">
              <a:buFontTx/>
              <a:buNone/>
            </a:pPr>
            <a:r>
              <a:rPr lang="en-US" sz="2000" dirty="0"/>
              <a:t>   potential +=  charge[i] / (distance to atom[i])</a:t>
            </a:r>
          </a:p>
          <a:p>
            <a:pPr lvl="1" eaLnBrk="1" hangingPunct="1"/>
            <a:endParaRPr lang="en-US" dirty="0"/>
          </a:p>
          <a:p>
            <a:pPr eaLnBrk="1" hangingPunct="1"/>
            <a:r>
              <a:rPr lang="en-US" sz="2400" dirty="0"/>
              <a:t>Approximation-based methods such as cut-off summation can achieve much higher performance at the cost of some numerical accuracy and flexibility</a:t>
            </a:r>
          </a:p>
          <a:p>
            <a:pPr lvl="1" eaLnBrk="1" hangingPunct="1"/>
            <a:r>
              <a:rPr lang="en-US" sz="2000" dirty="0"/>
              <a:t>Will cover these later in the Binning Lecture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979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66A90-CF5E-EEA7-E0FB-670D23134CF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Direct Coulomb Summation (DCS) Algorithm Details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19EBAD-DF28-37AD-B126-B532F336D9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At each lattice point, sum potential contributions for all atoms in the simulated structure: </a:t>
            </a:r>
          </a:p>
          <a:p>
            <a:pPr lvl="1" eaLnBrk="1" hangingPunct="1">
              <a:buFontTx/>
              <a:buNone/>
            </a:pPr>
            <a:r>
              <a:rPr lang="en-US" dirty="0"/>
              <a:t>   potential +=  charge[i] / (distance to atom[i])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2286000" y="32186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3962400" y="32186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3124200" y="32186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auto">
          <a:xfrm>
            <a:off x="4800600" y="32186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5638800" y="32186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2286000" y="40568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1" name="Rectangle 10"/>
          <p:cNvSpPr>
            <a:spLocks noChangeArrowheads="1"/>
          </p:cNvSpPr>
          <p:nvPr/>
        </p:nvSpPr>
        <p:spPr bwMode="auto">
          <a:xfrm>
            <a:off x="3962400" y="40568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2" name="Rectangle 11"/>
          <p:cNvSpPr>
            <a:spLocks noChangeArrowheads="1"/>
          </p:cNvSpPr>
          <p:nvPr/>
        </p:nvSpPr>
        <p:spPr bwMode="auto">
          <a:xfrm>
            <a:off x="3124200" y="40568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3" name="Rectangle 12"/>
          <p:cNvSpPr>
            <a:spLocks noChangeArrowheads="1"/>
          </p:cNvSpPr>
          <p:nvPr/>
        </p:nvSpPr>
        <p:spPr bwMode="auto">
          <a:xfrm>
            <a:off x="4800600" y="40568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4" name="Rectangle 13"/>
          <p:cNvSpPr>
            <a:spLocks noChangeArrowheads="1"/>
          </p:cNvSpPr>
          <p:nvPr/>
        </p:nvSpPr>
        <p:spPr bwMode="auto">
          <a:xfrm>
            <a:off x="5638800" y="40568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5" name="Rectangle 14"/>
          <p:cNvSpPr>
            <a:spLocks noChangeArrowheads="1"/>
          </p:cNvSpPr>
          <p:nvPr/>
        </p:nvSpPr>
        <p:spPr bwMode="auto">
          <a:xfrm>
            <a:off x="2286000" y="48950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6" name="Rectangle 15"/>
          <p:cNvSpPr>
            <a:spLocks noChangeArrowheads="1"/>
          </p:cNvSpPr>
          <p:nvPr/>
        </p:nvSpPr>
        <p:spPr bwMode="auto">
          <a:xfrm>
            <a:off x="3962400" y="48950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7" name="Rectangle 16"/>
          <p:cNvSpPr>
            <a:spLocks noChangeArrowheads="1"/>
          </p:cNvSpPr>
          <p:nvPr/>
        </p:nvSpPr>
        <p:spPr bwMode="auto">
          <a:xfrm>
            <a:off x="3124200" y="48950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8" name="Rectangle 17"/>
          <p:cNvSpPr>
            <a:spLocks noChangeArrowheads="1"/>
          </p:cNvSpPr>
          <p:nvPr/>
        </p:nvSpPr>
        <p:spPr bwMode="auto">
          <a:xfrm>
            <a:off x="4800600" y="48950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499" name="Rectangle 18"/>
          <p:cNvSpPr>
            <a:spLocks noChangeArrowheads="1"/>
          </p:cNvSpPr>
          <p:nvPr/>
        </p:nvSpPr>
        <p:spPr bwMode="auto">
          <a:xfrm>
            <a:off x="5638800" y="4895056"/>
            <a:ext cx="838200" cy="838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500" name="Oval 19"/>
          <p:cNvSpPr>
            <a:spLocks noChangeArrowheads="1"/>
          </p:cNvSpPr>
          <p:nvPr/>
        </p:nvSpPr>
        <p:spPr bwMode="auto">
          <a:xfrm>
            <a:off x="4648200" y="3904456"/>
            <a:ext cx="990600" cy="1066800"/>
          </a:xfrm>
          <a:prstGeom prst="ellipse">
            <a:avLst/>
          </a:prstGeom>
          <a:solidFill>
            <a:srgbClr val="33CCCC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501" name="Oval 20"/>
          <p:cNvSpPr>
            <a:spLocks noChangeArrowheads="1"/>
          </p:cNvSpPr>
          <p:nvPr/>
        </p:nvSpPr>
        <p:spPr bwMode="auto">
          <a:xfrm>
            <a:off x="2590800" y="4590256"/>
            <a:ext cx="990600" cy="10668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0502" name="Line 21"/>
          <p:cNvSpPr>
            <a:spLocks noChangeShapeType="1"/>
          </p:cNvSpPr>
          <p:nvPr/>
        </p:nvSpPr>
        <p:spPr bwMode="auto">
          <a:xfrm flipH="1">
            <a:off x="3048000" y="3218656"/>
            <a:ext cx="91440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3" name="Line 22"/>
          <p:cNvSpPr>
            <a:spLocks noChangeShapeType="1"/>
          </p:cNvSpPr>
          <p:nvPr/>
        </p:nvSpPr>
        <p:spPr bwMode="auto">
          <a:xfrm>
            <a:off x="3962400" y="3218656"/>
            <a:ext cx="121920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AutoShape 23"/>
          <p:cNvSpPr>
            <a:spLocks noChangeArrowheads="1"/>
          </p:cNvSpPr>
          <p:nvPr/>
        </p:nvSpPr>
        <p:spPr bwMode="auto">
          <a:xfrm>
            <a:off x="6781800" y="4285456"/>
            <a:ext cx="1447800" cy="762000"/>
          </a:xfrm>
          <a:prstGeom prst="wedgeRectCallout">
            <a:avLst>
              <a:gd name="adj1" fmla="val -144296"/>
              <a:gd name="adj2" fmla="val -26458"/>
            </a:avLst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Atom[i]</a:t>
            </a:r>
          </a:p>
        </p:txBody>
      </p:sp>
      <p:sp>
        <p:nvSpPr>
          <p:cNvPr id="20505" name="AutoShape 24"/>
          <p:cNvSpPr>
            <a:spLocks noChangeArrowheads="1"/>
          </p:cNvSpPr>
          <p:nvPr/>
        </p:nvSpPr>
        <p:spPr bwMode="auto">
          <a:xfrm>
            <a:off x="6705600" y="2913856"/>
            <a:ext cx="1981200" cy="914400"/>
          </a:xfrm>
          <a:prstGeom prst="wedgeRectCallout">
            <a:avLst>
              <a:gd name="adj1" fmla="val -159856"/>
              <a:gd name="adj2" fmla="val 46356"/>
            </a:avLst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Distance to Atom[i]</a:t>
            </a:r>
          </a:p>
        </p:txBody>
      </p:sp>
      <p:sp>
        <p:nvSpPr>
          <p:cNvPr id="20506" name="AutoShape 25"/>
          <p:cNvSpPr>
            <a:spLocks noChangeArrowheads="1"/>
          </p:cNvSpPr>
          <p:nvPr/>
        </p:nvSpPr>
        <p:spPr bwMode="auto">
          <a:xfrm>
            <a:off x="533400" y="3523456"/>
            <a:ext cx="2133600" cy="990600"/>
          </a:xfrm>
          <a:prstGeom prst="wedgeRectCallout">
            <a:avLst>
              <a:gd name="adj1" fmla="val 110046"/>
              <a:gd name="adj2" fmla="val -80287"/>
            </a:avLst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Lattice point being evaluated</a:t>
            </a:r>
          </a:p>
        </p:txBody>
      </p:sp>
    </p:spTree>
    <p:extLst>
      <p:ext uri="{BB962C8B-B14F-4D97-AF65-F5344CB8AC3E}">
        <p14:creationId xmlns:p14="http://schemas.microsoft.com/office/powerpoint/2010/main" val="150657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7F9423-4AB1-008D-7379-F9B55FCEBB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Each call calculates an x-y slice of the energy map</a:t>
            </a:r>
          </a:p>
          <a:p>
            <a:pPr lvl="1"/>
            <a:r>
              <a:rPr lang="en-US" i="1" dirty="0" err="1"/>
              <a:t>energygrid</a:t>
            </a:r>
            <a:r>
              <a:rPr lang="en-US" dirty="0"/>
              <a:t> – pointer to the entire potential map</a:t>
            </a:r>
          </a:p>
          <a:p>
            <a:pPr lvl="1"/>
            <a:r>
              <a:rPr lang="en-US" i="1" dirty="0"/>
              <a:t>grid – the x, y, z dimensions of the potential map</a:t>
            </a:r>
          </a:p>
          <a:p>
            <a:pPr lvl="1"/>
            <a:r>
              <a:rPr lang="en-US" i="1" dirty="0" err="1"/>
              <a:t>gridspacing</a:t>
            </a:r>
            <a:r>
              <a:rPr lang="en-US" i="1" dirty="0"/>
              <a:t> – modeled physical distance between grid points</a:t>
            </a:r>
          </a:p>
          <a:p>
            <a:pPr lvl="1"/>
            <a:r>
              <a:rPr lang="en-US" i="1" dirty="0"/>
              <a:t>z – the z coordinate of the x-y slice being calculated</a:t>
            </a:r>
          </a:p>
          <a:p>
            <a:pPr lvl="1"/>
            <a:r>
              <a:rPr lang="en-US" i="1" dirty="0"/>
              <a:t>atoms – array of x, y, z coordinates and charge of atoms</a:t>
            </a:r>
          </a:p>
          <a:p>
            <a:pPr lvl="1"/>
            <a:r>
              <a:rPr lang="en-US" i="1" dirty="0" err="1"/>
              <a:t>numatoms</a:t>
            </a:r>
            <a:r>
              <a:rPr lang="en-US" i="1" dirty="0"/>
              <a:t> – number of atoms in atoms array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BAA74F-D6C8-4D0E-A86D-56993AC0CE7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Electrostatic Potential Map Calculation Function Overview</a:t>
            </a:r>
          </a:p>
        </p:txBody>
      </p:sp>
    </p:spTree>
    <p:extLst>
      <p:ext uri="{BB962C8B-B14F-4D97-AF65-F5344CB8AC3E}">
        <p14:creationId xmlns:p14="http://schemas.microsoft.com/office/powerpoint/2010/main" val="244242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C3EE7-AE05-5E7F-3372-6ED2992F335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Electrostatic Potential Map Calculation Function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9E931-29F8-F115-FD7D-917692253D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Each call calculates an x-y slice of the energy map</a:t>
            </a:r>
          </a:p>
          <a:p>
            <a:pPr lvl="1"/>
            <a:r>
              <a:rPr lang="en-US" i="1" dirty="0" err="1"/>
              <a:t>energygrid</a:t>
            </a:r>
            <a:r>
              <a:rPr lang="en-US" dirty="0"/>
              <a:t> – pointer to the entire potential map</a:t>
            </a:r>
          </a:p>
          <a:p>
            <a:pPr lvl="1"/>
            <a:r>
              <a:rPr lang="en-US" i="1" dirty="0"/>
              <a:t>grid – the x, y, z dimensions of the potential map</a:t>
            </a:r>
          </a:p>
          <a:p>
            <a:pPr lvl="1"/>
            <a:r>
              <a:rPr lang="en-US" i="1" dirty="0" err="1"/>
              <a:t>gridspacing</a:t>
            </a:r>
            <a:r>
              <a:rPr lang="en-US" i="1" dirty="0"/>
              <a:t> – modeled physical </a:t>
            </a:r>
            <a:r>
              <a:rPr lang="en-US" i="1" dirty="0" err="1"/>
              <a:t>dist</a:t>
            </a:r>
            <a:r>
              <a:rPr lang="en-US" i="1" dirty="0"/>
              <a:t> between grid points</a:t>
            </a:r>
          </a:p>
          <a:p>
            <a:pPr lvl="1"/>
            <a:r>
              <a:rPr lang="en-US" i="1" dirty="0"/>
              <a:t>z – the z coordinate of the x-y slice being calculated</a:t>
            </a:r>
          </a:p>
          <a:p>
            <a:pPr lvl="1"/>
            <a:r>
              <a:rPr lang="en-US" i="1" dirty="0"/>
              <a:t>atoms – array of x, y, z coordinates and charge of atoms</a:t>
            </a:r>
          </a:p>
          <a:p>
            <a:pPr lvl="1"/>
            <a:r>
              <a:rPr lang="en-US" i="1" dirty="0" err="1"/>
              <a:t>numatoms</a:t>
            </a:r>
            <a:r>
              <a:rPr lang="en-US" i="1" dirty="0"/>
              <a:t> – number of atoms in atoms array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47" y="3510859"/>
            <a:ext cx="8181541" cy="2847079"/>
          </a:xfrm>
          <a:prstGeom prst="rect">
            <a:avLst/>
          </a:prstGeom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1950720" y="1557472"/>
            <a:ext cx="381984" cy="2195923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0463" y="1125424"/>
            <a:ext cx="1556805" cy="432048"/>
          </a:xfrm>
          <a:prstGeom prst="rect">
            <a:avLst/>
          </a:prstGeom>
          <a:noFill/>
          <a:ln w="76200">
            <a:solidFill>
              <a:srgbClr val="0049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886CF3-6F05-0A4C-BDF8-B5410E6B5DB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Electrostatic Potential Map Calculation Function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3A1A8-B49B-DA0C-7BB0-9DB2752E49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Each call calculates an x-y slice of the energy map</a:t>
            </a:r>
          </a:p>
          <a:p>
            <a:pPr lvl="1"/>
            <a:r>
              <a:rPr lang="en-US" i="1" dirty="0" err="1"/>
              <a:t>energygrid</a:t>
            </a:r>
            <a:r>
              <a:rPr lang="en-US" dirty="0"/>
              <a:t> – pointer to the entire potential map</a:t>
            </a:r>
          </a:p>
          <a:p>
            <a:pPr lvl="1"/>
            <a:r>
              <a:rPr lang="en-US" i="1" dirty="0"/>
              <a:t>grid – the x, y, z dimensions of the potential map</a:t>
            </a:r>
          </a:p>
          <a:p>
            <a:pPr lvl="1"/>
            <a:r>
              <a:rPr lang="en-US" i="1" dirty="0" err="1"/>
              <a:t>gridspacing</a:t>
            </a:r>
            <a:r>
              <a:rPr lang="en-US" i="1" dirty="0"/>
              <a:t> – modeled physical </a:t>
            </a:r>
            <a:r>
              <a:rPr lang="en-US" i="1" dirty="0" err="1"/>
              <a:t>dist</a:t>
            </a:r>
            <a:r>
              <a:rPr lang="en-US" i="1" dirty="0"/>
              <a:t> between grid points</a:t>
            </a:r>
          </a:p>
          <a:p>
            <a:pPr lvl="1"/>
            <a:r>
              <a:rPr lang="en-US" i="1" dirty="0"/>
              <a:t>z – the z coordinate of the x-y slice being calculated</a:t>
            </a:r>
          </a:p>
          <a:p>
            <a:pPr lvl="1"/>
            <a:r>
              <a:rPr lang="en-US" i="1" dirty="0"/>
              <a:t>atoms – array of x, y, z coordinates and charge of atoms</a:t>
            </a:r>
          </a:p>
          <a:p>
            <a:pPr lvl="1"/>
            <a:r>
              <a:rPr lang="en-US" i="1" dirty="0" err="1"/>
              <a:t>numatoms</a:t>
            </a:r>
            <a:r>
              <a:rPr lang="en-US" i="1" dirty="0"/>
              <a:t> – number of atoms in atoms array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47" y="3885219"/>
            <a:ext cx="8181541" cy="2847079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1792339" y="2301061"/>
            <a:ext cx="1133741" cy="1329326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636493" y="3852055"/>
            <a:ext cx="4032448" cy="15101"/>
          </a:xfrm>
          <a:prstGeom prst="straightConnector1">
            <a:avLst/>
          </a:prstGeom>
          <a:ln w="76200">
            <a:solidFill>
              <a:srgbClr val="00499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195736" y="4197150"/>
            <a:ext cx="0" cy="2535148"/>
          </a:xfrm>
          <a:prstGeom prst="straightConnector1">
            <a:avLst/>
          </a:prstGeom>
          <a:ln w="76200">
            <a:solidFill>
              <a:srgbClr val="00499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1792339" y="2351314"/>
            <a:ext cx="259381" cy="1941782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27622" y="1851520"/>
            <a:ext cx="764717" cy="43204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71346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034BDB-FFA5-2F56-FC8B-F6CB510D235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Electrostatic Potential Map Calculation Function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1B444-7124-7D11-46EE-D3C9F727CF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Each call calculates an x-y slice of the energy map</a:t>
            </a:r>
          </a:p>
          <a:p>
            <a:pPr lvl="1"/>
            <a:r>
              <a:rPr lang="en-US" i="1" dirty="0" err="1"/>
              <a:t>energygrid</a:t>
            </a:r>
            <a:r>
              <a:rPr lang="en-US" dirty="0"/>
              <a:t> – pointer to the entire potential map</a:t>
            </a:r>
          </a:p>
          <a:p>
            <a:pPr lvl="1"/>
            <a:r>
              <a:rPr lang="en-US" i="1" dirty="0"/>
              <a:t>grid – the x, y, z dimensions of the potential map</a:t>
            </a:r>
          </a:p>
          <a:p>
            <a:pPr lvl="1"/>
            <a:r>
              <a:rPr lang="en-US" i="1" dirty="0" err="1"/>
              <a:t>gridspacing</a:t>
            </a:r>
            <a:r>
              <a:rPr lang="en-US" i="1" dirty="0"/>
              <a:t> – modeled physical </a:t>
            </a:r>
            <a:r>
              <a:rPr lang="en-US" i="1" dirty="0" err="1"/>
              <a:t>dist</a:t>
            </a:r>
            <a:r>
              <a:rPr lang="en-US" i="1" dirty="0"/>
              <a:t> between grid points</a:t>
            </a:r>
          </a:p>
          <a:p>
            <a:pPr lvl="1"/>
            <a:r>
              <a:rPr lang="en-US" i="1" dirty="0"/>
              <a:t>z – the z coordinate of the x-y slice being calculated</a:t>
            </a:r>
          </a:p>
          <a:p>
            <a:pPr lvl="1"/>
            <a:r>
              <a:rPr lang="en-US" i="1" dirty="0"/>
              <a:t>atoms – array of x, y, z coordinates and charge of atoms</a:t>
            </a:r>
          </a:p>
          <a:p>
            <a:pPr lvl="1"/>
            <a:r>
              <a:rPr lang="en-US" i="1" dirty="0" err="1"/>
              <a:t>numatoms</a:t>
            </a:r>
            <a:r>
              <a:rPr lang="en-US" i="1" dirty="0"/>
              <a:t> – number of atoms in atoms array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47" y="3885219"/>
            <a:ext cx="8181541" cy="2847079"/>
          </a:xfrm>
          <a:prstGeom prst="rect">
            <a:avLst/>
          </a:prstGeom>
        </p:spPr>
      </p:pic>
      <p:cxnSp>
        <p:nvCxnSpPr>
          <p:cNvPr id="5" name="Straight Arrow Connector 4"/>
          <p:cNvCxnSpPr>
            <a:cxnSpLocks/>
            <a:stCxn id="11" idx="3"/>
          </p:cNvCxnSpPr>
          <p:nvPr/>
        </p:nvCxnSpPr>
        <p:spPr>
          <a:xfrm>
            <a:off x="2555776" y="1960015"/>
            <a:ext cx="309344" cy="1886814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555776" y="4010080"/>
            <a:ext cx="792088" cy="26597"/>
          </a:xfrm>
          <a:prstGeom prst="straightConnector1">
            <a:avLst/>
          </a:prstGeom>
          <a:ln w="76200">
            <a:solidFill>
              <a:srgbClr val="00499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55430" y="1763037"/>
            <a:ext cx="1500346" cy="3939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7481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4B5D8-AFA4-6C37-5DBC-B622099697A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Electrostatic Potential Map Calculation Function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1949B-26D3-4001-D91C-95E0F87026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Each call calculates an x-y slice of the energy map</a:t>
            </a:r>
          </a:p>
          <a:p>
            <a:pPr lvl="1"/>
            <a:r>
              <a:rPr lang="en-US" i="1" dirty="0" err="1"/>
              <a:t>energygrid</a:t>
            </a:r>
            <a:r>
              <a:rPr lang="en-US" dirty="0"/>
              <a:t> – pointer to the entire potential map</a:t>
            </a:r>
          </a:p>
          <a:p>
            <a:pPr lvl="1"/>
            <a:r>
              <a:rPr lang="en-US" i="1" dirty="0"/>
              <a:t>grid – the x, y, z dimensions of the potential map</a:t>
            </a:r>
          </a:p>
          <a:p>
            <a:pPr lvl="1"/>
            <a:r>
              <a:rPr lang="en-US" i="1" dirty="0" err="1"/>
              <a:t>gridspacing</a:t>
            </a:r>
            <a:r>
              <a:rPr lang="en-US" i="1" dirty="0"/>
              <a:t> – modeled physical </a:t>
            </a:r>
            <a:r>
              <a:rPr lang="en-US" i="1" dirty="0" err="1"/>
              <a:t>dist</a:t>
            </a:r>
            <a:r>
              <a:rPr lang="en-US" i="1" dirty="0"/>
              <a:t> between grid points</a:t>
            </a:r>
          </a:p>
          <a:p>
            <a:pPr lvl="1"/>
            <a:r>
              <a:rPr lang="en-US" i="1" dirty="0"/>
              <a:t>z – the z coordinate of the x-y slice being calculated</a:t>
            </a:r>
          </a:p>
          <a:p>
            <a:pPr lvl="1"/>
            <a:r>
              <a:rPr lang="en-US" i="1" dirty="0"/>
              <a:t>atoms – array of x, y, z coordinates and charge of atoms</a:t>
            </a:r>
          </a:p>
          <a:p>
            <a:pPr lvl="1"/>
            <a:r>
              <a:rPr lang="en-US" i="1" dirty="0" err="1"/>
              <a:t>numatoms</a:t>
            </a:r>
            <a:r>
              <a:rPr lang="en-US" i="1" dirty="0"/>
              <a:t> – number of atoms in atoms array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DC40006-6482-4F64-8A16-93CED20BBD39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47" y="3885219"/>
            <a:ext cx="8181541" cy="2847079"/>
          </a:xfrm>
          <a:prstGeom prst="rect">
            <a:avLst/>
          </a:prstGeom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2055223" y="2899954"/>
            <a:ext cx="2954736" cy="2248983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8154" y="2417200"/>
            <a:ext cx="1124757" cy="3939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1982911" y="2899954"/>
            <a:ext cx="1148929" cy="2760887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71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394648" y="1700808"/>
            <a:ext cx="853440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76C951-9000-4A3C-B840-566B5A65719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An Intuitive Sequential C Version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5508104" y="1956840"/>
            <a:ext cx="3172663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Outer loop iterates over 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all atoms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input oriented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3C7DAA7-8A7B-8481-3FAE-DAB72AF57973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02351"/>
            <a:ext cx="8928992" cy="51845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cenergy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(float 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energygrid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, dim3 grid, float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, float z, const float *atoms, int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numatoms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int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atomarrdim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numatoms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* 4; //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x,y,z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, and charge info for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for (int n=0; n&lt;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atomarrdim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 n+=4){ //calculate potential contribution of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float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dz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z - atoms[n+2];  // all grid points in a slice have the same z 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float dz2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dz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dz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int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grid_slice_offset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grid.x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*z) /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float charge = atoms[n+3];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for (int j=0; j&lt;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j++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float y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float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y - atoms[n+1];  // all grid points in a row have the same y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float dy2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int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grid_row_offset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grid_slice_offset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+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grid.x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for (int i=0; i&lt;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grid.x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   float x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   float dx = x - atoms[n    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energygrid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grid_row_offset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+ i] += charge /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sqrtf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(dx*dx + dy2+ dz2);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} }</a:t>
            </a:r>
          </a:p>
        </p:txBody>
      </p:sp>
    </p:spTree>
    <p:extLst>
      <p:ext uri="{BB962C8B-B14F-4D97-AF65-F5344CB8AC3E}">
        <p14:creationId xmlns:p14="http://schemas.microsoft.com/office/powerpoint/2010/main" val="92560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574992" y="1935184"/>
            <a:ext cx="8389496" cy="1005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CBFDBE-E93C-078B-DD9D-A8FD2ADB33E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An Intuitive Sequential C Version (cont.)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3995936" y="2984726"/>
            <a:ext cx="4794262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For each atom</a:t>
            </a:r>
          </a:p>
          <a:p>
            <a:r>
              <a:rPr lang="en-US" sz="2000" dirty="0"/>
              <a:t>pre-calculate quantities that are invariant across all grid points in the slice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A690DA8-08EC-071D-EB3A-EE7A42040A53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cenergy(float *energygrid, dim3 grid, float gridspacing, float z, const float *atoms, int numatoms)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atomarrdim = numatoms * 4; //x,y,z, and charge info for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for (int n=0; n&lt;atomarrdim; n+=4){ //calculate potential contribution of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 = z - atoms[n+2];  // all grid points in a slice have the same z 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dz2 = dz*dz;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int grid_slice_offset = (grid.x*grid.y*z) / gridspacing;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charge = atoms[n+3];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for (int j=0; j&lt;grid.y; j++)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y = gridspacing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 = y - atoms[n+1];  // all grid points in a row have the same y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dy2 = dy*dy;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int grid_row_offset =  grid_slice_offset+ grid.x*j;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for (int i=0; i&lt;grid.x;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x = gridspacing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dx = x - atoms[n    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energygrid[grid_row_offset + i] += charge / sqrtf(dx*dx + dy2+ dz2);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} 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32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755576" y="3201600"/>
            <a:ext cx="8208912" cy="1005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D45BA9-8703-EC46-25D1-EDE4F7A2A73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An Intuitive Sequential C Version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3635896" y="4207440"/>
            <a:ext cx="447484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For each row in the x direction</a:t>
            </a:r>
          </a:p>
          <a:p>
            <a:r>
              <a:rPr lang="en-US" sz="2000" dirty="0" err="1"/>
              <a:t>precalculate</a:t>
            </a:r>
            <a:r>
              <a:rPr lang="en-US" sz="2000" dirty="0"/>
              <a:t> the quantities that do not vary across all grid points in the row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FE520DD-106F-B574-DDF6-39B1FA84E3AF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80728"/>
            <a:ext cx="9036496" cy="51845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cenergy(float *energygrid, dim3 grid, float gridspacing, float z, const float *atoms, int numatoms)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atomarrdim = numatoms * 4; //x,y,z, and charge info for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for (int n=0; n&lt;atomarrdim; n+=4){ //calculate potential contribution of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 = z -atoms[n+2]; //all grid points in a slice have the same z coordinate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dz2 = dz*dz;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int grid_slice_offset = (grid.x*grid.y*z) / gridspacing;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charge = atoms[n+3];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for (int j=0; j&lt;grid.y; j++)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y = gridspacing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 = y - atoms[n+1];  // all grid points in a row have the same y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dy2 = dy*dy;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int grid_row_offset =  grid_slice_offset+ grid.x*j;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for (int i=0; i&lt;grid.x;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x = gridspacing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dx = x - atoms[n];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energygrid[grid_row_offset + i] += charge / sqrtf(dx*dx + dy2+ dz2);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} 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97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1043608" y="4869160"/>
            <a:ext cx="7920880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F7DEF5-1B05-1DF3-3C4C-7A557A7039F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An Intuitive Sequential C Version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3857092" y="5338099"/>
            <a:ext cx="4968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grid point in the current row </a:t>
            </a:r>
          </a:p>
          <a:p>
            <a:r>
              <a:rPr lang="en-US" dirty="0"/>
              <a:t>calculate the contribution of potential from the current atom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A0F8317-6BC2-4A09-DFC1-0DDB01A9671C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cenergy(float *energygrid, dim3 grid, float gridspacing, float z, const float *atoms, int numatoms)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atomarrdim = numatoms * 4; //x,y,z, and charge info for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for (int n=0; n&lt;atomarrdim; n+=4){ //calculate potential contribution of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 = z - atoms[n+2];  // all grid points in a slice have the same z 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dz2 = dz*dz;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int grid_slice_offset = (grid.x*grid.y*z) / gridspacing;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charge = atoms[n+3];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for (int j=0; j&lt;grid.y; j++)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y = gridspacing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 = y - atoms[n+1];  // all grid points in a row have the same y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dy2 = dy*dy;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int grid_row_offset =  grid_slice_offset+ grid.x*j;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for (int i=0; i&lt;grid.x;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x = gridspacing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dx = x - atoms[n    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energygrid[grid_row_offset + i] += charge / sqrtf(dx*dx + dy2+ dz2);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} 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12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of Sequential C Version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Algorithm is input oriented</a:t>
            </a:r>
          </a:p>
          <a:p>
            <a:pPr lvl="1"/>
            <a:r>
              <a:rPr lang="en-US" dirty="0"/>
              <a:t>For each input atom, calculate its contribution to all grid points in an x-y slice</a:t>
            </a:r>
          </a:p>
          <a:p>
            <a:r>
              <a:rPr lang="en-US" dirty="0"/>
              <a:t>Output (</a:t>
            </a:r>
            <a:r>
              <a:rPr lang="en-US" dirty="0" err="1"/>
              <a:t>energygrid</a:t>
            </a:r>
            <a:r>
              <a:rPr lang="en-US" dirty="0"/>
              <a:t>) is very regular</a:t>
            </a:r>
          </a:p>
          <a:p>
            <a:pPr lvl="1"/>
            <a:r>
              <a:rPr lang="en-US" dirty="0"/>
              <a:t>Simple linear mapping between grid point indices and modeled physical coordinates</a:t>
            </a:r>
          </a:p>
          <a:p>
            <a:r>
              <a:rPr lang="en-US" dirty="0"/>
              <a:t>Input (atom) is irregular</a:t>
            </a:r>
          </a:p>
          <a:p>
            <a:pPr lvl="1"/>
            <a:r>
              <a:rPr lang="en-US" dirty="0"/>
              <a:t>Modeled </a:t>
            </a:r>
            <a:r>
              <a:rPr lang="en-US" dirty="0" err="1"/>
              <a:t>x,y,z</a:t>
            </a:r>
            <a:r>
              <a:rPr lang="en-US" dirty="0"/>
              <a:t> coordinate of each atom needs to be stored in the atom array</a:t>
            </a:r>
          </a:p>
          <a:p>
            <a:r>
              <a:rPr lang="en-US" dirty="0"/>
              <a:t>The algorithm is efficient in performing minimal calculations on distances, coordinates, etc.</a:t>
            </a:r>
          </a:p>
        </p:txBody>
      </p:sp>
    </p:spTree>
    <p:extLst>
      <p:ext uri="{BB962C8B-B14F-4D97-AF65-F5344CB8AC3E}">
        <p14:creationId xmlns:p14="http://schemas.microsoft.com/office/powerpoint/2010/main" val="2801540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179D46-3EC8-E267-4EAF-A76340DDF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652" name="Rectangle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Atoms come from modeled molecular structures, solvent (water) and ions</a:t>
            </a:r>
          </a:p>
          <a:p>
            <a:pPr lvl="1"/>
            <a:r>
              <a:rPr lang="en-US" dirty="0"/>
              <a:t>Irregular by necessity</a:t>
            </a:r>
          </a:p>
          <a:p>
            <a:pPr lvl="1"/>
            <a:endParaRPr lang="en-US" dirty="0"/>
          </a:p>
          <a:p>
            <a:r>
              <a:rPr lang="en-US" dirty="0"/>
              <a:t>Energy grid models the electrostatic potential value at regularly spaced points</a:t>
            </a:r>
          </a:p>
          <a:p>
            <a:pPr lvl="1"/>
            <a:r>
              <a:rPr lang="en-US" dirty="0"/>
              <a:t>Regular by design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D18911-5175-1692-4B9A-0A4E77207E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" name="Picture 4" descr="riboions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395" y="3313921"/>
            <a:ext cx="1297297" cy="1130270"/>
          </a:xfr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620047-88D8-3B1A-3EFC-8714CB79E42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Irregular Input vs. Regular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2F2D99B0-301C-4775-AD2B-DA2128F5F69D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AEB806-761A-A9D4-77AC-9D082F4B4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2" y="1978632"/>
            <a:ext cx="4039068" cy="351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8B8E7-0D59-E98B-C635-CF906A303E2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DCS Implementation Overview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08C065-7E3B-367D-4EB0-E4093C9B55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Allocate and initialize potential map memory on host CPU</a:t>
            </a:r>
          </a:p>
          <a:p>
            <a:r>
              <a:rPr lang="en-US" dirty="0"/>
              <a:t>Allocate potential map slice buffer on GPU</a:t>
            </a:r>
          </a:p>
          <a:p>
            <a:r>
              <a:rPr lang="en-US" dirty="0"/>
              <a:t>Preprocess atom coordinates and charges</a:t>
            </a:r>
          </a:p>
          <a:p>
            <a:r>
              <a:rPr lang="en-US" dirty="0"/>
              <a:t>Loop over potential map slices:</a:t>
            </a:r>
          </a:p>
          <a:p>
            <a:pPr lvl="1"/>
            <a:r>
              <a:rPr lang="en-US" dirty="0"/>
              <a:t>Copy potential map slice from host to GPU</a:t>
            </a:r>
          </a:p>
          <a:p>
            <a:pPr lvl="1"/>
            <a:r>
              <a:rPr lang="en-US" dirty="0"/>
              <a:t>Loop over groups of atoms:</a:t>
            </a:r>
          </a:p>
          <a:p>
            <a:pPr lvl="2"/>
            <a:r>
              <a:rPr lang="en-US" dirty="0"/>
              <a:t>Copy atom data to GPU</a:t>
            </a:r>
          </a:p>
          <a:p>
            <a:pPr lvl="2"/>
            <a:r>
              <a:rPr lang="en-US" dirty="0"/>
              <a:t>Run CUDA Kernel on atoms and potential map slice on GPU</a:t>
            </a:r>
          </a:p>
          <a:p>
            <a:pPr lvl="1"/>
            <a:r>
              <a:rPr lang="en-US" dirty="0"/>
              <a:t>Copy potential map slice from GPU to host</a:t>
            </a:r>
          </a:p>
          <a:p>
            <a:r>
              <a:rPr lang="en-US" dirty="0"/>
              <a:t>Free resources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57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3F83A-92D0-3613-E145-4AA57EBCEA9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Straightforward CUDA Parallelization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F1E599-B338-8545-A8D4-094A0D5DD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 each thread to compute the contribution of an atom to all grid points in the current slice</a:t>
            </a:r>
          </a:p>
          <a:p>
            <a:pPr lvl="1"/>
            <a:r>
              <a:rPr lang="en-US" dirty="0"/>
              <a:t>Scatter parallelization</a:t>
            </a:r>
          </a:p>
          <a:p>
            <a:endParaRPr lang="en-US" dirty="0"/>
          </a:p>
          <a:p>
            <a:r>
              <a:rPr lang="en-US" dirty="0"/>
              <a:t>Kernel code largely corresponds to CPU version with outer loop stripped</a:t>
            </a:r>
          </a:p>
          <a:p>
            <a:pPr lvl="1"/>
            <a:r>
              <a:rPr lang="en-US" dirty="0"/>
              <a:t>Each thread corresponds to an outer loop iteration of CPU version</a:t>
            </a:r>
          </a:p>
          <a:p>
            <a:pPr lvl="1"/>
            <a:r>
              <a:rPr lang="en-US" dirty="0" err="1"/>
              <a:t>numatoms</a:t>
            </a:r>
            <a:r>
              <a:rPr lang="en-US" dirty="0"/>
              <a:t> used in kernel launch configuration host code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999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74992" y="1459760"/>
            <a:ext cx="8389496" cy="1249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03D50E-F8FC-481B-D00A-A9B87F45F80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Very Slow DCS Scatter Kernel!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7E70E72-E725-5509-3B01-4F073EC42CDF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 __global__ cenergy(float *energygrid, float *atoms, dim3 grid, float gridspacing, float z)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int n = (blockIdx.x * blockDim .x + threadIdx.x) * 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 = z - atoms[n+2];  // all grid points in a slice have the same z 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dz2 = dz*dz;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int grid_slice_offset = (grid.x*grid.y*z) / gridspacing;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charge = atoms[n+3];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for (int j=0; j&lt;grid.y; j++)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y = gridspacing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 = y - atoms[n+1];  // all grid points in a row have the same y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dy2 = dy*dy;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int grid_row_offset =  grid_slice_offset+ grid.x*j;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for (int i=0; i&lt;grid.x;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x = gridspacing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dx = x - atoms[n    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energygrid[grid_row_offset + i]  += charge / sqrtf(dx*dx + dy2+ dz2));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8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043608" y="4653136"/>
            <a:ext cx="7920880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2EBF2D-5EAF-2496-46D3-DA1F88FD609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Very Slow DCS Scatter Kernel!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29</a:t>
            </a:fld>
            <a:endParaRPr lang="es-ES" dirty="0"/>
          </a:p>
        </p:txBody>
      </p:sp>
      <p:sp>
        <p:nvSpPr>
          <p:cNvPr id="6" name="Rectangular Callout 6"/>
          <p:cNvSpPr>
            <a:spLocks noChangeArrowheads="1"/>
          </p:cNvSpPr>
          <p:nvPr/>
        </p:nvSpPr>
        <p:spPr bwMode="auto">
          <a:xfrm>
            <a:off x="5076056" y="5302949"/>
            <a:ext cx="2895600" cy="646331"/>
          </a:xfrm>
          <a:prstGeom prst="wedgeRectCallout">
            <a:avLst>
              <a:gd name="adj1" fmla="val -62586"/>
              <a:gd name="adj2" fmla="val -116989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/>
              <a:t>Needs to be done as an atomic operation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7DA279C-0A02-5EB4-542B-86A08EA82268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 __global__ cenergy(float *energygrid, float *atoms, dim3 grid, float gridspacing, float z)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int n = (blockIdx.x * blockDim .x + threadIdx.x) * 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 = z - atoms[n+2];  // all grid points in a slice have the same z 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dz2 = dz*dz;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int grid_slice_offset = (grid.x*grid.y*z) / gridspacing;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charge = atoms[n+3];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for (int j=0; j&lt;grid.y; j++)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y = gridspacing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 = y - atoms[n+1];  // all grid points in a row have the same y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dy2 = dy*dy;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int grid_row_offset =  grid_slice_offset+ grid.x*j;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for (int i=0; i&lt;grid.x;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x = gridspacing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float dx = x - atoms[n    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 energygrid[grid_row_offset + i]  += charge / sqrtf(dx*dx + dy2+ dz2));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95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84AC0-076D-C432-1681-5D4B7BD7EF6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Atomic Operations in CUDA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Function calls that are translated into single instructions (a.k.a. </a:t>
            </a:r>
            <a:r>
              <a:rPr lang="en-US" dirty="0" err="1"/>
              <a:t>intrinsics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Atomic add, sub, </a:t>
            </a:r>
            <a:r>
              <a:rPr lang="en-US" dirty="0" err="1"/>
              <a:t>inc</a:t>
            </a:r>
            <a:r>
              <a:rPr lang="en-US" dirty="0"/>
              <a:t>, dec, min, max, </a:t>
            </a:r>
            <a:r>
              <a:rPr lang="en-US" dirty="0" err="1"/>
              <a:t>exch</a:t>
            </a:r>
            <a:r>
              <a:rPr lang="en-US" dirty="0"/>
              <a:t> (exchange), CAS (compare and swap)</a:t>
            </a:r>
          </a:p>
          <a:p>
            <a:pPr lvl="1"/>
            <a:r>
              <a:rPr lang="en-US" dirty="0"/>
              <a:t>Read CUDA C programming Guide 4.0 for details</a:t>
            </a:r>
          </a:p>
          <a:p>
            <a:endParaRPr lang="en-US" dirty="0"/>
          </a:p>
          <a:p>
            <a:r>
              <a:rPr lang="en-US" dirty="0"/>
              <a:t>Atomic Add</a:t>
            </a:r>
          </a:p>
          <a:p>
            <a:pPr marL="457200" lvl="1" indent="0">
              <a:buFontTx/>
              <a:buNone/>
            </a:pPr>
            <a:r>
              <a:rPr lang="en-US" i="1" dirty="0"/>
              <a:t>        int </a:t>
            </a:r>
            <a:r>
              <a:rPr lang="en-US" i="1" dirty="0" err="1"/>
              <a:t>atomicAdd</a:t>
            </a:r>
            <a:r>
              <a:rPr lang="en-US" i="1" dirty="0"/>
              <a:t>(int* </a:t>
            </a:r>
            <a:r>
              <a:rPr lang="en-US" b="1" i="1" dirty="0"/>
              <a:t>address</a:t>
            </a:r>
            <a:r>
              <a:rPr lang="en-US" i="1" dirty="0"/>
              <a:t>, int </a:t>
            </a:r>
            <a:r>
              <a:rPr lang="en-US" b="1" i="1" dirty="0" err="1"/>
              <a:t>val</a:t>
            </a:r>
            <a:r>
              <a:rPr lang="en-US" i="1" dirty="0"/>
              <a:t>); </a:t>
            </a:r>
          </a:p>
          <a:p>
            <a:pPr marL="457200" lvl="1" indent="0">
              <a:buFontTx/>
              <a:buNone/>
            </a:pPr>
            <a:r>
              <a:rPr lang="en-US" dirty="0"/>
              <a:t>reads the 32-bit word </a:t>
            </a:r>
            <a:r>
              <a:rPr lang="en-US" b="1" dirty="0"/>
              <a:t>old </a:t>
            </a:r>
            <a:r>
              <a:rPr lang="en-US" dirty="0"/>
              <a:t>pointed to by </a:t>
            </a:r>
            <a:r>
              <a:rPr lang="en-US" b="1" dirty="0"/>
              <a:t>address </a:t>
            </a:r>
            <a:r>
              <a:rPr lang="en-US" dirty="0"/>
              <a:t>in global or shared memory, computes </a:t>
            </a:r>
            <a:r>
              <a:rPr lang="en-US" b="1" dirty="0"/>
              <a:t>(old + </a:t>
            </a:r>
            <a:r>
              <a:rPr lang="en-US" b="1" dirty="0" err="1"/>
              <a:t>val</a:t>
            </a:r>
            <a:r>
              <a:rPr lang="en-US" b="1" dirty="0"/>
              <a:t>)</a:t>
            </a:r>
            <a:r>
              <a:rPr lang="en-US" dirty="0"/>
              <a:t>, and stores the result back to memory at the same address. The function returns </a:t>
            </a:r>
            <a:r>
              <a:rPr lang="en-US" b="1" dirty="0"/>
              <a:t>old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6625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D0DBF-494F-3961-9CBA-219843E5F22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More Atomic Adds in CUDA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156990-F88E-479F-546C-3A31B01DED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Unsigned 32-bit integer atomic add</a:t>
            </a:r>
          </a:p>
          <a:p>
            <a:pPr lvl="1"/>
            <a:r>
              <a:rPr lang="en-US" dirty="0"/>
              <a:t>unsigned int </a:t>
            </a:r>
            <a:r>
              <a:rPr lang="en-US" dirty="0" err="1"/>
              <a:t>atomicAdd</a:t>
            </a:r>
            <a:r>
              <a:rPr lang="en-US" dirty="0"/>
              <a:t>(unsigned int* address, unsigned int </a:t>
            </a:r>
            <a:r>
              <a:rPr lang="en-US" dirty="0" err="1"/>
              <a:t>val</a:t>
            </a:r>
            <a:r>
              <a:rPr lang="en-US" dirty="0"/>
              <a:t>); </a:t>
            </a:r>
          </a:p>
          <a:p>
            <a:endParaRPr lang="en-US" dirty="0"/>
          </a:p>
          <a:p>
            <a:r>
              <a:rPr lang="en-US" dirty="0"/>
              <a:t>Unsigned 64-bit integer atomic add</a:t>
            </a:r>
          </a:p>
          <a:p>
            <a:pPr lvl="1"/>
            <a:r>
              <a:rPr lang="en-US" dirty="0"/>
              <a:t>unsigned long </a:t>
            </a:r>
            <a:r>
              <a:rPr lang="en-US" dirty="0" err="1"/>
              <a:t>long</a:t>
            </a:r>
            <a:r>
              <a:rPr lang="en-US" dirty="0"/>
              <a:t> int </a:t>
            </a:r>
            <a:r>
              <a:rPr lang="en-US" dirty="0" err="1"/>
              <a:t>atomicAdd</a:t>
            </a:r>
            <a:r>
              <a:rPr lang="en-US" dirty="0"/>
              <a:t>(unsigned long </a:t>
            </a:r>
            <a:r>
              <a:rPr lang="en-US" dirty="0" err="1"/>
              <a:t>long</a:t>
            </a:r>
            <a:r>
              <a:rPr lang="en-US" dirty="0"/>
              <a:t> int* address, unsigned long </a:t>
            </a:r>
            <a:r>
              <a:rPr lang="en-US" dirty="0" err="1"/>
              <a:t>long</a:t>
            </a:r>
            <a:r>
              <a:rPr lang="en-US" dirty="0"/>
              <a:t> int </a:t>
            </a:r>
            <a:r>
              <a:rPr lang="en-US" dirty="0" err="1"/>
              <a:t>val</a:t>
            </a:r>
            <a:r>
              <a:rPr lang="en-US" dirty="0"/>
              <a:t>); </a:t>
            </a:r>
          </a:p>
          <a:p>
            <a:endParaRPr lang="en-US" dirty="0"/>
          </a:p>
          <a:p>
            <a:r>
              <a:rPr lang="en-US" dirty="0"/>
              <a:t>Single-precision floating-point atomic add (capability &gt; 2.0)</a:t>
            </a:r>
          </a:p>
          <a:p>
            <a:pPr lvl="1"/>
            <a:r>
              <a:rPr lang="en-US" dirty="0"/>
              <a:t>float </a:t>
            </a:r>
            <a:r>
              <a:rPr lang="en-US" dirty="0" err="1"/>
              <a:t>atomicAdd</a:t>
            </a:r>
            <a:r>
              <a:rPr lang="en-US" dirty="0"/>
              <a:t>(float* address, float </a:t>
            </a:r>
            <a:r>
              <a:rPr lang="en-US" dirty="0" err="1"/>
              <a:t>val</a:t>
            </a:r>
            <a:r>
              <a:rPr lang="en-US" dirty="0"/>
              <a:t>); </a:t>
            </a:r>
          </a:p>
          <a:p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961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901CE-9A68-1F32-CF74-31053D889B6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Pros and Cons of the Scatter Kernel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Follows closely the simple CPU version</a:t>
            </a:r>
          </a:p>
          <a:p>
            <a:pPr lvl="1"/>
            <a:r>
              <a:rPr lang="en-US" dirty="0"/>
              <a:t>Good for software engineering and code maintenance</a:t>
            </a:r>
          </a:p>
          <a:p>
            <a:pPr lvl="1"/>
            <a:r>
              <a:rPr lang="en-US" dirty="0"/>
              <a:t>Preserves computation efficiency (coordinates, distances, offsets) of sequential code</a:t>
            </a:r>
          </a:p>
          <a:p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The atomic add serializes the execution, very slow!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21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51520" y="2204864"/>
            <a:ext cx="8784976" cy="1008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6D53FC-3C09-B851-2510-FF4BA39C4DD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Slower Sequential C Version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33</a:t>
            </a:fld>
            <a:endParaRPr lang="es-ES"/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6771641" y="1700808"/>
            <a:ext cx="20537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output oriented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6673" y="3305146"/>
            <a:ext cx="3538736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Outer loops iterate over all output grid points </a:t>
            </a:r>
          </a:p>
          <a:p>
            <a:r>
              <a:rPr lang="en-US" sz="2000" dirty="0"/>
              <a:t>Pre-calculate x and y coordinate of the grid point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9A57309-0B9F-B934-EFE8-FB7C82D53A11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1050109"/>
            <a:ext cx="9217024" cy="518457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cenergy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(float 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energygrid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, dim3 grid, float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, float z, const float *atoms, int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numatoms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int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atomarrdim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numatoms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* 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int k = z /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for (int j=0; j&lt;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j++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float y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for (int i=0; i&lt;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grid.x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float x =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gridspacing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float energy = 0.0f;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for (int n=0; n&lt;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atomarrdim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; n+=4){//calculate potential contribution of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  float dx = x - atoms[n    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  float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y - atoms[n+1];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  float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dz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= z - atoms[n+2];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  energy += atoms[n+3] /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sqrtf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(dx*dx +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dz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dz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energygrid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grid.x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grid.y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*k + </a:t>
            </a:r>
            <a:r>
              <a:rPr lang="en-US" sz="1350" dirty="0" err="1">
                <a:latin typeface="Courier New" pitchFamily="49" charset="0"/>
                <a:cs typeface="Courier New" pitchFamily="49" charset="0"/>
              </a:rPr>
              <a:t>grid.x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*j + i] += energy;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193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827584" y="3658672"/>
            <a:ext cx="8208912" cy="1008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4F17E-EE99-2FED-89E9-D88BE26A26A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Slower Sequential C Version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34</a:t>
            </a:fld>
            <a:endParaRPr lang="es-ES"/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3723980" y="4686186"/>
            <a:ext cx="5509843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y and z distances for an atom re-calculated 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for all grid points More redundant work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6CA97AD-BFE0-2C2E-77CC-2E3479D99DC0}"/>
              </a:ext>
            </a:extLst>
          </p:cNvPr>
          <p:cNvSpPr txBox="1">
            <a:spLocks noChangeArrowheads="1"/>
          </p:cNvSpPr>
          <p:nvPr/>
        </p:nvSpPr>
        <p:spPr>
          <a:xfrm>
            <a:off x="-36512" y="980728"/>
            <a:ext cx="9217024" cy="518457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cenergy(float *energygrid, dim3 grid, float gridspacing, float z, const float *atoms, int numatoms)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atomarrdim = numatoms * 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k = z / gridspacing;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for (int j=0; j&lt;grid.y; j++)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float y = gridspacing * (float) 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for (int i=0; i&lt;grid.x; i++)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x = gridspacing * (float) 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float energy = 0.0f;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for (int n=0; n&lt;atomarrdim; n+=4){//calculate potential contribution of each atom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dx = x - atoms[n    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dy = y - atoms[n+1];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dz = z - atoms[n+2];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energy += atoms[n+3] / sqrtf(dx*dx + dy*dy + dz*dz);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energygrid[grid.x*grid.y*k + grid.x*j + i] += energy;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29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BC0D8-A98E-E521-A6F3-4C0E161832A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Pros and Cons of the Slower Sequential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FAA6F3-1825-4DA9-87FE-DDDEA7F52E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Fewer accesses to the </a:t>
            </a:r>
            <a:r>
              <a:rPr lang="en-US" dirty="0" err="1"/>
              <a:t>energygrid</a:t>
            </a:r>
            <a:r>
              <a:rPr lang="en-US" dirty="0"/>
              <a:t> array</a:t>
            </a:r>
          </a:p>
          <a:p>
            <a:pPr lvl="1"/>
            <a:r>
              <a:rPr lang="en-US" dirty="0"/>
              <a:t>Simpler code structure</a:t>
            </a:r>
          </a:p>
          <a:p>
            <a:pPr lvl="1"/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More calculations on the coordinates </a:t>
            </a:r>
          </a:p>
          <a:p>
            <a:pPr lvl="1"/>
            <a:r>
              <a:rPr lang="en-US" dirty="0"/>
              <a:t>More accesses to the atom array </a:t>
            </a:r>
          </a:p>
          <a:p>
            <a:pPr lvl="1"/>
            <a:r>
              <a:rPr lang="en-US" dirty="0"/>
              <a:t>Overall, much slower sequential execution due to the larger number of calculations performed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323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D555D-7484-B78A-F6F4-42ED849E9ED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2400" dirty="0"/>
              <a:t>DCS CUDA Block/Grid Decomposition  </a:t>
            </a:r>
            <a:r>
              <a:rPr lang="en-US" sz="1800" dirty="0"/>
              <a:t>(no thread coarsening)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36</a:t>
            </a:fld>
            <a:endParaRPr lang="es-ES" dirty="0"/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990600" y="5565304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Padding waste</a:t>
            </a: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4419600" y="836712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Grid of thread blocks:</a:t>
            </a:r>
          </a:p>
        </p:txBody>
      </p:sp>
      <p:grpSp>
        <p:nvGrpSpPr>
          <p:cNvPr id="39942" name="Group 5"/>
          <p:cNvGrpSpPr>
            <a:grpSpLocks/>
          </p:cNvGrpSpPr>
          <p:nvPr/>
        </p:nvGrpSpPr>
        <p:grpSpPr bwMode="auto">
          <a:xfrm>
            <a:off x="2057400" y="1298104"/>
            <a:ext cx="6575425" cy="4899025"/>
            <a:chOff x="1440" y="1008"/>
            <a:chExt cx="4142" cy="3086"/>
          </a:xfrm>
        </p:grpSpPr>
        <p:sp>
          <p:nvSpPr>
            <p:cNvPr id="39966" name="Rectangle 6" descr="Large grid"/>
            <p:cNvSpPr>
              <a:spLocks noChangeArrowheads="1"/>
            </p:cNvSpPr>
            <p:nvPr/>
          </p:nvSpPr>
          <p:spPr bwMode="auto">
            <a:xfrm>
              <a:off x="2304" y="1296"/>
              <a:ext cx="3264" cy="2784"/>
            </a:xfrm>
            <a:prstGeom prst="rect">
              <a:avLst/>
            </a:prstGeom>
            <a:pattFill prst="lgGrid">
              <a:fgClr>
                <a:srgbClr val="FF0000"/>
              </a:fgClr>
              <a:bgClr>
                <a:srgbClr val="FFFFFF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en-US"/>
            </a:p>
          </p:txBody>
        </p:sp>
        <p:sp>
          <p:nvSpPr>
            <p:cNvPr id="39967" name="Rectangle 7"/>
            <p:cNvSpPr>
              <a:spLocks noChangeArrowheads="1"/>
            </p:cNvSpPr>
            <p:nvPr/>
          </p:nvSpPr>
          <p:spPr bwMode="auto">
            <a:xfrm>
              <a:off x="2304" y="1296"/>
              <a:ext cx="2784" cy="2352"/>
            </a:xfrm>
            <a:prstGeom prst="rect">
              <a:avLst/>
            </a:prstGeom>
            <a:solidFill>
              <a:srgbClr val="CCCCFF"/>
            </a:solidFill>
            <a:ln w="222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en-US"/>
            </a:p>
          </p:txBody>
        </p:sp>
        <p:cxnSp>
          <p:nvCxnSpPr>
            <p:cNvPr id="39968" name="AutoShape 8"/>
            <p:cNvCxnSpPr>
              <a:cxnSpLocks noChangeShapeType="1"/>
            </p:cNvCxnSpPr>
            <p:nvPr/>
          </p:nvCxnSpPr>
          <p:spPr bwMode="auto">
            <a:xfrm>
              <a:off x="2304" y="2016"/>
              <a:ext cx="3278" cy="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9" name="AutoShape 9"/>
            <p:cNvCxnSpPr>
              <a:cxnSpLocks noChangeShapeType="1"/>
              <a:endCxn id="39966" idx="3"/>
            </p:cNvCxnSpPr>
            <p:nvPr/>
          </p:nvCxnSpPr>
          <p:spPr bwMode="auto">
            <a:xfrm>
              <a:off x="2305" y="2688"/>
              <a:ext cx="3271" cy="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0" name="AutoShape 10"/>
            <p:cNvCxnSpPr>
              <a:cxnSpLocks noChangeShapeType="1"/>
            </p:cNvCxnSpPr>
            <p:nvPr/>
          </p:nvCxnSpPr>
          <p:spPr bwMode="auto">
            <a:xfrm>
              <a:off x="2304" y="3360"/>
              <a:ext cx="3278" cy="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1" name="AutoShape 11"/>
            <p:cNvCxnSpPr>
              <a:cxnSpLocks noChangeShapeType="1"/>
              <a:stCxn id="39966" idx="0"/>
              <a:endCxn id="39966" idx="2"/>
            </p:cNvCxnSpPr>
            <p:nvPr/>
          </p:nvCxnSpPr>
          <p:spPr bwMode="auto">
            <a:xfrm>
              <a:off x="3936" y="1288"/>
              <a:ext cx="0" cy="280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2" name="AutoShape 12"/>
            <p:cNvCxnSpPr>
              <a:cxnSpLocks noChangeShapeType="1"/>
            </p:cNvCxnSpPr>
            <p:nvPr/>
          </p:nvCxnSpPr>
          <p:spPr bwMode="auto">
            <a:xfrm>
              <a:off x="3168" y="1296"/>
              <a:ext cx="0" cy="279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3" name="AutoShape 13"/>
            <p:cNvCxnSpPr>
              <a:cxnSpLocks noChangeShapeType="1"/>
            </p:cNvCxnSpPr>
            <p:nvPr/>
          </p:nvCxnSpPr>
          <p:spPr bwMode="auto">
            <a:xfrm>
              <a:off x="4704" y="1296"/>
              <a:ext cx="0" cy="279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4" name="AutoShape 14"/>
            <p:cNvCxnSpPr>
              <a:cxnSpLocks noChangeShapeType="1"/>
            </p:cNvCxnSpPr>
            <p:nvPr/>
          </p:nvCxnSpPr>
          <p:spPr bwMode="auto">
            <a:xfrm flipH="1">
              <a:off x="1440" y="3648"/>
              <a:ext cx="857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5" name="AutoShape 15"/>
            <p:cNvCxnSpPr>
              <a:cxnSpLocks noChangeShapeType="1"/>
            </p:cNvCxnSpPr>
            <p:nvPr/>
          </p:nvCxnSpPr>
          <p:spPr bwMode="auto">
            <a:xfrm flipH="1">
              <a:off x="1440" y="4080"/>
              <a:ext cx="857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6" name="AutoShape 16"/>
            <p:cNvCxnSpPr>
              <a:cxnSpLocks noChangeShapeType="1"/>
            </p:cNvCxnSpPr>
            <p:nvPr/>
          </p:nvCxnSpPr>
          <p:spPr bwMode="auto">
            <a:xfrm>
              <a:off x="2304" y="1296"/>
              <a:ext cx="3278" cy="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7" name="AutoShape 17"/>
            <p:cNvCxnSpPr>
              <a:cxnSpLocks noChangeShapeType="1"/>
            </p:cNvCxnSpPr>
            <p:nvPr/>
          </p:nvCxnSpPr>
          <p:spPr bwMode="auto">
            <a:xfrm>
              <a:off x="2304" y="1296"/>
              <a:ext cx="0" cy="279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8" name="AutoShape 18"/>
            <p:cNvCxnSpPr>
              <a:cxnSpLocks noChangeShapeType="1"/>
            </p:cNvCxnSpPr>
            <p:nvPr/>
          </p:nvCxnSpPr>
          <p:spPr bwMode="auto">
            <a:xfrm>
              <a:off x="5088" y="1152"/>
              <a:ext cx="1" cy="1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9" name="AutoShape 19"/>
            <p:cNvCxnSpPr>
              <a:cxnSpLocks noChangeShapeType="1"/>
              <a:stCxn id="39984" idx="1"/>
            </p:cNvCxnSpPr>
            <p:nvPr/>
          </p:nvCxnSpPr>
          <p:spPr bwMode="auto">
            <a:xfrm>
              <a:off x="5568" y="1008"/>
              <a:ext cx="1" cy="43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0" name="AutoShape 20"/>
            <p:cNvCxnSpPr>
              <a:cxnSpLocks noChangeShapeType="1"/>
            </p:cNvCxnSpPr>
            <p:nvPr/>
          </p:nvCxnSpPr>
          <p:spPr bwMode="auto">
            <a:xfrm flipV="1">
              <a:off x="2160" y="369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1" name="AutoShape 21"/>
            <p:cNvCxnSpPr>
              <a:cxnSpLocks noChangeShapeType="1"/>
            </p:cNvCxnSpPr>
            <p:nvPr/>
          </p:nvCxnSpPr>
          <p:spPr bwMode="auto">
            <a:xfrm flipH="1">
              <a:off x="1440" y="1296"/>
              <a:ext cx="857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2" name="AutoShape 22"/>
            <p:cNvCxnSpPr>
              <a:cxnSpLocks noChangeShapeType="1"/>
            </p:cNvCxnSpPr>
            <p:nvPr/>
          </p:nvCxnSpPr>
          <p:spPr bwMode="auto">
            <a:xfrm flipV="1">
              <a:off x="2160" y="1344"/>
              <a:ext cx="0" cy="22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3" name="AutoShape 23"/>
            <p:cNvCxnSpPr>
              <a:cxnSpLocks noChangeShapeType="1"/>
              <a:stCxn id="39984" idx="0"/>
            </p:cNvCxnSpPr>
            <p:nvPr/>
          </p:nvCxnSpPr>
          <p:spPr bwMode="auto">
            <a:xfrm>
              <a:off x="2304" y="1008"/>
              <a:ext cx="1" cy="43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984" name="Line 24"/>
            <p:cNvSpPr>
              <a:spLocks noChangeShapeType="1"/>
            </p:cNvSpPr>
            <p:nvPr/>
          </p:nvSpPr>
          <p:spPr bwMode="auto">
            <a:xfrm>
              <a:off x="2304" y="1008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5" name="Text Box 25"/>
            <p:cNvSpPr txBox="1">
              <a:spLocks noChangeArrowheads="1"/>
            </p:cNvSpPr>
            <p:nvPr/>
          </p:nvSpPr>
          <p:spPr bwMode="auto">
            <a:xfrm>
              <a:off x="2544" y="148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0,0</a:t>
              </a:r>
            </a:p>
          </p:txBody>
        </p:sp>
        <p:sp>
          <p:nvSpPr>
            <p:cNvPr id="39986" name="Text Box 26"/>
            <p:cNvSpPr txBox="1">
              <a:spLocks noChangeArrowheads="1"/>
            </p:cNvSpPr>
            <p:nvPr/>
          </p:nvSpPr>
          <p:spPr bwMode="auto">
            <a:xfrm>
              <a:off x="3312" y="148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0,1</a:t>
              </a:r>
            </a:p>
          </p:txBody>
        </p:sp>
        <p:sp>
          <p:nvSpPr>
            <p:cNvPr id="39987" name="Text Box 27"/>
            <p:cNvSpPr txBox="1">
              <a:spLocks noChangeArrowheads="1"/>
            </p:cNvSpPr>
            <p:nvPr/>
          </p:nvSpPr>
          <p:spPr bwMode="auto">
            <a:xfrm>
              <a:off x="2544" y="216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1,0</a:t>
              </a:r>
            </a:p>
          </p:txBody>
        </p:sp>
        <p:sp>
          <p:nvSpPr>
            <p:cNvPr id="39988" name="Text Box 28"/>
            <p:cNvSpPr txBox="1">
              <a:spLocks noChangeArrowheads="1"/>
            </p:cNvSpPr>
            <p:nvPr/>
          </p:nvSpPr>
          <p:spPr bwMode="auto">
            <a:xfrm>
              <a:off x="3312" y="216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1,1</a:t>
              </a:r>
            </a:p>
          </p:txBody>
        </p:sp>
        <p:sp>
          <p:nvSpPr>
            <p:cNvPr id="39989" name="Text Box 29"/>
            <p:cNvSpPr txBox="1">
              <a:spLocks noChangeArrowheads="1"/>
            </p:cNvSpPr>
            <p:nvPr/>
          </p:nvSpPr>
          <p:spPr bwMode="auto">
            <a:xfrm>
              <a:off x="4128" y="148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39990" name="Text Box 30"/>
            <p:cNvSpPr txBox="1">
              <a:spLocks noChangeArrowheads="1"/>
            </p:cNvSpPr>
            <p:nvPr/>
          </p:nvSpPr>
          <p:spPr bwMode="auto">
            <a:xfrm>
              <a:off x="4128" y="216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39991" name="Text Box 31"/>
            <p:cNvSpPr txBox="1">
              <a:spLocks noChangeArrowheads="1"/>
            </p:cNvSpPr>
            <p:nvPr/>
          </p:nvSpPr>
          <p:spPr bwMode="auto">
            <a:xfrm>
              <a:off x="2544" y="288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39992" name="Text Box 32"/>
            <p:cNvSpPr txBox="1">
              <a:spLocks noChangeArrowheads="1"/>
            </p:cNvSpPr>
            <p:nvPr/>
          </p:nvSpPr>
          <p:spPr bwMode="auto">
            <a:xfrm>
              <a:off x="3312" y="288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39993" name="Text Box 33"/>
            <p:cNvSpPr txBox="1">
              <a:spLocks noChangeArrowheads="1"/>
            </p:cNvSpPr>
            <p:nvPr/>
          </p:nvSpPr>
          <p:spPr bwMode="auto">
            <a:xfrm>
              <a:off x="4128" y="288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Arial" charset="0"/>
                </a:defRPr>
              </a:lvl2pPr>
              <a:lvl3pPr>
                <a:defRPr sz="2000">
                  <a:solidFill>
                    <a:srgbClr val="000000"/>
                  </a:solidFill>
                  <a:latin typeface="Arial" charset="0"/>
                </a:defRPr>
              </a:lvl3pPr>
              <a:lvl4pPr>
                <a:defRPr sz="2000">
                  <a:solidFill>
                    <a:srgbClr val="000000"/>
                  </a:solidFill>
                  <a:latin typeface="Arial" charset="0"/>
                </a:defRPr>
              </a:lvl4pPr>
              <a:lvl5pPr>
                <a:defRPr sz="2000">
                  <a:solidFill>
                    <a:srgbClr val="000000"/>
                  </a:solidFill>
                  <a:latin typeface="Arial" charset="0"/>
                </a:defRPr>
              </a:lvl5pPr>
              <a:lvl6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6pPr>
              <a:lvl7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7pPr>
              <a:lvl8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8pPr>
              <a:lvl9pPr eaLnBrk="0" hangingPunct="0">
                <a:defRPr sz="2000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…</a:t>
              </a:r>
            </a:p>
          </p:txBody>
        </p:sp>
      </p:grpSp>
      <p:sp>
        <p:nvSpPr>
          <p:cNvPr id="39943" name="Text Box 34"/>
          <p:cNvSpPr txBox="1">
            <a:spLocks noChangeArrowheads="1"/>
          </p:cNvSpPr>
          <p:nvPr/>
        </p:nvSpPr>
        <p:spPr bwMode="auto">
          <a:xfrm>
            <a:off x="609600" y="1755304"/>
            <a:ext cx="2209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Thread blocks: 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64-256 threads</a:t>
            </a:r>
          </a:p>
        </p:txBody>
      </p:sp>
      <p:sp>
        <p:nvSpPr>
          <p:cNvPr id="39944" name="AutoShape 35"/>
          <p:cNvSpPr>
            <a:spLocks noChangeArrowheads="1"/>
          </p:cNvSpPr>
          <p:nvPr/>
        </p:nvSpPr>
        <p:spPr bwMode="auto">
          <a:xfrm>
            <a:off x="762000" y="2745904"/>
            <a:ext cx="1752600" cy="1219200"/>
          </a:xfrm>
          <a:prstGeom prst="wedgeRectCallout">
            <a:avLst>
              <a:gd name="adj1" fmla="val 146829"/>
              <a:gd name="adj2" fmla="val 84634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cxnSp>
        <p:nvCxnSpPr>
          <p:cNvPr id="39945" name="AutoShape 36"/>
          <p:cNvCxnSpPr>
            <a:cxnSpLocks noChangeShapeType="1"/>
            <a:stCxn id="39944" idx="1"/>
            <a:endCxn id="39944" idx="3"/>
          </p:cNvCxnSpPr>
          <p:nvPr/>
        </p:nvCxnSpPr>
        <p:spPr bwMode="auto">
          <a:xfrm>
            <a:off x="762000" y="3355504"/>
            <a:ext cx="1752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6" name="AutoShape 37"/>
          <p:cNvCxnSpPr>
            <a:cxnSpLocks noChangeShapeType="1"/>
          </p:cNvCxnSpPr>
          <p:nvPr/>
        </p:nvCxnSpPr>
        <p:spPr bwMode="auto">
          <a:xfrm>
            <a:off x="762000" y="3507904"/>
            <a:ext cx="1752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7" name="AutoShape 38"/>
          <p:cNvCxnSpPr>
            <a:cxnSpLocks noChangeShapeType="1"/>
          </p:cNvCxnSpPr>
          <p:nvPr/>
        </p:nvCxnSpPr>
        <p:spPr bwMode="auto">
          <a:xfrm>
            <a:off x="762000" y="3660304"/>
            <a:ext cx="1752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AutoShape 39"/>
          <p:cNvCxnSpPr>
            <a:cxnSpLocks noChangeShapeType="1"/>
          </p:cNvCxnSpPr>
          <p:nvPr/>
        </p:nvCxnSpPr>
        <p:spPr bwMode="auto">
          <a:xfrm>
            <a:off x="762000" y="3812704"/>
            <a:ext cx="1752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9" name="AutoShape 40"/>
          <p:cNvCxnSpPr>
            <a:cxnSpLocks noChangeShapeType="1"/>
          </p:cNvCxnSpPr>
          <p:nvPr/>
        </p:nvCxnSpPr>
        <p:spPr bwMode="auto">
          <a:xfrm>
            <a:off x="762000" y="3203104"/>
            <a:ext cx="1752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0" name="AutoShape 41"/>
          <p:cNvCxnSpPr>
            <a:cxnSpLocks noChangeShapeType="1"/>
          </p:cNvCxnSpPr>
          <p:nvPr/>
        </p:nvCxnSpPr>
        <p:spPr bwMode="auto">
          <a:xfrm>
            <a:off x="762000" y="3050704"/>
            <a:ext cx="1752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1" name="AutoShape 42"/>
          <p:cNvCxnSpPr>
            <a:cxnSpLocks noChangeShapeType="1"/>
          </p:cNvCxnSpPr>
          <p:nvPr/>
        </p:nvCxnSpPr>
        <p:spPr bwMode="auto">
          <a:xfrm>
            <a:off x="762000" y="2898304"/>
            <a:ext cx="1752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AutoShape 43"/>
          <p:cNvCxnSpPr>
            <a:cxnSpLocks noChangeShapeType="1"/>
          </p:cNvCxnSpPr>
          <p:nvPr/>
        </p:nvCxnSpPr>
        <p:spPr bwMode="auto">
          <a:xfrm>
            <a:off x="13716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AutoShape 44"/>
          <p:cNvCxnSpPr>
            <a:cxnSpLocks noChangeShapeType="1"/>
          </p:cNvCxnSpPr>
          <p:nvPr/>
        </p:nvCxnSpPr>
        <p:spPr bwMode="auto">
          <a:xfrm>
            <a:off x="15240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4" name="AutoShape 45"/>
          <p:cNvCxnSpPr>
            <a:cxnSpLocks noChangeShapeType="1"/>
          </p:cNvCxnSpPr>
          <p:nvPr/>
        </p:nvCxnSpPr>
        <p:spPr bwMode="auto">
          <a:xfrm>
            <a:off x="19812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5" name="AutoShape 46"/>
          <p:cNvCxnSpPr>
            <a:cxnSpLocks noChangeShapeType="1"/>
          </p:cNvCxnSpPr>
          <p:nvPr/>
        </p:nvCxnSpPr>
        <p:spPr bwMode="auto">
          <a:xfrm>
            <a:off x="21336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6" name="AutoShape 47"/>
          <p:cNvCxnSpPr>
            <a:cxnSpLocks noChangeShapeType="1"/>
          </p:cNvCxnSpPr>
          <p:nvPr/>
        </p:nvCxnSpPr>
        <p:spPr bwMode="auto">
          <a:xfrm>
            <a:off x="10668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7" name="AutoShape 48"/>
          <p:cNvCxnSpPr>
            <a:cxnSpLocks noChangeShapeType="1"/>
          </p:cNvCxnSpPr>
          <p:nvPr/>
        </p:nvCxnSpPr>
        <p:spPr bwMode="auto">
          <a:xfrm>
            <a:off x="9144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8" name="AutoShape 49"/>
          <p:cNvCxnSpPr>
            <a:cxnSpLocks noChangeShapeType="1"/>
          </p:cNvCxnSpPr>
          <p:nvPr/>
        </p:nvCxnSpPr>
        <p:spPr bwMode="auto">
          <a:xfrm>
            <a:off x="12192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9" name="AutoShape 50"/>
          <p:cNvCxnSpPr>
            <a:cxnSpLocks noChangeShapeType="1"/>
          </p:cNvCxnSpPr>
          <p:nvPr/>
        </p:nvCxnSpPr>
        <p:spPr bwMode="auto">
          <a:xfrm>
            <a:off x="25146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0" name="AutoShape 51"/>
          <p:cNvCxnSpPr>
            <a:cxnSpLocks noChangeShapeType="1"/>
          </p:cNvCxnSpPr>
          <p:nvPr/>
        </p:nvCxnSpPr>
        <p:spPr bwMode="auto">
          <a:xfrm>
            <a:off x="23622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1" name="AutoShape 52"/>
          <p:cNvCxnSpPr>
            <a:cxnSpLocks noChangeShapeType="1"/>
          </p:cNvCxnSpPr>
          <p:nvPr/>
        </p:nvCxnSpPr>
        <p:spPr bwMode="auto">
          <a:xfrm>
            <a:off x="16764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2" name="AutoShape 53"/>
          <p:cNvCxnSpPr>
            <a:cxnSpLocks noChangeShapeType="1"/>
          </p:cNvCxnSpPr>
          <p:nvPr/>
        </p:nvCxnSpPr>
        <p:spPr bwMode="auto">
          <a:xfrm>
            <a:off x="1828800" y="2745904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63" name="Rectangle 54"/>
          <p:cNvSpPr>
            <a:spLocks noChangeArrowheads="1"/>
          </p:cNvSpPr>
          <p:nvPr/>
        </p:nvSpPr>
        <p:spPr bwMode="auto">
          <a:xfrm>
            <a:off x="1524000" y="3660304"/>
            <a:ext cx="152400" cy="1524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9964" name="AutoShape 55"/>
          <p:cNvSpPr>
            <a:spLocks noChangeArrowheads="1"/>
          </p:cNvSpPr>
          <p:nvPr/>
        </p:nvSpPr>
        <p:spPr bwMode="auto">
          <a:xfrm>
            <a:off x="304800" y="4117504"/>
            <a:ext cx="2590800" cy="1219200"/>
          </a:xfrm>
          <a:prstGeom prst="wedgeRectCallout">
            <a:avLst>
              <a:gd name="adj1" fmla="val -551"/>
              <a:gd name="adj2" fmla="val -80468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9965" name="Text Box 56"/>
          <p:cNvSpPr txBox="1">
            <a:spLocks noChangeArrowheads="1"/>
          </p:cNvSpPr>
          <p:nvPr/>
        </p:nvSpPr>
        <p:spPr bwMode="auto">
          <a:xfrm>
            <a:off x="381000" y="4346104"/>
            <a:ext cx="2362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Threads compute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1 potential each</a:t>
            </a:r>
          </a:p>
        </p:txBody>
      </p:sp>
    </p:spTree>
    <p:extLst>
      <p:ext uri="{BB962C8B-B14F-4D97-AF65-F5344CB8AC3E}">
        <p14:creationId xmlns:p14="http://schemas.microsoft.com/office/powerpoint/2010/main" val="357168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68240" y="1628800"/>
            <a:ext cx="8640960" cy="13681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3AF2D6-DEE6-D775-E0BE-F282559BFD2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2400" dirty="0"/>
              <a:t>A Fast DCS CUDA Gather Kernel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37</a:t>
            </a:fld>
            <a:endParaRPr lang="es-ES"/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5508104" y="1167135"/>
            <a:ext cx="32239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one thread per grid point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1BD9F0B-57B7-267A-776F-FDDBBBA99E72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__global__ cenergy(float *energygrid, dim3 grid, float gridspacing, float z, float *atoms, int numatoms) {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i = blockIdx.x * blockDim.x + threadIdx.x;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j = blockIdx.y * blockDim.y + threadIdx.y;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atomarrdim = numatoms * 4;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k = z / gridspacing;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float y = gridspacing * (float) j;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float x = gridspacing * (float) i;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float energy = 0.0f;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for (int n=0; n&lt;atomarrdim; n+=4) {     // calculate potential contribution of each atom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dx = x - atoms[n    ];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dy = y - atoms[n+1];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dz = z - atoms[n+2];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energy += atoms[n+3] / sqrtf(dx*dx + dy*dy + dz*dz);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energygrid[grid.x*grid.y*k + grid.x*j + i] += energy;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97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68240" y="3212976"/>
            <a:ext cx="8640960" cy="1584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837FE4-0C25-B5B6-F881-54E159259BF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2400" dirty="0"/>
              <a:t>A Fast DCS CUDA Gather Kernel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38</a:t>
            </a:fld>
            <a:endParaRPr lang="es-ES"/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807208" y="2420888"/>
            <a:ext cx="540949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>
              <a:defRPr sz="2000">
                <a:solidFill>
                  <a:srgbClr val="000000"/>
                </a:solidFill>
                <a:latin typeface="Arial" charset="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rgbClr val="000000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rgbClr val="000000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rgbClr val="000000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All threads access all atoms in same order</a:t>
            </a:r>
          </a:p>
          <a:p>
            <a:pPr algn="ctr">
              <a:buClr>
                <a:srgbClr val="000000"/>
              </a:buClr>
              <a:buSzPct val="100000"/>
            </a:pPr>
            <a:r>
              <a:rPr lang="en-US" sz="2400" dirty="0">
                <a:solidFill>
                  <a:srgbClr val="004990"/>
                </a:solidFill>
                <a:latin typeface="Times New Roman" pitchFamily="18" charset="0"/>
              </a:rPr>
              <a:t>Consolidated writes to grid points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DD067F4-667B-85E7-DAEB-03D72898449A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void __global__ cenergy(float *energygrid, dim3 grid, float gridspacing, float z, float *atoms, int numatoms) {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i = blockIdx.x * blockDim.x + threadIdx.x;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j = blockIdx.y * blockDim.y + threadIdx.y;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atomarrdim = numatoms * 4;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int k = z / gridspacing;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float y = gridspacing * (float) j;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float x = gridspacing * (float) i;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float energy = 0.0f;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for (int n=0; n&lt;atomarrdim; n+=4) {     // calculate potential contribution of each atom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dx = x - atoms[n    ];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dy = y - atoms[n+1];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float dz = z - atoms[n+2];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  energy += atoms[n+3] / sqrtf(dx*dx + dy*dy + dz*dz);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   energygrid[grid.x*grid.y*k + grid.x*j + i] += energy;</a:t>
            </a:r>
          </a:p>
          <a:p>
            <a:pPr>
              <a:buFontTx/>
              <a:buNone/>
            </a:pPr>
            <a:r>
              <a:rPr lang="en-US" sz="1350">
                <a:latin typeface="Courier New" pitchFamily="49" charset="0"/>
                <a:cs typeface="Courier New" pitchFamily="49" charset="0"/>
              </a:rPr>
              <a:t>}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Conten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Additional Comments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B6E3D-6FA2-3CB4-A1F4-CCC49E715F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Further optimizations</a:t>
            </a:r>
          </a:p>
          <a:p>
            <a:pPr lvl="1"/>
            <a:r>
              <a:rPr lang="en-US" dirty="0" err="1"/>
              <a:t>dz</a:t>
            </a:r>
            <a:r>
              <a:rPr lang="en-US" dirty="0"/>
              <a:t>*</a:t>
            </a:r>
            <a:r>
              <a:rPr lang="en-US" dirty="0" err="1"/>
              <a:t>dz</a:t>
            </a:r>
            <a:r>
              <a:rPr lang="en-US" dirty="0"/>
              <a:t> can be pre-calculated and sent in place of z</a:t>
            </a:r>
          </a:p>
          <a:p>
            <a:pPr lvl="1"/>
            <a:endParaRPr lang="en-US" dirty="0"/>
          </a:p>
          <a:p>
            <a:r>
              <a:rPr lang="en-US" dirty="0"/>
              <a:t>Gather kernel is much faster than a scatter kernel</a:t>
            </a:r>
          </a:p>
          <a:p>
            <a:pPr lvl="1"/>
            <a:r>
              <a:rPr lang="en-US" dirty="0"/>
              <a:t>No serialization due to atomic operations</a:t>
            </a:r>
          </a:p>
          <a:p>
            <a:pPr lvl="1"/>
            <a:endParaRPr lang="en-US" dirty="0"/>
          </a:p>
          <a:p>
            <a:r>
              <a:rPr lang="en-US" dirty="0"/>
              <a:t>Compute efficient sequential algorithm does not translate into the fast parallel algorithm</a:t>
            </a:r>
          </a:p>
          <a:p>
            <a:pPr lvl="1"/>
            <a:r>
              <a:rPr lang="en-US" dirty="0"/>
              <a:t>Gather vs. scatter is a big factor</a:t>
            </a:r>
          </a:p>
          <a:p>
            <a:pPr lvl="1"/>
            <a:r>
              <a:rPr lang="en-US" dirty="0"/>
              <a:t>But we will come back to this point later!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384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68333A-D824-91CB-E178-14F142B8445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Even More Comments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F401DF-32C3-2420-E0CC-50DD4A6244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modern CPUs, cache effectiveness is often more important than compute efficiency</a:t>
            </a:r>
          </a:p>
          <a:p>
            <a:endParaRPr lang="en-US" dirty="0"/>
          </a:p>
          <a:p>
            <a:r>
              <a:rPr lang="en-US" dirty="0"/>
              <a:t>The input oriented (scatter) sequential code actually has very bad cache performance</a:t>
            </a:r>
          </a:p>
          <a:p>
            <a:pPr lvl="1"/>
            <a:r>
              <a:rPr lang="en-US" dirty="0" err="1"/>
              <a:t>energygrid</a:t>
            </a:r>
            <a:r>
              <a:rPr lang="en-US" dirty="0"/>
              <a:t>[] is a very large array, typically 20+ times larger than atom[]</a:t>
            </a:r>
          </a:p>
          <a:p>
            <a:pPr lvl="1"/>
            <a:r>
              <a:rPr lang="en-US" dirty="0"/>
              <a:t>The input oriented sequential code sweeps through the large data structure for each atom, trashing cache.</a:t>
            </a:r>
          </a:p>
          <a:p>
            <a:endParaRPr lang="en-US" dirty="0"/>
          </a:p>
          <a:p>
            <a:r>
              <a:rPr lang="en-US" dirty="0"/>
              <a:t>The fastest sequential code is actually an optimized output-oriented code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4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A1EE3D-A196-1415-AC35-483F01C62ED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Outline of A Fast Sequential Code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54016-83EF-6CF2-5930-B769F3CB01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41</a:t>
            </a:fld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648234" y="1484784"/>
            <a:ext cx="2376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additional pre-computed arrays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292080" y="1844824"/>
            <a:ext cx="1296144" cy="72008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6636237" y="2131115"/>
            <a:ext cx="600059" cy="361781"/>
          </a:xfrm>
          <a:prstGeom prst="straightConnector1">
            <a:avLst/>
          </a:prstGeom>
          <a:ln w="76200">
            <a:solidFill>
              <a:srgbClr val="0049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92FB39-F581-D73A-E149-9DD1EC146981}"/>
              </a:ext>
            </a:extLst>
          </p:cNvPr>
          <p:cNvSpPr txBox="1">
            <a:spLocks/>
          </p:cNvSpPr>
          <p:nvPr/>
        </p:nvSpPr>
        <p:spPr>
          <a:xfrm>
            <a:off x="107504" y="980728"/>
            <a:ext cx="8928992" cy="51845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for all z {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for all atoms {precompute dz</a:t>
            </a:r>
            <a:r>
              <a:rPr lang="en-US" sz="2000" baseline="30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for all y {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for all atoms {precompute dy</a:t>
            </a:r>
            <a:r>
              <a:rPr lang="en-US" sz="2000" baseline="30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(+ dz</a:t>
            </a:r>
            <a:r>
              <a:rPr lang="en-US" sz="2000" baseline="30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 }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for all x {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for all atoms {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       compute contribution to current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x,y,z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point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   using precomputed dy</a:t>
            </a:r>
            <a:r>
              <a:rPr lang="en-US" sz="2000" baseline="30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and dz</a:t>
            </a:r>
            <a:r>
              <a:rPr lang="en-US" sz="2000" baseline="30000" dirty="0">
                <a:latin typeface="Courier New" pitchFamily="49" charset="0"/>
                <a:cs typeface="Courier New" pitchFamily="49" charset="0"/>
              </a:rPr>
              <a:t>2</a:t>
            </a:r>
          </a:p>
          <a:p>
            <a:pPr>
              <a:buFont typeface="Arial" charset="0"/>
              <a:buNone/>
            </a:pPr>
            <a:r>
              <a:rPr lang="en-US" sz="2000" baseline="300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}   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}   </a:t>
            </a:r>
          </a:p>
          <a:p>
            <a:pPr>
              <a:buFont typeface="Arial" charset="0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127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C0A60-3ACB-727D-4DB3-2223A46C288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More Thoughts on Fast Sequential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8D248D-4FE1-A87F-546A-7D6B046B68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Needs temporary arrays for pre-calculated dz</a:t>
            </a:r>
            <a:r>
              <a:rPr lang="en-US" baseline="30000" dirty="0"/>
              <a:t>2</a:t>
            </a:r>
            <a:r>
              <a:rPr lang="en-US" dirty="0"/>
              <a:t> and dy</a:t>
            </a:r>
            <a:r>
              <a:rPr lang="en-US" baseline="30000" dirty="0"/>
              <a:t>2</a:t>
            </a:r>
            <a:r>
              <a:rPr lang="en-US" dirty="0"/>
              <a:t> + dz</a:t>
            </a:r>
            <a:r>
              <a:rPr lang="en-US" baseline="30000" dirty="0"/>
              <a:t>2</a:t>
            </a:r>
            <a:r>
              <a:rPr lang="en-US" dirty="0"/>
              <a:t> values</a:t>
            </a:r>
          </a:p>
          <a:p>
            <a:endParaRPr lang="en-US" dirty="0"/>
          </a:p>
          <a:p>
            <a:r>
              <a:rPr lang="en-US" dirty="0"/>
              <a:t>So, why does this code have better cache behavior on CPUs?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43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EDB5C-DF2D-18F2-5E37-A1ED801201E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More Thoughts on Fast Sequential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1BB519-5F6B-D3EE-EF89-F73A37B1E9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Needs temporary arrays for pre-calculated dz</a:t>
            </a:r>
            <a:r>
              <a:rPr lang="en-US" baseline="30000" dirty="0"/>
              <a:t>2</a:t>
            </a:r>
            <a:r>
              <a:rPr lang="en-US" dirty="0"/>
              <a:t> and dy</a:t>
            </a:r>
            <a:r>
              <a:rPr lang="en-US" baseline="30000" dirty="0"/>
              <a:t>2</a:t>
            </a:r>
            <a:r>
              <a:rPr lang="en-US" dirty="0"/>
              <a:t> + dz</a:t>
            </a:r>
            <a:r>
              <a:rPr lang="en-US" baseline="30000" dirty="0"/>
              <a:t>2</a:t>
            </a:r>
            <a:r>
              <a:rPr lang="en-US" dirty="0"/>
              <a:t> values</a:t>
            </a:r>
          </a:p>
          <a:p>
            <a:endParaRPr lang="en-US" dirty="0"/>
          </a:p>
          <a:p>
            <a:r>
              <a:rPr lang="en-US" dirty="0"/>
              <a:t>So, why does this code have better cache behavior on CPUs? </a:t>
            </a:r>
          </a:p>
          <a:p>
            <a:endParaRPr lang="en-US" dirty="0"/>
          </a:p>
          <a:p>
            <a:r>
              <a:rPr lang="en-US" dirty="0"/>
              <a:t>Answer: the atom data structure is much smaller than the grid structure in practice. </a:t>
            </a:r>
          </a:p>
          <a:p>
            <a:pPr lvl="1"/>
            <a:r>
              <a:rPr lang="en-US" dirty="0"/>
              <a:t>Sweeping the atom data structure multiple times is more efficient since each sweep will likely find the data that was brought into cache by the previous sweep.</a:t>
            </a:r>
          </a:p>
          <a:p>
            <a:pPr lvl="1"/>
            <a:r>
              <a:rPr lang="en-US" dirty="0"/>
              <a:t>Writing high performance sequential code or parallel code is an engineering design effort, the tradeoffs often depends on data sizes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01088" y="6357938"/>
            <a:ext cx="442912" cy="412750"/>
          </a:xfrm>
          <a:prstGeom prst="rect">
            <a:avLst/>
          </a:prstGeom>
        </p:spPr>
        <p:txBody>
          <a:bodyPr/>
          <a:lstStyle/>
          <a:p>
            <a:fld id="{4A490C5D-AEA8-4823-B9B3-806910A0ECF7}" type="slidenum">
              <a:rPr lang="es-ES" smtClean="0"/>
              <a:pPr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302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292855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448</TotalTime>
  <Words>4861</Words>
  <Application>Microsoft Office PowerPoint</Application>
  <PresentationFormat>On-screen Show (4:3)</PresentationFormat>
  <Paragraphs>561</Paragraphs>
  <Slides>44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Sequential C 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66</cp:revision>
  <dcterms:created xsi:type="dcterms:W3CDTF">2022-03-30T06:33:52Z</dcterms:created>
  <dcterms:modified xsi:type="dcterms:W3CDTF">2022-10-18T05:55:20Z</dcterms:modified>
</cp:coreProperties>
</file>