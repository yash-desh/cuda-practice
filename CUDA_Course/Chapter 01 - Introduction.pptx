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0"/>
  </p:handoutMasterIdLst>
  <p:sldIdLst>
    <p:sldId id="270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135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zzat\Desktop\Technology%20Scal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zzat\Desktop\Technology%20Scal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zzat\Desktop\Technology%20Scal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zzat\Desktop\Technology%20Scal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zzat\Desktop\Technology%20Scal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Transistors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Sheet1!$D$2:$D$419</c:f>
              <c:numCache>
                <c:formatCode>General</c:formatCode>
                <c:ptCount val="418"/>
                <c:pt idx="169">
                  <c:v>2.3082415267599998</c:v>
                </c:pt>
                <c:pt idx="170">
                  <c:v>3.5545223556100001</c:v>
                </c:pt>
                <c:pt idx="171">
                  <c:v>6.0975623522099998</c:v>
                </c:pt>
                <c:pt idx="172">
                  <c:v>29.1637757405</c:v>
                </c:pt>
                <c:pt idx="173">
                  <c:v>135.77271421099999</c:v>
                </c:pt>
                <c:pt idx="174">
                  <c:v>273.84196342600001</c:v>
                </c:pt>
                <c:pt idx="175">
                  <c:v>109.411381058</c:v>
                </c:pt>
                <c:pt idx="176">
                  <c:v>121.88141848399999</c:v>
                </c:pt>
                <c:pt idx="177">
                  <c:v>1207.9007474299999</c:v>
                </c:pt>
                <c:pt idx="178">
                  <c:v>1207.9007474299999</c:v>
                </c:pt>
                <c:pt idx="179">
                  <c:v>1207.9007474299999</c:v>
                </c:pt>
                <c:pt idx="180">
                  <c:v>3105.9002236199999</c:v>
                </c:pt>
                <c:pt idx="181">
                  <c:v>1113.9738599899999</c:v>
                </c:pt>
                <c:pt idx="182">
                  <c:v>1715.43789634</c:v>
                </c:pt>
                <c:pt idx="183">
                  <c:v>3105.9002236199999</c:v>
                </c:pt>
                <c:pt idx="184">
                  <c:v>922.23956510400001</c:v>
                </c:pt>
                <c:pt idx="185">
                  <c:v>1910.95297497</c:v>
                </c:pt>
                <c:pt idx="186">
                  <c:v>2788.12666541</c:v>
                </c:pt>
                <c:pt idx="187">
                  <c:v>9646.6161991099998</c:v>
                </c:pt>
                <c:pt idx="188">
                  <c:v>3105.9002236199999</c:v>
                </c:pt>
                <c:pt idx="189">
                  <c:v>5473.7032628799998</c:v>
                </c:pt>
                <c:pt idx="190">
                  <c:v>6792.52507006</c:v>
                </c:pt>
                <c:pt idx="191">
                  <c:v>3651.7412725499998</c:v>
                </c:pt>
                <c:pt idx="192">
                  <c:v>4293.5102100800004</c:v>
                </c:pt>
                <c:pt idx="193">
                  <c:v>9646.6161991099998</c:v>
                </c:pt>
                <c:pt idx="194">
                  <c:v>5473.7032628799998</c:v>
                </c:pt>
                <c:pt idx="195">
                  <c:v>3554.52235561</c:v>
                </c:pt>
                <c:pt idx="196">
                  <c:v>8896.4911281999994</c:v>
                </c:pt>
                <c:pt idx="197">
                  <c:v>7566.6953714000001</c:v>
                </c:pt>
                <c:pt idx="198">
                  <c:v>15261.378025800001</c:v>
                </c:pt>
                <c:pt idx="199">
                  <c:v>9389.7980104800008</c:v>
                </c:pt>
                <c:pt idx="200">
                  <c:v>6978.3058486</c:v>
                </c:pt>
                <c:pt idx="201">
                  <c:v>9389.7980104800008</c:v>
                </c:pt>
                <c:pt idx="202">
                  <c:v>21673.921695699999</c:v>
                </c:pt>
                <c:pt idx="203">
                  <c:v>22266.7201035</c:v>
                </c:pt>
                <c:pt idx="204">
                  <c:v>28387.359647599998</c:v>
                </c:pt>
                <c:pt idx="205">
                  <c:v>37180.266639100002</c:v>
                </c:pt>
                <c:pt idx="206">
                  <c:v>29163.775740500001</c:v>
                </c:pt>
                <c:pt idx="207">
                  <c:v>42550.655024699998</c:v>
                </c:pt>
                <c:pt idx="208">
                  <c:v>25482.967479800001</c:v>
                </c:pt>
                <c:pt idx="209">
                  <c:v>37180.266639100002</c:v>
                </c:pt>
                <c:pt idx="210">
                  <c:v>55730.604012700001</c:v>
                </c:pt>
                <c:pt idx="211">
                  <c:v>38197.175492800001</c:v>
                </c:pt>
                <c:pt idx="212">
                  <c:v>220673.406908</c:v>
                </c:pt>
                <c:pt idx="213">
                  <c:v>151247.25453100001</c:v>
                </c:pt>
                <c:pt idx="214">
                  <c:v>54246.909370100002</c:v>
                </c:pt>
                <c:pt idx="215">
                  <c:v>106498.56353499999</c:v>
                </c:pt>
                <c:pt idx="216">
                  <c:v>125214.968907</c:v>
                </c:pt>
                <c:pt idx="217">
                  <c:v>106498.56353499999</c:v>
                </c:pt>
                <c:pt idx="218">
                  <c:v>273841.96342599997</c:v>
                </c:pt>
                <c:pt idx="219">
                  <c:v>232909.659246</c:v>
                </c:pt>
                <c:pt idx="220">
                  <c:v>112403.866377</c:v>
                </c:pt>
                <c:pt idx="221">
                  <c:v>305052.78902700002</c:v>
                </c:pt>
                <c:pt idx="222">
                  <c:v>115478.198469</c:v>
                </c:pt>
                <c:pt idx="223">
                  <c:v>378551.52492599998</c:v>
                </c:pt>
                <c:pt idx="224">
                  <c:v>155383.98312700001</c:v>
                </c:pt>
                <c:pt idx="225">
                  <c:v>245824.406892</c:v>
                </c:pt>
                <c:pt idx="226">
                  <c:v>296931.48482000001</c:v>
                </c:pt>
                <c:pt idx="227">
                  <c:v>582941.53471399995</c:v>
                </c:pt>
                <c:pt idx="228">
                  <c:v>151247.25453100001</c:v>
                </c:pt>
                <c:pt idx="229">
                  <c:v>582941.53471399995</c:v>
                </c:pt>
                <c:pt idx="230">
                  <c:v>232909.659246</c:v>
                </c:pt>
                <c:pt idx="231">
                  <c:v>805842.18776100001</c:v>
                </c:pt>
                <c:pt idx="232">
                  <c:v>115478.198469</c:v>
                </c:pt>
                <c:pt idx="233">
                  <c:v>509367.52167799999</c:v>
                </c:pt>
                <c:pt idx="234">
                  <c:v>445079.40623600001</c:v>
                </c:pt>
                <c:pt idx="235">
                  <c:v>410469.83804399997</c:v>
                </c:pt>
                <c:pt idx="236">
                  <c:v>457252.66989700001</c:v>
                </c:pt>
                <c:pt idx="237">
                  <c:v>784388.55814500002</c:v>
                </c:pt>
                <c:pt idx="238">
                  <c:v>2308241.5267599998</c:v>
                </c:pt>
                <c:pt idx="239">
                  <c:v>1910952.9749700001</c:v>
                </c:pt>
                <c:pt idx="240">
                  <c:v>410469.83804399997</c:v>
                </c:pt>
                <c:pt idx="241">
                  <c:v>1309747.2642999999</c:v>
                </c:pt>
                <c:pt idx="242">
                  <c:v>1170000</c:v>
                </c:pt>
                <c:pt idx="243">
                  <c:v>2600000</c:v>
                </c:pt>
                <c:pt idx="244">
                  <c:v>1200000</c:v>
                </c:pt>
                <c:pt idx="245">
                  <c:v>2400000</c:v>
                </c:pt>
                <c:pt idx="246">
                  <c:v>2300000</c:v>
                </c:pt>
                <c:pt idx="247">
                  <c:v>2100000</c:v>
                </c:pt>
                <c:pt idx="248">
                  <c:v>1200000</c:v>
                </c:pt>
                <c:pt idx="249">
                  <c:v>5000000</c:v>
                </c:pt>
                <c:pt idx="250">
                  <c:v>4300000</c:v>
                </c:pt>
                <c:pt idx="251">
                  <c:v>4300000</c:v>
                </c:pt>
                <c:pt idx="252">
                  <c:v>4200000</c:v>
                </c:pt>
                <c:pt idx="253">
                  <c:v>2600000</c:v>
                </c:pt>
                <c:pt idx="254">
                  <c:v>3800000</c:v>
                </c:pt>
                <c:pt idx="255">
                  <c:v>5700000</c:v>
                </c:pt>
                <c:pt idx="256">
                  <c:v>7200000</c:v>
                </c:pt>
                <c:pt idx="257">
                  <c:v>8000000</c:v>
                </c:pt>
                <c:pt idx="258">
                  <c:v>19200000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9C-4E7A-ADB6-686818FF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4555088"/>
        <c:axId val="654551480"/>
      </c:scatterChart>
      <c:valAx>
        <c:axId val="654555088"/>
        <c:scaling>
          <c:orientation val="minMax"/>
          <c:min val="19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551480"/>
        <c:crossesAt val="0.1"/>
        <c:crossBetween val="midCat"/>
      </c:valAx>
      <c:valAx>
        <c:axId val="654551480"/>
        <c:scaling>
          <c:logBase val="10"/>
          <c:orientation val="minMax"/>
          <c:max val="1000000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5455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Sheet1!$C$2:$C$419</c:f>
              <c:numCache>
                <c:formatCode>General</c:formatCode>
                <c:ptCount val="418"/>
                <c:pt idx="79">
                  <c:v>0.70413551548599995</c:v>
                </c:pt>
                <c:pt idx="80">
                  <c:v>0.50936752167800003</c:v>
                </c:pt>
                <c:pt idx="81">
                  <c:v>2.01691455473</c:v>
                </c:pt>
                <c:pt idx="82">
                  <c:v>5.04806571667</c:v>
                </c:pt>
                <c:pt idx="83">
                  <c:v>6.0975623522099998</c:v>
                </c:pt>
                <c:pt idx="84">
                  <c:v>16.107615346199999</c:v>
                </c:pt>
                <c:pt idx="85">
                  <c:v>16.107615346199999</c:v>
                </c:pt>
                <c:pt idx="86">
                  <c:v>40.315193628599999</c:v>
                </c:pt>
                <c:pt idx="87">
                  <c:v>24.804544143099999</c:v>
                </c:pt>
                <c:pt idx="88">
                  <c:v>33.376246942900003</c:v>
                </c:pt>
                <c:pt idx="89">
                  <c:v>65.524882373699995</c:v>
                </c:pt>
                <c:pt idx="90">
                  <c:v>60.4296390238</c:v>
                </c:pt>
                <c:pt idx="91">
                  <c:v>100.903504484</c:v>
                </c:pt>
                <c:pt idx="92">
                  <c:v>198.09567785499999</c:v>
                </c:pt>
                <c:pt idx="93">
                  <c:v>67.317038241399999</c:v>
                </c:pt>
                <c:pt idx="94">
                  <c:v>40.315193628599999</c:v>
                </c:pt>
                <c:pt idx="95">
                  <c:v>151.24725453100001</c:v>
                </c:pt>
                <c:pt idx="96">
                  <c:v>296.93148481999998</c:v>
                </c:pt>
                <c:pt idx="97">
                  <c:v>296.93148481999998</c:v>
                </c:pt>
                <c:pt idx="98">
                  <c:v>90.579777594299998</c:v>
                </c:pt>
                <c:pt idx="99">
                  <c:v>198.09567785499999</c:v>
                </c:pt>
                <c:pt idx="100">
                  <c:v>198.09567785499999</c:v>
                </c:pt>
                <c:pt idx="101">
                  <c:v>90.579777594299998</c:v>
                </c:pt>
                <c:pt idx="102">
                  <c:v>509.367521678</c:v>
                </c:pt>
                <c:pt idx="103">
                  <c:v>252.54789325799999</c:v>
                </c:pt>
                <c:pt idx="104">
                  <c:v>537.61174745599999</c:v>
                </c:pt>
                <c:pt idx="105">
                  <c:v>232.90965924599999</c:v>
                </c:pt>
                <c:pt idx="106">
                  <c:v>296.93148481999998</c:v>
                </c:pt>
                <c:pt idx="107">
                  <c:v>495.80682416799999</c:v>
                </c:pt>
                <c:pt idx="108">
                  <c:v>296.93148481999998</c:v>
                </c:pt>
                <c:pt idx="109">
                  <c:v>399.54205589499998</c:v>
                </c:pt>
                <c:pt idx="110">
                  <c:v>457.25266989699998</c:v>
                </c:pt>
                <c:pt idx="111">
                  <c:v>509.367521678</c:v>
                </c:pt>
                <c:pt idx="112">
                  <c:v>743.17954878399996</c:v>
                </c:pt>
                <c:pt idx="113">
                  <c:v>1000</c:v>
                </c:pt>
                <c:pt idx="114">
                  <c:v>897.68713244699995</c:v>
                </c:pt>
                <c:pt idx="115">
                  <c:v>2016.91455473</c:v>
                </c:pt>
                <c:pt idx="116">
                  <c:v>805.84218776099999</c:v>
                </c:pt>
                <c:pt idx="117">
                  <c:v>1420.1811696899999</c:v>
                </c:pt>
                <c:pt idx="118">
                  <c:v>2246.7900918099999</c:v>
                </c:pt>
                <c:pt idx="119">
                  <c:v>1810.5582430300001</c:v>
                </c:pt>
                <c:pt idx="120">
                  <c:v>1000</c:v>
                </c:pt>
                <c:pt idx="121">
                  <c:v>1175.7432659200001</c:v>
                </c:pt>
                <c:pt idx="122">
                  <c:v>2186.9746550099999</c:v>
                </c:pt>
                <c:pt idx="123">
                  <c:v>1810.5582430300001</c:v>
                </c:pt>
                <c:pt idx="124">
                  <c:v>2641.6483203900002</c:v>
                </c:pt>
                <c:pt idx="125">
                  <c:v>1910.95297497</c:v>
                </c:pt>
                <c:pt idx="126">
                  <c:v>3651.7412725499998</c:v>
                </c:pt>
                <c:pt idx="127">
                  <c:v>3190.8489806299999</c:v>
                </c:pt>
                <c:pt idx="128">
                  <c:v>2788.12666541</c:v>
                </c:pt>
                <c:pt idx="129">
                  <c:v>1207.9007474299999</c:v>
                </c:pt>
                <c:pt idx="130">
                  <c:v>2246.7900918099999</c:v>
                </c:pt>
                <c:pt idx="131">
                  <c:v>3651.7412725499998</c:v>
                </c:pt>
                <c:pt idx="132">
                  <c:v>2641.6483203900002</c:v>
                </c:pt>
                <c:pt idx="133">
                  <c:v>2713.8994312099999</c:v>
                </c:pt>
                <c:pt idx="134">
                  <c:v>2308.2415267599999</c:v>
                </c:pt>
                <c:pt idx="135">
                  <c:v>2942.7271762099999</c:v>
                </c:pt>
                <c:pt idx="136">
                  <c:v>4655.5259311600003</c:v>
                </c:pt>
                <c:pt idx="137">
                  <c:v>4067.94432108</c:v>
                </c:pt>
                <c:pt idx="138">
                  <c:v>2016.91455473</c:v>
                </c:pt>
                <c:pt idx="139">
                  <c:v>1420.1811696899999</c:v>
                </c:pt>
                <c:pt idx="140">
                  <c:v>2016.91455473</c:v>
                </c:pt>
                <c:pt idx="141">
                  <c:v>2308.2415267599999</c:v>
                </c:pt>
                <c:pt idx="142">
                  <c:v>3023.2130250199998</c:v>
                </c:pt>
                <c:pt idx="143">
                  <c:v>2502.8654311700002</c:v>
                </c:pt>
                <c:pt idx="144">
                  <c:v>3278.1211513899998</c:v>
                </c:pt>
                <c:pt idx="145">
                  <c:v>2641.6483203900002</c:v>
                </c:pt>
                <c:pt idx="146">
                  <c:v>2641.6483203900002</c:v>
                </c:pt>
                <c:pt idx="147">
                  <c:v>3278.1211513899998</c:v>
                </c:pt>
                <c:pt idx="148">
                  <c:v>2308.2415267599999</c:v>
                </c:pt>
                <c:pt idx="149">
                  <c:v>3470</c:v>
                </c:pt>
                <c:pt idx="150">
                  <c:v>2400</c:v>
                </c:pt>
                <c:pt idx="151">
                  <c:v>3000</c:v>
                </c:pt>
                <c:pt idx="152">
                  <c:v>3100</c:v>
                </c:pt>
                <c:pt idx="153">
                  <c:v>2900</c:v>
                </c:pt>
                <c:pt idx="154">
                  <c:v>3700</c:v>
                </c:pt>
                <c:pt idx="155">
                  <c:v>2500</c:v>
                </c:pt>
                <c:pt idx="156">
                  <c:v>1200</c:v>
                </c:pt>
                <c:pt idx="157">
                  <c:v>2700</c:v>
                </c:pt>
                <c:pt idx="158">
                  <c:v>2800</c:v>
                </c:pt>
                <c:pt idx="159">
                  <c:v>3700</c:v>
                </c:pt>
                <c:pt idx="160">
                  <c:v>3200</c:v>
                </c:pt>
                <c:pt idx="161">
                  <c:v>2600</c:v>
                </c:pt>
                <c:pt idx="162">
                  <c:v>2300</c:v>
                </c:pt>
                <c:pt idx="163">
                  <c:v>2200</c:v>
                </c:pt>
                <c:pt idx="164">
                  <c:v>1500</c:v>
                </c:pt>
                <c:pt idx="165">
                  <c:v>4000</c:v>
                </c:pt>
                <c:pt idx="166">
                  <c:v>2200</c:v>
                </c:pt>
                <c:pt idx="167">
                  <c:v>2100</c:v>
                </c:pt>
                <c:pt idx="168">
                  <c:v>2500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99C-4E7A-ADB6-686818FF8C5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Transistors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Sheet1!$D$2:$D$419</c:f>
              <c:numCache>
                <c:formatCode>General</c:formatCode>
                <c:ptCount val="418"/>
                <c:pt idx="169">
                  <c:v>2.3082415267599998</c:v>
                </c:pt>
                <c:pt idx="170">
                  <c:v>3.5545223556100001</c:v>
                </c:pt>
                <c:pt idx="171">
                  <c:v>6.0975623522099998</c:v>
                </c:pt>
                <c:pt idx="172">
                  <c:v>29.1637757405</c:v>
                </c:pt>
                <c:pt idx="173">
                  <c:v>135.77271421099999</c:v>
                </c:pt>
                <c:pt idx="174">
                  <c:v>273.84196342600001</c:v>
                </c:pt>
                <c:pt idx="175">
                  <c:v>109.411381058</c:v>
                </c:pt>
                <c:pt idx="176">
                  <c:v>121.88141848399999</c:v>
                </c:pt>
                <c:pt idx="177">
                  <c:v>1207.9007474299999</c:v>
                </c:pt>
                <c:pt idx="178">
                  <c:v>1207.9007474299999</c:v>
                </c:pt>
                <c:pt idx="179">
                  <c:v>1207.9007474299999</c:v>
                </c:pt>
                <c:pt idx="180">
                  <c:v>3105.9002236199999</c:v>
                </c:pt>
                <c:pt idx="181">
                  <c:v>1113.9738599899999</c:v>
                </c:pt>
                <c:pt idx="182">
                  <c:v>1715.43789634</c:v>
                </c:pt>
                <c:pt idx="183">
                  <c:v>3105.9002236199999</c:v>
                </c:pt>
                <c:pt idx="184">
                  <c:v>922.23956510400001</c:v>
                </c:pt>
                <c:pt idx="185">
                  <c:v>1910.95297497</c:v>
                </c:pt>
                <c:pt idx="186">
                  <c:v>2788.12666541</c:v>
                </c:pt>
                <c:pt idx="187">
                  <c:v>9646.6161991099998</c:v>
                </c:pt>
                <c:pt idx="188">
                  <c:v>3105.9002236199999</c:v>
                </c:pt>
                <c:pt idx="189">
                  <c:v>5473.7032628799998</c:v>
                </c:pt>
                <c:pt idx="190">
                  <c:v>6792.52507006</c:v>
                </c:pt>
                <c:pt idx="191">
                  <c:v>3651.7412725499998</c:v>
                </c:pt>
                <c:pt idx="192">
                  <c:v>4293.5102100800004</c:v>
                </c:pt>
                <c:pt idx="193">
                  <c:v>9646.6161991099998</c:v>
                </c:pt>
                <c:pt idx="194">
                  <c:v>5473.7032628799998</c:v>
                </c:pt>
                <c:pt idx="195">
                  <c:v>3554.52235561</c:v>
                </c:pt>
                <c:pt idx="196">
                  <c:v>8896.4911281999994</c:v>
                </c:pt>
                <c:pt idx="197">
                  <c:v>7566.6953714000001</c:v>
                </c:pt>
                <c:pt idx="198">
                  <c:v>15261.378025800001</c:v>
                </c:pt>
                <c:pt idx="199">
                  <c:v>9389.7980104800008</c:v>
                </c:pt>
                <c:pt idx="200">
                  <c:v>6978.3058486</c:v>
                </c:pt>
                <c:pt idx="201">
                  <c:v>9389.7980104800008</c:v>
                </c:pt>
                <c:pt idx="202">
                  <c:v>21673.921695699999</c:v>
                </c:pt>
                <c:pt idx="203">
                  <c:v>22266.7201035</c:v>
                </c:pt>
                <c:pt idx="204">
                  <c:v>28387.359647599998</c:v>
                </c:pt>
                <c:pt idx="205">
                  <c:v>37180.266639100002</c:v>
                </c:pt>
                <c:pt idx="206">
                  <c:v>29163.775740500001</c:v>
                </c:pt>
                <c:pt idx="207">
                  <c:v>42550.655024699998</c:v>
                </c:pt>
                <c:pt idx="208">
                  <c:v>25482.967479800001</c:v>
                </c:pt>
                <c:pt idx="209">
                  <c:v>37180.266639100002</c:v>
                </c:pt>
                <c:pt idx="210">
                  <c:v>55730.604012700001</c:v>
                </c:pt>
                <c:pt idx="211">
                  <c:v>38197.175492800001</c:v>
                </c:pt>
                <c:pt idx="212">
                  <c:v>220673.406908</c:v>
                </c:pt>
                <c:pt idx="213">
                  <c:v>151247.25453100001</c:v>
                </c:pt>
                <c:pt idx="214">
                  <c:v>54246.909370100002</c:v>
                </c:pt>
                <c:pt idx="215">
                  <c:v>106498.56353499999</c:v>
                </c:pt>
                <c:pt idx="216">
                  <c:v>125214.968907</c:v>
                </c:pt>
                <c:pt idx="217">
                  <c:v>106498.56353499999</c:v>
                </c:pt>
                <c:pt idx="218">
                  <c:v>273841.96342599997</c:v>
                </c:pt>
                <c:pt idx="219">
                  <c:v>232909.659246</c:v>
                </c:pt>
                <c:pt idx="220">
                  <c:v>112403.866377</c:v>
                </c:pt>
                <c:pt idx="221">
                  <c:v>305052.78902700002</c:v>
                </c:pt>
                <c:pt idx="222">
                  <c:v>115478.198469</c:v>
                </c:pt>
                <c:pt idx="223">
                  <c:v>378551.52492599998</c:v>
                </c:pt>
                <c:pt idx="224">
                  <c:v>155383.98312700001</c:v>
                </c:pt>
                <c:pt idx="225">
                  <c:v>245824.406892</c:v>
                </c:pt>
                <c:pt idx="226">
                  <c:v>296931.48482000001</c:v>
                </c:pt>
                <c:pt idx="227">
                  <c:v>582941.53471399995</c:v>
                </c:pt>
                <c:pt idx="228">
                  <c:v>151247.25453100001</c:v>
                </c:pt>
                <c:pt idx="229">
                  <c:v>582941.53471399995</c:v>
                </c:pt>
                <c:pt idx="230">
                  <c:v>232909.659246</c:v>
                </c:pt>
                <c:pt idx="231">
                  <c:v>805842.18776100001</c:v>
                </c:pt>
                <c:pt idx="232">
                  <c:v>115478.198469</c:v>
                </c:pt>
                <c:pt idx="233">
                  <c:v>509367.52167799999</c:v>
                </c:pt>
                <c:pt idx="234">
                  <c:v>445079.40623600001</c:v>
                </c:pt>
                <c:pt idx="235">
                  <c:v>410469.83804399997</c:v>
                </c:pt>
                <c:pt idx="236">
                  <c:v>457252.66989700001</c:v>
                </c:pt>
                <c:pt idx="237">
                  <c:v>784388.55814500002</c:v>
                </c:pt>
                <c:pt idx="238">
                  <c:v>2308241.5267599998</c:v>
                </c:pt>
                <c:pt idx="239">
                  <c:v>1910952.9749700001</c:v>
                </c:pt>
                <c:pt idx="240">
                  <c:v>410469.83804399997</c:v>
                </c:pt>
                <c:pt idx="241">
                  <c:v>1309747.2642999999</c:v>
                </c:pt>
                <c:pt idx="242">
                  <c:v>1170000</c:v>
                </c:pt>
                <c:pt idx="243">
                  <c:v>2600000</c:v>
                </c:pt>
                <c:pt idx="244">
                  <c:v>1200000</c:v>
                </c:pt>
                <c:pt idx="245">
                  <c:v>2400000</c:v>
                </c:pt>
                <c:pt idx="246">
                  <c:v>2300000</c:v>
                </c:pt>
                <c:pt idx="247">
                  <c:v>2100000</c:v>
                </c:pt>
                <c:pt idx="248">
                  <c:v>1200000</c:v>
                </c:pt>
                <c:pt idx="249">
                  <c:v>5000000</c:v>
                </c:pt>
                <c:pt idx="250">
                  <c:v>4300000</c:v>
                </c:pt>
                <c:pt idx="251">
                  <c:v>4300000</c:v>
                </c:pt>
                <c:pt idx="252">
                  <c:v>4200000</c:v>
                </c:pt>
                <c:pt idx="253">
                  <c:v>2600000</c:v>
                </c:pt>
                <c:pt idx="254">
                  <c:v>3800000</c:v>
                </c:pt>
                <c:pt idx="255">
                  <c:v>5700000</c:v>
                </c:pt>
                <c:pt idx="256">
                  <c:v>7200000</c:v>
                </c:pt>
                <c:pt idx="257">
                  <c:v>8000000</c:v>
                </c:pt>
                <c:pt idx="258">
                  <c:v>19200000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9C-4E7A-ADB6-686818FF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4555088"/>
        <c:axId val="654551480"/>
      </c:scatterChart>
      <c:valAx>
        <c:axId val="654555088"/>
        <c:scaling>
          <c:orientation val="minMax"/>
          <c:min val="19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551480"/>
        <c:crossesAt val="0.1"/>
        <c:crossBetween val="midCat"/>
      </c:valAx>
      <c:valAx>
        <c:axId val="654551480"/>
        <c:scaling>
          <c:logBase val="10"/>
          <c:orientation val="minMax"/>
          <c:max val="1000000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5455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Sheet1!$C$2:$C$419</c:f>
              <c:numCache>
                <c:formatCode>General</c:formatCode>
                <c:ptCount val="418"/>
                <c:pt idx="79">
                  <c:v>0.70413551548599995</c:v>
                </c:pt>
                <c:pt idx="80">
                  <c:v>0.50936752167800003</c:v>
                </c:pt>
                <c:pt idx="81">
                  <c:v>2.01691455473</c:v>
                </c:pt>
                <c:pt idx="82">
                  <c:v>5.04806571667</c:v>
                </c:pt>
                <c:pt idx="83">
                  <c:v>6.0975623522099998</c:v>
                </c:pt>
                <c:pt idx="84">
                  <c:v>16.107615346199999</c:v>
                </c:pt>
                <c:pt idx="85">
                  <c:v>16.107615346199999</c:v>
                </c:pt>
                <c:pt idx="86">
                  <c:v>40.315193628599999</c:v>
                </c:pt>
                <c:pt idx="87">
                  <c:v>24.804544143099999</c:v>
                </c:pt>
                <c:pt idx="88">
                  <c:v>33.376246942900003</c:v>
                </c:pt>
                <c:pt idx="89">
                  <c:v>65.524882373699995</c:v>
                </c:pt>
                <c:pt idx="90">
                  <c:v>60.4296390238</c:v>
                </c:pt>
                <c:pt idx="91">
                  <c:v>100.903504484</c:v>
                </c:pt>
                <c:pt idx="92">
                  <c:v>198.09567785499999</c:v>
                </c:pt>
                <c:pt idx="93">
                  <c:v>67.317038241399999</c:v>
                </c:pt>
                <c:pt idx="94">
                  <c:v>40.315193628599999</c:v>
                </c:pt>
                <c:pt idx="95">
                  <c:v>151.24725453100001</c:v>
                </c:pt>
                <c:pt idx="96">
                  <c:v>296.93148481999998</c:v>
                </c:pt>
                <c:pt idx="97">
                  <c:v>296.93148481999998</c:v>
                </c:pt>
                <c:pt idx="98">
                  <c:v>90.579777594299998</c:v>
                </c:pt>
                <c:pt idx="99">
                  <c:v>198.09567785499999</c:v>
                </c:pt>
                <c:pt idx="100">
                  <c:v>198.09567785499999</c:v>
                </c:pt>
                <c:pt idx="101">
                  <c:v>90.579777594299998</c:v>
                </c:pt>
                <c:pt idx="102">
                  <c:v>509.367521678</c:v>
                </c:pt>
                <c:pt idx="103">
                  <c:v>252.54789325799999</c:v>
                </c:pt>
                <c:pt idx="104">
                  <c:v>537.61174745599999</c:v>
                </c:pt>
                <c:pt idx="105">
                  <c:v>232.90965924599999</c:v>
                </c:pt>
                <c:pt idx="106">
                  <c:v>296.93148481999998</c:v>
                </c:pt>
                <c:pt idx="107">
                  <c:v>495.80682416799999</c:v>
                </c:pt>
                <c:pt idx="108">
                  <c:v>296.93148481999998</c:v>
                </c:pt>
                <c:pt idx="109">
                  <c:v>399.54205589499998</c:v>
                </c:pt>
                <c:pt idx="110">
                  <c:v>457.25266989699998</c:v>
                </c:pt>
                <c:pt idx="111">
                  <c:v>509.367521678</c:v>
                </c:pt>
                <c:pt idx="112">
                  <c:v>743.17954878399996</c:v>
                </c:pt>
                <c:pt idx="113">
                  <c:v>1000</c:v>
                </c:pt>
                <c:pt idx="114">
                  <c:v>897.68713244699995</c:v>
                </c:pt>
                <c:pt idx="115">
                  <c:v>2016.91455473</c:v>
                </c:pt>
                <c:pt idx="116">
                  <c:v>805.84218776099999</c:v>
                </c:pt>
                <c:pt idx="117">
                  <c:v>1420.1811696899999</c:v>
                </c:pt>
                <c:pt idx="118">
                  <c:v>2246.7900918099999</c:v>
                </c:pt>
                <c:pt idx="119">
                  <c:v>1810.5582430300001</c:v>
                </c:pt>
                <c:pt idx="120">
                  <c:v>1000</c:v>
                </c:pt>
                <c:pt idx="121">
                  <c:v>1175.7432659200001</c:v>
                </c:pt>
                <c:pt idx="122">
                  <c:v>2186.9746550099999</c:v>
                </c:pt>
                <c:pt idx="123">
                  <c:v>1810.5582430300001</c:v>
                </c:pt>
                <c:pt idx="124">
                  <c:v>2641.6483203900002</c:v>
                </c:pt>
                <c:pt idx="125">
                  <c:v>1910.95297497</c:v>
                </c:pt>
                <c:pt idx="126">
                  <c:v>3651.7412725499998</c:v>
                </c:pt>
                <c:pt idx="127">
                  <c:v>3190.8489806299999</c:v>
                </c:pt>
                <c:pt idx="128">
                  <c:v>2788.12666541</c:v>
                </c:pt>
                <c:pt idx="129">
                  <c:v>1207.9007474299999</c:v>
                </c:pt>
                <c:pt idx="130">
                  <c:v>2246.7900918099999</c:v>
                </c:pt>
                <c:pt idx="131">
                  <c:v>3651.7412725499998</c:v>
                </c:pt>
                <c:pt idx="132">
                  <c:v>2641.6483203900002</c:v>
                </c:pt>
                <c:pt idx="133">
                  <c:v>2713.8994312099999</c:v>
                </c:pt>
                <c:pt idx="134">
                  <c:v>2308.2415267599999</c:v>
                </c:pt>
                <c:pt idx="135">
                  <c:v>2942.7271762099999</c:v>
                </c:pt>
                <c:pt idx="136">
                  <c:v>4655.5259311600003</c:v>
                </c:pt>
                <c:pt idx="137">
                  <c:v>4067.94432108</c:v>
                </c:pt>
                <c:pt idx="138">
                  <c:v>2016.91455473</c:v>
                </c:pt>
                <c:pt idx="139">
                  <c:v>1420.1811696899999</c:v>
                </c:pt>
                <c:pt idx="140">
                  <c:v>2016.91455473</c:v>
                </c:pt>
                <c:pt idx="141">
                  <c:v>2308.2415267599999</c:v>
                </c:pt>
                <c:pt idx="142">
                  <c:v>3023.2130250199998</c:v>
                </c:pt>
                <c:pt idx="143">
                  <c:v>2502.8654311700002</c:v>
                </c:pt>
                <c:pt idx="144">
                  <c:v>3278.1211513899998</c:v>
                </c:pt>
                <c:pt idx="145">
                  <c:v>2641.6483203900002</c:v>
                </c:pt>
                <c:pt idx="146">
                  <c:v>2641.6483203900002</c:v>
                </c:pt>
                <c:pt idx="147">
                  <c:v>3278.1211513899998</c:v>
                </c:pt>
                <c:pt idx="148">
                  <c:v>2308.2415267599999</c:v>
                </c:pt>
                <c:pt idx="149">
                  <c:v>3470</c:v>
                </c:pt>
                <c:pt idx="150">
                  <c:v>2400</c:v>
                </c:pt>
                <c:pt idx="151">
                  <c:v>3000</c:v>
                </c:pt>
                <c:pt idx="152">
                  <c:v>3100</c:v>
                </c:pt>
                <c:pt idx="153">
                  <c:v>2900</c:v>
                </c:pt>
                <c:pt idx="154">
                  <c:v>3700</c:v>
                </c:pt>
                <c:pt idx="155">
                  <c:v>2500</c:v>
                </c:pt>
                <c:pt idx="156">
                  <c:v>1200</c:v>
                </c:pt>
                <c:pt idx="157">
                  <c:v>2700</c:v>
                </c:pt>
                <c:pt idx="158">
                  <c:v>2800</c:v>
                </c:pt>
                <c:pt idx="159">
                  <c:v>3700</c:v>
                </c:pt>
                <c:pt idx="160">
                  <c:v>3200</c:v>
                </c:pt>
                <c:pt idx="161">
                  <c:v>2600</c:v>
                </c:pt>
                <c:pt idx="162">
                  <c:v>2300</c:v>
                </c:pt>
                <c:pt idx="163">
                  <c:v>2200</c:v>
                </c:pt>
                <c:pt idx="164">
                  <c:v>1500</c:v>
                </c:pt>
                <c:pt idx="165">
                  <c:v>4000</c:v>
                </c:pt>
                <c:pt idx="166">
                  <c:v>2200</c:v>
                </c:pt>
                <c:pt idx="167">
                  <c:v>2100</c:v>
                </c:pt>
                <c:pt idx="168">
                  <c:v>2500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99C-4E7A-ADB6-686818FF8C5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Transistors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Sheet1!$D$2:$D$419</c:f>
              <c:numCache>
                <c:formatCode>General</c:formatCode>
                <c:ptCount val="418"/>
                <c:pt idx="169">
                  <c:v>2.3082415267599998</c:v>
                </c:pt>
                <c:pt idx="170">
                  <c:v>3.5545223556100001</c:v>
                </c:pt>
                <c:pt idx="171">
                  <c:v>6.0975623522099998</c:v>
                </c:pt>
                <c:pt idx="172">
                  <c:v>29.1637757405</c:v>
                </c:pt>
                <c:pt idx="173">
                  <c:v>135.77271421099999</c:v>
                </c:pt>
                <c:pt idx="174">
                  <c:v>273.84196342600001</c:v>
                </c:pt>
                <c:pt idx="175">
                  <c:v>109.411381058</c:v>
                </c:pt>
                <c:pt idx="176">
                  <c:v>121.88141848399999</c:v>
                </c:pt>
                <c:pt idx="177">
                  <c:v>1207.9007474299999</c:v>
                </c:pt>
                <c:pt idx="178">
                  <c:v>1207.9007474299999</c:v>
                </c:pt>
                <c:pt idx="179">
                  <c:v>1207.9007474299999</c:v>
                </c:pt>
                <c:pt idx="180">
                  <c:v>3105.9002236199999</c:v>
                </c:pt>
                <c:pt idx="181">
                  <c:v>1113.9738599899999</c:v>
                </c:pt>
                <c:pt idx="182">
                  <c:v>1715.43789634</c:v>
                </c:pt>
                <c:pt idx="183">
                  <c:v>3105.9002236199999</c:v>
                </c:pt>
                <c:pt idx="184">
                  <c:v>922.23956510400001</c:v>
                </c:pt>
                <c:pt idx="185">
                  <c:v>1910.95297497</c:v>
                </c:pt>
                <c:pt idx="186">
                  <c:v>2788.12666541</c:v>
                </c:pt>
                <c:pt idx="187">
                  <c:v>9646.6161991099998</c:v>
                </c:pt>
                <c:pt idx="188">
                  <c:v>3105.9002236199999</c:v>
                </c:pt>
                <c:pt idx="189">
                  <c:v>5473.7032628799998</c:v>
                </c:pt>
                <c:pt idx="190">
                  <c:v>6792.52507006</c:v>
                </c:pt>
                <c:pt idx="191">
                  <c:v>3651.7412725499998</c:v>
                </c:pt>
                <c:pt idx="192">
                  <c:v>4293.5102100800004</c:v>
                </c:pt>
                <c:pt idx="193">
                  <c:v>9646.6161991099998</c:v>
                </c:pt>
                <c:pt idx="194">
                  <c:v>5473.7032628799998</c:v>
                </c:pt>
                <c:pt idx="195">
                  <c:v>3554.52235561</c:v>
                </c:pt>
                <c:pt idx="196">
                  <c:v>8896.4911281999994</c:v>
                </c:pt>
                <c:pt idx="197">
                  <c:v>7566.6953714000001</c:v>
                </c:pt>
                <c:pt idx="198">
                  <c:v>15261.378025800001</c:v>
                </c:pt>
                <c:pt idx="199">
                  <c:v>9389.7980104800008</c:v>
                </c:pt>
                <c:pt idx="200">
                  <c:v>6978.3058486</c:v>
                </c:pt>
                <c:pt idx="201">
                  <c:v>9389.7980104800008</c:v>
                </c:pt>
                <c:pt idx="202">
                  <c:v>21673.921695699999</c:v>
                </c:pt>
                <c:pt idx="203">
                  <c:v>22266.7201035</c:v>
                </c:pt>
                <c:pt idx="204">
                  <c:v>28387.359647599998</c:v>
                </c:pt>
                <c:pt idx="205">
                  <c:v>37180.266639100002</c:v>
                </c:pt>
                <c:pt idx="206">
                  <c:v>29163.775740500001</c:v>
                </c:pt>
                <c:pt idx="207">
                  <c:v>42550.655024699998</c:v>
                </c:pt>
                <c:pt idx="208">
                  <c:v>25482.967479800001</c:v>
                </c:pt>
                <c:pt idx="209">
                  <c:v>37180.266639100002</c:v>
                </c:pt>
                <c:pt idx="210">
                  <c:v>55730.604012700001</c:v>
                </c:pt>
                <c:pt idx="211">
                  <c:v>38197.175492800001</c:v>
                </c:pt>
                <c:pt idx="212">
                  <c:v>220673.406908</c:v>
                </c:pt>
                <c:pt idx="213">
                  <c:v>151247.25453100001</c:v>
                </c:pt>
                <c:pt idx="214">
                  <c:v>54246.909370100002</c:v>
                </c:pt>
                <c:pt idx="215">
                  <c:v>106498.56353499999</c:v>
                </c:pt>
                <c:pt idx="216">
                  <c:v>125214.968907</c:v>
                </c:pt>
                <c:pt idx="217">
                  <c:v>106498.56353499999</c:v>
                </c:pt>
                <c:pt idx="218">
                  <c:v>273841.96342599997</c:v>
                </c:pt>
                <c:pt idx="219">
                  <c:v>232909.659246</c:v>
                </c:pt>
                <c:pt idx="220">
                  <c:v>112403.866377</c:v>
                </c:pt>
                <c:pt idx="221">
                  <c:v>305052.78902700002</c:v>
                </c:pt>
                <c:pt idx="222">
                  <c:v>115478.198469</c:v>
                </c:pt>
                <c:pt idx="223">
                  <c:v>378551.52492599998</c:v>
                </c:pt>
                <c:pt idx="224">
                  <c:v>155383.98312700001</c:v>
                </c:pt>
                <c:pt idx="225">
                  <c:v>245824.406892</c:v>
                </c:pt>
                <c:pt idx="226">
                  <c:v>296931.48482000001</c:v>
                </c:pt>
                <c:pt idx="227">
                  <c:v>582941.53471399995</c:v>
                </c:pt>
                <c:pt idx="228">
                  <c:v>151247.25453100001</c:v>
                </c:pt>
                <c:pt idx="229">
                  <c:v>582941.53471399995</c:v>
                </c:pt>
                <c:pt idx="230">
                  <c:v>232909.659246</c:v>
                </c:pt>
                <c:pt idx="231">
                  <c:v>805842.18776100001</c:v>
                </c:pt>
                <c:pt idx="232">
                  <c:v>115478.198469</c:v>
                </c:pt>
                <c:pt idx="233">
                  <c:v>509367.52167799999</c:v>
                </c:pt>
                <c:pt idx="234">
                  <c:v>445079.40623600001</c:v>
                </c:pt>
                <c:pt idx="235">
                  <c:v>410469.83804399997</c:v>
                </c:pt>
                <c:pt idx="236">
                  <c:v>457252.66989700001</c:v>
                </c:pt>
                <c:pt idx="237">
                  <c:v>784388.55814500002</c:v>
                </c:pt>
                <c:pt idx="238">
                  <c:v>2308241.5267599998</c:v>
                </c:pt>
                <c:pt idx="239">
                  <c:v>1910952.9749700001</c:v>
                </c:pt>
                <c:pt idx="240">
                  <c:v>410469.83804399997</c:v>
                </c:pt>
                <c:pt idx="241">
                  <c:v>1309747.2642999999</c:v>
                </c:pt>
                <c:pt idx="242">
                  <c:v>1170000</c:v>
                </c:pt>
                <c:pt idx="243">
                  <c:v>2600000</c:v>
                </c:pt>
                <c:pt idx="244">
                  <c:v>1200000</c:v>
                </c:pt>
                <c:pt idx="245">
                  <c:v>2400000</c:v>
                </c:pt>
                <c:pt idx="246">
                  <c:v>2300000</c:v>
                </c:pt>
                <c:pt idx="247">
                  <c:v>2100000</c:v>
                </c:pt>
                <c:pt idx="248">
                  <c:v>1200000</c:v>
                </c:pt>
                <c:pt idx="249">
                  <c:v>5000000</c:v>
                </c:pt>
                <c:pt idx="250">
                  <c:v>4300000</c:v>
                </c:pt>
                <c:pt idx="251">
                  <c:v>4300000</c:v>
                </c:pt>
                <c:pt idx="252">
                  <c:v>4200000</c:v>
                </c:pt>
                <c:pt idx="253">
                  <c:v>2600000</c:v>
                </c:pt>
                <c:pt idx="254">
                  <c:v>3800000</c:v>
                </c:pt>
                <c:pt idx="255">
                  <c:v>5700000</c:v>
                </c:pt>
                <c:pt idx="256">
                  <c:v>7200000</c:v>
                </c:pt>
                <c:pt idx="257">
                  <c:v>8000000</c:v>
                </c:pt>
                <c:pt idx="258">
                  <c:v>19200000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9C-4E7A-ADB6-686818FF8C59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Power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Sheet1!$E$2:$E$419</c:f>
              <c:numCache>
                <c:formatCode>General</c:formatCode>
                <c:ptCount val="418"/>
                <c:pt idx="259">
                  <c:v>0.44507940623600001</c:v>
                </c:pt>
                <c:pt idx="260">
                  <c:v>0.421696503429</c:v>
                </c:pt>
                <c:pt idx="261">
                  <c:v>0.92223956510399996</c:v>
                </c:pt>
                <c:pt idx="262">
                  <c:v>1.7154378963400001</c:v>
                </c:pt>
                <c:pt idx="263">
                  <c:v>3.02321302502</c:v>
                </c:pt>
                <c:pt idx="264">
                  <c:v>1.5399265260599999</c:v>
                </c:pt>
                <c:pt idx="265">
                  <c:v>3.02321302502</c:v>
                </c:pt>
                <c:pt idx="266">
                  <c:v>3.9596449889200001</c:v>
                </c:pt>
                <c:pt idx="267">
                  <c:v>2.7881266654100001</c:v>
                </c:pt>
                <c:pt idx="268">
                  <c:v>3.4598916608699999</c:v>
                </c:pt>
                <c:pt idx="269">
                  <c:v>5.9352292723</c:v>
                </c:pt>
                <c:pt idx="270">
                  <c:v>14.4595990307</c:v>
                </c:pt>
                <c:pt idx="271">
                  <c:v>35.226946514700003</c:v>
                </c:pt>
                <c:pt idx="272">
                  <c:v>3.02321302502</c:v>
                </c:pt>
                <c:pt idx="273">
                  <c:v>13.335214321600001</c:v>
                </c:pt>
                <c:pt idx="274">
                  <c:v>28.3873596476</c:v>
                </c:pt>
                <c:pt idx="275">
                  <c:v>3.02321302502</c:v>
                </c:pt>
                <c:pt idx="276">
                  <c:v>50.0286461058</c:v>
                </c:pt>
                <c:pt idx="277">
                  <c:v>16.107615346199999</c:v>
                </c:pt>
                <c:pt idx="278">
                  <c:v>33.376246942900003</c:v>
                </c:pt>
                <c:pt idx="279">
                  <c:v>30.780895465499999</c:v>
                </c:pt>
                <c:pt idx="280">
                  <c:v>10.1815172172</c:v>
                </c:pt>
                <c:pt idx="281">
                  <c:v>11.341944034999999</c:v>
                </c:pt>
                <c:pt idx="282">
                  <c:v>43.714448126100002</c:v>
                </c:pt>
                <c:pt idx="283">
                  <c:v>24.804544143099999</c:v>
                </c:pt>
                <c:pt idx="284">
                  <c:v>36.190430562499998</c:v>
                </c:pt>
                <c:pt idx="285">
                  <c:v>17.0007761882</c:v>
                </c:pt>
                <c:pt idx="286">
                  <c:v>32.487683833699997</c:v>
                </c:pt>
                <c:pt idx="287">
                  <c:v>90.579777594299998</c:v>
                </c:pt>
                <c:pt idx="288">
                  <c:v>29.961427409999999</c:v>
                </c:pt>
                <c:pt idx="289">
                  <c:v>14.0746466334</c:v>
                </c:pt>
                <c:pt idx="290">
                  <c:v>17.0007761882</c:v>
                </c:pt>
                <c:pt idx="291">
                  <c:v>21.096905134099998</c:v>
                </c:pt>
                <c:pt idx="292">
                  <c:v>36.190430562499998</c:v>
                </c:pt>
                <c:pt idx="293">
                  <c:v>48.6967525166</c:v>
                </c:pt>
                <c:pt idx="294">
                  <c:v>19.988548118699999</c:v>
                </c:pt>
                <c:pt idx="295">
                  <c:v>71.0497411443</c:v>
                </c:pt>
                <c:pt idx="296">
                  <c:v>72.993006143499997</c:v>
                </c:pt>
                <c:pt idx="297">
                  <c:v>98.217188918800005</c:v>
                </c:pt>
                <c:pt idx="298">
                  <c:v>57.254878843599997</c:v>
                </c:pt>
                <c:pt idx="299">
                  <c:v>48.6967525166</c:v>
                </c:pt>
                <c:pt idx="300">
                  <c:v>62.082436071899998</c:v>
                </c:pt>
                <c:pt idx="301">
                  <c:v>98.217188918800005</c:v>
                </c:pt>
                <c:pt idx="302">
                  <c:v>155.38398312699999</c:v>
                </c:pt>
                <c:pt idx="303">
                  <c:v>74.989420933199995</c:v>
                </c:pt>
                <c:pt idx="304">
                  <c:v>88.1683066776</c:v>
                </c:pt>
                <c:pt idx="305">
                  <c:v>88.1683066776</c:v>
                </c:pt>
                <c:pt idx="306">
                  <c:v>115.47819846900001</c:v>
                </c:pt>
                <c:pt idx="307">
                  <c:v>100.903504484</c:v>
                </c:pt>
                <c:pt idx="308">
                  <c:v>128.639694494</c:v>
                </c:pt>
                <c:pt idx="309">
                  <c:v>85.821035432499997</c:v>
                </c:pt>
                <c:pt idx="310">
                  <c:v>72.993006143499997</c:v>
                </c:pt>
                <c:pt idx="311">
                  <c:v>24.804544143099999</c:v>
                </c:pt>
                <c:pt idx="312">
                  <c:v>128.639694494</c:v>
                </c:pt>
                <c:pt idx="313">
                  <c:v>65.524882373699995</c:v>
                </c:pt>
                <c:pt idx="314">
                  <c:v>125.214968907</c:v>
                </c:pt>
                <c:pt idx="315">
                  <c:v>74.989420933199995</c:v>
                </c:pt>
                <c:pt idx="316">
                  <c:v>31.6227766017</c:v>
                </c:pt>
                <c:pt idx="317">
                  <c:v>132.158088956</c:v>
                </c:pt>
                <c:pt idx="318">
                  <c:v>100.903504484</c:v>
                </c:pt>
                <c:pt idx="319">
                  <c:v>31.6227766017</c:v>
                </c:pt>
                <c:pt idx="320">
                  <c:v>85.821035432499997</c:v>
                </c:pt>
                <c:pt idx="321">
                  <c:v>77.0404392011</c:v>
                </c:pt>
                <c:pt idx="322">
                  <c:v>95.602390109500007</c:v>
                </c:pt>
                <c:pt idx="323">
                  <c:v>65.524882373699995</c:v>
                </c:pt>
                <c:pt idx="324">
                  <c:v>95.602390109500007</c:v>
                </c:pt>
                <c:pt idx="325">
                  <c:v>132.158088956</c:v>
                </c:pt>
                <c:pt idx="326">
                  <c:v>125.214968907</c:v>
                </c:pt>
                <c:pt idx="327">
                  <c:v>95.602390109500007</c:v>
                </c:pt>
                <c:pt idx="328">
                  <c:v>132.158088956</c:v>
                </c:pt>
                <c:pt idx="329">
                  <c:v>168.485487944</c:v>
                </c:pt>
                <c:pt idx="330">
                  <c:v>130</c:v>
                </c:pt>
                <c:pt idx="331">
                  <c:v>130</c:v>
                </c:pt>
                <c:pt idx="332">
                  <c:v>95</c:v>
                </c:pt>
                <c:pt idx="333">
                  <c:v>140</c:v>
                </c:pt>
                <c:pt idx="334">
                  <c:v>130</c:v>
                </c:pt>
                <c:pt idx="335">
                  <c:v>200</c:v>
                </c:pt>
                <c:pt idx="336">
                  <c:v>115</c:v>
                </c:pt>
                <c:pt idx="337">
                  <c:v>300</c:v>
                </c:pt>
                <c:pt idx="338">
                  <c:v>130</c:v>
                </c:pt>
                <c:pt idx="339">
                  <c:v>155</c:v>
                </c:pt>
                <c:pt idx="340">
                  <c:v>200</c:v>
                </c:pt>
                <c:pt idx="341">
                  <c:v>135</c:v>
                </c:pt>
                <c:pt idx="342">
                  <c:v>135</c:v>
                </c:pt>
                <c:pt idx="343">
                  <c:v>140</c:v>
                </c:pt>
                <c:pt idx="344">
                  <c:v>145</c:v>
                </c:pt>
                <c:pt idx="345">
                  <c:v>245</c:v>
                </c:pt>
                <c:pt idx="346">
                  <c:v>180</c:v>
                </c:pt>
                <c:pt idx="347">
                  <c:v>140</c:v>
                </c:pt>
                <c:pt idx="348">
                  <c:v>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99C-4E7A-ADB6-686818FF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4555088"/>
        <c:axId val="654551480"/>
      </c:scatterChart>
      <c:valAx>
        <c:axId val="654555088"/>
        <c:scaling>
          <c:orientation val="minMax"/>
          <c:min val="19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551480"/>
        <c:crossesAt val="0.1"/>
        <c:crossBetween val="midCat"/>
      </c:valAx>
      <c:valAx>
        <c:axId val="654551480"/>
        <c:scaling>
          <c:logBase val="10"/>
          <c:orientation val="minMax"/>
          <c:max val="1000000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5455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Sheet1!$C$2:$C$419</c:f>
              <c:numCache>
                <c:formatCode>General</c:formatCode>
                <c:ptCount val="418"/>
                <c:pt idx="79">
                  <c:v>0.70413551548599995</c:v>
                </c:pt>
                <c:pt idx="80">
                  <c:v>0.50936752167800003</c:v>
                </c:pt>
                <c:pt idx="81">
                  <c:v>2.01691455473</c:v>
                </c:pt>
                <c:pt idx="82">
                  <c:v>5.04806571667</c:v>
                </c:pt>
                <c:pt idx="83">
                  <c:v>6.0975623522099998</c:v>
                </c:pt>
                <c:pt idx="84">
                  <c:v>16.107615346199999</c:v>
                </c:pt>
                <c:pt idx="85">
                  <c:v>16.107615346199999</c:v>
                </c:pt>
                <c:pt idx="86">
                  <c:v>40.315193628599999</c:v>
                </c:pt>
                <c:pt idx="87">
                  <c:v>24.804544143099999</c:v>
                </c:pt>
                <c:pt idx="88">
                  <c:v>33.376246942900003</c:v>
                </c:pt>
                <c:pt idx="89">
                  <c:v>65.524882373699995</c:v>
                </c:pt>
                <c:pt idx="90">
                  <c:v>60.4296390238</c:v>
                </c:pt>
                <c:pt idx="91">
                  <c:v>100.903504484</c:v>
                </c:pt>
                <c:pt idx="92">
                  <c:v>198.09567785499999</c:v>
                </c:pt>
                <c:pt idx="93">
                  <c:v>67.317038241399999</c:v>
                </c:pt>
                <c:pt idx="94">
                  <c:v>40.315193628599999</c:v>
                </c:pt>
                <c:pt idx="95">
                  <c:v>151.24725453100001</c:v>
                </c:pt>
                <c:pt idx="96">
                  <c:v>296.93148481999998</c:v>
                </c:pt>
                <c:pt idx="97">
                  <c:v>296.93148481999998</c:v>
                </c:pt>
                <c:pt idx="98">
                  <c:v>90.579777594299998</c:v>
                </c:pt>
                <c:pt idx="99">
                  <c:v>198.09567785499999</c:v>
                </c:pt>
                <c:pt idx="100">
                  <c:v>198.09567785499999</c:v>
                </c:pt>
                <c:pt idx="101">
                  <c:v>90.579777594299998</c:v>
                </c:pt>
                <c:pt idx="102">
                  <c:v>509.367521678</c:v>
                </c:pt>
                <c:pt idx="103">
                  <c:v>252.54789325799999</c:v>
                </c:pt>
                <c:pt idx="104">
                  <c:v>537.61174745599999</c:v>
                </c:pt>
                <c:pt idx="105">
                  <c:v>232.90965924599999</c:v>
                </c:pt>
                <c:pt idx="106">
                  <c:v>296.93148481999998</c:v>
                </c:pt>
                <c:pt idx="107">
                  <c:v>495.80682416799999</c:v>
                </c:pt>
                <c:pt idx="108">
                  <c:v>296.93148481999998</c:v>
                </c:pt>
                <c:pt idx="109">
                  <c:v>399.54205589499998</c:v>
                </c:pt>
                <c:pt idx="110">
                  <c:v>457.25266989699998</c:v>
                </c:pt>
                <c:pt idx="111">
                  <c:v>509.367521678</c:v>
                </c:pt>
                <c:pt idx="112">
                  <c:v>743.17954878399996</c:v>
                </c:pt>
                <c:pt idx="113">
                  <c:v>1000</c:v>
                </c:pt>
                <c:pt idx="114">
                  <c:v>897.68713244699995</c:v>
                </c:pt>
                <c:pt idx="115">
                  <c:v>2016.91455473</c:v>
                </c:pt>
                <c:pt idx="116">
                  <c:v>805.84218776099999</c:v>
                </c:pt>
                <c:pt idx="117">
                  <c:v>1420.1811696899999</c:v>
                </c:pt>
                <c:pt idx="118">
                  <c:v>2246.7900918099999</c:v>
                </c:pt>
                <c:pt idx="119">
                  <c:v>1810.5582430300001</c:v>
                </c:pt>
                <c:pt idx="120">
                  <c:v>1000</c:v>
                </c:pt>
                <c:pt idx="121">
                  <c:v>1175.7432659200001</c:v>
                </c:pt>
                <c:pt idx="122">
                  <c:v>2186.9746550099999</c:v>
                </c:pt>
                <c:pt idx="123">
                  <c:v>1810.5582430300001</c:v>
                </c:pt>
                <c:pt idx="124">
                  <c:v>2641.6483203900002</c:v>
                </c:pt>
                <c:pt idx="125">
                  <c:v>1910.95297497</c:v>
                </c:pt>
                <c:pt idx="126">
                  <c:v>3651.7412725499998</c:v>
                </c:pt>
                <c:pt idx="127">
                  <c:v>3190.8489806299999</c:v>
                </c:pt>
                <c:pt idx="128">
                  <c:v>2788.12666541</c:v>
                </c:pt>
                <c:pt idx="129">
                  <c:v>1207.9007474299999</c:v>
                </c:pt>
                <c:pt idx="130">
                  <c:v>2246.7900918099999</c:v>
                </c:pt>
                <c:pt idx="131">
                  <c:v>3651.7412725499998</c:v>
                </c:pt>
                <c:pt idx="132">
                  <c:v>2641.6483203900002</c:v>
                </c:pt>
                <c:pt idx="133">
                  <c:v>2713.8994312099999</c:v>
                </c:pt>
                <c:pt idx="134">
                  <c:v>2308.2415267599999</c:v>
                </c:pt>
                <c:pt idx="135">
                  <c:v>2942.7271762099999</c:v>
                </c:pt>
                <c:pt idx="136">
                  <c:v>4655.5259311600003</c:v>
                </c:pt>
                <c:pt idx="137">
                  <c:v>4067.94432108</c:v>
                </c:pt>
                <c:pt idx="138">
                  <c:v>2016.91455473</c:v>
                </c:pt>
                <c:pt idx="139">
                  <c:v>1420.1811696899999</c:v>
                </c:pt>
                <c:pt idx="140">
                  <c:v>2016.91455473</c:v>
                </c:pt>
                <c:pt idx="141">
                  <c:v>2308.2415267599999</c:v>
                </c:pt>
                <c:pt idx="142">
                  <c:v>3023.2130250199998</c:v>
                </c:pt>
                <c:pt idx="143">
                  <c:v>2502.8654311700002</c:v>
                </c:pt>
                <c:pt idx="144">
                  <c:v>3278.1211513899998</c:v>
                </c:pt>
                <c:pt idx="145">
                  <c:v>2641.6483203900002</c:v>
                </c:pt>
                <c:pt idx="146">
                  <c:v>2641.6483203900002</c:v>
                </c:pt>
                <c:pt idx="147">
                  <c:v>3278.1211513899998</c:v>
                </c:pt>
                <c:pt idx="148">
                  <c:v>2308.2415267599999</c:v>
                </c:pt>
                <c:pt idx="149">
                  <c:v>3470</c:v>
                </c:pt>
                <c:pt idx="150">
                  <c:v>2400</c:v>
                </c:pt>
                <c:pt idx="151">
                  <c:v>3000</c:v>
                </c:pt>
                <c:pt idx="152">
                  <c:v>3100</c:v>
                </c:pt>
                <c:pt idx="153">
                  <c:v>2900</c:v>
                </c:pt>
                <c:pt idx="154">
                  <c:v>3700</c:v>
                </c:pt>
                <c:pt idx="155">
                  <c:v>2500</c:v>
                </c:pt>
                <c:pt idx="156">
                  <c:v>1200</c:v>
                </c:pt>
                <c:pt idx="157">
                  <c:v>2700</c:v>
                </c:pt>
                <c:pt idx="158">
                  <c:v>2800</c:v>
                </c:pt>
                <c:pt idx="159">
                  <c:v>3700</c:v>
                </c:pt>
                <c:pt idx="160">
                  <c:v>3200</c:v>
                </c:pt>
                <c:pt idx="161">
                  <c:v>2600</c:v>
                </c:pt>
                <c:pt idx="162">
                  <c:v>2300</c:v>
                </c:pt>
                <c:pt idx="163">
                  <c:v>2200</c:v>
                </c:pt>
                <c:pt idx="164">
                  <c:v>1500</c:v>
                </c:pt>
                <c:pt idx="165">
                  <c:v>4000</c:v>
                </c:pt>
                <c:pt idx="166">
                  <c:v>2200</c:v>
                </c:pt>
                <c:pt idx="167">
                  <c:v>2100</c:v>
                </c:pt>
                <c:pt idx="168">
                  <c:v>2500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99C-4E7A-ADB6-686818FF8C59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Transistors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Sheet1!$D$2:$D$419</c:f>
              <c:numCache>
                <c:formatCode>General</c:formatCode>
                <c:ptCount val="418"/>
                <c:pt idx="169">
                  <c:v>2.3082415267599998</c:v>
                </c:pt>
                <c:pt idx="170">
                  <c:v>3.5545223556100001</c:v>
                </c:pt>
                <c:pt idx="171">
                  <c:v>6.0975623522099998</c:v>
                </c:pt>
                <c:pt idx="172">
                  <c:v>29.1637757405</c:v>
                </c:pt>
                <c:pt idx="173">
                  <c:v>135.77271421099999</c:v>
                </c:pt>
                <c:pt idx="174">
                  <c:v>273.84196342600001</c:v>
                </c:pt>
                <c:pt idx="175">
                  <c:v>109.411381058</c:v>
                </c:pt>
                <c:pt idx="176">
                  <c:v>121.88141848399999</c:v>
                </c:pt>
                <c:pt idx="177">
                  <c:v>1207.9007474299999</c:v>
                </c:pt>
                <c:pt idx="178">
                  <c:v>1207.9007474299999</c:v>
                </c:pt>
                <c:pt idx="179">
                  <c:v>1207.9007474299999</c:v>
                </c:pt>
                <c:pt idx="180">
                  <c:v>3105.9002236199999</c:v>
                </c:pt>
                <c:pt idx="181">
                  <c:v>1113.9738599899999</c:v>
                </c:pt>
                <c:pt idx="182">
                  <c:v>1715.43789634</c:v>
                </c:pt>
                <c:pt idx="183">
                  <c:v>3105.9002236199999</c:v>
                </c:pt>
                <c:pt idx="184">
                  <c:v>922.23956510400001</c:v>
                </c:pt>
                <c:pt idx="185">
                  <c:v>1910.95297497</c:v>
                </c:pt>
                <c:pt idx="186">
                  <c:v>2788.12666541</c:v>
                </c:pt>
                <c:pt idx="187">
                  <c:v>9646.6161991099998</c:v>
                </c:pt>
                <c:pt idx="188">
                  <c:v>3105.9002236199999</c:v>
                </c:pt>
                <c:pt idx="189">
                  <c:v>5473.7032628799998</c:v>
                </c:pt>
                <c:pt idx="190">
                  <c:v>6792.52507006</c:v>
                </c:pt>
                <c:pt idx="191">
                  <c:v>3651.7412725499998</c:v>
                </c:pt>
                <c:pt idx="192">
                  <c:v>4293.5102100800004</c:v>
                </c:pt>
                <c:pt idx="193">
                  <c:v>9646.6161991099998</c:v>
                </c:pt>
                <c:pt idx="194">
                  <c:v>5473.7032628799998</c:v>
                </c:pt>
                <c:pt idx="195">
                  <c:v>3554.52235561</c:v>
                </c:pt>
                <c:pt idx="196">
                  <c:v>8896.4911281999994</c:v>
                </c:pt>
                <c:pt idx="197">
                  <c:v>7566.6953714000001</c:v>
                </c:pt>
                <c:pt idx="198">
                  <c:v>15261.378025800001</c:v>
                </c:pt>
                <c:pt idx="199">
                  <c:v>9389.7980104800008</c:v>
                </c:pt>
                <c:pt idx="200">
                  <c:v>6978.3058486</c:v>
                </c:pt>
                <c:pt idx="201">
                  <c:v>9389.7980104800008</c:v>
                </c:pt>
                <c:pt idx="202">
                  <c:v>21673.921695699999</c:v>
                </c:pt>
                <c:pt idx="203">
                  <c:v>22266.7201035</c:v>
                </c:pt>
                <c:pt idx="204">
                  <c:v>28387.359647599998</c:v>
                </c:pt>
                <c:pt idx="205">
                  <c:v>37180.266639100002</c:v>
                </c:pt>
                <c:pt idx="206">
                  <c:v>29163.775740500001</c:v>
                </c:pt>
                <c:pt idx="207">
                  <c:v>42550.655024699998</c:v>
                </c:pt>
                <c:pt idx="208">
                  <c:v>25482.967479800001</c:v>
                </c:pt>
                <c:pt idx="209">
                  <c:v>37180.266639100002</c:v>
                </c:pt>
                <c:pt idx="210">
                  <c:v>55730.604012700001</c:v>
                </c:pt>
                <c:pt idx="211">
                  <c:v>38197.175492800001</c:v>
                </c:pt>
                <c:pt idx="212">
                  <c:v>220673.406908</c:v>
                </c:pt>
                <c:pt idx="213">
                  <c:v>151247.25453100001</c:v>
                </c:pt>
                <c:pt idx="214">
                  <c:v>54246.909370100002</c:v>
                </c:pt>
                <c:pt idx="215">
                  <c:v>106498.56353499999</c:v>
                </c:pt>
                <c:pt idx="216">
                  <c:v>125214.968907</c:v>
                </c:pt>
                <c:pt idx="217">
                  <c:v>106498.56353499999</c:v>
                </c:pt>
                <c:pt idx="218">
                  <c:v>273841.96342599997</c:v>
                </c:pt>
                <c:pt idx="219">
                  <c:v>232909.659246</c:v>
                </c:pt>
                <c:pt idx="220">
                  <c:v>112403.866377</c:v>
                </c:pt>
                <c:pt idx="221">
                  <c:v>305052.78902700002</c:v>
                </c:pt>
                <c:pt idx="222">
                  <c:v>115478.198469</c:v>
                </c:pt>
                <c:pt idx="223">
                  <c:v>378551.52492599998</c:v>
                </c:pt>
                <c:pt idx="224">
                  <c:v>155383.98312700001</c:v>
                </c:pt>
                <c:pt idx="225">
                  <c:v>245824.406892</c:v>
                </c:pt>
                <c:pt idx="226">
                  <c:v>296931.48482000001</c:v>
                </c:pt>
                <c:pt idx="227">
                  <c:v>582941.53471399995</c:v>
                </c:pt>
                <c:pt idx="228">
                  <c:v>151247.25453100001</c:v>
                </c:pt>
                <c:pt idx="229">
                  <c:v>582941.53471399995</c:v>
                </c:pt>
                <c:pt idx="230">
                  <c:v>232909.659246</c:v>
                </c:pt>
                <c:pt idx="231">
                  <c:v>805842.18776100001</c:v>
                </c:pt>
                <c:pt idx="232">
                  <c:v>115478.198469</c:v>
                </c:pt>
                <c:pt idx="233">
                  <c:v>509367.52167799999</c:v>
                </c:pt>
                <c:pt idx="234">
                  <c:v>445079.40623600001</c:v>
                </c:pt>
                <c:pt idx="235">
                  <c:v>410469.83804399997</c:v>
                </c:pt>
                <c:pt idx="236">
                  <c:v>457252.66989700001</c:v>
                </c:pt>
                <c:pt idx="237">
                  <c:v>784388.55814500002</c:v>
                </c:pt>
                <c:pt idx="238">
                  <c:v>2308241.5267599998</c:v>
                </c:pt>
                <c:pt idx="239">
                  <c:v>1910952.9749700001</c:v>
                </c:pt>
                <c:pt idx="240">
                  <c:v>410469.83804399997</c:v>
                </c:pt>
                <c:pt idx="241">
                  <c:v>1309747.2642999999</c:v>
                </c:pt>
                <c:pt idx="242">
                  <c:v>1170000</c:v>
                </c:pt>
                <c:pt idx="243">
                  <c:v>2600000</c:v>
                </c:pt>
                <c:pt idx="244">
                  <c:v>1200000</c:v>
                </c:pt>
                <c:pt idx="245">
                  <c:v>2400000</c:v>
                </c:pt>
                <c:pt idx="246">
                  <c:v>2300000</c:v>
                </c:pt>
                <c:pt idx="247">
                  <c:v>2100000</c:v>
                </c:pt>
                <c:pt idx="248">
                  <c:v>1200000</c:v>
                </c:pt>
                <c:pt idx="249">
                  <c:v>5000000</c:v>
                </c:pt>
                <c:pt idx="250">
                  <c:v>4300000</c:v>
                </c:pt>
                <c:pt idx="251">
                  <c:v>4300000</c:v>
                </c:pt>
                <c:pt idx="252">
                  <c:v>4200000</c:v>
                </c:pt>
                <c:pt idx="253">
                  <c:v>2600000</c:v>
                </c:pt>
                <c:pt idx="254">
                  <c:v>3800000</c:v>
                </c:pt>
                <c:pt idx="255">
                  <c:v>5700000</c:v>
                </c:pt>
                <c:pt idx="256">
                  <c:v>7200000</c:v>
                </c:pt>
                <c:pt idx="257">
                  <c:v>8000000</c:v>
                </c:pt>
                <c:pt idx="258">
                  <c:v>19200000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9C-4E7A-ADB6-686818FF8C59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Power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Sheet1!$E$2:$E$419</c:f>
              <c:numCache>
                <c:formatCode>General</c:formatCode>
                <c:ptCount val="418"/>
                <c:pt idx="259">
                  <c:v>0.44507940623600001</c:v>
                </c:pt>
                <c:pt idx="260">
                  <c:v>0.421696503429</c:v>
                </c:pt>
                <c:pt idx="261">
                  <c:v>0.92223956510399996</c:v>
                </c:pt>
                <c:pt idx="262">
                  <c:v>1.7154378963400001</c:v>
                </c:pt>
                <c:pt idx="263">
                  <c:v>3.02321302502</c:v>
                </c:pt>
                <c:pt idx="264">
                  <c:v>1.5399265260599999</c:v>
                </c:pt>
                <c:pt idx="265">
                  <c:v>3.02321302502</c:v>
                </c:pt>
                <c:pt idx="266">
                  <c:v>3.9596449889200001</c:v>
                </c:pt>
                <c:pt idx="267">
                  <c:v>2.7881266654100001</c:v>
                </c:pt>
                <c:pt idx="268">
                  <c:v>3.4598916608699999</c:v>
                </c:pt>
                <c:pt idx="269">
                  <c:v>5.9352292723</c:v>
                </c:pt>
                <c:pt idx="270">
                  <c:v>14.4595990307</c:v>
                </c:pt>
                <c:pt idx="271">
                  <c:v>35.226946514700003</c:v>
                </c:pt>
                <c:pt idx="272">
                  <c:v>3.02321302502</c:v>
                </c:pt>
                <c:pt idx="273">
                  <c:v>13.335214321600001</c:v>
                </c:pt>
                <c:pt idx="274">
                  <c:v>28.3873596476</c:v>
                </c:pt>
                <c:pt idx="275">
                  <c:v>3.02321302502</c:v>
                </c:pt>
                <c:pt idx="276">
                  <c:v>50.0286461058</c:v>
                </c:pt>
                <c:pt idx="277">
                  <c:v>16.107615346199999</c:v>
                </c:pt>
                <c:pt idx="278">
                  <c:v>33.376246942900003</c:v>
                </c:pt>
                <c:pt idx="279">
                  <c:v>30.780895465499999</c:v>
                </c:pt>
                <c:pt idx="280">
                  <c:v>10.1815172172</c:v>
                </c:pt>
                <c:pt idx="281">
                  <c:v>11.341944034999999</c:v>
                </c:pt>
                <c:pt idx="282">
                  <c:v>43.714448126100002</c:v>
                </c:pt>
                <c:pt idx="283">
                  <c:v>24.804544143099999</c:v>
                </c:pt>
                <c:pt idx="284">
                  <c:v>36.190430562499998</c:v>
                </c:pt>
                <c:pt idx="285">
                  <c:v>17.0007761882</c:v>
                </c:pt>
                <c:pt idx="286">
                  <c:v>32.487683833699997</c:v>
                </c:pt>
                <c:pt idx="287">
                  <c:v>90.579777594299998</c:v>
                </c:pt>
                <c:pt idx="288">
                  <c:v>29.961427409999999</c:v>
                </c:pt>
                <c:pt idx="289">
                  <c:v>14.0746466334</c:v>
                </c:pt>
                <c:pt idx="290">
                  <c:v>17.0007761882</c:v>
                </c:pt>
                <c:pt idx="291">
                  <c:v>21.096905134099998</c:v>
                </c:pt>
                <c:pt idx="292">
                  <c:v>36.190430562499998</c:v>
                </c:pt>
                <c:pt idx="293">
                  <c:v>48.6967525166</c:v>
                </c:pt>
                <c:pt idx="294">
                  <c:v>19.988548118699999</c:v>
                </c:pt>
                <c:pt idx="295">
                  <c:v>71.0497411443</c:v>
                </c:pt>
                <c:pt idx="296">
                  <c:v>72.993006143499997</c:v>
                </c:pt>
                <c:pt idx="297">
                  <c:v>98.217188918800005</c:v>
                </c:pt>
                <c:pt idx="298">
                  <c:v>57.254878843599997</c:v>
                </c:pt>
                <c:pt idx="299">
                  <c:v>48.6967525166</c:v>
                </c:pt>
                <c:pt idx="300">
                  <c:v>62.082436071899998</c:v>
                </c:pt>
                <c:pt idx="301">
                  <c:v>98.217188918800005</c:v>
                </c:pt>
                <c:pt idx="302">
                  <c:v>155.38398312699999</c:v>
                </c:pt>
                <c:pt idx="303">
                  <c:v>74.989420933199995</c:v>
                </c:pt>
                <c:pt idx="304">
                  <c:v>88.1683066776</c:v>
                </c:pt>
                <c:pt idx="305">
                  <c:v>88.1683066776</c:v>
                </c:pt>
                <c:pt idx="306">
                  <c:v>115.47819846900001</c:v>
                </c:pt>
                <c:pt idx="307">
                  <c:v>100.903504484</c:v>
                </c:pt>
                <c:pt idx="308">
                  <c:v>128.639694494</c:v>
                </c:pt>
                <c:pt idx="309">
                  <c:v>85.821035432499997</c:v>
                </c:pt>
                <c:pt idx="310">
                  <c:v>72.993006143499997</c:v>
                </c:pt>
                <c:pt idx="311">
                  <c:v>24.804544143099999</c:v>
                </c:pt>
                <c:pt idx="312">
                  <c:v>128.639694494</c:v>
                </c:pt>
                <c:pt idx="313">
                  <c:v>65.524882373699995</c:v>
                </c:pt>
                <c:pt idx="314">
                  <c:v>125.214968907</c:v>
                </c:pt>
                <c:pt idx="315">
                  <c:v>74.989420933199995</c:v>
                </c:pt>
                <c:pt idx="316">
                  <c:v>31.6227766017</c:v>
                </c:pt>
                <c:pt idx="317">
                  <c:v>132.158088956</c:v>
                </c:pt>
                <c:pt idx="318">
                  <c:v>100.903504484</c:v>
                </c:pt>
                <c:pt idx="319">
                  <c:v>31.6227766017</c:v>
                </c:pt>
                <c:pt idx="320">
                  <c:v>85.821035432499997</c:v>
                </c:pt>
                <c:pt idx="321">
                  <c:v>77.0404392011</c:v>
                </c:pt>
                <c:pt idx="322">
                  <c:v>95.602390109500007</c:v>
                </c:pt>
                <c:pt idx="323">
                  <c:v>65.524882373699995</c:v>
                </c:pt>
                <c:pt idx="324">
                  <c:v>95.602390109500007</c:v>
                </c:pt>
                <c:pt idx="325">
                  <c:v>132.158088956</c:v>
                </c:pt>
                <c:pt idx="326">
                  <c:v>125.214968907</c:v>
                </c:pt>
                <c:pt idx="327">
                  <c:v>95.602390109500007</c:v>
                </c:pt>
                <c:pt idx="328">
                  <c:v>132.158088956</c:v>
                </c:pt>
                <c:pt idx="329">
                  <c:v>168.485487944</c:v>
                </c:pt>
                <c:pt idx="330">
                  <c:v>130</c:v>
                </c:pt>
                <c:pt idx="331">
                  <c:v>130</c:v>
                </c:pt>
                <c:pt idx="332">
                  <c:v>95</c:v>
                </c:pt>
                <c:pt idx="333">
                  <c:v>140</c:v>
                </c:pt>
                <c:pt idx="334">
                  <c:v>130</c:v>
                </c:pt>
                <c:pt idx="335">
                  <c:v>200</c:v>
                </c:pt>
                <c:pt idx="336">
                  <c:v>115</c:v>
                </c:pt>
                <c:pt idx="337">
                  <c:v>300</c:v>
                </c:pt>
                <c:pt idx="338">
                  <c:v>130</c:v>
                </c:pt>
                <c:pt idx="339">
                  <c:v>155</c:v>
                </c:pt>
                <c:pt idx="340">
                  <c:v>200</c:v>
                </c:pt>
                <c:pt idx="341">
                  <c:v>135</c:v>
                </c:pt>
                <c:pt idx="342">
                  <c:v>135</c:v>
                </c:pt>
                <c:pt idx="343">
                  <c:v>140</c:v>
                </c:pt>
                <c:pt idx="344">
                  <c:v>145</c:v>
                </c:pt>
                <c:pt idx="345">
                  <c:v>245</c:v>
                </c:pt>
                <c:pt idx="346">
                  <c:v>180</c:v>
                </c:pt>
                <c:pt idx="347">
                  <c:v>140</c:v>
                </c:pt>
                <c:pt idx="348">
                  <c:v>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99C-4E7A-ADB6-686818FF8C59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Single-Thread Performance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Sheet1!$F$2:$F$419</c:f>
              <c:numCache>
                <c:formatCode>General</c:formatCode>
                <c:ptCount val="418"/>
                <c:pt idx="349">
                  <c:v>83.536254695799997</c:v>
                </c:pt>
                <c:pt idx="350">
                  <c:v>50.0286461058</c:v>
                </c:pt>
                <c:pt idx="351">
                  <c:v>55.730604012699999</c:v>
                </c:pt>
                <c:pt idx="352">
                  <c:v>90.579777594299998</c:v>
                </c:pt>
                <c:pt idx="353">
                  <c:v>177.827941004</c:v>
                </c:pt>
                <c:pt idx="354">
                  <c:v>273.84196342600001</c:v>
                </c:pt>
                <c:pt idx="355">
                  <c:v>321.96784442500001</c:v>
                </c:pt>
                <c:pt idx="356">
                  <c:v>239.27991734299999</c:v>
                </c:pt>
                <c:pt idx="357">
                  <c:v>349.11519371700001</c:v>
                </c:pt>
                <c:pt idx="358">
                  <c:v>598.88543349199995</c:v>
                </c:pt>
                <c:pt idx="359">
                  <c:v>1027.3507681799999</c:v>
                </c:pt>
                <c:pt idx="360">
                  <c:v>410.46983804400003</c:v>
                </c:pt>
                <c:pt idx="361">
                  <c:v>922.23956510400001</c:v>
                </c:pt>
                <c:pt idx="362">
                  <c:v>973.37738090400001</c:v>
                </c:pt>
                <c:pt idx="363">
                  <c:v>667.14271804099997</c:v>
                </c:pt>
                <c:pt idx="364">
                  <c:v>1382.3722273599999</c:v>
                </c:pt>
                <c:pt idx="365">
                  <c:v>1810.5582430300001</c:v>
                </c:pt>
                <c:pt idx="366">
                  <c:v>1274.8783617700001</c:v>
                </c:pt>
                <c:pt idx="367">
                  <c:v>1762.3564405699999</c:v>
                </c:pt>
                <c:pt idx="368">
                  <c:v>827.882590628</c:v>
                </c:pt>
                <c:pt idx="369">
                  <c:v>1459.0242156300001</c:v>
                </c:pt>
                <c:pt idx="370">
                  <c:v>3554.52235561</c:v>
                </c:pt>
                <c:pt idx="371">
                  <c:v>2308.2415267599999</c:v>
                </c:pt>
                <c:pt idx="372">
                  <c:v>1144.4419008</c:v>
                </c:pt>
                <c:pt idx="373">
                  <c:v>2713.8994312099999</c:v>
                </c:pt>
                <c:pt idx="374">
                  <c:v>1860.0784018100001</c:v>
                </c:pt>
                <c:pt idx="375">
                  <c:v>3367.7802830700002</c:v>
                </c:pt>
                <c:pt idx="376">
                  <c:v>4782.8581416500001</c:v>
                </c:pt>
                <c:pt idx="377">
                  <c:v>5473.7032628799998</c:v>
                </c:pt>
                <c:pt idx="378">
                  <c:v>6264.3353665699997</c:v>
                </c:pt>
                <c:pt idx="379">
                  <c:v>4293.5102100800004</c:v>
                </c:pt>
                <c:pt idx="380">
                  <c:v>6264.3353665699997</c:v>
                </c:pt>
                <c:pt idx="381">
                  <c:v>9389.7980104800008</c:v>
                </c:pt>
                <c:pt idx="382">
                  <c:v>8659.6432335999998</c:v>
                </c:pt>
                <c:pt idx="383">
                  <c:v>9389.7980104800008</c:v>
                </c:pt>
                <c:pt idx="384">
                  <c:v>10181.5172172</c:v>
                </c:pt>
                <c:pt idx="385">
                  <c:v>11341.944035</c:v>
                </c:pt>
                <c:pt idx="386">
                  <c:v>13335.2143216</c:v>
                </c:pt>
                <c:pt idx="387">
                  <c:v>18938.420273299998</c:v>
                </c:pt>
                <c:pt idx="388">
                  <c:v>16548.170999400001</c:v>
                </c:pt>
                <c:pt idx="389">
                  <c:v>21096.905134100001</c:v>
                </c:pt>
                <c:pt idx="390">
                  <c:v>17000.776188200001</c:v>
                </c:pt>
                <c:pt idx="391">
                  <c:v>21096.905134100001</c:v>
                </c:pt>
                <c:pt idx="392">
                  <c:v>18938.420273299998</c:v>
                </c:pt>
                <c:pt idx="393">
                  <c:v>21096.905134100001</c:v>
                </c:pt>
                <c:pt idx="394">
                  <c:v>35226.946514700001</c:v>
                </c:pt>
                <c:pt idx="395">
                  <c:v>23501.400846100001</c:v>
                </c:pt>
                <c:pt idx="396">
                  <c:v>31622.776601699999</c:v>
                </c:pt>
                <c:pt idx="397">
                  <c:v>14074.6466334</c:v>
                </c:pt>
                <c:pt idx="398">
                  <c:v>20535.250264599999</c:v>
                </c:pt>
                <c:pt idx="399">
                  <c:v>36600</c:v>
                </c:pt>
                <c:pt idx="400">
                  <c:v>21100</c:v>
                </c:pt>
                <c:pt idx="401">
                  <c:v>37700</c:v>
                </c:pt>
                <c:pt idx="402">
                  <c:v>42000</c:v>
                </c:pt>
                <c:pt idx="403">
                  <c:v>25800</c:v>
                </c:pt>
                <c:pt idx="404">
                  <c:v>46000.7</c:v>
                </c:pt>
                <c:pt idx="405">
                  <c:v>39000.400000000001</c:v>
                </c:pt>
                <c:pt idx="406">
                  <c:v>33000.6</c:v>
                </c:pt>
                <c:pt idx="407">
                  <c:v>31000.799999999999</c:v>
                </c:pt>
                <c:pt idx="408">
                  <c:v>59000</c:v>
                </c:pt>
                <c:pt idx="409">
                  <c:v>33000.699999999997</c:v>
                </c:pt>
                <c:pt idx="410">
                  <c:v>59000.6</c:v>
                </c:pt>
                <c:pt idx="411">
                  <c:v>59000.9</c:v>
                </c:pt>
                <c:pt idx="412">
                  <c:v>66000.399999999994</c:v>
                </c:pt>
                <c:pt idx="413">
                  <c:v>65000.4</c:v>
                </c:pt>
                <c:pt idx="414">
                  <c:v>66000.100000000006</c:v>
                </c:pt>
                <c:pt idx="415">
                  <c:v>73900.2</c:v>
                </c:pt>
                <c:pt idx="416">
                  <c:v>77900.2</c:v>
                </c:pt>
                <c:pt idx="417">
                  <c:v>83600.3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99C-4E7A-ADB6-686818FF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4555088"/>
        <c:axId val="654551480"/>
      </c:scatterChart>
      <c:valAx>
        <c:axId val="654555088"/>
        <c:scaling>
          <c:orientation val="minMax"/>
          <c:min val="19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551480"/>
        <c:crossesAt val="0.1"/>
        <c:crossBetween val="midCat"/>
      </c:valAx>
      <c:valAx>
        <c:axId val="654551480"/>
        <c:scaling>
          <c:logBase val="10"/>
          <c:orientation val="minMax"/>
          <c:max val="1000000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5455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Sheet1!$B$2:$B$419</c:f>
              <c:numCache>
                <c:formatCode>General</c:formatCode>
                <c:ptCount val="41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2</c:v>
                </c:pt>
                <c:pt idx="38">
                  <c:v>1</c:v>
                </c:pt>
                <c:pt idx="39">
                  <c:v>2</c:v>
                </c:pt>
                <c:pt idx="40">
                  <c:v>1</c:v>
                </c:pt>
                <c:pt idx="41">
                  <c:v>8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4</c:v>
                </c:pt>
                <c:pt idx="46">
                  <c:v>9</c:v>
                </c:pt>
                <c:pt idx="47">
                  <c:v>2</c:v>
                </c:pt>
                <c:pt idx="48">
                  <c:v>2</c:v>
                </c:pt>
                <c:pt idx="49">
                  <c:v>8</c:v>
                </c:pt>
                <c:pt idx="50">
                  <c:v>4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4</c:v>
                </c:pt>
                <c:pt idx="55">
                  <c:v>3</c:v>
                </c:pt>
                <c:pt idx="56">
                  <c:v>8</c:v>
                </c:pt>
                <c:pt idx="57">
                  <c:v>6</c:v>
                </c:pt>
                <c:pt idx="58">
                  <c:v>16</c:v>
                </c:pt>
                <c:pt idx="59">
                  <c:v>12</c:v>
                </c:pt>
                <c:pt idx="60">
                  <c:v>20</c:v>
                </c:pt>
                <c:pt idx="61">
                  <c:v>8</c:v>
                </c:pt>
                <c:pt idx="62">
                  <c:v>16</c:v>
                </c:pt>
                <c:pt idx="63">
                  <c:v>16</c:v>
                </c:pt>
                <c:pt idx="64">
                  <c:v>32</c:v>
                </c:pt>
                <c:pt idx="65">
                  <c:v>16</c:v>
                </c:pt>
                <c:pt idx="66">
                  <c:v>240</c:v>
                </c:pt>
                <c:pt idx="67">
                  <c:v>24</c:v>
                </c:pt>
                <c:pt idx="68">
                  <c:v>30</c:v>
                </c:pt>
                <c:pt idx="69">
                  <c:v>64</c:v>
                </c:pt>
                <c:pt idx="70">
                  <c:v>16</c:v>
                </c:pt>
                <c:pt idx="71">
                  <c:v>24</c:v>
                </c:pt>
                <c:pt idx="72">
                  <c:v>36</c:v>
                </c:pt>
                <c:pt idx="73">
                  <c:v>44</c:v>
                </c:pt>
                <c:pt idx="74">
                  <c:v>272</c:v>
                </c:pt>
                <c:pt idx="75">
                  <c:v>96</c:v>
                </c:pt>
                <c:pt idx="76">
                  <c:v>64</c:v>
                </c:pt>
                <c:pt idx="77">
                  <c:v>44</c:v>
                </c:pt>
                <c:pt idx="78">
                  <c:v>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9C-4E7A-ADB6-686818FF8C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Sheet1!$C$2:$C$419</c:f>
              <c:numCache>
                <c:formatCode>General</c:formatCode>
                <c:ptCount val="418"/>
                <c:pt idx="79">
                  <c:v>0.70413551548599995</c:v>
                </c:pt>
                <c:pt idx="80">
                  <c:v>0.50936752167800003</c:v>
                </c:pt>
                <c:pt idx="81">
                  <c:v>2.01691455473</c:v>
                </c:pt>
                <c:pt idx="82">
                  <c:v>5.04806571667</c:v>
                </c:pt>
                <c:pt idx="83">
                  <c:v>6.0975623522099998</c:v>
                </c:pt>
                <c:pt idx="84">
                  <c:v>16.107615346199999</c:v>
                </c:pt>
                <c:pt idx="85">
                  <c:v>16.107615346199999</c:v>
                </c:pt>
                <c:pt idx="86">
                  <c:v>40.315193628599999</c:v>
                </c:pt>
                <c:pt idx="87">
                  <c:v>24.804544143099999</c:v>
                </c:pt>
                <c:pt idx="88">
                  <c:v>33.376246942900003</c:v>
                </c:pt>
                <c:pt idx="89">
                  <c:v>65.524882373699995</c:v>
                </c:pt>
                <c:pt idx="90">
                  <c:v>60.4296390238</c:v>
                </c:pt>
                <c:pt idx="91">
                  <c:v>100.903504484</c:v>
                </c:pt>
                <c:pt idx="92">
                  <c:v>198.09567785499999</c:v>
                </c:pt>
                <c:pt idx="93">
                  <c:v>67.317038241399999</c:v>
                </c:pt>
                <c:pt idx="94">
                  <c:v>40.315193628599999</c:v>
                </c:pt>
                <c:pt idx="95">
                  <c:v>151.24725453100001</c:v>
                </c:pt>
                <c:pt idx="96">
                  <c:v>296.93148481999998</c:v>
                </c:pt>
                <c:pt idx="97">
                  <c:v>296.93148481999998</c:v>
                </c:pt>
                <c:pt idx="98">
                  <c:v>90.579777594299998</c:v>
                </c:pt>
                <c:pt idx="99">
                  <c:v>198.09567785499999</c:v>
                </c:pt>
                <c:pt idx="100">
                  <c:v>198.09567785499999</c:v>
                </c:pt>
                <c:pt idx="101">
                  <c:v>90.579777594299998</c:v>
                </c:pt>
                <c:pt idx="102">
                  <c:v>509.367521678</c:v>
                </c:pt>
                <c:pt idx="103">
                  <c:v>252.54789325799999</c:v>
                </c:pt>
                <c:pt idx="104">
                  <c:v>537.61174745599999</c:v>
                </c:pt>
                <c:pt idx="105">
                  <c:v>232.90965924599999</c:v>
                </c:pt>
                <c:pt idx="106">
                  <c:v>296.93148481999998</c:v>
                </c:pt>
                <c:pt idx="107">
                  <c:v>495.80682416799999</c:v>
                </c:pt>
                <c:pt idx="108">
                  <c:v>296.93148481999998</c:v>
                </c:pt>
                <c:pt idx="109">
                  <c:v>399.54205589499998</c:v>
                </c:pt>
                <c:pt idx="110">
                  <c:v>457.25266989699998</c:v>
                </c:pt>
                <c:pt idx="111">
                  <c:v>509.367521678</c:v>
                </c:pt>
                <c:pt idx="112">
                  <c:v>743.17954878399996</c:v>
                </c:pt>
                <c:pt idx="113">
                  <c:v>1000</c:v>
                </c:pt>
                <c:pt idx="114">
                  <c:v>897.68713244699995</c:v>
                </c:pt>
                <c:pt idx="115">
                  <c:v>2016.91455473</c:v>
                </c:pt>
                <c:pt idx="116">
                  <c:v>805.84218776099999</c:v>
                </c:pt>
                <c:pt idx="117">
                  <c:v>1420.1811696899999</c:v>
                </c:pt>
                <c:pt idx="118">
                  <c:v>2246.7900918099999</c:v>
                </c:pt>
                <c:pt idx="119">
                  <c:v>1810.5582430300001</c:v>
                </c:pt>
                <c:pt idx="120">
                  <c:v>1000</c:v>
                </c:pt>
                <c:pt idx="121">
                  <c:v>1175.7432659200001</c:v>
                </c:pt>
                <c:pt idx="122">
                  <c:v>2186.9746550099999</c:v>
                </c:pt>
                <c:pt idx="123">
                  <c:v>1810.5582430300001</c:v>
                </c:pt>
                <c:pt idx="124">
                  <c:v>2641.6483203900002</c:v>
                </c:pt>
                <c:pt idx="125">
                  <c:v>1910.95297497</c:v>
                </c:pt>
                <c:pt idx="126">
                  <c:v>3651.7412725499998</c:v>
                </c:pt>
                <c:pt idx="127">
                  <c:v>3190.8489806299999</c:v>
                </c:pt>
                <c:pt idx="128">
                  <c:v>2788.12666541</c:v>
                </c:pt>
                <c:pt idx="129">
                  <c:v>1207.9007474299999</c:v>
                </c:pt>
                <c:pt idx="130">
                  <c:v>2246.7900918099999</c:v>
                </c:pt>
                <c:pt idx="131">
                  <c:v>3651.7412725499998</c:v>
                </c:pt>
                <c:pt idx="132">
                  <c:v>2641.6483203900002</c:v>
                </c:pt>
                <c:pt idx="133">
                  <c:v>2713.8994312099999</c:v>
                </c:pt>
                <c:pt idx="134">
                  <c:v>2308.2415267599999</c:v>
                </c:pt>
                <c:pt idx="135">
                  <c:v>2942.7271762099999</c:v>
                </c:pt>
                <c:pt idx="136">
                  <c:v>4655.5259311600003</c:v>
                </c:pt>
                <c:pt idx="137">
                  <c:v>4067.94432108</c:v>
                </c:pt>
                <c:pt idx="138">
                  <c:v>2016.91455473</c:v>
                </c:pt>
                <c:pt idx="139">
                  <c:v>1420.1811696899999</c:v>
                </c:pt>
                <c:pt idx="140">
                  <c:v>2016.91455473</c:v>
                </c:pt>
                <c:pt idx="141">
                  <c:v>2308.2415267599999</c:v>
                </c:pt>
                <c:pt idx="142">
                  <c:v>3023.2130250199998</c:v>
                </c:pt>
                <c:pt idx="143">
                  <c:v>2502.8654311700002</c:v>
                </c:pt>
                <c:pt idx="144">
                  <c:v>3278.1211513899998</c:v>
                </c:pt>
                <c:pt idx="145">
                  <c:v>2641.6483203900002</c:v>
                </c:pt>
                <c:pt idx="146">
                  <c:v>2641.6483203900002</c:v>
                </c:pt>
                <c:pt idx="147">
                  <c:v>3278.1211513899998</c:v>
                </c:pt>
                <c:pt idx="148">
                  <c:v>2308.2415267599999</c:v>
                </c:pt>
                <c:pt idx="149">
                  <c:v>3470</c:v>
                </c:pt>
                <c:pt idx="150">
                  <c:v>2400</c:v>
                </c:pt>
                <c:pt idx="151">
                  <c:v>3000</c:v>
                </c:pt>
                <c:pt idx="152">
                  <c:v>3100</c:v>
                </c:pt>
                <c:pt idx="153">
                  <c:v>2900</c:v>
                </c:pt>
                <c:pt idx="154">
                  <c:v>3700</c:v>
                </c:pt>
                <c:pt idx="155">
                  <c:v>2500</c:v>
                </c:pt>
                <c:pt idx="156">
                  <c:v>1200</c:v>
                </c:pt>
                <c:pt idx="157">
                  <c:v>2700</c:v>
                </c:pt>
                <c:pt idx="158">
                  <c:v>2800</c:v>
                </c:pt>
                <c:pt idx="159">
                  <c:v>3700</c:v>
                </c:pt>
                <c:pt idx="160">
                  <c:v>3200</c:v>
                </c:pt>
                <c:pt idx="161">
                  <c:v>2600</c:v>
                </c:pt>
                <c:pt idx="162">
                  <c:v>2300</c:v>
                </c:pt>
                <c:pt idx="163">
                  <c:v>2200</c:v>
                </c:pt>
                <c:pt idx="164">
                  <c:v>1500</c:v>
                </c:pt>
                <c:pt idx="165">
                  <c:v>4000</c:v>
                </c:pt>
                <c:pt idx="166">
                  <c:v>2200</c:v>
                </c:pt>
                <c:pt idx="167">
                  <c:v>2100</c:v>
                </c:pt>
                <c:pt idx="168">
                  <c:v>2500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99C-4E7A-ADB6-686818FF8C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Transistors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Sheet1!$D$2:$D$419</c:f>
              <c:numCache>
                <c:formatCode>General</c:formatCode>
                <c:ptCount val="418"/>
                <c:pt idx="169">
                  <c:v>2.3082415267599998</c:v>
                </c:pt>
                <c:pt idx="170">
                  <c:v>3.5545223556100001</c:v>
                </c:pt>
                <c:pt idx="171">
                  <c:v>6.0975623522099998</c:v>
                </c:pt>
                <c:pt idx="172">
                  <c:v>29.1637757405</c:v>
                </c:pt>
                <c:pt idx="173">
                  <c:v>135.77271421099999</c:v>
                </c:pt>
                <c:pt idx="174">
                  <c:v>273.84196342600001</c:v>
                </c:pt>
                <c:pt idx="175">
                  <c:v>109.411381058</c:v>
                </c:pt>
                <c:pt idx="176">
                  <c:v>121.88141848399999</c:v>
                </c:pt>
                <c:pt idx="177">
                  <c:v>1207.9007474299999</c:v>
                </c:pt>
                <c:pt idx="178">
                  <c:v>1207.9007474299999</c:v>
                </c:pt>
                <c:pt idx="179">
                  <c:v>1207.9007474299999</c:v>
                </c:pt>
                <c:pt idx="180">
                  <c:v>3105.9002236199999</c:v>
                </c:pt>
                <c:pt idx="181">
                  <c:v>1113.9738599899999</c:v>
                </c:pt>
                <c:pt idx="182">
                  <c:v>1715.43789634</c:v>
                </c:pt>
                <c:pt idx="183">
                  <c:v>3105.9002236199999</c:v>
                </c:pt>
                <c:pt idx="184">
                  <c:v>922.23956510400001</c:v>
                </c:pt>
                <c:pt idx="185">
                  <c:v>1910.95297497</c:v>
                </c:pt>
                <c:pt idx="186">
                  <c:v>2788.12666541</c:v>
                </c:pt>
                <c:pt idx="187">
                  <c:v>9646.6161991099998</c:v>
                </c:pt>
                <c:pt idx="188">
                  <c:v>3105.9002236199999</c:v>
                </c:pt>
                <c:pt idx="189">
                  <c:v>5473.7032628799998</c:v>
                </c:pt>
                <c:pt idx="190">
                  <c:v>6792.52507006</c:v>
                </c:pt>
                <c:pt idx="191">
                  <c:v>3651.7412725499998</c:v>
                </c:pt>
                <c:pt idx="192">
                  <c:v>4293.5102100800004</c:v>
                </c:pt>
                <c:pt idx="193">
                  <c:v>9646.6161991099998</c:v>
                </c:pt>
                <c:pt idx="194">
                  <c:v>5473.7032628799998</c:v>
                </c:pt>
                <c:pt idx="195">
                  <c:v>3554.52235561</c:v>
                </c:pt>
                <c:pt idx="196">
                  <c:v>8896.4911281999994</c:v>
                </c:pt>
                <c:pt idx="197">
                  <c:v>7566.6953714000001</c:v>
                </c:pt>
                <c:pt idx="198">
                  <c:v>15261.378025800001</c:v>
                </c:pt>
                <c:pt idx="199">
                  <c:v>9389.7980104800008</c:v>
                </c:pt>
                <c:pt idx="200">
                  <c:v>6978.3058486</c:v>
                </c:pt>
                <c:pt idx="201">
                  <c:v>9389.7980104800008</c:v>
                </c:pt>
                <c:pt idx="202">
                  <c:v>21673.921695699999</c:v>
                </c:pt>
                <c:pt idx="203">
                  <c:v>22266.7201035</c:v>
                </c:pt>
                <c:pt idx="204">
                  <c:v>28387.359647599998</c:v>
                </c:pt>
                <c:pt idx="205">
                  <c:v>37180.266639100002</c:v>
                </c:pt>
                <c:pt idx="206">
                  <c:v>29163.775740500001</c:v>
                </c:pt>
                <c:pt idx="207">
                  <c:v>42550.655024699998</c:v>
                </c:pt>
                <c:pt idx="208">
                  <c:v>25482.967479800001</c:v>
                </c:pt>
                <c:pt idx="209">
                  <c:v>37180.266639100002</c:v>
                </c:pt>
                <c:pt idx="210">
                  <c:v>55730.604012700001</c:v>
                </c:pt>
                <c:pt idx="211">
                  <c:v>38197.175492800001</c:v>
                </c:pt>
                <c:pt idx="212">
                  <c:v>220673.406908</c:v>
                </c:pt>
                <c:pt idx="213">
                  <c:v>151247.25453100001</c:v>
                </c:pt>
                <c:pt idx="214">
                  <c:v>54246.909370100002</c:v>
                </c:pt>
                <c:pt idx="215">
                  <c:v>106498.56353499999</c:v>
                </c:pt>
                <c:pt idx="216">
                  <c:v>125214.968907</c:v>
                </c:pt>
                <c:pt idx="217">
                  <c:v>106498.56353499999</c:v>
                </c:pt>
                <c:pt idx="218">
                  <c:v>273841.96342599997</c:v>
                </c:pt>
                <c:pt idx="219">
                  <c:v>232909.659246</c:v>
                </c:pt>
                <c:pt idx="220">
                  <c:v>112403.866377</c:v>
                </c:pt>
                <c:pt idx="221">
                  <c:v>305052.78902700002</c:v>
                </c:pt>
                <c:pt idx="222">
                  <c:v>115478.198469</c:v>
                </c:pt>
                <c:pt idx="223">
                  <c:v>378551.52492599998</c:v>
                </c:pt>
                <c:pt idx="224">
                  <c:v>155383.98312700001</c:v>
                </c:pt>
                <c:pt idx="225">
                  <c:v>245824.406892</c:v>
                </c:pt>
                <c:pt idx="226">
                  <c:v>296931.48482000001</c:v>
                </c:pt>
                <c:pt idx="227">
                  <c:v>582941.53471399995</c:v>
                </c:pt>
                <c:pt idx="228">
                  <c:v>151247.25453100001</c:v>
                </c:pt>
                <c:pt idx="229">
                  <c:v>582941.53471399995</c:v>
                </c:pt>
                <c:pt idx="230">
                  <c:v>232909.659246</c:v>
                </c:pt>
                <c:pt idx="231">
                  <c:v>805842.18776100001</c:v>
                </c:pt>
                <c:pt idx="232">
                  <c:v>115478.198469</c:v>
                </c:pt>
                <c:pt idx="233">
                  <c:v>509367.52167799999</c:v>
                </c:pt>
                <c:pt idx="234">
                  <c:v>445079.40623600001</c:v>
                </c:pt>
                <c:pt idx="235">
                  <c:v>410469.83804399997</c:v>
                </c:pt>
                <c:pt idx="236">
                  <c:v>457252.66989700001</c:v>
                </c:pt>
                <c:pt idx="237">
                  <c:v>784388.55814500002</c:v>
                </c:pt>
                <c:pt idx="238">
                  <c:v>2308241.5267599998</c:v>
                </c:pt>
                <c:pt idx="239">
                  <c:v>1910952.9749700001</c:v>
                </c:pt>
                <c:pt idx="240">
                  <c:v>410469.83804399997</c:v>
                </c:pt>
                <c:pt idx="241">
                  <c:v>1309747.2642999999</c:v>
                </c:pt>
                <c:pt idx="242">
                  <c:v>1170000</c:v>
                </c:pt>
                <c:pt idx="243">
                  <c:v>2600000</c:v>
                </c:pt>
                <c:pt idx="244">
                  <c:v>1200000</c:v>
                </c:pt>
                <c:pt idx="245">
                  <c:v>2400000</c:v>
                </c:pt>
                <c:pt idx="246">
                  <c:v>2300000</c:v>
                </c:pt>
                <c:pt idx="247">
                  <c:v>2100000</c:v>
                </c:pt>
                <c:pt idx="248">
                  <c:v>1200000</c:v>
                </c:pt>
                <c:pt idx="249">
                  <c:v>5000000</c:v>
                </c:pt>
                <c:pt idx="250">
                  <c:v>4300000</c:v>
                </c:pt>
                <c:pt idx="251">
                  <c:v>4300000</c:v>
                </c:pt>
                <c:pt idx="252">
                  <c:v>4200000</c:v>
                </c:pt>
                <c:pt idx="253">
                  <c:v>2600000</c:v>
                </c:pt>
                <c:pt idx="254">
                  <c:v>3800000</c:v>
                </c:pt>
                <c:pt idx="255">
                  <c:v>5700000</c:v>
                </c:pt>
                <c:pt idx="256">
                  <c:v>7200000</c:v>
                </c:pt>
                <c:pt idx="257">
                  <c:v>8000000</c:v>
                </c:pt>
                <c:pt idx="258">
                  <c:v>19200000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99C-4E7A-ADB6-686818FF8C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Power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Sheet1!$E$2:$E$419</c:f>
              <c:numCache>
                <c:formatCode>General</c:formatCode>
                <c:ptCount val="418"/>
                <c:pt idx="259">
                  <c:v>0.44507940623600001</c:v>
                </c:pt>
                <c:pt idx="260">
                  <c:v>0.421696503429</c:v>
                </c:pt>
                <c:pt idx="261">
                  <c:v>0.92223956510399996</c:v>
                </c:pt>
                <c:pt idx="262">
                  <c:v>1.7154378963400001</c:v>
                </c:pt>
                <c:pt idx="263">
                  <c:v>3.02321302502</c:v>
                </c:pt>
                <c:pt idx="264">
                  <c:v>1.5399265260599999</c:v>
                </c:pt>
                <c:pt idx="265">
                  <c:v>3.02321302502</c:v>
                </c:pt>
                <c:pt idx="266">
                  <c:v>3.9596449889200001</c:v>
                </c:pt>
                <c:pt idx="267">
                  <c:v>2.7881266654100001</c:v>
                </c:pt>
                <c:pt idx="268">
                  <c:v>3.4598916608699999</c:v>
                </c:pt>
                <c:pt idx="269">
                  <c:v>5.9352292723</c:v>
                </c:pt>
                <c:pt idx="270">
                  <c:v>14.4595990307</c:v>
                </c:pt>
                <c:pt idx="271">
                  <c:v>35.226946514700003</c:v>
                </c:pt>
                <c:pt idx="272">
                  <c:v>3.02321302502</c:v>
                </c:pt>
                <c:pt idx="273">
                  <c:v>13.335214321600001</c:v>
                </c:pt>
                <c:pt idx="274">
                  <c:v>28.3873596476</c:v>
                </c:pt>
                <c:pt idx="275">
                  <c:v>3.02321302502</c:v>
                </c:pt>
                <c:pt idx="276">
                  <c:v>50.0286461058</c:v>
                </c:pt>
                <c:pt idx="277">
                  <c:v>16.107615346199999</c:v>
                </c:pt>
                <c:pt idx="278">
                  <c:v>33.376246942900003</c:v>
                </c:pt>
                <c:pt idx="279">
                  <c:v>30.780895465499999</c:v>
                </c:pt>
                <c:pt idx="280">
                  <c:v>10.1815172172</c:v>
                </c:pt>
                <c:pt idx="281">
                  <c:v>11.341944034999999</c:v>
                </c:pt>
                <c:pt idx="282">
                  <c:v>43.714448126100002</c:v>
                </c:pt>
                <c:pt idx="283">
                  <c:v>24.804544143099999</c:v>
                </c:pt>
                <c:pt idx="284">
                  <c:v>36.190430562499998</c:v>
                </c:pt>
                <c:pt idx="285">
                  <c:v>17.0007761882</c:v>
                </c:pt>
                <c:pt idx="286">
                  <c:v>32.487683833699997</c:v>
                </c:pt>
                <c:pt idx="287">
                  <c:v>90.579777594299998</c:v>
                </c:pt>
                <c:pt idx="288">
                  <c:v>29.961427409999999</c:v>
                </c:pt>
                <c:pt idx="289">
                  <c:v>14.0746466334</c:v>
                </c:pt>
                <c:pt idx="290">
                  <c:v>17.0007761882</c:v>
                </c:pt>
                <c:pt idx="291">
                  <c:v>21.096905134099998</c:v>
                </c:pt>
                <c:pt idx="292">
                  <c:v>36.190430562499998</c:v>
                </c:pt>
                <c:pt idx="293">
                  <c:v>48.6967525166</c:v>
                </c:pt>
                <c:pt idx="294">
                  <c:v>19.988548118699999</c:v>
                </c:pt>
                <c:pt idx="295">
                  <c:v>71.0497411443</c:v>
                </c:pt>
                <c:pt idx="296">
                  <c:v>72.993006143499997</c:v>
                </c:pt>
                <c:pt idx="297">
                  <c:v>98.217188918800005</c:v>
                </c:pt>
                <c:pt idx="298">
                  <c:v>57.254878843599997</c:v>
                </c:pt>
                <c:pt idx="299">
                  <c:v>48.6967525166</c:v>
                </c:pt>
                <c:pt idx="300">
                  <c:v>62.082436071899998</c:v>
                </c:pt>
                <c:pt idx="301">
                  <c:v>98.217188918800005</c:v>
                </c:pt>
                <c:pt idx="302">
                  <c:v>155.38398312699999</c:v>
                </c:pt>
                <c:pt idx="303">
                  <c:v>74.989420933199995</c:v>
                </c:pt>
                <c:pt idx="304">
                  <c:v>88.1683066776</c:v>
                </c:pt>
                <c:pt idx="305">
                  <c:v>88.1683066776</c:v>
                </c:pt>
                <c:pt idx="306">
                  <c:v>115.47819846900001</c:v>
                </c:pt>
                <c:pt idx="307">
                  <c:v>100.903504484</c:v>
                </c:pt>
                <c:pt idx="308">
                  <c:v>128.639694494</c:v>
                </c:pt>
                <c:pt idx="309">
                  <c:v>85.821035432499997</c:v>
                </c:pt>
                <c:pt idx="310">
                  <c:v>72.993006143499997</c:v>
                </c:pt>
                <c:pt idx="311">
                  <c:v>24.804544143099999</c:v>
                </c:pt>
                <c:pt idx="312">
                  <c:v>128.639694494</c:v>
                </c:pt>
                <c:pt idx="313">
                  <c:v>65.524882373699995</c:v>
                </c:pt>
                <c:pt idx="314">
                  <c:v>125.214968907</c:v>
                </c:pt>
                <c:pt idx="315">
                  <c:v>74.989420933199995</c:v>
                </c:pt>
                <c:pt idx="316">
                  <c:v>31.6227766017</c:v>
                </c:pt>
                <c:pt idx="317">
                  <c:v>132.158088956</c:v>
                </c:pt>
                <c:pt idx="318">
                  <c:v>100.903504484</c:v>
                </c:pt>
                <c:pt idx="319">
                  <c:v>31.6227766017</c:v>
                </c:pt>
                <c:pt idx="320">
                  <c:v>85.821035432499997</c:v>
                </c:pt>
                <c:pt idx="321">
                  <c:v>77.0404392011</c:v>
                </c:pt>
                <c:pt idx="322">
                  <c:v>95.602390109500007</c:v>
                </c:pt>
                <c:pt idx="323">
                  <c:v>65.524882373699995</c:v>
                </c:pt>
                <c:pt idx="324">
                  <c:v>95.602390109500007</c:v>
                </c:pt>
                <c:pt idx="325">
                  <c:v>132.158088956</c:v>
                </c:pt>
                <c:pt idx="326">
                  <c:v>125.214968907</c:v>
                </c:pt>
                <c:pt idx="327">
                  <c:v>95.602390109500007</c:v>
                </c:pt>
                <c:pt idx="328">
                  <c:v>132.158088956</c:v>
                </c:pt>
                <c:pt idx="329">
                  <c:v>168.485487944</c:v>
                </c:pt>
                <c:pt idx="330">
                  <c:v>130</c:v>
                </c:pt>
                <c:pt idx="331">
                  <c:v>130</c:v>
                </c:pt>
                <c:pt idx="332">
                  <c:v>95</c:v>
                </c:pt>
                <c:pt idx="333">
                  <c:v>140</c:v>
                </c:pt>
                <c:pt idx="334">
                  <c:v>130</c:v>
                </c:pt>
                <c:pt idx="335">
                  <c:v>200</c:v>
                </c:pt>
                <c:pt idx="336">
                  <c:v>115</c:v>
                </c:pt>
                <c:pt idx="337">
                  <c:v>300</c:v>
                </c:pt>
                <c:pt idx="338">
                  <c:v>130</c:v>
                </c:pt>
                <c:pt idx="339">
                  <c:v>155</c:v>
                </c:pt>
                <c:pt idx="340">
                  <c:v>200</c:v>
                </c:pt>
                <c:pt idx="341">
                  <c:v>135</c:v>
                </c:pt>
                <c:pt idx="342">
                  <c:v>135</c:v>
                </c:pt>
                <c:pt idx="343">
                  <c:v>140</c:v>
                </c:pt>
                <c:pt idx="344">
                  <c:v>145</c:v>
                </c:pt>
                <c:pt idx="345">
                  <c:v>245</c:v>
                </c:pt>
                <c:pt idx="346">
                  <c:v>180</c:v>
                </c:pt>
                <c:pt idx="347">
                  <c:v>140</c:v>
                </c:pt>
                <c:pt idx="348">
                  <c:v>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99C-4E7A-ADB6-686818FF8C5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Single-Thread Performance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xVal>
            <c:numRef>
              <c:f>Sheet1!$A$2:$A$419</c:f>
              <c:numCache>
                <c:formatCode>General</c:formatCode>
                <c:ptCount val="418"/>
                <c:pt idx="0">
                  <c:v>1971.875</c:v>
                </c:pt>
                <c:pt idx="1">
                  <c:v>1972.25961538</c:v>
                </c:pt>
                <c:pt idx="2">
                  <c:v>1974.2788461499999</c:v>
                </c:pt>
                <c:pt idx="3">
                  <c:v>1979.61538462</c:v>
                </c:pt>
                <c:pt idx="4">
                  <c:v>1982.30769231</c:v>
                </c:pt>
                <c:pt idx="5">
                  <c:v>1985.9134615400001</c:v>
                </c:pt>
                <c:pt idx="6">
                  <c:v>1986.25</c:v>
                </c:pt>
                <c:pt idx="7">
                  <c:v>1988.6538461499999</c:v>
                </c:pt>
                <c:pt idx="8">
                  <c:v>1989.4711538500001</c:v>
                </c:pt>
                <c:pt idx="9">
                  <c:v>1990.5769230799999</c:v>
                </c:pt>
                <c:pt idx="10">
                  <c:v>1992.3557692300001</c:v>
                </c:pt>
                <c:pt idx="11">
                  <c:v>1992.69230769</c:v>
                </c:pt>
                <c:pt idx="12">
                  <c:v>1992.9807692300001</c:v>
                </c:pt>
                <c:pt idx="13">
                  <c:v>1993.4134615400001</c:v>
                </c:pt>
                <c:pt idx="14">
                  <c:v>1994.7115384599999</c:v>
                </c:pt>
                <c:pt idx="15">
                  <c:v>1995.43269231</c:v>
                </c:pt>
                <c:pt idx="16">
                  <c:v>1995.7692307699999</c:v>
                </c:pt>
                <c:pt idx="17">
                  <c:v>1996.1057692300001</c:v>
                </c:pt>
                <c:pt idx="18">
                  <c:v>1996.49038462</c:v>
                </c:pt>
                <c:pt idx="19">
                  <c:v>1996.875</c:v>
                </c:pt>
                <c:pt idx="20">
                  <c:v>1997.25961538</c:v>
                </c:pt>
                <c:pt idx="21">
                  <c:v>1997.4519230799999</c:v>
                </c:pt>
                <c:pt idx="22">
                  <c:v>1997.69230769</c:v>
                </c:pt>
                <c:pt idx="23">
                  <c:v>1998.8461538500001</c:v>
                </c:pt>
                <c:pt idx="24">
                  <c:v>1999.18269231</c:v>
                </c:pt>
                <c:pt idx="25">
                  <c:v>1999.5192307699999</c:v>
                </c:pt>
                <c:pt idx="26">
                  <c:v>2000.19230769</c:v>
                </c:pt>
                <c:pt idx="27">
                  <c:v>2000.6730769200001</c:v>
                </c:pt>
                <c:pt idx="28">
                  <c:v>2001.1057692300001</c:v>
                </c:pt>
                <c:pt idx="29">
                  <c:v>2001.63461538</c:v>
                </c:pt>
                <c:pt idx="30">
                  <c:v>2001.7788461499999</c:v>
                </c:pt>
                <c:pt idx="31">
                  <c:v>2002.3557692300001</c:v>
                </c:pt>
                <c:pt idx="32">
                  <c:v>2002.74038462</c:v>
                </c:pt>
                <c:pt idx="33">
                  <c:v>2002.93269231</c:v>
                </c:pt>
                <c:pt idx="34">
                  <c:v>2003.31730769</c:v>
                </c:pt>
                <c:pt idx="35">
                  <c:v>2003.50961538</c:v>
                </c:pt>
                <c:pt idx="36">
                  <c:v>2003.7019230799999</c:v>
                </c:pt>
                <c:pt idx="37">
                  <c:v>2004.80769231</c:v>
                </c:pt>
                <c:pt idx="38">
                  <c:v>2004.8557692300001</c:v>
                </c:pt>
                <c:pt idx="39">
                  <c:v>2005.7211538500001</c:v>
                </c:pt>
                <c:pt idx="40">
                  <c:v>2005.81730769</c:v>
                </c:pt>
                <c:pt idx="41">
                  <c:v>2005.9615384599999</c:v>
                </c:pt>
                <c:pt idx="42">
                  <c:v>2006.05769231</c:v>
                </c:pt>
                <c:pt idx="43">
                  <c:v>2006.8269230799999</c:v>
                </c:pt>
                <c:pt idx="44">
                  <c:v>2007.06730769</c:v>
                </c:pt>
                <c:pt idx="45">
                  <c:v>2007.6442307699999</c:v>
                </c:pt>
                <c:pt idx="46">
                  <c:v>2007.74038462</c:v>
                </c:pt>
                <c:pt idx="47">
                  <c:v>2007.74038462</c:v>
                </c:pt>
                <c:pt idx="48">
                  <c:v>2007.88461538</c:v>
                </c:pt>
                <c:pt idx="49">
                  <c:v>2007.9807692300001</c:v>
                </c:pt>
                <c:pt idx="50">
                  <c:v>2008.1730769200001</c:v>
                </c:pt>
                <c:pt idx="51">
                  <c:v>2008.4615384599999</c:v>
                </c:pt>
                <c:pt idx="52">
                  <c:v>2009.18269231</c:v>
                </c:pt>
                <c:pt idx="53">
                  <c:v>2009.2307692300001</c:v>
                </c:pt>
                <c:pt idx="54">
                  <c:v>2009.4711538500001</c:v>
                </c:pt>
                <c:pt idx="55">
                  <c:v>2009.61538462</c:v>
                </c:pt>
                <c:pt idx="56">
                  <c:v>2009.7115384599999</c:v>
                </c:pt>
                <c:pt idx="57">
                  <c:v>2009.7115384599999</c:v>
                </c:pt>
                <c:pt idx="58">
                  <c:v>2010.19230769</c:v>
                </c:pt>
                <c:pt idx="59">
                  <c:v>2011.16</c:v>
                </c:pt>
                <c:pt idx="60">
                  <c:v>2011.32</c:v>
                </c:pt>
                <c:pt idx="61">
                  <c:v>2011.9</c:v>
                </c:pt>
                <c:pt idx="62">
                  <c:v>2012.4</c:v>
                </c:pt>
                <c:pt idx="63">
                  <c:v>2012.41</c:v>
                </c:pt>
                <c:pt idx="64">
                  <c:v>2012.7</c:v>
                </c:pt>
                <c:pt idx="65">
                  <c:v>2012.9</c:v>
                </c:pt>
                <c:pt idx="66">
                  <c:v>2013.4</c:v>
                </c:pt>
                <c:pt idx="67">
                  <c:v>2013.8</c:v>
                </c:pt>
                <c:pt idx="68">
                  <c:v>2014.16</c:v>
                </c:pt>
                <c:pt idx="69">
                  <c:v>2014.5</c:v>
                </c:pt>
                <c:pt idx="70">
                  <c:v>2014.8</c:v>
                </c:pt>
                <c:pt idx="71">
                  <c:v>2014.81</c:v>
                </c:pt>
                <c:pt idx="72">
                  <c:v>2014.82</c:v>
                </c:pt>
                <c:pt idx="73">
                  <c:v>2016.33</c:v>
                </c:pt>
                <c:pt idx="74">
                  <c:v>2016.5</c:v>
                </c:pt>
                <c:pt idx="75">
                  <c:v>2016.67</c:v>
                </c:pt>
                <c:pt idx="76">
                  <c:v>2017.5</c:v>
                </c:pt>
                <c:pt idx="77">
                  <c:v>2017.58</c:v>
                </c:pt>
                <c:pt idx="78">
                  <c:v>2017.59</c:v>
                </c:pt>
                <c:pt idx="79">
                  <c:v>1971.875</c:v>
                </c:pt>
                <c:pt idx="80">
                  <c:v>1972.25961538</c:v>
                </c:pt>
                <c:pt idx="81">
                  <c:v>1974.3269230799999</c:v>
                </c:pt>
                <c:pt idx="82">
                  <c:v>1979.56730769</c:v>
                </c:pt>
                <c:pt idx="83">
                  <c:v>1982.30769231</c:v>
                </c:pt>
                <c:pt idx="84">
                  <c:v>1985.9134615400001</c:v>
                </c:pt>
                <c:pt idx="85">
                  <c:v>1986.25</c:v>
                </c:pt>
                <c:pt idx="86">
                  <c:v>1988.6538461499999</c:v>
                </c:pt>
                <c:pt idx="87">
                  <c:v>1989.4711538500001</c:v>
                </c:pt>
                <c:pt idx="88">
                  <c:v>1990.5769230799999</c:v>
                </c:pt>
                <c:pt idx="89">
                  <c:v>1992.4038461499999</c:v>
                </c:pt>
                <c:pt idx="90">
                  <c:v>1992.69230769</c:v>
                </c:pt>
                <c:pt idx="91">
                  <c:v>1992.69230769</c:v>
                </c:pt>
                <c:pt idx="92">
                  <c:v>1993.0288461499999</c:v>
                </c:pt>
                <c:pt idx="93">
                  <c:v>1993.4134615400001</c:v>
                </c:pt>
                <c:pt idx="94">
                  <c:v>1993.4134615400001</c:v>
                </c:pt>
                <c:pt idx="95">
                  <c:v>1994.7115384599999</c:v>
                </c:pt>
                <c:pt idx="96">
                  <c:v>1994.7115384599999</c:v>
                </c:pt>
                <c:pt idx="97">
                  <c:v>1995.43269231</c:v>
                </c:pt>
                <c:pt idx="98">
                  <c:v>1995.7211538500001</c:v>
                </c:pt>
                <c:pt idx="99">
                  <c:v>1996.1057692300001</c:v>
                </c:pt>
                <c:pt idx="100">
                  <c:v>1996.3461538500001</c:v>
                </c:pt>
                <c:pt idx="101">
                  <c:v>1996.44230769</c:v>
                </c:pt>
                <c:pt idx="102">
                  <c:v>1996.8269230799999</c:v>
                </c:pt>
                <c:pt idx="103">
                  <c:v>1997.3557692300001</c:v>
                </c:pt>
                <c:pt idx="104">
                  <c:v>1997.4519230799999</c:v>
                </c:pt>
                <c:pt idx="105">
                  <c:v>1997.5480769200001</c:v>
                </c:pt>
                <c:pt idx="106">
                  <c:v>1997.6442307699999</c:v>
                </c:pt>
                <c:pt idx="107">
                  <c:v>1998.8461538500001</c:v>
                </c:pt>
                <c:pt idx="108">
                  <c:v>1999.13461538</c:v>
                </c:pt>
                <c:pt idx="109">
                  <c:v>1999.18269231</c:v>
                </c:pt>
                <c:pt idx="110">
                  <c:v>1999.4711538500001</c:v>
                </c:pt>
                <c:pt idx="111">
                  <c:v>1999.4711538500001</c:v>
                </c:pt>
                <c:pt idx="112">
                  <c:v>2000.19230769</c:v>
                </c:pt>
                <c:pt idx="113">
                  <c:v>2000.6730769200001</c:v>
                </c:pt>
                <c:pt idx="114">
                  <c:v>2001.1057692300001</c:v>
                </c:pt>
                <c:pt idx="115">
                  <c:v>2001.2019230799999</c:v>
                </c:pt>
                <c:pt idx="116">
                  <c:v>2001.68269231</c:v>
                </c:pt>
                <c:pt idx="117">
                  <c:v>2001.7788461499999</c:v>
                </c:pt>
                <c:pt idx="118">
                  <c:v>2002.4038461499999</c:v>
                </c:pt>
                <c:pt idx="119">
                  <c:v>2002.7884615400001</c:v>
                </c:pt>
                <c:pt idx="120">
                  <c:v>2002.88461538</c:v>
                </c:pt>
                <c:pt idx="121">
                  <c:v>2003.4134615400001</c:v>
                </c:pt>
                <c:pt idx="122">
                  <c:v>2003.50961538</c:v>
                </c:pt>
                <c:pt idx="123">
                  <c:v>2003.6057692300001</c:v>
                </c:pt>
                <c:pt idx="124">
                  <c:v>2004.80769231</c:v>
                </c:pt>
                <c:pt idx="125">
                  <c:v>2004.80769231</c:v>
                </c:pt>
                <c:pt idx="126">
                  <c:v>2004.8557692300001</c:v>
                </c:pt>
                <c:pt idx="127">
                  <c:v>2005.7211538500001</c:v>
                </c:pt>
                <c:pt idx="128">
                  <c:v>2005.86538462</c:v>
                </c:pt>
                <c:pt idx="129">
                  <c:v>2005.9615384599999</c:v>
                </c:pt>
                <c:pt idx="130">
                  <c:v>2006.00961538</c:v>
                </c:pt>
                <c:pt idx="131">
                  <c:v>2006.875</c:v>
                </c:pt>
                <c:pt idx="132">
                  <c:v>2006.875</c:v>
                </c:pt>
                <c:pt idx="133">
                  <c:v>2007.0192307699999</c:v>
                </c:pt>
                <c:pt idx="134">
                  <c:v>2007.06730769</c:v>
                </c:pt>
                <c:pt idx="135">
                  <c:v>2007.6442307699999</c:v>
                </c:pt>
                <c:pt idx="136">
                  <c:v>2007.74038462</c:v>
                </c:pt>
                <c:pt idx="137">
                  <c:v>2007.74038462</c:v>
                </c:pt>
                <c:pt idx="138">
                  <c:v>2007.8365384599999</c:v>
                </c:pt>
                <c:pt idx="139">
                  <c:v>2007.9807692300001</c:v>
                </c:pt>
                <c:pt idx="140">
                  <c:v>2008.1730769200001</c:v>
                </c:pt>
                <c:pt idx="141">
                  <c:v>2008.1730769200001</c:v>
                </c:pt>
                <c:pt idx="142">
                  <c:v>2008.4615384599999</c:v>
                </c:pt>
                <c:pt idx="143">
                  <c:v>2009.18269231</c:v>
                </c:pt>
                <c:pt idx="144">
                  <c:v>2009.2788461499999</c:v>
                </c:pt>
                <c:pt idx="145">
                  <c:v>2009.4230769200001</c:v>
                </c:pt>
                <c:pt idx="146">
                  <c:v>2009.6634615400001</c:v>
                </c:pt>
                <c:pt idx="147">
                  <c:v>2009.7115384599999</c:v>
                </c:pt>
                <c:pt idx="148">
                  <c:v>2010.19230769</c:v>
                </c:pt>
                <c:pt idx="149">
                  <c:v>2011.16</c:v>
                </c:pt>
                <c:pt idx="150">
                  <c:v>2011.32</c:v>
                </c:pt>
                <c:pt idx="151">
                  <c:v>2011.9</c:v>
                </c:pt>
                <c:pt idx="152">
                  <c:v>2012.4</c:v>
                </c:pt>
                <c:pt idx="153">
                  <c:v>2012.41</c:v>
                </c:pt>
                <c:pt idx="154">
                  <c:v>2012.7</c:v>
                </c:pt>
                <c:pt idx="155">
                  <c:v>2012.9</c:v>
                </c:pt>
                <c:pt idx="156">
                  <c:v>2013.4</c:v>
                </c:pt>
                <c:pt idx="157">
                  <c:v>2013.8</c:v>
                </c:pt>
                <c:pt idx="158">
                  <c:v>2014.16</c:v>
                </c:pt>
                <c:pt idx="159">
                  <c:v>2014.5</c:v>
                </c:pt>
                <c:pt idx="160">
                  <c:v>2014.8</c:v>
                </c:pt>
                <c:pt idx="161">
                  <c:v>2014.81</c:v>
                </c:pt>
                <c:pt idx="162">
                  <c:v>2014.82</c:v>
                </c:pt>
                <c:pt idx="163">
                  <c:v>2016.33</c:v>
                </c:pt>
                <c:pt idx="164">
                  <c:v>2016.5</c:v>
                </c:pt>
                <c:pt idx="165">
                  <c:v>2016.67</c:v>
                </c:pt>
                <c:pt idx="166">
                  <c:v>2017.5</c:v>
                </c:pt>
                <c:pt idx="167">
                  <c:v>2017.58</c:v>
                </c:pt>
                <c:pt idx="168">
                  <c:v>2017.59</c:v>
                </c:pt>
                <c:pt idx="169">
                  <c:v>1971.875</c:v>
                </c:pt>
                <c:pt idx="170">
                  <c:v>1972.30769231</c:v>
                </c:pt>
                <c:pt idx="171">
                  <c:v>1974.3269230799999</c:v>
                </c:pt>
                <c:pt idx="172">
                  <c:v>1979.56730769</c:v>
                </c:pt>
                <c:pt idx="173">
                  <c:v>1982.30769231</c:v>
                </c:pt>
                <c:pt idx="174">
                  <c:v>1985.9134615400001</c:v>
                </c:pt>
                <c:pt idx="175">
                  <c:v>1986.25</c:v>
                </c:pt>
                <c:pt idx="176">
                  <c:v>1988.6538461499999</c:v>
                </c:pt>
                <c:pt idx="177">
                  <c:v>1989.4711538500001</c:v>
                </c:pt>
                <c:pt idx="178">
                  <c:v>1990.5769230799999</c:v>
                </c:pt>
                <c:pt idx="179">
                  <c:v>1992.4038461499999</c:v>
                </c:pt>
                <c:pt idx="180">
                  <c:v>1992.69230769</c:v>
                </c:pt>
                <c:pt idx="181">
                  <c:v>1992.69230769</c:v>
                </c:pt>
                <c:pt idx="182">
                  <c:v>1993.0288461499999</c:v>
                </c:pt>
                <c:pt idx="183">
                  <c:v>1993.4134615400001</c:v>
                </c:pt>
                <c:pt idx="184">
                  <c:v>1993.4134615400001</c:v>
                </c:pt>
                <c:pt idx="185">
                  <c:v>1994.7115384599999</c:v>
                </c:pt>
                <c:pt idx="186">
                  <c:v>1994.7115384599999</c:v>
                </c:pt>
                <c:pt idx="187">
                  <c:v>1995.43269231</c:v>
                </c:pt>
                <c:pt idx="188">
                  <c:v>1995.7211538500001</c:v>
                </c:pt>
                <c:pt idx="189">
                  <c:v>1996.1538461499999</c:v>
                </c:pt>
                <c:pt idx="190">
                  <c:v>1996.3461538500001</c:v>
                </c:pt>
                <c:pt idx="191">
                  <c:v>1996.3461538500001</c:v>
                </c:pt>
                <c:pt idx="192">
                  <c:v>1996.44230769</c:v>
                </c:pt>
                <c:pt idx="193">
                  <c:v>1996.8269230799999</c:v>
                </c:pt>
                <c:pt idx="194">
                  <c:v>1997.3557692300001</c:v>
                </c:pt>
                <c:pt idx="195">
                  <c:v>1997.4519230799999</c:v>
                </c:pt>
                <c:pt idx="196">
                  <c:v>1997.5480769200001</c:v>
                </c:pt>
                <c:pt idx="197">
                  <c:v>1997.6442307699999</c:v>
                </c:pt>
                <c:pt idx="198">
                  <c:v>1998.8942307699999</c:v>
                </c:pt>
                <c:pt idx="199">
                  <c:v>1999.13461538</c:v>
                </c:pt>
                <c:pt idx="200">
                  <c:v>1999.18269231</c:v>
                </c:pt>
                <c:pt idx="201">
                  <c:v>1999.4711538500001</c:v>
                </c:pt>
                <c:pt idx="202">
                  <c:v>1999.4711538500001</c:v>
                </c:pt>
                <c:pt idx="203">
                  <c:v>2000.19230769</c:v>
                </c:pt>
                <c:pt idx="204">
                  <c:v>2000.6730769200001</c:v>
                </c:pt>
                <c:pt idx="205">
                  <c:v>2000.6730769200001</c:v>
                </c:pt>
                <c:pt idx="206">
                  <c:v>2001.1057692300001</c:v>
                </c:pt>
                <c:pt idx="207">
                  <c:v>2001.2019230799999</c:v>
                </c:pt>
                <c:pt idx="208">
                  <c:v>2001.68269231</c:v>
                </c:pt>
                <c:pt idx="209">
                  <c:v>2001.8269230799999</c:v>
                </c:pt>
                <c:pt idx="210">
                  <c:v>2002.4038461499999</c:v>
                </c:pt>
                <c:pt idx="211">
                  <c:v>2002.7884615400001</c:v>
                </c:pt>
                <c:pt idx="212">
                  <c:v>2002.88461538</c:v>
                </c:pt>
                <c:pt idx="213">
                  <c:v>2003.4134615400001</c:v>
                </c:pt>
                <c:pt idx="214">
                  <c:v>2003.50961538</c:v>
                </c:pt>
                <c:pt idx="215">
                  <c:v>2003.6538461499999</c:v>
                </c:pt>
                <c:pt idx="216">
                  <c:v>2004.80769231</c:v>
                </c:pt>
                <c:pt idx="217">
                  <c:v>2004.80769231</c:v>
                </c:pt>
                <c:pt idx="218">
                  <c:v>2004.80769231</c:v>
                </c:pt>
                <c:pt idx="219">
                  <c:v>2005.7211538500001</c:v>
                </c:pt>
                <c:pt idx="220">
                  <c:v>2005.81730769</c:v>
                </c:pt>
                <c:pt idx="221">
                  <c:v>2005.9615384599999</c:v>
                </c:pt>
                <c:pt idx="222">
                  <c:v>2006.05769231</c:v>
                </c:pt>
                <c:pt idx="223">
                  <c:v>2006.875</c:v>
                </c:pt>
                <c:pt idx="224">
                  <c:v>2006.875</c:v>
                </c:pt>
                <c:pt idx="225">
                  <c:v>2006.9230769200001</c:v>
                </c:pt>
                <c:pt idx="226">
                  <c:v>2006.9711538500001</c:v>
                </c:pt>
                <c:pt idx="227">
                  <c:v>2006.9711538500001</c:v>
                </c:pt>
                <c:pt idx="228">
                  <c:v>2007.06730769</c:v>
                </c:pt>
                <c:pt idx="229">
                  <c:v>2007.6442307699999</c:v>
                </c:pt>
                <c:pt idx="230">
                  <c:v>2007.74038462</c:v>
                </c:pt>
                <c:pt idx="231">
                  <c:v>2007.7884615400001</c:v>
                </c:pt>
                <c:pt idx="232">
                  <c:v>2007.8365384599999</c:v>
                </c:pt>
                <c:pt idx="233">
                  <c:v>2007.9807692300001</c:v>
                </c:pt>
                <c:pt idx="234">
                  <c:v>2008.2211538500001</c:v>
                </c:pt>
                <c:pt idx="235">
                  <c:v>2008.4615384599999</c:v>
                </c:pt>
                <c:pt idx="236">
                  <c:v>2009.18269231</c:v>
                </c:pt>
                <c:pt idx="237">
                  <c:v>2009.2788461499999</c:v>
                </c:pt>
                <c:pt idx="238">
                  <c:v>2009.6634615400001</c:v>
                </c:pt>
                <c:pt idx="239">
                  <c:v>2009.7115384599999</c:v>
                </c:pt>
                <c:pt idx="240">
                  <c:v>2010.19230769</c:v>
                </c:pt>
                <c:pt idx="241">
                  <c:v>2010.38461538</c:v>
                </c:pt>
                <c:pt idx="242">
                  <c:v>2011.16</c:v>
                </c:pt>
                <c:pt idx="243">
                  <c:v>2011.32</c:v>
                </c:pt>
                <c:pt idx="244">
                  <c:v>2011.9</c:v>
                </c:pt>
                <c:pt idx="245">
                  <c:v>2012.4</c:v>
                </c:pt>
                <c:pt idx="246">
                  <c:v>2012.41</c:v>
                </c:pt>
                <c:pt idx="247">
                  <c:v>2012.7</c:v>
                </c:pt>
                <c:pt idx="248">
                  <c:v>2012.9</c:v>
                </c:pt>
                <c:pt idx="249">
                  <c:v>2013.4</c:v>
                </c:pt>
                <c:pt idx="250">
                  <c:v>2013.8</c:v>
                </c:pt>
                <c:pt idx="251">
                  <c:v>2014.16</c:v>
                </c:pt>
                <c:pt idx="252">
                  <c:v>2014.5</c:v>
                </c:pt>
                <c:pt idx="253">
                  <c:v>2014.8</c:v>
                </c:pt>
                <c:pt idx="254">
                  <c:v>2014.81</c:v>
                </c:pt>
                <c:pt idx="255">
                  <c:v>2014.82</c:v>
                </c:pt>
                <c:pt idx="256">
                  <c:v>2016.33</c:v>
                </c:pt>
                <c:pt idx="257">
                  <c:v>2016.67</c:v>
                </c:pt>
                <c:pt idx="258">
                  <c:v>2017.5</c:v>
                </c:pt>
                <c:pt idx="259">
                  <c:v>1971.875</c:v>
                </c:pt>
                <c:pt idx="260">
                  <c:v>1972.30769231</c:v>
                </c:pt>
                <c:pt idx="261">
                  <c:v>1974.3269230799999</c:v>
                </c:pt>
                <c:pt idx="262">
                  <c:v>1979.56730769</c:v>
                </c:pt>
                <c:pt idx="263">
                  <c:v>1982.30769231</c:v>
                </c:pt>
                <c:pt idx="264">
                  <c:v>1985.9134615400001</c:v>
                </c:pt>
                <c:pt idx="265">
                  <c:v>1986.25</c:v>
                </c:pt>
                <c:pt idx="266">
                  <c:v>1988.6538461499999</c:v>
                </c:pt>
                <c:pt idx="267">
                  <c:v>1989.4711538500001</c:v>
                </c:pt>
                <c:pt idx="268">
                  <c:v>1990.5769230799999</c:v>
                </c:pt>
                <c:pt idx="269">
                  <c:v>1992.4038461499999</c:v>
                </c:pt>
                <c:pt idx="270">
                  <c:v>1992.69230769</c:v>
                </c:pt>
                <c:pt idx="271">
                  <c:v>1993.0288461499999</c:v>
                </c:pt>
                <c:pt idx="272">
                  <c:v>1993.4134615400001</c:v>
                </c:pt>
                <c:pt idx="273">
                  <c:v>1993.4134615400001</c:v>
                </c:pt>
                <c:pt idx="274">
                  <c:v>1994.7115384599999</c:v>
                </c:pt>
                <c:pt idx="275">
                  <c:v>1994.7115384599999</c:v>
                </c:pt>
                <c:pt idx="276">
                  <c:v>1995.43269231</c:v>
                </c:pt>
                <c:pt idx="277">
                  <c:v>1995.7211538500001</c:v>
                </c:pt>
                <c:pt idx="278">
                  <c:v>1996.1538461499999</c:v>
                </c:pt>
                <c:pt idx="279">
                  <c:v>1996.2980769200001</c:v>
                </c:pt>
                <c:pt idx="280">
                  <c:v>1996.3461538500001</c:v>
                </c:pt>
                <c:pt idx="281">
                  <c:v>1996.44230769</c:v>
                </c:pt>
                <c:pt idx="282">
                  <c:v>1996.875</c:v>
                </c:pt>
                <c:pt idx="283">
                  <c:v>1997.3557692300001</c:v>
                </c:pt>
                <c:pt idx="284">
                  <c:v>1997.4519230799999</c:v>
                </c:pt>
                <c:pt idx="285">
                  <c:v>1997.5480769200001</c:v>
                </c:pt>
                <c:pt idx="286">
                  <c:v>1997.6442307699999</c:v>
                </c:pt>
                <c:pt idx="287">
                  <c:v>1998.8942307699999</c:v>
                </c:pt>
                <c:pt idx="288">
                  <c:v>1999.18269231</c:v>
                </c:pt>
                <c:pt idx="289">
                  <c:v>1999.18269231</c:v>
                </c:pt>
                <c:pt idx="290">
                  <c:v>1999.4711538500001</c:v>
                </c:pt>
                <c:pt idx="291">
                  <c:v>1999.4711538500001</c:v>
                </c:pt>
                <c:pt idx="292">
                  <c:v>2000.19230769</c:v>
                </c:pt>
                <c:pt idx="293">
                  <c:v>2000.6730769200001</c:v>
                </c:pt>
                <c:pt idx="294">
                  <c:v>2000.6730769200001</c:v>
                </c:pt>
                <c:pt idx="295">
                  <c:v>2001.1057692300001</c:v>
                </c:pt>
                <c:pt idx="296">
                  <c:v>2001.2019230799999</c:v>
                </c:pt>
                <c:pt idx="297">
                  <c:v>2001.68269231</c:v>
                </c:pt>
                <c:pt idx="298">
                  <c:v>2001.8269230799999</c:v>
                </c:pt>
                <c:pt idx="299">
                  <c:v>2002.4038461499999</c:v>
                </c:pt>
                <c:pt idx="300">
                  <c:v>2002.8365384599999</c:v>
                </c:pt>
                <c:pt idx="301">
                  <c:v>2002.88461538</c:v>
                </c:pt>
                <c:pt idx="302">
                  <c:v>2003.4134615400001</c:v>
                </c:pt>
                <c:pt idx="303">
                  <c:v>2003.50961538</c:v>
                </c:pt>
                <c:pt idx="304">
                  <c:v>2003.6538461499999</c:v>
                </c:pt>
                <c:pt idx="305">
                  <c:v>2004.80769231</c:v>
                </c:pt>
                <c:pt idx="306">
                  <c:v>2004.80769231</c:v>
                </c:pt>
                <c:pt idx="307">
                  <c:v>2004.8557692300001</c:v>
                </c:pt>
                <c:pt idx="308">
                  <c:v>2005.7211538500001</c:v>
                </c:pt>
                <c:pt idx="309">
                  <c:v>2005.81730769</c:v>
                </c:pt>
                <c:pt idx="310">
                  <c:v>2005.9615384599999</c:v>
                </c:pt>
                <c:pt idx="311">
                  <c:v>2006.05769231</c:v>
                </c:pt>
                <c:pt idx="312">
                  <c:v>2006.875</c:v>
                </c:pt>
                <c:pt idx="313">
                  <c:v>2006.9230769200001</c:v>
                </c:pt>
                <c:pt idx="314">
                  <c:v>2006.9230769200001</c:v>
                </c:pt>
                <c:pt idx="315">
                  <c:v>2006.9711538500001</c:v>
                </c:pt>
                <c:pt idx="316">
                  <c:v>2007.06730769</c:v>
                </c:pt>
                <c:pt idx="317">
                  <c:v>2007.6442307699999</c:v>
                </c:pt>
                <c:pt idx="318">
                  <c:v>2007.7884615400001</c:v>
                </c:pt>
                <c:pt idx="319">
                  <c:v>2007.88461538</c:v>
                </c:pt>
                <c:pt idx="320">
                  <c:v>2007.9807692300001</c:v>
                </c:pt>
                <c:pt idx="321">
                  <c:v>2008.1730769200001</c:v>
                </c:pt>
                <c:pt idx="322">
                  <c:v>2008.2211538500001</c:v>
                </c:pt>
                <c:pt idx="323">
                  <c:v>2008.4615384599999</c:v>
                </c:pt>
                <c:pt idx="324">
                  <c:v>2009.18269231</c:v>
                </c:pt>
                <c:pt idx="325">
                  <c:v>2009.2788461499999</c:v>
                </c:pt>
                <c:pt idx="326">
                  <c:v>2009.4711538500001</c:v>
                </c:pt>
                <c:pt idx="327">
                  <c:v>2009.56730769</c:v>
                </c:pt>
                <c:pt idx="328">
                  <c:v>2009.6634615400001</c:v>
                </c:pt>
                <c:pt idx="329">
                  <c:v>2010.38461538</c:v>
                </c:pt>
                <c:pt idx="330">
                  <c:v>2011.16</c:v>
                </c:pt>
                <c:pt idx="331">
                  <c:v>2011.32</c:v>
                </c:pt>
                <c:pt idx="332">
                  <c:v>2011.9</c:v>
                </c:pt>
                <c:pt idx="333">
                  <c:v>2012.4</c:v>
                </c:pt>
                <c:pt idx="334">
                  <c:v>2012.41</c:v>
                </c:pt>
                <c:pt idx="335">
                  <c:v>2012.7</c:v>
                </c:pt>
                <c:pt idx="336">
                  <c:v>2012.9</c:v>
                </c:pt>
                <c:pt idx="337">
                  <c:v>2013.4</c:v>
                </c:pt>
                <c:pt idx="338">
                  <c:v>2013.8</c:v>
                </c:pt>
                <c:pt idx="339">
                  <c:v>2014.16</c:v>
                </c:pt>
                <c:pt idx="340">
                  <c:v>2014.5</c:v>
                </c:pt>
                <c:pt idx="341">
                  <c:v>2014.8</c:v>
                </c:pt>
                <c:pt idx="342">
                  <c:v>2014.81</c:v>
                </c:pt>
                <c:pt idx="343">
                  <c:v>2014.82</c:v>
                </c:pt>
                <c:pt idx="344">
                  <c:v>2016.33</c:v>
                </c:pt>
                <c:pt idx="345">
                  <c:v>2016.5</c:v>
                </c:pt>
                <c:pt idx="346">
                  <c:v>2017.5</c:v>
                </c:pt>
                <c:pt idx="347">
                  <c:v>2017.58</c:v>
                </c:pt>
                <c:pt idx="348">
                  <c:v>2017.59</c:v>
                </c:pt>
                <c:pt idx="349">
                  <c:v>1988.6538461499999</c:v>
                </c:pt>
                <c:pt idx="350">
                  <c:v>1989.4711538500001</c:v>
                </c:pt>
                <c:pt idx="351">
                  <c:v>1990.625</c:v>
                </c:pt>
                <c:pt idx="352">
                  <c:v>1992.4038461499999</c:v>
                </c:pt>
                <c:pt idx="353">
                  <c:v>1992.69230769</c:v>
                </c:pt>
                <c:pt idx="354">
                  <c:v>1992.69230769</c:v>
                </c:pt>
                <c:pt idx="355">
                  <c:v>1993.0288461499999</c:v>
                </c:pt>
                <c:pt idx="356">
                  <c:v>1993.4134615400001</c:v>
                </c:pt>
                <c:pt idx="357">
                  <c:v>1994.75961538</c:v>
                </c:pt>
                <c:pt idx="358">
                  <c:v>1994.75961538</c:v>
                </c:pt>
                <c:pt idx="359">
                  <c:v>1995.43269231</c:v>
                </c:pt>
                <c:pt idx="360">
                  <c:v>1995.7211538500001</c:v>
                </c:pt>
                <c:pt idx="361">
                  <c:v>1996.1538461499999</c:v>
                </c:pt>
                <c:pt idx="362">
                  <c:v>1996.1538461499999</c:v>
                </c:pt>
                <c:pt idx="363">
                  <c:v>1996.3461538500001</c:v>
                </c:pt>
                <c:pt idx="364">
                  <c:v>1996.3461538500001</c:v>
                </c:pt>
                <c:pt idx="365">
                  <c:v>1996.875</c:v>
                </c:pt>
                <c:pt idx="366">
                  <c:v>1997.3557692300001</c:v>
                </c:pt>
                <c:pt idx="367">
                  <c:v>1997.4519230799999</c:v>
                </c:pt>
                <c:pt idx="368">
                  <c:v>1997.5961538500001</c:v>
                </c:pt>
                <c:pt idx="369">
                  <c:v>1997.6442307699999</c:v>
                </c:pt>
                <c:pt idx="370">
                  <c:v>1998.8942307699999</c:v>
                </c:pt>
                <c:pt idx="371">
                  <c:v>1999.18269231</c:v>
                </c:pt>
                <c:pt idx="372">
                  <c:v>1999.18269231</c:v>
                </c:pt>
                <c:pt idx="373">
                  <c:v>1999.4711538500001</c:v>
                </c:pt>
                <c:pt idx="374">
                  <c:v>1999.5192307699999</c:v>
                </c:pt>
                <c:pt idx="375">
                  <c:v>2000.19230769</c:v>
                </c:pt>
                <c:pt idx="376">
                  <c:v>2000.6730769200001</c:v>
                </c:pt>
                <c:pt idx="377">
                  <c:v>2001.1057692300001</c:v>
                </c:pt>
                <c:pt idx="378">
                  <c:v>2001.2019230799999</c:v>
                </c:pt>
                <c:pt idx="379">
                  <c:v>2001.68269231</c:v>
                </c:pt>
                <c:pt idx="380">
                  <c:v>2001.7788461499999</c:v>
                </c:pt>
                <c:pt idx="381">
                  <c:v>2002.4038461499999</c:v>
                </c:pt>
                <c:pt idx="382">
                  <c:v>2002.8365384599999</c:v>
                </c:pt>
                <c:pt idx="383">
                  <c:v>2002.88461538</c:v>
                </c:pt>
                <c:pt idx="384">
                  <c:v>2003.4134615400001</c:v>
                </c:pt>
                <c:pt idx="385">
                  <c:v>2003.50961538</c:v>
                </c:pt>
                <c:pt idx="386">
                  <c:v>2003.6538461499999</c:v>
                </c:pt>
                <c:pt idx="387">
                  <c:v>2004.80769231</c:v>
                </c:pt>
                <c:pt idx="388">
                  <c:v>2004.80769231</c:v>
                </c:pt>
                <c:pt idx="389">
                  <c:v>2004.80769231</c:v>
                </c:pt>
                <c:pt idx="390">
                  <c:v>2005.7692307699999</c:v>
                </c:pt>
                <c:pt idx="391">
                  <c:v>2005.86538462</c:v>
                </c:pt>
                <c:pt idx="392">
                  <c:v>2006.875</c:v>
                </c:pt>
                <c:pt idx="393">
                  <c:v>2006.9230769200001</c:v>
                </c:pt>
                <c:pt idx="394">
                  <c:v>2006.9711538500001</c:v>
                </c:pt>
                <c:pt idx="395">
                  <c:v>2007.06730769</c:v>
                </c:pt>
                <c:pt idx="396">
                  <c:v>2007.7884615400001</c:v>
                </c:pt>
                <c:pt idx="397">
                  <c:v>2007.8365384599999</c:v>
                </c:pt>
                <c:pt idx="398">
                  <c:v>2008.1730769200001</c:v>
                </c:pt>
                <c:pt idx="399">
                  <c:v>2009.3</c:v>
                </c:pt>
                <c:pt idx="400">
                  <c:v>2009.5</c:v>
                </c:pt>
                <c:pt idx="401">
                  <c:v>2009.7</c:v>
                </c:pt>
                <c:pt idx="402">
                  <c:v>2010.3</c:v>
                </c:pt>
                <c:pt idx="403">
                  <c:v>2010.5</c:v>
                </c:pt>
                <c:pt idx="404">
                  <c:v>2011.16</c:v>
                </c:pt>
                <c:pt idx="405">
                  <c:v>2011.32</c:v>
                </c:pt>
                <c:pt idx="406">
                  <c:v>2011.9</c:v>
                </c:pt>
                <c:pt idx="407">
                  <c:v>2012.4</c:v>
                </c:pt>
                <c:pt idx="408">
                  <c:v>2012.41</c:v>
                </c:pt>
                <c:pt idx="409">
                  <c:v>2012.9</c:v>
                </c:pt>
                <c:pt idx="410">
                  <c:v>2013.8</c:v>
                </c:pt>
                <c:pt idx="411">
                  <c:v>2014.16</c:v>
                </c:pt>
                <c:pt idx="412">
                  <c:v>2014.8</c:v>
                </c:pt>
                <c:pt idx="413">
                  <c:v>2014.81</c:v>
                </c:pt>
                <c:pt idx="414">
                  <c:v>2014.82</c:v>
                </c:pt>
                <c:pt idx="415">
                  <c:v>2016.33</c:v>
                </c:pt>
                <c:pt idx="416">
                  <c:v>2017.58</c:v>
                </c:pt>
                <c:pt idx="417">
                  <c:v>2017.59</c:v>
                </c:pt>
              </c:numCache>
            </c:numRef>
          </c:xVal>
          <c:yVal>
            <c:numRef>
              <c:f>Sheet1!$F$2:$F$419</c:f>
              <c:numCache>
                <c:formatCode>General</c:formatCode>
                <c:ptCount val="418"/>
                <c:pt idx="349">
                  <c:v>83.536254695799997</c:v>
                </c:pt>
                <c:pt idx="350">
                  <c:v>50.0286461058</c:v>
                </c:pt>
                <c:pt idx="351">
                  <c:v>55.730604012699999</c:v>
                </c:pt>
                <c:pt idx="352">
                  <c:v>90.579777594299998</c:v>
                </c:pt>
                <c:pt idx="353">
                  <c:v>177.827941004</c:v>
                </c:pt>
                <c:pt idx="354">
                  <c:v>273.84196342600001</c:v>
                </c:pt>
                <c:pt idx="355">
                  <c:v>321.96784442500001</c:v>
                </c:pt>
                <c:pt idx="356">
                  <c:v>239.27991734299999</c:v>
                </c:pt>
                <c:pt idx="357">
                  <c:v>349.11519371700001</c:v>
                </c:pt>
                <c:pt idx="358">
                  <c:v>598.88543349199995</c:v>
                </c:pt>
                <c:pt idx="359">
                  <c:v>1027.3507681799999</c:v>
                </c:pt>
                <c:pt idx="360">
                  <c:v>410.46983804400003</c:v>
                </c:pt>
                <c:pt idx="361">
                  <c:v>922.23956510400001</c:v>
                </c:pt>
                <c:pt idx="362">
                  <c:v>973.37738090400001</c:v>
                </c:pt>
                <c:pt idx="363">
                  <c:v>667.14271804099997</c:v>
                </c:pt>
                <c:pt idx="364">
                  <c:v>1382.3722273599999</c:v>
                </c:pt>
                <c:pt idx="365">
                  <c:v>1810.5582430300001</c:v>
                </c:pt>
                <c:pt idx="366">
                  <c:v>1274.8783617700001</c:v>
                </c:pt>
                <c:pt idx="367">
                  <c:v>1762.3564405699999</c:v>
                </c:pt>
                <c:pt idx="368">
                  <c:v>827.882590628</c:v>
                </c:pt>
                <c:pt idx="369">
                  <c:v>1459.0242156300001</c:v>
                </c:pt>
                <c:pt idx="370">
                  <c:v>3554.52235561</c:v>
                </c:pt>
                <c:pt idx="371">
                  <c:v>2308.2415267599999</c:v>
                </c:pt>
                <c:pt idx="372">
                  <c:v>1144.4419008</c:v>
                </c:pt>
                <c:pt idx="373">
                  <c:v>2713.8994312099999</c:v>
                </c:pt>
                <c:pt idx="374">
                  <c:v>1860.0784018100001</c:v>
                </c:pt>
                <c:pt idx="375">
                  <c:v>3367.7802830700002</c:v>
                </c:pt>
                <c:pt idx="376">
                  <c:v>4782.8581416500001</c:v>
                </c:pt>
                <c:pt idx="377">
                  <c:v>5473.7032628799998</c:v>
                </c:pt>
                <c:pt idx="378">
                  <c:v>6264.3353665699997</c:v>
                </c:pt>
                <c:pt idx="379">
                  <c:v>4293.5102100800004</c:v>
                </c:pt>
                <c:pt idx="380">
                  <c:v>6264.3353665699997</c:v>
                </c:pt>
                <c:pt idx="381">
                  <c:v>9389.7980104800008</c:v>
                </c:pt>
                <c:pt idx="382">
                  <c:v>8659.6432335999998</c:v>
                </c:pt>
                <c:pt idx="383">
                  <c:v>9389.7980104800008</c:v>
                </c:pt>
                <c:pt idx="384">
                  <c:v>10181.5172172</c:v>
                </c:pt>
                <c:pt idx="385">
                  <c:v>11341.944035</c:v>
                </c:pt>
                <c:pt idx="386">
                  <c:v>13335.2143216</c:v>
                </c:pt>
                <c:pt idx="387">
                  <c:v>18938.420273299998</c:v>
                </c:pt>
                <c:pt idx="388">
                  <c:v>16548.170999400001</c:v>
                </c:pt>
                <c:pt idx="389">
                  <c:v>21096.905134100001</c:v>
                </c:pt>
                <c:pt idx="390">
                  <c:v>17000.776188200001</c:v>
                </c:pt>
                <c:pt idx="391">
                  <c:v>21096.905134100001</c:v>
                </c:pt>
                <c:pt idx="392">
                  <c:v>18938.420273299998</c:v>
                </c:pt>
                <c:pt idx="393">
                  <c:v>21096.905134100001</c:v>
                </c:pt>
                <c:pt idx="394">
                  <c:v>35226.946514700001</c:v>
                </c:pt>
                <c:pt idx="395">
                  <c:v>23501.400846100001</c:v>
                </c:pt>
                <c:pt idx="396">
                  <c:v>31622.776601699999</c:v>
                </c:pt>
                <c:pt idx="397">
                  <c:v>14074.6466334</c:v>
                </c:pt>
                <c:pt idx="398">
                  <c:v>20535.250264599999</c:v>
                </c:pt>
                <c:pt idx="399">
                  <c:v>36600</c:v>
                </c:pt>
                <c:pt idx="400">
                  <c:v>21100</c:v>
                </c:pt>
                <c:pt idx="401">
                  <c:v>37700</c:v>
                </c:pt>
                <c:pt idx="402">
                  <c:v>42000</c:v>
                </c:pt>
                <c:pt idx="403">
                  <c:v>25800</c:v>
                </c:pt>
                <c:pt idx="404">
                  <c:v>46000.7</c:v>
                </c:pt>
                <c:pt idx="405">
                  <c:v>39000.400000000001</c:v>
                </c:pt>
                <c:pt idx="406">
                  <c:v>33000.6</c:v>
                </c:pt>
                <c:pt idx="407">
                  <c:v>31000.799999999999</c:v>
                </c:pt>
                <c:pt idx="408">
                  <c:v>59000</c:v>
                </c:pt>
                <c:pt idx="409">
                  <c:v>33000.699999999997</c:v>
                </c:pt>
                <c:pt idx="410">
                  <c:v>59000.6</c:v>
                </c:pt>
                <c:pt idx="411">
                  <c:v>59000.9</c:v>
                </c:pt>
                <c:pt idx="412">
                  <c:v>66000.399999999994</c:v>
                </c:pt>
                <c:pt idx="413">
                  <c:v>65000.4</c:v>
                </c:pt>
                <c:pt idx="414">
                  <c:v>66000.100000000006</c:v>
                </c:pt>
                <c:pt idx="415">
                  <c:v>73900.2</c:v>
                </c:pt>
                <c:pt idx="416">
                  <c:v>77900.2</c:v>
                </c:pt>
                <c:pt idx="417">
                  <c:v>83600.3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99C-4E7A-ADB6-686818FF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4555088"/>
        <c:axId val="654551480"/>
      </c:scatterChart>
      <c:valAx>
        <c:axId val="654555088"/>
        <c:scaling>
          <c:orientation val="minMax"/>
          <c:min val="19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551480"/>
        <c:crossesAt val="0.1"/>
        <c:crossBetween val="midCat"/>
      </c:valAx>
      <c:valAx>
        <c:axId val="654551480"/>
        <c:scaling>
          <c:logBase val="10"/>
          <c:orientation val="minMax"/>
          <c:max val="100000000"/>
          <c:min val="0.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5455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explosion val="1"/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F0-4C70-AC9A-62399A2430C9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F0-4C70-AC9A-62399A2430C9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F0-4C70-AC9A-62399A2430C9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F0-4C70-AC9A-62399A2430C9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AF0-4C70-AC9A-62399A2430C9}"/>
              </c:ext>
            </c:extLst>
          </c:dPt>
          <c:dLbls>
            <c:dLbl>
              <c:idx val="1"/>
              <c:layout>
                <c:manualLayout>
                  <c:x val="-4.6479050705036835E-2"/>
                  <c:y val="2.646887125270081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AF0-4C70-AC9A-62399A2430C9}"/>
                </c:ext>
              </c:extLst>
            </c:dLbl>
            <c:dLbl>
              <c:idx val="2"/>
              <c:layout>
                <c:manualLayout>
                  <c:x val="-1.7706305030490224E-2"/>
                  <c:y val="5.558462963067171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AF0-4C70-AC9A-62399A2430C9}"/>
                </c:ext>
              </c:extLst>
            </c:dLbl>
            <c:dLbl>
              <c:idx val="3"/>
              <c:layout>
                <c:manualLayout>
                  <c:x val="-5.9758779477904499E-2"/>
                  <c:y val="0.1323443562635040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AF0-4C70-AC9A-62399A2430C9}"/>
                </c:ext>
              </c:extLst>
            </c:dLbl>
            <c:dLbl>
              <c:idx val="4"/>
              <c:layout>
                <c:manualLayout>
                  <c:x val="5.7545491349093224E-2"/>
                  <c:y val="0.1482256790151245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EAF0-4C70-AC9A-62399A2430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Other</c:v>
                </c:pt>
                <c:pt idx="1">
                  <c:v>Automotive</c:v>
                </c:pt>
                <c:pt idx="2">
                  <c:v>Professional Visualization</c:v>
                </c:pt>
                <c:pt idx="3">
                  <c:v>Datacenter</c:v>
                </c:pt>
                <c:pt idx="4">
                  <c:v>Gaming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</c:v>
                </c:pt>
                <c:pt idx="1">
                  <c:v>161</c:v>
                </c:pt>
                <c:pt idx="2">
                  <c:v>281</c:v>
                </c:pt>
                <c:pt idx="3">
                  <c:v>760</c:v>
                </c:pt>
                <c:pt idx="4">
                  <c:v>1805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F0-4C70-AC9A-62399A24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31-08-2022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 smtClean="0"/>
              <a:t>Chapter #</a:t>
            </a:r>
            <a:endParaRPr lang="en-US" dirty="0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37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8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Chapter 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981345" y="5537939"/>
            <a:ext cx="6177422" cy="199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M. Horowitz, F.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Labonte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O.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Shacham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K.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Olukotun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L. Hammond, C. Batten (1970-2010 ). K. Rupp (2010-2017).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923606"/>
              </p:ext>
            </p:extLst>
          </p:nvPr>
        </p:nvGraphicFramePr>
        <p:xfrm>
          <a:off x="562062" y="1057590"/>
          <a:ext cx="7361290" cy="460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0F2911-74C9-47AC-B94A-7DED0FD2F34B}"/>
              </a:ext>
            </a:extLst>
          </p:cNvPr>
          <p:cNvSpPr txBox="1"/>
          <p:nvPr/>
        </p:nvSpPr>
        <p:spPr>
          <a:xfrm>
            <a:off x="7574453" y="1235435"/>
            <a:ext cx="1689271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Transistors (thousands)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A030C-82DA-4C85-AA27-29C1E8A74BED}"/>
              </a:ext>
            </a:extLst>
          </p:cNvPr>
          <p:cNvSpPr txBox="1"/>
          <p:nvPr/>
        </p:nvSpPr>
        <p:spPr>
          <a:xfrm>
            <a:off x="470163" y="4601532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0FBE0-AB23-4DF1-BC01-F9918ADD5846}"/>
              </a:ext>
            </a:extLst>
          </p:cNvPr>
          <p:cNvSpPr txBox="1"/>
          <p:nvPr/>
        </p:nvSpPr>
        <p:spPr>
          <a:xfrm>
            <a:off x="470163" y="415191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FB84-041D-45C2-AEB9-1DEF0225B924}"/>
              </a:ext>
            </a:extLst>
          </p:cNvPr>
          <p:cNvSpPr txBox="1"/>
          <p:nvPr/>
        </p:nvSpPr>
        <p:spPr>
          <a:xfrm>
            <a:off x="470163" y="37023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C1E3-2238-456B-BEF0-D51563A44C72}"/>
              </a:ext>
            </a:extLst>
          </p:cNvPr>
          <p:cNvSpPr txBox="1"/>
          <p:nvPr/>
        </p:nvSpPr>
        <p:spPr>
          <a:xfrm>
            <a:off x="470163" y="325268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459AB-C3E1-4A5C-A989-4183BE7FF704}"/>
              </a:ext>
            </a:extLst>
          </p:cNvPr>
          <p:cNvSpPr txBox="1"/>
          <p:nvPr/>
        </p:nvSpPr>
        <p:spPr>
          <a:xfrm>
            <a:off x="470163" y="280306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1BEA6-C1F0-4FD6-B40D-967E9A6BEAA8}"/>
              </a:ext>
            </a:extLst>
          </p:cNvPr>
          <p:cNvSpPr txBox="1"/>
          <p:nvPr/>
        </p:nvSpPr>
        <p:spPr>
          <a:xfrm>
            <a:off x="470163" y="2353449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D5A9F-B4DB-4E90-80A3-E65AECFFDE03}"/>
              </a:ext>
            </a:extLst>
          </p:cNvPr>
          <p:cNvSpPr txBox="1"/>
          <p:nvPr/>
        </p:nvSpPr>
        <p:spPr>
          <a:xfrm>
            <a:off x="470163" y="190383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6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3" y="1454216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2" y="10015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10</a:t>
            </a:r>
            <a:r>
              <a:rPr lang="en-US" baseline="30000" smtClean="0"/>
              <a:t>8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0130" y="5751162"/>
            <a:ext cx="6123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Moore’s “Law” predicted that the number of </a:t>
            </a:r>
            <a:r>
              <a:rPr lang="en-US" sz="2000" b="1" dirty="0" smtClean="0">
                <a:solidFill>
                  <a:schemeClr val="accent5"/>
                </a:solidFill>
              </a:rPr>
              <a:t>transistors</a:t>
            </a:r>
            <a:r>
              <a:rPr lang="en-US" sz="2000" dirty="0" smtClean="0"/>
              <a:t> per unit area would double every 18-24 months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87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5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</a:t>
            </a:r>
            <a:r>
              <a:rPr lang="en-US" dirty="0" smtClean="0"/>
              <a:t>Trends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981345" y="5537939"/>
            <a:ext cx="6177422" cy="199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M. Horowitz, F.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Labonte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O.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Shacham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K.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Olukotun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L. Hammond, C. Batten (1970-2010 ). K. Rupp (2010-2017).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0384767"/>
              </p:ext>
            </p:extLst>
          </p:nvPr>
        </p:nvGraphicFramePr>
        <p:xfrm>
          <a:off x="562062" y="1057590"/>
          <a:ext cx="7361290" cy="460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0F2911-74C9-47AC-B94A-7DED0FD2F34B}"/>
              </a:ext>
            </a:extLst>
          </p:cNvPr>
          <p:cNvSpPr txBox="1"/>
          <p:nvPr/>
        </p:nvSpPr>
        <p:spPr>
          <a:xfrm>
            <a:off x="7574453" y="1235435"/>
            <a:ext cx="1689271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Transistors (thousands)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745FD-09B9-42AC-BDE5-04DCCF92CC16}"/>
              </a:ext>
            </a:extLst>
          </p:cNvPr>
          <p:cNvSpPr txBox="1"/>
          <p:nvPr/>
        </p:nvSpPr>
        <p:spPr>
          <a:xfrm>
            <a:off x="7574453" y="2888079"/>
            <a:ext cx="1826933" cy="6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Frequency</a:t>
            </a:r>
          </a:p>
          <a:p>
            <a:r>
              <a:rPr lang="en-US" dirty="0" smtClean="0">
                <a:solidFill>
                  <a:schemeClr val="accent6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MHz)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A030C-82DA-4C85-AA27-29C1E8A74BED}"/>
              </a:ext>
            </a:extLst>
          </p:cNvPr>
          <p:cNvSpPr txBox="1"/>
          <p:nvPr/>
        </p:nvSpPr>
        <p:spPr>
          <a:xfrm>
            <a:off x="470163" y="4601532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0FBE0-AB23-4DF1-BC01-F9918ADD5846}"/>
              </a:ext>
            </a:extLst>
          </p:cNvPr>
          <p:cNvSpPr txBox="1"/>
          <p:nvPr/>
        </p:nvSpPr>
        <p:spPr>
          <a:xfrm>
            <a:off x="470163" y="415191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FB84-041D-45C2-AEB9-1DEF0225B924}"/>
              </a:ext>
            </a:extLst>
          </p:cNvPr>
          <p:cNvSpPr txBox="1"/>
          <p:nvPr/>
        </p:nvSpPr>
        <p:spPr>
          <a:xfrm>
            <a:off x="470163" y="37023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C1E3-2238-456B-BEF0-D51563A44C72}"/>
              </a:ext>
            </a:extLst>
          </p:cNvPr>
          <p:cNvSpPr txBox="1"/>
          <p:nvPr/>
        </p:nvSpPr>
        <p:spPr>
          <a:xfrm>
            <a:off x="470163" y="325268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459AB-C3E1-4A5C-A989-4183BE7FF704}"/>
              </a:ext>
            </a:extLst>
          </p:cNvPr>
          <p:cNvSpPr txBox="1"/>
          <p:nvPr/>
        </p:nvSpPr>
        <p:spPr>
          <a:xfrm>
            <a:off x="470163" y="280306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1BEA6-C1F0-4FD6-B40D-967E9A6BEAA8}"/>
              </a:ext>
            </a:extLst>
          </p:cNvPr>
          <p:cNvSpPr txBox="1"/>
          <p:nvPr/>
        </p:nvSpPr>
        <p:spPr>
          <a:xfrm>
            <a:off x="470163" y="2353449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D5A9F-B4DB-4E90-80A3-E65AECFFDE03}"/>
              </a:ext>
            </a:extLst>
          </p:cNvPr>
          <p:cNvSpPr txBox="1"/>
          <p:nvPr/>
        </p:nvSpPr>
        <p:spPr>
          <a:xfrm>
            <a:off x="470163" y="190383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6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3" y="1454216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2" y="10015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10</a:t>
            </a:r>
            <a:r>
              <a:rPr lang="en-US" baseline="30000" smtClean="0"/>
              <a:t>8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39679" y="5751162"/>
            <a:ext cx="7264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Processor </a:t>
            </a:r>
            <a:r>
              <a:rPr lang="en-US" sz="2000" b="1" dirty="0" smtClean="0">
                <a:solidFill>
                  <a:srgbClr val="008000"/>
                </a:solidFill>
              </a:rPr>
              <a:t>frequency</a:t>
            </a:r>
            <a:r>
              <a:rPr lang="en-US" sz="2000" dirty="0" smtClean="0"/>
              <a:t> (clock rate) followed the same trend because smaller transistors can be switched faster… until around 2005.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84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6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</a:t>
            </a:r>
            <a:r>
              <a:rPr lang="en-US" dirty="0" smtClean="0"/>
              <a:t>Trends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981345" y="5537939"/>
            <a:ext cx="6177422" cy="199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M. Horowitz, F.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Labonte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O.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Shacham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K.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Olukotun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L. Hammond, C. Batten (1970-2010 ). K. Rupp (2010-2017).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3957713"/>
              </p:ext>
            </p:extLst>
          </p:nvPr>
        </p:nvGraphicFramePr>
        <p:xfrm>
          <a:off x="562062" y="1057590"/>
          <a:ext cx="7361290" cy="460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0F2911-74C9-47AC-B94A-7DED0FD2F34B}"/>
              </a:ext>
            </a:extLst>
          </p:cNvPr>
          <p:cNvSpPr txBox="1"/>
          <p:nvPr/>
        </p:nvSpPr>
        <p:spPr>
          <a:xfrm>
            <a:off x="7574453" y="1235435"/>
            <a:ext cx="1689271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Transistors (thousands)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745FD-09B9-42AC-BDE5-04DCCF92CC16}"/>
              </a:ext>
            </a:extLst>
          </p:cNvPr>
          <p:cNvSpPr txBox="1"/>
          <p:nvPr/>
        </p:nvSpPr>
        <p:spPr>
          <a:xfrm>
            <a:off x="7574453" y="2888079"/>
            <a:ext cx="1826933" cy="6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Frequency</a:t>
            </a:r>
          </a:p>
          <a:p>
            <a:r>
              <a:rPr lang="en-US" dirty="0" smtClean="0">
                <a:solidFill>
                  <a:schemeClr val="accent6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MHz)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3416694"/>
            <a:ext cx="2077345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 Power</a:t>
            </a:r>
          </a:p>
          <a:p>
            <a:r>
              <a:rPr lang="en-US" dirty="0">
                <a:solidFill>
                  <a:srgbClr val="C00000"/>
                </a:solidFill>
              </a:rPr>
              <a:t>(Watts)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A030C-82DA-4C85-AA27-29C1E8A74BED}"/>
              </a:ext>
            </a:extLst>
          </p:cNvPr>
          <p:cNvSpPr txBox="1"/>
          <p:nvPr/>
        </p:nvSpPr>
        <p:spPr>
          <a:xfrm>
            <a:off x="470163" y="4601532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0FBE0-AB23-4DF1-BC01-F9918ADD5846}"/>
              </a:ext>
            </a:extLst>
          </p:cNvPr>
          <p:cNvSpPr txBox="1"/>
          <p:nvPr/>
        </p:nvSpPr>
        <p:spPr>
          <a:xfrm>
            <a:off x="470163" y="415191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FB84-041D-45C2-AEB9-1DEF0225B924}"/>
              </a:ext>
            </a:extLst>
          </p:cNvPr>
          <p:cNvSpPr txBox="1"/>
          <p:nvPr/>
        </p:nvSpPr>
        <p:spPr>
          <a:xfrm>
            <a:off x="470163" y="37023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C1E3-2238-456B-BEF0-D51563A44C72}"/>
              </a:ext>
            </a:extLst>
          </p:cNvPr>
          <p:cNvSpPr txBox="1"/>
          <p:nvPr/>
        </p:nvSpPr>
        <p:spPr>
          <a:xfrm>
            <a:off x="470163" y="325268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459AB-C3E1-4A5C-A989-4183BE7FF704}"/>
              </a:ext>
            </a:extLst>
          </p:cNvPr>
          <p:cNvSpPr txBox="1"/>
          <p:nvPr/>
        </p:nvSpPr>
        <p:spPr>
          <a:xfrm>
            <a:off x="470163" y="280306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1BEA6-C1F0-4FD6-B40D-967E9A6BEAA8}"/>
              </a:ext>
            </a:extLst>
          </p:cNvPr>
          <p:cNvSpPr txBox="1"/>
          <p:nvPr/>
        </p:nvSpPr>
        <p:spPr>
          <a:xfrm>
            <a:off x="470163" y="2353449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D5A9F-B4DB-4E90-80A3-E65AECFFDE03}"/>
              </a:ext>
            </a:extLst>
          </p:cNvPr>
          <p:cNvSpPr txBox="1"/>
          <p:nvPr/>
        </p:nvSpPr>
        <p:spPr>
          <a:xfrm>
            <a:off x="470163" y="190383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6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3" y="1454216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2" y="10015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10</a:t>
            </a:r>
            <a:r>
              <a:rPr lang="en-US" baseline="30000" smtClean="0"/>
              <a:t>8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6673" y="5751162"/>
            <a:ext cx="8170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Around 2005, frequency stopped increasing due to the </a:t>
            </a:r>
            <a:r>
              <a:rPr lang="en-US" sz="2000" b="1" dirty="0" smtClean="0">
                <a:solidFill>
                  <a:srgbClr val="C00000"/>
                </a:solidFill>
              </a:rPr>
              <a:t>power wall</a:t>
            </a:r>
            <a:r>
              <a:rPr lang="en-US" sz="2000" dirty="0" smtClean="0"/>
              <a:t> (increasing frequency further would make the chip too hot to cool feasibly)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25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7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</a:t>
            </a:r>
            <a:r>
              <a:rPr lang="en-US" dirty="0" smtClean="0"/>
              <a:t>Trends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981345" y="5537939"/>
            <a:ext cx="6177422" cy="199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M. Horowitz, F.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Labonte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O.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Shacham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K.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Olukotun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L. Hammond, C. Batten (1970-2010 ). K. Rupp (2010-2017).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0012897"/>
              </p:ext>
            </p:extLst>
          </p:nvPr>
        </p:nvGraphicFramePr>
        <p:xfrm>
          <a:off x="562062" y="1057590"/>
          <a:ext cx="7361290" cy="460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0F2911-74C9-47AC-B94A-7DED0FD2F34B}"/>
              </a:ext>
            </a:extLst>
          </p:cNvPr>
          <p:cNvSpPr txBox="1"/>
          <p:nvPr/>
        </p:nvSpPr>
        <p:spPr>
          <a:xfrm>
            <a:off x="7574453" y="1235435"/>
            <a:ext cx="1689271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Transistors (thousands)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745FD-09B9-42AC-BDE5-04DCCF92CC16}"/>
              </a:ext>
            </a:extLst>
          </p:cNvPr>
          <p:cNvSpPr txBox="1"/>
          <p:nvPr/>
        </p:nvSpPr>
        <p:spPr>
          <a:xfrm>
            <a:off x="7574453" y="2888079"/>
            <a:ext cx="1826933" cy="6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Frequency</a:t>
            </a:r>
          </a:p>
          <a:p>
            <a:r>
              <a:rPr lang="en-US" dirty="0" smtClean="0">
                <a:solidFill>
                  <a:schemeClr val="accent6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MHz)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3416694"/>
            <a:ext cx="2077345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 Power</a:t>
            </a:r>
          </a:p>
          <a:p>
            <a:r>
              <a:rPr lang="en-US" dirty="0">
                <a:solidFill>
                  <a:srgbClr val="C00000"/>
                </a:solidFill>
              </a:rPr>
              <a:t>(Watts)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A030C-82DA-4C85-AA27-29C1E8A74BED}"/>
              </a:ext>
            </a:extLst>
          </p:cNvPr>
          <p:cNvSpPr txBox="1"/>
          <p:nvPr/>
        </p:nvSpPr>
        <p:spPr>
          <a:xfrm>
            <a:off x="470163" y="4601532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0FBE0-AB23-4DF1-BC01-F9918ADD5846}"/>
              </a:ext>
            </a:extLst>
          </p:cNvPr>
          <p:cNvSpPr txBox="1"/>
          <p:nvPr/>
        </p:nvSpPr>
        <p:spPr>
          <a:xfrm>
            <a:off x="470163" y="415191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FB84-041D-45C2-AEB9-1DEF0225B924}"/>
              </a:ext>
            </a:extLst>
          </p:cNvPr>
          <p:cNvSpPr txBox="1"/>
          <p:nvPr/>
        </p:nvSpPr>
        <p:spPr>
          <a:xfrm>
            <a:off x="470163" y="37023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C1E3-2238-456B-BEF0-D51563A44C72}"/>
              </a:ext>
            </a:extLst>
          </p:cNvPr>
          <p:cNvSpPr txBox="1"/>
          <p:nvPr/>
        </p:nvSpPr>
        <p:spPr>
          <a:xfrm>
            <a:off x="470163" y="325268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459AB-C3E1-4A5C-A989-4183BE7FF704}"/>
              </a:ext>
            </a:extLst>
          </p:cNvPr>
          <p:cNvSpPr txBox="1"/>
          <p:nvPr/>
        </p:nvSpPr>
        <p:spPr>
          <a:xfrm>
            <a:off x="470163" y="280306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1BEA6-C1F0-4FD6-B40D-967E9A6BEAA8}"/>
              </a:ext>
            </a:extLst>
          </p:cNvPr>
          <p:cNvSpPr txBox="1"/>
          <p:nvPr/>
        </p:nvSpPr>
        <p:spPr>
          <a:xfrm>
            <a:off x="470163" y="2353449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D5A9F-B4DB-4E90-80A3-E65AECFFDE03}"/>
              </a:ext>
            </a:extLst>
          </p:cNvPr>
          <p:cNvSpPr txBox="1"/>
          <p:nvPr/>
        </p:nvSpPr>
        <p:spPr>
          <a:xfrm>
            <a:off x="470163" y="190383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6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3" y="1454216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2" y="10015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10</a:t>
            </a:r>
            <a:r>
              <a:rPr lang="en-US" baseline="30000" smtClean="0"/>
              <a:t>8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2039459"/>
            <a:ext cx="1826934" cy="87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Single-thread Performance (</a:t>
            </a:r>
            <a:r>
              <a:rPr lang="en-US" dirty="0" err="1" smtClean="0">
                <a:solidFill>
                  <a:schemeClr val="accent2"/>
                </a:solidFill>
              </a:rPr>
              <a:t>SpecINT</a:t>
            </a:r>
            <a:r>
              <a:rPr lang="en-US" dirty="0" smtClean="0">
                <a:solidFill>
                  <a:schemeClr val="accent2"/>
                </a:solidFill>
              </a:rPr>
              <a:t> x 10</a:t>
            </a:r>
            <a:r>
              <a:rPr lang="en-US" baseline="30000" dirty="0" smtClean="0">
                <a:solidFill>
                  <a:schemeClr val="accent2"/>
                </a:solidFill>
              </a:rPr>
              <a:t>3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8894" y="5751162"/>
            <a:ext cx="8506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Stagnation in frequency led to a stagnation in </a:t>
            </a:r>
            <a:r>
              <a:rPr lang="en-US" sz="2000" b="1" dirty="0" smtClean="0">
                <a:solidFill>
                  <a:schemeClr val="accent2"/>
                </a:solidFill>
              </a:rPr>
              <a:t>single-thread performance</a:t>
            </a:r>
            <a:r>
              <a:rPr lang="en-US" sz="2000" dirty="0" smtClean="0"/>
              <a:t>, except for some improvements due to architecture and compiler advancements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831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1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981345" y="5537939"/>
            <a:ext cx="6177422" cy="199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M. Horowitz, F.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Labonte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O.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Shacham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K. </a:t>
            </a:r>
            <a:r>
              <a:rPr lang="en-US" sz="1050" i="1" dirty="0" err="1">
                <a:solidFill>
                  <a:schemeClr val="bg1">
                    <a:lumMod val="50000"/>
                  </a:schemeClr>
                </a:solidFill>
              </a:rPr>
              <a:t>Olukotun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, L. Hammond, C. Batten (1970-2010 ). K. Rupp (2010-2017).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044672"/>
              </p:ext>
            </p:extLst>
          </p:nvPr>
        </p:nvGraphicFramePr>
        <p:xfrm>
          <a:off x="562062" y="1057590"/>
          <a:ext cx="7361290" cy="4607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0F2911-74C9-47AC-B94A-7DED0FD2F34B}"/>
              </a:ext>
            </a:extLst>
          </p:cNvPr>
          <p:cNvSpPr txBox="1"/>
          <p:nvPr/>
        </p:nvSpPr>
        <p:spPr>
          <a:xfrm>
            <a:off x="7574453" y="1235435"/>
            <a:ext cx="1689271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Transistors (thousands)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745FD-09B9-42AC-BDE5-04DCCF92CC16}"/>
              </a:ext>
            </a:extLst>
          </p:cNvPr>
          <p:cNvSpPr txBox="1"/>
          <p:nvPr/>
        </p:nvSpPr>
        <p:spPr>
          <a:xfrm>
            <a:off x="7574453" y="2888079"/>
            <a:ext cx="1826933" cy="6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Frequency</a:t>
            </a:r>
          </a:p>
          <a:p>
            <a:r>
              <a:rPr lang="en-US" dirty="0" smtClean="0">
                <a:solidFill>
                  <a:schemeClr val="accent6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MHz)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3416694"/>
            <a:ext cx="2077345" cy="666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 Power</a:t>
            </a:r>
          </a:p>
          <a:p>
            <a:r>
              <a:rPr lang="en-US" dirty="0">
                <a:solidFill>
                  <a:srgbClr val="C00000"/>
                </a:solidFill>
              </a:rPr>
              <a:t>(Watts)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A030C-82DA-4C85-AA27-29C1E8A74BED}"/>
              </a:ext>
            </a:extLst>
          </p:cNvPr>
          <p:cNvSpPr txBox="1"/>
          <p:nvPr/>
        </p:nvSpPr>
        <p:spPr>
          <a:xfrm>
            <a:off x="470163" y="4601532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0FBE0-AB23-4DF1-BC01-F9918ADD5846}"/>
              </a:ext>
            </a:extLst>
          </p:cNvPr>
          <p:cNvSpPr txBox="1"/>
          <p:nvPr/>
        </p:nvSpPr>
        <p:spPr>
          <a:xfrm>
            <a:off x="470163" y="415191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FB84-041D-45C2-AEB9-1DEF0225B924}"/>
              </a:ext>
            </a:extLst>
          </p:cNvPr>
          <p:cNvSpPr txBox="1"/>
          <p:nvPr/>
        </p:nvSpPr>
        <p:spPr>
          <a:xfrm>
            <a:off x="470163" y="37023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C1E3-2238-456B-BEF0-D51563A44C72}"/>
              </a:ext>
            </a:extLst>
          </p:cNvPr>
          <p:cNvSpPr txBox="1"/>
          <p:nvPr/>
        </p:nvSpPr>
        <p:spPr>
          <a:xfrm>
            <a:off x="470163" y="325268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459AB-C3E1-4A5C-A989-4183BE7FF704}"/>
              </a:ext>
            </a:extLst>
          </p:cNvPr>
          <p:cNvSpPr txBox="1"/>
          <p:nvPr/>
        </p:nvSpPr>
        <p:spPr>
          <a:xfrm>
            <a:off x="470163" y="2803067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1BEA6-C1F0-4FD6-B40D-967E9A6BEAA8}"/>
              </a:ext>
            </a:extLst>
          </p:cNvPr>
          <p:cNvSpPr txBox="1"/>
          <p:nvPr/>
        </p:nvSpPr>
        <p:spPr>
          <a:xfrm>
            <a:off x="470163" y="2353449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0D5A9F-B4DB-4E90-80A3-E65AECFFDE03}"/>
              </a:ext>
            </a:extLst>
          </p:cNvPr>
          <p:cNvSpPr txBox="1"/>
          <p:nvPr/>
        </p:nvSpPr>
        <p:spPr>
          <a:xfrm>
            <a:off x="470163" y="1903833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6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3" y="1454216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</a:t>
            </a:r>
            <a:r>
              <a:rPr lang="en-US" baseline="30000" dirty="0"/>
              <a:t>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12924-E6D3-465F-8D34-7C4E4F04EF77}"/>
              </a:ext>
            </a:extLst>
          </p:cNvPr>
          <p:cNvSpPr txBox="1"/>
          <p:nvPr/>
        </p:nvSpPr>
        <p:spPr>
          <a:xfrm>
            <a:off x="470162" y="1001501"/>
            <a:ext cx="497252" cy="34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/>
              <a:t>10</a:t>
            </a:r>
            <a:r>
              <a:rPr lang="en-US" baseline="30000" smtClean="0"/>
              <a:t>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3993534"/>
            <a:ext cx="1826934" cy="6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Number of Logical Cores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D2D0A-4478-4D22-AE33-A2B9F3B331F3}"/>
              </a:ext>
            </a:extLst>
          </p:cNvPr>
          <p:cNvSpPr txBox="1"/>
          <p:nvPr/>
        </p:nvSpPr>
        <p:spPr>
          <a:xfrm>
            <a:off x="7574453" y="2039459"/>
            <a:ext cx="1826934" cy="87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Single-thread Performance (</a:t>
            </a:r>
            <a:r>
              <a:rPr lang="en-US" dirty="0" err="1" smtClean="0">
                <a:solidFill>
                  <a:schemeClr val="accent2"/>
                </a:solidFill>
              </a:rPr>
              <a:t>SpecINT</a:t>
            </a:r>
            <a:r>
              <a:rPr lang="en-US" dirty="0" smtClean="0">
                <a:solidFill>
                  <a:schemeClr val="accent2"/>
                </a:solidFill>
              </a:rPr>
              <a:t> x 10</a:t>
            </a:r>
            <a:r>
              <a:rPr lang="en-US" baseline="30000" dirty="0" smtClean="0">
                <a:solidFill>
                  <a:schemeClr val="accent2"/>
                </a:solidFill>
              </a:rPr>
              <a:t>3</a:t>
            </a:r>
            <a:r>
              <a:rPr lang="en-US" dirty="0" smtClean="0">
                <a:solidFill>
                  <a:schemeClr val="accent2"/>
                </a:solidFill>
              </a:rPr>
              <a:t>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3451" y="5751162"/>
            <a:ext cx="8137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Stagnation in single-thread </a:t>
            </a:r>
            <a:r>
              <a:rPr lang="en-US" sz="2000" dirty="0" smtClean="0"/>
              <a:t>performance made parallel computing mainstream as transistors were invested in adding </a:t>
            </a:r>
            <a:r>
              <a:rPr lang="en-US" sz="2000" b="1" dirty="0" smtClean="0">
                <a:solidFill>
                  <a:srgbClr val="7030A0"/>
                </a:solidFill>
              </a:rPr>
              <a:t>more cores</a:t>
            </a:r>
            <a:r>
              <a:rPr lang="en-US" sz="2000" dirty="0" smtClean="0"/>
              <a:t> to processors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67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  <p:bldP spid="18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Design Approaches</a:t>
            </a:r>
          </a:p>
        </p:txBody>
      </p:sp>
      <p:pic>
        <p:nvPicPr>
          <p:cNvPr id="183" name="Picture 4" descr="Image result for â«Ø¬Ø­Ø´ Ø§ÙØ¯ÙÙØ© ÙØ¨ÙØ§Ùâ¬â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5" t="6090" r="3844" b="6090"/>
          <a:stretch/>
        </p:blipFill>
        <p:spPr bwMode="auto">
          <a:xfrm>
            <a:off x="4629150" y="1327259"/>
            <a:ext cx="4024708" cy="209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Picture 6" descr="Image result for lamborghini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" t="3863" r="-37" b="3863"/>
          <a:stretch/>
        </p:blipFill>
        <p:spPr bwMode="auto">
          <a:xfrm>
            <a:off x="461640" y="1327259"/>
            <a:ext cx="4036542" cy="209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58349" y="3645853"/>
            <a:ext cx="2600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Minimize the time it takes to perform a single task</a:t>
            </a:r>
            <a:endParaRPr lang="en-US" sz="2400" dirty="0"/>
          </a:p>
        </p:txBody>
      </p:sp>
      <p:sp>
        <p:nvSpPr>
          <p:cNvPr id="353" name="TextBox 352"/>
          <p:cNvSpPr txBox="1"/>
          <p:nvPr/>
        </p:nvSpPr>
        <p:spPr>
          <a:xfrm>
            <a:off x="4723143" y="3645853"/>
            <a:ext cx="3699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Maximize the number of tasks that can be performed in a given time frame</a:t>
            </a:r>
            <a:endParaRPr lang="en-US" sz="2400" dirty="0"/>
          </a:p>
        </p:txBody>
      </p:sp>
      <p:sp>
        <p:nvSpPr>
          <p:cNvPr id="11" name="Text Placeholder 3"/>
          <p:cNvSpPr txBox="1">
            <a:spLocks/>
          </p:cNvSpPr>
          <p:nvPr/>
        </p:nvSpPr>
        <p:spPr>
          <a:xfrm>
            <a:off x="629842" y="796962"/>
            <a:ext cx="3868340" cy="4244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mtClean="0"/>
              <a:t>Latency-Oriented Design</a:t>
            </a:r>
            <a:endParaRPr lang="en-US" sz="2000" b="1" dirty="0"/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4629150" y="796962"/>
            <a:ext cx="3887391" cy="4244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mtClean="0"/>
              <a:t>Throughput-Oriented Design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1272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3" grpId="0"/>
      <p:bldP spid="11" grpId="0" build="p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Processor Design Approaches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611947" y="2892596"/>
            <a:ext cx="4043363" cy="3355975"/>
          </a:xfrm>
        </p:spPr>
        <p:txBody>
          <a:bodyPr>
            <a:noAutofit/>
          </a:bodyPr>
          <a:lstStyle/>
          <a:p>
            <a:r>
              <a:rPr lang="en-US" sz="1600" dirty="0" smtClean="0"/>
              <a:t>A few powerful </a:t>
            </a:r>
            <a:r>
              <a:rPr lang="en-US" sz="1600" b="1" dirty="0">
                <a:solidFill>
                  <a:schemeClr val="accent6"/>
                </a:solidFill>
              </a:rPr>
              <a:t>ALUs</a:t>
            </a:r>
          </a:p>
          <a:p>
            <a:pPr lvl="1"/>
            <a:r>
              <a:rPr lang="en-US" sz="1400" dirty="0"/>
              <a:t>Reduced operation </a:t>
            </a:r>
            <a:r>
              <a:rPr lang="en-US" sz="1400" dirty="0" smtClean="0"/>
              <a:t>latency</a:t>
            </a:r>
          </a:p>
          <a:p>
            <a:pPr lvl="1"/>
            <a:endParaRPr lang="en-US" sz="1400" dirty="0"/>
          </a:p>
          <a:p>
            <a:r>
              <a:rPr lang="en-US" sz="1600" dirty="0"/>
              <a:t>Large </a:t>
            </a:r>
            <a:r>
              <a:rPr lang="en-US" sz="1600" b="1" dirty="0">
                <a:solidFill>
                  <a:schemeClr val="accent2"/>
                </a:solidFill>
              </a:rPr>
              <a:t>caches</a:t>
            </a:r>
          </a:p>
          <a:p>
            <a:pPr lvl="1"/>
            <a:r>
              <a:rPr lang="en-US" sz="1400" dirty="0"/>
              <a:t>Convert long latency memory accesses to short latency cache accesses</a:t>
            </a:r>
          </a:p>
          <a:p>
            <a:r>
              <a:rPr lang="en-US" sz="1600" dirty="0"/>
              <a:t>Sophisticated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control</a:t>
            </a:r>
          </a:p>
          <a:p>
            <a:pPr lvl="1"/>
            <a:r>
              <a:rPr lang="en-US" sz="1400" dirty="0"/>
              <a:t>Branch prediction </a:t>
            </a:r>
            <a:r>
              <a:rPr lang="en-US" sz="1400" dirty="0" smtClean="0"/>
              <a:t>to reduce control hazards</a:t>
            </a:r>
            <a:endParaRPr lang="en-US" sz="1400" dirty="0"/>
          </a:p>
          <a:p>
            <a:pPr lvl="1"/>
            <a:r>
              <a:rPr lang="en-US" sz="1400" dirty="0"/>
              <a:t>Data forwarding </a:t>
            </a:r>
            <a:r>
              <a:rPr lang="en-US" sz="1400" dirty="0" smtClean="0"/>
              <a:t>to reduce </a:t>
            </a:r>
            <a:r>
              <a:rPr lang="en-US" sz="1400" dirty="0"/>
              <a:t>data </a:t>
            </a:r>
            <a:r>
              <a:rPr lang="en-US" sz="1400" dirty="0" smtClean="0"/>
              <a:t>hazards</a:t>
            </a:r>
          </a:p>
          <a:p>
            <a:r>
              <a:rPr lang="en-US" sz="1600" dirty="0"/>
              <a:t>Modest multithreading to hide short latency </a:t>
            </a:r>
            <a:endParaRPr lang="en-US" sz="1600" dirty="0" smtClean="0"/>
          </a:p>
          <a:p>
            <a:r>
              <a:rPr lang="en-US" sz="1600" dirty="0" smtClean="0"/>
              <a:t>High </a:t>
            </a:r>
            <a:r>
              <a:rPr lang="en-US" sz="1600" dirty="0"/>
              <a:t>clock </a:t>
            </a:r>
            <a:r>
              <a:rPr lang="en-US" sz="1600" dirty="0" smtClean="0"/>
              <a:t>frequency</a:t>
            </a:r>
          </a:p>
          <a:p>
            <a:endParaRPr lang="en-US" sz="16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4543862" y="2892596"/>
            <a:ext cx="4114800" cy="3355975"/>
          </a:xfrm>
        </p:spPr>
        <p:txBody>
          <a:bodyPr>
            <a:noAutofit/>
          </a:bodyPr>
          <a:lstStyle/>
          <a:p>
            <a:r>
              <a:rPr lang="en-US" sz="1600" dirty="0" smtClean="0"/>
              <a:t>Many small </a:t>
            </a:r>
            <a:r>
              <a:rPr lang="en-US" sz="1600" dirty="0" smtClean="0">
                <a:solidFill>
                  <a:schemeClr val="accent6"/>
                </a:solidFill>
              </a:rPr>
              <a:t>ALUs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400" dirty="0" smtClean="0"/>
              <a:t>Long latency, high throughput</a:t>
            </a:r>
          </a:p>
          <a:p>
            <a:pPr lvl="1"/>
            <a:r>
              <a:rPr lang="en-US" sz="1400" dirty="0" smtClean="0"/>
              <a:t>Heavily </a:t>
            </a:r>
            <a:r>
              <a:rPr lang="en-US" sz="1400" dirty="0"/>
              <a:t>pipelined for </a:t>
            </a:r>
            <a:r>
              <a:rPr lang="en-US" sz="1400" dirty="0" smtClean="0"/>
              <a:t>further throughput</a:t>
            </a:r>
            <a:endParaRPr lang="en-US" sz="1400" dirty="0"/>
          </a:p>
          <a:p>
            <a:r>
              <a:rPr lang="en-US" sz="1600" dirty="0" smtClean="0"/>
              <a:t>Small </a:t>
            </a:r>
            <a:r>
              <a:rPr lang="en-US" sz="1600" b="1" dirty="0">
                <a:solidFill>
                  <a:schemeClr val="accent2"/>
                </a:solidFill>
              </a:rPr>
              <a:t>caches</a:t>
            </a:r>
          </a:p>
          <a:p>
            <a:pPr lvl="1"/>
            <a:r>
              <a:rPr lang="en-US" sz="1400" dirty="0" smtClean="0"/>
              <a:t>More area dedicated to computation</a:t>
            </a:r>
            <a:br>
              <a:rPr lang="en-US" sz="1400" dirty="0" smtClean="0"/>
            </a:br>
            <a:endParaRPr lang="en-US" sz="1400" dirty="0"/>
          </a:p>
          <a:p>
            <a:r>
              <a:rPr lang="en-US" sz="1600" dirty="0"/>
              <a:t>Simple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control</a:t>
            </a:r>
          </a:p>
          <a:p>
            <a:pPr lvl="1"/>
            <a:r>
              <a:rPr lang="en-US" sz="1400" dirty="0"/>
              <a:t>More area dedicated to </a:t>
            </a:r>
            <a:r>
              <a:rPr lang="en-US" sz="1400" dirty="0" smtClean="0"/>
              <a:t>computation</a:t>
            </a:r>
          </a:p>
          <a:p>
            <a:pPr lvl="1"/>
            <a:endParaRPr lang="en-US" sz="1400" dirty="0" smtClean="0"/>
          </a:p>
          <a:p>
            <a:r>
              <a:rPr lang="en-US" sz="1600" dirty="0"/>
              <a:t>Massive number of threads to hide the very high latency! </a:t>
            </a:r>
            <a:endParaRPr lang="en-US" sz="1600" dirty="0" smtClean="0"/>
          </a:p>
          <a:p>
            <a:r>
              <a:rPr lang="en-US" sz="1600" dirty="0" smtClean="0"/>
              <a:t>Moderate </a:t>
            </a:r>
            <a:r>
              <a:rPr lang="en-US" sz="1600" dirty="0"/>
              <a:t>clock frequency</a:t>
            </a:r>
          </a:p>
          <a:p>
            <a:endParaRPr lang="en-US" sz="1600" dirty="0"/>
          </a:p>
        </p:txBody>
      </p:sp>
      <p:grpSp>
        <p:nvGrpSpPr>
          <p:cNvPr id="9" name="Group 165"/>
          <p:cNvGrpSpPr>
            <a:grpSpLocks/>
          </p:cNvGrpSpPr>
          <p:nvPr/>
        </p:nvGrpSpPr>
        <p:grpSpPr bwMode="auto">
          <a:xfrm>
            <a:off x="629841" y="1265873"/>
            <a:ext cx="3871281" cy="1514049"/>
            <a:chOff x="992" y="1935"/>
            <a:chExt cx="1687" cy="924"/>
          </a:xfrm>
        </p:grpSpPr>
        <p:sp>
          <p:nvSpPr>
            <p:cNvPr id="11" name="Rectangle 166"/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sz="1400" b="1"/>
                <a:t>Cache</a:t>
              </a:r>
            </a:p>
          </p:txBody>
        </p:sp>
        <p:sp>
          <p:nvSpPr>
            <p:cNvPr id="12" name="Rectangle 167"/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en-US" sz="1400" b="1"/>
                <a:t>ALU</a:t>
              </a:r>
            </a:p>
          </p:txBody>
        </p:sp>
        <p:sp>
          <p:nvSpPr>
            <p:cNvPr id="13" name="Rectangle 168"/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sz="1400" b="1"/>
                <a:t>Control</a:t>
              </a:r>
            </a:p>
          </p:txBody>
        </p:sp>
        <p:sp>
          <p:nvSpPr>
            <p:cNvPr id="14" name="Rectangle 169"/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en-US" sz="1400" b="1" dirty="0"/>
                <a:t>ALU</a:t>
              </a:r>
            </a:p>
          </p:txBody>
        </p:sp>
        <p:sp>
          <p:nvSpPr>
            <p:cNvPr id="15" name="Rectangle 170"/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en-US" sz="1400" b="1" dirty="0"/>
                <a:t>ALU</a:t>
              </a:r>
            </a:p>
          </p:txBody>
        </p:sp>
        <p:sp>
          <p:nvSpPr>
            <p:cNvPr id="16" name="Rectangle 171"/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r>
                <a:rPr lang="en-US" sz="1400" b="1"/>
                <a:t>ALU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4620047" y="1265873"/>
            <a:ext cx="3896494" cy="1518243"/>
            <a:chOff x="4620047" y="1835615"/>
            <a:chExt cx="3896494" cy="1518243"/>
          </a:xfrm>
        </p:grpSpPr>
        <p:grpSp>
          <p:nvGrpSpPr>
            <p:cNvPr id="185" name="Group 184"/>
            <p:cNvGrpSpPr/>
            <p:nvPr/>
          </p:nvGrpSpPr>
          <p:grpSpPr>
            <a:xfrm>
              <a:off x="4620047" y="1835615"/>
              <a:ext cx="243531" cy="1429976"/>
              <a:chOff x="4620047" y="1835615"/>
              <a:chExt cx="243531" cy="1429976"/>
            </a:xfrm>
          </p:grpSpPr>
          <p:sp>
            <p:nvSpPr>
              <p:cNvPr id="181" name="Rectangle 7"/>
              <p:cNvSpPr>
                <a:spLocks noChangeArrowheads="1"/>
              </p:cNvSpPr>
              <p:nvPr/>
            </p:nvSpPr>
            <p:spPr bwMode="auto">
              <a:xfrm>
                <a:off x="4620047" y="1835615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62" name="Rectangle 27"/>
              <p:cNvSpPr>
                <a:spLocks noChangeArrowheads="1"/>
              </p:cNvSpPr>
              <p:nvPr/>
            </p:nvSpPr>
            <p:spPr bwMode="auto">
              <a:xfrm>
                <a:off x="4620047" y="2028541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43" name="Rectangle 47"/>
              <p:cNvSpPr>
                <a:spLocks noChangeArrowheads="1"/>
              </p:cNvSpPr>
              <p:nvPr/>
            </p:nvSpPr>
            <p:spPr bwMode="auto">
              <a:xfrm>
                <a:off x="4620047" y="2221467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24" name="Rectangle 67"/>
              <p:cNvSpPr>
                <a:spLocks noChangeArrowheads="1"/>
              </p:cNvSpPr>
              <p:nvPr/>
            </p:nvSpPr>
            <p:spPr bwMode="auto">
              <a:xfrm>
                <a:off x="4620047" y="2414393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05" name="Rectangle 87"/>
              <p:cNvSpPr>
                <a:spLocks noChangeArrowheads="1"/>
              </p:cNvSpPr>
              <p:nvPr/>
            </p:nvSpPr>
            <p:spPr bwMode="auto">
              <a:xfrm>
                <a:off x="4620047" y="2608717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86" name="Rectangle 107"/>
              <p:cNvSpPr>
                <a:spLocks noChangeArrowheads="1"/>
              </p:cNvSpPr>
              <p:nvPr/>
            </p:nvSpPr>
            <p:spPr bwMode="auto">
              <a:xfrm>
                <a:off x="4620047" y="2801643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67" name="Rectangle 127"/>
              <p:cNvSpPr>
                <a:spLocks noChangeArrowheads="1"/>
              </p:cNvSpPr>
              <p:nvPr/>
            </p:nvSpPr>
            <p:spPr bwMode="auto">
              <a:xfrm>
                <a:off x="4620047" y="2994568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48" name="Rectangle 147"/>
              <p:cNvSpPr>
                <a:spLocks noChangeArrowheads="1"/>
              </p:cNvSpPr>
              <p:nvPr/>
            </p:nvSpPr>
            <p:spPr bwMode="auto">
              <a:xfrm>
                <a:off x="4620047" y="3188892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</p:grpSp>
        <p:grpSp>
          <p:nvGrpSpPr>
            <p:cNvPr id="187" name="Group 186"/>
            <p:cNvGrpSpPr/>
            <p:nvPr/>
          </p:nvGrpSpPr>
          <p:grpSpPr>
            <a:xfrm>
              <a:off x="4620047" y="1919688"/>
              <a:ext cx="243531" cy="1429976"/>
              <a:chOff x="4620047" y="1919688"/>
              <a:chExt cx="243531" cy="1429976"/>
            </a:xfrm>
          </p:grpSpPr>
          <p:sp>
            <p:nvSpPr>
              <p:cNvPr id="182" name="Rectangle 8"/>
              <p:cNvSpPr>
                <a:spLocks noChangeArrowheads="1"/>
              </p:cNvSpPr>
              <p:nvPr/>
            </p:nvSpPr>
            <p:spPr bwMode="auto">
              <a:xfrm>
                <a:off x="4620047" y="1919688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63" name="Rectangle 28"/>
              <p:cNvSpPr>
                <a:spLocks noChangeArrowheads="1"/>
              </p:cNvSpPr>
              <p:nvPr/>
            </p:nvSpPr>
            <p:spPr bwMode="auto">
              <a:xfrm>
                <a:off x="4620047" y="2112614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44" name="Rectangle 48"/>
              <p:cNvSpPr>
                <a:spLocks noChangeArrowheads="1"/>
              </p:cNvSpPr>
              <p:nvPr/>
            </p:nvSpPr>
            <p:spPr bwMode="auto">
              <a:xfrm>
                <a:off x="4620047" y="2305540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25" name="Rectangle 68"/>
              <p:cNvSpPr>
                <a:spLocks noChangeArrowheads="1"/>
              </p:cNvSpPr>
              <p:nvPr/>
            </p:nvSpPr>
            <p:spPr bwMode="auto">
              <a:xfrm>
                <a:off x="4620047" y="2498466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106" name="Rectangle 88"/>
              <p:cNvSpPr>
                <a:spLocks noChangeArrowheads="1"/>
              </p:cNvSpPr>
              <p:nvPr/>
            </p:nvSpPr>
            <p:spPr bwMode="auto">
              <a:xfrm>
                <a:off x="4620047" y="2692790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87" name="Rectangle 108"/>
              <p:cNvSpPr>
                <a:spLocks noChangeArrowheads="1"/>
              </p:cNvSpPr>
              <p:nvPr/>
            </p:nvSpPr>
            <p:spPr bwMode="auto">
              <a:xfrm>
                <a:off x="4620047" y="2885716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68" name="Rectangle 128"/>
              <p:cNvSpPr>
                <a:spLocks noChangeArrowheads="1"/>
              </p:cNvSpPr>
              <p:nvPr/>
            </p:nvSpPr>
            <p:spPr bwMode="auto">
              <a:xfrm>
                <a:off x="4620047" y="3078641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  <p:sp>
            <p:nvSpPr>
              <p:cNvPr id="49" name="Rectangle 148"/>
              <p:cNvSpPr>
                <a:spLocks noChangeArrowheads="1"/>
              </p:cNvSpPr>
              <p:nvPr/>
            </p:nvSpPr>
            <p:spPr bwMode="auto">
              <a:xfrm>
                <a:off x="4620047" y="3272965"/>
                <a:ext cx="243531" cy="76699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lIns="34290" tIns="0" rIns="0" bIns="0" anchor="ctr"/>
              <a:lstStyle/>
              <a:p>
                <a:endParaRPr lang="en-US" sz="1100" b="1"/>
              </a:p>
            </p:txBody>
          </p:sp>
        </p:grpSp>
        <p:grpSp>
          <p:nvGrpSpPr>
            <p:cNvPr id="186" name="Group 185"/>
            <p:cNvGrpSpPr/>
            <p:nvPr/>
          </p:nvGrpSpPr>
          <p:grpSpPr>
            <a:xfrm>
              <a:off x="4896965" y="1839809"/>
              <a:ext cx="3619576" cy="1514049"/>
              <a:chOff x="4896965" y="1839809"/>
              <a:chExt cx="3619576" cy="1514049"/>
            </a:xfrm>
          </p:grpSpPr>
          <p:sp>
            <p:nvSpPr>
              <p:cNvPr id="165" name="Rectangle 9"/>
              <p:cNvSpPr>
                <a:spLocks noChangeArrowheads="1"/>
              </p:cNvSpPr>
              <p:nvPr/>
            </p:nvSpPr>
            <p:spPr bwMode="auto">
              <a:xfrm>
                <a:off x="4896965" y="1839809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166" name="Line 10"/>
              <p:cNvSpPr>
                <a:spLocks noChangeShapeType="1"/>
              </p:cNvSpPr>
              <p:nvPr/>
            </p:nvSpPr>
            <p:spPr bwMode="auto">
              <a:xfrm>
                <a:off x="5122820" y="1839809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67" name="Line 11"/>
              <p:cNvSpPr>
                <a:spLocks noChangeShapeType="1"/>
              </p:cNvSpPr>
              <p:nvPr/>
            </p:nvSpPr>
            <p:spPr bwMode="auto">
              <a:xfrm>
                <a:off x="5348676" y="1839809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68" name="Line 12"/>
              <p:cNvSpPr>
                <a:spLocks noChangeShapeType="1"/>
              </p:cNvSpPr>
              <p:nvPr/>
            </p:nvSpPr>
            <p:spPr bwMode="auto">
              <a:xfrm>
                <a:off x="5574531" y="1839809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69" name="Line 13"/>
              <p:cNvSpPr>
                <a:spLocks noChangeShapeType="1"/>
              </p:cNvSpPr>
              <p:nvPr/>
            </p:nvSpPr>
            <p:spPr bwMode="auto">
              <a:xfrm>
                <a:off x="5800386" y="1839809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0" name="Line 14"/>
              <p:cNvSpPr>
                <a:spLocks noChangeShapeType="1"/>
              </p:cNvSpPr>
              <p:nvPr/>
            </p:nvSpPr>
            <p:spPr bwMode="auto">
              <a:xfrm>
                <a:off x="6026241" y="1839809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1" name="Line 15"/>
              <p:cNvSpPr>
                <a:spLocks noChangeShapeType="1"/>
              </p:cNvSpPr>
              <p:nvPr/>
            </p:nvSpPr>
            <p:spPr bwMode="auto">
              <a:xfrm flipH="1">
                <a:off x="6252097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2" name="Line 16"/>
              <p:cNvSpPr>
                <a:spLocks noChangeShapeType="1"/>
              </p:cNvSpPr>
              <p:nvPr/>
            </p:nvSpPr>
            <p:spPr bwMode="auto">
              <a:xfrm flipH="1">
                <a:off x="7609192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3" name="Line 17"/>
              <p:cNvSpPr>
                <a:spLocks noChangeShapeType="1"/>
              </p:cNvSpPr>
              <p:nvPr/>
            </p:nvSpPr>
            <p:spPr bwMode="auto">
              <a:xfrm flipH="1">
                <a:off x="6479916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4" name="Line 18"/>
              <p:cNvSpPr>
                <a:spLocks noChangeShapeType="1"/>
              </p:cNvSpPr>
              <p:nvPr/>
            </p:nvSpPr>
            <p:spPr bwMode="auto">
              <a:xfrm flipH="1">
                <a:off x="6705771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5" name="Line 19"/>
              <p:cNvSpPr>
                <a:spLocks noChangeShapeType="1"/>
              </p:cNvSpPr>
              <p:nvPr/>
            </p:nvSpPr>
            <p:spPr bwMode="auto">
              <a:xfrm flipH="1">
                <a:off x="6931626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6" name="Line 20"/>
              <p:cNvSpPr>
                <a:spLocks noChangeShapeType="1"/>
              </p:cNvSpPr>
              <p:nvPr/>
            </p:nvSpPr>
            <p:spPr bwMode="auto">
              <a:xfrm flipH="1">
                <a:off x="7157482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7" name="Line 21"/>
              <p:cNvSpPr>
                <a:spLocks noChangeShapeType="1"/>
              </p:cNvSpPr>
              <p:nvPr/>
            </p:nvSpPr>
            <p:spPr bwMode="auto">
              <a:xfrm flipH="1">
                <a:off x="7383337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8" name="Line 22"/>
              <p:cNvSpPr>
                <a:spLocks noChangeShapeType="1"/>
              </p:cNvSpPr>
              <p:nvPr/>
            </p:nvSpPr>
            <p:spPr bwMode="auto">
              <a:xfrm flipH="1">
                <a:off x="7837011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79" name="Line 23"/>
              <p:cNvSpPr>
                <a:spLocks noChangeShapeType="1"/>
              </p:cNvSpPr>
              <p:nvPr/>
            </p:nvSpPr>
            <p:spPr bwMode="auto">
              <a:xfrm flipH="1">
                <a:off x="8062867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80" name="Line 24"/>
              <p:cNvSpPr>
                <a:spLocks noChangeShapeType="1"/>
              </p:cNvSpPr>
              <p:nvPr/>
            </p:nvSpPr>
            <p:spPr bwMode="auto">
              <a:xfrm flipH="1">
                <a:off x="8288722" y="1839809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6" name="Rectangle 29"/>
              <p:cNvSpPr>
                <a:spLocks noChangeArrowheads="1"/>
              </p:cNvSpPr>
              <p:nvPr/>
            </p:nvSpPr>
            <p:spPr bwMode="auto">
              <a:xfrm>
                <a:off x="4896965" y="2032735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147" name="Line 30"/>
              <p:cNvSpPr>
                <a:spLocks noChangeShapeType="1"/>
              </p:cNvSpPr>
              <p:nvPr/>
            </p:nvSpPr>
            <p:spPr bwMode="auto">
              <a:xfrm>
                <a:off x="5122820" y="2032735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8" name="Line 31"/>
              <p:cNvSpPr>
                <a:spLocks noChangeShapeType="1"/>
              </p:cNvSpPr>
              <p:nvPr/>
            </p:nvSpPr>
            <p:spPr bwMode="auto">
              <a:xfrm>
                <a:off x="5348676" y="2032735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9" name="Line 32"/>
              <p:cNvSpPr>
                <a:spLocks noChangeShapeType="1"/>
              </p:cNvSpPr>
              <p:nvPr/>
            </p:nvSpPr>
            <p:spPr bwMode="auto">
              <a:xfrm>
                <a:off x="5574531" y="2032735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0" name="Line 33"/>
              <p:cNvSpPr>
                <a:spLocks noChangeShapeType="1"/>
              </p:cNvSpPr>
              <p:nvPr/>
            </p:nvSpPr>
            <p:spPr bwMode="auto">
              <a:xfrm>
                <a:off x="5800386" y="2032735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1" name="Line 34"/>
              <p:cNvSpPr>
                <a:spLocks noChangeShapeType="1"/>
              </p:cNvSpPr>
              <p:nvPr/>
            </p:nvSpPr>
            <p:spPr bwMode="auto">
              <a:xfrm>
                <a:off x="6026241" y="2032735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2" name="Line 35"/>
              <p:cNvSpPr>
                <a:spLocks noChangeShapeType="1"/>
              </p:cNvSpPr>
              <p:nvPr/>
            </p:nvSpPr>
            <p:spPr bwMode="auto">
              <a:xfrm flipH="1">
                <a:off x="6252097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3" name="Line 36"/>
              <p:cNvSpPr>
                <a:spLocks noChangeShapeType="1"/>
              </p:cNvSpPr>
              <p:nvPr/>
            </p:nvSpPr>
            <p:spPr bwMode="auto">
              <a:xfrm flipH="1">
                <a:off x="7609192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4" name="Line 37"/>
              <p:cNvSpPr>
                <a:spLocks noChangeShapeType="1"/>
              </p:cNvSpPr>
              <p:nvPr/>
            </p:nvSpPr>
            <p:spPr bwMode="auto">
              <a:xfrm flipH="1">
                <a:off x="6479916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5" name="Line 38"/>
              <p:cNvSpPr>
                <a:spLocks noChangeShapeType="1"/>
              </p:cNvSpPr>
              <p:nvPr/>
            </p:nvSpPr>
            <p:spPr bwMode="auto">
              <a:xfrm flipH="1">
                <a:off x="6705771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6" name="Line 39"/>
              <p:cNvSpPr>
                <a:spLocks noChangeShapeType="1"/>
              </p:cNvSpPr>
              <p:nvPr/>
            </p:nvSpPr>
            <p:spPr bwMode="auto">
              <a:xfrm flipH="1">
                <a:off x="6931626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7" name="Line 40"/>
              <p:cNvSpPr>
                <a:spLocks noChangeShapeType="1"/>
              </p:cNvSpPr>
              <p:nvPr/>
            </p:nvSpPr>
            <p:spPr bwMode="auto">
              <a:xfrm flipH="1">
                <a:off x="7157482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8" name="Line 41"/>
              <p:cNvSpPr>
                <a:spLocks noChangeShapeType="1"/>
              </p:cNvSpPr>
              <p:nvPr/>
            </p:nvSpPr>
            <p:spPr bwMode="auto">
              <a:xfrm flipH="1">
                <a:off x="7383337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59" name="Line 42"/>
              <p:cNvSpPr>
                <a:spLocks noChangeShapeType="1"/>
              </p:cNvSpPr>
              <p:nvPr/>
            </p:nvSpPr>
            <p:spPr bwMode="auto">
              <a:xfrm flipH="1">
                <a:off x="7837011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60" name="Line 43"/>
              <p:cNvSpPr>
                <a:spLocks noChangeShapeType="1"/>
              </p:cNvSpPr>
              <p:nvPr/>
            </p:nvSpPr>
            <p:spPr bwMode="auto">
              <a:xfrm flipH="1">
                <a:off x="8062867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61" name="Line 44"/>
              <p:cNvSpPr>
                <a:spLocks noChangeShapeType="1"/>
              </p:cNvSpPr>
              <p:nvPr/>
            </p:nvSpPr>
            <p:spPr bwMode="auto">
              <a:xfrm flipH="1">
                <a:off x="8288722" y="2032735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7" name="Rectangle 49"/>
              <p:cNvSpPr>
                <a:spLocks noChangeArrowheads="1"/>
              </p:cNvSpPr>
              <p:nvPr/>
            </p:nvSpPr>
            <p:spPr bwMode="auto">
              <a:xfrm>
                <a:off x="4896965" y="2225661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128" name="Line 50"/>
              <p:cNvSpPr>
                <a:spLocks noChangeShapeType="1"/>
              </p:cNvSpPr>
              <p:nvPr/>
            </p:nvSpPr>
            <p:spPr bwMode="auto">
              <a:xfrm>
                <a:off x="5122820" y="222566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9" name="Line 51"/>
              <p:cNvSpPr>
                <a:spLocks noChangeShapeType="1"/>
              </p:cNvSpPr>
              <p:nvPr/>
            </p:nvSpPr>
            <p:spPr bwMode="auto">
              <a:xfrm>
                <a:off x="5348676" y="222566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0" name="Line 52"/>
              <p:cNvSpPr>
                <a:spLocks noChangeShapeType="1"/>
              </p:cNvSpPr>
              <p:nvPr/>
            </p:nvSpPr>
            <p:spPr bwMode="auto">
              <a:xfrm>
                <a:off x="5574531" y="222566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1" name="Line 53"/>
              <p:cNvSpPr>
                <a:spLocks noChangeShapeType="1"/>
              </p:cNvSpPr>
              <p:nvPr/>
            </p:nvSpPr>
            <p:spPr bwMode="auto">
              <a:xfrm>
                <a:off x="5800386" y="222566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2" name="Line 54"/>
              <p:cNvSpPr>
                <a:spLocks noChangeShapeType="1"/>
              </p:cNvSpPr>
              <p:nvPr/>
            </p:nvSpPr>
            <p:spPr bwMode="auto">
              <a:xfrm>
                <a:off x="6026241" y="222566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3" name="Line 55"/>
              <p:cNvSpPr>
                <a:spLocks noChangeShapeType="1"/>
              </p:cNvSpPr>
              <p:nvPr/>
            </p:nvSpPr>
            <p:spPr bwMode="auto">
              <a:xfrm flipH="1">
                <a:off x="6252097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4" name="Line 56"/>
              <p:cNvSpPr>
                <a:spLocks noChangeShapeType="1"/>
              </p:cNvSpPr>
              <p:nvPr/>
            </p:nvSpPr>
            <p:spPr bwMode="auto">
              <a:xfrm flipH="1">
                <a:off x="7609192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5" name="Line 57"/>
              <p:cNvSpPr>
                <a:spLocks noChangeShapeType="1"/>
              </p:cNvSpPr>
              <p:nvPr/>
            </p:nvSpPr>
            <p:spPr bwMode="auto">
              <a:xfrm flipH="1">
                <a:off x="6479916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6" name="Line 58"/>
              <p:cNvSpPr>
                <a:spLocks noChangeShapeType="1"/>
              </p:cNvSpPr>
              <p:nvPr/>
            </p:nvSpPr>
            <p:spPr bwMode="auto">
              <a:xfrm flipH="1">
                <a:off x="6705771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7" name="Line 59"/>
              <p:cNvSpPr>
                <a:spLocks noChangeShapeType="1"/>
              </p:cNvSpPr>
              <p:nvPr/>
            </p:nvSpPr>
            <p:spPr bwMode="auto">
              <a:xfrm flipH="1">
                <a:off x="6931626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8" name="Line 60"/>
              <p:cNvSpPr>
                <a:spLocks noChangeShapeType="1"/>
              </p:cNvSpPr>
              <p:nvPr/>
            </p:nvSpPr>
            <p:spPr bwMode="auto">
              <a:xfrm flipH="1">
                <a:off x="7157482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39" name="Line 61"/>
              <p:cNvSpPr>
                <a:spLocks noChangeShapeType="1"/>
              </p:cNvSpPr>
              <p:nvPr/>
            </p:nvSpPr>
            <p:spPr bwMode="auto">
              <a:xfrm flipH="1">
                <a:off x="7383337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0" name="Line 62"/>
              <p:cNvSpPr>
                <a:spLocks noChangeShapeType="1"/>
              </p:cNvSpPr>
              <p:nvPr/>
            </p:nvSpPr>
            <p:spPr bwMode="auto">
              <a:xfrm flipH="1">
                <a:off x="7837011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1" name="Line 63"/>
              <p:cNvSpPr>
                <a:spLocks noChangeShapeType="1"/>
              </p:cNvSpPr>
              <p:nvPr/>
            </p:nvSpPr>
            <p:spPr bwMode="auto">
              <a:xfrm flipH="1">
                <a:off x="8062867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42" name="Line 64"/>
              <p:cNvSpPr>
                <a:spLocks noChangeShapeType="1"/>
              </p:cNvSpPr>
              <p:nvPr/>
            </p:nvSpPr>
            <p:spPr bwMode="auto">
              <a:xfrm flipH="1">
                <a:off x="8288722" y="222566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8" name="Rectangle 69"/>
              <p:cNvSpPr>
                <a:spLocks noChangeArrowheads="1"/>
              </p:cNvSpPr>
              <p:nvPr/>
            </p:nvSpPr>
            <p:spPr bwMode="auto">
              <a:xfrm>
                <a:off x="4896965" y="2418587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109" name="Line 70"/>
              <p:cNvSpPr>
                <a:spLocks noChangeShapeType="1"/>
              </p:cNvSpPr>
              <p:nvPr/>
            </p:nvSpPr>
            <p:spPr bwMode="auto">
              <a:xfrm>
                <a:off x="5122820" y="241858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0" name="Line 71"/>
              <p:cNvSpPr>
                <a:spLocks noChangeShapeType="1"/>
              </p:cNvSpPr>
              <p:nvPr/>
            </p:nvSpPr>
            <p:spPr bwMode="auto">
              <a:xfrm>
                <a:off x="5348676" y="241858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1" name="Line 72"/>
              <p:cNvSpPr>
                <a:spLocks noChangeShapeType="1"/>
              </p:cNvSpPr>
              <p:nvPr/>
            </p:nvSpPr>
            <p:spPr bwMode="auto">
              <a:xfrm>
                <a:off x="5574531" y="241858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2" name="Line 73"/>
              <p:cNvSpPr>
                <a:spLocks noChangeShapeType="1"/>
              </p:cNvSpPr>
              <p:nvPr/>
            </p:nvSpPr>
            <p:spPr bwMode="auto">
              <a:xfrm>
                <a:off x="5800386" y="241858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3" name="Line 74"/>
              <p:cNvSpPr>
                <a:spLocks noChangeShapeType="1"/>
              </p:cNvSpPr>
              <p:nvPr/>
            </p:nvSpPr>
            <p:spPr bwMode="auto">
              <a:xfrm>
                <a:off x="6026241" y="241858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4" name="Line 75"/>
              <p:cNvSpPr>
                <a:spLocks noChangeShapeType="1"/>
              </p:cNvSpPr>
              <p:nvPr/>
            </p:nvSpPr>
            <p:spPr bwMode="auto">
              <a:xfrm flipH="1">
                <a:off x="6252097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5" name="Line 76"/>
              <p:cNvSpPr>
                <a:spLocks noChangeShapeType="1"/>
              </p:cNvSpPr>
              <p:nvPr/>
            </p:nvSpPr>
            <p:spPr bwMode="auto">
              <a:xfrm flipH="1">
                <a:off x="7609192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6" name="Line 77"/>
              <p:cNvSpPr>
                <a:spLocks noChangeShapeType="1"/>
              </p:cNvSpPr>
              <p:nvPr/>
            </p:nvSpPr>
            <p:spPr bwMode="auto">
              <a:xfrm flipH="1">
                <a:off x="6479916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7" name="Line 78"/>
              <p:cNvSpPr>
                <a:spLocks noChangeShapeType="1"/>
              </p:cNvSpPr>
              <p:nvPr/>
            </p:nvSpPr>
            <p:spPr bwMode="auto">
              <a:xfrm flipH="1">
                <a:off x="6705771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8" name="Line 79"/>
              <p:cNvSpPr>
                <a:spLocks noChangeShapeType="1"/>
              </p:cNvSpPr>
              <p:nvPr/>
            </p:nvSpPr>
            <p:spPr bwMode="auto">
              <a:xfrm flipH="1">
                <a:off x="6931626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19" name="Line 80"/>
              <p:cNvSpPr>
                <a:spLocks noChangeShapeType="1"/>
              </p:cNvSpPr>
              <p:nvPr/>
            </p:nvSpPr>
            <p:spPr bwMode="auto">
              <a:xfrm flipH="1">
                <a:off x="7157482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0" name="Line 81"/>
              <p:cNvSpPr>
                <a:spLocks noChangeShapeType="1"/>
              </p:cNvSpPr>
              <p:nvPr/>
            </p:nvSpPr>
            <p:spPr bwMode="auto">
              <a:xfrm flipH="1">
                <a:off x="7383337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1" name="Line 82"/>
              <p:cNvSpPr>
                <a:spLocks noChangeShapeType="1"/>
              </p:cNvSpPr>
              <p:nvPr/>
            </p:nvSpPr>
            <p:spPr bwMode="auto">
              <a:xfrm flipH="1">
                <a:off x="7837011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2" name="Line 83"/>
              <p:cNvSpPr>
                <a:spLocks noChangeShapeType="1"/>
              </p:cNvSpPr>
              <p:nvPr/>
            </p:nvSpPr>
            <p:spPr bwMode="auto">
              <a:xfrm flipH="1">
                <a:off x="8062867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23" name="Line 84"/>
              <p:cNvSpPr>
                <a:spLocks noChangeShapeType="1"/>
              </p:cNvSpPr>
              <p:nvPr/>
            </p:nvSpPr>
            <p:spPr bwMode="auto">
              <a:xfrm flipH="1">
                <a:off x="8288722" y="241858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9" name="Rectangle 89"/>
              <p:cNvSpPr>
                <a:spLocks noChangeArrowheads="1"/>
              </p:cNvSpPr>
              <p:nvPr/>
            </p:nvSpPr>
            <p:spPr bwMode="auto">
              <a:xfrm>
                <a:off x="4896965" y="2612911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90" name="Line 90"/>
              <p:cNvSpPr>
                <a:spLocks noChangeShapeType="1"/>
              </p:cNvSpPr>
              <p:nvPr/>
            </p:nvSpPr>
            <p:spPr bwMode="auto">
              <a:xfrm>
                <a:off x="5122820" y="261291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1" name="Line 91"/>
              <p:cNvSpPr>
                <a:spLocks noChangeShapeType="1"/>
              </p:cNvSpPr>
              <p:nvPr/>
            </p:nvSpPr>
            <p:spPr bwMode="auto">
              <a:xfrm>
                <a:off x="5348676" y="261291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2" name="Line 92"/>
              <p:cNvSpPr>
                <a:spLocks noChangeShapeType="1"/>
              </p:cNvSpPr>
              <p:nvPr/>
            </p:nvSpPr>
            <p:spPr bwMode="auto">
              <a:xfrm>
                <a:off x="5574531" y="261291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3" name="Line 93"/>
              <p:cNvSpPr>
                <a:spLocks noChangeShapeType="1"/>
              </p:cNvSpPr>
              <p:nvPr/>
            </p:nvSpPr>
            <p:spPr bwMode="auto">
              <a:xfrm>
                <a:off x="5800386" y="261291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4" name="Line 94"/>
              <p:cNvSpPr>
                <a:spLocks noChangeShapeType="1"/>
              </p:cNvSpPr>
              <p:nvPr/>
            </p:nvSpPr>
            <p:spPr bwMode="auto">
              <a:xfrm>
                <a:off x="6026241" y="2612911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5" name="Line 95"/>
              <p:cNvSpPr>
                <a:spLocks noChangeShapeType="1"/>
              </p:cNvSpPr>
              <p:nvPr/>
            </p:nvSpPr>
            <p:spPr bwMode="auto">
              <a:xfrm flipH="1">
                <a:off x="6252097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6" name="Line 96"/>
              <p:cNvSpPr>
                <a:spLocks noChangeShapeType="1"/>
              </p:cNvSpPr>
              <p:nvPr/>
            </p:nvSpPr>
            <p:spPr bwMode="auto">
              <a:xfrm flipH="1">
                <a:off x="7609192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7" name="Line 97"/>
              <p:cNvSpPr>
                <a:spLocks noChangeShapeType="1"/>
              </p:cNvSpPr>
              <p:nvPr/>
            </p:nvSpPr>
            <p:spPr bwMode="auto">
              <a:xfrm flipH="1">
                <a:off x="6479916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8" name="Line 98"/>
              <p:cNvSpPr>
                <a:spLocks noChangeShapeType="1"/>
              </p:cNvSpPr>
              <p:nvPr/>
            </p:nvSpPr>
            <p:spPr bwMode="auto">
              <a:xfrm flipH="1">
                <a:off x="6705771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99" name="Line 99"/>
              <p:cNvSpPr>
                <a:spLocks noChangeShapeType="1"/>
              </p:cNvSpPr>
              <p:nvPr/>
            </p:nvSpPr>
            <p:spPr bwMode="auto">
              <a:xfrm flipH="1">
                <a:off x="6931626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0" name="Line 100"/>
              <p:cNvSpPr>
                <a:spLocks noChangeShapeType="1"/>
              </p:cNvSpPr>
              <p:nvPr/>
            </p:nvSpPr>
            <p:spPr bwMode="auto">
              <a:xfrm flipH="1">
                <a:off x="7157482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1" name="Line 101"/>
              <p:cNvSpPr>
                <a:spLocks noChangeShapeType="1"/>
              </p:cNvSpPr>
              <p:nvPr/>
            </p:nvSpPr>
            <p:spPr bwMode="auto">
              <a:xfrm flipH="1">
                <a:off x="7383337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2" name="Line 102"/>
              <p:cNvSpPr>
                <a:spLocks noChangeShapeType="1"/>
              </p:cNvSpPr>
              <p:nvPr/>
            </p:nvSpPr>
            <p:spPr bwMode="auto">
              <a:xfrm flipH="1">
                <a:off x="7837011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3" name="Line 103"/>
              <p:cNvSpPr>
                <a:spLocks noChangeShapeType="1"/>
              </p:cNvSpPr>
              <p:nvPr/>
            </p:nvSpPr>
            <p:spPr bwMode="auto">
              <a:xfrm flipH="1">
                <a:off x="8062867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104" name="Line 104"/>
              <p:cNvSpPr>
                <a:spLocks noChangeShapeType="1"/>
              </p:cNvSpPr>
              <p:nvPr/>
            </p:nvSpPr>
            <p:spPr bwMode="auto">
              <a:xfrm flipH="1">
                <a:off x="8288722" y="2612911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0" name="Rectangle 109"/>
              <p:cNvSpPr>
                <a:spLocks noChangeArrowheads="1"/>
              </p:cNvSpPr>
              <p:nvPr/>
            </p:nvSpPr>
            <p:spPr bwMode="auto">
              <a:xfrm>
                <a:off x="4896965" y="2805837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71" name="Line 110"/>
              <p:cNvSpPr>
                <a:spLocks noChangeShapeType="1"/>
              </p:cNvSpPr>
              <p:nvPr/>
            </p:nvSpPr>
            <p:spPr bwMode="auto">
              <a:xfrm>
                <a:off x="5122820" y="280583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2" name="Line 111"/>
              <p:cNvSpPr>
                <a:spLocks noChangeShapeType="1"/>
              </p:cNvSpPr>
              <p:nvPr/>
            </p:nvSpPr>
            <p:spPr bwMode="auto">
              <a:xfrm>
                <a:off x="5348676" y="280583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3" name="Line 112"/>
              <p:cNvSpPr>
                <a:spLocks noChangeShapeType="1"/>
              </p:cNvSpPr>
              <p:nvPr/>
            </p:nvSpPr>
            <p:spPr bwMode="auto">
              <a:xfrm>
                <a:off x="5574531" y="280583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4" name="Line 113"/>
              <p:cNvSpPr>
                <a:spLocks noChangeShapeType="1"/>
              </p:cNvSpPr>
              <p:nvPr/>
            </p:nvSpPr>
            <p:spPr bwMode="auto">
              <a:xfrm>
                <a:off x="5800386" y="280583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5" name="Line 114"/>
              <p:cNvSpPr>
                <a:spLocks noChangeShapeType="1"/>
              </p:cNvSpPr>
              <p:nvPr/>
            </p:nvSpPr>
            <p:spPr bwMode="auto">
              <a:xfrm>
                <a:off x="6026241" y="2805837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6" name="Line 115"/>
              <p:cNvSpPr>
                <a:spLocks noChangeShapeType="1"/>
              </p:cNvSpPr>
              <p:nvPr/>
            </p:nvSpPr>
            <p:spPr bwMode="auto">
              <a:xfrm flipH="1">
                <a:off x="6252097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7" name="Line 116"/>
              <p:cNvSpPr>
                <a:spLocks noChangeShapeType="1"/>
              </p:cNvSpPr>
              <p:nvPr/>
            </p:nvSpPr>
            <p:spPr bwMode="auto">
              <a:xfrm flipH="1">
                <a:off x="7609192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8" name="Line 117"/>
              <p:cNvSpPr>
                <a:spLocks noChangeShapeType="1"/>
              </p:cNvSpPr>
              <p:nvPr/>
            </p:nvSpPr>
            <p:spPr bwMode="auto">
              <a:xfrm flipH="1">
                <a:off x="6479916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79" name="Line 118"/>
              <p:cNvSpPr>
                <a:spLocks noChangeShapeType="1"/>
              </p:cNvSpPr>
              <p:nvPr/>
            </p:nvSpPr>
            <p:spPr bwMode="auto">
              <a:xfrm flipH="1">
                <a:off x="6705771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0" name="Line 119"/>
              <p:cNvSpPr>
                <a:spLocks noChangeShapeType="1"/>
              </p:cNvSpPr>
              <p:nvPr/>
            </p:nvSpPr>
            <p:spPr bwMode="auto">
              <a:xfrm flipH="1">
                <a:off x="6931626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1" name="Line 120"/>
              <p:cNvSpPr>
                <a:spLocks noChangeShapeType="1"/>
              </p:cNvSpPr>
              <p:nvPr/>
            </p:nvSpPr>
            <p:spPr bwMode="auto">
              <a:xfrm flipH="1">
                <a:off x="7157482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2" name="Line 121"/>
              <p:cNvSpPr>
                <a:spLocks noChangeShapeType="1"/>
              </p:cNvSpPr>
              <p:nvPr/>
            </p:nvSpPr>
            <p:spPr bwMode="auto">
              <a:xfrm flipH="1">
                <a:off x="7383337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3" name="Line 122"/>
              <p:cNvSpPr>
                <a:spLocks noChangeShapeType="1"/>
              </p:cNvSpPr>
              <p:nvPr/>
            </p:nvSpPr>
            <p:spPr bwMode="auto">
              <a:xfrm flipH="1">
                <a:off x="7837011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4" name="Line 123"/>
              <p:cNvSpPr>
                <a:spLocks noChangeShapeType="1"/>
              </p:cNvSpPr>
              <p:nvPr/>
            </p:nvSpPr>
            <p:spPr bwMode="auto">
              <a:xfrm flipH="1">
                <a:off x="8062867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85" name="Line 124"/>
              <p:cNvSpPr>
                <a:spLocks noChangeShapeType="1"/>
              </p:cNvSpPr>
              <p:nvPr/>
            </p:nvSpPr>
            <p:spPr bwMode="auto">
              <a:xfrm flipH="1">
                <a:off x="8288722" y="2805837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1" name="Rectangle 129"/>
              <p:cNvSpPr>
                <a:spLocks noChangeArrowheads="1"/>
              </p:cNvSpPr>
              <p:nvPr/>
            </p:nvSpPr>
            <p:spPr bwMode="auto">
              <a:xfrm>
                <a:off x="4896965" y="2998762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52" name="Line 130"/>
              <p:cNvSpPr>
                <a:spLocks noChangeShapeType="1"/>
              </p:cNvSpPr>
              <p:nvPr/>
            </p:nvSpPr>
            <p:spPr bwMode="auto">
              <a:xfrm>
                <a:off x="5122820" y="2998762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3" name="Line 131"/>
              <p:cNvSpPr>
                <a:spLocks noChangeShapeType="1"/>
              </p:cNvSpPr>
              <p:nvPr/>
            </p:nvSpPr>
            <p:spPr bwMode="auto">
              <a:xfrm>
                <a:off x="5348676" y="2998762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4" name="Line 132"/>
              <p:cNvSpPr>
                <a:spLocks noChangeShapeType="1"/>
              </p:cNvSpPr>
              <p:nvPr/>
            </p:nvSpPr>
            <p:spPr bwMode="auto">
              <a:xfrm>
                <a:off x="5574531" y="2998762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5" name="Line 133"/>
              <p:cNvSpPr>
                <a:spLocks noChangeShapeType="1"/>
              </p:cNvSpPr>
              <p:nvPr/>
            </p:nvSpPr>
            <p:spPr bwMode="auto">
              <a:xfrm>
                <a:off x="5800386" y="2998762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6" name="Line 134"/>
              <p:cNvSpPr>
                <a:spLocks noChangeShapeType="1"/>
              </p:cNvSpPr>
              <p:nvPr/>
            </p:nvSpPr>
            <p:spPr bwMode="auto">
              <a:xfrm>
                <a:off x="6026241" y="2998762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7" name="Line 135"/>
              <p:cNvSpPr>
                <a:spLocks noChangeShapeType="1"/>
              </p:cNvSpPr>
              <p:nvPr/>
            </p:nvSpPr>
            <p:spPr bwMode="auto">
              <a:xfrm flipH="1">
                <a:off x="6252097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8" name="Line 136"/>
              <p:cNvSpPr>
                <a:spLocks noChangeShapeType="1"/>
              </p:cNvSpPr>
              <p:nvPr/>
            </p:nvSpPr>
            <p:spPr bwMode="auto">
              <a:xfrm flipH="1">
                <a:off x="7609192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59" name="Line 137"/>
              <p:cNvSpPr>
                <a:spLocks noChangeShapeType="1"/>
              </p:cNvSpPr>
              <p:nvPr/>
            </p:nvSpPr>
            <p:spPr bwMode="auto">
              <a:xfrm flipH="1">
                <a:off x="6479916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0" name="Line 138"/>
              <p:cNvSpPr>
                <a:spLocks noChangeShapeType="1"/>
              </p:cNvSpPr>
              <p:nvPr/>
            </p:nvSpPr>
            <p:spPr bwMode="auto">
              <a:xfrm flipH="1">
                <a:off x="6705771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1" name="Line 139"/>
              <p:cNvSpPr>
                <a:spLocks noChangeShapeType="1"/>
              </p:cNvSpPr>
              <p:nvPr/>
            </p:nvSpPr>
            <p:spPr bwMode="auto">
              <a:xfrm flipH="1">
                <a:off x="6931626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2" name="Line 140"/>
              <p:cNvSpPr>
                <a:spLocks noChangeShapeType="1"/>
              </p:cNvSpPr>
              <p:nvPr/>
            </p:nvSpPr>
            <p:spPr bwMode="auto">
              <a:xfrm flipH="1">
                <a:off x="7157482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3" name="Line 141"/>
              <p:cNvSpPr>
                <a:spLocks noChangeShapeType="1"/>
              </p:cNvSpPr>
              <p:nvPr/>
            </p:nvSpPr>
            <p:spPr bwMode="auto">
              <a:xfrm flipH="1">
                <a:off x="7383337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4" name="Line 142"/>
              <p:cNvSpPr>
                <a:spLocks noChangeShapeType="1"/>
              </p:cNvSpPr>
              <p:nvPr/>
            </p:nvSpPr>
            <p:spPr bwMode="auto">
              <a:xfrm flipH="1">
                <a:off x="7837011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5" name="Line 143"/>
              <p:cNvSpPr>
                <a:spLocks noChangeShapeType="1"/>
              </p:cNvSpPr>
              <p:nvPr/>
            </p:nvSpPr>
            <p:spPr bwMode="auto">
              <a:xfrm flipH="1">
                <a:off x="8062867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66" name="Line 144"/>
              <p:cNvSpPr>
                <a:spLocks noChangeShapeType="1"/>
              </p:cNvSpPr>
              <p:nvPr/>
            </p:nvSpPr>
            <p:spPr bwMode="auto">
              <a:xfrm flipH="1">
                <a:off x="8288722" y="2998762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2" name="Rectangle 149"/>
              <p:cNvSpPr>
                <a:spLocks noChangeArrowheads="1"/>
              </p:cNvSpPr>
              <p:nvPr/>
            </p:nvSpPr>
            <p:spPr bwMode="auto">
              <a:xfrm>
                <a:off x="4896965" y="3193086"/>
                <a:ext cx="3619576" cy="16077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pPr algn="ctr"/>
                <a:endParaRPr lang="en-US" sz="1400" b="1"/>
              </a:p>
            </p:txBody>
          </p:sp>
          <p:sp>
            <p:nvSpPr>
              <p:cNvPr id="33" name="Line 150"/>
              <p:cNvSpPr>
                <a:spLocks noChangeShapeType="1"/>
              </p:cNvSpPr>
              <p:nvPr/>
            </p:nvSpPr>
            <p:spPr bwMode="auto">
              <a:xfrm>
                <a:off x="5122820" y="3193086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4" name="Line 151"/>
              <p:cNvSpPr>
                <a:spLocks noChangeShapeType="1"/>
              </p:cNvSpPr>
              <p:nvPr/>
            </p:nvSpPr>
            <p:spPr bwMode="auto">
              <a:xfrm>
                <a:off x="5348676" y="3193086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5" name="Line 152"/>
              <p:cNvSpPr>
                <a:spLocks noChangeShapeType="1"/>
              </p:cNvSpPr>
              <p:nvPr/>
            </p:nvSpPr>
            <p:spPr bwMode="auto">
              <a:xfrm>
                <a:off x="5574531" y="3193086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6" name="Line 153"/>
              <p:cNvSpPr>
                <a:spLocks noChangeShapeType="1"/>
              </p:cNvSpPr>
              <p:nvPr/>
            </p:nvSpPr>
            <p:spPr bwMode="auto">
              <a:xfrm>
                <a:off x="5800386" y="3193086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7" name="Line 154"/>
              <p:cNvSpPr>
                <a:spLocks noChangeShapeType="1"/>
              </p:cNvSpPr>
              <p:nvPr/>
            </p:nvSpPr>
            <p:spPr bwMode="auto">
              <a:xfrm>
                <a:off x="6026241" y="3193086"/>
                <a:ext cx="0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8" name="Line 155"/>
              <p:cNvSpPr>
                <a:spLocks noChangeShapeType="1"/>
              </p:cNvSpPr>
              <p:nvPr/>
            </p:nvSpPr>
            <p:spPr bwMode="auto">
              <a:xfrm flipH="1">
                <a:off x="6252097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39" name="Line 156"/>
              <p:cNvSpPr>
                <a:spLocks noChangeShapeType="1"/>
              </p:cNvSpPr>
              <p:nvPr/>
            </p:nvSpPr>
            <p:spPr bwMode="auto">
              <a:xfrm flipH="1">
                <a:off x="7609192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0" name="Line 157"/>
              <p:cNvSpPr>
                <a:spLocks noChangeShapeType="1"/>
              </p:cNvSpPr>
              <p:nvPr/>
            </p:nvSpPr>
            <p:spPr bwMode="auto">
              <a:xfrm flipH="1">
                <a:off x="6479916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1" name="Line 158"/>
              <p:cNvSpPr>
                <a:spLocks noChangeShapeType="1"/>
              </p:cNvSpPr>
              <p:nvPr/>
            </p:nvSpPr>
            <p:spPr bwMode="auto">
              <a:xfrm flipH="1">
                <a:off x="6705771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2" name="Line 159"/>
              <p:cNvSpPr>
                <a:spLocks noChangeShapeType="1"/>
              </p:cNvSpPr>
              <p:nvPr/>
            </p:nvSpPr>
            <p:spPr bwMode="auto">
              <a:xfrm flipH="1">
                <a:off x="6931626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3" name="Line 160"/>
              <p:cNvSpPr>
                <a:spLocks noChangeShapeType="1"/>
              </p:cNvSpPr>
              <p:nvPr/>
            </p:nvSpPr>
            <p:spPr bwMode="auto">
              <a:xfrm flipH="1">
                <a:off x="7157482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4" name="Line 161"/>
              <p:cNvSpPr>
                <a:spLocks noChangeShapeType="1"/>
              </p:cNvSpPr>
              <p:nvPr/>
            </p:nvSpPr>
            <p:spPr bwMode="auto">
              <a:xfrm flipH="1">
                <a:off x="7383337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5" name="Line 162"/>
              <p:cNvSpPr>
                <a:spLocks noChangeShapeType="1"/>
              </p:cNvSpPr>
              <p:nvPr/>
            </p:nvSpPr>
            <p:spPr bwMode="auto">
              <a:xfrm flipH="1">
                <a:off x="7837011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6" name="Line 163"/>
              <p:cNvSpPr>
                <a:spLocks noChangeShapeType="1"/>
              </p:cNvSpPr>
              <p:nvPr/>
            </p:nvSpPr>
            <p:spPr bwMode="auto">
              <a:xfrm flipH="1">
                <a:off x="8062867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  <p:sp>
            <p:nvSpPr>
              <p:cNvPr id="47" name="Line 164"/>
              <p:cNvSpPr>
                <a:spLocks noChangeShapeType="1"/>
              </p:cNvSpPr>
              <p:nvPr/>
            </p:nvSpPr>
            <p:spPr bwMode="auto">
              <a:xfrm flipH="1">
                <a:off x="8288722" y="3193086"/>
                <a:ext cx="1964" cy="160772"/>
              </a:xfrm>
              <a:prstGeom prst="line">
                <a:avLst/>
              </a:prstGeom>
              <a:ln>
                <a:headEnd/>
                <a:tailEnd/>
              </a:ln>
              <a:extLst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anchor="ctr"/>
              <a:lstStyle/>
              <a:p>
                <a:endParaRPr lang="en-US" sz="2800"/>
              </a:p>
            </p:txBody>
          </p:sp>
        </p:grpSp>
      </p:grpSp>
      <p:sp>
        <p:nvSpPr>
          <p:cNvPr id="164" name="Text Placeholder 3"/>
          <p:cNvSpPr txBox="1">
            <a:spLocks/>
          </p:cNvSpPr>
          <p:nvPr/>
        </p:nvSpPr>
        <p:spPr>
          <a:xfrm>
            <a:off x="629842" y="775861"/>
            <a:ext cx="3868340" cy="4244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 smtClean="0"/>
              <a:t>CPU: Latency-Oriented Design</a:t>
            </a:r>
            <a:endParaRPr lang="en-US" sz="2000" b="1" dirty="0"/>
          </a:p>
        </p:txBody>
      </p:sp>
      <p:sp>
        <p:nvSpPr>
          <p:cNvPr id="183" name="Text Placeholder 5"/>
          <p:cNvSpPr txBox="1">
            <a:spLocks/>
          </p:cNvSpPr>
          <p:nvPr/>
        </p:nvSpPr>
        <p:spPr>
          <a:xfrm>
            <a:off x="4629150" y="775861"/>
            <a:ext cx="3887391" cy="4244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mtClean="0"/>
              <a:t>GPU: Throughput-Oriented Design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7704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  <p:bldP spid="164" grpId="0" build="p"/>
      <p:bldP spid="1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GPU Origins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GPUs were originally built for graphics</a:t>
            </a:r>
          </a:p>
          <a:p>
            <a:pPr lvl="1"/>
            <a:r>
              <a:rPr lang="en-US" dirty="0"/>
              <a:t>Hence the name, </a:t>
            </a:r>
            <a:r>
              <a:rPr lang="en-US" u="sng" dirty="0"/>
              <a:t>G</a:t>
            </a:r>
            <a:r>
              <a:rPr lang="en-US" dirty="0"/>
              <a:t>raphics </a:t>
            </a:r>
            <a:r>
              <a:rPr lang="en-US" u="sng" dirty="0"/>
              <a:t>P</a:t>
            </a:r>
            <a:r>
              <a:rPr lang="en-US" dirty="0"/>
              <a:t>rocessing </a:t>
            </a:r>
            <a:r>
              <a:rPr lang="en-US" u="sng" dirty="0"/>
              <a:t>U</a:t>
            </a:r>
            <a:r>
              <a:rPr lang="en-US" dirty="0"/>
              <a:t>nit</a:t>
            </a:r>
          </a:p>
          <a:p>
            <a:pPr lvl="1"/>
            <a:r>
              <a:rPr lang="en-US" dirty="0" smtClean="0"/>
              <a:t>Graphics workloads process </a:t>
            </a:r>
            <a:r>
              <a:rPr lang="en-US" dirty="0"/>
              <a:t>a massive number of pixels in </a:t>
            </a:r>
            <a:r>
              <a:rPr lang="en-US" dirty="0" smtClean="0"/>
              <a:t>parallel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Before 2007, the only way to program GPUs was using graphics APIs</a:t>
            </a:r>
          </a:p>
          <a:p>
            <a:pPr lvl="1"/>
            <a:r>
              <a:rPr lang="en-US" dirty="0"/>
              <a:t>e.g., OpenGL, Direct3D</a:t>
            </a:r>
          </a:p>
          <a:p>
            <a:pPr lvl="1"/>
            <a:r>
              <a:rPr lang="en-US" dirty="0"/>
              <a:t>Using GPUs for other than graphics meant reformulating a computation as a function that paints a pixel</a:t>
            </a:r>
          </a:p>
          <a:p>
            <a:endParaRPr lang="en-US" dirty="0"/>
          </a:p>
          <a:p>
            <a:r>
              <a:rPr lang="en-US" dirty="0"/>
              <a:t>In 2007, NVIDIA released CUDA</a:t>
            </a:r>
          </a:p>
          <a:p>
            <a:pPr lvl="1"/>
            <a:r>
              <a:rPr lang="en-US" dirty="0"/>
              <a:t>A programming interface for using GPUs in a general purpose way</a:t>
            </a:r>
          </a:p>
          <a:p>
            <a:pPr lvl="1"/>
            <a:r>
              <a:rPr lang="en-US" dirty="0"/>
              <a:t>Requires extensions to the GPU </a:t>
            </a:r>
            <a:r>
              <a:rPr lang="en-US" dirty="0" smtClean="0"/>
              <a:t>architecture</a:t>
            </a:r>
            <a:endParaRPr lang="en-US" dirty="0"/>
          </a:p>
        </p:txBody>
      </p:sp>
      <p:pic>
        <p:nvPicPr>
          <p:cNvPr id="3074" name="Picture 2" descr="Image result for nvidia gpu"/>
          <p:cNvPicPr>
            <a:picLocks noChangeAspect="1" noChangeArrowheads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308" y="1760638"/>
            <a:ext cx="2165316" cy="218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0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1" y="590256"/>
            <a:ext cx="9162769" cy="2931574"/>
            <a:chOff x="-1" y="2355228"/>
            <a:chExt cx="9162769" cy="2931574"/>
          </a:xfrm>
        </p:grpSpPr>
        <p:pic>
          <p:nvPicPr>
            <p:cNvPr id="2056" name="Picture 8" descr="2015&#10;3 Million&#10;CUDA Downloads&#10;60,000&#10;Academic Papers&#10;800&#10;Universities Teaching&#10;54,000&#10;Supercomputing Teraflops&#10;10X GROWTH ...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3" t="17404" r="4405" b="3527"/>
            <a:stretch/>
          </p:blipFill>
          <p:spPr bwMode="auto">
            <a:xfrm>
              <a:off x="-1" y="2355228"/>
              <a:ext cx="9162769" cy="2688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3428097" y="5032886"/>
              <a:ext cx="2287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i="1" dirty="0" smtClean="0"/>
                <a:t>Source: Jensen Huang, GTC’15 Keynote</a:t>
              </a:r>
              <a:endParaRPr lang="en-US" sz="1050" i="1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449585" y="3507176"/>
            <a:ext cx="4244830" cy="3350732"/>
            <a:chOff x="2449585" y="3607266"/>
            <a:chExt cx="4244830" cy="335073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t="15996"/>
            <a:stretch/>
          </p:blipFill>
          <p:spPr>
            <a:xfrm>
              <a:off x="2449585" y="3607266"/>
              <a:ext cx="4244830" cy="314191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428097" y="6704082"/>
              <a:ext cx="2287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i="1" dirty="0" smtClean="0"/>
                <a:t>Source: Jensen Huang, GTC’19 Keynote</a:t>
              </a:r>
              <a:endParaRPr lang="en-US" sz="1050" i="1" dirty="0"/>
            </a:p>
          </p:txBody>
        </p:sp>
      </p:grp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Growth of GPU Computing</a:t>
            </a:r>
          </a:p>
        </p:txBody>
      </p:sp>
    </p:spTree>
    <p:extLst>
      <p:ext uri="{BB962C8B-B14F-4D97-AF65-F5344CB8AC3E}">
        <p14:creationId xmlns:p14="http://schemas.microsoft.com/office/powerpoint/2010/main" val="123227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Top Supercomputers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GPU accelerated computers in 2020:</a:t>
            </a:r>
          </a:p>
          <a:p>
            <a:pPr lvl="1"/>
            <a:r>
              <a:rPr lang="en-US" dirty="0"/>
              <a:t>#1 in </a:t>
            </a:r>
            <a:r>
              <a:rPr lang="en-US" dirty="0" smtClean="0"/>
              <a:t>USA, </a:t>
            </a:r>
            <a:r>
              <a:rPr lang="en-US" dirty="0"/>
              <a:t>#2 </a:t>
            </a:r>
            <a:r>
              <a:rPr lang="en-US" dirty="0" smtClean="0"/>
              <a:t>worldwide </a:t>
            </a:r>
            <a:r>
              <a:rPr lang="en-US" dirty="0"/>
              <a:t>– </a:t>
            </a:r>
            <a:r>
              <a:rPr lang="en-US" dirty="0" smtClean="0"/>
              <a:t>Summit</a:t>
            </a:r>
            <a:endParaRPr lang="en-US" dirty="0"/>
          </a:p>
          <a:p>
            <a:pPr lvl="1"/>
            <a:r>
              <a:rPr lang="en-US" dirty="0"/>
              <a:t>#1 in </a:t>
            </a:r>
            <a:r>
              <a:rPr lang="en-US" dirty="0" smtClean="0"/>
              <a:t>Europe, #8 worldwide </a:t>
            </a:r>
            <a:r>
              <a:rPr lang="en-US" dirty="0"/>
              <a:t>– </a:t>
            </a:r>
            <a:r>
              <a:rPr lang="en-US" dirty="0" err="1" smtClean="0"/>
              <a:t>Juwels</a:t>
            </a:r>
            <a:endParaRPr lang="en-US" dirty="0"/>
          </a:p>
          <a:p>
            <a:pPr lvl="1"/>
            <a:r>
              <a:rPr lang="en-US" dirty="0" smtClean="0"/>
              <a:t>7 </a:t>
            </a:r>
            <a:r>
              <a:rPr lang="en-US" dirty="0"/>
              <a:t>out of the top 10 supercomputers </a:t>
            </a:r>
            <a:r>
              <a:rPr lang="en-US" dirty="0" smtClean="0"/>
              <a:t>worldwide</a:t>
            </a:r>
            <a:endParaRPr lang="en-US" dirty="0"/>
          </a:p>
          <a:p>
            <a:pPr lvl="1"/>
            <a:r>
              <a:rPr lang="en-US" dirty="0" smtClean="0"/>
              <a:t>#2 in energy-efficient supercomputers (Green500)</a:t>
            </a:r>
          </a:p>
          <a:p>
            <a:pPr lvl="1"/>
            <a:r>
              <a:rPr lang="en-US" dirty="0" smtClean="0"/>
              <a:t>9 out of top 10 energy-efficient supercomputers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3493020" y="510307"/>
            <a:ext cx="21579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</a:t>
            </a:r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</a:rPr>
              <a:t>top500.org, November 2021</a:t>
            </a:r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84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Why GPUs?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Chips are expensive to build and require a large volume of sales to amortize the cost</a:t>
            </a:r>
          </a:p>
          <a:p>
            <a:pPr lvl="1"/>
            <a:r>
              <a:rPr lang="en-US" dirty="0" smtClean="0"/>
              <a:t>This makes the chip market very difficult to penetrate</a:t>
            </a:r>
          </a:p>
          <a:p>
            <a:endParaRPr lang="en-US" dirty="0" smtClean="0"/>
          </a:p>
          <a:p>
            <a:r>
              <a:rPr lang="en-US" dirty="0" smtClean="0"/>
              <a:t>When parallel computing became mainstream, GPUs already had (and still have) a large </a:t>
            </a:r>
            <a:r>
              <a:rPr lang="en-US" i="1" dirty="0" smtClean="0"/>
              <a:t>installed base</a:t>
            </a:r>
            <a:r>
              <a:rPr lang="en-US" dirty="0" smtClean="0"/>
              <a:t> from the gaming sector</a:t>
            </a:r>
          </a:p>
          <a:p>
            <a:pPr lvl="1"/>
            <a:r>
              <a:rPr lang="en-US" dirty="0" smtClean="0"/>
              <a:t>Gave them a head start compared to other potential massively parallel accelerators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GPU Market Sector Breakdown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782189"/>
              </p:ext>
            </p:extLst>
          </p:nvPr>
        </p:nvGraphicFramePr>
        <p:xfrm>
          <a:off x="-453006" y="1253421"/>
          <a:ext cx="5738069" cy="4798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FA028E-D924-4465-983B-AA419C9BBBDB}"/>
              </a:ext>
            </a:extLst>
          </p:cNvPr>
          <p:cNvSpPr txBox="1"/>
          <p:nvPr/>
        </p:nvSpPr>
        <p:spPr>
          <a:xfrm>
            <a:off x="1587022" y="5688540"/>
            <a:ext cx="15279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50000"/>
                  </a:schemeClr>
                </a:solidFill>
              </a:rPr>
              <a:t>Source: </a:t>
            </a:r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</a:rPr>
              <a:t>NVIDIA, Q2 FY19</a:t>
            </a:r>
            <a:endParaRPr lang="en-US" sz="105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923" y="892696"/>
            <a:ext cx="393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Revenue from Different Market Sectors</a:t>
            </a:r>
            <a:endParaRPr lang="en-US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4714613" y="1739985"/>
            <a:ext cx="4412608" cy="3573296"/>
            <a:chOff x="4714613" y="2407641"/>
            <a:chExt cx="4412608" cy="357329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4613" y="2963235"/>
              <a:ext cx="4412608" cy="2713774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382588" y="2407641"/>
              <a:ext cx="3285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smtClean="0"/>
                <a:t>Breakdown of Datacenter Sector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FA028E-D924-4465-983B-AA419C9BBBDB}"/>
                </a:ext>
              </a:extLst>
            </p:cNvPr>
            <p:cNvSpPr txBox="1"/>
            <p:nvPr/>
          </p:nvSpPr>
          <p:spPr>
            <a:xfrm>
              <a:off x="6283745" y="5727021"/>
              <a:ext cx="13484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i="1" dirty="0">
                  <a:solidFill>
                    <a:schemeClr val="bg1">
                      <a:lumMod val="50000"/>
                    </a:schemeClr>
                  </a:solidFill>
                </a:rPr>
                <a:t>Source: </a:t>
              </a:r>
              <a:r>
                <a:rPr lang="en-US" sz="1050" i="1" dirty="0" smtClean="0">
                  <a:solidFill>
                    <a:schemeClr val="bg1">
                      <a:lumMod val="50000"/>
                    </a:schemeClr>
                  </a:solidFill>
                </a:rPr>
                <a:t>NVIDIA, 2018</a:t>
              </a:r>
              <a:endParaRPr lang="en-US" sz="105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662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AsOne/>
      </p:bldGraphic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Programming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In this class, we will focus on CUDA</a:t>
            </a:r>
          </a:p>
          <a:p>
            <a:endParaRPr lang="en-US" sz="1400" dirty="0"/>
          </a:p>
          <a:p>
            <a:r>
              <a:rPr lang="en-US" dirty="0" smtClean="0"/>
              <a:t>Other GPU parallel programming frameworks:</a:t>
            </a:r>
          </a:p>
          <a:p>
            <a:pPr lvl="1"/>
            <a:r>
              <a:rPr lang="en-US" dirty="0" err="1" smtClean="0"/>
              <a:t>OpenCL</a:t>
            </a:r>
            <a:endParaRPr lang="en-US" dirty="0" smtClean="0"/>
          </a:p>
          <a:p>
            <a:pPr lvl="1"/>
            <a:r>
              <a:rPr lang="en-US" dirty="0" err="1" smtClean="0"/>
              <a:t>OpenACC</a:t>
            </a:r>
            <a:endParaRPr lang="en-US" dirty="0" smtClean="0"/>
          </a:p>
          <a:p>
            <a:endParaRPr lang="en-US" sz="1400" dirty="0"/>
          </a:p>
          <a:p>
            <a:r>
              <a:rPr lang="en-US" dirty="0" smtClean="0"/>
              <a:t>Popular CPU programming frameworks</a:t>
            </a:r>
          </a:p>
          <a:p>
            <a:pPr lvl="1"/>
            <a:r>
              <a:rPr lang="en-US" dirty="0" smtClean="0"/>
              <a:t>MPI (distributed memory system)</a:t>
            </a:r>
          </a:p>
          <a:p>
            <a:pPr lvl="1"/>
            <a:r>
              <a:rPr lang="en-US" dirty="0" err="1" smtClean="0"/>
              <a:t>OpenMP</a:t>
            </a:r>
            <a:r>
              <a:rPr lang="en-US" dirty="0" smtClean="0"/>
              <a:t> (shared memory system)</a:t>
            </a:r>
          </a:p>
          <a:p>
            <a:pPr lvl="1"/>
            <a:r>
              <a:rPr lang="en-US" dirty="0" smtClean="0"/>
              <a:t>Both can be used in conjunction with CUDA</a:t>
            </a:r>
          </a:p>
        </p:txBody>
      </p:sp>
    </p:spTree>
    <p:extLst>
      <p:ext uri="{BB962C8B-B14F-4D97-AF65-F5344CB8AC3E}">
        <p14:creationId xmlns:p14="http://schemas.microsoft.com/office/powerpoint/2010/main" val="393351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Computing Pitfall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 smtClean="0"/>
                  <a:t>Consider an application where:</a:t>
                </a:r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sequential execution time </a:t>
                </a:r>
                <a:r>
                  <a:rPr lang="en-US" dirty="0" smtClean="0"/>
                  <a:t>is </a:t>
                </a:r>
                <a:r>
                  <a:rPr lang="en-US" b="1" dirty="0" smtClean="0">
                    <a:solidFill>
                      <a:schemeClr val="accent5"/>
                    </a:solidFill>
                  </a:rPr>
                  <a:t>100</a:t>
                </a:r>
                <a:r>
                  <a:rPr lang="en-US" i="1" dirty="0" smtClean="0"/>
                  <a:t>s</a:t>
                </a:r>
                <a:endParaRPr lang="en-US" i="1" dirty="0"/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fraction of </a:t>
                </a:r>
                <a:r>
                  <a:rPr lang="en-US" dirty="0" smtClean="0"/>
                  <a:t>execution </a:t>
                </a:r>
                <a:r>
                  <a:rPr lang="en-US" dirty="0"/>
                  <a:t>that </a:t>
                </a:r>
                <a:r>
                  <a:rPr lang="en-US" dirty="0" smtClean="0"/>
                  <a:t>is parallelizable is </a:t>
                </a:r>
                <a:r>
                  <a:rPr lang="en-US" b="1" dirty="0" smtClean="0">
                    <a:solidFill>
                      <a:schemeClr val="accent6"/>
                    </a:solidFill>
                  </a:rPr>
                  <a:t>90</a:t>
                </a:r>
                <a:r>
                  <a:rPr lang="en-US" dirty="0" smtClean="0"/>
                  <a:t>%</a:t>
                </a:r>
                <a:endParaRPr lang="en-US" dirty="0"/>
              </a:p>
              <a:p>
                <a:pPr lvl="1"/>
                <a:r>
                  <a:rPr lang="en-US" dirty="0" smtClean="0"/>
                  <a:t>The speedup achieved on the parallelizable part is </a:t>
                </a:r>
                <a:r>
                  <a:rPr lang="en-US" b="1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1000</a:t>
                </a:r>
                <a:r>
                  <a:rPr lang="en-US" dirty="0" smtClean="0"/>
                  <a:t>×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What is the overall speedup of the application?</a:t>
                </a:r>
              </a:p>
              <a:p>
                <a:pPr marL="0" indent="0">
                  <a:buNone/>
                </a:pPr>
                <a:endParaRPr lang="en-US" sz="105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𝑝𝑎𝑟𝑎𝑙𝑙𝑒𝑙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=10.09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b="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𝑠𝑝𝑒𝑒𝑑𝑢𝑝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𝑠𝑒𝑞𝑢𝑒𝑛𝑡𝑖𝑎𝑙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𝑝𝑎𝑟𝑎𝑙𝑙𝑒𝑙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10.09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=9.17×</m:t>
                      </m:r>
                    </m:oMath>
                  </m:oMathPara>
                </a14:m>
                <a:endParaRPr lang="en-US" sz="2000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0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Amdahl’s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 smtClean="0"/>
                  <a:t>In general, if an application has: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b="1" i="1" dirty="0" smtClean="0">
                    <a:solidFill>
                      <a:schemeClr val="accent5"/>
                    </a:solidFill>
                  </a:rPr>
                  <a:t>t</a:t>
                </a:r>
                <a:r>
                  <a:rPr lang="en-US" dirty="0" smtClean="0"/>
                  <a:t> </a:t>
                </a:r>
                <a:r>
                  <a:rPr lang="en-US" dirty="0"/>
                  <a:t>sequential execution time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b="1" i="1" dirty="0">
                    <a:solidFill>
                      <a:schemeClr val="accent6"/>
                    </a:solidFill>
                  </a:rPr>
                  <a:t>p</a:t>
                </a:r>
                <a:r>
                  <a:rPr lang="en-US" dirty="0"/>
                  <a:t> fraction of execution that is parallelizable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b="1" i="1" dirty="0">
                    <a:solidFill>
                      <a:schemeClr val="accent4">
                        <a:lumMod val="75000"/>
                      </a:schemeClr>
                    </a:solidFill>
                  </a:rPr>
                  <a:t>s</a:t>
                </a:r>
                <a:r>
                  <a:rPr lang="en-US" dirty="0"/>
                  <a:t> speedup achieved on the parallelizable </a:t>
                </a:r>
                <a:r>
                  <a:rPr lang="en-US" dirty="0" smtClean="0"/>
                  <a:t>part</a:t>
                </a:r>
              </a:p>
              <a:p>
                <a:pPr>
                  <a:buClr>
                    <a:schemeClr val="tx1"/>
                  </a:buClr>
                </a:pPr>
                <a:endParaRPr lang="en-US" dirty="0" smtClean="0"/>
              </a:p>
              <a:p>
                <a:r>
                  <a:rPr lang="en-US" dirty="0" smtClean="0"/>
                  <a:t>What is the overall speedup of the application?</a:t>
                </a:r>
              </a:p>
              <a:p>
                <a:pPr marL="0" indent="0">
                  <a:buNone/>
                </a:pPr>
                <a:endParaRPr lang="en-US" sz="105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𝑝𝑎𝑟𝑎𝑙𝑙𝑒𝑙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num>
                            <m:den>
                              <m:r>
                                <a:rPr lang="en-US" sz="20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1100" dirty="0" smtClean="0"/>
              </a:p>
              <a:p>
                <a:pPr marL="0" indent="0" algn="ctr">
                  <a:buNone/>
                </a:pPr>
                <a:endParaRPr lang="en-US" sz="1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𝑠𝑝𝑒𝑒𝑑𝑢𝑝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𝑠𝑒𝑞𝑢𝑒𝑛𝑡𝑖𝑎𝑙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𝑝𝑎𝑟𝑎𝑙𝑙𝑒𝑙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num>
                        <m:den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num>
                            <m:den>
                              <m:r>
                                <a:rPr lang="en-US" sz="20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</m:den>
                      </m:f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2"/>
                            </m:rP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m:rPr>
                              <m:brk m:alnAt="2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  </m:t>
                          </m:r>
                        </m:e>
                      </m:groupCh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en-US" sz="2000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47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Amdahl’s Law Implications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 smtClean="0"/>
                  <a:t>The maximum speedup of a parallel program is limited by the </a:t>
                </a:r>
                <a:r>
                  <a:rPr lang="en-US" dirty="0"/>
                  <a:t>fraction of execution that is parallelizable</a:t>
                </a:r>
                <a:endParaRPr lang="en-US" dirty="0" smtClean="0"/>
              </a:p>
              <a:p>
                <a:pPr marL="0" indent="0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𝑠𝑝𝑒𝑒𝑑𝑢𝑝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 smtClean="0"/>
                  <a:t>e.g., if </a:t>
                </a:r>
                <a:r>
                  <a:rPr lang="en-US" b="1" i="1" dirty="0" smtClean="0">
                    <a:solidFill>
                      <a:schemeClr val="accent6"/>
                    </a:solidFill>
                  </a:rPr>
                  <a:t>p</a:t>
                </a:r>
                <a:r>
                  <a:rPr lang="en-US" dirty="0" smtClean="0"/>
                  <a:t> is 90%, speedup &lt; 10×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Fortunately, for many real applications, </a:t>
                </a:r>
                <a:r>
                  <a:rPr lang="en-US" b="1" i="1" dirty="0">
                    <a:solidFill>
                      <a:schemeClr val="accent6"/>
                    </a:solidFill>
                  </a:rPr>
                  <a:t>p</a:t>
                </a:r>
                <a:r>
                  <a:rPr lang="en-US" dirty="0"/>
                  <a:t> </a:t>
                </a:r>
                <a:r>
                  <a:rPr lang="en-US" dirty="0" smtClean="0"/>
                  <a:t>&gt; 99% especially for large datasets, and speedups &gt;100× are attainable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64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Wen-</a:t>
            </a:r>
            <a:r>
              <a:rPr lang="en-US" dirty="0" err="1" smtClean="0"/>
              <a:t>mei</a:t>
            </a:r>
            <a:r>
              <a:rPr lang="en-US" dirty="0" smtClean="0"/>
              <a:t> W. </a:t>
            </a:r>
            <a:r>
              <a:rPr lang="en-US" dirty="0" err="1" smtClean="0"/>
              <a:t>Hwu</a:t>
            </a:r>
            <a:r>
              <a:rPr lang="en-US" dirty="0"/>
              <a:t>, David B. </a:t>
            </a:r>
            <a:r>
              <a:rPr lang="en-US" dirty="0" smtClean="0"/>
              <a:t>Kirk, and Izzat El Hajj. </a:t>
            </a:r>
            <a:r>
              <a:rPr lang="en-US" i="1" dirty="0" smtClean="0"/>
              <a:t>Programming Massively Parallel Processors: A Hands-on Approach</a:t>
            </a:r>
            <a:r>
              <a:rPr lang="en-US" dirty="0" smtClean="0"/>
              <a:t>. Morgan Kaufmann, 2022.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5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</TotalTime>
  <Words>1160</Words>
  <Application>Microsoft Office PowerPoint</Application>
  <PresentationFormat>On-screen Show (4:3)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89</cp:revision>
  <dcterms:created xsi:type="dcterms:W3CDTF">2022-03-30T06:33:52Z</dcterms:created>
  <dcterms:modified xsi:type="dcterms:W3CDTF">2022-08-31T03:30:50Z</dcterms:modified>
</cp:coreProperties>
</file>