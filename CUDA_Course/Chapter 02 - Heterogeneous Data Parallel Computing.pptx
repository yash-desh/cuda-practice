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handoutMasterIdLst>
    <p:handoutMasterId r:id="rId31"/>
  </p:handoutMasterIdLst>
  <p:sldIdLst>
    <p:sldId id="270" r:id="rId2"/>
    <p:sldId id="271" r:id="rId3"/>
    <p:sldId id="272" r:id="rId4"/>
    <p:sldId id="273" r:id="rId5"/>
    <p:sldId id="274" r:id="rId6"/>
    <p:sldId id="275" r:id="rId7"/>
    <p:sldId id="276" r:id="rId8"/>
    <p:sldId id="277" r:id="rId9"/>
    <p:sldId id="278" r:id="rId10"/>
    <p:sldId id="279" r:id="rId11"/>
    <p:sldId id="280" r:id="rId12"/>
    <p:sldId id="281" r:id="rId13"/>
    <p:sldId id="282" r:id="rId14"/>
    <p:sldId id="283" r:id="rId15"/>
    <p:sldId id="284" r:id="rId16"/>
    <p:sldId id="285" r:id="rId17"/>
    <p:sldId id="286" r:id="rId18"/>
    <p:sldId id="287" r:id="rId19"/>
    <p:sldId id="288" r:id="rId20"/>
    <p:sldId id="289" r:id="rId21"/>
    <p:sldId id="290" r:id="rId22"/>
    <p:sldId id="291" r:id="rId23"/>
    <p:sldId id="292" r:id="rId24"/>
    <p:sldId id="293" r:id="rId25"/>
    <p:sldId id="294" r:id="rId26"/>
    <p:sldId id="295" r:id="rId27"/>
    <p:sldId id="296" r:id="rId28"/>
    <p:sldId id="297" r:id="rId29"/>
    <p:sldId id="298" r:id="rId3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C4C4C"/>
    <a:srgbClr val="E08E2F"/>
    <a:srgbClr val="E09135"/>
    <a:srgbClr val="FFFFFF"/>
    <a:srgbClr val="DC8623"/>
    <a:srgbClr val="DB8522"/>
    <a:srgbClr val="4D4D4D"/>
    <a:srgbClr val="EB6500"/>
    <a:srgbClr val="53565A"/>
    <a:srgbClr val="FF984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308EC16-7612-48F2-BD7E-AB7620736A0A}" v="99" dt="2022-03-30T08:57:44.27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 showGuides="1">
      <p:cViewPr varScale="1">
        <p:scale>
          <a:sx n="77" d="100"/>
          <a:sy n="77" d="100"/>
        </p:scale>
        <p:origin x="48" y="3699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notesViewPr>
    <p:cSldViewPr snapToGrid="0">
      <p:cViewPr varScale="1">
        <p:scale>
          <a:sx n="99" d="100"/>
          <a:sy n="99" d="100"/>
        </p:scale>
        <p:origin x="357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6C9F2AD-ACD9-4F52-8557-48C099C603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315BD4B-9B5A-4159-B729-CBA6AE207B3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E7D2E7-9FC7-4207-9062-A3303B783802}" type="datetimeFigureOut">
              <a:rPr lang="en-IN" smtClean="0"/>
              <a:t>31-08-2022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94C69D-016E-496D-B1AA-E9EE96139DA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A5A0A3E-29D3-4009-A482-439DDE028B7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4528DA-F324-4659-A143-8781AC34D3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535706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.png"/><Relationship Id="rId5" Type="http://schemas.openxmlformats.org/officeDocument/2006/relationships/image" Target="../media/image2.png"/><Relationship Id="rId4" Type="http://schemas.microsoft.com/office/2007/relationships/hdphoto" Target="../media/hdphoto1.wdp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5614FD1-D902-4A59-BCAB-4AA8AF3D9081}"/>
              </a:ext>
            </a:extLst>
          </p:cNvPr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4" name="Picture 3" descr="A picture containing shape&#10;&#10;Description automatically generated">
            <a:extLst>
              <a:ext uri="{FF2B5EF4-FFF2-40B4-BE49-F238E27FC236}">
                <a16:creationId xmlns:a16="http://schemas.microsoft.com/office/drawing/2014/main" id="{BA4AD1CF-AA6C-4924-8675-811F23CE0DB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24"/>
            <a:ext cx="9144000" cy="6850625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2E2EB6C-4AC4-41A2-8F72-A329B2E1580B}"/>
              </a:ext>
            </a:extLst>
          </p:cNvPr>
          <p:cNvSpPr/>
          <p:nvPr userDrawn="1"/>
        </p:nvSpPr>
        <p:spPr>
          <a:xfrm>
            <a:off x="-2300" y="6812281"/>
            <a:ext cx="9144000" cy="45719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CDB9DDB9-4BD9-4BCF-86A4-772414CF0629}"/>
              </a:ext>
            </a:extLst>
          </p:cNvPr>
          <p:cNvGrpSpPr/>
          <p:nvPr userDrawn="1"/>
        </p:nvGrpSpPr>
        <p:grpSpPr>
          <a:xfrm>
            <a:off x="-72699" y="-3125"/>
            <a:ext cx="1374756" cy="1441923"/>
            <a:chOff x="-113156" y="25300"/>
            <a:chExt cx="1332205" cy="1441923"/>
          </a:xfrm>
        </p:grpSpPr>
        <p:sp>
          <p:nvSpPr>
            <p:cNvPr id="7" name="Rectangle: Rounded Corners 35">
              <a:extLst>
                <a:ext uri="{FF2B5EF4-FFF2-40B4-BE49-F238E27FC236}">
                  <a16:creationId xmlns:a16="http://schemas.microsoft.com/office/drawing/2014/main" id="{7957AE27-1DC8-4907-8AB1-2560A90A543A}"/>
                </a:ext>
              </a:extLst>
            </p:cNvPr>
            <p:cNvSpPr/>
            <p:nvPr/>
          </p:nvSpPr>
          <p:spPr>
            <a:xfrm>
              <a:off x="-43557" y="25300"/>
              <a:ext cx="1262606" cy="1441923"/>
            </a:xfrm>
            <a:prstGeom prst="roundRect">
              <a:avLst>
                <a:gd name="adj" fmla="val 0"/>
              </a:avLst>
            </a:prstGeom>
            <a:solidFill>
              <a:srgbClr val="4D4D4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pic>
          <p:nvPicPr>
            <p:cNvPr id="8" name="Picture 2" descr="Data Mining. Concepts and Techniques, 3rd Edition (The Morgan Kaufmann  Series in Data Management Systems)">
              <a:extLst>
                <a:ext uri="{FF2B5EF4-FFF2-40B4-BE49-F238E27FC236}">
                  <a16:creationId xmlns:a16="http://schemas.microsoft.com/office/drawing/2014/main" id="{9E395FDB-906D-4C55-85C3-0A95428EBDB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rightnessContrast bright="40000" contrast="-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12187" r="-1"/>
            <a:stretch/>
          </p:blipFill>
          <p:spPr bwMode="auto">
            <a:xfrm>
              <a:off x="-113156" y="357913"/>
              <a:ext cx="1317458" cy="77007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A2C3EE6A-8657-4A6B-87F7-02627342A27B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2636487" y="1788690"/>
            <a:ext cx="3731741" cy="261610"/>
          </a:xfrm>
          <a:prstGeom prst="roundRect">
            <a:avLst>
              <a:gd name="adj" fmla="val 0"/>
            </a:avLst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GB" sz="1100" i="1" dirty="0">
                <a:solidFill>
                  <a:srgbClr val="53565A"/>
                </a:solidFill>
                <a:latin typeface="+mj-lt"/>
              </a:rPr>
              <a:t>Wen-</a:t>
            </a:r>
            <a:r>
              <a:rPr lang="en-GB" sz="1100" i="1" dirty="0" err="1">
                <a:solidFill>
                  <a:srgbClr val="53565A"/>
                </a:solidFill>
                <a:latin typeface="+mj-lt"/>
              </a:rPr>
              <a:t>mei</a:t>
            </a:r>
            <a:r>
              <a:rPr lang="en-GB" sz="1100" i="1" dirty="0">
                <a:solidFill>
                  <a:srgbClr val="53565A"/>
                </a:solidFill>
                <a:latin typeface="+mj-lt"/>
              </a:rPr>
              <a:t> </a:t>
            </a:r>
            <a:r>
              <a:rPr lang="en-GB" sz="1100" i="1" dirty="0" err="1">
                <a:solidFill>
                  <a:srgbClr val="53565A"/>
                </a:solidFill>
                <a:latin typeface="+mj-lt"/>
              </a:rPr>
              <a:t>Hwu</a:t>
            </a:r>
            <a:r>
              <a:rPr lang="en-GB" sz="1100" i="1" dirty="0">
                <a:solidFill>
                  <a:srgbClr val="53565A"/>
                </a:solidFill>
                <a:latin typeface="+mj-lt"/>
              </a:rPr>
              <a:t>, David Kirk, Izzat El Hajj</a:t>
            </a:r>
            <a:endParaRPr lang="en-US" sz="1100" i="1" dirty="0">
              <a:solidFill>
                <a:srgbClr val="53565A"/>
              </a:solidFill>
              <a:latin typeface="+mj-lt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43523CE-3289-4AA1-A7D0-4D0378C02A45}"/>
              </a:ext>
            </a:extLst>
          </p:cNvPr>
          <p:cNvCxnSpPr/>
          <p:nvPr userDrawn="1"/>
        </p:nvCxnSpPr>
        <p:spPr>
          <a:xfrm>
            <a:off x="2360588" y="1928406"/>
            <a:ext cx="275899" cy="0"/>
          </a:xfrm>
          <a:prstGeom prst="line">
            <a:avLst/>
          </a:prstGeom>
          <a:ln w="19050">
            <a:solidFill>
              <a:srgbClr val="53565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 descr="Background pattern&#10;&#10;Description automatically generated">
            <a:extLst>
              <a:ext uri="{FF2B5EF4-FFF2-40B4-BE49-F238E27FC236}">
                <a16:creationId xmlns:a16="http://schemas.microsoft.com/office/drawing/2014/main" id="{2B1CFD73-162D-4195-B0FC-38DEE10693F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4303"/>
          <a:stretch/>
        </p:blipFill>
        <p:spPr>
          <a:xfrm>
            <a:off x="1299246" y="1441973"/>
            <a:ext cx="7844400" cy="157732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BF7728A-41A1-445F-A9FF-56DF9F9BB7F1}"/>
              </a:ext>
            </a:extLst>
          </p:cNvPr>
          <p:cNvSpPr txBox="1"/>
          <p:nvPr userDrawn="1"/>
        </p:nvSpPr>
        <p:spPr bwMode="auto">
          <a:xfrm>
            <a:off x="1567422" y="1743145"/>
            <a:ext cx="5679695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GB" sz="2400" b="1" dirty="0">
                <a:solidFill>
                  <a:schemeClr val="bg1"/>
                </a:solidFill>
              </a:rPr>
              <a:t>Programming Massively Parallel Processors</a:t>
            </a:r>
            <a:endParaRPr lang="en-US" sz="2400" b="1" dirty="0">
              <a:solidFill>
                <a:schemeClr val="bg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B215409-9B9B-4DB6-906D-C53B1CDED403}"/>
              </a:ext>
            </a:extLst>
          </p:cNvPr>
          <p:cNvSpPr txBox="1"/>
          <p:nvPr userDrawn="1"/>
        </p:nvSpPr>
        <p:spPr>
          <a:xfrm>
            <a:off x="1567421" y="2143201"/>
            <a:ext cx="220637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800" dirty="0">
                <a:solidFill>
                  <a:schemeClr val="bg1"/>
                </a:solidFill>
                <a:latin typeface="+mj-lt"/>
              </a:rPr>
              <a:t>A Hands-on Approach</a:t>
            </a:r>
            <a:endParaRPr lang="en-US" sz="1800" dirty="0">
              <a:solidFill>
                <a:schemeClr val="bg1"/>
              </a:solidFill>
              <a:latin typeface="+mj-lt"/>
            </a:endParaRPr>
          </a:p>
          <a:p>
            <a:endParaRPr lang="en-IN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364E5FD-D2A2-4A68-8897-43FA77D6453D}"/>
              </a:ext>
            </a:extLst>
          </p:cNvPr>
          <p:cNvSpPr/>
          <p:nvPr userDrawn="1"/>
        </p:nvSpPr>
        <p:spPr>
          <a:xfrm>
            <a:off x="1299245" y="3024958"/>
            <a:ext cx="7836105" cy="6006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/>
              <a:t>z</a:t>
            </a:r>
          </a:p>
        </p:txBody>
      </p:sp>
      <p:pic>
        <p:nvPicPr>
          <p:cNvPr id="17" name="Picture 16" descr="A picture containing night sky&#10;&#10;Description automatically generated">
            <a:extLst>
              <a:ext uri="{FF2B5EF4-FFF2-40B4-BE49-F238E27FC236}">
                <a16:creationId xmlns:a16="http://schemas.microsoft.com/office/drawing/2014/main" id="{CB3A55CF-D158-4A58-A4DE-DEEA1CF1071C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3773" y="4445883"/>
            <a:ext cx="4410075" cy="1952625"/>
          </a:xfrm>
          <a:prstGeom prst="rect">
            <a:avLst/>
          </a:prstGeom>
        </p:spPr>
      </p:pic>
      <p:sp>
        <p:nvSpPr>
          <p:cNvPr id="18" name="L-Shape 17">
            <a:extLst>
              <a:ext uri="{FF2B5EF4-FFF2-40B4-BE49-F238E27FC236}">
                <a16:creationId xmlns:a16="http://schemas.microsoft.com/office/drawing/2014/main" id="{715CF1CF-E105-4089-BA77-56B70A742ECB}"/>
              </a:ext>
            </a:extLst>
          </p:cNvPr>
          <p:cNvSpPr/>
          <p:nvPr userDrawn="1"/>
        </p:nvSpPr>
        <p:spPr>
          <a:xfrm rot="13500000">
            <a:off x="2939485" y="3242288"/>
            <a:ext cx="140020" cy="140020"/>
          </a:xfrm>
          <a:prstGeom prst="corner">
            <a:avLst>
              <a:gd name="adj1" fmla="val 27650"/>
              <a:gd name="adj2" fmla="val 25788"/>
            </a:avLst>
          </a:prstGeom>
          <a:solidFill>
            <a:srgbClr val="DB852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E928E1F-54E8-4389-82DD-5CF4C77F4AB0}"/>
              </a:ext>
            </a:extLst>
          </p:cNvPr>
          <p:cNvSpPr/>
          <p:nvPr userDrawn="1"/>
        </p:nvSpPr>
        <p:spPr>
          <a:xfrm>
            <a:off x="7884826" y="6812281"/>
            <a:ext cx="1259174" cy="45719"/>
          </a:xfrm>
          <a:prstGeom prst="rect">
            <a:avLst/>
          </a:prstGeom>
          <a:solidFill>
            <a:srgbClr val="DC86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0" name="Picture 19" descr="Chart&#10;&#10;Description automatically generated">
            <a:extLst>
              <a:ext uri="{FF2B5EF4-FFF2-40B4-BE49-F238E27FC236}">
                <a16:creationId xmlns:a16="http://schemas.microsoft.com/office/drawing/2014/main" id="{083DB60B-7D3C-470B-9BE6-C4062D6A1D49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90372" y="3636069"/>
            <a:ext cx="2232972" cy="2762439"/>
          </a:xfrm>
          <a:prstGeom prst="rect">
            <a:avLst/>
          </a:prstGeom>
        </p:spPr>
      </p:pic>
      <p:sp>
        <p:nvSpPr>
          <p:cNvPr id="21" name="Rectangle 7">
            <a:extLst>
              <a:ext uri="{FF2B5EF4-FFF2-40B4-BE49-F238E27FC236}">
                <a16:creationId xmlns:a16="http://schemas.microsoft.com/office/drawing/2014/main" id="{21B15398-A182-4C0B-854E-654EA8B5B28D}"/>
              </a:ext>
            </a:extLst>
          </p:cNvPr>
          <p:cNvSpPr>
            <a:spLocks/>
          </p:cNvSpPr>
          <p:nvPr userDrawn="1"/>
        </p:nvSpPr>
        <p:spPr bwMode="auto">
          <a:xfrm>
            <a:off x="59677" y="6603329"/>
            <a:ext cx="1579154" cy="185454"/>
          </a:xfrm>
          <a:prstGeom prst="rect">
            <a:avLst/>
          </a:prstGeom>
          <a:noFill/>
          <a:ln>
            <a:noFill/>
          </a:ln>
        </p:spPr>
        <p:txBody>
          <a:bodyPr lIns="0" tIns="0" rIns="40639" bIns="0" anchor="ctr"/>
          <a:lstStyle>
            <a:lvl1pPr marL="39688" eaLnBrk="0" hangingPunct="0"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Copyright © 2022 Elsevier</a:t>
            </a:r>
          </a:p>
        </p:txBody>
      </p:sp>
      <p:sp>
        <p:nvSpPr>
          <p:cNvPr id="23" name="Text Placeholder 22"/>
          <p:cNvSpPr>
            <a:spLocks noGrp="1"/>
          </p:cNvSpPr>
          <p:nvPr>
            <p:ph type="body" sz="quarter" idx="10" hasCustomPrompt="1"/>
          </p:nvPr>
        </p:nvSpPr>
        <p:spPr>
          <a:xfrm>
            <a:off x="1298575" y="3011550"/>
            <a:ext cx="1611556" cy="606145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2000" b="1" cap="all" baseline="0">
                <a:latin typeface="+mn-lt"/>
              </a:defRPr>
            </a:lvl1pPr>
          </a:lstStyle>
          <a:p>
            <a:pPr lvl="0"/>
            <a:r>
              <a:rPr lang="en-US" dirty="0" smtClean="0"/>
              <a:t>Chapter #</a:t>
            </a:r>
            <a:endParaRPr lang="en-US" dirty="0"/>
          </a:p>
        </p:txBody>
      </p:sp>
      <p:sp>
        <p:nvSpPr>
          <p:cNvPr id="27" name="Text Placeholder 22"/>
          <p:cNvSpPr>
            <a:spLocks noGrp="1"/>
          </p:cNvSpPr>
          <p:nvPr>
            <p:ph type="body" sz="quarter" idx="11" hasCustomPrompt="1"/>
          </p:nvPr>
        </p:nvSpPr>
        <p:spPr>
          <a:xfrm>
            <a:off x="3146829" y="3011550"/>
            <a:ext cx="5898609" cy="606145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2000" b="1" cap="none" baseline="0">
                <a:latin typeface="+mj-lt"/>
              </a:defRPr>
            </a:lvl1pPr>
          </a:lstStyle>
          <a:p>
            <a:pPr lvl="0"/>
            <a:r>
              <a:rPr lang="en-US" dirty="0" smtClean="0"/>
              <a:t>Chapter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79655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71011D6E-2CED-4BBC-A66B-38F7B0BDDCF4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1018908" y="43891"/>
            <a:ext cx="7886700" cy="45354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370D1EB3-9074-4E31-9DCF-ADFD596A7E8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50672" y="838072"/>
            <a:ext cx="8464802" cy="5584630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211744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71011D6E-2CED-4BBC-A66B-38F7B0BDDCF4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1018908" y="43891"/>
            <a:ext cx="7886700" cy="45354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544536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514897"/>
            <a:ext cx="3868340" cy="645898"/>
          </a:xfrm>
        </p:spPr>
        <p:txBody>
          <a:bodyPr anchor="b"/>
          <a:lstStyle>
            <a:lvl1pPr marL="0" indent="0" algn="ctr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248402"/>
            <a:ext cx="3868340" cy="5261907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514897"/>
            <a:ext cx="3887391" cy="645898"/>
          </a:xfrm>
        </p:spPr>
        <p:txBody>
          <a:bodyPr anchor="b"/>
          <a:lstStyle>
            <a:lvl1pPr marL="0" indent="0" algn="ctr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248402"/>
            <a:ext cx="3887391" cy="5261907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71011D6E-2CED-4BBC-A66B-38F7B0BDDCF4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1018908" y="43891"/>
            <a:ext cx="7886700" cy="45354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689147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410187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microsoft.com/office/2007/relationships/hdphoto" Target="../media/hdphoto1.wdp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 picture containing night sky&#10;&#10;Description automatically generated">
            <a:extLst>
              <a:ext uri="{FF2B5EF4-FFF2-40B4-BE49-F238E27FC236}">
                <a16:creationId xmlns:a16="http://schemas.microsoft.com/office/drawing/2014/main" id="{0451918C-3068-494B-B756-EB2CEF6603DC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-1" y="5538866"/>
            <a:ext cx="3013881" cy="1334439"/>
          </a:xfrm>
          <a:prstGeom prst="rect">
            <a:avLst/>
          </a:prstGeom>
        </p:spPr>
      </p:pic>
      <p:sp>
        <p:nvSpPr>
          <p:cNvPr id="13" name="Rectangle 5">
            <a:extLst>
              <a:ext uri="{FF2B5EF4-FFF2-40B4-BE49-F238E27FC236}">
                <a16:creationId xmlns:a16="http://schemas.microsoft.com/office/drawing/2014/main" id="{31DF901C-E89A-4945-9091-D20419752365}"/>
              </a:ext>
            </a:extLst>
          </p:cNvPr>
          <p:cNvSpPr/>
          <p:nvPr userDrawn="1"/>
        </p:nvSpPr>
        <p:spPr>
          <a:xfrm>
            <a:off x="6914848" y="4280108"/>
            <a:ext cx="2226852" cy="2533254"/>
          </a:xfrm>
          <a:custGeom>
            <a:avLst/>
            <a:gdLst>
              <a:gd name="connsiteX0" fmla="*/ 0 w 4572000"/>
              <a:gd name="connsiteY0" fmla="*/ 0 h 3429000"/>
              <a:gd name="connsiteX1" fmla="*/ 4572000 w 4572000"/>
              <a:gd name="connsiteY1" fmla="*/ 0 h 3429000"/>
              <a:gd name="connsiteX2" fmla="*/ 4572000 w 4572000"/>
              <a:gd name="connsiteY2" fmla="*/ 3429000 h 3429000"/>
              <a:gd name="connsiteX3" fmla="*/ 0 w 4572000"/>
              <a:gd name="connsiteY3" fmla="*/ 3429000 h 3429000"/>
              <a:gd name="connsiteX4" fmla="*/ 0 w 4572000"/>
              <a:gd name="connsiteY4" fmla="*/ 0 h 3429000"/>
              <a:gd name="connsiteX0" fmla="*/ 0 w 4572000"/>
              <a:gd name="connsiteY0" fmla="*/ 3429000 h 3429000"/>
              <a:gd name="connsiteX1" fmla="*/ 4572000 w 4572000"/>
              <a:gd name="connsiteY1" fmla="*/ 0 h 3429000"/>
              <a:gd name="connsiteX2" fmla="*/ 4572000 w 4572000"/>
              <a:gd name="connsiteY2" fmla="*/ 3429000 h 3429000"/>
              <a:gd name="connsiteX3" fmla="*/ 0 w 4572000"/>
              <a:gd name="connsiteY3" fmla="*/ 3429000 h 342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72000" h="3429000">
                <a:moveTo>
                  <a:pt x="0" y="3429000"/>
                </a:moveTo>
                <a:lnTo>
                  <a:pt x="4572000" y="0"/>
                </a:lnTo>
                <a:lnTo>
                  <a:pt x="4572000" y="3429000"/>
                </a:lnTo>
                <a:lnTo>
                  <a:pt x="0" y="3429000"/>
                </a:lnTo>
                <a:close/>
              </a:path>
            </a:pathLst>
          </a:custGeom>
          <a:solidFill>
            <a:schemeClr val="bg1">
              <a:lumMod val="95000"/>
              <a:alpha val="4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67E801F-3FA2-4ED1-804F-E330EBA748E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91" t="4554" r="77" b="59326"/>
          <a:stretch/>
        </p:blipFill>
        <p:spPr>
          <a:xfrm>
            <a:off x="930683" y="-1553"/>
            <a:ext cx="8211017" cy="511200"/>
          </a:xfrm>
          <a:prstGeom prst="rect">
            <a:avLst/>
          </a:prstGeom>
        </p:spPr>
      </p:pic>
      <p:pic>
        <p:nvPicPr>
          <p:cNvPr id="8" name="Picture 2" descr="Data Mining. Concepts and Techniques, 3rd Edition (The Morgan Kaufmann  Series in Data Management Systems)">
            <a:extLst>
              <a:ext uri="{FF2B5EF4-FFF2-40B4-BE49-F238E27FC236}">
                <a16:creationId xmlns:a16="http://schemas.microsoft.com/office/drawing/2014/main" id="{A52DA9B2-CDDD-4030-BA37-75FEC690ABA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rightnessContrast bright="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30682" cy="5098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E92C0D8-7584-4BDC-BE7D-11D53629CF58}"/>
              </a:ext>
            </a:extLst>
          </p:cNvPr>
          <p:cNvSpPr/>
          <p:nvPr userDrawn="1"/>
        </p:nvSpPr>
        <p:spPr>
          <a:xfrm>
            <a:off x="-2300" y="6812281"/>
            <a:ext cx="9144000" cy="45719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 7">
            <a:extLst>
              <a:ext uri="{FF2B5EF4-FFF2-40B4-BE49-F238E27FC236}">
                <a16:creationId xmlns:a16="http://schemas.microsoft.com/office/drawing/2014/main" id="{80D6273C-93F4-4ED4-A1B6-1578A4766C97}"/>
              </a:ext>
            </a:extLst>
          </p:cNvPr>
          <p:cNvSpPr>
            <a:spLocks/>
          </p:cNvSpPr>
          <p:nvPr userDrawn="1"/>
        </p:nvSpPr>
        <p:spPr bwMode="auto">
          <a:xfrm>
            <a:off x="59677" y="6603329"/>
            <a:ext cx="1579154" cy="185454"/>
          </a:xfrm>
          <a:prstGeom prst="rect">
            <a:avLst/>
          </a:prstGeom>
          <a:noFill/>
          <a:ln>
            <a:noFill/>
          </a:ln>
        </p:spPr>
        <p:txBody>
          <a:bodyPr lIns="0" tIns="0" rIns="40639" bIns="0" anchor="ctr"/>
          <a:lstStyle>
            <a:lvl1pPr marL="39688" eaLnBrk="0" hangingPunct="0"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Copyright © 2022 Elsevier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26B0C97-5D7F-45E4-B756-6265FC57D53E}"/>
              </a:ext>
            </a:extLst>
          </p:cNvPr>
          <p:cNvSpPr/>
          <p:nvPr userDrawn="1"/>
        </p:nvSpPr>
        <p:spPr>
          <a:xfrm>
            <a:off x="7884826" y="6812281"/>
            <a:ext cx="1259174" cy="45719"/>
          </a:xfrm>
          <a:prstGeom prst="rect">
            <a:avLst/>
          </a:prstGeom>
          <a:solidFill>
            <a:srgbClr val="DC86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64600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2" r:id="rId2"/>
    <p:sldLayoutId id="2147483664" r:id="rId3"/>
    <p:sldLayoutId id="2147483667" r:id="rId4"/>
    <p:sldLayoutId id="2147483665" r:id="rId5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nvidia.com/cuda/cuda-c-programming-guide/index.html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smtClean="0"/>
              <a:t>Chapter 2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Heterogeneous Data Parallel Computing</a:t>
            </a:r>
          </a:p>
        </p:txBody>
      </p:sp>
    </p:spTree>
    <p:extLst>
      <p:ext uri="{BB962C8B-B14F-4D97-AF65-F5344CB8AC3E}">
        <p14:creationId xmlns:p14="http://schemas.microsoft.com/office/powerpoint/2010/main" val="38314259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pPr algn="ctr"/>
            <a:r>
              <a:rPr lang="en-US" dirty="0"/>
              <a:t>Task Parallelism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Autofit/>
          </a:bodyPr>
          <a:lstStyle/>
          <a:p>
            <a:r>
              <a:rPr lang="en-US" dirty="0" smtClean="0"/>
              <a:t>Different </a:t>
            </a:r>
            <a:r>
              <a:rPr lang="en-US" dirty="0"/>
              <a:t>operations performed on </a:t>
            </a:r>
            <a:r>
              <a:rPr lang="en-US" dirty="0" smtClean="0"/>
              <a:t>same </a:t>
            </a:r>
            <a:r>
              <a:rPr lang="en-US" dirty="0"/>
              <a:t>or different data</a:t>
            </a:r>
          </a:p>
          <a:p>
            <a:r>
              <a:rPr lang="en-US" dirty="0" smtClean="0"/>
              <a:t>Usually a modest </a:t>
            </a:r>
            <a:r>
              <a:rPr lang="en-US" dirty="0"/>
              <a:t>number of tasks unleashing </a:t>
            </a:r>
            <a:r>
              <a:rPr lang="en-US" dirty="0" smtClean="0"/>
              <a:t>a modest </a:t>
            </a:r>
            <a:r>
              <a:rPr lang="en-US" dirty="0"/>
              <a:t>amount of </a:t>
            </a:r>
            <a:r>
              <a:rPr lang="en-US" dirty="0" smtClean="0"/>
              <a:t>parallelism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ctr"/>
            <a:r>
              <a:rPr lang="en-US" dirty="0"/>
              <a:t>Data </a:t>
            </a:r>
            <a:r>
              <a:rPr lang="en-US" dirty="0" smtClean="0"/>
              <a:t>Parallelism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/>
        <p:txBody>
          <a:bodyPr>
            <a:noAutofit/>
          </a:bodyPr>
          <a:lstStyle/>
          <a:p>
            <a:r>
              <a:rPr lang="en-US" dirty="0"/>
              <a:t>Same operations performed on different data</a:t>
            </a:r>
          </a:p>
          <a:p>
            <a:r>
              <a:rPr lang="en-US" dirty="0" smtClean="0"/>
              <a:t>Potentially </a:t>
            </a:r>
            <a:r>
              <a:rPr lang="en-US" dirty="0"/>
              <a:t>massive amounts of data unleashing massive amounts of parallelism</a:t>
            </a:r>
          </a:p>
          <a:p>
            <a:pPr lvl="1"/>
            <a:r>
              <a:rPr lang="en-US" dirty="0" smtClean="0"/>
              <a:t>Most suitable for GPUs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rPr lang="en-US" dirty="0"/>
              <a:t>Types of Parallelism</a:t>
            </a:r>
          </a:p>
        </p:txBody>
      </p:sp>
      <p:grpSp>
        <p:nvGrpSpPr>
          <p:cNvPr id="73" name="Group 72"/>
          <p:cNvGrpSpPr/>
          <p:nvPr/>
        </p:nvGrpSpPr>
        <p:grpSpPr>
          <a:xfrm>
            <a:off x="1018908" y="3541834"/>
            <a:ext cx="2564722" cy="1787931"/>
            <a:chOff x="1018908" y="3541834"/>
            <a:chExt cx="2564722" cy="1787931"/>
          </a:xfrm>
        </p:grpSpPr>
        <p:sp>
          <p:nvSpPr>
            <p:cNvPr id="2" name="Oval 1"/>
            <p:cNvSpPr>
              <a:spLocks noChangeAspect="1"/>
            </p:cNvSpPr>
            <p:nvPr/>
          </p:nvSpPr>
          <p:spPr>
            <a:xfrm>
              <a:off x="1018908" y="4689685"/>
              <a:ext cx="640080" cy="640080"/>
            </a:xfrm>
            <a:prstGeom prst="ellipse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dirty="0" smtClean="0"/>
                <a:t>Task A</a:t>
              </a:r>
              <a:endParaRPr lang="en-US" dirty="0"/>
            </a:p>
          </p:txBody>
        </p:sp>
        <p:sp>
          <p:nvSpPr>
            <p:cNvPr id="9" name="Regular Pentagon 8"/>
            <p:cNvSpPr>
              <a:spLocks noChangeAspect="1"/>
            </p:cNvSpPr>
            <p:nvPr/>
          </p:nvSpPr>
          <p:spPr>
            <a:xfrm>
              <a:off x="2911546" y="4689685"/>
              <a:ext cx="672084" cy="640080"/>
            </a:xfrm>
            <a:prstGeom prst="pentagon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dirty="0" smtClean="0"/>
                <a:t>Task C</a:t>
              </a:r>
              <a:endParaRPr lang="en-US" dirty="0"/>
            </a:p>
          </p:txBody>
        </p:sp>
        <p:sp>
          <p:nvSpPr>
            <p:cNvPr id="10" name="Plaque 9"/>
            <p:cNvSpPr>
              <a:spLocks noChangeAspect="1"/>
            </p:cNvSpPr>
            <p:nvPr/>
          </p:nvSpPr>
          <p:spPr>
            <a:xfrm>
              <a:off x="1948416" y="4689685"/>
              <a:ext cx="640080" cy="640080"/>
            </a:xfrm>
            <a:prstGeom prst="plaque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dirty="0" smtClean="0"/>
                <a:t>Task B</a:t>
              </a:r>
              <a:endParaRPr lang="en-US" dirty="0"/>
            </a:p>
          </p:txBody>
        </p:sp>
        <p:sp>
          <p:nvSpPr>
            <p:cNvPr id="11" name="Rectangle 10"/>
            <p:cNvSpPr>
              <a:spLocks noChangeAspect="1"/>
            </p:cNvSpPr>
            <p:nvPr/>
          </p:nvSpPr>
          <p:spPr>
            <a:xfrm>
              <a:off x="1483662" y="3541834"/>
              <a:ext cx="640080" cy="64008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dirty="0" smtClean="0"/>
                <a:t>Data 1</a:t>
              </a:r>
              <a:endParaRPr lang="en-US" dirty="0"/>
            </a:p>
          </p:txBody>
        </p:sp>
        <p:sp>
          <p:nvSpPr>
            <p:cNvPr id="12" name="Rectangle 11"/>
            <p:cNvSpPr>
              <a:spLocks noChangeAspect="1"/>
            </p:cNvSpPr>
            <p:nvPr/>
          </p:nvSpPr>
          <p:spPr>
            <a:xfrm>
              <a:off x="2927548" y="3541834"/>
              <a:ext cx="640080" cy="64008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dirty="0" smtClean="0"/>
                <a:t>Data 2</a:t>
              </a:r>
              <a:endParaRPr lang="en-US" dirty="0"/>
            </a:p>
          </p:txBody>
        </p:sp>
        <p:cxnSp>
          <p:nvCxnSpPr>
            <p:cNvPr id="14" name="Straight Arrow Connector 13"/>
            <p:cNvCxnSpPr>
              <a:stCxn id="11" idx="2"/>
              <a:endCxn id="2" idx="0"/>
            </p:cNvCxnSpPr>
            <p:nvPr/>
          </p:nvCxnSpPr>
          <p:spPr>
            <a:xfrm flipH="1">
              <a:off x="1338948" y="4181914"/>
              <a:ext cx="464754" cy="50777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5" name="Straight Arrow Connector 14"/>
            <p:cNvCxnSpPr>
              <a:stCxn id="11" idx="2"/>
              <a:endCxn id="10" idx="0"/>
            </p:cNvCxnSpPr>
            <p:nvPr/>
          </p:nvCxnSpPr>
          <p:spPr>
            <a:xfrm>
              <a:off x="1803702" y="4181914"/>
              <a:ext cx="464754" cy="50777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" name="Straight Arrow Connector 17"/>
            <p:cNvCxnSpPr>
              <a:stCxn id="12" idx="2"/>
              <a:endCxn id="9" idx="0"/>
            </p:cNvCxnSpPr>
            <p:nvPr/>
          </p:nvCxnSpPr>
          <p:spPr>
            <a:xfrm>
              <a:off x="3247588" y="4181914"/>
              <a:ext cx="0" cy="50777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75" name="Group 74"/>
          <p:cNvGrpSpPr/>
          <p:nvPr/>
        </p:nvGrpSpPr>
        <p:grpSpPr>
          <a:xfrm>
            <a:off x="1293228" y="5571707"/>
            <a:ext cx="2000080" cy="731520"/>
            <a:chOff x="1293228" y="5571707"/>
            <a:chExt cx="2000080" cy="731520"/>
          </a:xfrm>
        </p:grpSpPr>
        <p:sp>
          <p:nvSpPr>
            <p:cNvPr id="22" name="Freeform 21"/>
            <p:cNvSpPr/>
            <p:nvPr/>
          </p:nvSpPr>
          <p:spPr>
            <a:xfrm>
              <a:off x="1293228" y="5571707"/>
              <a:ext cx="91440" cy="73152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23" name="Freeform 22"/>
            <p:cNvSpPr/>
            <p:nvPr/>
          </p:nvSpPr>
          <p:spPr>
            <a:xfrm>
              <a:off x="2222736" y="5571707"/>
              <a:ext cx="91440" cy="73152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24" name="Freeform 23"/>
            <p:cNvSpPr/>
            <p:nvPr/>
          </p:nvSpPr>
          <p:spPr>
            <a:xfrm>
              <a:off x="3201868" y="5571707"/>
              <a:ext cx="91440" cy="73152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</p:grpSp>
      <p:grpSp>
        <p:nvGrpSpPr>
          <p:cNvPr id="74" name="Group 73"/>
          <p:cNvGrpSpPr/>
          <p:nvPr/>
        </p:nvGrpSpPr>
        <p:grpSpPr>
          <a:xfrm>
            <a:off x="4787201" y="3541834"/>
            <a:ext cx="3462655" cy="1787931"/>
            <a:chOff x="4787201" y="3541834"/>
            <a:chExt cx="3462655" cy="1787931"/>
          </a:xfrm>
        </p:grpSpPr>
        <p:sp>
          <p:nvSpPr>
            <p:cNvPr id="27" name="Oval 26"/>
            <p:cNvSpPr>
              <a:spLocks noChangeAspect="1"/>
            </p:cNvSpPr>
            <p:nvPr/>
          </p:nvSpPr>
          <p:spPr>
            <a:xfrm>
              <a:off x="4787201" y="4689685"/>
              <a:ext cx="640080" cy="640080"/>
            </a:xfrm>
            <a:prstGeom prst="ellipse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dirty="0" smtClean="0"/>
                <a:t>Task A</a:t>
              </a:r>
              <a:endParaRPr lang="en-US" dirty="0"/>
            </a:p>
          </p:txBody>
        </p:sp>
        <p:sp>
          <p:nvSpPr>
            <p:cNvPr id="30" name="Rectangle 29"/>
            <p:cNvSpPr>
              <a:spLocks noChangeAspect="1"/>
            </p:cNvSpPr>
            <p:nvPr/>
          </p:nvSpPr>
          <p:spPr>
            <a:xfrm>
              <a:off x="4787201" y="3541834"/>
              <a:ext cx="640080" cy="64008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dirty="0" smtClean="0"/>
                <a:t>Data 1</a:t>
              </a:r>
              <a:endParaRPr lang="en-US" dirty="0"/>
            </a:p>
          </p:txBody>
        </p:sp>
        <p:cxnSp>
          <p:nvCxnSpPr>
            <p:cNvPr id="32" name="Straight Arrow Connector 31"/>
            <p:cNvCxnSpPr>
              <a:stCxn id="30" idx="2"/>
              <a:endCxn id="27" idx="0"/>
            </p:cNvCxnSpPr>
            <p:nvPr/>
          </p:nvCxnSpPr>
          <p:spPr>
            <a:xfrm>
              <a:off x="5107241" y="4181914"/>
              <a:ext cx="0" cy="50777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3" name="Oval 52"/>
            <p:cNvSpPr>
              <a:spLocks noChangeAspect="1"/>
            </p:cNvSpPr>
            <p:nvPr/>
          </p:nvSpPr>
          <p:spPr>
            <a:xfrm>
              <a:off x="5492845" y="4689685"/>
              <a:ext cx="640080" cy="640080"/>
            </a:xfrm>
            <a:prstGeom prst="ellipse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dirty="0" smtClean="0"/>
                <a:t>Task A</a:t>
              </a:r>
              <a:endParaRPr lang="en-US" dirty="0"/>
            </a:p>
          </p:txBody>
        </p:sp>
        <p:sp>
          <p:nvSpPr>
            <p:cNvPr id="54" name="Rectangle 53"/>
            <p:cNvSpPr>
              <a:spLocks noChangeAspect="1"/>
            </p:cNvSpPr>
            <p:nvPr/>
          </p:nvSpPr>
          <p:spPr>
            <a:xfrm>
              <a:off x="5492845" y="3541834"/>
              <a:ext cx="640080" cy="64008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dirty="0" smtClean="0"/>
                <a:t>Data 2</a:t>
              </a:r>
              <a:endParaRPr lang="en-US" dirty="0"/>
            </a:p>
          </p:txBody>
        </p:sp>
        <p:cxnSp>
          <p:nvCxnSpPr>
            <p:cNvPr id="55" name="Straight Arrow Connector 54"/>
            <p:cNvCxnSpPr>
              <a:stCxn id="54" idx="2"/>
              <a:endCxn id="53" idx="0"/>
            </p:cNvCxnSpPr>
            <p:nvPr/>
          </p:nvCxnSpPr>
          <p:spPr>
            <a:xfrm>
              <a:off x="5812885" y="4181914"/>
              <a:ext cx="0" cy="50777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8" name="Oval 57"/>
            <p:cNvSpPr>
              <a:spLocks noChangeAspect="1"/>
            </p:cNvSpPr>
            <p:nvPr/>
          </p:nvSpPr>
          <p:spPr>
            <a:xfrm>
              <a:off x="6198489" y="4689685"/>
              <a:ext cx="640080" cy="640080"/>
            </a:xfrm>
            <a:prstGeom prst="ellipse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dirty="0" smtClean="0"/>
                <a:t>Task A</a:t>
              </a:r>
              <a:endParaRPr lang="en-US" dirty="0"/>
            </a:p>
          </p:txBody>
        </p:sp>
        <p:sp>
          <p:nvSpPr>
            <p:cNvPr id="59" name="Rectangle 58"/>
            <p:cNvSpPr>
              <a:spLocks noChangeAspect="1"/>
            </p:cNvSpPr>
            <p:nvPr/>
          </p:nvSpPr>
          <p:spPr>
            <a:xfrm>
              <a:off x="6198489" y="3541834"/>
              <a:ext cx="640080" cy="64008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dirty="0" smtClean="0"/>
                <a:t>Data 3</a:t>
              </a:r>
              <a:endParaRPr lang="en-US" dirty="0"/>
            </a:p>
          </p:txBody>
        </p:sp>
        <p:cxnSp>
          <p:nvCxnSpPr>
            <p:cNvPr id="60" name="Straight Arrow Connector 59"/>
            <p:cNvCxnSpPr>
              <a:stCxn id="59" idx="2"/>
              <a:endCxn id="58" idx="0"/>
            </p:cNvCxnSpPr>
            <p:nvPr/>
          </p:nvCxnSpPr>
          <p:spPr>
            <a:xfrm>
              <a:off x="6518529" y="4181914"/>
              <a:ext cx="0" cy="50777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63" name="Oval 62"/>
            <p:cNvSpPr>
              <a:spLocks noChangeAspect="1"/>
            </p:cNvSpPr>
            <p:nvPr/>
          </p:nvSpPr>
          <p:spPr>
            <a:xfrm>
              <a:off x="6904133" y="4689685"/>
              <a:ext cx="640080" cy="640080"/>
            </a:xfrm>
            <a:prstGeom prst="ellipse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dirty="0" smtClean="0"/>
                <a:t>Task A</a:t>
              </a:r>
              <a:endParaRPr lang="en-US" dirty="0"/>
            </a:p>
          </p:txBody>
        </p:sp>
        <p:sp>
          <p:nvSpPr>
            <p:cNvPr id="64" name="Rectangle 63"/>
            <p:cNvSpPr>
              <a:spLocks noChangeAspect="1"/>
            </p:cNvSpPr>
            <p:nvPr/>
          </p:nvSpPr>
          <p:spPr>
            <a:xfrm>
              <a:off x="6904133" y="3541834"/>
              <a:ext cx="640080" cy="64008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dirty="0" smtClean="0"/>
                <a:t>Data 4</a:t>
              </a:r>
              <a:endParaRPr lang="en-US" dirty="0"/>
            </a:p>
          </p:txBody>
        </p:sp>
        <p:cxnSp>
          <p:nvCxnSpPr>
            <p:cNvPr id="65" name="Straight Arrow Connector 64"/>
            <p:cNvCxnSpPr>
              <a:stCxn id="64" idx="2"/>
              <a:endCxn id="63" idx="0"/>
            </p:cNvCxnSpPr>
            <p:nvPr/>
          </p:nvCxnSpPr>
          <p:spPr>
            <a:xfrm>
              <a:off x="7224173" y="4181914"/>
              <a:ext cx="0" cy="50777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68" name="Oval 67"/>
            <p:cNvSpPr>
              <a:spLocks noChangeAspect="1"/>
            </p:cNvSpPr>
            <p:nvPr/>
          </p:nvSpPr>
          <p:spPr>
            <a:xfrm>
              <a:off x="7609776" y="4689685"/>
              <a:ext cx="640080" cy="640080"/>
            </a:xfrm>
            <a:prstGeom prst="ellipse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dirty="0" smtClean="0"/>
                <a:t>Task A</a:t>
              </a:r>
              <a:endParaRPr lang="en-US" dirty="0"/>
            </a:p>
          </p:txBody>
        </p:sp>
        <p:sp>
          <p:nvSpPr>
            <p:cNvPr id="69" name="Rectangle 68"/>
            <p:cNvSpPr>
              <a:spLocks noChangeAspect="1"/>
            </p:cNvSpPr>
            <p:nvPr/>
          </p:nvSpPr>
          <p:spPr>
            <a:xfrm>
              <a:off x="7609776" y="3541834"/>
              <a:ext cx="640080" cy="64008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dirty="0" smtClean="0"/>
                <a:t>Data 5</a:t>
              </a:r>
              <a:endParaRPr lang="en-US" dirty="0"/>
            </a:p>
          </p:txBody>
        </p:sp>
        <p:cxnSp>
          <p:nvCxnSpPr>
            <p:cNvPr id="70" name="Straight Arrow Connector 69"/>
            <p:cNvCxnSpPr>
              <a:stCxn id="69" idx="2"/>
              <a:endCxn id="68" idx="0"/>
            </p:cNvCxnSpPr>
            <p:nvPr/>
          </p:nvCxnSpPr>
          <p:spPr>
            <a:xfrm>
              <a:off x="7929816" y="4181914"/>
              <a:ext cx="0" cy="50777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76" name="Group 75"/>
          <p:cNvGrpSpPr/>
          <p:nvPr/>
        </p:nvGrpSpPr>
        <p:grpSpPr>
          <a:xfrm>
            <a:off x="5061521" y="5571707"/>
            <a:ext cx="2914015" cy="731520"/>
            <a:chOff x="5061521" y="5571707"/>
            <a:chExt cx="2914015" cy="731520"/>
          </a:xfrm>
        </p:grpSpPr>
        <p:sp>
          <p:nvSpPr>
            <p:cNvPr id="35" name="Freeform 34"/>
            <p:cNvSpPr/>
            <p:nvPr/>
          </p:nvSpPr>
          <p:spPr>
            <a:xfrm>
              <a:off x="5061521" y="5571707"/>
              <a:ext cx="91440" cy="73152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56" name="Freeform 55"/>
            <p:cNvSpPr/>
            <p:nvPr/>
          </p:nvSpPr>
          <p:spPr>
            <a:xfrm>
              <a:off x="5767165" y="5571707"/>
              <a:ext cx="91440" cy="73152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61" name="Freeform 60"/>
            <p:cNvSpPr/>
            <p:nvPr/>
          </p:nvSpPr>
          <p:spPr>
            <a:xfrm>
              <a:off x="6472809" y="5571707"/>
              <a:ext cx="91440" cy="73152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66" name="Freeform 65"/>
            <p:cNvSpPr/>
            <p:nvPr/>
          </p:nvSpPr>
          <p:spPr>
            <a:xfrm>
              <a:off x="7178453" y="5571707"/>
              <a:ext cx="91440" cy="73152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71" name="Freeform 70"/>
            <p:cNvSpPr/>
            <p:nvPr/>
          </p:nvSpPr>
          <p:spPr>
            <a:xfrm>
              <a:off x="7884096" y="5571707"/>
              <a:ext cx="91440" cy="73152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73742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uiExpand="1" build="p"/>
      <p:bldP spid="5" grpId="0" build="p"/>
      <p:bldP spid="6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/>
              <a:t>Vector Addition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 smtClean="0"/>
              <a:t>Vector addition</a:t>
            </a:r>
          </a:p>
          <a:p>
            <a:pPr lvl="1"/>
            <a:r>
              <a:rPr lang="en-US" dirty="0" smtClean="0"/>
              <a:t>The “Hello, World!” for data parallel programming</a:t>
            </a:r>
          </a:p>
        </p:txBody>
      </p:sp>
      <p:graphicFrame>
        <p:nvGraphicFramePr>
          <p:cNvPr id="22" name="Table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135162"/>
              </p:ext>
            </p:extLst>
          </p:nvPr>
        </p:nvGraphicFramePr>
        <p:xfrm>
          <a:off x="1901733" y="1901458"/>
          <a:ext cx="6858000" cy="42862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28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8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8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86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286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286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286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286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2862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286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2862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2862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2862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428625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428625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428625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</a:tblGrid>
              <a:tr h="428625"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107159" marR="107159" marT="53574" marB="53574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107159" marR="107159" marT="53574" marB="53574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107159" marR="107159" marT="53574" marB="53574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107159" marR="107159" marT="53574" marB="53574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107159" marR="107159" marT="53574" marB="53574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107159" marR="107159" marT="53574" marB="53574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107159" marR="107159" marT="53574" marB="53574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107159" marR="107159" marT="53574" marB="53574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107159" marR="107159" marT="53574" marB="53574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107159" marR="107159" marT="53574" marB="53574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107159" marR="107159" marT="53574" marB="53574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107159" marR="107159" marT="53574" marB="53574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107159" marR="107159" marT="53574" marB="53574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107159" marR="107159" marT="53574" marB="53574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107159" marR="107159" marT="53574" marB="53574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107159" marR="107159" marT="53574" marB="53574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3" name="TextBox 22"/>
          <p:cNvSpPr txBox="1"/>
          <p:nvPr/>
        </p:nvSpPr>
        <p:spPr>
          <a:xfrm>
            <a:off x="265198" y="1931104"/>
            <a:ext cx="16024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 smtClean="0"/>
              <a:t>Input Vector </a:t>
            </a:r>
            <a:r>
              <a:rPr lang="en-US" dirty="0" smtClean="0">
                <a:solidFill>
                  <a:prstClr val="black"/>
                </a:solidFill>
                <a:latin typeface="Lucida Console" panose="020B0609040504020204" pitchFamily="49" charset="0"/>
              </a:rPr>
              <a:t>x</a:t>
            </a:r>
            <a:r>
              <a:rPr lang="en-US" dirty="0" smtClean="0"/>
              <a:t>:</a:t>
            </a:r>
            <a:endParaRPr lang="en-US" dirty="0"/>
          </a:p>
        </p:txBody>
      </p:sp>
      <p:graphicFrame>
        <p:nvGraphicFramePr>
          <p:cNvPr id="24" name="Table 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7784283"/>
              </p:ext>
            </p:extLst>
          </p:nvPr>
        </p:nvGraphicFramePr>
        <p:xfrm>
          <a:off x="1901733" y="2798030"/>
          <a:ext cx="6858000" cy="42862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28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8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8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86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286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286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286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286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2862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286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2862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2862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2862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428625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428625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428625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</a:tblGrid>
              <a:tr h="428625"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107159" marR="107159" marT="53574" marB="53574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107159" marR="107159" marT="53574" marB="53574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107159" marR="107159" marT="53574" marB="53574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107159" marR="107159" marT="53574" marB="53574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107159" marR="107159" marT="53574" marB="53574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107159" marR="107159" marT="53574" marB="53574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107159" marR="107159" marT="53574" marB="53574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107159" marR="107159" marT="53574" marB="53574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107159" marR="107159" marT="53574" marB="53574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107159" marR="107159" marT="53574" marB="53574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107159" marR="107159" marT="53574" marB="53574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107159" marR="107159" marT="53574" marB="53574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107159" marR="107159" marT="53574" marB="53574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107159" marR="107159" marT="53574" marB="53574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107159" marR="107159" marT="53574" marB="53574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107159" marR="107159" marT="53574" marB="53574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5" name="TextBox 24"/>
          <p:cNvSpPr txBox="1"/>
          <p:nvPr/>
        </p:nvSpPr>
        <p:spPr>
          <a:xfrm>
            <a:off x="265198" y="2827676"/>
            <a:ext cx="16024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 smtClean="0"/>
              <a:t>Input Vector </a:t>
            </a:r>
            <a:r>
              <a:rPr lang="en-US" dirty="0" smtClean="0">
                <a:solidFill>
                  <a:prstClr val="black"/>
                </a:solidFill>
                <a:latin typeface="Lucida Console" panose="020B0609040504020204" pitchFamily="49" charset="0"/>
              </a:rPr>
              <a:t>y</a:t>
            </a:r>
            <a:r>
              <a:rPr lang="en-US" dirty="0" smtClean="0"/>
              <a:t>:</a:t>
            </a:r>
            <a:endParaRPr lang="en-US" dirty="0"/>
          </a:p>
        </p:txBody>
      </p:sp>
      <p:graphicFrame>
        <p:nvGraphicFramePr>
          <p:cNvPr id="26" name="Table 2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6223810"/>
              </p:ext>
            </p:extLst>
          </p:nvPr>
        </p:nvGraphicFramePr>
        <p:xfrm>
          <a:off x="1901733" y="3694603"/>
          <a:ext cx="6858000" cy="42862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28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8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8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86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286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286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286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286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2862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286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2862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2862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2862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428625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428625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428625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</a:tblGrid>
              <a:tr h="428625"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107159" marR="107159" marT="53574" marB="53574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107159" marR="107159" marT="53574" marB="53574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107159" marR="107159" marT="53574" marB="53574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107159" marR="107159" marT="53574" marB="53574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107159" marR="107159" marT="53574" marB="53574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107159" marR="107159" marT="53574" marB="53574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107159" marR="107159" marT="53574" marB="53574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107159" marR="107159" marT="53574" marB="53574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107159" marR="107159" marT="53574" marB="53574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107159" marR="107159" marT="53574" marB="53574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107159" marR="107159" marT="53574" marB="53574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107159" marR="107159" marT="53574" marB="53574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107159" marR="107159" marT="53574" marB="53574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107159" marR="107159" marT="53574" marB="53574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107159" marR="107159" marT="53574" marB="53574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107159" marR="107159" marT="53574" marB="53574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7" name="TextBox 26"/>
          <p:cNvSpPr txBox="1"/>
          <p:nvPr/>
        </p:nvSpPr>
        <p:spPr>
          <a:xfrm>
            <a:off x="93677" y="3724249"/>
            <a:ext cx="17739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 smtClean="0"/>
              <a:t>Output Vector </a:t>
            </a:r>
            <a:r>
              <a:rPr lang="en-US" dirty="0" smtClean="0">
                <a:solidFill>
                  <a:prstClr val="black"/>
                </a:solidFill>
                <a:latin typeface="Lucida Console" panose="020B0609040504020204" pitchFamily="49" charset="0"/>
              </a:rPr>
              <a:t>z</a:t>
            </a:r>
            <a:r>
              <a:rPr lang="en-US" dirty="0" smtClean="0"/>
              <a:t>:</a:t>
            </a:r>
            <a:endParaRPr lang="en-US" dirty="0"/>
          </a:p>
        </p:txBody>
      </p:sp>
      <p:sp>
        <p:nvSpPr>
          <p:cNvPr id="46" name="TextBox 45"/>
          <p:cNvSpPr txBox="1"/>
          <p:nvPr/>
        </p:nvSpPr>
        <p:spPr>
          <a:xfrm>
            <a:off x="5135808" y="2271669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 smtClean="0"/>
              <a:t>+</a:t>
            </a:r>
            <a:endParaRPr lang="en-US" sz="3200" dirty="0"/>
          </a:p>
        </p:txBody>
      </p:sp>
      <p:sp>
        <p:nvSpPr>
          <p:cNvPr id="47" name="TextBox 46"/>
          <p:cNvSpPr txBox="1"/>
          <p:nvPr/>
        </p:nvSpPr>
        <p:spPr>
          <a:xfrm>
            <a:off x="5135808" y="3168241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 smtClean="0"/>
              <a:t>=</a:t>
            </a:r>
            <a:endParaRPr lang="en-US" sz="3200" dirty="0"/>
          </a:p>
        </p:txBody>
      </p:sp>
      <p:grpSp>
        <p:nvGrpSpPr>
          <p:cNvPr id="4" name="Group 3"/>
          <p:cNvGrpSpPr/>
          <p:nvPr/>
        </p:nvGrpSpPr>
        <p:grpSpPr>
          <a:xfrm>
            <a:off x="1400962" y="4544007"/>
            <a:ext cx="7122253" cy="1517381"/>
            <a:chOff x="1400962" y="5273987"/>
            <a:chExt cx="7122253" cy="1517381"/>
          </a:xfrm>
        </p:grpSpPr>
        <p:sp>
          <p:nvSpPr>
            <p:cNvPr id="48" name="Rectangle 47"/>
            <p:cNvSpPr/>
            <p:nvPr/>
          </p:nvSpPr>
          <p:spPr>
            <a:xfrm>
              <a:off x="1400962" y="5273987"/>
              <a:ext cx="7122253" cy="147732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dirty="0">
                  <a:solidFill>
                    <a:srgbClr val="00BF00"/>
                  </a:solidFill>
                  <a:latin typeface="Lucida Console" panose="020B0609040504020204" pitchFamily="49" charset="0"/>
                </a:rPr>
                <a:t>void</a:t>
              </a:r>
              <a:r>
                <a:rPr lang="en-US" dirty="0">
                  <a:solidFill>
                    <a:prstClr val="black"/>
                  </a:solidFill>
                  <a:latin typeface="Lucida Console" panose="020B0609040504020204" pitchFamily="49" charset="0"/>
                </a:rPr>
                <a:t> </a:t>
              </a:r>
              <a:r>
                <a:rPr lang="en-US" dirty="0" err="1" smtClean="0">
                  <a:solidFill>
                    <a:prstClr val="black"/>
                  </a:solidFill>
                  <a:latin typeface="Lucida Console" panose="020B0609040504020204" pitchFamily="49" charset="0"/>
                </a:rPr>
                <a:t>vecadd</a:t>
              </a:r>
              <a:r>
                <a:rPr lang="en-US" dirty="0" smtClean="0">
                  <a:solidFill>
                    <a:prstClr val="black"/>
                  </a:solidFill>
                  <a:latin typeface="Lucida Console" panose="020B0609040504020204" pitchFamily="49" charset="0"/>
                </a:rPr>
                <a:t>(</a:t>
              </a:r>
              <a:r>
                <a:rPr lang="en-US" dirty="0" smtClean="0">
                  <a:solidFill>
                    <a:srgbClr val="00BF00"/>
                  </a:solidFill>
                  <a:latin typeface="Lucida Console" panose="020B0609040504020204" pitchFamily="49" charset="0"/>
                </a:rPr>
                <a:t>float</a:t>
              </a:r>
              <a:r>
                <a:rPr lang="en-US" dirty="0">
                  <a:solidFill>
                    <a:prstClr val="black"/>
                  </a:solidFill>
                  <a:latin typeface="Lucida Console" panose="020B0609040504020204" pitchFamily="49" charset="0"/>
                </a:rPr>
                <a:t>* x, </a:t>
              </a:r>
              <a:r>
                <a:rPr lang="en-US" dirty="0">
                  <a:solidFill>
                    <a:srgbClr val="00BF00"/>
                  </a:solidFill>
                  <a:latin typeface="Lucida Console" panose="020B0609040504020204" pitchFamily="49" charset="0"/>
                </a:rPr>
                <a:t>float</a:t>
              </a:r>
              <a:r>
                <a:rPr lang="en-US" dirty="0">
                  <a:solidFill>
                    <a:prstClr val="black"/>
                  </a:solidFill>
                  <a:latin typeface="Lucida Console" panose="020B0609040504020204" pitchFamily="49" charset="0"/>
                </a:rPr>
                <a:t>* y, </a:t>
              </a:r>
              <a:r>
                <a:rPr lang="en-US" dirty="0">
                  <a:solidFill>
                    <a:srgbClr val="00BF00"/>
                  </a:solidFill>
                  <a:latin typeface="Lucida Console" panose="020B0609040504020204" pitchFamily="49" charset="0"/>
                </a:rPr>
                <a:t>float</a:t>
              </a:r>
              <a:r>
                <a:rPr lang="en-US" dirty="0">
                  <a:solidFill>
                    <a:prstClr val="black"/>
                  </a:solidFill>
                  <a:latin typeface="Lucida Console" panose="020B0609040504020204" pitchFamily="49" charset="0"/>
                </a:rPr>
                <a:t>* z, </a:t>
              </a:r>
              <a:r>
                <a:rPr lang="en-US" dirty="0" err="1">
                  <a:solidFill>
                    <a:srgbClr val="00BF00"/>
                  </a:solidFill>
                  <a:latin typeface="Lucida Console" panose="020B0609040504020204" pitchFamily="49" charset="0"/>
                </a:rPr>
                <a:t>int</a:t>
              </a:r>
              <a:r>
                <a:rPr lang="en-US" dirty="0">
                  <a:solidFill>
                    <a:prstClr val="black"/>
                  </a:solidFill>
                  <a:latin typeface="Lucida Console" panose="020B0609040504020204" pitchFamily="49" charset="0"/>
                </a:rPr>
                <a:t> N) {</a:t>
              </a:r>
            </a:p>
            <a:p>
              <a:r>
                <a:rPr lang="en-US" dirty="0">
                  <a:solidFill>
                    <a:prstClr val="black"/>
                  </a:solidFill>
                  <a:latin typeface="Lucida Console" panose="020B0609040504020204" pitchFamily="49" charset="0"/>
                </a:rPr>
                <a:t>    </a:t>
              </a:r>
              <a:r>
                <a:rPr lang="en-US" dirty="0">
                  <a:solidFill>
                    <a:srgbClr val="BFBF00"/>
                  </a:solidFill>
                  <a:latin typeface="Lucida Console" panose="020B0609040504020204" pitchFamily="49" charset="0"/>
                </a:rPr>
                <a:t>for</a:t>
              </a:r>
              <a:r>
                <a:rPr lang="en-US" dirty="0">
                  <a:solidFill>
                    <a:prstClr val="black"/>
                  </a:solidFill>
                  <a:latin typeface="Lucida Console" panose="020B0609040504020204" pitchFamily="49" charset="0"/>
                </a:rPr>
                <a:t>(</a:t>
              </a:r>
              <a:r>
                <a:rPr lang="en-US" dirty="0">
                  <a:solidFill>
                    <a:srgbClr val="00BF00"/>
                  </a:solidFill>
                  <a:latin typeface="Lucida Console" panose="020B0609040504020204" pitchFamily="49" charset="0"/>
                </a:rPr>
                <a:t>unsigned</a:t>
              </a:r>
              <a:r>
                <a:rPr lang="en-US" dirty="0">
                  <a:solidFill>
                    <a:prstClr val="black"/>
                  </a:solidFill>
                  <a:latin typeface="Lucida Console" panose="020B0609040504020204" pitchFamily="49" charset="0"/>
                </a:rPr>
                <a:t> </a:t>
              </a:r>
              <a:r>
                <a:rPr lang="en-US" dirty="0" err="1">
                  <a:solidFill>
                    <a:srgbClr val="00BF00"/>
                  </a:solidFill>
                  <a:latin typeface="Lucida Console" panose="020B0609040504020204" pitchFamily="49" charset="0"/>
                </a:rPr>
                <a:t>int</a:t>
              </a:r>
              <a:r>
                <a:rPr lang="en-US" dirty="0">
                  <a:solidFill>
                    <a:prstClr val="black"/>
                  </a:solidFill>
                  <a:latin typeface="Lucida Console" panose="020B0609040504020204" pitchFamily="49" charset="0"/>
                </a:rPr>
                <a:t> </a:t>
              </a:r>
              <a:r>
                <a:rPr lang="en-US" dirty="0" err="1">
                  <a:solidFill>
                    <a:prstClr val="black"/>
                  </a:solidFill>
                  <a:latin typeface="Lucida Console" panose="020B0609040504020204" pitchFamily="49" charset="0"/>
                </a:rPr>
                <a:t>i</a:t>
              </a:r>
              <a:r>
                <a:rPr lang="en-US" dirty="0">
                  <a:solidFill>
                    <a:prstClr val="black"/>
                  </a:solidFill>
                  <a:latin typeface="Lucida Console" panose="020B0609040504020204" pitchFamily="49" charset="0"/>
                </a:rPr>
                <a:t> = </a:t>
              </a:r>
              <a:r>
                <a:rPr lang="en-US" dirty="0">
                  <a:solidFill>
                    <a:srgbClr val="BFBF00"/>
                  </a:solidFill>
                  <a:latin typeface="Lucida Console" panose="020B0609040504020204" pitchFamily="49" charset="0"/>
                </a:rPr>
                <a:t>0</a:t>
              </a:r>
              <a:r>
                <a:rPr lang="en-US" dirty="0">
                  <a:solidFill>
                    <a:prstClr val="black"/>
                  </a:solidFill>
                  <a:latin typeface="Lucida Console" panose="020B0609040504020204" pitchFamily="49" charset="0"/>
                </a:rPr>
                <a:t>; </a:t>
              </a:r>
              <a:r>
                <a:rPr lang="en-US" dirty="0" err="1">
                  <a:solidFill>
                    <a:prstClr val="black"/>
                  </a:solidFill>
                  <a:latin typeface="Lucida Console" panose="020B0609040504020204" pitchFamily="49" charset="0"/>
                </a:rPr>
                <a:t>i</a:t>
              </a:r>
              <a:r>
                <a:rPr lang="en-US" dirty="0">
                  <a:solidFill>
                    <a:prstClr val="black"/>
                  </a:solidFill>
                  <a:latin typeface="Lucida Console" panose="020B0609040504020204" pitchFamily="49" charset="0"/>
                </a:rPr>
                <a:t> &lt; N; ++</a:t>
              </a:r>
              <a:r>
                <a:rPr lang="en-US" dirty="0" err="1">
                  <a:solidFill>
                    <a:prstClr val="black"/>
                  </a:solidFill>
                  <a:latin typeface="Lucida Console" panose="020B0609040504020204" pitchFamily="49" charset="0"/>
                </a:rPr>
                <a:t>i</a:t>
              </a:r>
              <a:r>
                <a:rPr lang="en-US" dirty="0">
                  <a:solidFill>
                    <a:prstClr val="black"/>
                  </a:solidFill>
                  <a:latin typeface="Lucida Console" panose="020B0609040504020204" pitchFamily="49" charset="0"/>
                </a:rPr>
                <a:t>) {</a:t>
              </a:r>
            </a:p>
            <a:p>
              <a:r>
                <a:rPr lang="en-US" dirty="0">
                  <a:solidFill>
                    <a:prstClr val="black"/>
                  </a:solidFill>
                  <a:latin typeface="Lucida Console" panose="020B0609040504020204" pitchFamily="49" charset="0"/>
                </a:rPr>
                <a:t>        z[</a:t>
              </a:r>
              <a:r>
                <a:rPr lang="en-US" dirty="0" err="1">
                  <a:solidFill>
                    <a:prstClr val="black"/>
                  </a:solidFill>
                  <a:latin typeface="Lucida Console" panose="020B0609040504020204" pitchFamily="49" charset="0"/>
                </a:rPr>
                <a:t>i</a:t>
              </a:r>
              <a:r>
                <a:rPr lang="en-US" dirty="0">
                  <a:solidFill>
                    <a:prstClr val="black"/>
                  </a:solidFill>
                  <a:latin typeface="Lucida Console" panose="020B0609040504020204" pitchFamily="49" charset="0"/>
                </a:rPr>
                <a:t>] = x[</a:t>
              </a:r>
              <a:r>
                <a:rPr lang="en-US" dirty="0" err="1">
                  <a:solidFill>
                    <a:prstClr val="black"/>
                  </a:solidFill>
                  <a:latin typeface="Lucida Console" panose="020B0609040504020204" pitchFamily="49" charset="0"/>
                </a:rPr>
                <a:t>i</a:t>
              </a:r>
              <a:r>
                <a:rPr lang="en-US" dirty="0">
                  <a:solidFill>
                    <a:prstClr val="black"/>
                  </a:solidFill>
                  <a:latin typeface="Lucida Console" panose="020B0609040504020204" pitchFamily="49" charset="0"/>
                </a:rPr>
                <a:t>] + y[</a:t>
              </a:r>
              <a:r>
                <a:rPr lang="en-US" dirty="0" err="1">
                  <a:solidFill>
                    <a:prstClr val="black"/>
                  </a:solidFill>
                  <a:latin typeface="Lucida Console" panose="020B0609040504020204" pitchFamily="49" charset="0"/>
                </a:rPr>
                <a:t>i</a:t>
              </a:r>
              <a:r>
                <a:rPr lang="en-US" dirty="0">
                  <a:solidFill>
                    <a:prstClr val="black"/>
                  </a:solidFill>
                  <a:latin typeface="Lucida Console" panose="020B0609040504020204" pitchFamily="49" charset="0"/>
                </a:rPr>
                <a:t>];</a:t>
              </a:r>
            </a:p>
            <a:p>
              <a:r>
                <a:rPr lang="en-US" dirty="0">
                  <a:solidFill>
                    <a:prstClr val="black"/>
                  </a:solidFill>
                  <a:latin typeface="Lucida Console" panose="020B0609040504020204" pitchFamily="49" charset="0"/>
                </a:rPr>
                <a:t>    }</a:t>
              </a:r>
            </a:p>
            <a:p>
              <a:r>
                <a:rPr lang="en-US" dirty="0">
                  <a:solidFill>
                    <a:prstClr val="black"/>
                  </a:solidFill>
                  <a:latin typeface="Lucida Console" panose="020B0609040504020204" pitchFamily="49" charset="0"/>
                </a:rPr>
                <a:t>}</a:t>
              </a:r>
              <a:endParaRPr lang="en-US" dirty="0"/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4017216" y="6422036"/>
              <a:ext cx="188974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 smtClean="0"/>
                <a:t>Sequential C Code</a:t>
              </a:r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3057176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23" grpId="0"/>
      <p:bldP spid="25" grpId="0"/>
      <p:bldP spid="27" grpId="0"/>
      <p:bldP spid="46" grpId="0"/>
      <p:bldP spid="4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/>
              <a:t>System Organization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1300293" y="1362049"/>
            <a:ext cx="2919370" cy="1537981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200" b="1" dirty="0" smtClean="0">
                <a:solidFill>
                  <a:schemeClr val="accent5">
                    <a:lumMod val="75000"/>
                  </a:schemeClr>
                </a:solidFill>
              </a:rPr>
              <a:t>CPU</a:t>
            </a:r>
            <a:endParaRPr lang="en-US" b="1" dirty="0" smtClean="0">
              <a:solidFill>
                <a:schemeClr val="accent5">
                  <a:lumMod val="75000"/>
                </a:schemeClr>
              </a:solidFill>
            </a:endParaRPr>
          </a:p>
          <a:p>
            <a:pPr algn="ctr"/>
            <a:r>
              <a:rPr lang="en-US" dirty="0" smtClean="0"/>
              <a:t>(also called the </a:t>
            </a:r>
            <a:r>
              <a:rPr lang="en-US" i="1" dirty="0" smtClean="0"/>
              <a:t>host</a:t>
            </a:r>
            <a:r>
              <a:rPr lang="en-US" dirty="0" smtClean="0"/>
              <a:t>)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4924337" y="1362049"/>
            <a:ext cx="2919370" cy="1537981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200" b="1" dirty="0" smtClean="0">
                <a:solidFill>
                  <a:schemeClr val="accent6">
                    <a:lumMod val="75000"/>
                  </a:schemeClr>
                </a:solidFill>
              </a:rPr>
              <a:t>GPU</a:t>
            </a:r>
            <a:endParaRPr lang="en-US" b="1" dirty="0" smtClean="0">
              <a:solidFill>
                <a:schemeClr val="accent6">
                  <a:lumMod val="75000"/>
                </a:schemeClr>
              </a:solidFill>
            </a:endParaRPr>
          </a:p>
          <a:p>
            <a:pPr algn="ctr"/>
            <a:r>
              <a:rPr lang="en-US" dirty="0" smtClean="0"/>
              <a:t>(also called the </a:t>
            </a:r>
            <a:r>
              <a:rPr lang="en-US" i="1" dirty="0" smtClean="0"/>
              <a:t>device</a:t>
            </a:r>
            <a:r>
              <a:rPr lang="en-US" dirty="0" smtClean="0"/>
              <a:t>)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1300293" y="3358629"/>
            <a:ext cx="2919370" cy="755009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chemeClr val="accent2">
                    <a:lumMod val="75000"/>
                  </a:schemeClr>
                </a:solidFill>
              </a:rPr>
              <a:t>Main Memory</a:t>
            </a:r>
          </a:p>
          <a:p>
            <a:pPr algn="ctr"/>
            <a:r>
              <a:rPr lang="en-US" dirty="0" smtClean="0"/>
              <a:t>(also called </a:t>
            </a:r>
            <a:r>
              <a:rPr lang="en-US" i="1" dirty="0" smtClean="0"/>
              <a:t>host memory</a:t>
            </a:r>
            <a:r>
              <a:rPr lang="en-US" dirty="0" smtClean="0"/>
              <a:t>)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4924337" y="3358629"/>
            <a:ext cx="2919370" cy="755009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chemeClr val="accent2">
                    <a:lumMod val="75000"/>
                  </a:schemeClr>
                </a:solidFill>
              </a:rPr>
              <a:t>GPU Memory</a:t>
            </a:r>
          </a:p>
          <a:p>
            <a:pPr algn="ctr"/>
            <a:r>
              <a:rPr lang="en-US" dirty="0" smtClean="0"/>
              <a:t>(also called </a:t>
            </a:r>
            <a:r>
              <a:rPr lang="en-US" i="1" dirty="0" smtClean="0"/>
              <a:t>devic</a:t>
            </a:r>
            <a:r>
              <a:rPr lang="en-US" i="1" dirty="0" smtClean="0"/>
              <a:t>e </a:t>
            </a:r>
            <a:r>
              <a:rPr lang="en-US" i="1" dirty="0" smtClean="0"/>
              <a:t>memory</a:t>
            </a:r>
            <a:r>
              <a:rPr lang="en-US" dirty="0" smtClean="0"/>
              <a:t>)</a:t>
            </a:r>
            <a:endParaRPr lang="en-US" dirty="0"/>
          </a:p>
        </p:txBody>
      </p:sp>
      <p:cxnSp>
        <p:nvCxnSpPr>
          <p:cNvPr id="9" name="Straight Arrow Connector 8"/>
          <p:cNvCxnSpPr>
            <a:stCxn id="4" idx="2"/>
            <a:endCxn id="6" idx="0"/>
          </p:cNvCxnSpPr>
          <p:nvPr/>
        </p:nvCxnSpPr>
        <p:spPr>
          <a:xfrm>
            <a:off x="2759978" y="2900030"/>
            <a:ext cx="0" cy="458599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>
            <a:stCxn id="5" idx="2"/>
            <a:endCxn id="7" idx="0"/>
          </p:cNvCxnSpPr>
          <p:nvPr/>
        </p:nvCxnSpPr>
        <p:spPr>
          <a:xfrm>
            <a:off x="6384022" y="2900030"/>
            <a:ext cx="0" cy="458599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6" idx="3"/>
            <a:endCxn id="7" idx="1"/>
          </p:cNvCxnSpPr>
          <p:nvPr/>
        </p:nvCxnSpPr>
        <p:spPr>
          <a:xfrm>
            <a:off x="4219663" y="3736134"/>
            <a:ext cx="704674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762288" y="4566643"/>
            <a:ext cx="561942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smtClean="0"/>
              <a:t>The CPU and GPU have separate memories can cannot access each others’ memories</a:t>
            </a:r>
          </a:p>
          <a:p>
            <a:pPr algn="ctr"/>
            <a:endParaRPr lang="en-US" sz="2400" dirty="0"/>
          </a:p>
          <a:p>
            <a:pPr algn="ctr"/>
            <a:r>
              <a:rPr lang="en-US" sz="2400" dirty="0" smtClean="0"/>
              <a:t>Need to transfer data between them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1178965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11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 Placeholder 17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/>
              <a:t>Memory Management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1300293" y="1362049"/>
            <a:ext cx="2919370" cy="1537981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200" b="1" dirty="0" smtClean="0">
                <a:solidFill>
                  <a:schemeClr val="accent5">
                    <a:lumMod val="75000"/>
                  </a:schemeClr>
                </a:solidFill>
              </a:rPr>
              <a:t>CPU</a:t>
            </a:r>
            <a:endParaRPr lang="en-US" b="1" dirty="0" smtClean="0">
              <a:solidFill>
                <a:schemeClr val="accent5">
                  <a:lumMod val="75000"/>
                </a:schemeClr>
              </a:solidFill>
            </a:endParaRPr>
          </a:p>
          <a:p>
            <a:pPr algn="ctr"/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4924337" y="1362049"/>
            <a:ext cx="2919370" cy="1537981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200" b="1" dirty="0" smtClean="0">
                <a:solidFill>
                  <a:schemeClr val="accent6">
                    <a:lumMod val="75000"/>
                  </a:schemeClr>
                </a:solidFill>
              </a:rPr>
              <a:t>GPU</a:t>
            </a:r>
            <a:endParaRPr lang="en-US" b="1" dirty="0" smtClean="0">
              <a:solidFill>
                <a:schemeClr val="accent6">
                  <a:lumMod val="75000"/>
                </a:schemeClr>
              </a:solidFill>
            </a:endParaRPr>
          </a:p>
          <a:p>
            <a:pPr algn="ctr"/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1300293" y="3358629"/>
            <a:ext cx="2919370" cy="755009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chemeClr val="accent2">
                    <a:lumMod val="75000"/>
                  </a:schemeClr>
                </a:solidFill>
              </a:rPr>
              <a:t>Main Memory</a:t>
            </a:r>
          </a:p>
          <a:p>
            <a:pPr algn="ctr"/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4924337" y="3358629"/>
            <a:ext cx="2919370" cy="755009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chemeClr val="accent2">
                    <a:lumMod val="75000"/>
                  </a:schemeClr>
                </a:solidFill>
              </a:rPr>
              <a:t>GPU Memory</a:t>
            </a:r>
          </a:p>
          <a:p>
            <a:pPr algn="ctr"/>
            <a:endParaRPr lang="en-US" dirty="0"/>
          </a:p>
        </p:txBody>
      </p:sp>
      <p:cxnSp>
        <p:nvCxnSpPr>
          <p:cNvPr id="9" name="Straight Arrow Connector 8"/>
          <p:cNvCxnSpPr>
            <a:stCxn id="4" idx="2"/>
            <a:endCxn id="6" idx="0"/>
          </p:cNvCxnSpPr>
          <p:nvPr/>
        </p:nvCxnSpPr>
        <p:spPr>
          <a:xfrm>
            <a:off x="2759978" y="2900030"/>
            <a:ext cx="0" cy="458599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>
            <a:stCxn id="5" idx="2"/>
            <a:endCxn id="7" idx="0"/>
          </p:cNvCxnSpPr>
          <p:nvPr/>
        </p:nvCxnSpPr>
        <p:spPr>
          <a:xfrm>
            <a:off x="6384022" y="2900030"/>
            <a:ext cx="0" cy="458599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6" idx="3"/>
            <a:endCxn id="7" idx="1"/>
          </p:cNvCxnSpPr>
          <p:nvPr/>
        </p:nvCxnSpPr>
        <p:spPr>
          <a:xfrm>
            <a:off x="4219663" y="3736134"/>
            <a:ext cx="704674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2393070" y="4457586"/>
            <a:ext cx="4357860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❶ Allocate GPU memory</a:t>
            </a:r>
          </a:p>
          <a:p>
            <a:r>
              <a:rPr lang="en-US" sz="2400" dirty="0" smtClean="0"/>
              <a:t>❷ Copy data to GPU memory</a:t>
            </a:r>
          </a:p>
          <a:p>
            <a:r>
              <a:rPr lang="en-US" sz="2400" dirty="0" smtClean="0"/>
              <a:t>❸ Perform computation on GPU</a:t>
            </a:r>
          </a:p>
          <a:p>
            <a:r>
              <a:rPr lang="en-US" sz="2400" dirty="0" smtClean="0"/>
              <a:t>❹ Copy data from GPU memory</a:t>
            </a:r>
          </a:p>
          <a:p>
            <a:r>
              <a:rPr lang="en-US" sz="2400" dirty="0" smtClean="0"/>
              <a:t>❺ Deallocate GPU memory</a:t>
            </a:r>
            <a:endParaRPr lang="en-US" sz="2400" dirty="0"/>
          </a:p>
        </p:txBody>
      </p:sp>
      <p:sp>
        <p:nvSpPr>
          <p:cNvPr id="11" name="Rectangle 10"/>
          <p:cNvSpPr/>
          <p:nvPr/>
        </p:nvSpPr>
        <p:spPr>
          <a:xfrm>
            <a:off x="4275284" y="3023392"/>
            <a:ext cx="59343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/>
              <a:t>❷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87306" y="2390222"/>
            <a:ext cx="59343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/>
              <a:t>❸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75284" y="3987960"/>
            <a:ext cx="59343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/>
              <a:t>❹</a:t>
            </a:r>
          </a:p>
        </p:txBody>
      </p:sp>
      <p:sp>
        <p:nvSpPr>
          <p:cNvPr id="8" name="Rectangle 7"/>
          <p:cNvSpPr/>
          <p:nvPr/>
        </p:nvSpPr>
        <p:spPr>
          <a:xfrm>
            <a:off x="5831206" y="3672110"/>
            <a:ext cx="59343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/>
              <a:t>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43406" y="3672110"/>
            <a:ext cx="59343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/>
              <a:t>❺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3816991" y="3436338"/>
            <a:ext cx="1526796" cy="215906"/>
          </a:xfrm>
          <a:prstGeom prst="rightArrow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ight Arrow 16"/>
          <p:cNvSpPr/>
          <p:nvPr/>
        </p:nvSpPr>
        <p:spPr>
          <a:xfrm flipH="1">
            <a:off x="3816991" y="3816933"/>
            <a:ext cx="1526796" cy="215906"/>
          </a:xfrm>
          <a:prstGeom prst="rightArrow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Left-Right Arrow 18"/>
          <p:cNvSpPr/>
          <p:nvPr/>
        </p:nvSpPr>
        <p:spPr>
          <a:xfrm rot="5400000">
            <a:off x="6219950" y="3018329"/>
            <a:ext cx="728422" cy="215906"/>
          </a:xfrm>
          <a:prstGeom prst="leftRightArrow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441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11" grpId="0"/>
      <p:bldP spid="12" grpId="0"/>
      <p:bldP spid="14" grpId="0"/>
      <p:bldP spid="8" grpId="0"/>
      <p:bldP spid="15" grpId="0"/>
      <p:bldP spid="16" grpId="0" animBg="1"/>
      <p:bldP spid="17" grpId="0" animBg="1"/>
      <p:bldP spid="19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/>
              <a:t>CUDA Memory Management API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Autofit/>
          </a:bodyPr>
          <a:lstStyle/>
          <a:p>
            <a:r>
              <a:rPr lang="en-US" dirty="0" smtClean="0"/>
              <a:t>Allocating memory:</a:t>
            </a:r>
          </a:p>
          <a:p>
            <a:pPr lvl="1"/>
            <a:endParaRPr lang="en-US" sz="1800" dirty="0" smtClean="0"/>
          </a:p>
          <a:p>
            <a:pPr marL="457200" lvl="1" indent="0">
              <a:buNone/>
            </a:pPr>
            <a:r>
              <a:rPr lang="en-US" sz="18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cudaError_t</a:t>
            </a:r>
            <a:r>
              <a:rPr lang="en-US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cudaMalloc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(void **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devPtr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size_t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size)</a:t>
            </a:r>
          </a:p>
          <a:p>
            <a:pPr lvl="1"/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devPtr</a:t>
            </a:r>
            <a:r>
              <a:rPr lang="en-US" sz="1800" dirty="0"/>
              <a:t>: Pointer </a:t>
            </a:r>
            <a:r>
              <a:rPr lang="en-US" sz="1800" dirty="0" smtClean="0"/>
              <a:t>to pointer to </a:t>
            </a:r>
            <a:r>
              <a:rPr lang="en-US" sz="1800" dirty="0"/>
              <a:t>allocated device memory</a:t>
            </a:r>
          </a:p>
          <a:p>
            <a:pPr lvl="1"/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size</a:t>
            </a:r>
            <a:r>
              <a:rPr lang="en-US" sz="1800" dirty="0"/>
              <a:t>: Requested allocation size in </a:t>
            </a:r>
            <a:r>
              <a:rPr lang="en-US" sz="1800" dirty="0" smtClean="0"/>
              <a:t>bytes</a:t>
            </a:r>
          </a:p>
          <a:p>
            <a:pPr lvl="1"/>
            <a:endParaRPr lang="en-US" sz="1800" dirty="0" smtClean="0"/>
          </a:p>
          <a:p>
            <a:r>
              <a:rPr lang="en-US" dirty="0" smtClean="0"/>
              <a:t>Deallocating memory:</a:t>
            </a:r>
          </a:p>
          <a:p>
            <a:pPr lvl="1"/>
            <a:endParaRPr lang="en-US" sz="1800" dirty="0" smtClean="0"/>
          </a:p>
          <a:p>
            <a:pPr marL="457200" lvl="1" indent="0">
              <a:buNone/>
            </a:pP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cudaError_t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cudaFree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(void *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devPtr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lvl="1"/>
            <a:r>
              <a:rPr lang="en-US" sz="18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devPtr</a:t>
            </a:r>
            <a:r>
              <a:rPr lang="en-US" sz="1800" dirty="0" smtClean="0"/>
              <a:t>: Pointer </a:t>
            </a:r>
            <a:r>
              <a:rPr lang="en-US" sz="1800" dirty="0"/>
              <a:t>to </a:t>
            </a:r>
            <a:r>
              <a:rPr lang="en-US" sz="1800" dirty="0" smtClean="0"/>
              <a:t>device memory </a:t>
            </a:r>
            <a:r>
              <a:rPr lang="en-US" sz="1800" dirty="0"/>
              <a:t>to </a:t>
            </a:r>
            <a:r>
              <a:rPr lang="en-US" sz="1800" dirty="0" smtClean="0"/>
              <a:t>free</a:t>
            </a:r>
          </a:p>
          <a:p>
            <a:pPr lvl="1"/>
            <a:endParaRPr lang="en-US" sz="1800" dirty="0" smtClean="0"/>
          </a:p>
          <a:p>
            <a:r>
              <a:rPr lang="en-US" dirty="0" smtClean="0"/>
              <a:t>Return type: </a:t>
            </a:r>
            <a:r>
              <a:rPr lang="en-US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cudaError_t</a:t>
            </a:r>
            <a:endParaRPr lang="en-US" dirty="0" smtClean="0"/>
          </a:p>
          <a:p>
            <a:pPr lvl="1"/>
            <a:r>
              <a:rPr lang="en-US" sz="1800" dirty="0" smtClean="0"/>
              <a:t>Helps with error checking (discussed later)</a:t>
            </a:r>
            <a:endParaRPr lang="en-US" sz="1800" dirty="0"/>
          </a:p>
          <a:p>
            <a:endParaRPr lang="en-US" sz="2200" dirty="0" smtClean="0"/>
          </a:p>
        </p:txBody>
      </p:sp>
    </p:spTree>
    <p:extLst>
      <p:ext uri="{BB962C8B-B14F-4D97-AF65-F5344CB8AC3E}">
        <p14:creationId xmlns:p14="http://schemas.microsoft.com/office/powerpoint/2010/main" val="36395469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/>
              <a:t>CUDA Memory Management API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Copying memory:</a:t>
            </a:r>
          </a:p>
          <a:p>
            <a:pPr lvl="1"/>
            <a:endParaRPr lang="en-US" sz="1800" dirty="0" smtClean="0"/>
          </a:p>
          <a:p>
            <a:pPr marL="457200" lvl="1" indent="0">
              <a:buNone/>
            </a:pP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cudaError_t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cudaMemcpy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(void *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dst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const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void *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src</a:t>
            </a:r>
            <a:r>
              <a:rPr lang="en-US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br>
              <a:rPr lang="en-US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          </a:t>
            </a:r>
            <a:r>
              <a:rPr lang="en-US" sz="18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size_t</a:t>
            </a:r>
            <a:r>
              <a:rPr lang="en-US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count, 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enum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cudaMemcpyKind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kind)</a:t>
            </a:r>
          </a:p>
          <a:p>
            <a:pPr lvl="1"/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dst</a:t>
            </a:r>
            <a:r>
              <a:rPr lang="en-US" sz="1800" dirty="0"/>
              <a:t>: Destination memory address</a:t>
            </a:r>
          </a:p>
          <a:p>
            <a:pPr lvl="1"/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src</a:t>
            </a:r>
            <a:r>
              <a:rPr lang="en-US" sz="1800" dirty="0"/>
              <a:t>: Source memory address</a:t>
            </a:r>
          </a:p>
          <a:p>
            <a:pPr lvl="1"/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count</a:t>
            </a:r>
            <a:r>
              <a:rPr lang="en-US" sz="1800" dirty="0"/>
              <a:t>: Size in bytes to copy</a:t>
            </a:r>
          </a:p>
          <a:p>
            <a:pPr lvl="1"/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kind</a:t>
            </a:r>
            <a:r>
              <a:rPr lang="en-US" sz="1800" dirty="0"/>
              <a:t>: Type of transfer</a:t>
            </a:r>
          </a:p>
          <a:p>
            <a:pPr lvl="2"/>
            <a:r>
              <a:rPr lang="en-US" sz="16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cudaMemcpyHostToHost</a:t>
            </a:r>
            <a:endParaRPr lang="en-US" sz="16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2"/>
            <a:r>
              <a:rPr lang="en-US" sz="16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cudaMemcpyHostToDevice</a:t>
            </a:r>
            <a:endParaRPr lang="en-US" sz="16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2"/>
            <a:r>
              <a:rPr lang="en-US" sz="16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cudaMemcpyDeviceToHost</a:t>
            </a:r>
            <a:endParaRPr lang="en-US" sz="16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2"/>
            <a:r>
              <a:rPr lang="en-US" sz="16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cudaMemcpyDeviceToDevice</a:t>
            </a:r>
            <a:endParaRPr lang="en-US" sz="16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2"/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995298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/>
              <a:t>Code Example</a:t>
            </a:r>
          </a:p>
        </p:txBody>
      </p:sp>
      <p:sp>
        <p:nvSpPr>
          <p:cNvPr id="4" name="Rectangle 3"/>
          <p:cNvSpPr/>
          <p:nvPr/>
        </p:nvSpPr>
        <p:spPr>
          <a:xfrm>
            <a:off x="1061207" y="929403"/>
            <a:ext cx="7021585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00BF00"/>
                </a:solidFill>
                <a:latin typeface="Lucida Console" panose="020B0609040504020204" pitchFamily="49" charset="0"/>
              </a:rPr>
              <a:t>void</a:t>
            </a:r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400" dirty="0" err="1" smtClean="0">
                <a:solidFill>
                  <a:prstClr val="black"/>
                </a:solidFill>
                <a:latin typeface="Lucida Console" panose="020B0609040504020204" pitchFamily="49" charset="0"/>
              </a:rPr>
              <a:t>vecadd</a:t>
            </a:r>
            <a:r>
              <a:rPr lang="en-US" sz="1400" dirty="0" smtClean="0">
                <a:solidFill>
                  <a:prstClr val="black"/>
                </a:solidFill>
                <a:latin typeface="Lucida Console" panose="020B0609040504020204" pitchFamily="49" charset="0"/>
              </a:rPr>
              <a:t>(</a:t>
            </a:r>
            <a:r>
              <a:rPr lang="en-US" sz="1400" dirty="0" smtClean="0">
                <a:solidFill>
                  <a:srgbClr val="00BF00"/>
                </a:solidFill>
                <a:latin typeface="Lucida Console" panose="020B0609040504020204" pitchFamily="49" charset="0"/>
              </a:rPr>
              <a:t>float</a:t>
            </a:r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* x, </a:t>
            </a:r>
            <a:r>
              <a:rPr lang="en-US" sz="1400" dirty="0">
                <a:solidFill>
                  <a:srgbClr val="00BF00"/>
                </a:solidFill>
                <a:latin typeface="Lucida Console" panose="020B0609040504020204" pitchFamily="49" charset="0"/>
              </a:rPr>
              <a:t>float</a:t>
            </a:r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* y, </a:t>
            </a:r>
            <a:r>
              <a:rPr lang="en-US" sz="1400" dirty="0">
                <a:solidFill>
                  <a:srgbClr val="00BF00"/>
                </a:solidFill>
                <a:latin typeface="Lucida Console" panose="020B0609040504020204" pitchFamily="49" charset="0"/>
              </a:rPr>
              <a:t>float</a:t>
            </a:r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* z, </a:t>
            </a:r>
            <a:r>
              <a:rPr lang="en-US" sz="1400" dirty="0" err="1">
                <a:solidFill>
                  <a:srgbClr val="00BF00"/>
                </a:solidFill>
                <a:latin typeface="Lucida Console" panose="020B0609040504020204" pitchFamily="49" charset="0"/>
              </a:rPr>
              <a:t>int</a:t>
            </a:r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 N) {</a:t>
            </a:r>
          </a:p>
          <a:p>
            <a:endParaRPr lang="en-US" sz="1400" dirty="0">
              <a:solidFill>
                <a:prstClr val="black"/>
              </a:solidFill>
              <a:latin typeface="Lucida Console" panose="020B0609040504020204" pitchFamily="49" charset="0"/>
            </a:endParaRPr>
          </a:p>
          <a:p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    </a:t>
            </a:r>
            <a:r>
              <a:rPr lang="en-US" sz="1400" dirty="0">
                <a:solidFill>
                  <a:srgbClr val="00BFBF"/>
                </a:solidFill>
                <a:latin typeface="Lucida Console" panose="020B0609040504020204" pitchFamily="49" charset="0"/>
              </a:rPr>
              <a:t>// Allocate GPU memory</a:t>
            </a:r>
          </a:p>
          <a:p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    </a:t>
            </a:r>
            <a:r>
              <a:rPr lang="en-US" sz="1400" dirty="0">
                <a:solidFill>
                  <a:srgbClr val="00BF00"/>
                </a:solidFill>
                <a:latin typeface="Lucida Console" panose="020B0609040504020204" pitchFamily="49" charset="0"/>
              </a:rPr>
              <a:t>float</a:t>
            </a:r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 *</a:t>
            </a:r>
            <a:r>
              <a:rPr lang="en-US" sz="14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x_d</a:t>
            </a:r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, *</a:t>
            </a:r>
            <a:r>
              <a:rPr lang="en-US" sz="14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y_d</a:t>
            </a:r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, *</a:t>
            </a:r>
            <a:r>
              <a:rPr lang="en-US" sz="14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z_d</a:t>
            </a:r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;</a:t>
            </a:r>
          </a:p>
          <a:p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    </a:t>
            </a:r>
            <a:r>
              <a:rPr lang="en-US" sz="14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cudaMalloc</a:t>
            </a:r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((</a:t>
            </a:r>
            <a:r>
              <a:rPr lang="en-US" sz="1400" dirty="0">
                <a:solidFill>
                  <a:srgbClr val="00BF00"/>
                </a:solidFill>
                <a:latin typeface="Lucida Console" panose="020B0609040504020204" pitchFamily="49" charset="0"/>
              </a:rPr>
              <a:t>void</a:t>
            </a:r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**) &amp;</a:t>
            </a:r>
            <a:r>
              <a:rPr lang="en-US" sz="14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x_d</a:t>
            </a:r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, N*</a:t>
            </a:r>
            <a:r>
              <a:rPr lang="en-US" sz="1400" dirty="0" err="1">
                <a:solidFill>
                  <a:srgbClr val="BFBF00"/>
                </a:solidFill>
                <a:latin typeface="Lucida Console" panose="020B0609040504020204" pitchFamily="49" charset="0"/>
              </a:rPr>
              <a:t>sizeof</a:t>
            </a:r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(</a:t>
            </a:r>
            <a:r>
              <a:rPr lang="en-US" sz="1400" dirty="0">
                <a:solidFill>
                  <a:srgbClr val="00BF00"/>
                </a:solidFill>
                <a:latin typeface="Lucida Console" panose="020B0609040504020204" pitchFamily="49" charset="0"/>
              </a:rPr>
              <a:t>float</a:t>
            </a:r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));</a:t>
            </a:r>
          </a:p>
          <a:p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    </a:t>
            </a:r>
            <a:r>
              <a:rPr lang="en-US" sz="14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cudaMalloc</a:t>
            </a:r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((</a:t>
            </a:r>
            <a:r>
              <a:rPr lang="en-US" sz="1400" dirty="0">
                <a:solidFill>
                  <a:srgbClr val="00BF00"/>
                </a:solidFill>
                <a:latin typeface="Lucida Console" panose="020B0609040504020204" pitchFamily="49" charset="0"/>
              </a:rPr>
              <a:t>void</a:t>
            </a:r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**) &amp;</a:t>
            </a:r>
            <a:r>
              <a:rPr lang="en-US" sz="14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y_d</a:t>
            </a:r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, N*</a:t>
            </a:r>
            <a:r>
              <a:rPr lang="en-US" sz="1400" dirty="0" err="1">
                <a:solidFill>
                  <a:srgbClr val="BFBF00"/>
                </a:solidFill>
                <a:latin typeface="Lucida Console" panose="020B0609040504020204" pitchFamily="49" charset="0"/>
              </a:rPr>
              <a:t>sizeof</a:t>
            </a:r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(</a:t>
            </a:r>
            <a:r>
              <a:rPr lang="en-US" sz="1400" dirty="0">
                <a:solidFill>
                  <a:srgbClr val="00BF00"/>
                </a:solidFill>
                <a:latin typeface="Lucida Console" panose="020B0609040504020204" pitchFamily="49" charset="0"/>
              </a:rPr>
              <a:t>float</a:t>
            </a:r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));</a:t>
            </a:r>
          </a:p>
          <a:p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    </a:t>
            </a:r>
            <a:r>
              <a:rPr lang="en-US" sz="14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cudaMalloc</a:t>
            </a:r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((</a:t>
            </a:r>
            <a:r>
              <a:rPr lang="en-US" sz="1400" dirty="0">
                <a:solidFill>
                  <a:srgbClr val="00BF00"/>
                </a:solidFill>
                <a:latin typeface="Lucida Console" panose="020B0609040504020204" pitchFamily="49" charset="0"/>
              </a:rPr>
              <a:t>void</a:t>
            </a:r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**) &amp;</a:t>
            </a:r>
            <a:r>
              <a:rPr lang="en-US" sz="14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z_d</a:t>
            </a:r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, N*</a:t>
            </a:r>
            <a:r>
              <a:rPr lang="en-US" sz="1400" dirty="0" err="1">
                <a:solidFill>
                  <a:srgbClr val="BFBF00"/>
                </a:solidFill>
                <a:latin typeface="Lucida Console" panose="020B0609040504020204" pitchFamily="49" charset="0"/>
              </a:rPr>
              <a:t>sizeof</a:t>
            </a:r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(</a:t>
            </a:r>
            <a:r>
              <a:rPr lang="en-US" sz="1400" dirty="0">
                <a:solidFill>
                  <a:srgbClr val="00BF00"/>
                </a:solidFill>
                <a:latin typeface="Lucida Console" panose="020B0609040504020204" pitchFamily="49" charset="0"/>
              </a:rPr>
              <a:t>float</a:t>
            </a:r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));</a:t>
            </a:r>
          </a:p>
          <a:p>
            <a:endParaRPr lang="en-US" sz="1400" dirty="0">
              <a:solidFill>
                <a:prstClr val="black"/>
              </a:solidFill>
              <a:latin typeface="Lucida Console" panose="020B0609040504020204" pitchFamily="49" charset="0"/>
            </a:endParaRPr>
          </a:p>
          <a:p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    </a:t>
            </a:r>
            <a:r>
              <a:rPr lang="en-US" sz="1400" dirty="0">
                <a:solidFill>
                  <a:srgbClr val="00BFBF"/>
                </a:solidFill>
                <a:latin typeface="Lucida Console" panose="020B0609040504020204" pitchFamily="49" charset="0"/>
              </a:rPr>
              <a:t>// Copy data to </a:t>
            </a:r>
            <a:r>
              <a:rPr lang="en-US" sz="1400" dirty="0" smtClean="0">
                <a:solidFill>
                  <a:srgbClr val="00BFBF"/>
                </a:solidFill>
                <a:latin typeface="Lucida Console" panose="020B0609040504020204" pitchFamily="49" charset="0"/>
              </a:rPr>
              <a:t>GPU memory</a:t>
            </a:r>
            <a:endParaRPr lang="en-US" sz="1400" dirty="0">
              <a:solidFill>
                <a:srgbClr val="00BFBF"/>
              </a:solidFill>
              <a:latin typeface="Lucida Console" panose="020B0609040504020204" pitchFamily="49" charset="0"/>
            </a:endParaRPr>
          </a:p>
          <a:p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    </a:t>
            </a:r>
            <a:r>
              <a:rPr lang="en-US" sz="14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cudaMemcpy</a:t>
            </a:r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(</a:t>
            </a:r>
            <a:r>
              <a:rPr lang="en-US" sz="14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x_d</a:t>
            </a:r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, x, N*</a:t>
            </a:r>
            <a:r>
              <a:rPr lang="en-US" sz="1400" dirty="0" err="1">
                <a:solidFill>
                  <a:srgbClr val="BFBF00"/>
                </a:solidFill>
                <a:latin typeface="Lucida Console" panose="020B0609040504020204" pitchFamily="49" charset="0"/>
              </a:rPr>
              <a:t>sizeof</a:t>
            </a:r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(</a:t>
            </a:r>
            <a:r>
              <a:rPr lang="en-US" sz="1400" dirty="0">
                <a:solidFill>
                  <a:srgbClr val="00BF00"/>
                </a:solidFill>
                <a:latin typeface="Lucida Console" panose="020B0609040504020204" pitchFamily="49" charset="0"/>
              </a:rPr>
              <a:t>float</a:t>
            </a:r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), </a:t>
            </a:r>
            <a:r>
              <a:rPr lang="en-US" sz="1400" dirty="0" err="1">
                <a:solidFill>
                  <a:srgbClr val="BFBF00"/>
                </a:solidFill>
                <a:latin typeface="Lucida Console" panose="020B0609040504020204" pitchFamily="49" charset="0"/>
              </a:rPr>
              <a:t>cudaMemcpyHostToDevice</a:t>
            </a:r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);</a:t>
            </a:r>
          </a:p>
          <a:p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    </a:t>
            </a:r>
            <a:r>
              <a:rPr lang="en-US" sz="14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cudaMemcpy</a:t>
            </a:r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(</a:t>
            </a:r>
            <a:r>
              <a:rPr lang="en-US" sz="14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y_d</a:t>
            </a:r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, y, N*</a:t>
            </a:r>
            <a:r>
              <a:rPr lang="en-US" sz="1400" dirty="0" err="1">
                <a:solidFill>
                  <a:srgbClr val="BFBF00"/>
                </a:solidFill>
                <a:latin typeface="Lucida Console" panose="020B0609040504020204" pitchFamily="49" charset="0"/>
              </a:rPr>
              <a:t>sizeof</a:t>
            </a:r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(</a:t>
            </a:r>
            <a:r>
              <a:rPr lang="en-US" sz="1400" dirty="0">
                <a:solidFill>
                  <a:srgbClr val="00BF00"/>
                </a:solidFill>
                <a:latin typeface="Lucida Console" panose="020B0609040504020204" pitchFamily="49" charset="0"/>
              </a:rPr>
              <a:t>float</a:t>
            </a:r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), </a:t>
            </a:r>
            <a:r>
              <a:rPr lang="en-US" sz="1400" dirty="0" err="1">
                <a:solidFill>
                  <a:srgbClr val="BFBF00"/>
                </a:solidFill>
                <a:latin typeface="Lucida Console" panose="020B0609040504020204" pitchFamily="49" charset="0"/>
              </a:rPr>
              <a:t>cudaMemcpyHostToDevice</a:t>
            </a:r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);</a:t>
            </a:r>
          </a:p>
          <a:p>
            <a:endParaRPr lang="en-US" sz="1400" dirty="0">
              <a:solidFill>
                <a:prstClr val="black"/>
              </a:solidFill>
              <a:latin typeface="Lucida Console" panose="020B0609040504020204" pitchFamily="49" charset="0"/>
            </a:endParaRPr>
          </a:p>
          <a:p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    </a:t>
            </a:r>
            <a:r>
              <a:rPr lang="en-US" sz="1400" dirty="0">
                <a:solidFill>
                  <a:srgbClr val="00BFBF"/>
                </a:solidFill>
                <a:latin typeface="Lucida Console" panose="020B0609040504020204" pitchFamily="49" charset="0"/>
              </a:rPr>
              <a:t>// </a:t>
            </a:r>
            <a:r>
              <a:rPr lang="en-US" sz="1400" dirty="0" smtClean="0">
                <a:solidFill>
                  <a:srgbClr val="00BFBF"/>
                </a:solidFill>
                <a:latin typeface="Lucida Console" panose="020B0609040504020204" pitchFamily="49" charset="0"/>
              </a:rPr>
              <a:t>Perform computation on GPU</a:t>
            </a:r>
            <a:endParaRPr lang="en-US" sz="1400" dirty="0">
              <a:solidFill>
                <a:srgbClr val="00BFBF"/>
              </a:solidFill>
              <a:latin typeface="Lucida Console" panose="020B0609040504020204" pitchFamily="49" charset="0"/>
            </a:endParaRPr>
          </a:p>
          <a:p>
            <a:r>
              <a:rPr lang="en-US" sz="1400" dirty="0" smtClean="0">
                <a:solidFill>
                  <a:prstClr val="black"/>
                </a:solidFill>
                <a:latin typeface="Lucida Console" panose="020B0609040504020204" pitchFamily="49" charset="0"/>
              </a:rPr>
              <a:t>    ...</a:t>
            </a:r>
          </a:p>
          <a:p>
            <a:endParaRPr lang="en-US" sz="1400" dirty="0">
              <a:solidFill>
                <a:prstClr val="black"/>
              </a:solidFill>
              <a:latin typeface="Lucida Console" panose="020B0609040504020204" pitchFamily="49" charset="0"/>
            </a:endParaRPr>
          </a:p>
          <a:p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    </a:t>
            </a:r>
            <a:r>
              <a:rPr lang="en-US" sz="1400" dirty="0">
                <a:solidFill>
                  <a:srgbClr val="00BFBF"/>
                </a:solidFill>
                <a:latin typeface="Lucida Console" panose="020B0609040504020204" pitchFamily="49" charset="0"/>
              </a:rPr>
              <a:t>// Copy data from </a:t>
            </a:r>
            <a:r>
              <a:rPr lang="en-US" sz="1400" dirty="0" smtClean="0">
                <a:solidFill>
                  <a:srgbClr val="00BFBF"/>
                </a:solidFill>
                <a:latin typeface="Lucida Console" panose="020B0609040504020204" pitchFamily="49" charset="0"/>
              </a:rPr>
              <a:t>GPU memory</a:t>
            </a:r>
            <a:endParaRPr lang="en-US" sz="1400" dirty="0">
              <a:solidFill>
                <a:srgbClr val="00BFBF"/>
              </a:solidFill>
              <a:latin typeface="Lucida Console" panose="020B0609040504020204" pitchFamily="49" charset="0"/>
            </a:endParaRPr>
          </a:p>
          <a:p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    </a:t>
            </a:r>
            <a:r>
              <a:rPr lang="en-US" sz="14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cudaMemcpy</a:t>
            </a:r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(z, </a:t>
            </a:r>
            <a:r>
              <a:rPr lang="en-US" sz="14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z_d</a:t>
            </a:r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, N*</a:t>
            </a:r>
            <a:r>
              <a:rPr lang="en-US" sz="1400" dirty="0" err="1">
                <a:solidFill>
                  <a:srgbClr val="BFBF00"/>
                </a:solidFill>
                <a:latin typeface="Lucida Console" panose="020B0609040504020204" pitchFamily="49" charset="0"/>
              </a:rPr>
              <a:t>sizeof</a:t>
            </a:r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(</a:t>
            </a:r>
            <a:r>
              <a:rPr lang="en-US" sz="1400" dirty="0">
                <a:solidFill>
                  <a:srgbClr val="00BF00"/>
                </a:solidFill>
                <a:latin typeface="Lucida Console" panose="020B0609040504020204" pitchFamily="49" charset="0"/>
              </a:rPr>
              <a:t>float</a:t>
            </a:r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), </a:t>
            </a:r>
            <a:r>
              <a:rPr lang="en-US" sz="1400" dirty="0" err="1">
                <a:solidFill>
                  <a:srgbClr val="BFBF00"/>
                </a:solidFill>
                <a:latin typeface="Lucida Console" panose="020B0609040504020204" pitchFamily="49" charset="0"/>
              </a:rPr>
              <a:t>cudaMemcpyDeviceToHost</a:t>
            </a:r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);</a:t>
            </a:r>
          </a:p>
          <a:p>
            <a:endParaRPr lang="en-US" sz="1400" dirty="0">
              <a:solidFill>
                <a:prstClr val="black"/>
              </a:solidFill>
              <a:latin typeface="Lucida Console" panose="020B0609040504020204" pitchFamily="49" charset="0"/>
            </a:endParaRPr>
          </a:p>
          <a:p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    </a:t>
            </a:r>
            <a:r>
              <a:rPr lang="en-US" sz="1400" dirty="0">
                <a:solidFill>
                  <a:srgbClr val="00BFBF"/>
                </a:solidFill>
                <a:latin typeface="Lucida Console" panose="020B0609040504020204" pitchFamily="49" charset="0"/>
              </a:rPr>
              <a:t>// </a:t>
            </a:r>
            <a:r>
              <a:rPr lang="en-US" sz="1400" dirty="0" smtClean="0">
                <a:solidFill>
                  <a:srgbClr val="00BFBF"/>
                </a:solidFill>
                <a:latin typeface="Lucida Console" panose="020B0609040504020204" pitchFamily="49" charset="0"/>
              </a:rPr>
              <a:t>Deallocate </a:t>
            </a:r>
            <a:r>
              <a:rPr lang="en-US" sz="1400" dirty="0">
                <a:solidFill>
                  <a:srgbClr val="00BFBF"/>
                </a:solidFill>
                <a:latin typeface="Lucida Console" panose="020B0609040504020204" pitchFamily="49" charset="0"/>
              </a:rPr>
              <a:t>GPU memory</a:t>
            </a:r>
          </a:p>
          <a:p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    </a:t>
            </a:r>
            <a:r>
              <a:rPr lang="en-US" sz="14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cudaFree</a:t>
            </a:r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(</a:t>
            </a:r>
            <a:r>
              <a:rPr lang="en-US" sz="14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x_d</a:t>
            </a:r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);</a:t>
            </a:r>
          </a:p>
          <a:p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    </a:t>
            </a:r>
            <a:r>
              <a:rPr lang="en-US" sz="14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cudaFree</a:t>
            </a:r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(</a:t>
            </a:r>
            <a:r>
              <a:rPr lang="en-US" sz="14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y_d</a:t>
            </a:r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);</a:t>
            </a:r>
          </a:p>
          <a:p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    </a:t>
            </a:r>
            <a:r>
              <a:rPr lang="en-US" sz="14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cudaFree</a:t>
            </a:r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(</a:t>
            </a:r>
            <a:r>
              <a:rPr lang="en-US" sz="14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z_d</a:t>
            </a:r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);</a:t>
            </a:r>
          </a:p>
          <a:p>
            <a:endParaRPr lang="en-US" sz="1400" dirty="0">
              <a:solidFill>
                <a:prstClr val="black"/>
              </a:solidFill>
              <a:latin typeface="Lucida Console" panose="020B0609040504020204" pitchFamily="49" charset="0"/>
            </a:endParaRPr>
          </a:p>
          <a:p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}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7688224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Group 54"/>
          <p:cNvGrpSpPr/>
          <p:nvPr/>
        </p:nvGrpSpPr>
        <p:grpSpPr>
          <a:xfrm>
            <a:off x="1905000" y="1702415"/>
            <a:ext cx="6843252" cy="3262312"/>
            <a:chOff x="1905000" y="2009775"/>
            <a:chExt cx="6843252" cy="3262312"/>
          </a:xfrm>
        </p:grpSpPr>
        <p:cxnSp>
          <p:nvCxnSpPr>
            <p:cNvPr id="37" name="Straight Connector 36"/>
            <p:cNvCxnSpPr/>
            <p:nvPr/>
          </p:nvCxnSpPr>
          <p:spPr>
            <a:xfrm flipH="1">
              <a:off x="1905000" y="2009775"/>
              <a:ext cx="6533" cy="3262312"/>
            </a:xfrm>
            <a:prstGeom prst="line">
              <a:avLst/>
            </a:prstGeom>
            <a:ln>
              <a:prstDash val="sysDot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8" name="Straight Connector 37"/>
            <p:cNvCxnSpPr/>
            <p:nvPr/>
          </p:nvCxnSpPr>
          <p:spPr>
            <a:xfrm flipH="1">
              <a:off x="2332295" y="2009775"/>
              <a:ext cx="6533" cy="3262312"/>
            </a:xfrm>
            <a:prstGeom prst="line">
              <a:avLst/>
            </a:prstGeom>
            <a:ln>
              <a:prstDash val="sysDot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9" name="Straight Connector 38"/>
            <p:cNvCxnSpPr/>
            <p:nvPr/>
          </p:nvCxnSpPr>
          <p:spPr>
            <a:xfrm flipH="1">
              <a:off x="2759590" y="2009775"/>
              <a:ext cx="6533" cy="3262312"/>
            </a:xfrm>
            <a:prstGeom prst="line">
              <a:avLst/>
            </a:prstGeom>
            <a:ln>
              <a:prstDash val="sysDot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0" name="Straight Connector 39"/>
            <p:cNvCxnSpPr/>
            <p:nvPr/>
          </p:nvCxnSpPr>
          <p:spPr>
            <a:xfrm flipH="1">
              <a:off x="3186885" y="2009775"/>
              <a:ext cx="6533" cy="3262312"/>
            </a:xfrm>
            <a:prstGeom prst="line">
              <a:avLst/>
            </a:prstGeom>
            <a:ln>
              <a:prstDash val="sysDot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1" name="Straight Connector 40"/>
            <p:cNvCxnSpPr/>
            <p:nvPr/>
          </p:nvCxnSpPr>
          <p:spPr>
            <a:xfrm flipH="1">
              <a:off x="3614180" y="2009775"/>
              <a:ext cx="6533" cy="3262312"/>
            </a:xfrm>
            <a:prstGeom prst="line">
              <a:avLst/>
            </a:prstGeom>
            <a:ln>
              <a:prstDash val="sysDot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2" name="Straight Connector 41"/>
            <p:cNvCxnSpPr/>
            <p:nvPr/>
          </p:nvCxnSpPr>
          <p:spPr>
            <a:xfrm flipH="1">
              <a:off x="4041475" y="2009775"/>
              <a:ext cx="6533" cy="3262312"/>
            </a:xfrm>
            <a:prstGeom prst="line">
              <a:avLst/>
            </a:prstGeom>
            <a:ln>
              <a:prstDash val="sysDot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3" name="Straight Connector 42"/>
            <p:cNvCxnSpPr/>
            <p:nvPr/>
          </p:nvCxnSpPr>
          <p:spPr>
            <a:xfrm flipH="1">
              <a:off x="4468770" y="2009775"/>
              <a:ext cx="6533" cy="3262312"/>
            </a:xfrm>
            <a:prstGeom prst="line">
              <a:avLst/>
            </a:prstGeom>
            <a:ln>
              <a:prstDash val="sysDot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4" name="Straight Connector 43"/>
            <p:cNvCxnSpPr/>
            <p:nvPr/>
          </p:nvCxnSpPr>
          <p:spPr>
            <a:xfrm flipH="1">
              <a:off x="4896065" y="2009775"/>
              <a:ext cx="6533" cy="3262312"/>
            </a:xfrm>
            <a:prstGeom prst="line">
              <a:avLst/>
            </a:prstGeom>
            <a:ln>
              <a:prstDash val="sysDot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5" name="Straight Connector 44"/>
            <p:cNvCxnSpPr/>
            <p:nvPr/>
          </p:nvCxnSpPr>
          <p:spPr>
            <a:xfrm flipH="1">
              <a:off x="5323360" y="2009775"/>
              <a:ext cx="6533" cy="3262312"/>
            </a:xfrm>
            <a:prstGeom prst="line">
              <a:avLst/>
            </a:prstGeom>
            <a:ln>
              <a:prstDash val="sysDot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6" name="Straight Connector 45"/>
            <p:cNvCxnSpPr/>
            <p:nvPr/>
          </p:nvCxnSpPr>
          <p:spPr>
            <a:xfrm flipH="1">
              <a:off x="5750655" y="2009775"/>
              <a:ext cx="6533" cy="3262312"/>
            </a:xfrm>
            <a:prstGeom prst="line">
              <a:avLst/>
            </a:prstGeom>
            <a:ln>
              <a:prstDash val="sysDot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7" name="Straight Connector 46"/>
            <p:cNvCxnSpPr/>
            <p:nvPr/>
          </p:nvCxnSpPr>
          <p:spPr>
            <a:xfrm flipH="1">
              <a:off x="6177950" y="2009775"/>
              <a:ext cx="6533" cy="3262312"/>
            </a:xfrm>
            <a:prstGeom prst="line">
              <a:avLst/>
            </a:prstGeom>
            <a:ln>
              <a:prstDash val="sysDot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8" name="Straight Connector 47"/>
            <p:cNvCxnSpPr/>
            <p:nvPr/>
          </p:nvCxnSpPr>
          <p:spPr>
            <a:xfrm flipH="1">
              <a:off x="6605245" y="2009775"/>
              <a:ext cx="6533" cy="3262312"/>
            </a:xfrm>
            <a:prstGeom prst="line">
              <a:avLst/>
            </a:prstGeom>
            <a:ln>
              <a:prstDash val="sysDot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9" name="Straight Connector 48"/>
            <p:cNvCxnSpPr/>
            <p:nvPr/>
          </p:nvCxnSpPr>
          <p:spPr>
            <a:xfrm flipH="1">
              <a:off x="7032540" y="2009775"/>
              <a:ext cx="6533" cy="3262312"/>
            </a:xfrm>
            <a:prstGeom prst="line">
              <a:avLst/>
            </a:prstGeom>
            <a:ln>
              <a:prstDash val="sysDot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0" name="Straight Connector 49"/>
            <p:cNvCxnSpPr/>
            <p:nvPr/>
          </p:nvCxnSpPr>
          <p:spPr>
            <a:xfrm flipH="1">
              <a:off x="7459835" y="2009775"/>
              <a:ext cx="6533" cy="3262312"/>
            </a:xfrm>
            <a:prstGeom prst="line">
              <a:avLst/>
            </a:prstGeom>
            <a:ln>
              <a:prstDash val="sysDot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1" name="Straight Connector 50"/>
            <p:cNvCxnSpPr/>
            <p:nvPr/>
          </p:nvCxnSpPr>
          <p:spPr>
            <a:xfrm flipH="1">
              <a:off x="7887130" y="2009775"/>
              <a:ext cx="6533" cy="3262312"/>
            </a:xfrm>
            <a:prstGeom prst="line">
              <a:avLst/>
            </a:prstGeom>
            <a:ln>
              <a:prstDash val="sysDot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2" name="Straight Connector 51"/>
            <p:cNvCxnSpPr/>
            <p:nvPr/>
          </p:nvCxnSpPr>
          <p:spPr>
            <a:xfrm flipH="1">
              <a:off x="8741719" y="2009775"/>
              <a:ext cx="6533" cy="3262312"/>
            </a:xfrm>
            <a:prstGeom prst="line">
              <a:avLst/>
            </a:prstGeom>
            <a:ln>
              <a:prstDash val="sysDot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4" name="Straight Connector 53"/>
            <p:cNvCxnSpPr/>
            <p:nvPr/>
          </p:nvCxnSpPr>
          <p:spPr>
            <a:xfrm flipH="1">
              <a:off x="8314425" y="2009775"/>
              <a:ext cx="6533" cy="3262312"/>
            </a:xfrm>
            <a:prstGeom prst="line">
              <a:avLst/>
            </a:prstGeom>
            <a:ln>
              <a:prstDash val="sysDot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5" name="Text Placeholder 4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/>
              <a:t>Parallel Vector Addition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651087"/>
              </p:ext>
            </p:extLst>
          </p:nvPr>
        </p:nvGraphicFramePr>
        <p:xfrm>
          <a:off x="1905000" y="1321415"/>
          <a:ext cx="6858000" cy="42862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28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8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8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86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286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286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286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286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2862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286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2862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2862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2862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428625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428625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428625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</a:tblGrid>
              <a:tr h="428625"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107159" marR="107159" marT="53574" marB="53574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107159" marR="107159" marT="53574" marB="53574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107159" marR="107159" marT="53574" marB="53574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107159" marR="107159" marT="53574" marB="53574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107159" marR="107159" marT="53574" marB="53574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107159" marR="107159" marT="53574" marB="53574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107159" marR="107159" marT="53574" marB="53574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107159" marR="107159" marT="53574" marB="53574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107159" marR="107159" marT="53574" marB="53574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107159" marR="107159" marT="53574" marB="53574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107159" marR="107159" marT="53574" marB="53574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107159" marR="107159" marT="53574" marB="53574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107159" marR="107159" marT="53574" marB="53574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107159" marR="107159" marT="53574" marB="53574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107159" marR="107159" marT="53574" marB="53574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107159" marR="107159" marT="53574" marB="53574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3850395"/>
              </p:ext>
            </p:extLst>
          </p:nvPr>
        </p:nvGraphicFramePr>
        <p:xfrm>
          <a:off x="1898467" y="2083415"/>
          <a:ext cx="6858000" cy="42862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28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8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8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86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286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286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286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286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2862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286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2862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2862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2862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428625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428625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428625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</a:tblGrid>
              <a:tr h="428625"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107159" marR="107159" marT="53574" marB="53574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107159" marR="107159" marT="53574" marB="53574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107159" marR="107159" marT="53574" marB="53574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107159" marR="107159" marT="53574" marB="53574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107159" marR="107159" marT="53574" marB="53574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107159" marR="107159" marT="53574" marB="53574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107159" marR="107159" marT="53574" marB="53574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107159" marR="107159" marT="53574" marB="53574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107159" marR="107159" marT="53574" marB="53574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107159" marR="107159" marT="53574" marB="53574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107159" marR="107159" marT="53574" marB="53574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107159" marR="107159" marT="53574" marB="53574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107159" marR="107159" marT="53574" marB="53574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107159" marR="107159" marT="53574" marB="53574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107159" marR="107159" marT="53574" marB="53574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107159" marR="107159" marT="53574" marB="53574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9667895"/>
              </p:ext>
            </p:extLst>
          </p:nvPr>
        </p:nvGraphicFramePr>
        <p:xfrm>
          <a:off x="1898467" y="4750415"/>
          <a:ext cx="6858000" cy="42862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28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8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8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86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286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286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286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286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2862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286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2862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2862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2862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428625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428625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428625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</a:tblGrid>
              <a:tr h="428625"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107159" marR="107159" marT="53574" marB="53574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107159" marR="107159" marT="53574" marB="53574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107159" marR="107159" marT="53574" marB="53574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107159" marR="107159" marT="53574" marB="53574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107159" marR="107159" marT="53574" marB="53574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107159" marR="107159" marT="53574" marB="53574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107159" marR="107159" marT="53574" marB="53574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107159" marR="107159" marT="53574" marB="53574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107159" marR="107159" marT="53574" marB="53574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107159" marR="107159" marT="53574" marB="53574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107159" marR="107159" marT="53574" marB="53574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107159" marR="107159" marT="53574" marB="53574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107159" marR="107159" marT="53574" marB="53574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107159" marR="107159" marT="53574" marB="53574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107159" marR="107159" marT="53574" marB="53574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107159" marR="107159" marT="53574" marB="53574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4" name="Group 3"/>
          <p:cNvGrpSpPr/>
          <p:nvPr/>
        </p:nvGrpSpPr>
        <p:grpSpPr>
          <a:xfrm>
            <a:off x="2038879" y="2893040"/>
            <a:ext cx="6571721" cy="1490133"/>
            <a:chOff x="2038879" y="3200400"/>
            <a:chExt cx="6571721" cy="1490133"/>
          </a:xfrm>
        </p:grpSpPr>
        <p:sp>
          <p:nvSpPr>
            <p:cNvPr id="15" name="Freeform 14"/>
            <p:cNvSpPr/>
            <p:nvPr/>
          </p:nvSpPr>
          <p:spPr>
            <a:xfrm>
              <a:off x="2038879" y="3200400"/>
              <a:ext cx="180446" cy="1490133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16" name="Freeform 15"/>
            <p:cNvSpPr/>
            <p:nvPr/>
          </p:nvSpPr>
          <p:spPr>
            <a:xfrm>
              <a:off x="2464964" y="3200400"/>
              <a:ext cx="180446" cy="1490133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17" name="Freeform 16"/>
            <p:cNvSpPr/>
            <p:nvPr/>
          </p:nvSpPr>
          <p:spPr>
            <a:xfrm>
              <a:off x="2891049" y="3200400"/>
              <a:ext cx="180446" cy="1490133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18" name="Freeform 17"/>
            <p:cNvSpPr/>
            <p:nvPr/>
          </p:nvSpPr>
          <p:spPr>
            <a:xfrm>
              <a:off x="3317134" y="3200400"/>
              <a:ext cx="180446" cy="1490133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21" name="Freeform 20"/>
            <p:cNvSpPr/>
            <p:nvPr/>
          </p:nvSpPr>
          <p:spPr>
            <a:xfrm>
              <a:off x="3743219" y="3200400"/>
              <a:ext cx="180446" cy="1490133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22" name="Freeform 21"/>
            <p:cNvSpPr/>
            <p:nvPr/>
          </p:nvSpPr>
          <p:spPr>
            <a:xfrm>
              <a:off x="4169304" y="3200400"/>
              <a:ext cx="180446" cy="1490133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23" name="Freeform 22"/>
            <p:cNvSpPr/>
            <p:nvPr/>
          </p:nvSpPr>
          <p:spPr>
            <a:xfrm>
              <a:off x="4595389" y="3200400"/>
              <a:ext cx="180446" cy="1490133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24" name="Freeform 23"/>
            <p:cNvSpPr/>
            <p:nvPr/>
          </p:nvSpPr>
          <p:spPr>
            <a:xfrm>
              <a:off x="5021474" y="3200400"/>
              <a:ext cx="180446" cy="1490133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25" name="Freeform 24"/>
            <p:cNvSpPr/>
            <p:nvPr/>
          </p:nvSpPr>
          <p:spPr>
            <a:xfrm>
              <a:off x="5447559" y="3200400"/>
              <a:ext cx="180446" cy="1490133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26" name="Freeform 25"/>
            <p:cNvSpPr/>
            <p:nvPr/>
          </p:nvSpPr>
          <p:spPr>
            <a:xfrm>
              <a:off x="5873644" y="3200400"/>
              <a:ext cx="180446" cy="1490133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27" name="Freeform 26"/>
            <p:cNvSpPr/>
            <p:nvPr/>
          </p:nvSpPr>
          <p:spPr>
            <a:xfrm>
              <a:off x="6299729" y="3200400"/>
              <a:ext cx="180446" cy="1490133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28" name="Freeform 27"/>
            <p:cNvSpPr/>
            <p:nvPr/>
          </p:nvSpPr>
          <p:spPr>
            <a:xfrm>
              <a:off x="6725814" y="3200400"/>
              <a:ext cx="180446" cy="1490133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29" name="Freeform 28"/>
            <p:cNvSpPr/>
            <p:nvPr/>
          </p:nvSpPr>
          <p:spPr>
            <a:xfrm>
              <a:off x="7151899" y="3200400"/>
              <a:ext cx="180446" cy="1490133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30" name="Freeform 29"/>
            <p:cNvSpPr/>
            <p:nvPr/>
          </p:nvSpPr>
          <p:spPr>
            <a:xfrm>
              <a:off x="7577984" y="3200400"/>
              <a:ext cx="180446" cy="1490133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31" name="Freeform 30"/>
            <p:cNvSpPr/>
            <p:nvPr/>
          </p:nvSpPr>
          <p:spPr>
            <a:xfrm>
              <a:off x="8004069" y="3200400"/>
              <a:ext cx="180446" cy="1490133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32" name="Freeform 31"/>
            <p:cNvSpPr/>
            <p:nvPr/>
          </p:nvSpPr>
          <p:spPr>
            <a:xfrm>
              <a:off x="8430154" y="3200400"/>
              <a:ext cx="180446" cy="1490133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</p:grpSp>
      <p:sp>
        <p:nvSpPr>
          <p:cNvPr id="56" name="TextBox 55"/>
          <p:cNvSpPr txBox="1"/>
          <p:nvPr/>
        </p:nvSpPr>
        <p:spPr>
          <a:xfrm>
            <a:off x="713846" y="5681591"/>
            <a:ext cx="77163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smtClean="0"/>
              <a:t>Simple strategy: </a:t>
            </a:r>
            <a:r>
              <a:rPr lang="en-US" sz="2400" dirty="0"/>
              <a:t>a</a:t>
            </a:r>
            <a:r>
              <a:rPr lang="en-US" sz="2400" dirty="0" smtClean="0"/>
              <a:t>ssign one GPU </a:t>
            </a:r>
            <a:r>
              <a:rPr lang="en-US" sz="2400" b="1" dirty="0" smtClean="0">
                <a:solidFill>
                  <a:schemeClr val="accent5"/>
                </a:solidFill>
              </a:rPr>
              <a:t>thread</a:t>
            </a:r>
            <a:r>
              <a:rPr lang="en-US" sz="2400" dirty="0" smtClean="0"/>
              <a:t> per vector element</a:t>
            </a:r>
            <a:endParaRPr lang="en-US" sz="2400" dirty="0"/>
          </a:p>
        </p:txBody>
      </p:sp>
      <p:sp>
        <p:nvSpPr>
          <p:cNvPr id="59" name="TextBox 58"/>
          <p:cNvSpPr txBox="1"/>
          <p:nvPr/>
        </p:nvSpPr>
        <p:spPr>
          <a:xfrm>
            <a:off x="296041" y="1345796"/>
            <a:ext cx="16024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 smtClean="0"/>
              <a:t>Input Vector </a:t>
            </a:r>
            <a:r>
              <a:rPr lang="en-US" dirty="0" smtClean="0">
                <a:solidFill>
                  <a:prstClr val="black"/>
                </a:solidFill>
                <a:latin typeface="Lucida Console" panose="020B0609040504020204" pitchFamily="49" charset="0"/>
              </a:rPr>
              <a:t>x</a:t>
            </a:r>
            <a:r>
              <a:rPr lang="en-US" dirty="0" smtClean="0"/>
              <a:t>:</a:t>
            </a:r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296041" y="2113061"/>
            <a:ext cx="16024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 smtClean="0"/>
              <a:t>Input Vector </a:t>
            </a:r>
            <a:r>
              <a:rPr lang="en-US" dirty="0" smtClean="0">
                <a:solidFill>
                  <a:prstClr val="black"/>
                </a:solidFill>
                <a:latin typeface="Lucida Console" panose="020B0609040504020204" pitchFamily="49" charset="0"/>
              </a:rPr>
              <a:t>y</a:t>
            </a:r>
            <a:r>
              <a:rPr lang="en-US" dirty="0" smtClean="0"/>
              <a:t>:</a:t>
            </a:r>
            <a:endParaRPr lang="en-US" dirty="0"/>
          </a:p>
        </p:txBody>
      </p:sp>
      <p:sp>
        <p:nvSpPr>
          <p:cNvPr id="61" name="TextBox 60"/>
          <p:cNvSpPr txBox="1"/>
          <p:nvPr/>
        </p:nvSpPr>
        <p:spPr>
          <a:xfrm>
            <a:off x="124520" y="4780061"/>
            <a:ext cx="17739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 smtClean="0"/>
              <a:t>Output Vector </a:t>
            </a:r>
            <a:r>
              <a:rPr lang="en-US" dirty="0" smtClean="0">
                <a:solidFill>
                  <a:prstClr val="black"/>
                </a:solidFill>
                <a:latin typeface="Lucida Console" panose="020B0609040504020204" pitchFamily="49" charset="0"/>
              </a:rPr>
              <a:t>z</a:t>
            </a:r>
            <a:r>
              <a:rPr lang="en-US" dirty="0" smtClean="0"/>
              <a:t>: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74388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/>
              <a:t>Grids</a:t>
            </a:r>
          </a:p>
        </p:txBody>
      </p:sp>
      <p:sp>
        <p:nvSpPr>
          <p:cNvPr id="15" name="Freeform 14"/>
          <p:cNvSpPr/>
          <p:nvPr/>
        </p:nvSpPr>
        <p:spPr>
          <a:xfrm>
            <a:off x="2038879" y="2893040"/>
            <a:ext cx="180446" cy="1490133"/>
          </a:xfrm>
          <a:custGeom>
            <a:avLst/>
            <a:gdLst>
              <a:gd name="connsiteX0" fmla="*/ 127000 w 196850"/>
              <a:gd name="connsiteY0" fmla="*/ 0 h 1625600"/>
              <a:gd name="connsiteX1" fmla="*/ 82550 w 196850"/>
              <a:gd name="connsiteY1" fmla="*/ 38100 h 1625600"/>
              <a:gd name="connsiteX2" fmla="*/ 50800 w 196850"/>
              <a:gd name="connsiteY2" fmla="*/ 76200 h 1625600"/>
              <a:gd name="connsiteX3" fmla="*/ 19050 w 196850"/>
              <a:gd name="connsiteY3" fmla="*/ 133350 h 1625600"/>
              <a:gd name="connsiteX4" fmla="*/ 0 w 196850"/>
              <a:gd name="connsiteY4" fmla="*/ 196850 h 1625600"/>
              <a:gd name="connsiteX5" fmla="*/ 25400 w 196850"/>
              <a:gd name="connsiteY5" fmla="*/ 323850 h 1625600"/>
              <a:gd name="connsiteX6" fmla="*/ 50800 w 196850"/>
              <a:gd name="connsiteY6" fmla="*/ 361950 h 1625600"/>
              <a:gd name="connsiteX7" fmla="*/ 82550 w 196850"/>
              <a:gd name="connsiteY7" fmla="*/ 393700 h 1625600"/>
              <a:gd name="connsiteX8" fmla="*/ 101600 w 196850"/>
              <a:gd name="connsiteY8" fmla="*/ 400050 h 1625600"/>
              <a:gd name="connsiteX9" fmla="*/ 165100 w 196850"/>
              <a:gd name="connsiteY9" fmla="*/ 476250 h 1625600"/>
              <a:gd name="connsiteX10" fmla="*/ 177800 w 196850"/>
              <a:gd name="connsiteY10" fmla="*/ 495300 h 1625600"/>
              <a:gd name="connsiteX11" fmla="*/ 184150 w 196850"/>
              <a:gd name="connsiteY11" fmla="*/ 514350 h 1625600"/>
              <a:gd name="connsiteX12" fmla="*/ 190500 w 196850"/>
              <a:gd name="connsiteY12" fmla="*/ 552450 h 1625600"/>
              <a:gd name="connsiteX13" fmla="*/ 196850 w 196850"/>
              <a:gd name="connsiteY13" fmla="*/ 577850 h 1625600"/>
              <a:gd name="connsiteX14" fmla="*/ 190500 w 196850"/>
              <a:gd name="connsiteY14" fmla="*/ 660400 h 1625600"/>
              <a:gd name="connsiteX15" fmla="*/ 158750 w 196850"/>
              <a:gd name="connsiteY15" fmla="*/ 717550 h 1625600"/>
              <a:gd name="connsiteX16" fmla="*/ 139700 w 196850"/>
              <a:gd name="connsiteY16" fmla="*/ 736600 h 1625600"/>
              <a:gd name="connsiteX17" fmla="*/ 107950 w 196850"/>
              <a:gd name="connsiteY17" fmla="*/ 768350 h 1625600"/>
              <a:gd name="connsiteX18" fmla="*/ 95250 w 196850"/>
              <a:gd name="connsiteY18" fmla="*/ 787400 h 1625600"/>
              <a:gd name="connsiteX19" fmla="*/ 88900 w 196850"/>
              <a:gd name="connsiteY19" fmla="*/ 806450 h 1625600"/>
              <a:gd name="connsiteX20" fmla="*/ 69850 w 196850"/>
              <a:gd name="connsiteY20" fmla="*/ 819150 h 1625600"/>
              <a:gd name="connsiteX21" fmla="*/ 44450 w 196850"/>
              <a:gd name="connsiteY21" fmla="*/ 863600 h 1625600"/>
              <a:gd name="connsiteX22" fmla="*/ 31750 w 196850"/>
              <a:gd name="connsiteY22" fmla="*/ 882650 h 1625600"/>
              <a:gd name="connsiteX23" fmla="*/ 19050 w 196850"/>
              <a:gd name="connsiteY23" fmla="*/ 927100 h 1625600"/>
              <a:gd name="connsiteX24" fmla="*/ 31750 w 196850"/>
              <a:gd name="connsiteY24" fmla="*/ 1060450 h 1625600"/>
              <a:gd name="connsiteX25" fmla="*/ 63500 w 196850"/>
              <a:gd name="connsiteY25" fmla="*/ 1092200 h 1625600"/>
              <a:gd name="connsiteX26" fmla="*/ 76200 w 196850"/>
              <a:gd name="connsiteY26" fmla="*/ 1111250 h 1625600"/>
              <a:gd name="connsiteX27" fmla="*/ 114300 w 196850"/>
              <a:gd name="connsiteY27" fmla="*/ 1136650 h 1625600"/>
              <a:gd name="connsiteX28" fmla="*/ 120650 w 196850"/>
              <a:gd name="connsiteY28" fmla="*/ 1155700 h 1625600"/>
              <a:gd name="connsiteX29" fmla="*/ 139700 w 196850"/>
              <a:gd name="connsiteY29" fmla="*/ 1168400 h 1625600"/>
              <a:gd name="connsiteX30" fmla="*/ 165100 w 196850"/>
              <a:gd name="connsiteY30" fmla="*/ 1187450 h 1625600"/>
              <a:gd name="connsiteX31" fmla="*/ 190500 w 196850"/>
              <a:gd name="connsiteY31" fmla="*/ 1225550 h 1625600"/>
              <a:gd name="connsiteX32" fmla="*/ 196850 w 196850"/>
              <a:gd name="connsiteY32" fmla="*/ 1250950 h 1625600"/>
              <a:gd name="connsiteX33" fmla="*/ 190500 w 196850"/>
              <a:gd name="connsiteY33" fmla="*/ 1339850 h 1625600"/>
              <a:gd name="connsiteX34" fmla="*/ 171450 w 196850"/>
              <a:gd name="connsiteY34" fmla="*/ 1403350 h 1625600"/>
              <a:gd name="connsiteX35" fmla="*/ 158750 w 196850"/>
              <a:gd name="connsiteY35" fmla="*/ 1422400 h 1625600"/>
              <a:gd name="connsiteX36" fmla="*/ 152400 w 196850"/>
              <a:gd name="connsiteY36" fmla="*/ 1441450 h 1625600"/>
              <a:gd name="connsiteX37" fmla="*/ 127000 w 196850"/>
              <a:gd name="connsiteY37" fmla="*/ 1498600 h 1625600"/>
              <a:gd name="connsiteX38" fmla="*/ 95250 w 196850"/>
              <a:gd name="connsiteY38" fmla="*/ 1555750 h 1625600"/>
              <a:gd name="connsiteX39" fmla="*/ 95250 w 196850"/>
              <a:gd name="connsiteY39" fmla="*/ 1625600 h 1625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196850" h="1625600">
                <a:moveTo>
                  <a:pt x="127000" y="0"/>
                </a:moveTo>
                <a:cubicBezTo>
                  <a:pt x="72901" y="32460"/>
                  <a:pt x="111869" y="2917"/>
                  <a:pt x="82550" y="38100"/>
                </a:cubicBezTo>
                <a:cubicBezTo>
                  <a:pt x="68308" y="55190"/>
                  <a:pt x="59809" y="55930"/>
                  <a:pt x="50800" y="76200"/>
                </a:cubicBezTo>
                <a:cubicBezTo>
                  <a:pt x="25936" y="132143"/>
                  <a:pt x="53821" y="98579"/>
                  <a:pt x="19050" y="133350"/>
                </a:cubicBezTo>
                <a:cubicBezTo>
                  <a:pt x="3590" y="179729"/>
                  <a:pt x="9597" y="158463"/>
                  <a:pt x="0" y="196850"/>
                </a:cubicBezTo>
                <a:cubicBezTo>
                  <a:pt x="14593" y="299002"/>
                  <a:pt x="3234" y="257352"/>
                  <a:pt x="25400" y="323850"/>
                </a:cubicBezTo>
                <a:cubicBezTo>
                  <a:pt x="30227" y="338330"/>
                  <a:pt x="42333" y="349250"/>
                  <a:pt x="50800" y="361950"/>
                </a:cubicBezTo>
                <a:cubicBezTo>
                  <a:pt x="63500" y="381000"/>
                  <a:pt x="61383" y="383117"/>
                  <a:pt x="82550" y="393700"/>
                </a:cubicBezTo>
                <a:cubicBezTo>
                  <a:pt x="88537" y="396693"/>
                  <a:pt x="95250" y="397933"/>
                  <a:pt x="101600" y="400050"/>
                </a:cubicBezTo>
                <a:cubicBezTo>
                  <a:pt x="150493" y="448943"/>
                  <a:pt x="129737" y="423206"/>
                  <a:pt x="165100" y="476250"/>
                </a:cubicBezTo>
                <a:cubicBezTo>
                  <a:pt x="169333" y="482600"/>
                  <a:pt x="175387" y="488060"/>
                  <a:pt x="177800" y="495300"/>
                </a:cubicBezTo>
                <a:cubicBezTo>
                  <a:pt x="179917" y="501650"/>
                  <a:pt x="182698" y="507816"/>
                  <a:pt x="184150" y="514350"/>
                </a:cubicBezTo>
                <a:cubicBezTo>
                  <a:pt x="186943" y="526919"/>
                  <a:pt x="187975" y="539825"/>
                  <a:pt x="190500" y="552450"/>
                </a:cubicBezTo>
                <a:cubicBezTo>
                  <a:pt x="192212" y="561008"/>
                  <a:pt x="194733" y="569383"/>
                  <a:pt x="196850" y="577850"/>
                </a:cubicBezTo>
                <a:cubicBezTo>
                  <a:pt x="194733" y="605367"/>
                  <a:pt x="193923" y="633015"/>
                  <a:pt x="190500" y="660400"/>
                </a:cubicBezTo>
                <a:cubicBezTo>
                  <a:pt x="188219" y="678652"/>
                  <a:pt x="167578" y="708722"/>
                  <a:pt x="158750" y="717550"/>
                </a:cubicBezTo>
                <a:cubicBezTo>
                  <a:pt x="152400" y="723900"/>
                  <a:pt x="145449" y="729701"/>
                  <a:pt x="139700" y="736600"/>
                </a:cubicBezTo>
                <a:cubicBezTo>
                  <a:pt x="113242" y="768350"/>
                  <a:pt x="142875" y="745067"/>
                  <a:pt x="107950" y="768350"/>
                </a:cubicBezTo>
                <a:cubicBezTo>
                  <a:pt x="103717" y="774700"/>
                  <a:pt x="98663" y="780574"/>
                  <a:pt x="95250" y="787400"/>
                </a:cubicBezTo>
                <a:cubicBezTo>
                  <a:pt x="92257" y="793387"/>
                  <a:pt x="93081" y="801223"/>
                  <a:pt x="88900" y="806450"/>
                </a:cubicBezTo>
                <a:cubicBezTo>
                  <a:pt x="84132" y="812409"/>
                  <a:pt x="76200" y="814917"/>
                  <a:pt x="69850" y="819150"/>
                </a:cubicBezTo>
                <a:cubicBezTo>
                  <a:pt x="38908" y="865562"/>
                  <a:pt x="76676" y="807204"/>
                  <a:pt x="44450" y="863600"/>
                </a:cubicBezTo>
                <a:cubicBezTo>
                  <a:pt x="40664" y="870226"/>
                  <a:pt x="35163" y="875824"/>
                  <a:pt x="31750" y="882650"/>
                </a:cubicBezTo>
                <a:cubicBezTo>
                  <a:pt x="27195" y="891760"/>
                  <a:pt x="21085" y="918962"/>
                  <a:pt x="19050" y="927100"/>
                </a:cubicBezTo>
                <a:cubicBezTo>
                  <a:pt x="19267" y="930136"/>
                  <a:pt x="24826" y="1037369"/>
                  <a:pt x="31750" y="1060450"/>
                </a:cubicBezTo>
                <a:cubicBezTo>
                  <a:pt x="37042" y="1078089"/>
                  <a:pt x="49742" y="1083028"/>
                  <a:pt x="63500" y="1092200"/>
                </a:cubicBezTo>
                <a:cubicBezTo>
                  <a:pt x="67733" y="1098550"/>
                  <a:pt x="70457" y="1106224"/>
                  <a:pt x="76200" y="1111250"/>
                </a:cubicBezTo>
                <a:cubicBezTo>
                  <a:pt x="87687" y="1121301"/>
                  <a:pt x="114300" y="1136650"/>
                  <a:pt x="114300" y="1136650"/>
                </a:cubicBezTo>
                <a:cubicBezTo>
                  <a:pt x="116417" y="1143000"/>
                  <a:pt x="116469" y="1150473"/>
                  <a:pt x="120650" y="1155700"/>
                </a:cubicBezTo>
                <a:cubicBezTo>
                  <a:pt x="125418" y="1161659"/>
                  <a:pt x="133490" y="1163964"/>
                  <a:pt x="139700" y="1168400"/>
                </a:cubicBezTo>
                <a:cubicBezTo>
                  <a:pt x="148312" y="1174551"/>
                  <a:pt x="158069" y="1179540"/>
                  <a:pt x="165100" y="1187450"/>
                </a:cubicBezTo>
                <a:cubicBezTo>
                  <a:pt x="175241" y="1198858"/>
                  <a:pt x="190500" y="1225550"/>
                  <a:pt x="190500" y="1225550"/>
                </a:cubicBezTo>
                <a:cubicBezTo>
                  <a:pt x="192617" y="1234017"/>
                  <a:pt x="196850" y="1242223"/>
                  <a:pt x="196850" y="1250950"/>
                </a:cubicBezTo>
                <a:cubicBezTo>
                  <a:pt x="196850" y="1280659"/>
                  <a:pt x="193781" y="1310323"/>
                  <a:pt x="190500" y="1339850"/>
                </a:cubicBezTo>
                <a:cubicBezTo>
                  <a:pt x="188901" y="1354245"/>
                  <a:pt x="174642" y="1393773"/>
                  <a:pt x="171450" y="1403350"/>
                </a:cubicBezTo>
                <a:cubicBezTo>
                  <a:pt x="169037" y="1410590"/>
                  <a:pt x="162163" y="1415574"/>
                  <a:pt x="158750" y="1422400"/>
                </a:cubicBezTo>
                <a:cubicBezTo>
                  <a:pt x="155757" y="1428387"/>
                  <a:pt x="155393" y="1435463"/>
                  <a:pt x="152400" y="1441450"/>
                </a:cubicBezTo>
                <a:cubicBezTo>
                  <a:pt x="122211" y="1501827"/>
                  <a:pt x="159765" y="1400306"/>
                  <a:pt x="127000" y="1498600"/>
                </a:cubicBezTo>
                <a:cubicBezTo>
                  <a:pt x="119404" y="1521388"/>
                  <a:pt x="96991" y="1531377"/>
                  <a:pt x="95250" y="1555750"/>
                </a:cubicBezTo>
                <a:cubicBezTo>
                  <a:pt x="93591" y="1578974"/>
                  <a:pt x="95250" y="1602317"/>
                  <a:pt x="95250" y="1625600"/>
                </a:cubicBezTo>
              </a:path>
            </a:pathLst>
          </a:custGeom>
          <a:ln w="28575"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ln w="12700">
                <a:solidFill>
                  <a:schemeClr val="tx1"/>
                </a:solidFill>
              </a:ln>
            </a:endParaRPr>
          </a:p>
        </p:txBody>
      </p:sp>
      <p:sp>
        <p:nvSpPr>
          <p:cNvPr id="16" name="Freeform 15"/>
          <p:cNvSpPr/>
          <p:nvPr/>
        </p:nvSpPr>
        <p:spPr>
          <a:xfrm>
            <a:off x="2464964" y="2893040"/>
            <a:ext cx="180446" cy="1490133"/>
          </a:xfrm>
          <a:custGeom>
            <a:avLst/>
            <a:gdLst>
              <a:gd name="connsiteX0" fmla="*/ 127000 w 196850"/>
              <a:gd name="connsiteY0" fmla="*/ 0 h 1625600"/>
              <a:gd name="connsiteX1" fmla="*/ 82550 w 196850"/>
              <a:gd name="connsiteY1" fmla="*/ 38100 h 1625600"/>
              <a:gd name="connsiteX2" fmla="*/ 50800 w 196850"/>
              <a:gd name="connsiteY2" fmla="*/ 76200 h 1625600"/>
              <a:gd name="connsiteX3" fmla="*/ 19050 w 196850"/>
              <a:gd name="connsiteY3" fmla="*/ 133350 h 1625600"/>
              <a:gd name="connsiteX4" fmla="*/ 0 w 196850"/>
              <a:gd name="connsiteY4" fmla="*/ 196850 h 1625600"/>
              <a:gd name="connsiteX5" fmla="*/ 25400 w 196850"/>
              <a:gd name="connsiteY5" fmla="*/ 323850 h 1625600"/>
              <a:gd name="connsiteX6" fmla="*/ 50800 w 196850"/>
              <a:gd name="connsiteY6" fmla="*/ 361950 h 1625600"/>
              <a:gd name="connsiteX7" fmla="*/ 82550 w 196850"/>
              <a:gd name="connsiteY7" fmla="*/ 393700 h 1625600"/>
              <a:gd name="connsiteX8" fmla="*/ 101600 w 196850"/>
              <a:gd name="connsiteY8" fmla="*/ 400050 h 1625600"/>
              <a:gd name="connsiteX9" fmla="*/ 165100 w 196850"/>
              <a:gd name="connsiteY9" fmla="*/ 476250 h 1625600"/>
              <a:gd name="connsiteX10" fmla="*/ 177800 w 196850"/>
              <a:gd name="connsiteY10" fmla="*/ 495300 h 1625600"/>
              <a:gd name="connsiteX11" fmla="*/ 184150 w 196850"/>
              <a:gd name="connsiteY11" fmla="*/ 514350 h 1625600"/>
              <a:gd name="connsiteX12" fmla="*/ 190500 w 196850"/>
              <a:gd name="connsiteY12" fmla="*/ 552450 h 1625600"/>
              <a:gd name="connsiteX13" fmla="*/ 196850 w 196850"/>
              <a:gd name="connsiteY13" fmla="*/ 577850 h 1625600"/>
              <a:gd name="connsiteX14" fmla="*/ 190500 w 196850"/>
              <a:gd name="connsiteY14" fmla="*/ 660400 h 1625600"/>
              <a:gd name="connsiteX15" fmla="*/ 158750 w 196850"/>
              <a:gd name="connsiteY15" fmla="*/ 717550 h 1625600"/>
              <a:gd name="connsiteX16" fmla="*/ 139700 w 196850"/>
              <a:gd name="connsiteY16" fmla="*/ 736600 h 1625600"/>
              <a:gd name="connsiteX17" fmla="*/ 107950 w 196850"/>
              <a:gd name="connsiteY17" fmla="*/ 768350 h 1625600"/>
              <a:gd name="connsiteX18" fmla="*/ 95250 w 196850"/>
              <a:gd name="connsiteY18" fmla="*/ 787400 h 1625600"/>
              <a:gd name="connsiteX19" fmla="*/ 88900 w 196850"/>
              <a:gd name="connsiteY19" fmla="*/ 806450 h 1625600"/>
              <a:gd name="connsiteX20" fmla="*/ 69850 w 196850"/>
              <a:gd name="connsiteY20" fmla="*/ 819150 h 1625600"/>
              <a:gd name="connsiteX21" fmla="*/ 44450 w 196850"/>
              <a:gd name="connsiteY21" fmla="*/ 863600 h 1625600"/>
              <a:gd name="connsiteX22" fmla="*/ 31750 w 196850"/>
              <a:gd name="connsiteY22" fmla="*/ 882650 h 1625600"/>
              <a:gd name="connsiteX23" fmla="*/ 19050 w 196850"/>
              <a:gd name="connsiteY23" fmla="*/ 927100 h 1625600"/>
              <a:gd name="connsiteX24" fmla="*/ 31750 w 196850"/>
              <a:gd name="connsiteY24" fmla="*/ 1060450 h 1625600"/>
              <a:gd name="connsiteX25" fmla="*/ 63500 w 196850"/>
              <a:gd name="connsiteY25" fmla="*/ 1092200 h 1625600"/>
              <a:gd name="connsiteX26" fmla="*/ 76200 w 196850"/>
              <a:gd name="connsiteY26" fmla="*/ 1111250 h 1625600"/>
              <a:gd name="connsiteX27" fmla="*/ 114300 w 196850"/>
              <a:gd name="connsiteY27" fmla="*/ 1136650 h 1625600"/>
              <a:gd name="connsiteX28" fmla="*/ 120650 w 196850"/>
              <a:gd name="connsiteY28" fmla="*/ 1155700 h 1625600"/>
              <a:gd name="connsiteX29" fmla="*/ 139700 w 196850"/>
              <a:gd name="connsiteY29" fmla="*/ 1168400 h 1625600"/>
              <a:gd name="connsiteX30" fmla="*/ 165100 w 196850"/>
              <a:gd name="connsiteY30" fmla="*/ 1187450 h 1625600"/>
              <a:gd name="connsiteX31" fmla="*/ 190500 w 196850"/>
              <a:gd name="connsiteY31" fmla="*/ 1225550 h 1625600"/>
              <a:gd name="connsiteX32" fmla="*/ 196850 w 196850"/>
              <a:gd name="connsiteY32" fmla="*/ 1250950 h 1625600"/>
              <a:gd name="connsiteX33" fmla="*/ 190500 w 196850"/>
              <a:gd name="connsiteY33" fmla="*/ 1339850 h 1625600"/>
              <a:gd name="connsiteX34" fmla="*/ 171450 w 196850"/>
              <a:gd name="connsiteY34" fmla="*/ 1403350 h 1625600"/>
              <a:gd name="connsiteX35" fmla="*/ 158750 w 196850"/>
              <a:gd name="connsiteY35" fmla="*/ 1422400 h 1625600"/>
              <a:gd name="connsiteX36" fmla="*/ 152400 w 196850"/>
              <a:gd name="connsiteY36" fmla="*/ 1441450 h 1625600"/>
              <a:gd name="connsiteX37" fmla="*/ 127000 w 196850"/>
              <a:gd name="connsiteY37" fmla="*/ 1498600 h 1625600"/>
              <a:gd name="connsiteX38" fmla="*/ 95250 w 196850"/>
              <a:gd name="connsiteY38" fmla="*/ 1555750 h 1625600"/>
              <a:gd name="connsiteX39" fmla="*/ 95250 w 196850"/>
              <a:gd name="connsiteY39" fmla="*/ 1625600 h 1625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196850" h="1625600">
                <a:moveTo>
                  <a:pt x="127000" y="0"/>
                </a:moveTo>
                <a:cubicBezTo>
                  <a:pt x="72901" y="32460"/>
                  <a:pt x="111869" y="2917"/>
                  <a:pt x="82550" y="38100"/>
                </a:cubicBezTo>
                <a:cubicBezTo>
                  <a:pt x="68308" y="55190"/>
                  <a:pt x="59809" y="55930"/>
                  <a:pt x="50800" y="76200"/>
                </a:cubicBezTo>
                <a:cubicBezTo>
                  <a:pt x="25936" y="132143"/>
                  <a:pt x="53821" y="98579"/>
                  <a:pt x="19050" y="133350"/>
                </a:cubicBezTo>
                <a:cubicBezTo>
                  <a:pt x="3590" y="179729"/>
                  <a:pt x="9597" y="158463"/>
                  <a:pt x="0" y="196850"/>
                </a:cubicBezTo>
                <a:cubicBezTo>
                  <a:pt x="14593" y="299002"/>
                  <a:pt x="3234" y="257352"/>
                  <a:pt x="25400" y="323850"/>
                </a:cubicBezTo>
                <a:cubicBezTo>
                  <a:pt x="30227" y="338330"/>
                  <a:pt x="42333" y="349250"/>
                  <a:pt x="50800" y="361950"/>
                </a:cubicBezTo>
                <a:cubicBezTo>
                  <a:pt x="63500" y="381000"/>
                  <a:pt x="61383" y="383117"/>
                  <a:pt x="82550" y="393700"/>
                </a:cubicBezTo>
                <a:cubicBezTo>
                  <a:pt x="88537" y="396693"/>
                  <a:pt x="95250" y="397933"/>
                  <a:pt x="101600" y="400050"/>
                </a:cubicBezTo>
                <a:cubicBezTo>
                  <a:pt x="150493" y="448943"/>
                  <a:pt x="129737" y="423206"/>
                  <a:pt x="165100" y="476250"/>
                </a:cubicBezTo>
                <a:cubicBezTo>
                  <a:pt x="169333" y="482600"/>
                  <a:pt x="175387" y="488060"/>
                  <a:pt x="177800" y="495300"/>
                </a:cubicBezTo>
                <a:cubicBezTo>
                  <a:pt x="179917" y="501650"/>
                  <a:pt x="182698" y="507816"/>
                  <a:pt x="184150" y="514350"/>
                </a:cubicBezTo>
                <a:cubicBezTo>
                  <a:pt x="186943" y="526919"/>
                  <a:pt x="187975" y="539825"/>
                  <a:pt x="190500" y="552450"/>
                </a:cubicBezTo>
                <a:cubicBezTo>
                  <a:pt x="192212" y="561008"/>
                  <a:pt x="194733" y="569383"/>
                  <a:pt x="196850" y="577850"/>
                </a:cubicBezTo>
                <a:cubicBezTo>
                  <a:pt x="194733" y="605367"/>
                  <a:pt x="193923" y="633015"/>
                  <a:pt x="190500" y="660400"/>
                </a:cubicBezTo>
                <a:cubicBezTo>
                  <a:pt x="188219" y="678652"/>
                  <a:pt x="167578" y="708722"/>
                  <a:pt x="158750" y="717550"/>
                </a:cubicBezTo>
                <a:cubicBezTo>
                  <a:pt x="152400" y="723900"/>
                  <a:pt x="145449" y="729701"/>
                  <a:pt x="139700" y="736600"/>
                </a:cubicBezTo>
                <a:cubicBezTo>
                  <a:pt x="113242" y="768350"/>
                  <a:pt x="142875" y="745067"/>
                  <a:pt x="107950" y="768350"/>
                </a:cubicBezTo>
                <a:cubicBezTo>
                  <a:pt x="103717" y="774700"/>
                  <a:pt x="98663" y="780574"/>
                  <a:pt x="95250" y="787400"/>
                </a:cubicBezTo>
                <a:cubicBezTo>
                  <a:pt x="92257" y="793387"/>
                  <a:pt x="93081" y="801223"/>
                  <a:pt x="88900" y="806450"/>
                </a:cubicBezTo>
                <a:cubicBezTo>
                  <a:pt x="84132" y="812409"/>
                  <a:pt x="76200" y="814917"/>
                  <a:pt x="69850" y="819150"/>
                </a:cubicBezTo>
                <a:cubicBezTo>
                  <a:pt x="38908" y="865562"/>
                  <a:pt x="76676" y="807204"/>
                  <a:pt x="44450" y="863600"/>
                </a:cubicBezTo>
                <a:cubicBezTo>
                  <a:pt x="40664" y="870226"/>
                  <a:pt x="35163" y="875824"/>
                  <a:pt x="31750" y="882650"/>
                </a:cubicBezTo>
                <a:cubicBezTo>
                  <a:pt x="27195" y="891760"/>
                  <a:pt x="21085" y="918962"/>
                  <a:pt x="19050" y="927100"/>
                </a:cubicBezTo>
                <a:cubicBezTo>
                  <a:pt x="19267" y="930136"/>
                  <a:pt x="24826" y="1037369"/>
                  <a:pt x="31750" y="1060450"/>
                </a:cubicBezTo>
                <a:cubicBezTo>
                  <a:pt x="37042" y="1078089"/>
                  <a:pt x="49742" y="1083028"/>
                  <a:pt x="63500" y="1092200"/>
                </a:cubicBezTo>
                <a:cubicBezTo>
                  <a:pt x="67733" y="1098550"/>
                  <a:pt x="70457" y="1106224"/>
                  <a:pt x="76200" y="1111250"/>
                </a:cubicBezTo>
                <a:cubicBezTo>
                  <a:pt x="87687" y="1121301"/>
                  <a:pt x="114300" y="1136650"/>
                  <a:pt x="114300" y="1136650"/>
                </a:cubicBezTo>
                <a:cubicBezTo>
                  <a:pt x="116417" y="1143000"/>
                  <a:pt x="116469" y="1150473"/>
                  <a:pt x="120650" y="1155700"/>
                </a:cubicBezTo>
                <a:cubicBezTo>
                  <a:pt x="125418" y="1161659"/>
                  <a:pt x="133490" y="1163964"/>
                  <a:pt x="139700" y="1168400"/>
                </a:cubicBezTo>
                <a:cubicBezTo>
                  <a:pt x="148312" y="1174551"/>
                  <a:pt x="158069" y="1179540"/>
                  <a:pt x="165100" y="1187450"/>
                </a:cubicBezTo>
                <a:cubicBezTo>
                  <a:pt x="175241" y="1198858"/>
                  <a:pt x="190500" y="1225550"/>
                  <a:pt x="190500" y="1225550"/>
                </a:cubicBezTo>
                <a:cubicBezTo>
                  <a:pt x="192617" y="1234017"/>
                  <a:pt x="196850" y="1242223"/>
                  <a:pt x="196850" y="1250950"/>
                </a:cubicBezTo>
                <a:cubicBezTo>
                  <a:pt x="196850" y="1280659"/>
                  <a:pt x="193781" y="1310323"/>
                  <a:pt x="190500" y="1339850"/>
                </a:cubicBezTo>
                <a:cubicBezTo>
                  <a:pt x="188901" y="1354245"/>
                  <a:pt x="174642" y="1393773"/>
                  <a:pt x="171450" y="1403350"/>
                </a:cubicBezTo>
                <a:cubicBezTo>
                  <a:pt x="169037" y="1410590"/>
                  <a:pt x="162163" y="1415574"/>
                  <a:pt x="158750" y="1422400"/>
                </a:cubicBezTo>
                <a:cubicBezTo>
                  <a:pt x="155757" y="1428387"/>
                  <a:pt x="155393" y="1435463"/>
                  <a:pt x="152400" y="1441450"/>
                </a:cubicBezTo>
                <a:cubicBezTo>
                  <a:pt x="122211" y="1501827"/>
                  <a:pt x="159765" y="1400306"/>
                  <a:pt x="127000" y="1498600"/>
                </a:cubicBezTo>
                <a:cubicBezTo>
                  <a:pt x="119404" y="1521388"/>
                  <a:pt x="96991" y="1531377"/>
                  <a:pt x="95250" y="1555750"/>
                </a:cubicBezTo>
                <a:cubicBezTo>
                  <a:pt x="93591" y="1578974"/>
                  <a:pt x="95250" y="1602317"/>
                  <a:pt x="95250" y="1625600"/>
                </a:cubicBezTo>
              </a:path>
            </a:pathLst>
          </a:custGeom>
          <a:ln w="28575"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ln w="12700">
                <a:solidFill>
                  <a:schemeClr val="tx1"/>
                </a:solidFill>
              </a:ln>
            </a:endParaRPr>
          </a:p>
        </p:txBody>
      </p:sp>
      <p:sp>
        <p:nvSpPr>
          <p:cNvPr id="17" name="Freeform 16"/>
          <p:cNvSpPr/>
          <p:nvPr/>
        </p:nvSpPr>
        <p:spPr>
          <a:xfrm>
            <a:off x="2891049" y="2893040"/>
            <a:ext cx="180446" cy="1490133"/>
          </a:xfrm>
          <a:custGeom>
            <a:avLst/>
            <a:gdLst>
              <a:gd name="connsiteX0" fmla="*/ 127000 w 196850"/>
              <a:gd name="connsiteY0" fmla="*/ 0 h 1625600"/>
              <a:gd name="connsiteX1" fmla="*/ 82550 w 196850"/>
              <a:gd name="connsiteY1" fmla="*/ 38100 h 1625600"/>
              <a:gd name="connsiteX2" fmla="*/ 50800 w 196850"/>
              <a:gd name="connsiteY2" fmla="*/ 76200 h 1625600"/>
              <a:gd name="connsiteX3" fmla="*/ 19050 w 196850"/>
              <a:gd name="connsiteY3" fmla="*/ 133350 h 1625600"/>
              <a:gd name="connsiteX4" fmla="*/ 0 w 196850"/>
              <a:gd name="connsiteY4" fmla="*/ 196850 h 1625600"/>
              <a:gd name="connsiteX5" fmla="*/ 25400 w 196850"/>
              <a:gd name="connsiteY5" fmla="*/ 323850 h 1625600"/>
              <a:gd name="connsiteX6" fmla="*/ 50800 w 196850"/>
              <a:gd name="connsiteY6" fmla="*/ 361950 h 1625600"/>
              <a:gd name="connsiteX7" fmla="*/ 82550 w 196850"/>
              <a:gd name="connsiteY7" fmla="*/ 393700 h 1625600"/>
              <a:gd name="connsiteX8" fmla="*/ 101600 w 196850"/>
              <a:gd name="connsiteY8" fmla="*/ 400050 h 1625600"/>
              <a:gd name="connsiteX9" fmla="*/ 165100 w 196850"/>
              <a:gd name="connsiteY9" fmla="*/ 476250 h 1625600"/>
              <a:gd name="connsiteX10" fmla="*/ 177800 w 196850"/>
              <a:gd name="connsiteY10" fmla="*/ 495300 h 1625600"/>
              <a:gd name="connsiteX11" fmla="*/ 184150 w 196850"/>
              <a:gd name="connsiteY11" fmla="*/ 514350 h 1625600"/>
              <a:gd name="connsiteX12" fmla="*/ 190500 w 196850"/>
              <a:gd name="connsiteY12" fmla="*/ 552450 h 1625600"/>
              <a:gd name="connsiteX13" fmla="*/ 196850 w 196850"/>
              <a:gd name="connsiteY13" fmla="*/ 577850 h 1625600"/>
              <a:gd name="connsiteX14" fmla="*/ 190500 w 196850"/>
              <a:gd name="connsiteY14" fmla="*/ 660400 h 1625600"/>
              <a:gd name="connsiteX15" fmla="*/ 158750 w 196850"/>
              <a:gd name="connsiteY15" fmla="*/ 717550 h 1625600"/>
              <a:gd name="connsiteX16" fmla="*/ 139700 w 196850"/>
              <a:gd name="connsiteY16" fmla="*/ 736600 h 1625600"/>
              <a:gd name="connsiteX17" fmla="*/ 107950 w 196850"/>
              <a:gd name="connsiteY17" fmla="*/ 768350 h 1625600"/>
              <a:gd name="connsiteX18" fmla="*/ 95250 w 196850"/>
              <a:gd name="connsiteY18" fmla="*/ 787400 h 1625600"/>
              <a:gd name="connsiteX19" fmla="*/ 88900 w 196850"/>
              <a:gd name="connsiteY19" fmla="*/ 806450 h 1625600"/>
              <a:gd name="connsiteX20" fmla="*/ 69850 w 196850"/>
              <a:gd name="connsiteY20" fmla="*/ 819150 h 1625600"/>
              <a:gd name="connsiteX21" fmla="*/ 44450 w 196850"/>
              <a:gd name="connsiteY21" fmla="*/ 863600 h 1625600"/>
              <a:gd name="connsiteX22" fmla="*/ 31750 w 196850"/>
              <a:gd name="connsiteY22" fmla="*/ 882650 h 1625600"/>
              <a:gd name="connsiteX23" fmla="*/ 19050 w 196850"/>
              <a:gd name="connsiteY23" fmla="*/ 927100 h 1625600"/>
              <a:gd name="connsiteX24" fmla="*/ 31750 w 196850"/>
              <a:gd name="connsiteY24" fmla="*/ 1060450 h 1625600"/>
              <a:gd name="connsiteX25" fmla="*/ 63500 w 196850"/>
              <a:gd name="connsiteY25" fmla="*/ 1092200 h 1625600"/>
              <a:gd name="connsiteX26" fmla="*/ 76200 w 196850"/>
              <a:gd name="connsiteY26" fmla="*/ 1111250 h 1625600"/>
              <a:gd name="connsiteX27" fmla="*/ 114300 w 196850"/>
              <a:gd name="connsiteY27" fmla="*/ 1136650 h 1625600"/>
              <a:gd name="connsiteX28" fmla="*/ 120650 w 196850"/>
              <a:gd name="connsiteY28" fmla="*/ 1155700 h 1625600"/>
              <a:gd name="connsiteX29" fmla="*/ 139700 w 196850"/>
              <a:gd name="connsiteY29" fmla="*/ 1168400 h 1625600"/>
              <a:gd name="connsiteX30" fmla="*/ 165100 w 196850"/>
              <a:gd name="connsiteY30" fmla="*/ 1187450 h 1625600"/>
              <a:gd name="connsiteX31" fmla="*/ 190500 w 196850"/>
              <a:gd name="connsiteY31" fmla="*/ 1225550 h 1625600"/>
              <a:gd name="connsiteX32" fmla="*/ 196850 w 196850"/>
              <a:gd name="connsiteY32" fmla="*/ 1250950 h 1625600"/>
              <a:gd name="connsiteX33" fmla="*/ 190500 w 196850"/>
              <a:gd name="connsiteY33" fmla="*/ 1339850 h 1625600"/>
              <a:gd name="connsiteX34" fmla="*/ 171450 w 196850"/>
              <a:gd name="connsiteY34" fmla="*/ 1403350 h 1625600"/>
              <a:gd name="connsiteX35" fmla="*/ 158750 w 196850"/>
              <a:gd name="connsiteY35" fmla="*/ 1422400 h 1625600"/>
              <a:gd name="connsiteX36" fmla="*/ 152400 w 196850"/>
              <a:gd name="connsiteY36" fmla="*/ 1441450 h 1625600"/>
              <a:gd name="connsiteX37" fmla="*/ 127000 w 196850"/>
              <a:gd name="connsiteY37" fmla="*/ 1498600 h 1625600"/>
              <a:gd name="connsiteX38" fmla="*/ 95250 w 196850"/>
              <a:gd name="connsiteY38" fmla="*/ 1555750 h 1625600"/>
              <a:gd name="connsiteX39" fmla="*/ 95250 w 196850"/>
              <a:gd name="connsiteY39" fmla="*/ 1625600 h 1625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196850" h="1625600">
                <a:moveTo>
                  <a:pt x="127000" y="0"/>
                </a:moveTo>
                <a:cubicBezTo>
                  <a:pt x="72901" y="32460"/>
                  <a:pt x="111869" y="2917"/>
                  <a:pt x="82550" y="38100"/>
                </a:cubicBezTo>
                <a:cubicBezTo>
                  <a:pt x="68308" y="55190"/>
                  <a:pt x="59809" y="55930"/>
                  <a:pt x="50800" y="76200"/>
                </a:cubicBezTo>
                <a:cubicBezTo>
                  <a:pt x="25936" y="132143"/>
                  <a:pt x="53821" y="98579"/>
                  <a:pt x="19050" y="133350"/>
                </a:cubicBezTo>
                <a:cubicBezTo>
                  <a:pt x="3590" y="179729"/>
                  <a:pt x="9597" y="158463"/>
                  <a:pt x="0" y="196850"/>
                </a:cubicBezTo>
                <a:cubicBezTo>
                  <a:pt x="14593" y="299002"/>
                  <a:pt x="3234" y="257352"/>
                  <a:pt x="25400" y="323850"/>
                </a:cubicBezTo>
                <a:cubicBezTo>
                  <a:pt x="30227" y="338330"/>
                  <a:pt x="42333" y="349250"/>
                  <a:pt x="50800" y="361950"/>
                </a:cubicBezTo>
                <a:cubicBezTo>
                  <a:pt x="63500" y="381000"/>
                  <a:pt x="61383" y="383117"/>
                  <a:pt x="82550" y="393700"/>
                </a:cubicBezTo>
                <a:cubicBezTo>
                  <a:pt x="88537" y="396693"/>
                  <a:pt x="95250" y="397933"/>
                  <a:pt x="101600" y="400050"/>
                </a:cubicBezTo>
                <a:cubicBezTo>
                  <a:pt x="150493" y="448943"/>
                  <a:pt x="129737" y="423206"/>
                  <a:pt x="165100" y="476250"/>
                </a:cubicBezTo>
                <a:cubicBezTo>
                  <a:pt x="169333" y="482600"/>
                  <a:pt x="175387" y="488060"/>
                  <a:pt x="177800" y="495300"/>
                </a:cubicBezTo>
                <a:cubicBezTo>
                  <a:pt x="179917" y="501650"/>
                  <a:pt x="182698" y="507816"/>
                  <a:pt x="184150" y="514350"/>
                </a:cubicBezTo>
                <a:cubicBezTo>
                  <a:pt x="186943" y="526919"/>
                  <a:pt x="187975" y="539825"/>
                  <a:pt x="190500" y="552450"/>
                </a:cubicBezTo>
                <a:cubicBezTo>
                  <a:pt x="192212" y="561008"/>
                  <a:pt x="194733" y="569383"/>
                  <a:pt x="196850" y="577850"/>
                </a:cubicBezTo>
                <a:cubicBezTo>
                  <a:pt x="194733" y="605367"/>
                  <a:pt x="193923" y="633015"/>
                  <a:pt x="190500" y="660400"/>
                </a:cubicBezTo>
                <a:cubicBezTo>
                  <a:pt x="188219" y="678652"/>
                  <a:pt x="167578" y="708722"/>
                  <a:pt x="158750" y="717550"/>
                </a:cubicBezTo>
                <a:cubicBezTo>
                  <a:pt x="152400" y="723900"/>
                  <a:pt x="145449" y="729701"/>
                  <a:pt x="139700" y="736600"/>
                </a:cubicBezTo>
                <a:cubicBezTo>
                  <a:pt x="113242" y="768350"/>
                  <a:pt x="142875" y="745067"/>
                  <a:pt x="107950" y="768350"/>
                </a:cubicBezTo>
                <a:cubicBezTo>
                  <a:pt x="103717" y="774700"/>
                  <a:pt x="98663" y="780574"/>
                  <a:pt x="95250" y="787400"/>
                </a:cubicBezTo>
                <a:cubicBezTo>
                  <a:pt x="92257" y="793387"/>
                  <a:pt x="93081" y="801223"/>
                  <a:pt x="88900" y="806450"/>
                </a:cubicBezTo>
                <a:cubicBezTo>
                  <a:pt x="84132" y="812409"/>
                  <a:pt x="76200" y="814917"/>
                  <a:pt x="69850" y="819150"/>
                </a:cubicBezTo>
                <a:cubicBezTo>
                  <a:pt x="38908" y="865562"/>
                  <a:pt x="76676" y="807204"/>
                  <a:pt x="44450" y="863600"/>
                </a:cubicBezTo>
                <a:cubicBezTo>
                  <a:pt x="40664" y="870226"/>
                  <a:pt x="35163" y="875824"/>
                  <a:pt x="31750" y="882650"/>
                </a:cubicBezTo>
                <a:cubicBezTo>
                  <a:pt x="27195" y="891760"/>
                  <a:pt x="21085" y="918962"/>
                  <a:pt x="19050" y="927100"/>
                </a:cubicBezTo>
                <a:cubicBezTo>
                  <a:pt x="19267" y="930136"/>
                  <a:pt x="24826" y="1037369"/>
                  <a:pt x="31750" y="1060450"/>
                </a:cubicBezTo>
                <a:cubicBezTo>
                  <a:pt x="37042" y="1078089"/>
                  <a:pt x="49742" y="1083028"/>
                  <a:pt x="63500" y="1092200"/>
                </a:cubicBezTo>
                <a:cubicBezTo>
                  <a:pt x="67733" y="1098550"/>
                  <a:pt x="70457" y="1106224"/>
                  <a:pt x="76200" y="1111250"/>
                </a:cubicBezTo>
                <a:cubicBezTo>
                  <a:pt x="87687" y="1121301"/>
                  <a:pt x="114300" y="1136650"/>
                  <a:pt x="114300" y="1136650"/>
                </a:cubicBezTo>
                <a:cubicBezTo>
                  <a:pt x="116417" y="1143000"/>
                  <a:pt x="116469" y="1150473"/>
                  <a:pt x="120650" y="1155700"/>
                </a:cubicBezTo>
                <a:cubicBezTo>
                  <a:pt x="125418" y="1161659"/>
                  <a:pt x="133490" y="1163964"/>
                  <a:pt x="139700" y="1168400"/>
                </a:cubicBezTo>
                <a:cubicBezTo>
                  <a:pt x="148312" y="1174551"/>
                  <a:pt x="158069" y="1179540"/>
                  <a:pt x="165100" y="1187450"/>
                </a:cubicBezTo>
                <a:cubicBezTo>
                  <a:pt x="175241" y="1198858"/>
                  <a:pt x="190500" y="1225550"/>
                  <a:pt x="190500" y="1225550"/>
                </a:cubicBezTo>
                <a:cubicBezTo>
                  <a:pt x="192617" y="1234017"/>
                  <a:pt x="196850" y="1242223"/>
                  <a:pt x="196850" y="1250950"/>
                </a:cubicBezTo>
                <a:cubicBezTo>
                  <a:pt x="196850" y="1280659"/>
                  <a:pt x="193781" y="1310323"/>
                  <a:pt x="190500" y="1339850"/>
                </a:cubicBezTo>
                <a:cubicBezTo>
                  <a:pt x="188901" y="1354245"/>
                  <a:pt x="174642" y="1393773"/>
                  <a:pt x="171450" y="1403350"/>
                </a:cubicBezTo>
                <a:cubicBezTo>
                  <a:pt x="169037" y="1410590"/>
                  <a:pt x="162163" y="1415574"/>
                  <a:pt x="158750" y="1422400"/>
                </a:cubicBezTo>
                <a:cubicBezTo>
                  <a:pt x="155757" y="1428387"/>
                  <a:pt x="155393" y="1435463"/>
                  <a:pt x="152400" y="1441450"/>
                </a:cubicBezTo>
                <a:cubicBezTo>
                  <a:pt x="122211" y="1501827"/>
                  <a:pt x="159765" y="1400306"/>
                  <a:pt x="127000" y="1498600"/>
                </a:cubicBezTo>
                <a:cubicBezTo>
                  <a:pt x="119404" y="1521388"/>
                  <a:pt x="96991" y="1531377"/>
                  <a:pt x="95250" y="1555750"/>
                </a:cubicBezTo>
                <a:cubicBezTo>
                  <a:pt x="93591" y="1578974"/>
                  <a:pt x="95250" y="1602317"/>
                  <a:pt x="95250" y="1625600"/>
                </a:cubicBezTo>
              </a:path>
            </a:pathLst>
          </a:custGeom>
          <a:ln w="28575"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ln w="12700">
                <a:solidFill>
                  <a:schemeClr val="tx1"/>
                </a:solidFill>
              </a:ln>
            </a:endParaRPr>
          </a:p>
        </p:txBody>
      </p:sp>
      <p:sp>
        <p:nvSpPr>
          <p:cNvPr id="18" name="Freeform 17"/>
          <p:cNvSpPr/>
          <p:nvPr/>
        </p:nvSpPr>
        <p:spPr>
          <a:xfrm>
            <a:off x="3317134" y="2893040"/>
            <a:ext cx="180446" cy="1490133"/>
          </a:xfrm>
          <a:custGeom>
            <a:avLst/>
            <a:gdLst>
              <a:gd name="connsiteX0" fmla="*/ 127000 w 196850"/>
              <a:gd name="connsiteY0" fmla="*/ 0 h 1625600"/>
              <a:gd name="connsiteX1" fmla="*/ 82550 w 196850"/>
              <a:gd name="connsiteY1" fmla="*/ 38100 h 1625600"/>
              <a:gd name="connsiteX2" fmla="*/ 50800 w 196850"/>
              <a:gd name="connsiteY2" fmla="*/ 76200 h 1625600"/>
              <a:gd name="connsiteX3" fmla="*/ 19050 w 196850"/>
              <a:gd name="connsiteY3" fmla="*/ 133350 h 1625600"/>
              <a:gd name="connsiteX4" fmla="*/ 0 w 196850"/>
              <a:gd name="connsiteY4" fmla="*/ 196850 h 1625600"/>
              <a:gd name="connsiteX5" fmla="*/ 25400 w 196850"/>
              <a:gd name="connsiteY5" fmla="*/ 323850 h 1625600"/>
              <a:gd name="connsiteX6" fmla="*/ 50800 w 196850"/>
              <a:gd name="connsiteY6" fmla="*/ 361950 h 1625600"/>
              <a:gd name="connsiteX7" fmla="*/ 82550 w 196850"/>
              <a:gd name="connsiteY7" fmla="*/ 393700 h 1625600"/>
              <a:gd name="connsiteX8" fmla="*/ 101600 w 196850"/>
              <a:gd name="connsiteY8" fmla="*/ 400050 h 1625600"/>
              <a:gd name="connsiteX9" fmla="*/ 165100 w 196850"/>
              <a:gd name="connsiteY9" fmla="*/ 476250 h 1625600"/>
              <a:gd name="connsiteX10" fmla="*/ 177800 w 196850"/>
              <a:gd name="connsiteY10" fmla="*/ 495300 h 1625600"/>
              <a:gd name="connsiteX11" fmla="*/ 184150 w 196850"/>
              <a:gd name="connsiteY11" fmla="*/ 514350 h 1625600"/>
              <a:gd name="connsiteX12" fmla="*/ 190500 w 196850"/>
              <a:gd name="connsiteY12" fmla="*/ 552450 h 1625600"/>
              <a:gd name="connsiteX13" fmla="*/ 196850 w 196850"/>
              <a:gd name="connsiteY13" fmla="*/ 577850 h 1625600"/>
              <a:gd name="connsiteX14" fmla="*/ 190500 w 196850"/>
              <a:gd name="connsiteY14" fmla="*/ 660400 h 1625600"/>
              <a:gd name="connsiteX15" fmla="*/ 158750 w 196850"/>
              <a:gd name="connsiteY15" fmla="*/ 717550 h 1625600"/>
              <a:gd name="connsiteX16" fmla="*/ 139700 w 196850"/>
              <a:gd name="connsiteY16" fmla="*/ 736600 h 1625600"/>
              <a:gd name="connsiteX17" fmla="*/ 107950 w 196850"/>
              <a:gd name="connsiteY17" fmla="*/ 768350 h 1625600"/>
              <a:gd name="connsiteX18" fmla="*/ 95250 w 196850"/>
              <a:gd name="connsiteY18" fmla="*/ 787400 h 1625600"/>
              <a:gd name="connsiteX19" fmla="*/ 88900 w 196850"/>
              <a:gd name="connsiteY19" fmla="*/ 806450 h 1625600"/>
              <a:gd name="connsiteX20" fmla="*/ 69850 w 196850"/>
              <a:gd name="connsiteY20" fmla="*/ 819150 h 1625600"/>
              <a:gd name="connsiteX21" fmla="*/ 44450 w 196850"/>
              <a:gd name="connsiteY21" fmla="*/ 863600 h 1625600"/>
              <a:gd name="connsiteX22" fmla="*/ 31750 w 196850"/>
              <a:gd name="connsiteY22" fmla="*/ 882650 h 1625600"/>
              <a:gd name="connsiteX23" fmla="*/ 19050 w 196850"/>
              <a:gd name="connsiteY23" fmla="*/ 927100 h 1625600"/>
              <a:gd name="connsiteX24" fmla="*/ 31750 w 196850"/>
              <a:gd name="connsiteY24" fmla="*/ 1060450 h 1625600"/>
              <a:gd name="connsiteX25" fmla="*/ 63500 w 196850"/>
              <a:gd name="connsiteY25" fmla="*/ 1092200 h 1625600"/>
              <a:gd name="connsiteX26" fmla="*/ 76200 w 196850"/>
              <a:gd name="connsiteY26" fmla="*/ 1111250 h 1625600"/>
              <a:gd name="connsiteX27" fmla="*/ 114300 w 196850"/>
              <a:gd name="connsiteY27" fmla="*/ 1136650 h 1625600"/>
              <a:gd name="connsiteX28" fmla="*/ 120650 w 196850"/>
              <a:gd name="connsiteY28" fmla="*/ 1155700 h 1625600"/>
              <a:gd name="connsiteX29" fmla="*/ 139700 w 196850"/>
              <a:gd name="connsiteY29" fmla="*/ 1168400 h 1625600"/>
              <a:gd name="connsiteX30" fmla="*/ 165100 w 196850"/>
              <a:gd name="connsiteY30" fmla="*/ 1187450 h 1625600"/>
              <a:gd name="connsiteX31" fmla="*/ 190500 w 196850"/>
              <a:gd name="connsiteY31" fmla="*/ 1225550 h 1625600"/>
              <a:gd name="connsiteX32" fmla="*/ 196850 w 196850"/>
              <a:gd name="connsiteY32" fmla="*/ 1250950 h 1625600"/>
              <a:gd name="connsiteX33" fmla="*/ 190500 w 196850"/>
              <a:gd name="connsiteY33" fmla="*/ 1339850 h 1625600"/>
              <a:gd name="connsiteX34" fmla="*/ 171450 w 196850"/>
              <a:gd name="connsiteY34" fmla="*/ 1403350 h 1625600"/>
              <a:gd name="connsiteX35" fmla="*/ 158750 w 196850"/>
              <a:gd name="connsiteY35" fmla="*/ 1422400 h 1625600"/>
              <a:gd name="connsiteX36" fmla="*/ 152400 w 196850"/>
              <a:gd name="connsiteY36" fmla="*/ 1441450 h 1625600"/>
              <a:gd name="connsiteX37" fmla="*/ 127000 w 196850"/>
              <a:gd name="connsiteY37" fmla="*/ 1498600 h 1625600"/>
              <a:gd name="connsiteX38" fmla="*/ 95250 w 196850"/>
              <a:gd name="connsiteY38" fmla="*/ 1555750 h 1625600"/>
              <a:gd name="connsiteX39" fmla="*/ 95250 w 196850"/>
              <a:gd name="connsiteY39" fmla="*/ 1625600 h 1625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196850" h="1625600">
                <a:moveTo>
                  <a:pt x="127000" y="0"/>
                </a:moveTo>
                <a:cubicBezTo>
                  <a:pt x="72901" y="32460"/>
                  <a:pt x="111869" y="2917"/>
                  <a:pt x="82550" y="38100"/>
                </a:cubicBezTo>
                <a:cubicBezTo>
                  <a:pt x="68308" y="55190"/>
                  <a:pt x="59809" y="55930"/>
                  <a:pt x="50800" y="76200"/>
                </a:cubicBezTo>
                <a:cubicBezTo>
                  <a:pt x="25936" y="132143"/>
                  <a:pt x="53821" y="98579"/>
                  <a:pt x="19050" y="133350"/>
                </a:cubicBezTo>
                <a:cubicBezTo>
                  <a:pt x="3590" y="179729"/>
                  <a:pt x="9597" y="158463"/>
                  <a:pt x="0" y="196850"/>
                </a:cubicBezTo>
                <a:cubicBezTo>
                  <a:pt x="14593" y="299002"/>
                  <a:pt x="3234" y="257352"/>
                  <a:pt x="25400" y="323850"/>
                </a:cubicBezTo>
                <a:cubicBezTo>
                  <a:pt x="30227" y="338330"/>
                  <a:pt x="42333" y="349250"/>
                  <a:pt x="50800" y="361950"/>
                </a:cubicBezTo>
                <a:cubicBezTo>
                  <a:pt x="63500" y="381000"/>
                  <a:pt x="61383" y="383117"/>
                  <a:pt x="82550" y="393700"/>
                </a:cubicBezTo>
                <a:cubicBezTo>
                  <a:pt x="88537" y="396693"/>
                  <a:pt x="95250" y="397933"/>
                  <a:pt x="101600" y="400050"/>
                </a:cubicBezTo>
                <a:cubicBezTo>
                  <a:pt x="150493" y="448943"/>
                  <a:pt x="129737" y="423206"/>
                  <a:pt x="165100" y="476250"/>
                </a:cubicBezTo>
                <a:cubicBezTo>
                  <a:pt x="169333" y="482600"/>
                  <a:pt x="175387" y="488060"/>
                  <a:pt x="177800" y="495300"/>
                </a:cubicBezTo>
                <a:cubicBezTo>
                  <a:pt x="179917" y="501650"/>
                  <a:pt x="182698" y="507816"/>
                  <a:pt x="184150" y="514350"/>
                </a:cubicBezTo>
                <a:cubicBezTo>
                  <a:pt x="186943" y="526919"/>
                  <a:pt x="187975" y="539825"/>
                  <a:pt x="190500" y="552450"/>
                </a:cubicBezTo>
                <a:cubicBezTo>
                  <a:pt x="192212" y="561008"/>
                  <a:pt x="194733" y="569383"/>
                  <a:pt x="196850" y="577850"/>
                </a:cubicBezTo>
                <a:cubicBezTo>
                  <a:pt x="194733" y="605367"/>
                  <a:pt x="193923" y="633015"/>
                  <a:pt x="190500" y="660400"/>
                </a:cubicBezTo>
                <a:cubicBezTo>
                  <a:pt x="188219" y="678652"/>
                  <a:pt x="167578" y="708722"/>
                  <a:pt x="158750" y="717550"/>
                </a:cubicBezTo>
                <a:cubicBezTo>
                  <a:pt x="152400" y="723900"/>
                  <a:pt x="145449" y="729701"/>
                  <a:pt x="139700" y="736600"/>
                </a:cubicBezTo>
                <a:cubicBezTo>
                  <a:pt x="113242" y="768350"/>
                  <a:pt x="142875" y="745067"/>
                  <a:pt x="107950" y="768350"/>
                </a:cubicBezTo>
                <a:cubicBezTo>
                  <a:pt x="103717" y="774700"/>
                  <a:pt x="98663" y="780574"/>
                  <a:pt x="95250" y="787400"/>
                </a:cubicBezTo>
                <a:cubicBezTo>
                  <a:pt x="92257" y="793387"/>
                  <a:pt x="93081" y="801223"/>
                  <a:pt x="88900" y="806450"/>
                </a:cubicBezTo>
                <a:cubicBezTo>
                  <a:pt x="84132" y="812409"/>
                  <a:pt x="76200" y="814917"/>
                  <a:pt x="69850" y="819150"/>
                </a:cubicBezTo>
                <a:cubicBezTo>
                  <a:pt x="38908" y="865562"/>
                  <a:pt x="76676" y="807204"/>
                  <a:pt x="44450" y="863600"/>
                </a:cubicBezTo>
                <a:cubicBezTo>
                  <a:pt x="40664" y="870226"/>
                  <a:pt x="35163" y="875824"/>
                  <a:pt x="31750" y="882650"/>
                </a:cubicBezTo>
                <a:cubicBezTo>
                  <a:pt x="27195" y="891760"/>
                  <a:pt x="21085" y="918962"/>
                  <a:pt x="19050" y="927100"/>
                </a:cubicBezTo>
                <a:cubicBezTo>
                  <a:pt x="19267" y="930136"/>
                  <a:pt x="24826" y="1037369"/>
                  <a:pt x="31750" y="1060450"/>
                </a:cubicBezTo>
                <a:cubicBezTo>
                  <a:pt x="37042" y="1078089"/>
                  <a:pt x="49742" y="1083028"/>
                  <a:pt x="63500" y="1092200"/>
                </a:cubicBezTo>
                <a:cubicBezTo>
                  <a:pt x="67733" y="1098550"/>
                  <a:pt x="70457" y="1106224"/>
                  <a:pt x="76200" y="1111250"/>
                </a:cubicBezTo>
                <a:cubicBezTo>
                  <a:pt x="87687" y="1121301"/>
                  <a:pt x="114300" y="1136650"/>
                  <a:pt x="114300" y="1136650"/>
                </a:cubicBezTo>
                <a:cubicBezTo>
                  <a:pt x="116417" y="1143000"/>
                  <a:pt x="116469" y="1150473"/>
                  <a:pt x="120650" y="1155700"/>
                </a:cubicBezTo>
                <a:cubicBezTo>
                  <a:pt x="125418" y="1161659"/>
                  <a:pt x="133490" y="1163964"/>
                  <a:pt x="139700" y="1168400"/>
                </a:cubicBezTo>
                <a:cubicBezTo>
                  <a:pt x="148312" y="1174551"/>
                  <a:pt x="158069" y="1179540"/>
                  <a:pt x="165100" y="1187450"/>
                </a:cubicBezTo>
                <a:cubicBezTo>
                  <a:pt x="175241" y="1198858"/>
                  <a:pt x="190500" y="1225550"/>
                  <a:pt x="190500" y="1225550"/>
                </a:cubicBezTo>
                <a:cubicBezTo>
                  <a:pt x="192617" y="1234017"/>
                  <a:pt x="196850" y="1242223"/>
                  <a:pt x="196850" y="1250950"/>
                </a:cubicBezTo>
                <a:cubicBezTo>
                  <a:pt x="196850" y="1280659"/>
                  <a:pt x="193781" y="1310323"/>
                  <a:pt x="190500" y="1339850"/>
                </a:cubicBezTo>
                <a:cubicBezTo>
                  <a:pt x="188901" y="1354245"/>
                  <a:pt x="174642" y="1393773"/>
                  <a:pt x="171450" y="1403350"/>
                </a:cubicBezTo>
                <a:cubicBezTo>
                  <a:pt x="169037" y="1410590"/>
                  <a:pt x="162163" y="1415574"/>
                  <a:pt x="158750" y="1422400"/>
                </a:cubicBezTo>
                <a:cubicBezTo>
                  <a:pt x="155757" y="1428387"/>
                  <a:pt x="155393" y="1435463"/>
                  <a:pt x="152400" y="1441450"/>
                </a:cubicBezTo>
                <a:cubicBezTo>
                  <a:pt x="122211" y="1501827"/>
                  <a:pt x="159765" y="1400306"/>
                  <a:pt x="127000" y="1498600"/>
                </a:cubicBezTo>
                <a:cubicBezTo>
                  <a:pt x="119404" y="1521388"/>
                  <a:pt x="96991" y="1531377"/>
                  <a:pt x="95250" y="1555750"/>
                </a:cubicBezTo>
                <a:cubicBezTo>
                  <a:pt x="93591" y="1578974"/>
                  <a:pt x="95250" y="1602317"/>
                  <a:pt x="95250" y="1625600"/>
                </a:cubicBezTo>
              </a:path>
            </a:pathLst>
          </a:custGeom>
          <a:ln w="28575"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ln w="12700">
                <a:solidFill>
                  <a:schemeClr val="tx1"/>
                </a:solidFill>
              </a:ln>
            </a:endParaRPr>
          </a:p>
        </p:txBody>
      </p:sp>
      <p:sp>
        <p:nvSpPr>
          <p:cNvPr id="21" name="Freeform 20"/>
          <p:cNvSpPr/>
          <p:nvPr/>
        </p:nvSpPr>
        <p:spPr>
          <a:xfrm>
            <a:off x="3743219" y="2893040"/>
            <a:ext cx="180446" cy="1490133"/>
          </a:xfrm>
          <a:custGeom>
            <a:avLst/>
            <a:gdLst>
              <a:gd name="connsiteX0" fmla="*/ 127000 w 196850"/>
              <a:gd name="connsiteY0" fmla="*/ 0 h 1625600"/>
              <a:gd name="connsiteX1" fmla="*/ 82550 w 196850"/>
              <a:gd name="connsiteY1" fmla="*/ 38100 h 1625600"/>
              <a:gd name="connsiteX2" fmla="*/ 50800 w 196850"/>
              <a:gd name="connsiteY2" fmla="*/ 76200 h 1625600"/>
              <a:gd name="connsiteX3" fmla="*/ 19050 w 196850"/>
              <a:gd name="connsiteY3" fmla="*/ 133350 h 1625600"/>
              <a:gd name="connsiteX4" fmla="*/ 0 w 196850"/>
              <a:gd name="connsiteY4" fmla="*/ 196850 h 1625600"/>
              <a:gd name="connsiteX5" fmla="*/ 25400 w 196850"/>
              <a:gd name="connsiteY5" fmla="*/ 323850 h 1625600"/>
              <a:gd name="connsiteX6" fmla="*/ 50800 w 196850"/>
              <a:gd name="connsiteY6" fmla="*/ 361950 h 1625600"/>
              <a:gd name="connsiteX7" fmla="*/ 82550 w 196850"/>
              <a:gd name="connsiteY7" fmla="*/ 393700 h 1625600"/>
              <a:gd name="connsiteX8" fmla="*/ 101600 w 196850"/>
              <a:gd name="connsiteY8" fmla="*/ 400050 h 1625600"/>
              <a:gd name="connsiteX9" fmla="*/ 165100 w 196850"/>
              <a:gd name="connsiteY9" fmla="*/ 476250 h 1625600"/>
              <a:gd name="connsiteX10" fmla="*/ 177800 w 196850"/>
              <a:gd name="connsiteY10" fmla="*/ 495300 h 1625600"/>
              <a:gd name="connsiteX11" fmla="*/ 184150 w 196850"/>
              <a:gd name="connsiteY11" fmla="*/ 514350 h 1625600"/>
              <a:gd name="connsiteX12" fmla="*/ 190500 w 196850"/>
              <a:gd name="connsiteY12" fmla="*/ 552450 h 1625600"/>
              <a:gd name="connsiteX13" fmla="*/ 196850 w 196850"/>
              <a:gd name="connsiteY13" fmla="*/ 577850 h 1625600"/>
              <a:gd name="connsiteX14" fmla="*/ 190500 w 196850"/>
              <a:gd name="connsiteY14" fmla="*/ 660400 h 1625600"/>
              <a:gd name="connsiteX15" fmla="*/ 158750 w 196850"/>
              <a:gd name="connsiteY15" fmla="*/ 717550 h 1625600"/>
              <a:gd name="connsiteX16" fmla="*/ 139700 w 196850"/>
              <a:gd name="connsiteY16" fmla="*/ 736600 h 1625600"/>
              <a:gd name="connsiteX17" fmla="*/ 107950 w 196850"/>
              <a:gd name="connsiteY17" fmla="*/ 768350 h 1625600"/>
              <a:gd name="connsiteX18" fmla="*/ 95250 w 196850"/>
              <a:gd name="connsiteY18" fmla="*/ 787400 h 1625600"/>
              <a:gd name="connsiteX19" fmla="*/ 88900 w 196850"/>
              <a:gd name="connsiteY19" fmla="*/ 806450 h 1625600"/>
              <a:gd name="connsiteX20" fmla="*/ 69850 w 196850"/>
              <a:gd name="connsiteY20" fmla="*/ 819150 h 1625600"/>
              <a:gd name="connsiteX21" fmla="*/ 44450 w 196850"/>
              <a:gd name="connsiteY21" fmla="*/ 863600 h 1625600"/>
              <a:gd name="connsiteX22" fmla="*/ 31750 w 196850"/>
              <a:gd name="connsiteY22" fmla="*/ 882650 h 1625600"/>
              <a:gd name="connsiteX23" fmla="*/ 19050 w 196850"/>
              <a:gd name="connsiteY23" fmla="*/ 927100 h 1625600"/>
              <a:gd name="connsiteX24" fmla="*/ 31750 w 196850"/>
              <a:gd name="connsiteY24" fmla="*/ 1060450 h 1625600"/>
              <a:gd name="connsiteX25" fmla="*/ 63500 w 196850"/>
              <a:gd name="connsiteY25" fmla="*/ 1092200 h 1625600"/>
              <a:gd name="connsiteX26" fmla="*/ 76200 w 196850"/>
              <a:gd name="connsiteY26" fmla="*/ 1111250 h 1625600"/>
              <a:gd name="connsiteX27" fmla="*/ 114300 w 196850"/>
              <a:gd name="connsiteY27" fmla="*/ 1136650 h 1625600"/>
              <a:gd name="connsiteX28" fmla="*/ 120650 w 196850"/>
              <a:gd name="connsiteY28" fmla="*/ 1155700 h 1625600"/>
              <a:gd name="connsiteX29" fmla="*/ 139700 w 196850"/>
              <a:gd name="connsiteY29" fmla="*/ 1168400 h 1625600"/>
              <a:gd name="connsiteX30" fmla="*/ 165100 w 196850"/>
              <a:gd name="connsiteY30" fmla="*/ 1187450 h 1625600"/>
              <a:gd name="connsiteX31" fmla="*/ 190500 w 196850"/>
              <a:gd name="connsiteY31" fmla="*/ 1225550 h 1625600"/>
              <a:gd name="connsiteX32" fmla="*/ 196850 w 196850"/>
              <a:gd name="connsiteY32" fmla="*/ 1250950 h 1625600"/>
              <a:gd name="connsiteX33" fmla="*/ 190500 w 196850"/>
              <a:gd name="connsiteY33" fmla="*/ 1339850 h 1625600"/>
              <a:gd name="connsiteX34" fmla="*/ 171450 w 196850"/>
              <a:gd name="connsiteY34" fmla="*/ 1403350 h 1625600"/>
              <a:gd name="connsiteX35" fmla="*/ 158750 w 196850"/>
              <a:gd name="connsiteY35" fmla="*/ 1422400 h 1625600"/>
              <a:gd name="connsiteX36" fmla="*/ 152400 w 196850"/>
              <a:gd name="connsiteY36" fmla="*/ 1441450 h 1625600"/>
              <a:gd name="connsiteX37" fmla="*/ 127000 w 196850"/>
              <a:gd name="connsiteY37" fmla="*/ 1498600 h 1625600"/>
              <a:gd name="connsiteX38" fmla="*/ 95250 w 196850"/>
              <a:gd name="connsiteY38" fmla="*/ 1555750 h 1625600"/>
              <a:gd name="connsiteX39" fmla="*/ 95250 w 196850"/>
              <a:gd name="connsiteY39" fmla="*/ 1625600 h 1625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196850" h="1625600">
                <a:moveTo>
                  <a:pt x="127000" y="0"/>
                </a:moveTo>
                <a:cubicBezTo>
                  <a:pt x="72901" y="32460"/>
                  <a:pt x="111869" y="2917"/>
                  <a:pt x="82550" y="38100"/>
                </a:cubicBezTo>
                <a:cubicBezTo>
                  <a:pt x="68308" y="55190"/>
                  <a:pt x="59809" y="55930"/>
                  <a:pt x="50800" y="76200"/>
                </a:cubicBezTo>
                <a:cubicBezTo>
                  <a:pt x="25936" y="132143"/>
                  <a:pt x="53821" y="98579"/>
                  <a:pt x="19050" y="133350"/>
                </a:cubicBezTo>
                <a:cubicBezTo>
                  <a:pt x="3590" y="179729"/>
                  <a:pt x="9597" y="158463"/>
                  <a:pt x="0" y="196850"/>
                </a:cubicBezTo>
                <a:cubicBezTo>
                  <a:pt x="14593" y="299002"/>
                  <a:pt x="3234" y="257352"/>
                  <a:pt x="25400" y="323850"/>
                </a:cubicBezTo>
                <a:cubicBezTo>
                  <a:pt x="30227" y="338330"/>
                  <a:pt x="42333" y="349250"/>
                  <a:pt x="50800" y="361950"/>
                </a:cubicBezTo>
                <a:cubicBezTo>
                  <a:pt x="63500" y="381000"/>
                  <a:pt x="61383" y="383117"/>
                  <a:pt x="82550" y="393700"/>
                </a:cubicBezTo>
                <a:cubicBezTo>
                  <a:pt x="88537" y="396693"/>
                  <a:pt x="95250" y="397933"/>
                  <a:pt x="101600" y="400050"/>
                </a:cubicBezTo>
                <a:cubicBezTo>
                  <a:pt x="150493" y="448943"/>
                  <a:pt x="129737" y="423206"/>
                  <a:pt x="165100" y="476250"/>
                </a:cubicBezTo>
                <a:cubicBezTo>
                  <a:pt x="169333" y="482600"/>
                  <a:pt x="175387" y="488060"/>
                  <a:pt x="177800" y="495300"/>
                </a:cubicBezTo>
                <a:cubicBezTo>
                  <a:pt x="179917" y="501650"/>
                  <a:pt x="182698" y="507816"/>
                  <a:pt x="184150" y="514350"/>
                </a:cubicBezTo>
                <a:cubicBezTo>
                  <a:pt x="186943" y="526919"/>
                  <a:pt x="187975" y="539825"/>
                  <a:pt x="190500" y="552450"/>
                </a:cubicBezTo>
                <a:cubicBezTo>
                  <a:pt x="192212" y="561008"/>
                  <a:pt x="194733" y="569383"/>
                  <a:pt x="196850" y="577850"/>
                </a:cubicBezTo>
                <a:cubicBezTo>
                  <a:pt x="194733" y="605367"/>
                  <a:pt x="193923" y="633015"/>
                  <a:pt x="190500" y="660400"/>
                </a:cubicBezTo>
                <a:cubicBezTo>
                  <a:pt x="188219" y="678652"/>
                  <a:pt x="167578" y="708722"/>
                  <a:pt x="158750" y="717550"/>
                </a:cubicBezTo>
                <a:cubicBezTo>
                  <a:pt x="152400" y="723900"/>
                  <a:pt x="145449" y="729701"/>
                  <a:pt x="139700" y="736600"/>
                </a:cubicBezTo>
                <a:cubicBezTo>
                  <a:pt x="113242" y="768350"/>
                  <a:pt x="142875" y="745067"/>
                  <a:pt x="107950" y="768350"/>
                </a:cubicBezTo>
                <a:cubicBezTo>
                  <a:pt x="103717" y="774700"/>
                  <a:pt x="98663" y="780574"/>
                  <a:pt x="95250" y="787400"/>
                </a:cubicBezTo>
                <a:cubicBezTo>
                  <a:pt x="92257" y="793387"/>
                  <a:pt x="93081" y="801223"/>
                  <a:pt x="88900" y="806450"/>
                </a:cubicBezTo>
                <a:cubicBezTo>
                  <a:pt x="84132" y="812409"/>
                  <a:pt x="76200" y="814917"/>
                  <a:pt x="69850" y="819150"/>
                </a:cubicBezTo>
                <a:cubicBezTo>
                  <a:pt x="38908" y="865562"/>
                  <a:pt x="76676" y="807204"/>
                  <a:pt x="44450" y="863600"/>
                </a:cubicBezTo>
                <a:cubicBezTo>
                  <a:pt x="40664" y="870226"/>
                  <a:pt x="35163" y="875824"/>
                  <a:pt x="31750" y="882650"/>
                </a:cubicBezTo>
                <a:cubicBezTo>
                  <a:pt x="27195" y="891760"/>
                  <a:pt x="21085" y="918962"/>
                  <a:pt x="19050" y="927100"/>
                </a:cubicBezTo>
                <a:cubicBezTo>
                  <a:pt x="19267" y="930136"/>
                  <a:pt x="24826" y="1037369"/>
                  <a:pt x="31750" y="1060450"/>
                </a:cubicBezTo>
                <a:cubicBezTo>
                  <a:pt x="37042" y="1078089"/>
                  <a:pt x="49742" y="1083028"/>
                  <a:pt x="63500" y="1092200"/>
                </a:cubicBezTo>
                <a:cubicBezTo>
                  <a:pt x="67733" y="1098550"/>
                  <a:pt x="70457" y="1106224"/>
                  <a:pt x="76200" y="1111250"/>
                </a:cubicBezTo>
                <a:cubicBezTo>
                  <a:pt x="87687" y="1121301"/>
                  <a:pt x="114300" y="1136650"/>
                  <a:pt x="114300" y="1136650"/>
                </a:cubicBezTo>
                <a:cubicBezTo>
                  <a:pt x="116417" y="1143000"/>
                  <a:pt x="116469" y="1150473"/>
                  <a:pt x="120650" y="1155700"/>
                </a:cubicBezTo>
                <a:cubicBezTo>
                  <a:pt x="125418" y="1161659"/>
                  <a:pt x="133490" y="1163964"/>
                  <a:pt x="139700" y="1168400"/>
                </a:cubicBezTo>
                <a:cubicBezTo>
                  <a:pt x="148312" y="1174551"/>
                  <a:pt x="158069" y="1179540"/>
                  <a:pt x="165100" y="1187450"/>
                </a:cubicBezTo>
                <a:cubicBezTo>
                  <a:pt x="175241" y="1198858"/>
                  <a:pt x="190500" y="1225550"/>
                  <a:pt x="190500" y="1225550"/>
                </a:cubicBezTo>
                <a:cubicBezTo>
                  <a:pt x="192617" y="1234017"/>
                  <a:pt x="196850" y="1242223"/>
                  <a:pt x="196850" y="1250950"/>
                </a:cubicBezTo>
                <a:cubicBezTo>
                  <a:pt x="196850" y="1280659"/>
                  <a:pt x="193781" y="1310323"/>
                  <a:pt x="190500" y="1339850"/>
                </a:cubicBezTo>
                <a:cubicBezTo>
                  <a:pt x="188901" y="1354245"/>
                  <a:pt x="174642" y="1393773"/>
                  <a:pt x="171450" y="1403350"/>
                </a:cubicBezTo>
                <a:cubicBezTo>
                  <a:pt x="169037" y="1410590"/>
                  <a:pt x="162163" y="1415574"/>
                  <a:pt x="158750" y="1422400"/>
                </a:cubicBezTo>
                <a:cubicBezTo>
                  <a:pt x="155757" y="1428387"/>
                  <a:pt x="155393" y="1435463"/>
                  <a:pt x="152400" y="1441450"/>
                </a:cubicBezTo>
                <a:cubicBezTo>
                  <a:pt x="122211" y="1501827"/>
                  <a:pt x="159765" y="1400306"/>
                  <a:pt x="127000" y="1498600"/>
                </a:cubicBezTo>
                <a:cubicBezTo>
                  <a:pt x="119404" y="1521388"/>
                  <a:pt x="96991" y="1531377"/>
                  <a:pt x="95250" y="1555750"/>
                </a:cubicBezTo>
                <a:cubicBezTo>
                  <a:pt x="93591" y="1578974"/>
                  <a:pt x="95250" y="1602317"/>
                  <a:pt x="95250" y="1625600"/>
                </a:cubicBezTo>
              </a:path>
            </a:pathLst>
          </a:custGeom>
          <a:ln w="28575"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ln w="12700">
                <a:solidFill>
                  <a:schemeClr val="tx1"/>
                </a:solidFill>
              </a:ln>
            </a:endParaRPr>
          </a:p>
        </p:txBody>
      </p:sp>
      <p:sp>
        <p:nvSpPr>
          <p:cNvPr id="22" name="Freeform 21"/>
          <p:cNvSpPr/>
          <p:nvPr/>
        </p:nvSpPr>
        <p:spPr>
          <a:xfrm>
            <a:off x="4169304" y="2893040"/>
            <a:ext cx="180446" cy="1490133"/>
          </a:xfrm>
          <a:custGeom>
            <a:avLst/>
            <a:gdLst>
              <a:gd name="connsiteX0" fmla="*/ 127000 w 196850"/>
              <a:gd name="connsiteY0" fmla="*/ 0 h 1625600"/>
              <a:gd name="connsiteX1" fmla="*/ 82550 w 196850"/>
              <a:gd name="connsiteY1" fmla="*/ 38100 h 1625600"/>
              <a:gd name="connsiteX2" fmla="*/ 50800 w 196850"/>
              <a:gd name="connsiteY2" fmla="*/ 76200 h 1625600"/>
              <a:gd name="connsiteX3" fmla="*/ 19050 w 196850"/>
              <a:gd name="connsiteY3" fmla="*/ 133350 h 1625600"/>
              <a:gd name="connsiteX4" fmla="*/ 0 w 196850"/>
              <a:gd name="connsiteY4" fmla="*/ 196850 h 1625600"/>
              <a:gd name="connsiteX5" fmla="*/ 25400 w 196850"/>
              <a:gd name="connsiteY5" fmla="*/ 323850 h 1625600"/>
              <a:gd name="connsiteX6" fmla="*/ 50800 w 196850"/>
              <a:gd name="connsiteY6" fmla="*/ 361950 h 1625600"/>
              <a:gd name="connsiteX7" fmla="*/ 82550 w 196850"/>
              <a:gd name="connsiteY7" fmla="*/ 393700 h 1625600"/>
              <a:gd name="connsiteX8" fmla="*/ 101600 w 196850"/>
              <a:gd name="connsiteY8" fmla="*/ 400050 h 1625600"/>
              <a:gd name="connsiteX9" fmla="*/ 165100 w 196850"/>
              <a:gd name="connsiteY9" fmla="*/ 476250 h 1625600"/>
              <a:gd name="connsiteX10" fmla="*/ 177800 w 196850"/>
              <a:gd name="connsiteY10" fmla="*/ 495300 h 1625600"/>
              <a:gd name="connsiteX11" fmla="*/ 184150 w 196850"/>
              <a:gd name="connsiteY11" fmla="*/ 514350 h 1625600"/>
              <a:gd name="connsiteX12" fmla="*/ 190500 w 196850"/>
              <a:gd name="connsiteY12" fmla="*/ 552450 h 1625600"/>
              <a:gd name="connsiteX13" fmla="*/ 196850 w 196850"/>
              <a:gd name="connsiteY13" fmla="*/ 577850 h 1625600"/>
              <a:gd name="connsiteX14" fmla="*/ 190500 w 196850"/>
              <a:gd name="connsiteY14" fmla="*/ 660400 h 1625600"/>
              <a:gd name="connsiteX15" fmla="*/ 158750 w 196850"/>
              <a:gd name="connsiteY15" fmla="*/ 717550 h 1625600"/>
              <a:gd name="connsiteX16" fmla="*/ 139700 w 196850"/>
              <a:gd name="connsiteY16" fmla="*/ 736600 h 1625600"/>
              <a:gd name="connsiteX17" fmla="*/ 107950 w 196850"/>
              <a:gd name="connsiteY17" fmla="*/ 768350 h 1625600"/>
              <a:gd name="connsiteX18" fmla="*/ 95250 w 196850"/>
              <a:gd name="connsiteY18" fmla="*/ 787400 h 1625600"/>
              <a:gd name="connsiteX19" fmla="*/ 88900 w 196850"/>
              <a:gd name="connsiteY19" fmla="*/ 806450 h 1625600"/>
              <a:gd name="connsiteX20" fmla="*/ 69850 w 196850"/>
              <a:gd name="connsiteY20" fmla="*/ 819150 h 1625600"/>
              <a:gd name="connsiteX21" fmla="*/ 44450 w 196850"/>
              <a:gd name="connsiteY21" fmla="*/ 863600 h 1625600"/>
              <a:gd name="connsiteX22" fmla="*/ 31750 w 196850"/>
              <a:gd name="connsiteY22" fmla="*/ 882650 h 1625600"/>
              <a:gd name="connsiteX23" fmla="*/ 19050 w 196850"/>
              <a:gd name="connsiteY23" fmla="*/ 927100 h 1625600"/>
              <a:gd name="connsiteX24" fmla="*/ 31750 w 196850"/>
              <a:gd name="connsiteY24" fmla="*/ 1060450 h 1625600"/>
              <a:gd name="connsiteX25" fmla="*/ 63500 w 196850"/>
              <a:gd name="connsiteY25" fmla="*/ 1092200 h 1625600"/>
              <a:gd name="connsiteX26" fmla="*/ 76200 w 196850"/>
              <a:gd name="connsiteY26" fmla="*/ 1111250 h 1625600"/>
              <a:gd name="connsiteX27" fmla="*/ 114300 w 196850"/>
              <a:gd name="connsiteY27" fmla="*/ 1136650 h 1625600"/>
              <a:gd name="connsiteX28" fmla="*/ 120650 w 196850"/>
              <a:gd name="connsiteY28" fmla="*/ 1155700 h 1625600"/>
              <a:gd name="connsiteX29" fmla="*/ 139700 w 196850"/>
              <a:gd name="connsiteY29" fmla="*/ 1168400 h 1625600"/>
              <a:gd name="connsiteX30" fmla="*/ 165100 w 196850"/>
              <a:gd name="connsiteY30" fmla="*/ 1187450 h 1625600"/>
              <a:gd name="connsiteX31" fmla="*/ 190500 w 196850"/>
              <a:gd name="connsiteY31" fmla="*/ 1225550 h 1625600"/>
              <a:gd name="connsiteX32" fmla="*/ 196850 w 196850"/>
              <a:gd name="connsiteY32" fmla="*/ 1250950 h 1625600"/>
              <a:gd name="connsiteX33" fmla="*/ 190500 w 196850"/>
              <a:gd name="connsiteY33" fmla="*/ 1339850 h 1625600"/>
              <a:gd name="connsiteX34" fmla="*/ 171450 w 196850"/>
              <a:gd name="connsiteY34" fmla="*/ 1403350 h 1625600"/>
              <a:gd name="connsiteX35" fmla="*/ 158750 w 196850"/>
              <a:gd name="connsiteY35" fmla="*/ 1422400 h 1625600"/>
              <a:gd name="connsiteX36" fmla="*/ 152400 w 196850"/>
              <a:gd name="connsiteY36" fmla="*/ 1441450 h 1625600"/>
              <a:gd name="connsiteX37" fmla="*/ 127000 w 196850"/>
              <a:gd name="connsiteY37" fmla="*/ 1498600 h 1625600"/>
              <a:gd name="connsiteX38" fmla="*/ 95250 w 196850"/>
              <a:gd name="connsiteY38" fmla="*/ 1555750 h 1625600"/>
              <a:gd name="connsiteX39" fmla="*/ 95250 w 196850"/>
              <a:gd name="connsiteY39" fmla="*/ 1625600 h 1625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196850" h="1625600">
                <a:moveTo>
                  <a:pt x="127000" y="0"/>
                </a:moveTo>
                <a:cubicBezTo>
                  <a:pt x="72901" y="32460"/>
                  <a:pt x="111869" y="2917"/>
                  <a:pt x="82550" y="38100"/>
                </a:cubicBezTo>
                <a:cubicBezTo>
                  <a:pt x="68308" y="55190"/>
                  <a:pt x="59809" y="55930"/>
                  <a:pt x="50800" y="76200"/>
                </a:cubicBezTo>
                <a:cubicBezTo>
                  <a:pt x="25936" y="132143"/>
                  <a:pt x="53821" y="98579"/>
                  <a:pt x="19050" y="133350"/>
                </a:cubicBezTo>
                <a:cubicBezTo>
                  <a:pt x="3590" y="179729"/>
                  <a:pt x="9597" y="158463"/>
                  <a:pt x="0" y="196850"/>
                </a:cubicBezTo>
                <a:cubicBezTo>
                  <a:pt x="14593" y="299002"/>
                  <a:pt x="3234" y="257352"/>
                  <a:pt x="25400" y="323850"/>
                </a:cubicBezTo>
                <a:cubicBezTo>
                  <a:pt x="30227" y="338330"/>
                  <a:pt x="42333" y="349250"/>
                  <a:pt x="50800" y="361950"/>
                </a:cubicBezTo>
                <a:cubicBezTo>
                  <a:pt x="63500" y="381000"/>
                  <a:pt x="61383" y="383117"/>
                  <a:pt x="82550" y="393700"/>
                </a:cubicBezTo>
                <a:cubicBezTo>
                  <a:pt x="88537" y="396693"/>
                  <a:pt x="95250" y="397933"/>
                  <a:pt x="101600" y="400050"/>
                </a:cubicBezTo>
                <a:cubicBezTo>
                  <a:pt x="150493" y="448943"/>
                  <a:pt x="129737" y="423206"/>
                  <a:pt x="165100" y="476250"/>
                </a:cubicBezTo>
                <a:cubicBezTo>
                  <a:pt x="169333" y="482600"/>
                  <a:pt x="175387" y="488060"/>
                  <a:pt x="177800" y="495300"/>
                </a:cubicBezTo>
                <a:cubicBezTo>
                  <a:pt x="179917" y="501650"/>
                  <a:pt x="182698" y="507816"/>
                  <a:pt x="184150" y="514350"/>
                </a:cubicBezTo>
                <a:cubicBezTo>
                  <a:pt x="186943" y="526919"/>
                  <a:pt x="187975" y="539825"/>
                  <a:pt x="190500" y="552450"/>
                </a:cubicBezTo>
                <a:cubicBezTo>
                  <a:pt x="192212" y="561008"/>
                  <a:pt x="194733" y="569383"/>
                  <a:pt x="196850" y="577850"/>
                </a:cubicBezTo>
                <a:cubicBezTo>
                  <a:pt x="194733" y="605367"/>
                  <a:pt x="193923" y="633015"/>
                  <a:pt x="190500" y="660400"/>
                </a:cubicBezTo>
                <a:cubicBezTo>
                  <a:pt x="188219" y="678652"/>
                  <a:pt x="167578" y="708722"/>
                  <a:pt x="158750" y="717550"/>
                </a:cubicBezTo>
                <a:cubicBezTo>
                  <a:pt x="152400" y="723900"/>
                  <a:pt x="145449" y="729701"/>
                  <a:pt x="139700" y="736600"/>
                </a:cubicBezTo>
                <a:cubicBezTo>
                  <a:pt x="113242" y="768350"/>
                  <a:pt x="142875" y="745067"/>
                  <a:pt x="107950" y="768350"/>
                </a:cubicBezTo>
                <a:cubicBezTo>
                  <a:pt x="103717" y="774700"/>
                  <a:pt x="98663" y="780574"/>
                  <a:pt x="95250" y="787400"/>
                </a:cubicBezTo>
                <a:cubicBezTo>
                  <a:pt x="92257" y="793387"/>
                  <a:pt x="93081" y="801223"/>
                  <a:pt x="88900" y="806450"/>
                </a:cubicBezTo>
                <a:cubicBezTo>
                  <a:pt x="84132" y="812409"/>
                  <a:pt x="76200" y="814917"/>
                  <a:pt x="69850" y="819150"/>
                </a:cubicBezTo>
                <a:cubicBezTo>
                  <a:pt x="38908" y="865562"/>
                  <a:pt x="76676" y="807204"/>
                  <a:pt x="44450" y="863600"/>
                </a:cubicBezTo>
                <a:cubicBezTo>
                  <a:pt x="40664" y="870226"/>
                  <a:pt x="35163" y="875824"/>
                  <a:pt x="31750" y="882650"/>
                </a:cubicBezTo>
                <a:cubicBezTo>
                  <a:pt x="27195" y="891760"/>
                  <a:pt x="21085" y="918962"/>
                  <a:pt x="19050" y="927100"/>
                </a:cubicBezTo>
                <a:cubicBezTo>
                  <a:pt x="19267" y="930136"/>
                  <a:pt x="24826" y="1037369"/>
                  <a:pt x="31750" y="1060450"/>
                </a:cubicBezTo>
                <a:cubicBezTo>
                  <a:pt x="37042" y="1078089"/>
                  <a:pt x="49742" y="1083028"/>
                  <a:pt x="63500" y="1092200"/>
                </a:cubicBezTo>
                <a:cubicBezTo>
                  <a:pt x="67733" y="1098550"/>
                  <a:pt x="70457" y="1106224"/>
                  <a:pt x="76200" y="1111250"/>
                </a:cubicBezTo>
                <a:cubicBezTo>
                  <a:pt x="87687" y="1121301"/>
                  <a:pt x="114300" y="1136650"/>
                  <a:pt x="114300" y="1136650"/>
                </a:cubicBezTo>
                <a:cubicBezTo>
                  <a:pt x="116417" y="1143000"/>
                  <a:pt x="116469" y="1150473"/>
                  <a:pt x="120650" y="1155700"/>
                </a:cubicBezTo>
                <a:cubicBezTo>
                  <a:pt x="125418" y="1161659"/>
                  <a:pt x="133490" y="1163964"/>
                  <a:pt x="139700" y="1168400"/>
                </a:cubicBezTo>
                <a:cubicBezTo>
                  <a:pt x="148312" y="1174551"/>
                  <a:pt x="158069" y="1179540"/>
                  <a:pt x="165100" y="1187450"/>
                </a:cubicBezTo>
                <a:cubicBezTo>
                  <a:pt x="175241" y="1198858"/>
                  <a:pt x="190500" y="1225550"/>
                  <a:pt x="190500" y="1225550"/>
                </a:cubicBezTo>
                <a:cubicBezTo>
                  <a:pt x="192617" y="1234017"/>
                  <a:pt x="196850" y="1242223"/>
                  <a:pt x="196850" y="1250950"/>
                </a:cubicBezTo>
                <a:cubicBezTo>
                  <a:pt x="196850" y="1280659"/>
                  <a:pt x="193781" y="1310323"/>
                  <a:pt x="190500" y="1339850"/>
                </a:cubicBezTo>
                <a:cubicBezTo>
                  <a:pt x="188901" y="1354245"/>
                  <a:pt x="174642" y="1393773"/>
                  <a:pt x="171450" y="1403350"/>
                </a:cubicBezTo>
                <a:cubicBezTo>
                  <a:pt x="169037" y="1410590"/>
                  <a:pt x="162163" y="1415574"/>
                  <a:pt x="158750" y="1422400"/>
                </a:cubicBezTo>
                <a:cubicBezTo>
                  <a:pt x="155757" y="1428387"/>
                  <a:pt x="155393" y="1435463"/>
                  <a:pt x="152400" y="1441450"/>
                </a:cubicBezTo>
                <a:cubicBezTo>
                  <a:pt x="122211" y="1501827"/>
                  <a:pt x="159765" y="1400306"/>
                  <a:pt x="127000" y="1498600"/>
                </a:cubicBezTo>
                <a:cubicBezTo>
                  <a:pt x="119404" y="1521388"/>
                  <a:pt x="96991" y="1531377"/>
                  <a:pt x="95250" y="1555750"/>
                </a:cubicBezTo>
                <a:cubicBezTo>
                  <a:pt x="93591" y="1578974"/>
                  <a:pt x="95250" y="1602317"/>
                  <a:pt x="95250" y="1625600"/>
                </a:cubicBezTo>
              </a:path>
            </a:pathLst>
          </a:custGeom>
          <a:ln w="28575"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ln w="12700">
                <a:solidFill>
                  <a:schemeClr val="tx1"/>
                </a:solidFill>
              </a:ln>
            </a:endParaRPr>
          </a:p>
        </p:txBody>
      </p:sp>
      <p:sp>
        <p:nvSpPr>
          <p:cNvPr id="23" name="Freeform 22"/>
          <p:cNvSpPr/>
          <p:nvPr/>
        </p:nvSpPr>
        <p:spPr>
          <a:xfrm>
            <a:off x="4595389" y="2893040"/>
            <a:ext cx="180446" cy="1490133"/>
          </a:xfrm>
          <a:custGeom>
            <a:avLst/>
            <a:gdLst>
              <a:gd name="connsiteX0" fmla="*/ 127000 w 196850"/>
              <a:gd name="connsiteY0" fmla="*/ 0 h 1625600"/>
              <a:gd name="connsiteX1" fmla="*/ 82550 w 196850"/>
              <a:gd name="connsiteY1" fmla="*/ 38100 h 1625600"/>
              <a:gd name="connsiteX2" fmla="*/ 50800 w 196850"/>
              <a:gd name="connsiteY2" fmla="*/ 76200 h 1625600"/>
              <a:gd name="connsiteX3" fmla="*/ 19050 w 196850"/>
              <a:gd name="connsiteY3" fmla="*/ 133350 h 1625600"/>
              <a:gd name="connsiteX4" fmla="*/ 0 w 196850"/>
              <a:gd name="connsiteY4" fmla="*/ 196850 h 1625600"/>
              <a:gd name="connsiteX5" fmla="*/ 25400 w 196850"/>
              <a:gd name="connsiteY5" fmla="*/ 323850 h 1625600"/>
              <a:gd name="connsiteX6" fmla="*/ 50800 w 196850"/>
              <a:gd name="connsiteY6" fmla="*/ 361950 h 1625600"/>
              <a:gd name="connsiteX7" fmla="*/ 82550 w 196850"/>
              <a:gd name="connsiteY7" fmla="*/ 393700 h 1625600"/>
              <a:gd name="connsiteX8" fmla="*/ 101600 w 196850"/>
              <a:gd name="connsiteY8" fmla="*/ 400050 h 1625600"/>
              <a:gd name="connsiteX9" fmla="*/ 165100 w 196850"/>
              <a:gd name="connsiteY9" fmla="*/ 476250 h 1625600"/>
              <a:gd name="connsiteX10" fmla="*/ 177800 w 196850"/>
              <a:gd name="connsiteY10" fmla="*/ 495300 h 1625600"/>
              <a:gd name="connsiteX11" fmla="*/ 184150 w 196850"/>
              <a:gd name="connsiteY11" fmla="*/ 514350 h 1625600"/>
              <a:gd name="connsiteX12" fmla="*/ 190500 w 196850"/>
              <a:gd name="connsiteY12" fmla="*/ 552450 h 1625600"/>
              <a:gd name="connsiteX13" fmla="*/ 196850 w 196850"/>
              <a:gd name="connsiteY13" fmla="*/ 577850 h 1625600"/>
              <a:gd name="connsiteX14" fmla="*/ 190500 w 196850"/>
              <a:gd name="connsiteY14" fmla="*/ 660400 h 1625600"/>
              <a:gd name="connsiteX15" fmla="*/ 158750 w 196850"/>
              <a:gd name="connsiteY15" fmla="*/ 717550 h 1625600"/>
              <a:gd name="connsiteX16" fmla="*/ 139700 w 196850"/>
              <a:gd name="connsiteY16" fmla="*/ 736600 h 1625600"/>
              <a:gd name="connsiteX17" fmla="*/ 107950 w 196850"/>
              <a:gd name="connsiteY17" fmla="*/ 768350 h 1625600"/>
              <a:gd name="connsiteX18" fmla="*/ 95250 w 196850"/>
              <a:gd name="connsiteY18" fmla="*/ 787400 h 1625600"/>
              <a:gd name="connsiteX19" fmla="*/ 88900 w 196850"/>
              <a:gd name="connsiteY19" fmla="*/ 806450 h 1625600"/>
              <a:gd name="connsiteX20" fmla="*/ 69850 w 196850"/>
              <a:gd name="connsiteY20" fmla="*/ 819150 h 1625600"/>
              <a:gd name="connsiteX21" fmla="*/ 44450 w 196850"/>
              <a:gd name="connsiteY21" fmla="*/ 863600 h 1625600"/>
              <a:gd name="connsiteX22" fmla="*/ 31750 w 196850"/>
              <a:gd name="connsiteY22" fmla="*/ 882650 h 1625600"/>
              <a:gd name="connsiteX23" fmla="*/ 19050 w 196850"/>
              <a:gd name="connsiteY23" fmla="*/ 927100 h 1625600"/>
              <a:gd name="connsiteX24" fmla="*/ 31750 w 196850"/>
              <a:gd name="connsiteY24" fmla="*/ 1060450 h 1625600"/>
              <a:gd name="connsiteX25" fmla="*/ 63500 w 196850"/>
              <a:gd name="connsiteY25" fmla="*/ 1092200 h 1625600"/>
              <a:gd name="connsiteX26" fmla="*/ 76200 w 196850"/>
              <a:gd name="connsiteY26" fmla="*/ 1111250 h 1625600"/>
              <a:gd name="connsiteX27" fmla="*/ 114300 w 196850"/>
              <a:gd name="connsiteY27" fmla="*/ 1136650 h 1625600"/>
              <a:gd name="connsiteX28" fmla="*/ 120650 w 196850"/>
              <a:gd name="connsiteY28" fmla="*/ 1155700 h 1625600"/>
              <a:gd name="connsiteX29" fmla="*/ 139700 w 196850"/>
              <a:gd name="connsiteY29" fmla="*/ 1168400 h 1625600"/>
              <a:gd name="connsiteX30" fmla="*/ 165100 w 196850"/>
              <a:gd name="connsiteY30" fmla="*/ 1187450 h 1625600"/>
              <a:gd name="connsiteX31" fmla="*/ 190500 w 196850"/>
              <a:gd name="connsiteY31" fmla="*/ 1225550 h 1625600"/>
              <a:gd name="connsiteX32" fmla="*/ 196850 w 196850"/>
              <a:gd name="connsiteY32" fmla="*/ 1250950 h 1625600"/>
              <a:gd name="connsiteX33" fmla="*/ 190500 w 196850"/>
              <a:gd name="connsiteY33" fmla="*/ 1339850 h 1625600"/>
              <a:gd name="connsiteX34" fmla="*/ 171450 w 196850"/>
              <a:gd name="connsiteY34" fmla="*/ 1403350 h 1625600"/>
              <a:gd name="connsiteX35" fmla="*/ 158750 w 196850"/>
              <a:gd name="connsiteY35" fmla="*/ 1422400 h 1625600"/>
              <a:gd name="connsiteX36" fmla="*/ 152400 w 196850"/>
              <a:gd name="connsiteY36" fmla="*/ 1441450 h 1625600"/>
              <a:gd name="connsiteX37" fmla="*/ 127000 w 196850"/>
              <a:gd name="connsiteY37" fmla="*/ 1498600 h 1625600"/>
              <a:gd name="connsiteX38" fmla="*/ 95250 w 196850"/>
              <a:gd name="connsiteY38" fmla="*/ 1555750 h 1625600"/>
              <a:gd name="connsiteX39" fmla="*/ 95250 w 196850"/>
              <a:gd name="connsiteY39" fmla="*/ 1625600 h 1625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196850" h="1625600">
                <a:moveTo>
                  <a:pt x="127000" y="0"/>
                </a:moveTo>
                <a:cubicBezTo>
                  <a:pt x="72901" y="32460"/>
                  <a:pt x="111869" y="2917"/>
                  <a:pt x="82550" y="38100"/>
                </a:cubicBezTo>
                <a:cubicBezTo>
                  <a:pt x="68308" y="55190"/>
                  <a:pt x="59809" y="55930"/>
                  <a:pt x="50800" y="76200"/>
                </a:cubicBezTo>
                <a:cubicBezTo>
                  <a:pt x="25936" y="132143"/>
                  <a:pt x="53821" y="98579"/>
                  <a:pt x="19050" y="133350"/>
                </a:cubicBezTo>
                <a:cubicBezTo>
                  <a:pt x="3590" y="179729"/>
                  <a:pt x="9597" y="158463"/>
                  <a:pt x="0" y="196850"/>
                </a:cubicBezTo>
                <a:cubicBezTo>
                  <a:pt x="14593" y="299002"/>
                  <a:pt x="3234" y="257352"/>
                  <a:pt x="25400" y="323850"/>
                </a:cubicBezTo>
                <a:cubicBezTo>
                  <a:pt x="30227" y="338330"/>
                  <a:pt x="42333" y="349250"/>
                  <a:pt x="50800" y="361950"/>
                </a:cubicBezTo>
                <a:cubicBezTo>
                  <a:pt x="63500" y="381000"/>
                  <a:pt x="61383" y="383117"/>
                  <a:pt x="82550" y="393700"/>
                </a:cubicBezTo>
                <a:cubicBezTo>
                  <a:pt x="88537" y="396693"/>
                  <a:pt x="95250" y="397933"/>
                  <a:pt x="101600" y="400050"/>
                </a:cubicBezTo>
                <a:cubicBezTo>
                  <a:pt x="150493" y="448943"/>
                  <a:pt x="129737" y="423206"/>
                  <a:pt x="165100" y="476250"/>
                </a:cubicBezTo>
                <a:cubicBezTo>
                  <a:pt x="169333" y="482600"/>
                  <a:pt x="175387" y="488060"/>
                  <a:pt x="177800" y="495300"/>
                </a:cubicBezTo>
                <a:cubicBezTo>
                  <a:pt x="179917" y="501650"/>
                  <a:pt x="182698" y="507816"/>
                  <a:pt x="184150" y="514350"/>
                </a:cubicBezTo>
                <a:cubicBezTo>
                  <a:pt x="186943" y="526919"/>
                  <a:pt x="187975" y="539825"/>
                  <a:pt x="190500" y="552450"/>
                </a:cubicBezTo>
                <a:cubicBezTo>
                  <a:pt x="192212" y="561008"/>
                  <a:pt x="194733" y="569383"/>
                  <a:pt x="196850" y="577850"/>
                </a:cubicBezTo>
                <a:cubicBezTo>
                  <a:pt x="194733" y="605367"/>
                  <a:pt x="193923" y="633015"/>
                  <a:pt x="190500" y="660400"/>
                </a:cubicBezTo>
                <a:cubicBezTo>
                  <a:pt x="188219" y="678652"/>
                  <a:pt x="167578" y="708722"/>
                  <a:pt x="158750" y="717550"/>
                </a:cubicBezTo>
                <a:cubicBezTo>
                  <a:pt x="152400" y="723900"/>
                  <a:pt x="145449" y="729701"/>
                  <a:pt x="139700" y="736600"/>
                </a:cubicBezTo>
                <a:cubicBezTo>
                  <a:pt x="113242" y="768350"/>
                  <a:pt x="142875" y="745067"/>
                  <a:pt x="107950" y="768350"/>
                </a:cubicBezTo>
                <a:cubicBezTo>
                  <a:pt x="103717" y="774700"/>
                  <a:pt x="98663" y="780574"/>
                  <a:pt x="95250" y="787400"/>
                </a:cubicBezTo>
                <a:cubicBezTo>
                  <a:pt x="92257" y="793387"/>
                  <a:pt x="93081" y="801223"/>
                  <a:pt x="88900" y="806450"/>
                </a:cubicBezTo>
                <a:cubicBezTo>
                  <a:pt x="84132" y="812409"/>
                  <a:pt x="76200" y="814917"/>
                  <a:pt x="69850" y="819150"/>
                </a:cubicBezTo>
                <a:cubicBezTo>
                  <a:pt x="38908" y="865562"/>
                  <a:pt x="76676" y="807204"/>
                  <a:pt x="44450" y="863600"/>
                </a:cubicBezTo>
                <a:cubicBezTo>
                  <a:pt x="40664" y="870226"/>
                  <a:pt x="35163" y="875824"/>
                  <a:pt x="31750" y="882650"/>
                </a:cubicBezTo>
                <a:cubicBezTo>
                  <a:pt x="27195" y="891760"/>
                  <a:pt x="21085" y="918962"/>
                  <a:pt x="19050" y="927100"/>
                </a:cubicBezTo>
                <a:cubicBezTo>
                  <a:pt x="19267" y="930136"/>
                  <a:pt x="24826" y="1037369"/>
                  <a:pt x="31750" y="1060450"/>
                </a:cubicBezTo>
                <a:cubicBezTo>
                  <a:pt x="37042" y="1078089"/>
                  <a:pt x="49742" y="1083028"/>
                  <a:pt x="63500" y="1092200"/>
                </a:cubicBezTo>
                <a:cubicBezTo>
                  <a:pt x="67733" y="1098550"/>
                  <a:pt x="70457" y="1106224"/>
                  <a:pt x="76200" y="1111250"/>
                </a:cubicBezTo>
                <a:cubicBezTo>
                  <a:pt x="87687" y="1121301"/>
                  <a:pt x="114300" y="1136650"/>
                  <a:pt x="114300" y="1136650"/>
                </a:cubicBezTo>
                <a:cubicBezTo>
                  <a:pt x="116417" y="1143000"/>
                  <a:pt x="116469" y="1150473"/>
                  <a:pt x="120650" y="1155700"/>
                </a:cubicBezTo>
                <a:cubicBezTo>
                  <a:pt x="125418" y="1161659"/>
                  <a:pt x="133490" y="1163964"/>
                  <a:pt x="139700" y="1168400"/>
                </a:cubicBezTo>
                <a:cubicBezTo>
                  <a:pt x="148312" y="1174551"/>
                  <a:pt x="158069" y="1179540"/>
                  <a:pt x="165100" y="1187450"/>
                </a:cubicBezTo>
                <a:cubicBezTo>
                  <a:pt x="175241" y="1198858"/>
                  <a:pt x="190500" y="1225550"/>
                  <a:pt x="190500" y="1225550"/>
                </a:cubicBezTo>
                <a:cubicBezTo>
                  <a:pt x="192617" y="1234017"/>
                  <a:pt x="196850" y="1242223"/>
                  <a:pt x="196850" y="1250950"/>
                </a:cubicBezTo>
                <a:cubicBezTo>
                  <a:pt x="196850" y="1280659"/>
                  <a:pt x="193781" y="1310323"/>
                  <a:pt x="190500" y="1339850"/>
                </a:cubicBezTo>
                <a:cubicBezTo>
                  <a:pt x="188901" y="1354245"/>
                  <a:pt x="174642" y="1393773"/>
                  <a:pt x="171450" y="1403350"/>
                </a:cubicBezTo>
                <a:cubicBezTo>
                  <a:pt x="169037" y="1410590"/>
                  <a:pt x="162163" y="1415574"/>
                  <a:pt x="158750" y="1422400"/>
                </a:cubicBezTo>
                <a:cubicBezTo>
                  <a:pt x="155757" y="1428387"/>
                  <a:pt x="155393" y="1435463"/>
                  <a:pt x="152400" y="1441450"/>
                </a:cubicBezTo>
                <a:cubicBezTo>
                  <a:pt x="122211" y="1501827"/>
                  <a:pt x="159765" y="1400306"/>
                  <a:pt x="127000" y="1498600"/>
                </a:cubicBezTo>
                <a:cubicBezTo>
                  <a:pt x="119404" y="1521388"/>
                  <a:pt x="96991" y="1531377"/>
                  <a:pt x="95250" y="1555750"/>
                </a:cubicBezTo>
                <a:cubicBezTo>
                  <a:pt x="93591" y="1578974"/>
                  <a:pt x="95250" y="1602317"/>
                  <a:pt x="95250" y="1625600"/>
                </a:cubicBezTo>
              </a:path>
            </a:pathLst>
          </a:custGeom>
          <a:ln w="28575"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ln w="12700">
                <a:solidFill>
                  <a:schemeClr val="tx1"/>
                </a:solidFill>
              </a:ln>
            </a:endParaRPr>
          </a:p>
        </p:txBody>
      </p:sp>
      <p:sp>
        <p:nvSpPr>
          <p:cNvPr id="24" name="Freeform 23"/>
          <p:cNvSpPr/>
          <p:nvPr/>
        </p:nvSpPr>
        <p:spPr>
          <a:xfrm>
            <a:off x="5021474" y="2893040"/>
            <a:ext cx="180446" cy="1490133"/>
          </a:xfrm>
          <a:custGeom>
            <a:avLst/>
            <a:gdLst>
              <a:gd name="connsiteX0" fmla="*/ 127000 w 196850"/>
              <a:gd name="connsiteY0" fmla="*/ 0 h 1625600"/>
              <a:gd name="connsiteX1" fmla="*/ 82550 w 196850"/>
              <a:gd name="connsiteY1" fmla="*/ 38100 h 1625600"/>
              <a:gd name="connsiteX2" fmla="*/ 50800 w 196850"/>
              <a:gd name="connsiteY2" fmla="*/ 76200 h 1625600"/>
              <a:gd name="connsiteX3" fmla="*/ 19050 w 196850"/>
              <a:gd name="connsiteY3" fmla="*/ 133350 h 1625600"/>
              <a:gd name="connsiteX4" fmla="*/ 0 w 196850"/>
              <a:gd name="connsiteY4" fmla="*/ 196850 h 1625600"/>
              <a:gd name="connsiteX5" fmla="*/ 25400 w 196850"/>
              <a:gd name="connsiteY5" fmla="*/ 323850 h 1625600"/>
              <a:gd name="connsiteX6" fmla="*/ 50800 w 196850"/>
              <a:gd name="connsiteY6" fmla="*/ 361950 h 1625600"/>
              <a:gd name="connsiteX7" fmla="*/ 82550 w 196850"/>
              <a:gd name="connsiteY7" fmla="*/ 393700 h 1625600"/>
              <a:gd name="connsiteX8" fmla="*/ 101600 w 196850"/>
              <a:gd name="connsiteY8" fmla="*/ 400050 h 1625600"/>
              <a:gd name="connsiteX9" fmla="*/ 165100 w 196850"/>
              <a:gd name="connsiteY9" fmla="*/ 476250 h 1625600"/>
              <a:gd name="connsiteX10" fmla="*/ 177800 w 196850"/>
              <a:gd name="connsiteY10" fmla="*/ 495300 h 1625600"/>
              <a:gd name="connsiteX11" fmla="*/ 184150 w 196850"/>
              <a:gd name="connsiteY11" fmla="*/ 514350 h 1625600"/>
              <a:gd name="connsiteX12" fmla="*/ 190500 w 196850"/>
              <a:gd name="connsiteY12" fmla="*/ 552450 h 1625600"/>
              <a:gd name="connsiteX13" fmla="*/ 196850 w 196850"/>
              <a:gd name="connsiteY13" fmla="*/ 577850 h 1625600"/>
              <a:gd name="connsiteX14" fmla="*/ 190500 w 196850"/>
              <a:gd name="connsiteY14" fmla="*/ 660400 h 1625600"/>
              <a:gd name="connsiteX15" fmla="*/ 158750 w 196850"/>
              <a:gd name="connsiteY15" fmla="*/ 717550 h 1625600"/>
              <a:gd name="connsiteX16" fmla="*/ 139700 w 196850"/>
              <a:gd name="connsiteY16" fmla="*/ 736600 h 1625600"/>
              <a:gd name="connsiteX17" fmla="*/ 107950 w 196850"/>
              <a:gd name="connsiteY17" fmla="*/ 768350 h 1625600"/>
              <a:gd name="connsiteX18" fmla="*/ 95250 w 196850"/>
              <a:gd name="connsiteY18" fmla="*/ 787400 h 1625600"/>
              <a:gd name="connsiteX19" fmla="*/ 88900 w 196850"/>
              <a:gd name="connsiteY19" fmla="*/ 806450 h 1625600"/>
              <a:gd name="connsiteX20" fmla="*/ 69850 w 196850"/>
              <a:gd name="connsiteY20" fmla="*/ 819150 h 1625600"/>
              <a:gd name="connsiteX21" fmla="*/ 44450 w 196850"/>
              <a:gd name="connsiteY21" fmla="*/ 863600 h 1625600"/>
              <a:gd name="connsiteX22" fmla="*/ 31750 w 196850"/>
              <a:gd name="connsiteY22" fmla="*/ 882650 h 1625600"/>
              <a:gd name="connsiteX23" fmla="*/ 19050 w 196850"/>
              <a:gd name="connsiteY23" fmla="*/ 927100 h 1625600"/>
              <a:gd name="connsiteX24" fmla="*/ 31750 w 196850"/>
              <a:gd name="connsiteY24" fmla="*/ 1060450 h 1625600"/>
              <a:gd name="connsiteX25" fmla="*/ 63500 w 196850"/>
              <a:gd name="connsiteY25" fmla="*/ 1092200 h 1625600"/>
              <a:gd name="connsiteX26" fmla="*/ 76200 w 196850"/>
              <a:gd name="connsiteY26" fmla="*/ 1111250 h 1625600"/>
              <a:gd name="connsiteX27" fmla="*/ 114300 w 196850"/>
              <a:gd name="connsiteY27" fmla="*/ 1136650 h 1625600"/>
              <a:gd name="connsiteX28" fmla="*/ 120650 w 196850"/>
              <a:gd name="connsiteY28" fmla="*/ 1155700 h 1625600"/>
              <a:gd name="connsiteX29" fmla="*/ 139700 w 196850"/>
              <a:gd name="connsiteY29" fmla="*/ 1168400 h 1625600"/>
              <a:gd name="connsiteX30" fmla="*/ 165100 w 196850"/>
              <a:gd name="connsiteY30" fmla="*/ 1187450 h 1625600"/>
              <a:gd name="connsiteX31" fmla="*/ 190500 w 196850"/>
              <a:gd name="connsiteY31" fmla="*/ 1225550 h 1625600"/>
              <a:gd name="connsiteX32" fmla="*/ 196850 w 196850"/>
              <a:gd name="connsiteY32" fmla="*/ 1250950 h 1625600"/>
              <a:gd name="connsiteX33" fmla="*/ 190500 w 196850"/>
              <a:gd name="connsiteY33" fmla="*/ 1339850 h 1625600"/>
              <a:gd name="connsiteX34" fmla="*/ 171450 w 196850"/>
              <a:gd name="connsiteY34" fmla="*/ 1403350 h 1625600"/>
              <a:gd name="connsiteX35" fmla="*/ 158750 w 196850"/>
              <a:gd name="connsiteY35" fmla="*/ 1422400 h 1625600"/>
              <a:gd name="connsiteX36" fmla="*/ 152400 w 196850"/>
              <a:gd name="connsiteY36" fmla="*/ 1441450 h 1625600"/>
              <a:gd name="connsiteX37" fmla="*/ 127000 w 196850"/>
              <a:gd name="connsiteY37" fmla="*/ 1498600 h 1625600"/>
              <a:gd name="connsiteX38" fmla="*/ 95250 w 196850"/>
              <a:gd name="connsiteY38" fmla="*/ 1555750 h 1625600"/>
              <a:gd name="connsiteX39" fmla="*/ 95250 w 196850"/>
              <a:gd name="connsiteY39" fmla="*/ 1625600 h 1625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196850" h="1625600">
                <a:moveTo>
                  <a:pt x="127000" y="0"/>
                </a:moveTo>
                <a:cubicBezTo>
                  <a:pt x="72901" y="32460"/>
                  <a:pt x="111869" y="2917"/>
                  <a:pt x="82550" y="38100"/>
                </a:cubicBezTo>
                <a:cubicBezTo>
                  <a:pt x="68308" y="55190"/>
                  <a:pt x="59809" y="55930"/>
                  <a:pt x="50800" y="76200"/>
                </a:cubicBezTo>
                <a:cubicBezTo>
                  <a:pt x="25936" y="132143"/>
                  <a:pt x="53821" y="98579"/>
                  <a:pt x="19050" y="133350"/>
                </a:cubicBezTo>
                <a:cubicBezTo>
                  <a:pt x="3590" y="179729"/>
                  <a:pt x="9597" y="158463"/>
                  <a:pt x="0" y="196850"/>
                </a:cubicBezTo>
                <a:cubicBezTo>
                  <a:pt x="14593" y="299002"/>
                  <a:pt x="3234" y="257352"/>
                  <a:pt x="25400" y="323850"/>
                </a:cubicBezTo>
                <a:cubicBezTo>
                  <a:pt x="30227" y="338330"/>
                  <a:pt x="42333" y="349250"/>
                  <a:pt x="50800" y="361950"/>
                </a:cubicBezTo>
                <a:cubicBezTo>
                  <a:pt x="63500" y="381000"/>
                  <a:pt x="61383" y="383117"/>
                  <a:pt x="82550" y="393700"/>
                </a:cubicBezTo>
                <a:cubicBezTo>
                  <a:pt x="88537" y="396693"/>
                  <a:pt x="95250" y="397933"/>
                  <a:pt x="101600" y="400050"/>
                </a:cubicBezTo>
                <a:cubicBezTo>
                  <a:pt x="150493" y="448943"/>
                  <a:pt x="129737" y="423206"/>
                  <a:pt x="165100" y="476250"/>
                </a:cubicBezTo>
                <a:cubicBezTo>
                  <a:pt x="169333" y="482600"/>
                  <a:pt x="175387" y="488060"/>
                  <a:pt x="177800" y="495300"/>
                </a:cubicBezTo>
                <a:cubicBezTo>
                  <a:pt x="179917" y="501650"/>
                  <a:pt x="182698" y="507816"/>
                  <a:pt x="184150" y="514350"/>
                </a:cubicBezTo>
                <a:cubicBezTo>
                  <a:pt x="186943" y="526919"/>
                  <a:pt x="187975" y="539825"/>
                  <a:pt x="190500" y="552450"/>
                </a:cubicBezTo>
                <a:cubicBezTo>
                  <a:pt x="192212" y="561008"/>
                  <a:pt x="194733" y="569383"/>
                  <a:pt x="196850" y="577850"/>
                </a:cubicBezTo>
                <a:cubicBezTo>
                  <a:pt x="194733" y="605367"/>
                  <a:pt x="193923" y="633015"/>
                  <a:pt x="190500" y="660400"/>
                </a:cubicBezTo>
                <a:cubicBezTo>
                  <a:pt x="188219" y="678652"/>
                  <a:pt x="167578" y="708722"/>
                  <a:pt x="158750" y="717550"/>
                </a:cubicBezTo>
                <a:cubicBezTo>
                  <a:pt x="152400" y="723900"/>
                  <a:pt x="145449" y="729701"/>
                  <a:pt x="139700" y="736600"/>
                </a:cubicBezTo>
                <a:cubicBezTo>
                  <a:pt x="113242" y="768350"/>
                  <a:pt x="142875" y="745067"/>
                  <a:pt x="107950" y="768350"/>
                </a:cubicBezTo>
                <a:cubicBezTo>
                  <a:pt x="103717" y="774700"/>
                  <a:pt x="98663" y="780574"/>
                  <a:pt x="95250" y="787400"/>
                </a:cubicBezTo>
                <a:cubicBezTo>
                  <a:pt x="92257" y="793387"/>
                  <a:pt x="93081" y="801223"/>
                  <a:pt x="88900" y="806450"/>
                </a:cubicBezTo>
                <a:cubicBezTo>
                  <a:pt x="84132" y="812409"/>
                  <a:pt x="76200" y="814917"/>
                  <a:pt x="69850" y="819150"/>
                </a:cubicBezTo>
                <a:cubicBezTo>
                  <a:pt x="38908" y="865562"/>
                  <a:pt x="76676" y="807204"/>
                  <a:pt x="44450" y="863600"/>
                </a:cubicBezTo>
                <a:cubicBezTo>
                  <a:pt x="40664" y="870226"/>
                  <a:pt x="35163" y="875824"/>
                  <a:pt x="31750" y="882650"/>
                </a:cubicBezTo>
                <a:cubicBezTo>
                  <a:pt x="27195" y="891760"/>
                  <a:pt x="21085" y="918962"/>
                  <a:pt x="19050" y="927100"/>
                </a:cubicBezTo>
                <a:cubicBezTo>
                  <a:pt x="19267" y="930136"/>
                  <a:pt x="24826" y="1037369"/>
                  <a:pt x="31750" y="1060450"/>
                </a:cubicBezTo>
                <a:cubicBezTo>
                  <a:pt x="37042" y="1078089"/>
                  <a:pt x="49742" y="1083028"/>
                  <a:pt x="63500" y="1092200"/>
                </a:cubicBezTo>
                <a:cubicBezTo>
                  <a:pt x="67733" y="1098550"/>
                  <a:pt x="70457" y="1106224"/>
                  <a:pt x="76200" y="1111250"/>
                </a:cubicBezTo>
                <a:cubicBezTo>
                  <a:pt x="87687" y="1121301"/>
                  <a:pt x="114300" y="1136650"/>
                  <a:pt x="114300" y="1136650"/>
                </a:cubicBezTo>
                <a:cubicBezTo>
                  <a:pt x="116417" y="1143000"/>
                  <a:pt x="116469" y="1150473"/>
                  <a:pt x="120650" y="1155700"/>
                </a:cubicBezTo>
                <a:cubicBezTo>
                  <a:pt x="125418" y="1161659"/>
                  <a:pt x="133490" y="1163964"/>
                  <a:pt x="139700" y="1168400"/>
                </a:cubicBezTo>
                <a:cubicBezTo>
                  <a:pt x="148312" y="1174551"/>
                  <a:pt x="158069" y="1179540"/>
                  <a:pt x="165100" y="1187450"/>
                </a:cubicBezTo>
                <a:cubicBezTo>
                  <a:pt x="175241" y="1198858"/>
                  <a:pt x="190500" y="1225550"/>
                  <a:pt x="190500" y="1225550"/>
                </a:cubicBezTo>
                <a:cubicBezTo>
                  <a:pt x="192617" y="1234017"/>
                  <a:pt x="196850" y="1242223"/>
                  <a:pt x="196850" y="1250950"/>
                </a:cubicBezTo>
                <a:cubicBezTo>
                  <a:pt x="196850" y="1280659"/>
                  <a:pt x="193781" y="1310323"/>
                  <a:pt x="190500" y="1339850"/>
                </a:cubicBezTo>
                <a:cubicBezTo>
                  <a:pt x="188901" y="1354245"/>
                  <a:pt x="174642" y="1393773"/>
                  <a:pt x="171450" y="1403350"/>
                </a:cubicBezTo>
                <a:cubicBezTo>
                  <a:pt x="169037" y="1410590"/>
                  <a:pt x="162163" y="1415574"/>
                  <a:pt x="158750" y="1422400"/>
                </a:cubicBezTo>
                <a:cubicBezTo>
                  <a:pt x="155757" y="1428387"/>
                  <a:pt x="155393" y="1435463"/>
                  <a:pt x="152400" y="1441450"/>
                </a:cubicBezTo>
                <a:cubicBezTo>
                  <a:pt x="122211" y="1501827"/>
                  <a:pt x="159765" y="1400306"/>
                  <a:pt x="127000" y="1498600"/>
                </a:cubicBezTo>
                <a:cubicBezTo>
                  <a:pt x="119404" y="1521388"/>
                  <a:pt x="96991" y="1531377"/>
                  <a:pt x="95250" y="1555750"/>
                </a:cubicBezTo>
                <a:cubicBezTo>
                  <a:pt x="93591" y="1578974"/>
                  <a:pt x="95250" y="1602317"/>
                  <a:pt x="95250" y="1625600"/>
                </a:cubicBezTo>
              </a:path>
            </a:pathLst>
          </a:custGeom>
          <a:ln w="28575"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ln w="12700">
                <a:solidFill>
                  <a:schemeClr val="tx1"/>
                </a:solidFill>
              </a:ln>
            </a:endParaRPr>
          </a:p>
        </p:txBody>
      </p:sp>
      <p:sp>
        <p:nvSpPr>
          <p:cNvPr id="25" name="Freeform 24"/>
          <p:cNvSpPr/>
          <p:nvPr/>
        </p:nvSpPr>
        <p:spPr>
          <a:xfrm>
            <a:off x="5447559" y="2893040"/>
            <a:ext cx="180446" cy="1490133"/>
          </a:xfrm>
          <a:custGeom>
            <a:avLst/>
            <a:gdLst>
              <a:gd name="connsiteX0" fmla="*/ 127000 w 196850"/>
              <a:gd name="connsiteY0" fmla="*/ 0 h 1625600"/>
              <a:gd name="connsiteX1" fmla="*/ 82550 w 196850"/>
              <a:gd name="connsiteY1" fmla="*/ 38100 h 1625600"/>
              <a:gd name="connsiteX2" fmla="*/ 50800 w 196850"/>
              <a:gd name="connsiteY2" fmla="*/ 76200 h 1625600"/>
              <a:gd name="connsiteX3" fmla="*/ 19050 w 196850"/>
              <a:gd name="connsiteY3" fmla="*/ 133350 h 1625600"/>
              <a:gd name="connsiteX4" fmla="*/ 0 w 196850"/>
              <a:gd name="connsiteY4" fmla="*/ 196850 h 1625600"/>
              <a:gd name="connsiteX5" fmla="*/ 25400 w 196850"/>
              <a:gd name="connsiteY5" fmla="*/ 323850 h 1625600"/>
              <a:gd name="connsiteX6" fmla="*/ 50800 w 196850"/>
              <a:gd name="connsiteY6" fmla="*/ 361950 h 1625600"/>
              <a:gd name="connsiteX7" fmla="*/ 82550 w 196850"/>
              <a:gd name="connsiteY7" fmla="*/ 393700 h 1625600"/>
              <a:gd name="connsiteX8" fmla="*/ 101600 w 196850"/>
              <a:gd name="connsiteY8" fmla="*/ 400050 h 1625600"/>
              <a:gd name="connsiteX9" fmla="*/ 165100 w 196850"/>
              <a:gd name="connsiteY9" fmla="*/ 476250 h 1625600"/>
              <a:gd name="connsiteX10" fmla="*/ 177800 w 196850"/>
              <a:gd name="connsiteY10" fmla="*/ 495300 h 1625600"/>
              <a:gd name="connsiteX11" fmla="*/ 184150 w 196850"/>
              <a:gd name="connsiteY11" fmla="*/ 514350 h 1625600"/>
              <a:gd name="connsiteX12" fmla="*/ 190500 w 196850"/>
              <a:gd name="connsiteY12" fmla="*/ 552450 h 1625600"/>
              <a:gd name="connsiteX13" fmla="*/ 196850 w 196850"/>
              <a:gd name="connsiteY13" fmla="*/ 577850 h 1625600"/>
              <a:gd name="connsiteX14" fmla="*/ 190500 w 196850"/>
              <a:gd name="connsiteY14" fmla="*/ 660400 h 1625600"/>
              <a:gd name="connsiteX15" fmla="*/ 158750 w 196850"/>
              <a:gd name="connsiteY15" fmla="*/ 717550 h 1625600"/>
              <a:gd name="connsiteX16" fmla="*/ 139700 w 196850"/>
              <a:gd name="connsiteY16" fmla="*/ 736600 h 1625600"/>
              <a:gd name="connsiteX17" fmla="*/ 107950 w 196850"/>
              <a:gd name="connsiteY17" fmla="*/ 768350 h 1625600"/>
              <a:gd name="connsiteX18" fmla="*/ 95250 w 196850"/>
              <a:gd name="connsiteY18" fmla="*/ 787400 h 1625600"/>
              <a:gd name="connsiteX19" fmla="*/ 88900 w 196850"/>
              <a:gd name="connsiteY19" fmla="*/ 806450 h 1625600"/>
              <a:gd name="connsiteX20" fmla="*/ 69850 w 196850"/>
              <a:gd name="connsiteY20" fmla="*/ 819150 h 1625600"/>
              <a:gd name="connsiteX21" fmla="*/ 44450 w 196850"/>
              <a:gd name="connsiteY21" fmla="*/ 863600 h 1625600"/>
              <a:gd name="connsiteX22" fmla="*/ 31750 w 196850"/>
              <a:gd name="connsiteY22" fmla="*/ 882650 h 1625600"/>
              <a:gd name="connsiteX23" fmla="*/ 19050 w 196850"/>
              <a:gd name="connsiteY23" fmla="*/ 927100 h 1625600"/>
              <a:gd name="connsiteX24" fmla="*/ 31750 w 196850"/>
              <a:gd name="connsiteY24" fmla="*/ 1060450 h 1625600"/>
              <a:gd name="connsiteX25" fmla="*/ 63500 w 196850"/>
              <a:gd name="connsiteY25" fmla="*/ 1092200 h 1625600"/>
              <a:gd name="connsiteX26" fmla="*/ 76200 w 196850"/>
              <a:gd name="connsiteY26" fmla="*/ 1111250 h 1625600"/>
              <a:gd name="connsiteX27" fmla="*/ 114300 w 196850"/>
              <a:gd name="connsiteY27" fmla="*/ 1136650 h 1625600"/>
              <a:gd name="connsiteX28" fmla="*/ 120650 w 196850"/>
              <a:gd name="connsiteY28" fmla="*/ 1155700 h 1625600"/>
              <a:gd name="connsiteX29" fmla="*/ 139700 w 196850"/>
              <a:gd name="connsiteY29" fmla="*/ 1168400 h 1625600"/>
              <a:gd name="connsiteX30" fmla="*/ 165100 w 196850"/>
              <a:gd name="connsiteY30" fmla="*/ 1187450 h 1625600"/>
              <a:gd name="connsiteX31" fmla="*/ 190500 w 196850"/>
              <a:gd name="connsiteY31" fmla="*/ 1225550 h 1625600"/>
              <a:gd name="connsiteX32" fmla="*/ 196850 w 196850"/>
              <a:gd name="connsiteY32" fmla="*/ 1250950 h 1625600"/>
              <a:gd name="connsiteX33" fmla="*/ 190500 w 196850"/>
              <a:gd name="connsiteY33" fmla="*/ 1339850 h 1625600"/>
              <a:gd name="connsiteX34" fmla="*/ 171450 w 196850"/>
              <a:gd name="connsiteY34" fmla="*/ 1403350 h 1625600"/>
              <a:gd name="connsiteX35" fmla="*/ 158750 w 196850"/>
              <a:gd name="connsiteY35" fmla="*/ 1422400 h 1625600"/>
              <a:gd name="connsiteX36" fmla="*/ 152400 w 196850"/>
              <a:gd name="connsiteY36" fmla="*/ 1441450 h 1625600"/>
              <a:gd name="connsiteX37" fmla="*/ 127000 w 196850"/>
              <a:gd name="connsiteY37" fmla="*/ 1498600 h 1625600"/>
              <a:gd name="connsiteX38" fmla="*/ 95250 w 196850"/>
              <a:gd name="connsiteY38" fmla="*/ 1555750 h 1625600"/>
              <a:gd name="connsiteX39" fmla="*/ 95250 w 196850"/>
              <a:gd name="connsiteY39" fmla="*/ 1625600 h 1625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196850" h="1625600">
                <a:moveTo>
                  <a:pt x="127000" y="0"/>
                </a:moveTo>
                <a:cubicBezTo>
                  <a:pt x="72901" y="32460"/>
                  <a:pt x="111869" y="2917"/>
                  <a:pt x="82550" y="38100"/>
                </a:cubicBezTo>
                <a:cubicBezTo>
                  <a:pt x="68308" y="55190"/>
                  <a:pt x="59809" y="55930"/>
                  <a:pt x="50800" y="76200"/>
                </a:cubicBezTo>
                <a:cubicBezTo>
                  <a:pt x="25936" y="132143"/>
                  <a:pt x="53821" y="98579"/>
                  <a:pt x="19050" y="133350"/>
                </a:cubicBezTo>
                <a:cubicBezTo>
                  <a:pt x="3590" y="179729"/>
                  <a:pt x="9597" y="158463"/>
                  <a:pt x="0" y="196850"/>
                </a:cubicBezTo>
                <a:cubicBezTo>
                  <a:pt x="14593" y="299002"/>
                  <a:pt x="3234" y="257352"/>
                  <a:pt x="25400" y="323850"/>
                </a:cubicBezTo>
                <a:cubicBezTo>
                  <a:pt x="30227" y="338330"/>
                  <a:pt x="42333" y="349250"/>
                  <a:pt x="50800" y="361950"/>
                </a:cubicBezTo>
                <a:cubicBezTo>
                  <a:pt x="63500" y="381000"/>
                  <a:pt x="61383" y="383117"/>
                  <a:pt x="82550" y="393700"/>
                </a:cubicBezTo>
                <a:cubicBezTo>
                  <a:pt x="88537" y="396693"/>
                  <a:pt x="95250" y="397933"/>
                  <a:pt x="101600" y="400050"/>
                </a:cubicBezTo>
                <a:cubicBezTo>
                  <a:pt x="150493" y="448943"/>
                  <a:pt x="129737" y="423206"/>
                  <a:pt x="165100" y="476250"/>
                </a:cubicBezTo>
                <a:cubicBezTo>
                  <a:pt x="169333" y="482600"/>
                  <a:pt x="175387" y="488060"/>
                  <a:pt x="177800" y="495300"/>
                </a:cubicBezTo>
                <a:cubicBezTo>
                  <a:pt x="179917" y="501650"/>
                  <a:pt x="182698" y="507816"/>
                  <a:pt x="184150" y="514350"/>
                </a:cubicBezTo>
                <a:cubicBezTo>
                  <a:pt x="186943" y="526919"/>
                  <a:pt x="187975" y="539825"/>
                  <a:pt x="190500" y="552450"/>
                </a:cubicBezTo>
                <a:cubicBezTo>
                  <a:pt x="192212" y="561008"/>
                  <a:pt x="194733" y="569383"/>
                  <a:pt x="196850" y="577850"/>
                </a:cubicBezTo>
                <a:cubicBezTo>
                  <a:pt x="194733" y="605367"/>
                  <a:pt x="193923" y="633015"/>
                  <a:pt x="190500" y="660400"/>
                </a:cubicBezTo>
                <a:cubicBezTo>
                  <a:pt x="188219" y="678652"/>
                  <a:pt x="167578" y="708722"/>
                  <a:pt x="158750" y="717550"/>
                </a:cubicBezTo>
                <a:cubicBezTo>
                  <a:pt x="152400" y="723900"/>
                  <a:pt x="145449" y="729701"/>
                  <a:pt x="139700" y="736600"/>
                </a:cubicBezTo>
                <a:cubicBezTo>
                  <a:pt x="113242" y="768350"/>
                  <a:pt x="142875" y="745067"/>
                  <a:pt x="107950" y="768350"/>
                </a:cubicBezTo>
                <a:cubicBezTo>
                  <a:pt x="103717" y="774700"/>
                  <a:pt x="98663" y="780574"/>
                  <a:pt x="95250" y="787400"/>
                </a:cubicBezTo>
                <a:cubicBezTo>
                  <a:pt x="92257" y="793387"/>
                  <a:pt x="93081" y="801223"/>
                  <a:pt x="88900" y="806450"/>
                </a:cubicBezTo>
                <a:cubicBezTo>
                  <a:pt x="84132" y="812409"/>
                  <a:pt x="76200" y="814917"/>
                  <a:pt x="69850" y="819150"/>
                </a:cubicBezTo>
                <a:cubicBezTo>
                  <a:pt x="38908" y="865562"/>
                  <a:pt x="76676" y="807204"/>
                  <a:pt x="44450" y="863600"/>
                </a:cubicBezTo>
                <a:cubicBezTo>
                  <a:pt x="40664" y="870226"/>
                  <a:pt x="35163" y="875824"/>
                  <a:pt x="31750" y="882650"/>
                </a:cubicBezTo>
                <a:cubicBezTo>
                  <a:pt x="27195" y="891760"/>
                  <a:pt x="21085" y="918962"/>
                  <a:pt x="19050" y="927100"/>
                </a:cubicBezTo>
                <a:cubicBezTo>
                  <a:pt x="19267" y="930136"/>
                  <a:pt x="24826" y="1037369"/>
                  <a:pt x="31750" y="1060450"/>
                </a:cubicBezTo>
                <a:cubicBezTo>
                  <a:pt x="37042" y="1078089"/>
                  <a:pt x="49742" y="1083028"/>
                  <a:pt x="63500" y="1092200"/>
                </a:cubicBezTo>
                <a:cubicBezTo>
                  <a:pt x="67733" y="1098550"/>
                  <a:pt x="70457" y="1106224"/>
                  <a:pt x="76200" y="1111250"/>
                </a:cubicBezTo>
                <a:cubicBezTo>
                  <a:pt x="87687" y="1121301"/>
                  <a:pt x="114300" y="1136650"/>
                  <a:pt x="114300" y="1136650"/>
                </a:cubicBezTo>
                <a:cubicBezTo>
                  <a:pt x="116417" y="1143000"/>
                  <a:pt x="116469" y="1150473"/>
                  <a:pt x="120650" y="1155700"/>
                </a:cubicBezTo>
                <a:cubicBezTo>
                  <a:pt x="125418" y="1161659"/>
                  <a:pt x="133490" y="1163964"/>
                  <a:pt x="139700" y="1168400"/>
                </a:cubicBezTo>
                <a:cubicBezTo>
                  <a:pt x="148312" y="1174551"/>
                  <a:pt x="158069" y="1179540"/>
                  <a:pt x="165100" y="1187450"/>
                </a:cubicBezTo>
                <a:cubicBezTo>
                  <a:pt x="175241" y="1198858"/>
                  <a:pt x="190500" y="1225550"/>
                  <a:pt x="190500" y="1225550"/>
                </a:cubicBezTo>
                <a:cubicBezTo>
                  <a:pt x="192617" y="1234017"/>
                  <a:pt x="196850" y="1242223"/>
                  <a:pt x="196850" y="1250950"/>
                </a:cubicBezTo>
                <a:cubicBezTo>
                  <a:pt x="196850" y="1280659"/>
                  <a:pt x="193781" y="1310323"/>
                  <a:pt x="190500" y="1339850"/>
                </a:cubicBezTo>
                <a:cubicBezTo>
                  <a:pt x="188901" y="1354245"/>
                  <a:pt x="174642" y="1393773"/>
                  <a:pt x="171450" y="1403350"/>
                </a:cubicBezTo>
                <a:cubicBezTo>
                  <a:pt x="169037" y="1410590"/>
                  <a:pt x="162163" y="1415574"/>
                  <a:pt x="158750" y="1422400"/>
                </a:cubicBezTo>
                <a:cubicBezTo>
                  <a:pt x="155757" y="1428387"/>
                  <a:pt x="155393" y="1435463"/>
                  <a:pt x="152400" y="1441450"/>
                </a:cubicBezTo>
                <a:cubicBezTo>
                  <a:pt x="122211" y="1501827"/>
                  <a:pt x="159765" y="1400306"/>
                  <a:pt x="127000" y="1498600"/>
                </a:cubicBezTo>
                <a:cubicBezTo>
                  <a:pt x="119404" y="1521388"/>
                  <a:pt x="96991" y="1531377"/>
                  <a:pt x="95250" y="1555750"/>
                </a:cubicBezTo>
                <a:cubicBezTo>
                  <a:pt x="93591" y="1578974"/>
                  <a:pt x="95250" y="1602317"/>
                  <a:pt x="95250" y="1625600"/>
                </a:cubicBezTo>
              </a:path>
            </a:pathLst>
          </a:custGeom>
          <a:ln w="28575"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ln w="12700">
                <a:solidFill>
                  <a:schemeClr val="tx1"/>
                </a:solidFill>
              </a:ln>
            </a:endParaRPr>
          </a:p>
        </p:txBody>
      </p:sp>
      <p:sp>
        <p:nvSpPr>
          <p:cNvPr id="26" name="Freeform 25"/>
          <p:cNvSpPr/>
          <p:nvPr/>
        </p:nvSpPr>
        <p:spPr>
          <a:xfrm>
            <a:off x="5873644" y="2893040"/>
            <a:ext cx="180446" cy="1490133"/>
          </a:xfrm>
          <a:custGeom>
            <a:avLst/>
            <a:gdLst>
              <a:gd name="connsiteX0" fmla="*/ 127000 w 196850"/>
              <a:gd name="connsiteY0" fmla="*/ 0 h 1625600"/>
              <a:gd name="connsiteX1" fmla="*/ 82550 w 196850"/>
              <a:gd name="connsiteY1" fmla="*/ 38100 h 1625600"/>
              <a:gd name="connsiteX2" fmla="*/ 50800 w 196850"/>
              <a:gd name="connsiteY2" fmla="*/ 76200 h 1625600"/>
              <a:gd name="connsiteX3" fmla="*/ 19050 w 196850"/>
              <a:gd name="connsiteY3" fmla="*/ 133350 h 1625600"/>
              <a:gd name="connsiteX4" fmla="*/ 0 w 196850"/>
              <a:gd name="connsiteY4" fmla="*/ 196850 h 1625600"/>
              <a:gd name="connsiteX5" fmla="*/ 25400 w 196850"/>
              <a:gd name="connsiteY5" fmla="*/ 323850 h 1625600"/>
              <a:gd name="connsiteX6" fmla="*/ 50800 w 196850"/>
              <a:gd name="connsiteY6" fmla="*/ 361950 h 1625600"/>
              <a:gd name="connsiteX7" fmla="*/ 82550 w 196850"/>
              <a:gd name="connsiteY7" fmla="*/ 393700 h 1625600"/>
              <a:gd name="connsiteX8" fmla="*/ 101600 w 196850"/>
              <a:gd name="connsiteY8" fmla="*/ 400050 h 1625600"/>
              <a:gd name="connsiteX9" fmla="*/ 165100 w 196850"/>
              <a:gd name="connsiteY9" fmla="*/ 476250 h 1625600"/>
              <a:gd name="connsiteX10" fmla="*/ 177800 w 196850"/>
              <a:gd name="connsiteY10" fmla="*/ 495300 h 1625600"/>
              <a:gd name="connsiteX11" fmla="*/ 184150 w 196850"/>
              <a:gd name="connsiteY11" fmla="*/ 514350 h 1625600"/>
              <a:gd name="connsiteX12" fmla="*/ 190500 w 196850"/>
              <a:gd name="connsiteY12" fmla="*/ 552450 h 1625600"/>
              <a:gd name="connsiteX13" fmla="*/ 196850 w 196850"/>
              <a:gd name="connsiteY13" fmla="*/ 577850 h 1625600"/>
              <a:gd name="connsiteX14" fmla="*/ 190500 w 196850"/>
              <a:gd name="connsiteY14" fmla="*/ 660400 h 1625600"/>
              <a:gd name="connsiteX15" fmla="*/ 158750 w 196850"/>
              <a:gd name="connsiteY15" fmla="*/ 717550 h 1625600"/>
              <a:gd name="connsiteX16" fmla="*/ 139700 w 196850"/>
              <a:gd name="connsiteY16" fmla="*/ 736600 h 1625600"/>
              <a:gd name="connsiteX17" fmla="*/ 107950 w 196850"/>
              <a:gd name="connsiteY17" fmla="*/ 768350 h 1625600"/>
              <a:gd name="connsiteX18" fmla="*/ 95250 w 196850"/>
              <a:gd name="connsiteY18" fmla="*/ 787400 h 1625600"/>
              <a:gd name="connsiteX19" fmla="*/ 88900 w 196850"/>
              <a:gd name="connsiteY19" fmla="*/ 806450 h 1625600"/>
              <a:gd name="connsiteX20" fmla="*/ 69850 w 196850"/>
              <a:gd name="connsiteY20" fmla="*/ 819150 h 1625600"/>
              <a:gd name="connsiteX21" fmla="*/ 44450 w 196850"/>
              <a:gd name="connsiteY21" fmla="*/ 863600 h 1625600"/>
              <a:gd name="connsiteX22" fmla="*/ 31750 w 196850"/>
              <a:gd name="connsiteY22" fmla="*/ 882650 h 1625600"/>
              <a:gd name="connsiteX23" fmla="*/ 19050 w 196850"/>
              <a:gd name="connsiteY23" fmla="*/ 927100 h 1625600"/>
              <a:gd name="connsiteX24" fmla="*/ 31750 w 196850"/>
              <a:gd name="connsiteY24" fmla="*/ 1060450 h 1625600"/>
              <a:gd name="connsiteX25" fmla="*/ 63500 w 196850"/>
              <a:gd name="connsiteY25" fmla="*/ 1092200 h 1625600"/>
              <a:gd name="connsiteX26" fmla="*/ 76200 w 196850"/>
              <a:gd name="connsiteY26" fmla="*/ 1111250 h 1625600"/>
              <a:gd name="connsiteX27" fmla="*/ 114300 w 196850"/>
              <a:gd name="connsiteY27" fmla="*/ 1136650 h 1625600"/>
              <a:gd name="connsiteX28" fmla="*/ 120650 w 196850"/>
              <a:gd name="connsiteY28" fmla="*/ 1155700 h 1625600"/>
              <a:gd name="connsiteX29" fmla="*/ 139700 w 196850"/>
              <a:gd name="connsiteY29" fmla="*/ 1168400 h 1625600"/>
              <a:gd name="connsiteX30" fmla="*/ 165100 w 196850"/>
              <a:gd name="connsiteY30" fmla="*/ 1187450 h 1625600"/>
              <a:gd name="connsiteX31" fmla="*/ 190500 w 196850"/>
              <a:gd name="connsiteY31" fmla="*/ 1225550 h 1625600"/>
              <a:gd name="connsiteX32" fmla="*/ 196850 w 196850"/>
              <a:gd name="connsiteY32" fmla="*/ 1250950 h 1625600"/>
              <a:gd name="connsiteX33" fmla="*/ 190500 w 196850"/>
              <a:gd name="connsiteY33" fmla="*/ 1339850 h 1625600"/>
              <a:gd name="connsiteX34" fmla="*/ 171450 w 196850"/>
              <a:gd name="connsiteY34" fmla="*/ 1403350 h 1625600"/>
              <a:gd name="connsiteX35" fmla="*/ 158750 w 196850"/>
              <a:gd name="connsiteY35" fmla="*/ 1422400 h 1625600"/>
              <a:gd name="connsiteX36" fmla="*/ 152400 w 196850"/>
              <a:gd name="connsiteY36" fmla="*/ 1441450 h 1625600"/>
              <a:gd name="connsiteX37" fmla="*/ 127000 w 196850"/>
              <a:gd name="connsiteY37" fmla="*/ 1498600 h 1625600"/>
              <a:gd name="connsiteX38" fmla="*/ 95250 w 196850"/>
              <a:gd name="connsiteY38" fmla="*/ 1555750 h 1625600"/>
              <a:gd name="connsiteX39" fmla="*/ 95250 w 196850"/>
              <a:gd name="connsiteY39" fmla="*/ 1625600 h 1625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196850" h="1625600">
                <a:moveTo>
                  <a:pt x="127000" y="0"/>
                </a:moveTo>
                <a:cubicBezTo>
                  <a:pt x="72901" y="32460"/>
                  <a:pt x="111869" y="2917"/>
                  <a:pt x="82550" y="38100"/>
                </a:cubicBezTo>
                <a:cubicBezTo>
                  <a:pt x="68308" y="55190"/>
                  <a:pt x="59809" y="55930"/>
                  <a:pt x="50800" y="76200"/>
                </a:cubicBezTo>
                <a:cubicBezTo>
                  <a:pt x="25936" y="132143"/>
                  <a:pt x="53821" y="98579"/>
                  <a:pt x="19050" y="133350"/>
                </a:cubicBezTo>
                <a:cubicBezTo>
                  <a:pt x="3590" y="179729"/>
                  <a:pt x="9597" y="158463"/>
                  <a:pt x="0" y="196850"/>
                </a:cubicBezTo>
                <a:cubicBezTo>
                  <a:pt x="14593" y="299002"/>
                  <a:pt x="3234" y="257352"/>
                  <a:pt x="25400" y="323850"/>
                </a:cubicBezTo>
                <a:cubicBezTo>
                  <a:pt x="30227" y="338330"/>
                  <a:pt x="42333" y="349250"/>
                  <a:pt x="50800" y="361950"/>
                </a:cubicBezTo>
                <a:cubicBezTo>
                  <a:pt x="63500" y="381000"/>
                  <a:pt x="61383" y="383117"/>
                  <a:pt x="82550" y="393700"/>
                </a:cubicBezTo>
                <a:cubicBezTo>
                  <a:pt x="88537" y="396693"/>
                  <a:pt x="95250" y="397933"/>
                  <a:pt x="101600" y="400050"/>
                </a:cubicBezTo>
                <a:cubicBezTo>
                  <a:pt x="150493" y="448943"/>
                  <a:pt x="129737" y="423206"/>
                  <a:pt x="165100" y="476250"/>
                </a:cubicBezTo>
                <a:cubicBezTo>
                  <a:pt x="169333" y="482600"/>
                  <a:pt x="175387" y="488060"/>
                  <a:pt x="177800" y="495300"/>
                </a:cubicBezTo>
                <a:cubicBezTo>
                  <a:pt x="179917" y="501650"/>
                  <a:pt x="182698" y="507816"/>
                  <a:pt x="184150" y="514350"/>
                </a:cubicBezTo>
                <a:cubicBezTo>
                  <a:pt x="186943" y="526919"/>
                  <a:pt x="187975" y="539825"/>
                  <a:pt x="190500" y="552450"/>
                </a:cubicBezTo>
                <a:cubicBezTo>
                  <a:pt x="192212" y="561008"/>
                  <a:pt x="194733" y="569383"/>
                  <a:pt x="196850" y="577850"/>
                </a:cubicBezTo>
                <a:cubicBezTo>
                  <a:pt x="194733" y="605367"/>
                  <a:pt x="193923" y="633015"/>
                  <a:pt x="190500" y="660400"/>
                </a:cubicBezTo>
                <a:cubicBezTo>
                  <a:pt x="188219" y="678652"/>
                  <a:pt x="167578" y="708722"/>
                  <a:pt x="158750" y="717550"/>
                </a:cubicBezTo>
                <a:cubicBezTo>
                  <a:pt x="152400" y="723900"/>
                  <a:pt x="145449" y="729701"/>
                  <a:pt x="139700" y="736600"/>
                </a:cubicBezTo>
                <a:cubicBezTo>
                  <a:pt x="113242" y="768350"/>
                  <a:pt x="142875" y="745067"/>
                  <a:pt x="107950" y="768350"/>
                </a:cubicBezTo>
                <a:cubicBezTo>
                  <a:pt x="103717" y="774700"/>
                  <a:pt x="98663" y="780574"/>
                  <a:pt x="95250" y="787400"/>
                </a:cubicBezTo>
                <a:cubicBezTo>
                  <a:pt x="92257" y="793387"/>
                  <a:pt x="93081" y="801223"/>
                  <a:pt x="88900" y="806450"/>
                </a:cubicBezTo>
                <a:cubicBezTo>
                  <a:pt x="84132" y="812409"/>
                  <a:pt x="76200" y="814917"/>
                  <a:pt x="69850" y="819150"/>
                </a:cubicBezTo>
                <a:cubicBezTo>
                  <a:pt x="38908" y="865562"/>
                  <a:pt x="76676" y="807204"/>
                  <a:pt x="44450" y="863600"/>
                </a:cubicBezTo>
                <a:cubicBezTo>
                  <a:pt x="40664" y="870226"/>
                  <a:pt x="35163" y="875824"/>
                  <a:pt x="31750" y="882650"/>
                </a:cubicBezTo>
                <a:cubicBezTo>
                  <a:pt x="27195" y="891760"/>
                  <a:pt x="21085" y="918962"/>
                  <a:pt x="19050" y="927100"/>
                </a:cubicBezTo>
                <a:cubicBezTo>
                  <a:pt x="19267" y="930136"/>
                  <a:pt x="24826" y="1037369"/>
                  <a:pt x="31750" y="1060450"/>
                </a:cubicBezTo>
                <a:cubicBezTo>
                  <a:pt x="37042" y="1078089"/>
                  <a:pt x="49742" y="1083028"/>
                  <a:pt x="63500" y="1092200"/>
                </a:cubicBezTo>
                <a:cubicBezTo>
                  <a:pt x="67733" y="1098550"/>
                  <a:pt x="70457" y="1106224"/>
                  <a:pt x="76200" y="1111250"/>
                </a:cubicBezTo>
                <a:cubicBezTo>
                  <a:pt x="87687" y="1121301"/>
                  <a:pt x="114300" y="1136650"/>
                  <a:pt x="114300" y="1136650"/>
                </a:cubicBezTo>
                <a:cubicBezTo>
                  <a:pt x="116417" y="1143000"/>
                  <a:pt x="116469" y="1150473"/>
                  <a:pt x="120650" y="1155700"/>
                </a:cubicBezTo>
                <a:cubicBezTo>
                  <a:pt x="125418" y="1161659"/>
                  <a:pt x="133490" y="1163964"/>
                  <a:pt x="139700" y="1168400"/>
                </a:cubicBezTo>
                <a:cubicBezTo>
                  <a:pt x="148312" y="1174551"/>
                  <a:pt x="158069" y="1179540"/>
                  <a:pt x="165100" y="1187450"/>
                </a:cubicBezTo>
                <a:cubicBezTo>
                  <a:pt x="175241" y="1198858"/>
                  <a:pt x="190500" y="1225550"/>
                  <a:pt x="190500" y="1225550"/>
                </a:cubicBezTo>
                <a:cubicBezTo>
                  <a:pt x="192617" y="1234017"/>
                  <a:pt x="196850" y="1242223"/>
                  <a:pt x="196850" y="1250950"/>
                </a:cubicBezTo>
                <a:cubicBezTo>
                  <a:pt x="196850" y="1280659"/>
                  <a:pt x="193781" y="1310323"/>
                  <a:pt x="190500" y="1339850"/>
                </a:cubicBezTo>
                <a:cubicBezTo>
                  <a:pt x="188901" y="1354245"/>
                  <a:pt x="174642" y="1393773"/>
                  <a:pt x="171450" y="1403350"/>
                </a:cubicBezTo>
                <a:cubicBezTo>
                  <a:pt x="169037" y="1410590"/>
                  <a:pt x="162163" y="1415574"/>
                  <a:pt x="158750" y="1422400"/>
                </a:cubicBezTo>
                <a:cubicBezTo>
                  <a:pt x="155757" y="1428387"/>
                  <a:pt x="155393" y="1435463"/>
                  <a:pt x="152400" y="1441450"/>
                </a:cubicBezTo>
                <a:cubicBezTo>
                  <a:pt x="122211" y="1501827"/>
                  <a:pt x="159765" y="1400306"/>
                  <a:pt x="127000" y="1498600"/>
                </a:cubicBezTo>
                <a:cubicBezTo>
                  <a:pt x="119404" y="1521388"/>
                  <a:pt x="96991" y="1531377"/>
                  <a:pt x="95250" y="1555750"/>
                </a:cubicBezTo>
                <a:cubicBezTo>
                  <a:pt x="93591" y="1578974"/>
                  <a:pt x="95250" y="1602317"/>
                  <a:pt x="95250" y="1625600"/>
                </a:cubicBezTo>
              </a:path>
            </a:pathLst>
          </a:custGeom>
          <a:ln w="28575"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ln w="12700">
                <a:solidFill>
                  <a:schemeClr val="tx1"/>
                </a:solidFill>
              </a:ln>
            </a:endParaRPr>
          </a:p>
        </p:txBody>
      </p:sp>
      <p:sp>
        <p:nvSpPr>
          <p:cNvPr id="27" name="Freeform 26"/>
          <p:cNvSpPr/>
          <p:nvPr/>
        </p:nvSpPr>
        <p:spPr>
          <a:xfrm>
            <a:off x="6299729" y="2893040"/>
            <a:ext cx="180446" cy="1490133"/>
          </a:xfrm>
          <a:custGeom>
            <a:avLst/>
            <a:gdLst>
              <a:gd name="connsiteX0" fmla="*/ 127000 w 196850"/>
              <a:gd name="connsiteY0" fmla="*/ 0 h 1625600"/>
              <a:gd name="connsiteX1" fmla="*/ 82550 w 196850"/>
              <a:gd name="connsiteY1" fmla="*/ 38100 h 1625600"/>
              <a:gd name="connsiteX2" fmla="*/ 50800 w 196850"/>
              <a:gd name="connsiteY2" fmla="*/ 76200 h 1625600"/>
              <a:gd name="connsiteX3" fmla="*/ 19050 w 196850"/>
              <a:gd name="connsiteY3" fmla="*/ 133350 h 1625600"/>
              <a:gd name="connsiteX4" fmla="*/ 0 w 196850"/>
              <a:gd name="connsiteY4" fmla="*/ 196850 h 1625600"/>
              <a:gd name="connsiteX5" fmla="*/ 25400 w 196850"/>
              <a:gd name="connsiteY5" fmla="*/ 323850 h 1625600"/>
              <a:gd name="connsiteX6" fmla="*/ 50800 w 196850"/>
              <a:gd name="connsiteY6" fmla="*/ 361950 h 1625600"/>
              <a:gd name="connsiteX7" fmla="*/ 82550 w 196850"/>
              <a:gd name="connsiteY7" fmla="*/ 393700 h 1625600"/>
              <a:gd name="connsiteX8" fmla="*/ 101600 w 196850"/>
              <a:gd name="connsiteY8" fmla="*/ 400050 h 1625600"/>
              <a:gd name="connsiteX9" fmla="*/ 165100 w 196850"/>
              <a:gd name="connsiteY9" fmla="*/ 476250 h 1625600"/>
              <a:gd name="connsiteX10" fmla="*/ 177800 w 196850"/>
              <a:gd name="connsiteY10" fmla="*/ 495300 h 1625600"/>
              <a:gd name="connsiteX11" fmla="*/ 184150 w 196850"/>
              <a:gd name="connsiteY11" fmla="*/ 514350 h 1625600"/>
              <a:gd name="connsiteX12" fmla="*/ 190500 w 196850"/>
              <a:gd name="connsiteY12" fmla="*/ 552450 h 1625600"/>
              <a:gd name="connsiteX13" fmla="*/ 196850 w 196850"/>
              <a:gd name="connsiteY13" fmla="*/ 577850 h 1625600"/>
              <a:gd name="connsiteX14" fmla="*/ 190500 w 196850"/>
              <a:gd name="connsiteY14" fmla="*/ 660400 h 1625600"/>
              <a:gd name="connsiteX15" fmla="*/ 158750 w 196850"/>
              <a:gd name="connsiteY15" fmla="*/ 717550 h 1625600"/>
              <a:gd name="connsiteX16" fmla="*/ 139700 w 196850"/>
              <a:gd name="connsiteY16" fmla="*/ 736600 h 1625600"/>
              <a:gd name="connsiteX17" fmla="*/ 107950 w 196850"/>
              <a:gd name="connsiteY17" fmla="*/ 768350 h 1625600"/>
              <a:gd name="connsiteX18" fmla="*/ 95250 w 196850"/>
              <a:gd name="connsiteY18" fmla="*/ 787400 h 1625600"/>
              <a:gd name="connsiteX19" fmla="*/ 88900 w 196850"/>
              <a:gd name="connsiteY19" fmla="*/ 806450 h 1625600"/>
              <a:gd name="connsiteX20" fmla="*/ 69850 w 196850"/>
              <a:gd name="connsiteY20" fmla="*/ 819150 h 1625600"/>
              <a:gd name="connsiteX21" fmla="*/ 44450 w 196850"/>
              <a:gd name="connsiteY21" fmla="*/ 863600 h 1625600"/>
              <a:gd name="connsiteX22" fmla="*/ 31750 w 196850"/>
              <a:gd name="connsiteY22" fmla="*/ 882650 h 1625600"/>
              <a:gd name="connsiteX23" fmla="*/ 19050 w 196850"/>
              <a:gd name="connsiteY23" fmla="*/ 927100 h 1625600"/>
              <a:gd name="connsiteX24" fmla="*/ 31750 w 196850"/>
              <a:gd name="connsiteY24" fmla="*/ 1060450 h 1625600"/>
              <a:gd name="connsiteX25" fmla="*/ 63500 w 196850"/>
              <a:gd name="connsiteY25" fmla="*/ 1092200 h 1625600"/>
              <a:gd name="connsiteX26" fmla="*/ 76200 w 196850"/>
              <a:gd name="connsiteY26" fmla="*/ 1111250 h 1625600"/>
              <a:gd name="connsiteX27" fmla="*/ 114300 w 196850"/>
              <a:gd name="connsiteY27" fmla="*/ 1136650 h 1625600"/>
              <a:gd name="connsiteX28" fmla="*/ 120650 w 196850"/>
              <a:gd name="connsiteY28" fmla="*/ 1155700 h 1625600"/>
              <a:gd name="connsiteX29" fmla="*/ 139700 w 196850"/>
              <a:gd name="connsiteY29" fmla="*/ 1168400 h 1625600"/>
              <a:gd name="connsiteX30" fmla="*/ 165100 w 196850"/>
              <a:gd name="connsiteY30" fmla="*/ 1187450 h 1625600"/>
              <a:gd name="connsiteX31" fmla="*/ 190500 w 196850"/>
              <a:gd name="connsiteY31" fmla="*/ 1225550 h 1625600"/>
              <a:gd name="connsiteX32" fmla="*/ 196850 w 196850"/>
              <a:gd name="connsiteY32" fmla="*/ 1250950 h 1625600"/>
              <a:gd name="connsiteX33" fmla="*/ 190500 w 196850"/>
              <a:gd name="connsiteY33" fmla="*/ 1339850 h 1625600"/>
              <a:gd name="connsiteX34" fmla="*/ 171450 w 196850"/>
              <a:gd name="connsiteY34" fmla="*/ 1403350 h 1625600"/>
              <a:gd name="connsiteX35" fmla="*/ 158750 w 196850"/>
              <a:gd name="connsiteY35" fmla="*/ 1422400 h 1625600"/>
              <a:gd name="connsiteX36" fmla="*/ 152400 w 196850"/>
              <a:gd name="connsiteY36" fmla="*/ 1441450 h 1625600"/>
              <a:gd name="connsiteX37" fmla="*/ 127000 w 196850"/>
              <a:gd name="connsiteY37" fmla="*/ 1498600 h 1625600"/>
              <a:gd name="connsiteX38" fmla="*/ 95250 w 196850"/>
              <a:gd name="connsiteY38" fmla="*/ 1555750 h 1625600"/>
              <a:gd name="connsiteX39" fmla="*/ 95250 w 196850"/>
              <a:gd name="connsiteY39" fmla="*/ 1625600 h 1625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196850" h="1625600">
                <a:moveTo>
                  <a:pt x="127000" y="0"/>
                </a:moveTo>
                <a:cubicBezTo>
                  <a:pt x="72901" y="32460"/>
                  <a:pt x="111869" y="2917"/>
                  <a:pt x="82550" y="38100"/>
                </a:cubicBezTo>
                <a:cubicBezTo>
                  <a:pt x="68308" y="55190"/>
                  <a:pt x="59809" y="55930"/>
                  <a:pt x="50800" y="76200"/>
                </a:cubicBezTo>
                <a:cubicBezTo>
                  <a:pt x="25936" y="132143"/>
                  <a:pt x="53821" y="98579"/>
                  <a:pt x="19050" y="133350"/>
                </a:cubicBezTo>
                <a:cubicBezTo>
                  <a:pt x="3590" y="179729"/>
                  <a:pt x="9597" y="158463"/>
                  <a:pt x="0" y="196850"/>
                </a:cubicBezTo>
                <a:cubicBezTo>
                  <a:pt x="14593" y="299002"/>
                  <a:pt x="3234" y="257352"/>
                  <a:pt x="25400" y="323850"/>
                </a:cubicBezTo>
                <a:cubicBezTo>
                  <a:pt x="30227" y="338330"/>
                  <a:pt x="42333" y="349250"/>
                  <a:pt x="50800" y="361950"/>
                </a:cubicBezTo>
                <a:cubicBezTo>
                  <a:pt x="63500" y="381000"/>
                  <a:pt x="61383" y="383117"/>
                  <a:pt x="82550" y="393700"/>
                </a:cubicBezTo>
                <a:cubicBezTo>
                  <a:pt x="88537" y="396693"/>
                  <a:pt x="95250" y="397933"/>
                  <a:pt x="101600" y="400050"/>
                </a:cubicBezTo>
                <a:cubicBezTo>
                  <a:pt x="150493" y="448943"/>
                  <a:pt x="129737" y="423206"/>
                  <a:pt x="165100" y="476250"/>
                </a:cubicBezTo>
                <a:cubicBezTo>
                  <a:pt x="169333" y="482600"/>
                  <a:pt x="175387" y="488060"/>
                  <a:pt x="177800" y="495300"/>
                </a:cubicBezTo>
                <a:cubicBezTo>
                  <a:pt x="179917" y="501650"/>
                  <a:pt x="182698" y="507816"/>
                  <a:pt x="184150" y="514350"/>
                </a:cubicBezTo>
                <a:cubicBezTo>
                  <a:pt x="186943" y="526919"/>
                  <a:pt x="187975" y="539825"/>
                  <a:pt x="190500" y="552450"/>
                </a:cubicBezTo>
                <a:cubicBezTo>
                  <a:pt x="192212" y="561008"/>
                  <a:pt x="194733" y="569383"/>
                  <a:pt x="196850" y="577850"/>
                </a:cubicBezTo>
                <a:cubicBezTo>
                  <a:pt x="194733" y="605367"/>
                  <a:pt x="193923" y="633015"/>
                  <a:pt x="190500" y="660400"/>
                </a:cubicBezTo>
                <a:cubicBezTo>
                  <a:pt x="188219" y="678652"/>
                  <a:pt x="167578" y="708722"/>
                  <a:pt x="158750" y="717550"/>
                </a:cubicBezTo>
                <a:cubicBezTo>
                  <a:pt x="152400" y="723900"/>
                  <a:pt x="145449" y="729701"/>
                  <a:pt x="139700" y="736600"/>
                </a:cubicBezTo>
                <a:cubicBezTo>
                  <a:pt x="113242" y="768350"/>
                  <a:pt x="142875" y="745067"/>
                  <a:pt x="107950" y="768350"/>
                </a:cubicBezTo>
                <a:cubicBezTo>
                  <a:pt x="103717" y="774700"/>
                  <a:pt x="98663" y="780574"/>
                  <a:pt x="95250" y="787400"/>
                </a:cubicBezTo>
                <a:cubicBezTo>
                  <a:pt x="92257" y="793387"/>
                  <a:pt x="93081" y="801223"/>
                  <a:pt x="88900" y="806450"/>
                </a:cubicBezTo>
                <a:cubicBezTo>
                  <a:pt x="84132" y="812409"/>
                  <a:pt x="76200" y="814917"/>
                  <a:pt x="69850" y="819150"/>
                </a:cubicBezTo>
                <a:cubicBezTo>
                  <a:pt x="38908" y="865562"/>
                  <a:pt x="76676" y="807204"/>
                  <a:pt x="44450" y="863600"/>
                </a:cubicBezTo>
                <a:cubicBezTo>
                  <a:pt x="40664" y="870226"/>
                  <a:pt x="35163" y="875824"/>
                  <a:pt x="31750" y="882650"/>
                </a:cubicBezTo>
                <a:cubicBezTo>
                  <a:pt x="27195" y="891760"/>
                  <a:pt x="21085" y="918962"/>
                  <a:pt x="19050" y="927100"/>
                </a:cubicBezTo>
                <a:cubicBezTo>
                  <a:pt x="19267" y="930136"/>
                  <a:pt x="24826" y="1037369"/>
                  <a:pt x="31750" y="1060450"/>
                </a:cubicBezTo>
                <a:cubicBezTo>
                  <a:pt x="37042" y="1078089"/>
                  <a:pt x="49742" y="1083028"/>
                  <a:pt x="63500" y="1092200"/>
                </a:cubicBezTo>
                <a:cubicBezTo>
                  <a:pt x="67733" y="1098550"/>
                  <a:pt x="70457" y="1106224"/>
                  <a:pt x="76200" y="1111250"/>
                </a:cubicBezTo>
                <a:cubicBezTo>
                  <a:pt x="87687" y="1121301"/>
                  <a:pt x="114300" y="1136650"/>
                  <a:pt x="114300" y="1136650"/>
                </a:cubicBezTo>
                <a:cubicBezTo>
                  <a:pt x="116417" y="1143000"/>
                  <a:pt x="116469" y="1150473"/>
                  <a:pt x="120650" y="1155700"/>
                </a:cubicBezTo>
                <a:cubicBezTo>
                  <a:pt x="125418" y="1161659"/>
                  <a:pt x="133490" y="1163964"/>
                  <a:pt x="139700" y="1168400"/>
                </a:cubicBezTo>
                <a:cubicBezTo>
                  <a:pt x="148312" y="1174551"/>
                  <a:pt x="158069" y="1179540"/>
                  <a:pt x="165100" y="1187450"/>
                </a:cubicBezTo>
                <a:cubicBezTo>
                  <a:pt x="175241" y="1198858"/>
                  <a:pt x="190500" y="1225550"/>
                  <a:pt x="190500" y="1225550"/>
                </a:cubicBezTo>
                <a:cubicBezTo>
                  <a:pt x="192617" y="1234017"/>
                  <a:pt x="196850" y="1242223"/>
                  <a:pt x="196850" y="1250950"/>
                </a:cubicBezTo>
                <a:cubicBezTo>
                  <a:pt x="196850" y="1280659"/>
                  <a:pt x="193781" y="1310323"/>
                  <a:pt x="190500" y="1339850"/>
                </a:cubicBezTo>
                <a:cubicBezTo>
                  <a:pt x="188901" y="1354245"/>
                  <a:pt x="174642" y="1393773"/>
                  <a:pt x="171450" y="1403350"/>
                </a:cubicBezTo>
                <a:cubicBezTo>
                  <a:pt x="169037" y="1410590"/>
                  <a:pt x="162163" y="1415574"/>
                  <a:pt x="158750" y="1422400"/>
                </a:cubicBezTo>
                <a:cubicBezTo>
                  <a:pt x="155757" y="1428387"/>
                  <a:pt x="155393" y="1435463"/>
                  <a:pt x="152400" y="1441450"/>
                </a:cubicBezTo>
                <a:cubicBezTo>
                  <a:pt x="122211" y="1501827"/>
                  <a:pt x="159765" y="1400306"/>
                  <a:pt x="127000" y="1498600"/>
                </a:cubicBezTo>
                <a:cubicBezTo>
                  <a:pt x="119404" y="1521388"/>
                  <a:pt x="96991" y="1531377"/>
                  <a:pt x="95250" y="1555750"/>
                </a:cubicBezTo>
                <a:cubicBezTo>
                  <a:pt x="93591" y="1578974"/>
                  <a:pt x="95250" y="1602317"/>
                  <a:pt x="95250" y="1625600"/>
                </a:cubicBezTo>
              </a:path>
            </a:pathLst>
          </a:custGeom>
          <a:ln w="28575"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ln w="12700">
                <a:solidFill>
                  <a:schemeClr val="tx1"/>
                </a:solidFill>
              </a:ln>
            </a:endParaRPr>
          </a:p>
        </p:txBody>
      </p:sp>
      <p:sp>
        <p:nvSpPr>
          <p:cNvPr id="28" name="Freeform 27"/>
          <p:cNvSpPr/>
          <p:nvPr/>
        </p:nvSpPr>
        <p:spPr>
          <a:xfrm>
            <a:off x="6725814" y="2893040"/>
            <a:ext cx="180446" cy="1490133"/>
          </a:xfrm>
          <a:custGeom>
            <a:avLst/>
            <a:gdLst>
              <a:gd name="connsiteX0" fmla="*/ 127000 w 196850"/>
              <a:gd name="connsiteY0" fmla="*/ 0 h 1625600"/>
              <a:gd name="connsiteX1" fmla="*/ 82550 w 196850"/>
              <a:gd name="connsiteY1" fmla="*/ 38100 h 1625600"/>
              <a:gd name="connsiteX2" fmla="*/ 50800 w 196850"/>
              <a:gd name="connsiteY2" fmla="*/ 76200 h 1625600"/>
              <a:gd name="connsiteX3" fmla="*/ 19050 w 196850"/>
              <a:gd name="connsiteY3" fmla="*/ 133350 h 1625600"/>
              <a:gd name="connsiteX4" fmla="*/ 0 w 196850"/>
              <a:gd name="connsiteY4" fmla="*/ 196850 h 1625600"/>
              <a:gd name="connsiteX5" fmla="*/ 25400 w 196850"/>
              <a:gd name="connsiteY5" fmla="*/ 323850 h 1625600"/>
              <a:gd name="connsiteX6" fmla="*/ 50800 w 196850"/>
              <a:gd name="connsiteY6" fmla="*/ 361950 h 1625600"/>
              <a:gd name="connsiteX7" fmla="*/ 82550 w 196850"/>
              <a:gd name="connsiteY7" fmla="*/ 393700 h 1625600"/>
              <a:gd name="connsiteX8" fmla="*/ 101600 w 196850"/>
              <a:gd name="connsiteY8" fmla="*/ 400050 h 1625600"/>
              <a:gd name="connsiteX9" fmla="*/ 165100 w 196850"/>
              <a:gd name="connsiteY9" fmla="*/ 476250 h 1625600"/>
              <a:gd name="connsiteX10" fmla="*/ 177800 w 196850"/>
              <a:gd name="connsiteY10" fmla="*/ 495300 h 1625600"/>
              <a:gd name="connsiteX11" fmla="*/ 184150 w 196850"/>
              <a:gd name="connsiteY11" fmla="*/ 514350 h 1625600"/>
              <a:gd name="connsiteX12" fmla="*/ 190500 w 196850"/>
              <a:gd name="connsiteY12" fmla="*/ 552450 h 1625600"/>
              <a:gd name="connsiteX13" fmla="*/ 196850 w 196850"/>
              <a:gd name="connsiteY13" fmla="*/ 577850 h 1625600"/>
              <a:gd name="connsiteX14" fmla="*/ 190500 w 196850"/>
              <a:gd name="connsiteY14" fmla="*/ 660400 h 1625600"/>
              <a:gd name="connsiteX15" fmla="*/ 158750 w 196850"/>
              <a:gd name="connsiteY15" fmla="*/ 717550 h 1625600"/>
              <a:gd name="connsiteX16" fmla="*/ 139700 w 196850"/>
              <a:gd name="connsiteY16" fmla="*/ 736600 h 1625600"/>
              <a:gd name="connsiteX17" fmla="*/ 107950 w 196850"/>
              <a:gd name="connsiteY17" fmla="*/ 768350 h 1625600"/>
              <a:gd name="connsiteX18" fmla="*/ 95250 w 196850"/>
              <a:gd name="connsiteY18" fmla="*/ 787400 h 1625600"/>
              <a:gd name="connsiteX19" fmla="*/ 88900 w 196850"/>
              <a:gd name="connsiteY19" fmla="*/ 806450 h 1625600"/>
              <a:gd name="connsiteX20" fmla="*/ 69850 w 196850"/>
              <a:gd name="connsiteY20" fmla="*/ 819150 h 1625600"/>
              <a:gd name="connsiteX21" fmla="*/ 44450 w 196850"/>
              <a:gd name="connsiteY21" fmla="*/ 863600 h 1625600"/>
              <a:gd name="connsiteX22" fmla="*/ 31750 w 196850"/>
              <a:gd name="connsiteY22" fmla="*/ 882650 h 1625600"/>
              <a:gd name="connsiteX23" fmla="*/ 19050 w 196850"/>
              <a:gd name="connsiteY23" fmla="*/ 927100 h 1625600"/>
              <a:gd name="connsiteX24" fmla="*/ 31750 w 196850"/>
              <a:gd name="connsiteY24" fmla="*/ 1060450 h 1625600"/>
              <a:gd name="connsiteX25" fmla="*/ 63500 w 196850"/>
              <a:gd name="connsiteY25" fmla="*/ 1092200 h 1625600"/>
              <a:gd name="connsiteX26" fmla="*/ 76200 w 196850"/>
              <a:gd name="connsiteY26" fmla="*/ 1111250 h 1625600"/>
              <a:gd name="connsiteX27" fmla="*/ 114300 w 196850"/>
              <a:gd name="connsiteY27" fmla="*/ 1136650 h 1625600"/>
              <a:gd name="connsiteX28" fmla="*/ 120650 w 196850"/>
              <a:gd name="connsiteY28" fmla="*/ 1155700 h 1625600"/>
              <a:gd name="connsiteX29" fmla="*/ 139700 w 196850"/>
              <a:gd name="connsiteY29" fmla="*/ 1168400 h 1625600"/>
              <a:gd name="connsiteX30" fmla="*/ 165100 w 196850"/>
              <a:gd name="connsiteY30" fmla="*/ 1187450 h 1625600"/>
              <a:gd name="connsiteX31" fmla="*/ 190500 w 196850"/>
              <a:gd name="connsiteY31" fmla="*/ 1225550 h 1625600"/>
              <a:gd name="connsiteX32" fmla="*/ 196850 w 196850"/>
              <a:gd name="connsiteY32" fmla="*/ 1250950 h 1625600"/>
              <a:gd name="connsiteX33" fmla="*/ 190500 w 196850"/>
              <a:gd name="connsiteY33" fmla="*/ 1339850 h 1625600"/>
              <a:gd name="connsiteX34" fmla="*/ 171450 w 196850"/>
              <a:gd name="connsiteY34" fmla="*/ 1403350 h 1625600"/>
              <a:gd name="connsiteX35" fmla="*/ 158750 w 196850"/>
              <a:gd name="connsiteY35" fmla="*/ 1422400 h 1625600"/>
              <a:gd name="connsiteX36" fmla="*/ 152400 w 196850"/>
              <a:gd name="connsiteY36" fmla="*/ 1441450 h 1625600"/>
              <a:gd name="connsiteX37" fmla="*/ 127000 w 196850"/>
              <a:gd name="connsiteY37" fmla="*/ 1498600 h 1625600"/>
              <a:gd name="connsiteX38" fmla="*/ 95250 w 196850"/>
              <a:gd name="connsiteY38" fmla="*/ 1555750 h 1625600"/>
              <a:gd name="connsiteX39" fmla="*/ 95250 w 196850"/>
              <a:gd name="connsiteY39" fmla="*/ 1625600 h 1625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196850" h="1625600">
                <a:moveTo>
                  <a:pt x="127000" y="0"/>
                </a:moveTo>
                <a:cubicBezTo>
                  <a:pt x="72901" y="32460"/>
                  <a:pt x="111869" y="2917"/>
                  <a:pt x="82550" y="38100"/>
                </a:cubicBezTo>
                <a:cubicBezTo>
                  <a:pt x="68308" y="55190"/>
                  <a:pt x="59809" y="55930"/>
                  <a:pt x="50800" y="76200"/>
                </a:cubicBezTo>
                <a:cubicBezTo>
                  <a:pt x="25936" y="132143"/>
                  <a:pt x="53821" y="98579"/>
                  <a:pt x="19050" y="133350"/>
                </a:cubicBezTo>
                <a:cubicBezTo>
                  <a:pt x="3590" y="179729"/>
                  <a:pt x="9597" y="158463"/>
                  <a:pt x="0" y="196850"/>
                </a:cubicBezTo>
                <a:cubicBezTo>
                  <a:pt x="14593" y="299002"/>
                  <a:pt x="3234" y="257352"/>
                  <a:pt x="25400" y="323850"/>
                </a:cubicBezTo>
                <a:cubicBezTo>
                  <a:pt x="30227" y="338330"/>
                  <a:pt x="42333" y="349250"/>
                  <a:pt x="50800" y="361950"/>
                </a:cubicBezTo>
                <a:cubicBezTo>
                  <a:pt x="63500" y="381000"/>
                  <a:pt x="61383" y="383117"/>
                  <a:pt x="82550" y="393700"/>
                </a:cubicBezTo>
                <a:cubicBezTo>
                  <a:pt x="88537" y="396693"/>
                  <a:pt x="95250" y="397933"/>
                  <a:pt x="101600" y="400050"/>
                </a:cubicBezTo>
                <a:cubicBezTo>
                  <a:pt x="150493" y="448943"/>
                  <a:pt x="129737" y="423206"/>
                  <a:pt x="165100" y="476250"/>
                </a:cubicBezTo>
                <a:cubicBezTo>
                  <a:pt x="169333" y="482600"/>
                  <a:pt x="175387" y="488060"/>
                  <a:pt x="177800" y="495300"/>
                </a:cubicBezTo>
                <a:cubicBezTo>
                  <a:pt x="179917" y="501650"/>
                  <a:pt x="182698" y="507816"/>
                  <a:pt x="184150" y="514350"/>
                </a:cubicBezTo>
                <a:cubicBezTo>
                  <a:pt x="186943" y="526919"/>
                  <a:pt x="187975" y="539825"/>
                  <a:pt x="190500" y="552450"/>
                </a:cubicBezTo>
                <a:cubicBezTo>
                  <a:pt x="192212" y="561008"/>
                  <a:pt x="194733" y="569383"/>
                  <a:pt x="196850" y="577850"/>
                </a:cubicBezTo>
                <a:cubicBezTo>
                  <a:pt x="194733" y="605367"/>
                  <a:pt x="193923" y="633015"/>
                  <a:pt x="190500" y="660400"/>
                </a:cubicBezTo>
                <a:cubicBezTo>
                  <a:pt x="188219" y="678652"/>
                  <a:pt x="167578" y="708722"/>
                  <a:pt x="158750" y="717550"/>
                </a:cubicBezTo>
                <a:cubicBezTo>
                  <a:pt x="152400" y="723900"/>
                  <a:pt x="145449" y="729701"/>
                  <a:pt x="139700" y="736600"/>
                </a:cubicBezTo>
                <a:cubicBezTo>
                  <a:pt x="113242" y="768350"/>
                  <a:pt x="142875" y="745067"/>
                  <a:pt x="107950" y="768350"/>
                </a:cubicBezTo>
                <a:cubicBezTo>
                  <a:pt x="103717" y="774700"/>
                  <a:pt x="98663" y="780574"/>
                  <a:pt x="95250" y="787400"/>
                </a:cubicBezTo>
                <a:cubicBezTo>
                  <a:pt x="92257" y="793387"/>
                  <a:pt x="93081" y="801223"/>
                  <a:pt x="88900" y="806450"/>
                </a:cubicBezTo>
                <a:cubicBezTo>
                  <a:pt x="84132" y="812409"/>
                  <a:pt x="76200" y="814917"/>
                  <a:pt x="69850" y="819150"/>
                </a:cubicBezTo>
                <a:cubicBezTo>
                  <a:pt x="38908" y="865562"/>
                  <a:pt x="76676" y="807204"/>
                  <a:pt x="44450" y="863600"/>
                </a:cubicBezTo>
                <a:cubicBezTo>
                  <a:pt x="40664" y="870226"/>
                  <a:pt x="35163" y="875824"/>
                  <a:pt x="31750" y="882650"/>
                </a:cubicBezTo>
                <a:cubicBezTo>
                  <a:pt x="27195" y="891760"/>
                  <a:pt x="21085" y="918962"/>
                  <a:pt x="19050" y="927100"/>
                </a:cubicBezTo>
                <a:cubicBezTo>
                  <a:pt x="19267" y="930136"/>
                  <a:pt x="24826" y="1037369"/>
                  <a:pt x="31750" y="1060450"/>
                </a:cubicBezTo>
                <a:cubicBezTo>
                  <a:pt x="37042" y="1078089"/>
                  <a:pt x="49742" y="1083028"/>
                  <a:pt x="63500" y="1092200"/>
                </a:cubicBezTo>
                <a:cubicBezTo>
                  <a:pt x="67733" y="1098550"/>
                  <a:pt x="70457" y="1106224"/>
                  <a:pt x="76200" y="1111250"/>
                </a:cubicBezTo>
                <a:cubicBezTo>
                  <a:pt x="87687" y="1121301"/>
                  <a:pt x="114300" y="1136650"/>
                  <a:pt x="114300" y="1136650"/>
                </a:cubicBezTo>
                <a:cubicBezTo>
                  <a:pt x="116417" y="1143000"/>
                  <a:pt x="116469" y="1150473"/>
                  <a:pt x="120650" y="1155700"/>
                </a:cubicBezTo>
                <a:cubicBezTo>
                  <a:pt x="125418" y="1161659"/>
                  <a:pt x="133490" y="1163964"/>
                  <a:pt x="139700" y="1168400"/>
                </a:cubicBezTo>
                <a:cubicBezTo>
                  <a:pt x="148312" y="1174551"/>
                  <a:pt x="158069" y="1179540"/>
                  <a:pt x="165100" y="1187450"/>
                </a:cubicBezTo>
                <a:cubicBezTo>
                  <a:pt x="175241" y="1198858"/>
                  <a:pt x="190500" y="1225550"/>
                  <a:pt x="190500" y="1225550"/>
                </a:cubicBezTo>
                <a:cubicBezTo>
                  <a:pt x="192617" y="1234017"/>
                  <a:pt x="196850" y="1242223"/>
                  <a:pt x="196850" y="1250950"/>
                </a:cubicBezTo>
                <a:cubicBezTo>
                  <a:pt x="196850" y="1280659"/>
                  <a:pt x="193781" y="1310323"/>
                  <a:pt x="190500" y="1339850"/>
                </a:cubicBezTo>
                <a:cubicBezTo>
                  <a:pt x="188901" y="1354245"/>
                  <a:pt x="174642" y="1393773"/>
                  <a:pt x="171450" y="1403350"/>
                </a:cubicBezTo>
                <a:cubicBezTo>
                  <a:pt x="169037" y="1410590"/>
                  <a:pt x="162163" y="1415574"/>
                  <a:pt x="158750" y="1422400"/>
                </a:cubicBezTo>
                <a:cubicBezTo>
                  <a:pt x="155757" y="1428387"/>
                  <a:pt x="155393" y="1435463"/>
                  <a:pt x="152400" y="1441450"/>
                </a:cubicBezTo>
                <a:cubicBezTo>
                  <a:pt x="122211" y="1501827"/>
                  <a:pt x="159765" y="1400306"/>
                  <a:pt x="127000" y="1498600"/>
                </a:cubicBezTo>
                <a:cubicBezTo>
                  <a:pt x="119404" y="1521388"/>
                  <a:pt x="96991" y="1531377"/>
                  <a:pt x="95250" y="1555750"/>
                </a:cubicBezTo>
                <a:cubicBezTo>
                  <a:pt x="93591" y="1578974"/>
                  <a:pt x="95250" y="1602317"/>
                  <a:pt x="95250" y="1625600"/>
                </a:cubicBezTo>
              </a:path>
            </a:pathLst>
          </a:custGeom>
          <a:ln w="28575"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ln w="12700">
                <a:solidFill>
                  <a:schemeClr val="tx1"/>
                </a:solidFill>
              </a:ln>
            </a:endParaRPr>
          </a:p>
        </p:txBody>
      </p:sp>
      <p:sp>
        <p:nvSpPr>
          <p:cNvPr id="29" name="Freeform 28"/>
          <p:cNvSpPr/>
          <p:nvPr/>
        </p:nvSpPr>
        <p:spPr>
          <a:xfrm>
            <a:off x="7151899" y="2893040"/>
            <a:ext cx="180446" cy="1490133"/>
          </a:xfrm>
          <a:custGeom>
            <a:avLst/>
            <a:gdLst>
              <a:gd name="connsiteX0" fmla="*/ 127000 w 196850"/>
              <a:gd name="connsiteY0" fmla="*/ 0 h 1625600"/>
              <a:gd name="connsiteX1" fmla="*/ 82550 w 196850"/>
              <a:gd name="connsiteY1" fmla="*/ 38100 h 1625600"/>
              <a:gd name="connsiteX2" fmla="*/ 50800 w 196850"/>
              <a:gd name="connsiteY2" fmla="*/ 76200 h 1625600"/>
              <a:gd name="connsiteX3" fmla="*/ 19050 w 196850"/>
              <a:gd name="connsiteY3" fmla="*/ 133350 h 1625600"/>
              <a:gd name="connsiteX4" fmla="*/ 0 w 196850"/>
              <a:gd name="connsiteY4" fmla="*/ 196850 h 1625600"/>
              <a:gd name="connsiteX5" fmla="*/ 25400 w 196850"/>
              <a:gd name="connsiteY5" fmla="*/ 323850 h 1625600"/>
              <a:gd name="connsiteX6" fmla="*/ 50800 w 196850"/>
              <a:gd name="connsiteY6" fmla="*/ 361950 h 1625600"/>
              <a:gd name="connsiteX7" fmla="*/ 82550 w 196850"/>
              <a:gd name="connsiteY7" fmla="*/ 393700 h 1625600"/>
              <a:gd name="connsiteX8" fmla="*/ 101600 w 196850"/>
              <a:gd name="connsiteY8" fmla="*/ 400050 h 1625600"/>
              <a:gd name="connsiteX9" fmla="*/ 165100 w 196850"/>
              <a:gd name="connsiteY9" fmla="*/ 476250 h 1625600"/>
              <a:gd name="connsiteX10" fmla="*/ 177800 w 196850"/>
              <a:gd name="connsiteY10" fmla="*/ 495300 h 1625600"/>
              <a:gd name="connsiteX11" fmla="*/ 184150 w 196850"/>
              <a:gd name="connsiteY11" fmla="*/ 514350 h 1625600"/>
              <a:gd name="connsiteX12" fmla="*/ 190500 w 196850"/>
              <a:gd name="connsiteY12" fmla="*/ 552450 h 1625600"/>
              <a:gd name="connsiteX13" fmla="*/ 196850 w 196850"/>
              <a:gd name="connsiteY13" fmla="*/ 577850 h 1625600"/>
              <a:gd name="connsiteX14" fmla="*/ 190500 w 196850"/>
              <a:gd name="connsiteY14" fmla="*/ 660400 h 1625600"/>
              <a:gd name="connsiteX15" fmla="*/ 158750 w 196850"/>
              <a:gd name="connsiteY15" fmla="*/ 717550 h 1625600"/>
              <a:gd name="connsiteX16" fmla="*/ 139700 w 196850"/>
              <a:gd name="connsiteY16" fmla="*/ 736600 h 1625600"/>
              <a:gd name="connsiteX17" fmla="*/ 107950 w 196850"/>
              <a:gd name="connsiteY17" fmla="*/ 768350 h 1625600"/>
              <a:gd name="connsiteX18" fmla="*/ 95250 w 196850"/>
              <a:gd name="connsiteY18" fmla="*/ 787400 h 1625600"/>
              <a:gd name="connsiteX19" fmla="*/ 88900 w 196850"/>
              <a:gd name="connsiteY19" fmla="*/ 806450 h 1625600"/>
              <a:gd name="connsiteX20" fmla="*/ 69850 w 196850"/>
              <a:gd name="connsiteY20" fmla="*/ 819150 h 1625600"/>
              <a:gd name="connsiteX21" fmla="*/ 44450 w 196850"/>
              <a:gd name="connsiteY21" fmla="*/ 863600 h 1625600"/>
              <a:gd name="connsiteX22" fmla="*/ 31750 w 196850"/>
              <a:gd name="connsiteY22" fmla="*/ 882650 h 1625600"/>
              <a:gd name="connsiteX23" fmla="*/ 19050 w 196850"/>
              <a:gd name="connsiteY23" fmla="*/ 927100 h 1625600"/>
              <a:gd name="connsiteX24" fmla="*/ 31750 w 196850"/>
              <a:gd name="connsiteY24" fmla="*/ 1060450 h 1625600"/>
              <a:gd name="connsiteX25" fmla="*/ 63500 w 196850"/>
              <a:gd name="connsiteY25" fmla="*/ 1092200 h 1625600"/>
              <a:gd name="connsiteX26" fmla="*/ 76200 w 196850"/>
              <a:gd name="connsiteY26" fmla="*/ 1111250 h 1625600"/>
              <a:gd name="connsiteX27" fmla="*/ 114300 w 196850"/>
              <a:gd name="connsiteY27" fmla="*/ 1136650 h 1625600"/>
              <a:gd name="connsiteX28" fmla="*/ 120650 w 196850"/>
              <a:gd name="connsiteY28" fmla="*/ 1155700 h 1625600"/>
              <a:gd name="connsiteX29" fmla="*/ 139700 w 196850"/>
              <a:gd name="connsiteY29" fmla="*/ 1168400 h 1625600"/>
              <a:gd name="connsiteX30" fmla="*/ 165100 w 196850"/>
              <a:gd name="connsiteY30" fmla="*/ 1187450 h 1625600"/>
              <a:gd name="connsiteX31" fmla="*/ 190500 w 196850"/>
              <a:gd name="connsiteY31" fmla="*/ 1225550 h 1625600"/>
              <a:gd name="connsiteX32" fmla="*/ 196850 w 196850"/>
              <a:gd name="connsiteY32" fmla="*/ 1250950 h 1625600"/>
              <a:gd name="connsiteX33" fmla="*/ 190500 w 196850"/>
              <a:gd name="connsiteY33" fmla="*/ 1339850 h 1625600"/>
              <a:gd name="connsiteX34" fmla="*/ 171450 w 196850"/>
              <a:gd name="connsiteY34" fmla="*/ 1403350 h 1625600"/>
              <a:gd name="connsiteX35" fmla="*/ 158750 w 196850"/>
              <a:gd name="connsiteY35" fmla="*/ 1422400 h 1625600"/>
              <a:gd name="connsiteX36" fmla="*/ 152400 w 196850"/>
              <a:gd name="connsiteY36" fmla="*/ 1441450 h 1625600"/>
              <a:gd name="connsiteX37" fmla="*/ 127000 w 196850"/>
              <a:gd name="connsiteY37" fmla="*/ 1498600 h 1625600"/>
              <a:gd name="connsiteX38" fmla="*/ 95250 w 196850"/>
              <a:gd name="connsiteY38" fmla="*/ 1555750 h 1625600"/>
              <a:gd name="connsiteX39" fmla="*/ 95250 w 196850"/>
              <a:gd name="connsiteY39" fmla="*/ 1625600 h 1625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196850" h="1625600">
                <a:moveTo>
                  <a:pt x="127000" y="0"/>
                </a:moveTo>
                <a:cubicBezTo>
                  <a:pt x="72901" y="32460"/>
                  <a:pt x="111869" y="2917"/>
                  <a:pt x="82550" y="38100"/>
                </a:cubicBezTo>
                <a:cubicBezTo>
                  <a:pt x="68308" y="55190"/>
                  <a:pt x="59809" y="55930"/>
                  <a:pt x="50800" y="76200"/>
                </a:cubicBezTo>
                <a:cubicBezTo>
                  <a:pt x="25936" y="132143"/>
                  <a:pt x="53821" y="98579"/>
                  <a:pt x="19050" y="133350"/>
                </a:cubicBezTo>
                <a:cubicBezTo>
                  <a:pt x="3590" y="179729"/>
                  <a:pt x="9597" y="158463"/>
                  <a:pt x="0" y="196850"/>
                </a:cubicBezTo>
                <a:cubicBezTo>
                  <a:pt x="14593" y="299002"/>
                  <a:pt x="3234" y="257352"/>
                  <a:pt x="25400" y="323850"/>
                </a:cubicBezTo>
                <a:cubicBezTo>
                  <a:pt x="30227" y="338330"/>
                  <a:pt x="42333" y="349250"/>
                  <a:pt x="50800" y="361950"/>
                </a:cubicBezTo>
                <a:cubicBezTo>
                  <a:pt x="63500" y="381000"/>
                  <a:pt x="61383" y="383117"/>
                  <a:pt x="82550" y="393700"/>
                </a:cubicBezTo>
                <a:cubicBezTo>
                  <a:pt x="88537" y="396693"/>
                  <a:pt x="95250" y="397933"/>
                  <a:pt x="101600" y="400050"/>
                </a:cubicBezTo>
                <a:cubicBezTo>
                  <a:pt x="150493" y="448943"/>
                  <a:pt x="129737" y="423206"/>
                  <a:pt x="165100" y="476250"/>
                </a:cubicBezTo>
                <a:cubicBezTo>
                  <a:pt x="169333" y="482600"/>
                  <a:pt x="175387" y="488060"/>
                  <a:pt x="177800" y="495300"/>
                </a:cubicBezTo>
                <a:cubicBezTo>
                  <a:pt x="179917" y="501650"/>
                  <a:pt x="182698" y="507816"/>
                  <a:pt x="184150" y="514350"/>
                </a:cubicBezTo>
                <a:cubicBezTo>
                  <a:pt x="186943" y="526919"/>
                  <a:pt x="187975" y="539825"/>
                  <a:pt x="190500" y="552450"/>
                </a:cubicBezTo>
                <a:cubicBezTo>
                  <a:pt x="192212" y="561008"/>
                  <a:pt x="194733" y="569383"/>
                  <a:pt x="196850" y="577850"/>
                </a:cubicBezTo>
                <a:cubicBezTo>
                  <a:pt x="194733" y="605367"/>
                  <a:pt x="193923" y="633015"/>
                  <a:pt x="190500" y="660400"/>
                </a:cubicBezTo>
                <a:cubicBezTo>
                  <a:pt x="188219" y="678652"/>
                  <a:pt x="167578" y="708722"/>
                  <a:pt x="158750" y="717550"/>
                </a:cubicBezTo>
                <a:cubicBezTo>
                  <a:pt x="152400" y="723900"/>
                  <a:pt x="145449" y="729701"/>
                  <a:pt x="139700" y="736600"/>
                </a:cubicBezTo>
                <a:cubicBezTo>
                  <a:pt x="113242" y="768350"/>
                  <a:pt x="142875" y="745067"/>
                  <a:pt x="107950" y="768350"/>
                </a:cubicBezTo>
                <a:cubicBezTo>
                  <a:pt x="103717" y="774700"/>
                  <a:pt x="98663" y="780574"/>
                  <a:pt x="95250" y="787400"/>
                </a:cubicBezTo>
                <a:cubicBezTo>
                  <a:pt x="92257" y="793387"/>
                  <a:pt x="93081" y="801223"/>
                  <a:pt x="88900" y="806450"/>
                </a:cubicBezTo>
                <a:cubicBezTo>
                  <a:pt x="84132" y="812409"/>
                  <a:pt x="76200" y="814917"/>
                  <a:pt x="69850" y="819150"/>
                </a:cubicBezTo>
                <a:cubicBezTo>
                  <a:pt x="38908" y="865562"/>
                  <a:pt x="76676" y="807204"/>
                  <a:pt x="44450" y="863600"/>
                </a:cubicBezTo>
                <a:cubicBezTo>
                  <a:pt x="40664" y="870226"/>
                  <a:pt x="35163" y="875824"/>
                  <a:pt x="31750" y="882650"/>
                </a:cubicBezTo>
                <a:cubicBezTo>
                  <a:pt x="27195" y="891760"/>
                  <a:pt x="21085" y="918962"/>
                  <a:pt x="19050" y="927100"/>
                </a:cubicBezTo>
                <a:cubicBezTo>
                  <a:pt x="19267" y="930136"/>
                  <a:pt x="24826" y="1037369"/>
                  <a:pt x="31750" y="1060450"/>
                </a:cubicBezTo>
                <a:cubicBezTo>
                  <a:pt x="37042" y="1078089"/>
                  <a:pt x="49742" y="1083028"/>
                  <a:pt x="63500" y="1092200"/>
                </a:cubicBezTo>
                <a:cubicBezTo>
                  <a:pt x="67733" y="1098550"/>
                  <a:pt x="70457" y="1106224"/>
                  <a:pt x="76200" y="1111250"/>
                </a:cubicBezTo>
                <a:cubicBezTo>
                  <a:pt x="87687" y="1121301"/>
                  <a:pt x="114300" y="1136650"/>
                  <a:pt x="114300" y="1136650"/>
                </a:cubicBezTo>
                <a:cubicBezTo>
                  <a:pt x="116417" y="1143000"/>
                  <a:pt x="116469" y="1150473"/>
                  <a:pt x="120650" y="1155700"/>
                </a:cubicBezTo>
                <a:cubicBezTo>
                  <a:pt x="125418" y="1161659"/>
                  <a:pt x="133490" y="1163964"/>
                  <a:pt x="139700" y="1168400"/>
                </a:cubicBezTo>
                <a:cubicBezTo>
                  <a:pt x="148312" y="1174551"/>
                  <a:pt x="158069" y="1179540"/>
                  <a:pt x="165100" y="1187450"/>
                </a:cubicBezTo>
                <a:cubicBezTo>
                  <a:pt x="175241" y="1198858"/>
                  <a:pt x="190500" y="1225550"/>
                  <a:pt x="190500" y="1225550"/>
                </a:cubicBezTo>
                <a:cubicBezTo>
                  <a:pt x="192617" y="1234017"/>
                  <a:pt x="196850" y="1242223"/>
                  <a:pt x="196850" y="1250950"/>
                </a:cubicBezTo>
                <a:cubicBezTo>
                  <a:pt x="196850" y="1280659"/>
                  <a:pt x="193781" y="1310323"/>
                  <a:pt x="190500" y="1339850"/>
                </a:cubicBezTo>
                <a:cubicBezTo>
                  <a:pt x="188901" y="1354245"/>
                  <a:pt x="174642" y="1393773"/>
                  <a:pt x="171450" y="1403350"/>
                </a:cubicBezTo>
                <a:cubicBezTo>
                  <a:pt x="169037" y="1410590"/>
                  <a:pt x="162163" y="1415574"/>
                  <a:pt x="158750" y="1422400"/>
                </a:cubicBezTo>
                <a:cubicBezTo>
                  <a:pt x="155757" y="1428387"/>
                  <a:pt x="155393" y="1435463"/>
                  <a:pt x="152400" y="1441450"/>
                </a:cubicBezTo>
                <a:cubicBezTo>
                  <a:pt x="122211" y="1501827"/>
                  <a:pt x="159765" y="1400306"/>
                  <a:pt x="127000" y="1498600"/>
                </a:cubicBezTo>
                <a:cubicBezTo>
                  <a:pt x="119404" y="1521388"/>
                  <a:pt x="96991" y="1531377"/>
                  <a:pt x="95250" y="1555750"/>
                </a:cubicBezTo>
                <a:cubicBezTo>
                  <a:pt x="93591" y="1578974"/>
                  <a:pt x="95250" y="1602317"/>
                  <a:pt x="95250" y="1625600"/>
                </a:cubicBezTo>
              </a:path>
            </a:pathLst>
          </a:custGeom>
          <a:ln w="28575"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ln w="12700">
                <a:solidFill>
                  <a:schemeClr val="tx1"/>
                </a:solidFill>
              </a:ln>
            </a:endParaRPr>
          </a:p>
        </p:txBody>
      </p:sp>
      <p:sp>
        <p:nvSpPr>
          <p:cNvPr id="30" name="Freeform 29"/>
          <p:cNvSpPr/>
          <p:nvPr/>
        </p:nvSpPr>
        <p:spPr>
          <a:xfrm>
            <a:off x="7577984" y="2893040"/>
            <a:ext cx="180446" cy="1490133"/>
          </a:xfrm>
          <a:custGeom>
            <a:avLst/>
            <a:gdLst>
              <a:gd name="connsiteX0" fmla="*/ 127000 w 196850"/>
              <a:gd name="connsiteY0" fmla="*/ 0 h 1625600"/>
              <a:gd name="connsiteX1" fmla="*/ 82550 w 196850"/>
              <a:gd name="connsiteY1" fmla="*/ 38100 h 1625600"/>
              <a:gd name="connsiteX2" fmla="*/ 50800 w 196850"/>
              <a:gd name="connsiteY2" fmla="*/ 76200 h 1625600"/>
              <a:gd name="connsiteX3" fmla="*/ 19050 w 196850"/>
              <a:gd name="connsiteY3" fmla="*/ 133350 h 1625600"/>
              <a:gd name="connsiteX4" fmla="*/ 0 w 196850"/>
              <a:gd name="connsiteY4" fmla="*/ 196850 h 1625600"/>
              <a:gd name="connsiteX5" fmla="*/ 25400 w 196850"/>
              <a:gd name="connsiteY5" fmla="*/ 323850 h 1625600"/>
              <a:gd name="connsiteX6" fmla="*/ 50800 w 196850"/>
              <a:gd name="connsiteY6" fmla="*/ 361950 h 1625600"/>
              <a:gd name="connsiteX7" fmla="*/ 82550 w 196850"/>
              <a:gd name="connsiteY7" fmla="*/ 393700 h 1625600"/>
              <a:gd name="connsiteX8" fmla="*/ 101600 w 196850"/>
              <a:gd name="connsiteY8" fmla="*/ 400050 h 1625600"/>
              <a:gd name="connsiteX9" fmla="*/ 165100 w 196850"/>
              <a:gd name="connsiteY9" fmla="*/ 476250 h 1625600"/>
              <a:gd name="connsiteX10" fmla="*/ 177800 w 196850"/>
              <a:gd name="connsiteY10" fmla="*/ 495300 h 1625600"/>
              <a:gd name="connsiteX11" fmla="*/ 184150 w 196850"/>
              <a:gd name="connsiteY11" fmla="*/ 514350 h 1625600"/>
              <a:gd name="connsiteX12" fmla="*/ 190500 w 196850"/>
              <a:gd name="connsiteY12" fmla="*/ 552450 h 1625600"/>
              <a:gd name="connsiteX13" fmla="*/ 196850 w 196850"/>
              <a:gd name="connsiteY13" fmla="*/ 577850 h 1625600"/>
              <a:gd name="connsiteX14" fmla="*/ 190500 w 196850"/>
              <a:gd name="connsiteY14" fmla="*/ 660400 h 1625600"/>
              <a:gd name="connsiteX15" fmla="*/ 158750 w 196850"/>
              <a:gd name="connsiteY15" fmla="*/ 717550 h 1625600"/>
              <a:gd name="connsiteX16" fmla="*/ 139700 w 196850"/>
              <a:gd name="connsiteY16" fmla="*/ 736600 h 1625600"/>
              <a:gd name="connsiteX17" fmla="*/ 107950 w 196850"/>
              <a:gd name="connsiteY17" fmla="*/ 768350 h 1625600"/>
              <a:gd name="connsiteX18" fmla="*/ 95250 w 196850"/>
              <a:gd name="connsiteY18" fmla="*/ 787400 h 1625600"/>
              <a:gd name="connsiteX19" fmla="*/ 88900 w 196850"/>
              <a:gd name="connsiteY19" fmla="*/ 806450 h 1625600"/>
              <a:gd name="connsiteX20" fmla="*/ 69850 w 196850"/>
              <a:gd name="connsiteY20" fmla="*/ 819150 h 1625600"/>
              <a:gd name="connsiteX21" fmla="*/ 44450 w 196850"/>
              <a:gd name="connsiteY21" fmla="*/ 863600 h 1625600"/>
              <a:gd name="connsiteX22" fmla="*/ 31750 w 196850"/>
              <a:gd name="connsiteY22" fmla="*/ 882650 h 1625600"/>
              <a:gd name="connsiteX23" fmla="*/ 19050 w 196850"/>
              <a:gd name="connsiteY23" fmla="*/ 927100 h 1625600"/>
              <a:gd name="connsiteX24" fmla="*/ 31750 w 196850"/>
              <a:gd name="connsiteY24" fmla="*/ 1060450 h 1625600"/>
              <a:gd name="connsiteX25" fmla="*/ 63500 w 196850"/>
              <a:gd name="connsiteY25" fmla="*/ 1092200 h 1625600"/>
              <a:gd name="connsiteX26" fmla="*/ 76200 w 196850"/>
              <a:gd name="connsiteY26" fmla="*/ 1111250 h 1625600"/>
              <a:gd name="connsiteX27" fmla="*/ 114300 w 196850"/>
              <a:gd name="connsiteY27" fmla="*/ 1136650 h 1625600"/>
              <a:gd name="connsiteX28" fmla="*/ 120650 w 196850"/>
              <a:gd name="connsiteY28" fmla="*/ 1155700 h 1625600"/>
              <a:gd name="connsiteX29" fmla="*/ 139700 w 196850"/>
              <a:gd name="connsiteY29" fmla="*/ 1168400 h 1625600"/>
              <a:gd name="connsiteX30" fmla="*/ 165100 w 196850"/>
              <a:gd name="connsiteY30" fmla="*/ 1187450 h 1625600"/>
              <a:gd name="connsiteX31" fmla="*/ 190500 w 196850"/>
              <a:gd name="connsiteY31" fmla="*/ 1225550 h 1625600"/>
              <a:gd name="connsiteX32" fmla="*/ 196850 w 196850"/>
              <a:gd name="connsiteY32" fmla="*/ 1250950 h 1625600"/>
              <a:gd name="connsiteX33" fmla="*/ 190500 w 196850"/>
              <a:gd name="connsiteY33" fmla="*/ 1339850 h 1625600"/>
              <a:gd name="connsiteX34" fmla="*/ 171450 w 196850"/>
              <a:gd name="connsiteY34" fmla="*/ 1403350 h 1625600"/>
              <a:gd name="connsiteX35" fmla="*/ 158750 w 196850"/>
              <a:gd name="connsiteY35" fmla="*/ 1422400 h 1625600"/>
              <a:gd name="connsiteX36" fmla="*/ 152400 w 196850"/>
              <a:gd name="connsiteY36" fmla="*/ 1441450 h 1625600"/>
              <a:gd name="connsiteX37" fmla="*/ 127000 w 196850"/>
              <a:gd name="connsiteY37" fmla="*/ 1498600 h 1625600"/>
              <a:gd name="connsiteX38" fmla="*/ 95250 w 196850"/>
              <a:gd name="connsiteY38" fmla="*/ 1555750 h 1625600"/>
              <a:gd name="connsiteX39" fmla="*/ 95250 w 196850"/>
              <a:gd name="connsiteY39" fmla="*/ 1625600 h 1625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196850" h="1625600">
                <a:moveTo>
                  <a:pt x="127000" y="0"/>
                </a:moveTo>
                <a:cubicBezTo>
                  <a:pt x="72901" y="32460"/>
                  <a:pt x="111869" y="2917"/>
                  <a:pt x="82550" y="38100"/>
                </a:cubicBezTo>
                <a:cubicBezTo>
                  <a:pt x="68308" y="55190"/>
                  <a:pt x="59809" y="55930"/>
                  <a:pt x="50800" y="76200"/>
                </a:cubicBezTo>
                <a:cubicBezTo>
                  <a:pt x="25936" y="132143"/>
                  <a:pt x="53821" y="98579"/>
                  <a:pt x="19050" y="133350"/>
                </a:cubicBezTo>
                <a:cubicBezTo>
                  <a:pt x="3590" y="179729"/>
                  <a:pt x="9597" y="158463"/>
                  <a:pt x="0" y="196850"/>
                </a:cubicBezTo>
                <a:cubicBezTo>
                  <a:pt x="14593" y="299002"/>
                  <a:pt x="3234" y="257352"/>
                  <a:pt x="25400" y="323850"/>
                </a:cubicBezTo>
                <a:cubicBezTo>
                  <a:pt x="30227" y="338330"/>
                  <a:pt x="42333" y="349250"/>
                  <a:pt x="50800" y="361950"/>
                </a:cubicBezTo>
                <a:cubicBezTo>
                  <a:pt x="63500" y="381000"/>
                  <a:pt x="61383" y="383117"/>
                  <a:pt x="82550" y="393700"/>
                </a:cubicBezTo>
                <a:cubicBezTo>
                  <a:pt x="88537" y="396693"/>
                  <a:pt x="95250" y="397933"/>
                  <a:pt x="101600" y="400050"/>
                </a:cubicBezTo>
                <a:cubicBezTo>
                  <a:pt x="150493" y="448943"/>
                  <a:pt x="129737" y="423206"/>
                  <a:pt x="165100" y="476250"/>
                </a:cubicBezTo>
                <a:cubicBezTo>
                  <a:pt x="169333" y="482600"/>
                  <a:pt x="175387" y="488060"/>
                  <a:pt x="177800" y="495300"/>
                </a:cubicBezTo>
                <a:cubicBezTo>
                  <a:pt x="179917" y="501650"/>
                  <a:pt x="182698" y="507816"/>
                  <a:pt x="184150" y="514350"/>
                </a:cubicBezTo>
                <a:cubicBezTo>
                  <a:pt x="186943" y="526919"/>
                  <a:pt x="187975" y="539825"/>
                  <a:pt x="190500" y="552450"/>
                </a:cubicBezTo>
                <a:cubicBezTo>
                  <a:pt x="192212" y="561008"/>
                  <a:pt x="194733" y="569383"/>
                  <a:pt x="196850" y="577850"/>
                </a:cubicBezTo>
                <a:cubicBezTo>
                  <a:pt x="194733" y="605367"/>
                  <a:pt x="193923" y="633015"/>
                  <a:pt x="190500" y="660400"/>
                </a:cubicBezTo>
                <a:cubicBezTo>
                  <a:pt x="188219" y="678652"/>
                  <a:pt x="167578" y="708722"/>
                  <a:pt x="158750" y="717550"/>
                </a:cubicBezTo>
                <a:cubicBezTo>
                  <a:pt x="152400" y="723900"/>
                  <a:pt x="145449" y="729701"/>
                  <a:pt x="139700" y="736600"/>
                </a:cubicBezTo>
                <a:cubicBezTo>
                  <a:pt x="113242" y="768350"/>
                  <a:pt x="142875" y="745067"/>
                  <a:pt x="107950" y="768350"/>
                </a:cubicBezTo>
                <a:cubicBezTo>
                  <a:pt x="103717" y="774700"/>
                  <a:pt x="98663" y="780574"/>
                  <a:pt x="95250" y="787400"/>
                </a:cubicBezTo>
                <a:cubicBezTo>
                  <a:pt x="92257" y="793387"/>
                  <a:pt x="93081" y="801223"/>
                  <a:pt x="88900" y="806450"/>
                </a:cubicBezTo>
                <a:cubicBezTo>
                  <a:pt x="84132" y="812409"/>
                  <a:pt x="76200" y="814917"/>
                  <a:pt x="69850" y="819150"/>
                </a:cubicBezTo>
                <a:cubicBezTo>
                  <a:pt x="38908" y="865562"/>
                  <a:pt x="76676" y="807204"/>
                  <a:pt x="44450" y="863600"/>
                </a:cubicBezTo>
                <a:cubicBezTo>
                  <a:pt x="40664" y="870226"/>
                  <a:pt x="35163" y="875824"/>
                  <a:pt x="31750" y="882650"/>
                </a:cubicBezTo>
                <a:cubicBezTo>
                  <a:pt x="27195" y="891760"/>
                  <a:pt x="21085" y="918962"/>
                  <a:pt x="19050" y="927100"/>
                </a:cubicBezTo>
                <a:cubicBezTo>
                  <a:pt x="19267" y="930136"/>
                  <a:pt x="24826" y="1037369"/>
                  <a:pt x="31750" y="1060450"/>
                </a:cubicBezTo>
                <a:cubicBezTo>
                  <a:pt x="37042" y="1078089"/>
                  <a:pt x="49742" y="1083028"/>
                  <a:pt x="63500" y="1092200"/>
                </a:cubicBezTo>
                <a:cubicBezTo>
                  <a:pt x="67733" y="1098550"/>
                  <a:pt x="70457" y="1106224"/>
                  <a:pt x="76200" y="1111250"/>
                </a:cubicBezTo>
                <a:cubicBezTo>
                  <a:pt x="87687" y="1121301"/>
                  <a:pt x="114300" y="1136650"/>
                  <a:pt x="114300" y="1136650"/>
                </a:cubicBezTo>
                <a:cubicBezTo>
                  <a:pt x="116417" y="1143000"/>
                  <a:pt x="116469" y="1150473"/>
                  <a:pt x="120650" y="1155700"/>
                </a:cubicBezTo>
                <a:cubicBezTo>
                  <a:pt x="125418" y="1161659"/>
                  <a:pt x="133490" y="1163964"/>
                  <a:pt x="139700" y="1168400"/>
                </a:cubicBezTo>
                <a:cubicBezTo>
                  <a:pt x="148312" y="1174551"/>
                  <a:pt x="158069" y="1179540"/>
                  <a:pt x="165100" y="1187450"/>
                </a:cubicBezTo>
                <a:cubicBezTo>
                  <a:pt x="175241" y="1198858"/>
                  <a:pt x="190500" y="1225550"/>
                  <a:pt x="190500" y="1225550"/>
                </a:cubicBezTo>
                <a:cubicBezTo>
                  <a:pt x="192617" y="1234017"/>
                  <a:pt x="196850" y="1242223"/>
                  <a:pt x="196850" y="1250950"/>
                </a:cubicBezTo>
                <a:cubicBezTo>
                  <a:pt x="196850" y="1280659"/>
                  <a:pt x="193781" y="1310323"/>
                  <a:pt x="190500" y="1339850"/>
                </a:cubicBezTo>
                <a:cubicBezTo>
                  <a:pt x="188901" y="1354245"/>
                  <a:pt x="174642" y="1393773"/>
                  <a:pt x="171450" y="1403350"/>
                </a:cubicBezTo>
                <a:cubicBezTo>
                  <a:pt x="169037" y="1410590"/>
                  <a:pt x="162163" y="1415574"/>
                  <a:pt x="158750" y="1422400"/>
                </a:cubicBezTo>
                <a:cubicBezTo>
                  <a:pt x="155757" y="1428387"/>
                  <a:pt x="155393" y="1435463"/>
                  <a:pt x="152400" y="1441450"/>
                </a:cubicBezTo>
                <a:cubicBezTo>
                  <a:pt x="122211" y="1501827"/>
                  <a:pt x="159765" y="1400306"/>
                  <a:pt x="127000" y="1498600"/>
                </a:cubicBezTo>
                <a:cubicBezTo>
                  <a:pt x="119404" y="1521388"/>
                  <a:pt x="96991" y="1531377"/>
                  <a:pt x="95250" y="1555750"/>
                </a:cubicBezTo>
                <a:cubicBezTo>
                  <a:pt x="93591" y="1578974"/>
                  <a:pt x="95250" y="1602317"/>
                  <a:pt x="95250" y="1625600"/>
                </a:cubicBezTo>
              </a:path>
            </a:pathLst>
          </a:custGeom>
          <a:ln w="28575"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ln w="12700">
                <a:solidFill>
                  <a:schemeClr val="tx1"/>
                </a:solidFill>
              </a:ln>
            </a:endParaRPr>
          </a:p>
        </p:txBody>
      </p:sp>
      <p:sp>
        <p:nvSpPr>
          <p:cNvPr id="31" name="Freeform 30"/>
          <p:cNvSpPr/>
          <p:nvPr/>
        </p:nvSpPr>
        <p:spPr>
          <a:xfrm>
            <a:off x="8004069" y="2893040"/>
            <a:ext cx="180446" cy="1490133"/>
          </a:xfrm>
          <a:custGeom>
            <a:avLst/>
            <a:gdLst>
              <a:gd name="connsiteX0" fmla="*/ 127000 w 196850"/>
              <a:gd name="connsiteY0" fmla="*/ 0 h 1625600"/>
              <a:gd name="connsiteX1" fmla="*/ 82550 w 196850"/>
              <a:gd name="connsiteY1" fmla="*/ 38100 h 1625600"/>
              <a:gd name="connsiteX2" fmla="*/ 50800 w 196850"/>
              <a:gd name="connsiteY2" fmla="*/ 76200 h 1625600"/>
              <a:gd name="connsiteX3" fmla="*/ 19050 w 196850"/>
              <a:gd name="connsiteY3" fmla="*/ 133350 h 1625600"/>
              <a:gd name="connsiteX4" fmla="*/ 0 w 196850"/>
              <a:gd name="connsiteY4" fmla="*/ 196850 h 1625600"/>
              <a:gd name="connsiteX5" fmla="*/ 25400 w 196850"/>
              <a:gd name="connsiteY5" fmla="*/ 323850 h 1625600"/>
              <a:gd name="connsiteX6" fmla="*/ 50800 w 196850"/>
              <a:gd name="connsiteY6" fmla="*/ 361950 h 1625600"/>
              <a:gd name="connsiteX7" fmla="*/ 82550 w 196850"/>
              <a:gd name="connsiteY7" fmla="*/ 393700 h 1625600"/>
              <a:gd name="connsiteX8" fmla="*/ 101600 w 196850"/>
              <a:gd name="connsiteY8" fmla="*/ 400050 h 1625600"/>
              <a:gd name="connsiteX9" fmla="*/ 165100 w 196850"/>
              <a:gd name="connsiteY9" fmla="*/ 476250 h 1625600"/>
              <a:gd name="connsiteX10" fmla="*/ 177800 w 196850"/>
              <a:gd name="connsiteY10" fmla="*/ 495300 h 1625600"/>
              <a:gd name="connsiteX11" fmla="*/ 184150 w 196850"/>
              <a:gd name="connsiteY11" fmla="*/ 514350 h 1625600"/>
              <a:gd name="connsiteX12" fmla="*/ 190500 w 196850"/>
              <a:gd name="connsiteY12" fmla="*/ 552450 h 1625600"/>
              <a:gd name="connsiteX13" fmla="*/ 196850 w 196850"/>
              <a:gd name="connsiteY13" fmla="*/ 577850 h 1625600"/>
              <a:gd name="connsiteX14" fmla="*/ 190500 w 196850"/>
              <a:gd name="connsiteY14" fmla="*/ 660400 h 1625600"/>
              <a:gd name="connsiteX15" fmla="*/ 158750 w 196850"/>
              <a:gd name="connsiteY15" fmla="*/ 717550 h 1625600"/>
              <a:gd name="connsiteX16" fmla="*/ 139700 w 196850"/>
              <a:gd name="connsiteY16" fmla="*/ 736600 h 1625600"/>
              <a:gd name="connsiteX17" fmla="*/ 107950 w 196850"/>
              <a:gd name="connsiteY17" fmla="*/ 768350 h 1625600"/>
              <a:gd name="connsiteX18" fmla="*/ 95250 w 196850"/>
              <a:gd name="connsiteY18" fmla="*/ 787400 h 1625600"/>
              <a:gd name="connsiteX19" fmla="*/ 88900 w 196850"/>
              <a:gd name="connsiteY19" fmla="*/ 806450 h 1625600"/>
              <a:gd name="connsiteX20" fmla="*/ 69850 w 196850"/>
              <a:gd name="connsiteY20" fmla="*/ 819150 h 1625600"/>
              <a:gd name="connsiteX21" fmla="*/ 44450 w 196850"/>
              <a:gd name="connsiteY21" fmla="*/ 863600 h 1625600"/>
              <a:gd name="connsiteX22" fmla="*/ 31750 w 196850"/>
              <a:gd name="connsiteY22" fmla="*/ 882650 h 1625600"/>
              <a:gd name="connsiteX23" fmla="*/ 19050 w 196850"/>
              <a:gd name="connsiteY23" fmla="*/ 927100 h 1625600"/>
              <a:gd name="connsiteX24" fmla="*/ 31750 w 196850"/>
              <a:gd name="connsiteY24" fmla="*/ 1060450 h 1625600"/>
              <a:gd name="connsiteX25" fmla="*/ 63500 w 196850"/>
              <a:gd name="connsiteY25" fmla="*/ 1092200 h 1625600"/>
              <a:gd name="connsiteX26" fmla="*/ 76200 w 196850"/>
              <a:gd name="connsiteY26" fmla="*/ 1111250 h 1625600"/>
              <a:gd name="connsiteX27" fmla="*/ 114300 w 196850"/>
              <a:gd name="connsiteY27" fmla="*/ 1136650 h 1625600"/>
              <a:gd name="connsiteX28" fmla="*/ 120650 w 196850"/>
              <a:gd name="connsiteY28" fmla="*/ 1155700 h 1625600"/>
              <a:gd name="connsiteX29" fmla="*/ 139700 w 196850"/>
              <a:gd name="connsiteY29" fmla="*/ 1168400 h 1625600"/>
              <a:gd name="connsiteX30" fmla="*/ 165100 w 196850"/>
              <a:gd name="connsiteY30" fmla="*/ 1187450 h 1625600"/>
              <a:gd name="connsiteX31" fmla="*/ 190500 w 196850"/>
              <a:gd name="connsiteY31" fmla="*/ 1225550 h 1625600"/>
              <a:gd name="connsiteX32" fmla="*/ 196850 w 196850"/>
              <a:gd name="connsiteY32" fmla="*/ 1250950 h 1625600"/>
              <a:gd name="connsiteX33" fmla="*/ 190500 w 196850"/>
              <a:gd name="connsiteY33" fmla="*/ 1339850 h 1625600"/>
              <a:gd name="connsiteX34" fmla="*/ 171450 w 196850"/>
              <a:gd name="connsiteY34" fmla="*/ 1403350 h 1625600"/>
              <a:gd name="connsiteX35" fmla="*/ 158750 w 196850"/>
              <a:gd name="connsiteY35" fmla="*/ 1422400 h 1625600"/>
              <a:gd name="connsiteX36" fmla="*/ 152400 w 196850"/>
              <a:gd name="connsiteY36" fmla="*/ 1441450 h 1625600"/>
              <a:gd name="connsiteX37" fmla="*/ 127000 w 196850"/>
              <a:gd name="connsiteY37" fmla="*/ 1498600 h 1625600"/>
              <a:gd name="connsiteX38" fmla="*/ 95250 w 196850"/>
              <a:gd name="connsiteY38" fmla="*/ 1555750 h 1625600"/>
              <a:gd name="connsiteX39" fmla="*/ 95250 w 196850"/>
              <a:gd name="connsiteY39" fmla="*/ 1625600 h 1625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196850" h="1625600">
                <a:moveTo>
                  <a:pt x="127000" y="0"/>
                </a:moveTo>
                <a:cubicBezTo>
                  <a:pt x="72901" y="32460"/>
                  <a:pt x="111869" y="2917"/>
                  <a:pt x="82550" y="38100"/>
                </a:cubicBezTo>
                <a:cubicBezTo>
                  <a:pt x="68308" y="55190"/>
                  <a:pt x="59809" y="55930"/>
                  <a:pt x="50800" y="76200"/>
                </a:cubicBezTo>
                <a:cubicBezTo>
                  <a:pt x="25936" y="132143"/>
                  <a:pt x="53821" y="98579"/>
                  <a:pt x="19050" y="133350"/>
                </a:cubicBezTo>
                <a:cubicBezTo>
                  <a:pt x="3590" y="179729"/>
                  <a:pt x="9597" y="158463"/>
                  <a:pt x="0" y="196850"/>
                </a:cubicBezTo>
                <a:cubicBezTo>
                  <a:pt x="14593" y="299002"/>
                  <a:pt x="3234" y="257352"/>
                  <a:pt x="25400" y="323850"/>
                </a:cubicBezTo>
                <a:cubicBezTo>
                  <a:pt x="30227" y="338330"/>
                  <a:pt x="42333" y="349250"/>
                  <a:pt x="50800" y="361950"/>
                </a:cubicBezTo>
                <a:cubicBezTo>
                  <a:pt x="63500" y="381000"/>
                  <a:pt x="61383" y="383117"/>
                  <a:pt x="82550" y="393700"/>
                </a:cubicBezTo>
                <a:cubicBezTo>
                  <a:pt x="88537" y="396693"/>
                  <a:pt x="95250" y="397933"/>
                  <a:pt x="101600" y="400050"/>
                </a:cubicBezTo>
                <a:cubicBezTo>
                  <a:pt x="150493" y="448943"/>
                  <a:pt x="129737" y="423206"/>
                  <a:pt x="165100" y="476250"/>
                </a:cubicBezTo>
                <a:cubicBezTo>
                  <a:pt x="169333" y="482600"/>
                  <a:pt x="175387" y="488060"/>
                  <a:pt x="177800" y="495300"/>
                </a:cubicBezTo>
                <a:cubicBezTo>
                  <a:pt x="179917" y="501650"/>
                  <a:pt x="182698" y="507816"/>
                  <a:pt x="184150" y="514350"/>
                </a:cubicBezTo>
                <a:cubicBezTo>
                  <a:pt x="186943" y="526919"/>
                  <a:pt x="187975" y="539825"/>
                  <a:pt x="190500" y="552450"/>
                </a:cubicBezTo>
                <a:cubicBezTo>
                  <a:pt x="192212" y="561008"/>
                  <a:pt x="194733" y="569383"/>
                  <a:pt x="196850" y="577850"/>
                </a:cubicBezTo>
                <a:cubicBezTo>
                  <a:pt x="194733" y="605367"/>
                  <a:pt x="193923" y="633015"/>
                  <a:pt x="190500" y="660400"/>
                </a:cubicBezTo>
                <a:cubicBezTo>
                  <a:pt x="188219" y="678652"/>
                  <a:pt x="167578" y="708722"/>
                  <a:pt x="158750" y="717550"/>
                </a:cubicBezTo>
                <a:cubicBezTo>
                  <a:pt x="152400" y="723900"/>
                  <a:pt x="145449" y="729701"/>
                  <a:pt x="139700" y="736600"/>
                </a:cubicBezTo>
                <a:cubicBezTo>
                  <a:pt x="113242" y="768350"/>
                  <a:pt x="142875" y="745067"/>
                  <a:pt x="107950" y="768350"/>
                </a:cubicBezTo>
                <a:cubicBezTo>
                  <a:pt x="103717" y="774700"/>
                  <a:pt x="98663" y="780574"/>
                  <a:pt x="95250" y="787400"/>
                </a:cubicBezTo>
                <a:cubicBezTo>
                  <a:pt x="92257" y="793387"/>
                  <a:pt x="93081" y="801223"/>
                  <a:pt x="88900" y="806450"/>
                </a:cubicBezTo>
                <a:cubicBezTo>
                  <a:pt x="84132" y="812409"/>
                  <a:pt x="76200" y="814917"/>
                  <a:pt x="69850" y="819150"/>
                </a:cubicBezTo>
                <a:cubicBezTo>
                  <a:pt x="38908" y="865562"/>
                  <a:pt x="76676" y="807204"/>
                  <a:pt x="44450" y="863600"/>
                </a:cubicBezTo>
                <a:cubicBezTo>
                  <a:pt x="40664" y="870226"/>
                  <a:pt x="35163" y="875824"/>
                  <a:pt x="31750" y="882650"/>
                </a:cubicBezTo>
                <a:cubicBezTo>
                  <a:pt x="27195" y="891760"/>
                  <a:pt x="21085" y="918962"/>
                  <a:pt x="19050" y="927100"/>
                </a:cubicBezTo>
                <a:cubicBezTo>
                  <a:pt x="19267" y="930136"/>
                  <a:pt x="24826" y="1037369"/>
                  <a:pt x="31750" y="1060450"/>
                </a:cubicBezTo>
                <a:cubicBezTo>
                  <a:pt x="37042" y="1078089"/>
                  <a:pt x="49742" y="1083028"/>
                  <a:pt x="63500" y="1092200"/>
                </a:cubicBezTo>
                <a:cubicBezTo>
                  <a:pt x="67733" y="1098550"/>
                  <a:pt x="70457" y="1106224"/>
                  <a:pt x="76200" y="1111250"/>
                </a:cubicBezTo>
                <a:cubicBezTo>
                  <a:pt x="87687" y="1121301"/>
                  <a:pt x="114300" y="1136650"/>
                  <a:pt x="114300" y="1136650"/>
                </a:cubicBezTo>
                <a:cubicBezTo>
                  <a:pt x="116417" y="1143000"/>
                  <a:pt x="116469" y="1150473"/>
                  <a:pt x="120650" y="1155700"/>
                </a:cubicBezTo>
                <a:cubicBezTo>
                  <a:pt x="125418" y="1161659"/>
                  <a:pt x="133490" y="1163964"/>
                  <a:pt x="139700" y="1168400"/>
                </a:cubicBezTo>
                <a:cubicBezTo>
                  <a:pt x="148312" y="1174551"/>
                  <a:pt x="158069" y="1179540"/>
                  <a:pt x="165100" y="1187450"/>
                </a:cubicBezTo>
                <a:cubicBezTo>
                  <a:pt x="175241" y="1198858"/>
                  <a:pt x="190500" y="1225550"/>
                  <a:pt x="190500" y="1225550"/>
                </a:cubicBezTo>
                <a:cubicBezTo>
                  <a:pt x="192617" y="1234017"/>
                  <a:pt x="196850" y="1242223"/>
                  <a:pt x="196850" y="1250950"/>
                </a:cubicBezTo>
                <a:cubicBezTo>
                  <a:pt x="196850" y="1280659"/>
                  <a:pt x="193781" y="1310323"/>
                  <a:pt x="190500" y="1339850"/>
                </a:cubicBezTo>
                <a:cubicBezTo>
                  <a:pt x="188901" y="1354245"/>
                  <a:pt x="174642" y="1393773"/>
                  <a:pt x="171450" y="1403350"/>
                </a:cubicBezTo>
                <a:cubicBezTo>
                  <a:pt x="169037" y="1410590"/>
                  <a:pt x="162163" y="1415574"/>
                  <a:pt x="158750" y="1422400"/>
                </a:cubicBezTo>
                <a:cubicBezTo>
                  <a:pt x="155757" y="1428387"/>
                  <a:pt x="155393" y="1435463"/>
                  <a:pt x="152400" y="1441450"/>
                </a:cubicBezTo>
                <a:cubicBezTo>
                  <a:pt x="122211" y="1501827"/>
                  <a:pt x="159765" y="1400306"/>
                  <a:pt x="127000" y="1498600"/>
                </a:cubicBezTo>
                <a:cubicBezTo>
                  <a:pt x="119404" y="1521388"/>
                  <a:pt x="96991" y="1531377"/>
                  <a:pt x="95250" y="1555750"/>
                </a:cubicBezTo>
                <a:cubicBezTo>
                  <a:pt x="93591" y="1578974"/>
                  <a:pt x="95250" y="1602317"/>
                  <a:pt x="95250" y="1625600"/>
                </a:cubicBezTo>
              </a:path>
            </a:pathLst>
          </a:custGeom>
          <a:ln w="28575"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ln w="12700">
                <a:solidFill>
                  <a:schemeClr val="tx1"/>
                </a:solidFill>
              </a:ln>
            </a:endParaRPr>
          </a:p>
        </p:txBody>
      </p:sp>
      <p:sp>
        <p:nvSpPr>
          <p:cNvPr id="32" name="Freeform 31"/>
          <p:cNvSpPr/>
          <p:nvPr/>
        </p:nvSpPr>
        <p:spPr>
          <a:xfrm>
            <a:off x="8430154" y="2893040"/>
            <a:ext cx="180446" cy="1490133"/>
          </a:xfrm>
          <a:custGeom>
            <a:avLst/>
            <a:gdLst>
              <a:gd name="connsiteX0" fmla="*/ 127000 w 196850"/>
              <a:gd name="connsiteY0" fmla="*/ 0 h 1625600"/>
              <a:gd name="connsiteX1" fmla="*/ 82550 w 196850"/>
              <a:gd name="connsiteY1" fmla="*/ 38100 h 1625600"/>
              <a:gd name="connsiteX2" fmla="*/ 50800 w 196850"/>
              <a:gd name="connsiteY2" fmla="*/ 76200 h 1625600"/>
              <a:gd name="connsiteX3" fmla="*/ 19050 w 196850"/>
              <a:gd name="connsiteY3" fmla="*/ 133350 h 1625600"/>
              <a:gd name="connsiteX4" fmla="*/ 0 w 196850"/>
              <a:gd name="connsiteY4" fmla="*/ 196850 h 1625600"/>
              <a:gd name="connsiteX5" fmla="*/ 25400 w 196850"/>
              <a:gd name="connsiteY5" fmla="*/ 323850 h 1625600"/>
              <a:gd name="connsiteX6" fmla="*/ 50800 w 196850"/>
              <a:gd name="connsiteY6" fmla="*/ 361950 h 1625600"/>
              <a:gd name="connsiteX7" fmla="*/ 82550 w 196850"/>
              <a:gd name="connsiteY7" fmla="*/ 393700 h 1625600"/>
              <a:gd name="connsiteX8" fmla="*/ 101600 w 196850"/>
              <a:gd name="connsiteY8" fmla="*/ 400050 h 1625600"/>
              <a:gd name="connsiteX9" fmla="*/ 165100 w 196850"/>
              <a:gd name="connsiteY9" fmla="*/ 476250 h 1625600"/>
              <a:gd name="connsiteX10" fmla="*/ 177800 w 196850"/>
              <a:gd name="connsiteY10" fmla="*/ 495300 h 1625600"/>
              <a:gd name="connsiteX11" fmla="*/ 184150 w 196850"/>
              <a:gd name="connsiteY11" fmla="*/ 514350 h 1625600"/>
              <a:gd name="connsiteX12" fmla="*/ 190500 w 196850"/>
              <a:gd name="connsiteY12" fmla="*/ 552450 h 1625600"/>
              <a:gd name="connsiteX13" fmla="*/ 196850 w 196850"/>
              <a:gd name="connsiteY13" fmla="*/ 577850 h 1625600"/>
              <a:gd name="connsiteX14" fmla="*/ 190500 w 196850"/>
              <a:gd name="connsiteY14" fmla="*/ 660400 h 1625600"/>
              <a:gd name="connsiteX15" fmla="*/ 158750 w 196850"/>
              <a:gd name="connsiteY15" fmla="*/ 717550 h 1625600"/>
              <a:gd name="connsiteX16" fmla="*/ 139700 w 196850"/>
              <a:gd name="connsiteY16" fmla="*/ 736600 h 1625600"/>
              <a:gd name="connsiteX17" fmla="*/ 107950 w 196850"/>
              <a:gd name="connsiteY17" fmla="*/ 768350 h 1625600"/>
              <a:gd name="connsiteX18" fmla="*/ 95250 w 196850"/>
              <a:gd name="connsiteY18" fmla="*/ 787400 h 1625600"/>
              <a:gd name="connsiteX19" fmla="*/ 88900 w 196850"/>
              <a:gd name="connsiteY19" fmla="*/ 806450 h 1625600"/>
              <a:gd name="connsiteX20" fmla="*/ 69850 w 196850"/>
              <a:gd name="connsiteY20" fmla="*/ 819150 h 1625600"/>
              <a:gd name="connsiteX21" fmla="*/ 44450 w 196850"/>
              <a:gd name="connsiteY21" fmla="*/ 863600 h 1625600"/>
              <a:gd name="connsiteX22" fmla="*/ 31750 w 196850"/>
              <a:gd name="connsiteY22" fmla="*/ 882650 h 1625600"/>
              <a:gd name="connsiteX23" fmla="*/ 19050 w 196850"/>
              <a:gd name="connsiteY23" fmla="*/ 927100 h 1625600"/>
              <a:gd name="connsiteX24" fmla="*/ 31750 w 196850"/>
              <a:gd name="connsiteY24" fmla="*/ 1060450 h 1625600"/>
              <a:gd name="connsiteX25" fmla="*/ 63500 w 196850"/>
              <a:gd name="connsiteY25" fmla="*/ 1092200 h 1625600"/>
              <a:gd name="connsiteX26" fmla="*/ 76200 w 196850"/>
              <a:gd name="connsiteY26" fmla="*/ 1111250 h 1625600"/>
              <a:gd name="connsiteX27" fmla="*/ 114300 w 196850"/>
              <a:gd name="connsiteY27" fmla="*/ 1136650 h 1625600"/>
              <a:gd name="connsiteX28" fmla="*/ 120650 w 196850"/>
              <a:gd name="connsiteY28" fmla="*/ 1155700 h 1625600"/>
              <a:gd name="connsiteX29" fmla="*/ 139700 w 196850"/>
              <a:gd name="connsiteY29" fmla="*/ 1168400 h 1625600"/>
              <a:gd name="connsiteX30" fmla="*/ 165100 w 196850"/>
              <a:gd name="connsiteY30" fmla="*/ 1187450 h 1625600"/>
              <a:gd name="connsiteX31" fmla="*/ 190500 w 196850"/>
              <a:gd name="connsiteY31" fmla="*/ 1225550 h 1625600"/>
              <a:gd name="connsiteX32" fmla="*/ 196850 w 196850"/>
              <a:gd name="connsiteY32" fmla="*/ 1250950 h 1625600"/>
              <a:gd name="connsiteX33" fmla="*/ 190500 w 196850"/>
              <a:gd name="connsiteY33" fmla="*/ 1339850 h 1625600"/>
              <a:gd name="connsiteX34" fmla="*/ 171450 w 196850"/>
              <a:gd name="connsiteY34" fmla="*/ 1403350 h 1625600"/>
              <a:gd name="connsiteX35" fmla="*/ 158750 w 196850"/>
              <a:gd name="connsiteY35" fmla="*/ 1422400 h 1625600"/>
              <a:gd name="connsiteX36" fmla="*/ 152400 w 196850"/>
              <a:gd name="connsiteY36" fmla="*/ 1441450 h 1625600"/>
              <a:gd name="connsiteX37" fmla="*/ 127000 w 196850"/>
              <a:gd name="connsiteY37" fmla="*/ 1498600 h 1625600"/>
              <a:gd name="connsiteX38" fmla="*/ 95250 w 196850"/>
              <a:gd name="connsiteY38" fmla="*/ 1555750 h 1625600"/>
              <a:gd name="connsiteX39" fmla="*/ 95250 w 196850"/>
              <a:gd name="connsiteY39" fmla="*/ 1625600 h 1625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196850" h="1625600">
                <a:moveTo>
                  <a:pt x="127000" y="0"/>
                </a:moveTo>
                <a:cubicBezTo>
                  <a:pt x="72901" y="32460"/>
                  <a:pt x="111869" y="2917"/>
                  <a:pt x="82550" y="38100"/>
                </a:cubicBezTo>
                <a:cubicBezTo>
                  <a:pt x="68308" y="55190"/>
                  <a:pt x="59809" y="55930"/>
                  <a:pt x="50800" y="76200"/>
                </a:cubicBezTo>
                <a:cubicBezTo>
                  <a:pt x="25936" y="132143"/>
                  <a:pt x="53821" y="98579"/>
                  <a:pt x="19050" y="133350"/>
                </a:cubicBezTo>
                <a:cubicBezTo>
                  <a:pt x="3590" y="179729"/>
                  <a:pt x="9597" y="158463"/>
                  <a:pt x="0" y="196850"/>
                </a:cubicBezTo>
                <a:cubicBezTo>
                  <a:pt x="14593" y="299002"/>
                  <a:pt x="3234" y="257352"/>
                  <a:pt x="25400" y="323850"/>
                </a:cubicBezTo>
                <a:cubicBezTo>
                  <a:pt x="30227" y="338330"/>
                  <a:pt x="42333" y="349250"/>
                  <a:pt x="50800" y="361950"/>
                </a:cubicBezTo>
                <a:cubicBezTo>
                  <a:pt x="63500" y="381000"/>
                  <a:pt x="61383" y="383117"/>
                  <a:pt x="82550" y="393700"/>
                </a:cubicBezTo>
                <a:cubicBezTo>
                  <a:pt x="88537" y="396693"/>
                  <a:pt x="95250" y="397933"/>
                  <a:pt x="101600" y="400050"/>
                </a:cubicBezTo>
                <a:cubicBezTo>
                  <a:pt x="150493" y="448943"/>
                  <a:pt x="129737" y="423206"/>
                  <a:pt x="165100" y="476250"/>
                </a:cubicBezTo>
                <a:cubicBezTo>
                  <a:pt x="169333" y="482600"/>
                  <a:pt x="175387" y="488060"/>
                  <a:pt x="177800" y="495300"/>
                </a:cubicBezTo>
                <a:cubicBezTo>
                  <a:pt x="179917" y="501650"/>
                  <a:pt x="182698" y="507816"/>
                  <a:pt x="184150" y="514350"/>
                </a:cubicBezTo>
                <a:cubicBezTo>
                  <a:pt x="186943" y="526919"/>
                  <a:pt x="187975" y="539825"/>
                  <a:pt x="190500" y="552450"/>
                </a:cubicBezTo>
                <a:cubicBezTo>
                  <a:pt x="192212" y="561008"/>
                  <a:pt x="194733" y="569383"/>
                  <a:pt x="196850" y="577850"/>
                </a:cubicBezTo>
                <a:cubicBezTo>
                  <a:pt x="194733" y="605367"/>
                  <a:pt x="193923" y="633015"/>
                  <a:pt x="190500" y="660400"/>
                </a:cubicBezTo>
                <a:cubicBezTo>
                  <a:pt x="188219" y="678652"/>
                  <a:pt x="167578" y="708722"/>
                  <a:pt x="158750" y="717550"/>
                </a:cubicBezTo>
                <a:cubicBezTo>
                  <a:pt x="152400" y="723900"/>
                  <a:pt x="145449" y="729701"/>
                  <a:pt x="139700" y="736600"/>
                </a:cubicBezTo>
                <a:cubicBezTo>
                  <a:pt x="113242" y="768350"/>
                  <a:pt x="142875" y="745067"/>
                  <a:pt x="107950" y="768350"/>
                </a:cubicBezTo>
                <a:cubicBezTo>
                  <a:pt x="103717" y="774700"/>
                  <a:pt x="98663" y="780574"/>
                  <a:pt x="95250" y="787400"/>
                </a:cubicBezTo>
                <a:cubicBezTo>
                  <a:pt x="92257" y="793387"/>
                  <a:pt x="93081" y="801223"/>
                  <a:pt x="88900" y="806450"/>
                </a:cubicBezTo>
                <a:cubicBezTo>
                  <a:pt x="84132" y="812409"/>
                  <a:pt x="76200" y="814917"/>
                  <a:pt x="69850" y="819150"/>
                </a:cubicBezTo>
                <a:cubicBezTo>
                  <a:pt x="38908" y="865562"/>
                  <a:pt x="76676" y="807204"/>
                  <a:pt x="44450" y="863600"/>
                </a:cubicBezTo>
                <a:cubicBezTo>
                  <a:pt x="40664" y="870226"/>
                  <a:pt x="35163" y="875824"/>
                  <a:pt x="31750" y="882650"/>
                </a:cubicBezTo>
                <a:cubicBezTo>
                  <a:pt x="27195" y="891760"/>
                  <a:pt x="21085" y="918962"/>
                  <a:pt x="19050" y="927100"/>
                </a:cubicBezTo>
                <a:cubicBezTo>
                  <a:pt x="19267" y="930136"/>
                  <a:pt x="24826" y="1037369"/>
                  <a:pt x="31750" y="1060450"/>
                </a:cubicBezTo>
                <a:cubicBezTo>
                  <a:pt x="37042" y="1078089"/>
                  <a:pt x="49742" y="1083028"/>
                  <a:pt x="63500" y="1092200"/>
                </a:cubicBezTo>
                <a:cubicBezTo>
                  <a:pt x="67733" y="1098550"/>
                  <a:pt x="70457" y="1106224"/>
                  <a:pt x="76200" y="1111250"/>
                </a:cubicBezTo>
                <a:cubicBezTo>
                  <a:pt x="87687" y="1121301"/>
                  <a:pt x="114300" y="1136650"/>
                  <a:pt x="114300" y="1136650"/>
                </a:cubicBezTo>
                <a:cubicBezTo>
                  <a:pt x="116417" y="1143000"/>
                  <a:pt x="116469" y="1150473"/>
                  <a:pt x="120650" y="1155700"/>
                </a:cubicBezTo>
                <a:cubicBezTo>
                  <a:pt x="125418" y="1161659"/>
                  <a:pt x="133490" y="1163964"/>
                  <a:pt x="139700" y="1168400"/>
                </a:cubicBezTo>
                <a:cubicBezTo>
                  <a:pt x="148312" y="1174551"/>
                  <a:pt x="158069" y="1179540"/>
                  <a:pt x="165100" y="1187450"/>
                </a:cubicBezTo>
                <a:cubicBezTo>
                  <a:pt x="175241" y="1198858"/>
                  <a:pt x="190500" y="1225550"/>
                  <a:pt x="190500" y="1225550"/>
                </a:cubicBezTo>
                <a:cubicBezTo>
                  <a:pt x="192617" y="1234017"/>
                  <a:pt x="196850" y="1242223"/>
                  <a:pt x="196850" y="1250950"/>
                </a:cubicBezTo>
                <a:cubicBezTo>
                  <a:pt x="196850" y="1280659"/>
                  <a:pt x="193781" y="1310323"/>
                  <a:pt x="190500" y="1339850"/>
                </a:cubicBezTo>
                <a:cubicBezTo>
                  <a:pt x="188901" y="1354245"/>
                  <a:pt x="174642" y="1393773"/>
                  <a:pt x="171450" y="1403350"/>
                </a:cubicBezTo>
                <a:cubicBezTo>
                  <a:pt x="169037" y="1410590"/>
                  <a:pt x="162163" y="1415574"/>
                  <a:pt x="158750" y="1422400"/>
                </a:cubicBezTo>
                <a:cubicBezTo>
                  <a:pt x="155757" y="1428387"/>
                  <a:pt x="155393" y="1435463"/>
                  <a:pt x="152400" y="1441450"/>
                </a:cubicBezTo>
                <a:cubicBezTo>
                  <a:pt x="122211" y="1501827"/>
                  <a:pt x="159765" y="1400306"/>
                  <a:pt x="127000" y="1498600"/>
                </a:cubicBezTo>
                <a:cubicBezTo>
                  <a:pt x="119404" y="1521388"/>
                  <a:pt x="96991" y="1531377"/>
                  <a:pt x="95250" y="1555750"/>
                </a:cubicBezTo>
                <a:cubicBezTo>
                  <a:pt x="93591" y="1578974"/>
                  <a:pt x="95250" y="1602317"/>
                  <a:pt x="95250" y="1625600"/>
                </a:cubicBezTo>
              </a:path>
            </a:pathLst>
          </a:custGeom>
          <a:ln w="28575"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ln w="12700">
                <a:solidFill>
                  <a:schemeClr val="tx1"/>
                </a:solidFill>
              </a:ln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713846" y="5681591"/>
            <a:ext cx="77163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smtClean="0"/>
              <a:t>An array of GPU threads is called a </a:t>
            </a:r>
            <a:r>
              <a:rPr lang="en-US" sz="2400" b="1" dirty="0" smtClean="0">
                <a:solidFill>
                  <a:schemeClr val="accent5"/>
                </a:solidFill>
              </a:rPr>
              <a:t>grid</a:t>
            </a:r>
            <a:endParaRPr lang="en-US" sz="2400" b="1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474757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/>
              <a:t>Blocks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919748" y="2806970"/>
            <a:ext cx="1645920" cy="1645920"/>
          </a:xfrm>
          <a:prstGeom prst="rect">
            <a:avLst/>
          </a:prstGeom>
          <a:noFill/>
          <a:ln w="38100">
            <a:solidFill>
              <a:schemeClr val="accent5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/>
          <p:cNvSpPr/>
          <p:nvPr/>
        </p:nvSpPr>
        <p:spPr>
          <a:xfrm>
            <a:off x="3634378" y="2806970"/>
            <a:ext cx="1645920" cy="1645920"/>
          </a:xfrm>
          <a:prstGeom prst="rect">
            <a:avLst/>
          </a:prstGeom>
          <a:noFill/>
          <a:ln w="38100">
            <a:solidFill>
              <a:schemeClr val="accent5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/>
          <p:cNvSpPr/>
          <p:nvPr/>
        </p:nvSpPr>
        <p:spPr>
          <a:xfrm>
            <a:off x="5349008" y="2806970"/>
            <a:ext cx="1645920" cy="1645920"/>
          </a:xfrm>
          <a:prstGeom prst="rect">
            <a:avLst/>
          </a:prstGeom>
          <a:noFill/>
          <a:ln w="38100">
            <a:solidFill>
              <a:schemeClr val="accent5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/>
          <p:cNvSpPr/>
          <p:nvPr/>
        </p:nvSpPr>
        <p:spPr>
          <a:xfrm>
            <a:off x="7063637" y="2806970"/>
            <a:ext cx="1645920" cy="1645920"/>
          </a:xfrm>
          <a:prstGeom prst="rect">
            <a:avLst/>
          </a:prstGeom>
          <a:noFill/>
          <a:ln w="38100">
            <a:solidFill>
              <a:schemeClr val="accent5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 14"/>
          <p:cNvSpPr/>
          <p:nvPr/>
        </p:nvSpPr>
        <p:spPr>
          <a:xfrm>
            <a:off x="2038879" y="2885356"/>
            <a:ext cx="180446" cy="1490133"/>
          </a:xfrm>
          <a:custGeom>
            <a:avLst/>
            <a:gdLst>
              <a:gd name="connsiteX0" fmla="*/ 127000 w 196850"/>
              <a:gd name="connsiteY0" fmla="*/ 0 h 1625600"/>
              <a:gd name="connsiteX1" fmla="*/ 82550 w 196850"/>
              <a:gd name="connsiteY1" fmla="*/ 38100 h 1625600"/>
              <a:gd name="connsiteX2" fmla="*/ 50800 w 196850"/>
              <a:gd name="connsiteY2" fmla="*/ 76200 h 1625600"/>
              <a:gd name="connsiteX3" fmla="*/ 19050 w 196850"/>
              <a:gd name="connsiteY3" fmla="*/ 133350 h 1625600"/>
              <a:gd name="connsiteX4" fmla="*/ 0 w 196850"/>
              <a:gd name="connsiteY4" fmla="*/ 196850 h 1625600"/>
              <a:gd name="connsiteX5" fmla="*/ 25400 w 196850"/>
              <a:gd name="connsiteY5" fmla="*/ 323850 h 1625600"/>
              <a:gd name="connsiteX6" fmla="*/ 50800 w 196850"/>
              <a:gd name="connsiteY6" fmla="*/ 361950 h 1625600"/>
              <a:gd name="connsiteX7" fmla="*/ 82550 w 196850"/>
              <a:gd name="connsiteY7" fmla="*/ 393700 h 1625600"/>
              <a:gd name="connsiteX8" fmla="*/ 101600 w 196850"/>
              <a:gd name="connsiteY8" fmla="*/ 400050 h 1625600"/>
              <a:gd name="connsiteX9" fmla="*/ 165100 w 196850"/>
              <a:gd name="connsiteY9" fmla="*/ 476250 h 1625600"/>
              <a:gd name="connsiteX10" fmla="*/ 177800 w 196850"/>
              <a:gd name="connsiteY10" fmla="*/ 495300 h 1625600"/>
              <a:gd name="connsiteX11" fmla="*/ 184150 w 196850"/>
              <a:gd name="connsiteY11" fmla="*/ 514350 h 1625600"/>
              <a:gd name="connsiteX12" fmla="*/ 190500 w 196850"/>
              <a:gd name="connsiteY12" fmla="*/ 552450 h 1625600"/>
              <a:gd name="connsiteX13" fmla="*/ 196850 w 196850"/>
              <a:gd name="connsiteY13" fmla="*/ 577850 h 1625600"/>
              <a:gd name="connsiteX14" fmla="*/ 190500 w 196850"/>
              <a:gd name="connsiteY14" fmla="*/ 660400 h 1625600"/>
              <a:gd name="connsiteX15" fmla="*/ 158750 w 196850"/>
              <a:gd name="connsiteY15" fmla="*/ 717550 h 1625600"/>
              <a:gd name="connsiteX16" fmla="*/ 139700 w 196850"/>
              <a:gd name="connsiteY16" fmla="*/ 736600 h 1625600"/>
              <a:gd name="connsiteX17" fmla="*/ 107950 w 196850"/>
              <a:gd name="connsiteY17" fmla="*/ 768350 h 1625600"/>
              <a:gd name="connsiteX18" fmla="*/ 95250 w 196850"/>
              <a:gd name="connsiteY18" fmla="*/ 787400 h 1625600"/>
              <a:gd name="connsiteX19" fmla="*/ 88900 w 196850"/>
              <a:gd name="connsiteY19" fmla="*/ 806450 h 1625600"/>
              <a:gd name="connsiteX20" fmla="*/ 69850 w 196850"/>
              <a:gd name="connsiteY20" fmla="*/ 819150 h 1625600"/>
              <a:gd name="connsiteX21" fmla="*/ 44450 w 196850"/>
              <a:gd name="connsiteY21" fmla="*/ 863600 h 1625600"/>
              <a:gd name="connsiteX22" fmla="*/ 31750 w 196850"/>
              <a:gd name="connsiteY22" fmla="*/ 882650 h 1625600"/>
              <a:gd name="connsiteX23" fmla="*/ 19050 w 196850"/>
              <a:gd name="connsiteY23" fmla="*/ 927100 h 1625600"/>
              <a:gd name="connsiteX24" fmla="*/ 31750 w 196850"/>
              <a:gd name="connsiteY24" fmla="*/ 1060450 h 1625600"/>
              <a:gd name="connsiteX25" fmla="*/ 63500 w 196850"/>
              <a:gd name="connsiteY25" fmla="*/ 1092200 h 1625600"/>
              <a:gd name="connsiteX26" fmla="*/ 76200 w 196850"/>
              <a:gd name="connsiteY26" fmla="*/ 1111250 h 1625600"/>
              <a:gd name="connsiteX27" fmla="*/ 114300 w 196850"/>
              <a:gd name="connsiteY27" fmla="*/ 1136650 h 1625600"/>
              <a:gd name="connsiteX28" fmla="*/ 120650 w 196850"/>
              <a:gd name="connsiteY28" fmla="*/ 1155700 h 1625600"/>
              <a:gd name="connsiteX29" fmla="*/ 139700 w 196850"/>
              <a:gd name="connsiteY29" fmla="*/ 1168400 h 1625600"/>
              <a:gd name="connsiteX30" fmla="*/ 165100 w 196850"/>
              <a:gd name="connsiteY30" fmla="*/ 1187450 h 1625600"/>
              <a:gd name="connsiteX31" fmla="*/ 190500 w 196850"/>
              <a:gd name="connsiteY31" fmla="*/ 1225550 h 1625600"/>
              <a:gd name="connsiteX32" fmla="*/ 196850 w 196850"/>
              <a:gd name="connsiteY32" fmla="*/ 1250950 h 1625600"/>
              <a:gd name="connsiteX33" fmla="*/ 190500 w 196850"/>
              <a:gd name="connsiteY33" fmla="*/ 1339850 h 1625600"/>
              <a:gd name="connsiteX34" fmla="*/ 171450 w 196850"/>
              <a:gd name="connsiteY34" fmla="*/ 1403350 h 1625600"/>
              <a:gd name="connsiteX35" fmla="*/ 158750 w 196850"/>
              <a:gd name="connsiteY35" fmla="*/ 1422400 h 1625600"/>
              <a:gd name="connsiteX36" fmla="*/ 152400 w 196850"/>
              <a:gd name="connsiteY36" fmla="*/ 1441450 h 1625600"/>
              <a:gd name="connsiteX37" fmla="*/ 127000 w 196850"/>
              <a:gd name="connsiteY37" fmla="*/ 1498600 h 1625600"/>
              <a:gd name="connsiteX38" fmla="*/ 95250 w 196850"/>
              <a:gd name="connsiteY38" fmla="*/ 1555750 h 1625600"/>
              <a:gd name="connsiteX39" fmla="*/ 95250 w 196850"/>
              <a:gd name="connsiteY39" fmla="*/ 1625600 h 1625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196850" h="1625600">
                <a:moveTo>
                  <a:pt x="127000" y="0"/>
                </a:moveTo>
                <a:cubicBezTo>
                  <a:pt x="72901" y="32460"/>
                  <a:pt x="111869" y="2917"/>
                  <a:pt x="82550" y="38100"/>
                </a:cubicBezTo>
                <a:cubicBezTo>
                  <a:pt x="68308" y="55190"/>
                  <a:pt x="59809" y="55930"/>
                  <a:pt x="50800" y="76200"/>
                </a:cubicBezTo>
                <a:cubicBezTo>
                  <a:pt x="25936" y="132143"/>
                  <a:pt x="53821" y="98579"/>
                  <a:pt x="19050" y="133350"/>
                </a:cubicBezTo>
                <a:cubicBezTo>
                  <a:pt x="3590" y="179729"/>
                  <a:pt x="9597" y="158463"/>
                  <a:pt x="0" y="196850"/>
                </a:cubicBezTo>
                <a:cubicBezTo>
                  <a:pt x="14593" y="299002"/>
                  <a:pt x="3234" y="257352"/>
                  <a:pt x="25400" y="323850"/>
                </a:cubicBezTo>
                <a:cubicBezTo>
                  <a:pt x="30227" y="338330"/>
                  <a:pt x="42333" y="349250"/>
                  <a:pt x="50800" y="361950"/>
                </a:cubicBezTo>
                <a:cubicBezTo>
                  <a:pt x="63500" y="381000"/>
                  <a:pt x="61383" y="383117"/>
                  <a:pt x="82550" y="393700"/>
                </a:cubicBezTo>
                <a:cubicBezTo>
                  <a:pt x="88537" y="396693"/>
                  <a:pt x="95250" y="397933"/>
                  <a:pt x="101600" y="400050"/>
                </a:cubicBezTo>
                <a:cubicBezTo>
                  <a:pt x="150493" y="448943"/>
                  <a:pt x="129737" y="423206"/>
                  <a:pt x="165100" y="476250"/>
                </a:cubicBezTo>
                <a:cubicBezTo>
                  <a:pt x="169333" y="482600"/>
                  <a:pt x="175387" y="488060"/>
                  <a:pt x="177800" y="495300"/>
                </a:cubicBezTo>
                <a:cubicBezTo>
                  <a:pt x="179917" y="501650"/>
                  <a:pt x="182698" y="507816"/>
                  <a:pt x="184150" y="514350"/>
                </a:cubicBezTo>
                <a:cubicBezTo>
                  <a:pt x="186943" y="526919"/>
                  <a:pt x="187975" y="539825"/>
                  <a:pt x="190500" y="552450"/>
                </a:cubicBezTo>
                <a:cubicBezTo>
                  <a:pt x="192212" y="561008"/>
                  <a:pt x="194733" y="569383"/>
                  <a:pt x="196850" y="577850"/>
                </a:cubicBezTo>
                <a:cubicBezTo>
                  <a:pt x="194733" y="605367"/>
                  <a:pt x="193923" y="633015"/>
                  <a:pt x="190500" y="660400"/>
                </a:cubicBezTo>
                <a:cubicBezTo>
                  <a:pt x="188219" y="678652"/>
                  <a:pt x="167578" y="708722"/>
                  <a:pt x="158750" y="717550"/>
                </a:cubicBezTo>
                <a:cubicBezTo>
                  <a:pt x="152400" y="723900"/>
                  <a:pt x="145449" y="729701"/>
                  <a:pt x="139700" y="736600"/>
                </a:cubicBezTo>
                <a:cubicBezTo>
                  <a:pt x="113242" y="768350"/>
                  <a:pt x="142875" y="745067"/>
                  <a:pt x="107950" y="768350"/>
                </a:cubicBezTo>
                <a:cubicBezTo>
                  <a:pt x="103717" y="774700"/>
                  <a:pt x="98663" y="780574"/>
                  <a:pt x="95250" y="787400"/>
                </a:cubicBezTo>
                <a:cubicBezTo>
                  <a:pt x="92257" y="793387"/>
                  <a:pt x="93081" y="801223"/>
                  <a:pt x="88900" y="806450"/>
                </a:cubicBezTo>
                <a:cubicBezTo>
                  <a:pt x="84132" y="812409"/>
                  <a:pt x="76200" y="814917"/>
                  <a:pt x="69850" y="819150"/>
                </a:cubicBezTo>
                <a:cubicBezTo>
                  <a:pt x="38908" y="865562"/>
                  <a:pt x="76676" y="807204"/>
                  <a:pt x="44450" y="863600"/>
                </a:cubicBezTo>
                <a:cubicBezTo>
                  <a:pt x="40664" y="870226"/>
                  <a:pt x="35163" y="875824"/>
                  <a:pt x="31750" y="882650"/>
                </a:cubicBezTo>
                <a:cubicBezTo>
                  <a:pt x="27195" y="891760"/>
                  <a:pt x="21085" y="918962"/>
                  <a:pt x="19050" y="927100"/>
                </a:cubicBezTo>
                <a:cubicBezTo>
                  <a:pt x="19267" y="930136"/>
                  <a:pt x="24826" y="1037369"/>
                  <a:pt x="31750" y="1060450"/>
                </a:cubicBezTo>
                <a:cubicBezTo>
                  <a:pt x="37042" y="1078089"/>
                  <a:pt x="49742" y="1083028"/>
                  <a:pt x="63500" y="1092200"/>
                </a:cubicBezTo>
                <a:cubicBezTo>
                  <a:pt x="67733" y="1098550"/>
                  <a:pt x="70457" y="1106224"/>
                  <a:pt x="76200" y="1111250"/>
                </a:cubicBezTo>
                <a:cubicBezTo>
                  <a:pt x="87687" y="1121301"/>
                  <a:pt x="114300" y="1136650"/>
                  <a:pt x="114300" y="1136650"/>
                </a:cubicBezTo>
                <a:cubicBezTo>
                  <a:pt x="116417" y="1143000"/>
                  <a:pt x="116469" y="1150473"/>
                  <a:pt x="120650" y="1155700"/>
                </a:cubicBezTo>
                <a:cubicBezTo>
                  <a:pt x="125418" y="1161659"/>
                  <a:pt x="133490" y="1163964"/>
                  <a:pt x="139700" y="1168400"/>
                </a:cubicBezTo>
                <a:cubicBezTo>
                  <a:pt x="148312" y="1174551"/>
                  <a:pt x="158069" y="1179540"/>
                  <a:pt x="165100" y="1187450"/>
                </a:cubicBezTo>
                <a:cubicBezTo>
                  <a:pt x="175241" y="1198858"/>
                  <a:pt x="190500" y="1225550"/>
                  <a:pt x="190500" y="1225550"/>
                </a:cubicBezTo>
                <a:cubicBezTo>
                  <a:pt x="192617" y="1234017"/>
                  <a:pt x="196850" y="1242223"/>
                  <a:pt x="196850" y="1250950"/>
                </a:cubicBezTo>
                <a:cubicBezTo>
                  <a:pt x="196850" y="1280659"/>
                  <a:pt x="193781" y="1310323"/>
                  <a:pt x="190500" y="1339850"/>
                </a:cubicBezTo>
                <a:cubicBezTo>
                  <a:pt x="188901" y="1354245"/>
                  <a:pt x="174642" y="1393773"/>
                  <a:pt x="171450" y="1403350"/>
                </a:cubicBezTo>
                <a:cubicBezTo>
                  <a:pt x="169037" y="1410590"/>
                  <a:pt x="162163" y="1415574"/>
                  <a:pt x="158750" y="1422400"/>
                </a:cubicBezTo>
                <a:cubicBezTo>
                  <a:pt x="155757" y="1428387"/>
                  <a:pt x="155393" y="1435463"/>
                  <a:pt x="152400" y="1441450"/>
                </a:cubicBezTo>
                <a:cubicBezTo>
                  <a:pt x="122211" y="1501827"/>
                  <a:pt x="159765" y="1400306"/>
                  <a:pt x="127000" y="1498600"/>
                </a:cubicBezTo>
                <a:cubicBezTo>
                  <a:pt x="119404" y="1521388"/>
                  <a:pt x="96991" y="1531377"/>
                  <a:pt x="95250" y="1555750"/>
                </a:cubicBezTo>
                <a:cubicBezTo>
                  <a:pt x="93591" y="1578974"/>
                  <a:pt x="95250" y="1602317"/>
                  <a:pt x="95250" y="1625600"/>
                </a:cubicBezTo>
              </a:path>
            </a:pathLst>
          </a:custGeom>
          <a:ln w="28575"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ln w="12700">
                <a:solidFill>
                  <a:schemeClr val="tx1"/>
                </a:solidFill>
              </a:ln>
            </a:endParaRPr>
          </a:p>
        </p:txBody>
      </p:sp>
      <p:sp>
        <p:nvSpPr>
          <p:cNvPr id="16" name="Freeform 15"/>
          <p:cNvSpPr/>
          <p:nvPr/>
        </p:nvSpPr>
        <p:spPr>
          <a:xfrm>
            <a:off x="2464964" y="2885356"/>
            <a:ext cx="180446" cy="1490133"/>
          </a:xfrm>
          <a:custGeom>
            <a:avLst/>
            <a:gdLst>
              <a:gd name="connsiteX0" fmla="*/ 127000 w 196850"/>
              <a:gd name="connsiteY0" fmla="*/ 0 h 1625600"/>
              <a:gd name="connsiteX1" fmla="*/ 82550 w 196850"/>
              <a:gd name="connsiteY1" fmla="*/ 38100 h 1625600"/>
              <a:gd name="connsiteX2" fmla="*/ 50800 w 196850"/>
              <a:gd name="connsiteY2" fmla="*/ 76200 h 1625600"/>
              <a:gd name="connsiteX3" fmla="*/ 19050 w 196850"/>
              <a:gd name="connsiteY3" fmla="*/ 133350 h 1625600"/>
              <a:gd name="connsiteX4" fmla="*/ 0 w 196850"/>
              <a:gd name="connsiteY4" fmla="*/ 196850 h 1625600"/>
              <a:gd name="connsiteX5" fmla="*/ 25400 w 196850"/>
              <a:gd name="connsiteY5" fmla="*/ 323850 h 1625600"/>
              <a:gd name="connsiteX6" fmla="*/ 50800 w 196850"/>
              <a:gd name="connsiteY6" fmla="*/ 361950 h 1625600"/>
              <a:gd name="connsiteX7" fmla="*/ 82550 w 196850"/>
              <a:gd name="connsiteY7" fmla="*/ 393700 h 1625600"/>
              <a:gd name="connsiteX8" fmla="*/ 101600 w 196850"/>
              <a:gd name="connsiteY8" fmla="*/ 400050 h 1625600"/>
              <a:gd name="connsiteX9" fmla="*/ 165100 w 196850"/>
              <a:gd name="connsiteY9" fmla="*/ 476250 h 1625600"/>
              <a:gd name="connsiteX10" fmla="*/ 177800 w 196850"/>
              <a:gd name="connsiteY10" fmla="*/ 495300 h 1625600"/>
              <a:gd name="connsiteX11" fmla="*/ 184150 w 196850"/>
              <a:gd name="connsiteY11" fmla="*/ 514350 h 1625600"/>
              <a:gd name="connsiteX12" fmla="*/ 190500 w 196850"/>
              <a:gd name="connsiteY12" fmla="*/ 552450 h 1625600"/>
              <a:gd name="connsiteX13" fmla="*/ 196850 w 196850"/>
              <a:gd name="connsiteY13" fmla="*/ 577850 h 1625600"/>
              <a:gd name="connsiteX14" fmla="*/ 190500 w 196850"/>
              <a:gd name="connsiteY14" fmla="*/ 660400 h 1625600"/>
              <a:gd name="connsiteX15" fmla="*/ 158750 w 196850"/>
              <a:gd name="connsiteY15" fmla="*/ 717550 h 1625600"/>
              <a:gd name="connsiteX16" fmla="*/ 139700 w 196850"/>
              <a:gd name="connsiteY16" fmla="*/ 736600 h 1625600"/>
              <a:gd name="connsiteX17" fmla="*/ 107950 w 196850"/>
              <a:gd name="connsiteY17" fmla="*/ 768350 h 1625600"/>
              <a:gd name="connsiteX18" fmla="*/ 95250 w 196850"/>
              <a:gd name="connsiteY18" fmla="*/ 787400 h 1625600"/>
              <a:gd name="connsiteX19" fmla="*/ 88900 w 196850"/>
              <a:gd name="connsiteY19" fmla="*/ 806450 h 1625600"/>
              <a:gd name="connsiteX20" fmla="*/ 69850 w 196850"/>
              <a:gd name="connsiteY20" fmla="*/ 819150 h 1625600"/>
              <a:gd name="connsiteX21" fmla="*/ 44450 w 196850"/>
              <a:gd name="connsiteY21" fmla="*/ 863600 h 1625600"/>
              <a:gd name="connsiteX22" fmla="*/ 31750 w 196850"/>
              <a:gd name="connsiteY22" fmla="*/ 882650 h 1625600"/>
              <a:gd name="connsiteX23" fmla="*/ 19050 w 196850"/>
              <a:gd name="connsiteY23" fmla="*/ 927100 h 1625600"/>
              <a:gd name="connsiteX24" fmla="*/ 31750 w 196850"/>
              <a:gd name="connsiteY24" fmla="*/ 1060450 h 1625600"/>
              <a:gd name="connsiteX25" fmla="*/ 63500 w 196850"/>
              <a:gd name="connsiteY25" fmla="*/ 1092200 h 1625600"/>
              <a:gd name="connsiteX26" fmla="*/ 76200 w 196850"/>
              <a:gd name="connsiteY26" fmla="*/ 1111250 h 1625600"/>
              <a:gd name="connsiteX27" fmla="*/ 114300 w 196850"/>
              <a:gd name="connsiteY27" fmla="*/ 1136650 h 1625600"/>
              <a:gd name="connsiteX28" fmla="*/ 120650 w 196850"/>
              <a:gd name="connsiteY28" fmla="*/ 1155700 h 1625600"/>
              <a:gd name="connsiteX29" fmla="*/ 139700 w 196850"/>
              <a:gd name="connsiteY29" fmla="*/ 1168400 h 1625600"/>
              <a:gd name="connsiteX30" fmla="*/ 165100 w 196850"/>
              <a:gd name="connsiteY30" fmla="*/ 1187450 h 1625600"/>
              <a:gd name="connsiteX31" fmla="*/ 190500 w 196850"/>
              <a:gd name="connsiteY31" fmla="*/ 1225550 h 1625600"/>
              <a:gd name="connsiteX32" fmla="*/ 196850 w 196850"/>
              <a:gd name="connsiteY32" fmla="*/ 1250950 h 1625600"/>
              <a:gd name="connsiteX33" fmla="*/ 190500 w 196850"/>
              <a:gd name="connsiteY33" fmla="*/ 1339850 h 1625600"/>
              <a:gd name="connsiteX34" fmla="*/ 171450 w 196850"/>
              <a:gd name="connsiteY34" fmla="*/ 1403350 h 1625600"/>
              <a:gd name="connsiteX35" fmla="*/ 158750 w 196850"/>
              <a:gd name="connsiteY35" fmla="*/ 1422400 h 1625600"/>
              <a:gd name="connsiteX36" fmla="*/ 152400 w 196850"/>
              <a:gd name="connsiteY36" fmla="*/ 1441450 h 1625600"/>
              <a:gd name="connsiteX37" fmla="*/ 127000 w 196850"/>
              <a:gd name="connsiteY37" fmla="*/ 1498600 h 1625600"/>
              <a:gd name="connsiteX38" fmla="*/ 95250 w 196850"/>
              <a:gd name="connsiteY38" fmla="*/ 1555750 h 1625600"/>
              <a:gd name="connsiteX39" fmla="*/ 95250 w 196850"/>
              <a:gd name="connsiteY39" fmla="*/ 1625600 h 1625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196850" h="1625600">
                <a:moveTo>
                  <a:pt x="127000" y="0"/>
                </a:moveTo>
                <a:cubicBezTo>
                  <a:pt x="72901" y="32460"/>
                  <a:pt x="111869" y="2917"/>
                  <a:pt x="82550" y="38100"/>
                </a:cubicBezTo>
                <a:cubicBezTo>
                  <a:pt x="68308" y="55190"/>
                  <a:pt x="59809" y="55930"/>
                  <a:pt x="50800" y="76200"/>
                </a:cubicBezTo>
                <a:cubicBezTo>
                  <a:pt x="25936" y="132143"/>
                  <a:pt x="53821" y="98579"/>
                  <a:pt x="19050" y="133350"/>
                </a:cubicBezTo>
                <a:cubicBezTo>
                  <a:pt x="3590" y="179729"/>
                  <a:pt x="9597" y="158463"/>
                  <a:pt x="0" y="196850"/>
                </a:cubicBezTo>
                <a:cubicBezTo>
                  <a:pt x="14593" y="299002"/>
                  <a:pt x="3234" y="257352"/>
                  <a:pt x="25400" y="323850"/>
                </a:cubicBezTo>
                <a:cubicBezTo>
                  <a:pt x="30227" y="338330"/>
                  <a:pt x="42333" y="349250"/>
                  <a:pt x="50800" y="361950"/>
                </a:cubicBezTo>
                <a:cubicBezTo>
                  <a:pt x="63500" y="381000"/>
                  <a:pt x="61383" y="383117"/>
                  <a:pt x="82550" y="393700"/>
                </a:cubicBezTo>
                <a:cubicBezTo>
                  <a:pt x="88537" y="396693"/>
                  <a:pt x="95250" y="397933"/>
                  <a:pt x="101600" y="400050"/>
                </a:cubicBezTo>
                <a:cubicBezTo>
                  <a:pt x="150493" y="448943"/>
                  <a:pt x="129737" y="423206"/>
                  <a:pt x="165100" y="476250"/>
                </a:cubicBezTo>
                <a:cubicBezTo>
                  <a:pt x="169333" y="482600"/>
                  <a:pt x="175387" y="488060"/>
                  <a:pt x="177800" y="495300"/>
                </a:cubicBezTo>
                <a:cubicBezTo>
                  <a:pt x="179917" y="501650"/>
                  <a:pt x="182698" y="507816"/>
                  <a:pt x="184150" y="514350"/>
                </a:cubicBezTo>
                <a:cubicBezTo>
                  <a:pt x="186943" y="526919"/>
                  <a:pt x="187975" y="539825"/>
                  <a:pt x="190500" y="552450"/>
                </a:cubicBezTo>
                <a:cubicBezTo>
                  <a:pt x="192212" y="561008"/>
                  <a:pt x="194733" y="569383"/>
                  <a:pt x="196850" y="577850"/>
                </a:cubicBezTo>
                <a:cubicBezTo>
                  <a:pt x="194733" y="605367"/>
                  <a:pt x="193923" y="633015"/>
                  <a:pt x="190500" y="660400"/>
                </a:cubicBezTo>
                <a:cubicBezTo>
                  <a:pt x="188219" y="678652"/>
                  <a:pt x="167578" y="708722"/>
                  <a:pt x="158750" y="717550"/>
                </a:cubicBezTo>
                <a:cubicBezTo>
                  <a:pt x="152400" y="723900"/>
                  <a:pt x="145449" y="729701"/>
                  <a:pt x="139700" y="736600"/>
                </a:cubicBezTo>
                <a:cubicBezTo>
                  <a:pt x="113242" y="768350"/>
                  <a:pt x="142875" y="745067"/>
                  <a:pt x="107950" y="768350"/>
                </a:cubicBezTo>
                <a:cubicBezTo>
                  <a:pt x="103717" y="774700"/>
                  <a:pt x="98663" y="780574"/>
                  <a:pt x="95250" y="787400"/>
                </a:cubicBezTo>
                <a:cubicBezTo>
                  <a:pt x="92257" y="793387"/>
                  <a:pt x="93081" y="801223"/>
                  <a:pt x="88900" y="806450"/>
                </a:cubicBezTo>
                <a:cubicBezTo>
                  <a:pt x="84132" y="812409"/>
                  <a:pt x="76200" y="814917"/>
                  <a:pt x="69850" y="819150"/>
                </a:cubicBezTo>
                <a:cubicBezTo>
                  <a:pt x="38908" y="865562"/>
                  <a:pt x="76676" y="807204"/>
                  <a:pt x="44450" y="863600"/>
                </a:cubicBezTo>
                <a:cubicBezTo>
                  <a:pt x="40664" y="870226"/>
                  <a:pt x="35163" y="875824"/>
                  <a:pt x="31750" y="882650"/>
                </a:cubicBezTo>
                <a:cubicBezTo>
                  <a:pt x="27195" y="891760"/>
                  <a:pt x="21085" y="918962"/>
                  <a:pt x="19050" y="927100"/>
                </a:cubicBezTo>
                <a:cubicBezTo>
                  <a:pt x="19267" y="930136"/>
                  <a:pt x="24826" y="1037369"/>
                  <a:pt x="31750" y="1060450"/>
                </a:cubicBezTo>
                <a:cubicBezTo>
                  <a:pt x="37042" y="1078089"/>
                  <a:pt x="49742" y="1083028"/>
                  <a:pt x="63500" y="1092200"/>
                </a:cubicBezTo>
                <a:cubicBezTo>
                  <a:pt x="67733" y="1098550"/>
                  <a:pt x="70457" y="1106224"/>
                  <a:pt x="76200" y="1111250"/>
                </a:cubicBezTo>
                <a:cubicBezTo>
                  <a:pt x="87687" y="1121301"/>
                  <a:pt x="114300" y="1136650"/>
                  <a:pt x="114300" y="1136650"/>
                </a:cubicBezTo>
                <a:cubicBezTo>
                  <a:pt x="116417" y="1143000"/>
                  <a:pt x="116469" y="1150473"/>
                  <a:pt x="120650" y="1155700"/>
                </a:cubicBezTo>
                <a:cubicBezTo>
                  <a:pt x="125418" y="1161659"/>
                  <a:pt x="133490" y="1163964"/>
                  <a:pt x="139700" y="1168400"/>
                </a:cubicBezTo>
                <a:cubicBezTo>
                  <a:pt x="148312" y="1174551"/>
                  <a:pt x="158069" y="1179540"/>
                  <a:pt x="165100" y="1187450"/>
                </a:cubicBezTo>
                <a:cubicBezTo>
                  <a:pt x="175241" y="1198858"/>
                  <a:pt x="190500" y="1225550"/>
                  <a:pt x="190500" y="1225550"/>
                </a:cubicBezTo>
                <a:cubicBezTo>
                  <a:pt x="192617" y="1234017"/>
                  <a:pt x="196850" y="1242223"/>
                  <a:pt x="196850" y="1250950"/>
                </a:cubicBezTo>
                <a:cubicBezTo>
                  <a:pt x="196850" y="1280659"/>
                  <a:pt x="193781" y="1310323"/>
                  <a:pt x="190500" y="1339850"/>
                </a:cubicBezTo>
                <a:cubicBezTo>
                  <a:pt x="188901" y="1354245"/>
                  <a:pt x="174642" y="1393773"/>
                  <a:pt x="171450" y="1403350"/>
                </a:cubicBezTo>
                <a:cubicBezTo>
                  <a:pt x="169037" y="1410590"/>
                  <a:pt x="162163" y="1415574"/>
                  <a:pt x="158750" y="1422400"/>
                </a:cubicBezTo>
                <a:cubicBezTo>
                  <a:pt x="155757" y="1428387"/>
                  <a:pt x="155393" y="1435463"/>
                  <a:pt x="152400" y="1441450"/>
                </a:cubicBezTo>
                <a:cubicBezTo>
                  <a:pt x="122211" y="1501827"/>
                  <a:pt x="159765" y="1400306"/>
                  <a:pt x="127000" y="1498600"/>
                </a:cubicBezTo>
                <a:cubicBezTo>
                  <a:pt x="119404" y="1521388"/>
                  <a:pt x="96991" y="1531377"/>
                  <a:pt x="95250" y="1555750"/>
                </a:cubicBezTo>
                <a:cubicBezTo>
                  <a:pt x="93591" y="1578974"/>
                  <a:pt x="95250" y="1602317"/>
                  <a:pt x="95250" y="1625600"/>
                </a:cubicBezTo>
              </a:path>
            </a:pathLst>
          </a:custGeom>
          <a:ln w="28575"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ln w="12700">
                <a:solidFill>
                  <a:schemeClr val="tx1"/>
                </a:solidFill>
              </a:ln>
            </a:endParaRPr>
          </a:p>
        </p:txBody>
      </p:sp>
      <p:sp>
        <p:nvSpPr>
          <p:cNvPr id="17" name="Freeform 16"/>
          <p:cNvSpPr/>
          <p:nvPr/>
        </p:nvSpPr>
        <p:spPr>
          <a:xfrm>
            <a:off x="2891049" y="2885356"/>
            <a:ext cx="180446" cy="1490133"/>
          </a:xfrm>
          <a:custGeom>
            <a:avLst/>
            <a:gdLst>
              <a:gd name="connsiteX0" fmla="*/ 127000 w 196850"/>
              <a:gd name="connsiteY0" fmla="*/ 0 h 1625600"/>
              <a:gd name="connsiteX1" fmla="*/ 82550 w 196850"/>
              <a:gd name="connsiteY1" fmla="*/ 38100 h 1625600"/>
              <a:gd name="connsiteX2" fmla="*/ 50800 w 196850"/>
              <a:gd name="connsiteY2" fmla="*/ 76200 h 1625600"/>
              <a:gd name="connsiteX3" fmla="*/ 19050 w 196850"/>
              <a:gd name="connsiteY3" fmla="*/ 133350 h 1625600"/>
              <a:gd name="connsiteX4" fmla="*/ 0 w 196850"/>
              <a:gd name="connsiteY4" fmla="*/ 196850 h 1625600"/>
              <a:gd name="connsiteX5" fmla="*/ 25400 w 196850"/>
              <a:gd name="connsiteY5" fmla="*/ 323850 h 1625600"/>
              <a:gd name="connsiteX6" fmla="*/ 50800 w 196850"/>
              <a:gd name="connsiteY6" fmla="*/ 361950 h 1625600"/>
              <a:gd name="connsiteX7" fmla="*/ 82550 w 196850"/>
              <a:gd name="connsiteY7" fmla="*/ 393700 h 1625600"/>
              <a:gd name="connsiteX8" fmla="*/ 101600 w 196850"/>
              <a:gd name="connsiteY8" fmla="*/ 400050 h 1625600"/>
              <a:gd name="connsiteX9" fmla="*/ 165100 w 196850"/>
              <a:gd name="connsiteY9" fmla="*/ 476250 h 1625600"/>
              <a:gd name="connsiteX10" fmla="*/ 177800 w 196850"/>
              <a:gd name="connsiteY10" fmla="*/ 495300 h 1625600"/>
              <a:gd name="connsiteX11" fmla="*/ 184150 w 196850"/>
              <a:gd name="connsiteY11" fmla="*/ 514350 h 1625600"/>
              <a:gd name="connsiteX12" fmla="*/ 190500 w 196850"/>
              <a:gd name="connsiteY12" fmla="*/ 552450 h 1625600"/>
              <a:gd name="connsiteX13" fmla="*/ 196850 w 196850"/>
              <a:gd name="connsiteY13" fmla="*/ 577850 h 1625600"/>
              <a:gd name="connsiteX14" fmla="*/ 190500 w 196850"/>
              <a:gd name="connsiteY14" fmla="*/ 660400 h 1625600"/>
              <a:gd name="connsiteX15" fmla="*/ 158750 w 196850"/>
              <a:gd name="connsiteY15" fmla="*/ 717550 h 1625600"/>
              <a:gd name="connsiteX16" fmla="*/ 139700 w 196850"/>
              <a:gd name="connsiteY16" fmla="*/ 736600 h 1625600"/>
              <a:gd name="connsiteX17" fmla="*/ 107950 w 196850"/>
              <a:gd name="connsiteY17" fmla="*/ 768350 h 1625600"/>
              <a:gd name="connsiteX18" fmla="*/ 95250 w 196850"/>
              <a:gd name="connsiteY18" fmla="*/ 787400 h 1625600"/>
              <a:gd name="connsiteX19" fmla="*/ 88900 w 196850"/>
              <a:gd name="connsiteY19" fmla="*/ 806450 h 1625600"/>
              <a:gd name="connsiteX20" fmla="*/ 69850 w 196850"/>
              <a:gd name="connsiteY20" fmla="*/ 819150 h 1625600"/>
              <a:gd name="connsiteX21" fmla="*/ 44450 w 196850"/>
              <a:gd name="connsiteY21" fmla="*/ 863600 h 1625600"/>
              <a:gd name="connsiteX22" fmla="*/ 31750 w 196850"/>
              <a:gd name="connsiteY22" fmla="*/ 882650 h 1625600"/>
              <a:gd name="connsiteX23" fmla="*/ 19050 w 196850"/>
              <a:gd name="connsiteY23" fmla="*/ 927100 h 1625600"/>
              <a:gd name="connsiteX24" fmla="*/ 31750 w 196850"/>
              <a:gd name="connsiteY24" fmla="*/ 1060450 h 1625600"/>
              <a:gd name="connsiteX25" fmla="*/ 63500 w 196850"/>
              <a:gd name="connsiteY25" fmla="*/ 1092200 h 1625600"/>
              <a:gd name="connsiteX26" fmla="*/ 76200 w 196850"/>
              <a:gd name="connsiteY26" fmla="*/ 1111250 h 1625600"/>
              <a:gd name="connsiteX27" fmla="*/ 114300 w 196850"/>
              <a:gd name="connsiteY27" fmla="*/ 1136650 h 1625600"/>
              <a:gd name="connsiteX28" fmla="*/ 120650 w 196850"/>
              <a:gd name="connsiteY28" fmla="*/ 1155700 h 1625600"/>
              <a:gd name="connsiteX29" fmla="*/ 139700 w 196850"/>
              <a:gd name="connsiteY29" fmla="*/ 1168400 h 1625600"/>
              <a:gd name="connsiteX30" fmla="*/ 165100 w 196850"/>
              <a:gd name="connsiteY30" fmla="*/ 1187450 h 1625600"/>
              <a:gd name="connsiteX31" fmla="*/ 190500 w 196850"/>
              <a:gd name="connsiteY31" fmla="*/ 1225550 h 1625600"/>
              <a:gd name="connsiteX32" fmla="*/ 196850 w 196850"/>
              <a:gd name="connsiteY32" fmla="*/ 1250950 h 1625600"/>
              <a:gd name="connsiteX33" fmla="*/ 190500 w 196850"/>
              <a:gd name="connsiteY33" fmla="*/ 1339850 h 1625600"/>
              <a:gd name="connsiteX34" fmla="*/ 171450 w 196850"/>
              <a:gd name="connsiteY34" fmla="*/ 1403350 h 1625600"/>
              <a:gd name="connsiteX35" fmla="*/ 158750 w 196850"/>
              <a:gd name="connsiteY35" fmla="*/ 1422400 h 1625600"/>
              <a:gd name="connsiteX36" fmla="*/ 152400 w 196850"/>
              <a:gd name="connsiteY36" fmla="*/ 1441450 h 1625600"/>
              <a:gd name="connsiteX37" fmla="*/ 127000 w 196850"/>
              <a:gd name="connsiteY37" fmla="*/ 1498600 h 1625600"/>
              <a:gd name="connsiteX38" fmla="*/ 95250 w 196850"/>
              <a:gd name="connsiteY38" fmla="*/ 1555750 h 1625600"/>
              <a:gd name="connsiteX39" fmla="*/ 95250 w 196850"/>
              <a:gd name="connsiteY39" fmla="*/ 1625600 h 1625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196850" h="1625600">
                <a:moveTo>
                  <a:pt x="127000" y="0"/>
                </a:moveTo>
                <a:cubicBezTo>
                  <a:pt x="72901" y="32460"/>
                  <a:pt x="111869" y="2917"/>
                  <a:pt x="82550" y="38100"/>
                </a:cubicBezTo>
                <a:cubicBezTo>
                  <a:pt x="68308" y="55190"/>
                  <a:pt x="59809" y="55930"/>
                  <a:pt x="50800" y="76200"/>
                </a:cubicBezTo>
                <a:cubicBezTo>
                  <a:pt x="25936" y="132143"/>
                  <a:pt x="53821" y="98579"/>
                  <a:pt x="19050" y="133350"/>
                </a:cubicBezTo>
                <a:cubicBezTo>
                  <a:pt x="3590" y="179729"/>
                  <a:pt x="9597" y="158463"/>
                  <a:pt x="0" y="196850"/>
                </a:cubicBezTo>
                <a:cubicBezTo>
                  <a:pt x="14593" y="299002"/>
                  <a:pt x="3234" y="257352"/>
                  <a:pt x="25400" y="323850"/>
                </a:cubicBezTo>
                <a:cubicBezTo>
                  <a:pt x="30227" y="338330"/>
                  <a:pt x="42333" y="349250"/>
                  <a:pt x="50800" y="361950"/>
                </a:cubicBezTo>
                <a:cubicBezTo>
                  <a:pt x="63500" y="381000"/>
                  <a:pt x="61383" y="383117"/>
                  <a:pt x="82550" y="393700"/>
                </a:cubicBezTo>
                <a:cubicBezTo>
                  <a:pt x="88537" y="396693"/>
                  <a:pt x="95250" y="397933"/>
                  <a:pt x="101600" y="400050"/>
                </a:cubicBezTo>
                <a:cubicBezTo>
                  <a:pt x="150493" y="448943"/>
                  <a:pt x="129737" y="423206"/>
                  <a:pt x="165100" y="476250"/>
                </a:cubicBezTo>
                <a:cubicBezTo>
                  <a:pt x="169333" y="482600"/>
                  <a:pt x="175387" y="488060"/>
                  <a:pt x="177800" y="495300"/>
                </a:cubicBezTo>
                <a:cubicBezTo>
                  <a:pt x="179917" y="501650"/>
                  <a:pt x="182698" y="507816"/>
                  <a:pt x="184150" y="514350"/>
                </a:cubicBezTo>
                <a:cubicBezTo>
                  <a:pt x="186943" y="526919"/>
                  <a:pt x="187975" y="539825"/>
                  <a:pt x="190500" y="552450"/>
                </a:cubicBezTo>
                <a:cubicBezTo>
                  <a:pt x="192212" y="561008"/>
                  <a:pt x="194733" y="569383"/>
                  <a:pt x="196850" y="577850"/>
                </a:cubicBezTo>
                <a:cubicBezTo>
                  <a:pt x="194733" y="605367"/>
                  <a:pt x="193923" y="633015"/>
                  <a:pt x="190500" y="660400"/>
                </a:cubicBezTo>
                <a:cubicBezTo>
                  <a:pt x="188219" y="678652"/>
                  <a:pt x="167578" y="708722"/>
                  <a:pt x="158750" y="717550"/>
                </a:cubicBezTo>
                <a:cubicBezTo>
                  <a:pt x="152400" y="723900"/>
                  <a:pt x="145449" y="729701"/>
                  <a:pt x="139700" y="736600"/>
                </a:cubicBezTo>
                <a:cubicBezTo>
                  <a:pt x="113242" y="768350"/>
                  <a:pt x="142875" y="745067"/>
                  <a:pt x="107950" y="768350"/>
                </a:cubicBezTo>
                <a:cubicBezTo>
                  <a:pt x="103717" y="774700"/>
                  <a:pt x="98663" y="780574"/>
                  <a:pt x="95250" y="787400"/>
                </a:cubicBezTo>
                <a:cubicBezTo>
                  <a:pt x="92257" y="793387"/>
                  <a:pt x="93081" y="801223"/>
                  <a:pt x="88900" y="806450"/>
                </a:cubicBezTo>
                <a:cubicBezTo>
                  <a:pt x="84132" y="812409"/>
                  <a:pt x="76200" y="814917"/>
                  <a:pt x="69850" y="819150"/>
                </a:cubicBezTo>
                <a:cubicBezTo>
                  <a:pt x="38908" y="865562"/>
                  <a:pt x="76676" y="807204"/>
                  <a:pt x="44450" y="863600"/>
                </a:cubicBezTo>
                <a:cubicBezTo>
                  <a:pt x="40664" y="870226"/>
                  <a:pt x="35163" y="875824"/>
                  <a:pt x="31750" y="882650"/>
                </a:cubicBezTo>
                <a:cubicBezTo>
                  <a:pt x="27195" y="891760"/>
                  <a:pt x="21085" y="918962"/>
                  <a:pt x="19050" y="927100"/>
                </a:cubicBezTo>
                <a:cubicBezTo>
                  <a:pt x="19267" y="930136"/>
                  <a:pt x="24826" y="1037369"/>
                  <a:pt x="31750" y="1060450"/>
                </a:cubicBezTo>
                <a:cubicBezTo>
                  <a:pt x="37042" y="1078089"/>
                  <a:pt x="49742" y="1083028"/>
                  <a:pt x="63500" y="1092200"/>
                </a:cubicBezTo>
                <a:cubicBezTo>
                  <a:pt x="67733" y="1098550"/>
                  <a:pt x="70457" y="1106224"/>
                  <a:pt x="76200" y="1111250"/>
                </a:cubicBezTo>
                <a:cubicBezTo>
                  <a:pt x="87687" y="1121301"/>
                  <a:pt x="114300" y="1136650"/>
                  <a:pt x="114300" y="1136650"/>
                </a:cubicBezTo>
                <a:cubicBezTo>
                  <a:pt x="116417" y="1143000"/>
                  <a:pt x="116469" y="1150473"/>
                  <a:pt x="120650" y="1155700"/>
                </a:cubicBezTo>
                <a:cubicBezTo>
                  <a:pt x="125418" y="1161659"/>
                  <a:pt x="133490" y="1163964"/>
                  <a:pt x="139700" y="1168400"/>
                </a:cubicBezTo>
                <a:cubicBezTo>
                  <a:pt x="148312" y="1174551"/>
                  <a:pt x="158069" y="1179540"/>
                  <a:pt x="165100" y="1187450"/>
                </a:cubicBezTo>
                <a:cubicBezTo>
                  <a:pt x="175241" y="1198858"/>
                  <a:pt x="190500" y="1225550"/>
                  <a:pt x="190500" y="1225550"/>
                </a:cubicBezTo>
                <a:cubicBezTo>
                  <a:pt x="192617" y="1234017"/>
                  <a:pt x="196850" y="1242223"/>
                  <a:pt x="196850" y="1250950"/>
                </a:cubicBezTo>
                <a:cubicBezTo>
                  <a:pt x="196850" y="1280659"/>
                  <a:pt x="193781" y="1310323"/>
                  <a:pt x="190500" y="1339850"/>
                </a:cubicBezTo>
                <a:cubicBezTo>
                  <a:pt x="188901" y="1354245"/>
                  <a:pt x="174642" y="1393773"/>
                  <a:pt x="171450" y="1403350"/>
                </a:cubicBezTo>
                <a:cubicBezTo>
                  <a:pt x="169037" y="1410590"/>
                  <a:pt x="162163" y="1415574"/>
                  <a:pt x="158750" y="1422400"/>
                </a:cubicBezTo>
                <a:cubicBezTo>
                  <a:pt x="155757" y="1428387"/>
                  <a:pt x="155393" y="1435463"/>
                  <a:pt x="152400" y="1441450"/>
                </a:cubicBezTo>
                <a:cubicBezTo>
                  <a:pt x="122211" y="1501827"/>
                  <a:pt x="159765" y="1400306"/>
                  <a:pt x="127000" y="1498600"/>
                </a:cubicBezTo>
                <a:cubicBezTo>
                  <a:pt x="119404" y="1521388"/>
                  <a:pt x="96991" y="1531377"/>
                  <a:pt x="95250" y="1555750"/>
                </a:cubicBezTo>
                <a:cubicBezTo>
                  <a:pt x="93591" y="1578974"/>
                  <a:pt x="95250" y="1602317"/>
                  <a:pt x="95250" y="1625600"/>
                </a:cubicBezTo>
              </a:path>
            </a:pathLst>
          </a:custGeom>
          <a:ln w="28575"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ln w="12700">
                <a:solidFill>
                  <a:schemeClr val="tx1"/>
                </a:solidFill>
              </a:ln>
            </a:endParaRPr>
          </a:p>
        </p:txBody>
      </p:sp>
      <p:sp>
        <p:nvSpPr>
          <p:cNvPr id="18" name="Freeform 17"/>
          <p:cNvSpPr/>
          <p:nvPr/>
        </p:nvSpPr>
        <p:spPr>
          <a:xfrm>
            <a:off x="3317134" y="2885356"/>
            <a:ext cx="180446" cy="1490133"/>
          </a:xfrm>
          <a:custGeom>
            <a:avLst/>
            <a:gdLst>
              <a:gd name="connsiteX0" fmla="*/ 127000 w 196850"/>
              <a:gd name="connsiteY0" fmla="*/ 0 h 1625600"/>
              <a:gd name="connsiteX1" fmla="*/ 82550 w 196850"/>
              <a:gd name="connsiteY1" fmla="*/ 38100 h 1625600"/>
              <a:gd name="connsiteX2" fmla="*/ 50800 w 196850"/>
              <a:gd name="connsiteY2" fmla="*/ 76200 h 1625600"/>
              <a:gd name="connsiteX3" fmla="*/ 19050 w 196850"/>
              <a:gd name="connsiteY3" fmla="*/ 133350 h 1625600"/>
              <a:gd name="connsiteX4" fmla="*/ 0 w 196850"/>
              <a:gd name="connsiteY4" fmla="*/ 196850 h 1625600"/>
              <a:gd name="connsiteX5" fmla="*/ 25400 w 196850"/>
              <a:gd name="connsiteY5" fmla="*/ 323850 h 1625600"/>
              <a:gd name="connsiteX6" fmla="*/ 50800 w 196850"/>
              <a:gd name="connsiteY6" fmla="*/ 361950 h 1625600"/>
              <a:gd name="connsiteX7" fmla="*/ 82550 w 196850"/>
              <a:gd name="connsiteY7" fmla="*/ 393700 h 1625600"/>
              <a:gd name="connsiteX8" fmla="*/ 101600 w 196850"/>
              <a:gd name="connsiteY8" fmla="*/ 400050 h 1625600"/>
              <a:gd name="connsiteX9" fmla="*/ 165100 w 196850"/>
              <a:gd name="connsiteY9" fmla="*/ 476250 h 1625600"/>
              <a:gd name="connsiteX10" fmla="*/ 177800 w 196850"/>
              <a:gd name="connsiteY10" fmla="*/ 495300 h 1625600"/>
              <a:gd name="connsiteX11" fmla="*/ 184150 w 196850"/>
              <a:gd name="connsiteY11" fmla="*/ 514350 h 1625600"/>
              <a:gd name="connsiteX12" fmla="*/ 190500 w 196850"/>
              <a:gd name="connsiteY12" fmla="*/ 552450 h 1625600"/>
              <a:gd name="connsiteX13" fmla="*/ 196850 w 196850"/>
              <a:gd name="connsiteY13" fmla="*/ 577850 h 1625600"/>
              <a:gd name="connsiteX14" fmla="*/ 190500 w 196850"/>
              <a:gd name="connsiteY14" fmla="*/ 660400 h 1625600"/>
              <a:gd name="connsiteX15" fmla="*/ 158750 w 196850"/>
              <a:gd name="connsiteY15" fmla="*/ 717550 h 1625600"/>
              <a:gd name="connsiteX16" fmla="*/ 139700 w 196850"/>
              <a:gd name="connsiteY16" fmla="*/ 736600 h 1625600"/>
              <a:gd name="connsiteX17" fmla="*/ 107950 w 196850"/>
              <a:gd name="connsiteY17" fmla="*/ 768350 h 1625600"/>
              <a:gd name="connsiteX18" fmla="*/ 95250 w 196850"/>
              <a:gd name="connsiteY18" fmla="*/ 787400 h 1625600"/>
              <a:gd name="connsiteX19" fmla="*/ 88900 w 196850"/>
              <a:gd name="connsiteY19" fmla="*/ 806450 h 1625600"/>
              <a:gd name="connsiteX20" fmla="*/ 69850 w 196850"/>
              <a:gd name="connsiteY20" fmla="*/ 819150 h 1625600"/>
              <a:gd name="connsiteX21" fmla="*/ 44450 w 196850"/>
              <a:gd name="connsiteY21" fmla="*/ 863600 h 1625600"/>
              <a:gd name="connsiteX22" fmla="*/ 31750 w 196850"/>
              <a:gd name="connsiteY22" fmla="*/ 882650 h 1625600"/>
              <a:gd name="connsiteX23" fmla="*/ 19050 w 196850"/>
              <a:gd name="connsiteY23" fmla="*/ 927100 h 1625600"/>
              <a:gd name="connsiteX24" fmla="*/ 31750 w 196850"/>
              <a:gd name="connsiteY24" fmla="*/ 1060450 h 1625600"/>
              <a:gd name="connsiteX25" fmla="*/ 63500 w 196850"/>
              <a:gd name="connsiteY25" fmla="*/ 1092200 h 1625600"/>
              <a:gd name="connsiteX26" fmla="*/ 76200 w 196850"/>
              <a:gd name="connsiteY26" fmla="*/ 1111250 h 1625600"/>
              <a:gd name="connsiteX27" fmla="*/ 114300 w 196850"/>
              <a:gd name="connsiteY27" fmla="*/ 1136650 h 1625600"/>
              <a:gd name="connsiteX28" fmla="*/ 120650 w 196850"/>
              <a:gd name="connsiteY28" fmla="*/ 1155700 h 1625600"/>
              <a:gd name="connsiteX29" fmla="*/ 139700 w 196850"/>
              <a:gd name="connsiteY29" fmla="*/ 1168400 h 1625600"/>
              <a:gd name="connsiteX30" fmla="*/ 165100 w 196850"/>
              <a:gd name="connsiteY30" fmla="*/ 1187450 h 1625600"/>
              <a:gd name="connsiteX31" fmla="*/ 190500 w 196850"/>
              <a:gd name="connsiteY31" fmla="*/ 1225550 h 1625600"/>
              <a:gd name="connsiteX32" fmla="*/ 196850 w 196850"/>
              <a:gd name="connsiteY32" fmla="*/ 1250950 h 1625600"/>
              <a:gd name="connsiteX33" fmla="*/ 190500 w 196850"/>
              <a:gd name="connsiteY33" fmla="*/ 1339850 h 1625600"/>
              <a:gd name="connsiteX34" fmla="*/ 171450 w 196850"/>
              <a:gd name="connsiteY34" fmla="*/ 1403350 h 1625600"/>
              <a:gd name="connsiteX35" fmla="*/ 158750 w 196850"/>
              <a:gd name="connsiteY35" fmla="*/ 1422400 h 1625600"/>
              <a:gd name="connsiteX36" fmla="*/ 152400 w 196850"/>
              <a:gd name="connsiteY36" fmla="*/ 1441450 h 1625600"/>
              <a:gd name="connsiteX37" fmla="*/ 127000 w 196850"/>
              <a:gd name="connsiteY37" fmla="*/ 1498600 h 1625600"/>
              <a:gd name="connsiteX38" fmla="*/ 95250 w 196850"/>
              <a:gd name="connsiteY38" fmla="*/ 1555750 h 1625600"/>
              <a:gd name="connsiteX39" fmla="*/ 95250 w 196850"/>
              <a:gd name="connsiteY39" fmla="*/ 1625600 h 1625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196850" h="1625600">
                <a:moveTo>
                  <a:pt x="127000" y="0"/>
                </a:moveTo>
                <a:cubicBezTo>
                  <a:pt x="72901" y="32460"/>
                  <a:pt x="111869" y="2917"/>
                  <a:pt x="82550" y="38100"/>
                </a:cubicBezTo>
                <a:cubicBezTo>
                  <a:pt x="68308" y="55190"/>
                  <a:pt x="59809" y="55930"/>
                  <a:pt x="50800" y="76200"/>
                </a:cubicBezTo>
                <a:cubicBezTo>
                  <a:pt x="25936" y="132143"/>
                  <a:pt x="53821" y="98579"/>
                  <a:pt x="19050" y="133350"/>
                </a:cubicBezTo>
                <a:cubicBezTo>
                  <a:pt x="3590" y="179729"/>
                  <a:pt x="9597" y="158463"/>
                  <a:pt x="0" y="196850"/>
                </a:cubicBezTo>
                <a:cubicBezTo>
                  <a:pt x="14593" y="299002"/>
                  <a:pt x="3234" y="257352"/>
                  <a:pt x="25400" y="323850"/>
                </a:cubicBezTo>
                <a:cubicBezTo>
                  <a:pt x="30227" y="338330"/>
                  <a:pt x="42333" y="349250"/>
                  <a:pt x="50800" y="361950"/>
                </a:cubicBezTo>
                <a:cubicBezTo>
                  <a:pt x="63500" y="381000"/>
                  <a:pt x="61383" y="383117"/>
                  <a:pt x="82550" y="393700"/>
                </a:cubicBezTo>
                <a:cubicBezTo>
                  <a:pt x="88537" y="396693"/>
                  <a:pt x="95250" y="397933"/>
                  <a:pt x="101600" y="400050"/>
                </a:cubicBezTo>
                <a:cubicBezTo>
                  <a:pt x="150493" y="448943"/>
                  <a:pt x="129737" y="423206"/>
                  <a:pt x="165100" y="476250"/>
                </a:cubicBezTo>
                <a:cubicBezTo>
                  <a:pt x="169333" y="482600"/>
                  <a:pt x="175387" y="488060"/>
                  <a:pt x="177800" y="495300"/>
                </a:cubicBezTo>
                <a:cubicBezTo>
                  <a:pt x="179917" y="501650"/>
                  <a:pt x="182698" y="507816"/>
                  <a:pt x="184150" y="514350"/>
                </a:cubicBezTo>
                <a:cubicBezTo>
                  <a:pt x="186943" y="526919"/>
                  <a:pt x="187975" y="539825"/>
                  <a:pt x="190500" y="552450"/>
                </a:cubicBezTo>
                <a:cubicBezTo>
                  <a:pt x="192212" y="561008"/>
                  <a:pt x="194733" y="569383"/>
                  <a:pt x="196850" y="577850"/>
                </a:cubicBezTo>
                <a:cubicBezTo>
                  <a:pt x="194733" y="605367"/>
                  <a:pt x="193923" y="633015"/>
                  <a:pt x="190500" y="660400"/>
                </a:cubicBezTo>
                <a:cubicBezTo>
                  <a:pt x="188219" y="678652"/>
                  <a:pt x="167578" y="708722"/>
                  <a:pt x="158750" y="717550"/>
                </a:cubicBezTo>
                <a:cubicBezTo>
                  <a:pt x="152400" y="723900"/>
                  <a:pt x="145449" y="729701"/>
                  <a:pt x="139700" y="736600"/>
                </a:cubicBezTo>
                <a:cubicBezTo>
                  <a:pt x="113242" y="768350"/>
                  <a:pt x="142875" y="745067"/>
                  <a:pt x="107950" y="768350"/>
                </a:cubicBezTo>
                <a:cubicBezTo>
                  <a:pt x="103717" y="774700"/>
                  <a:pt x="98663" y="780574"/>
                  <a:pt x="95250" y="787400"/>
                </a:cubicBezTo>
                <a:cubicBezTo>
                  <a:pt x="92257" y="793387"/>
                  <a:pt x="93081" y="801223"/>
                  <a:pt x="88900" y="806450"/>
                </a:cubicBezTo>
                <a:cubicBezTo>
                  <a:pt x="84132" y="812409"/>
                  <a:pt x="76200" y="814917"/>
                  <a:pt x="69850" y="819150"/>
                </a:cubicBezTo>
                <a:cubicBezTo>
                  <a:pt x="38908" y="865562"/>
                  <a:pt x="76676" y="807204"/>
                  <a:pt x="44450" y="863600"/>
                </a:cubicBezTo>
                <a:cubicBezTo>
                  <a:pt x="40664" y="870226"/>
                  <a:pt x="35163" y="875824"/>
                  <a:pt x="31750" y="882650"/>
                </a:cubicBezTo>
                <a:cubicBezTo>
                  <a:pt x="27195" y="891760"/>
                  <a:pt x="21085" y="918962"/>
                  <a:pt x="19050" y="927100"/>
                </a:cubicBezTo>
                <a:cubicBezTo>
                  <a:pt x="19267" y="930136"/>
                  <a:pt x="24826" y="1037369"/>
                  <a:pt x="31750" y="1060450"/>
                </a:cubicBezTo>
                <a:cubicBezTo>
                  <a:pt x="37042" y="1078089"/>
                  <a:pt x="49742" y="1083028"/>
                  <a:pt x="63500" y="1092200"/>
                </a:cubicBezTo>
                <a:cubicBezTo>
                  <a:pt x="67733" y="1098550"/>
                  <a:pt x="70457" y="1106224"/>
                  <a:pt x="76200" y="1111250"/>
                </a:cubicBezTo>
                <a:cubicBezTo>
                  <a:pt x="87687" y="1121301"/>
                  <a:pt x="114300" y="1136650"/>
                  <a:pt x="114300" y="1136650"/>
                </a:cubicBezTo>
                <a:cubicBezTo>
                  <a:pt x="116417" y="1143000"/>
                  <a:pt x="116469" y="1150473"/>
                  <a:pt x="120650" y="1155700"/>
                </a:cubicBezTo>
                <a:cubicBezTo>
                  <a:pt x="125418" y="1161659"/>
                  <a:pt x="133490" y="1163964"/>
                  <a:pt x="139700" y="1168400"/>
                </a:cubicBezTo>
                <a:cubicBezTo>
                  <a:pt x="148312" y="1174551"/>
                  <a:pt x="158069" y="1179540"/>
                  <a:pt x="165100" y="1187450"/>
                </a:cubicBezTo>
                <a:cubicBezTo>
                  <a:pt x="175241" y="1198858"/>
                  <a:pt x="190500" y="1225550"/>
                  <a:pt x="190500" y="1225550"/>
                </a:cubicBezTo>
                <a:cubicBezTo>
                  <a:pt x="192617" y="1234017"/>
                  <a:pt x="196850" y="1242223"/>
                  <a:pt x="196850" y="1250950"/>
                </a:cubicBezTo>
                <a:cubicBezTo>
                  <a:pt x="196850" y="1280659"/>
                  <a:pt x="193781" y="1310323"/>
                  <a:pt x="190500" y="1339850"/>
                </a:cubicBezTo>
                <a:cubicBezTo>
                  <a:pt x="188901" y="1354245"/>
                  <a:pt x="174642" y="1393773"/>
                  <a:pt x="171450" y="1403350"/>
                </a:cubicBezTo>
                <a:cubicBezTo>
                  <a:pt x="169037" y="1410590"/>
                  <a:pt x="162163" y="1415574"/>
                  <a:pt x="158750" y="1422400"/>
                </a:cubicBezTo>
                <a:cubicBezTo>
                  <a:pt x="155757" y="1428387"/>
                  <a:pt x="155393" y="1435463"/>
                  <a:pt x="152400" y="1441450"/>
                </a:cubicBezTo>
                <a:cubicBezTo>
                  <a:pt x="122211" y="1501827"/>
                  <a:pt x="159765" y="1400306"/>
                  <a:pt x="127000" y="1498600"/>
                </a:cubicBezTo>
                <a:cubicBezTo>
                  <a:pt x="119404" y="1521388"/>
                  <a:pt x="96991" y="1531377"/>
                  <a:pt x="95250" y="1555750"/>
                </a:cubicBezTo>
                <a:cubicBezTo>
                  <a:pt x="93591" y="1578974"/>
                  <a:pt x="95250" y="1602317"/>
                  <a:pt x="95250" y="1625600"/>
                </a:cubicBezTo>
              </a:path>
            </a:pathLst>
          </a:custGeom>
          <a:ln w="28575"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ln w="12700">
                <a:solidFill>
                  <a:schemeClr val="tx1"/>
                </a:solidFill>
              </a:ln>
            </a:endParaRPr>
          </a:p>
        </p:txBody>
      </p:sp>
      <p:sp>
        <p:nvSpPr>
          <p:cNvPr id="21" name="Freeform 20"/>
          <p:cNvSpPr/>
          <p:nvPr/>
        </p:nvSpPr>
        <p:spPr>
          <a:xfrm>
            <a:off x="3743219" y="2885356"/>
            <a:ext cx="180446" cy="1490133"/>
          </a:xfrm>
          <a:custGeom>
            <a:avLst/>
            <a:gdLst>
              <a:gd name="connsiteX0" fmla="*/ 127000 w 196850"/>
              <a:gd name="connsiteY0" fmla="*/ 0 h 1625600"/>
              <a:gd name="connsiteX1" fmla="*/ 82550 w 196850"/>
              <a:gd name="connsiteY1" fmla="*/ 38100 h 1625600"/>
              <a:gd name="connsiteX2" fmla="*/ 50800 w 196850"/>
              <a:gd name="connsiteY2" fmla="*/ 76200 h 1625600"/>
              <a:gd name="connsiteX3" fmla="*/ 19050 w 196850"/>
              <a:gd name="connsiteY3" fmla="*/ 133350 h 1625600"/>
              <a:gd name="connsiteX4" fmla="*/ 0 w 196850"/>
              <a:gd name="connsiteY4" fmla="*/ 196850 h 1625600"/>
              <a:gd name="connsiteX5" fmla="*/ 25400 w 196850"/>
              <a:gd name="connsiteY5" fmla="*/ 323850 h 1625600"/>
              <a:gd name="connsiteX6" fmla="*/ 50800 w 196850"/>
              <a:gd name="connsiteY6" fmla="*/ 361950 h 1625600"/>
              <a:gd name="connsiteX7" fmla="*/ 82550 w 196850"/>
              <a:gd name="connsiteY7" fmla="*/ 393700 h 1625600"/>
              <a:gd name="connsiteX8" fmla="*/ 101600 w 196850"/>
              <a:gd name="connsiteY8" fmla="*/ 400050 h 1625600"/>
              <a:gd name="connsiteX9" fmla="*/ 165100 w 196850"/>
              <a:gd name="connsiteY9" fmla="*/ 476250 h 1625600"/>
              <a:gd name="connsiteX10" fmla="*/ 177800 w 196850"/>
              <a:gd name="connsiteY10" fmla="*/ 495300 h 1625600"/>
              <a:gd name="connsiteX11" fmla="*/ 184150 w 196850"/>
              <a:gd name="connsiteY11" fmla="*/ 514350 h 1625600"/>
              <a:gd name="connsiteX12" fmla="*/ 190500 w 196850"/>
              <a:gd name="connsiteY12" fmla="*/ 552450 h 1625600"/>
              <a:gd name="connsiteX13" fmla="*/ 196850 w 196850"/>
              <a:gd name="connsiteY13" fmla="*/ 577850 h 1625600"/>
              <a:gd name="connsiteX14" fmla="*/ 190500 w 196850"/>
              <a:gd name="connsiteY14" fmla="*/ 660400 h 1625600"/>
              <a:gd name="connsiteX15" fmla="*/ 158750 w 196850"/>
              <a:gd name="connsiteY15" fmla="*/ 717550 h 1625600"/>
              <a:gd name="connsiteX16" fmla="*/ 139700 w 196850"/>
              <a:gd name="connsiteY16" fmla="*/ 736600 h 1625600"/>
              <a:gd name="connsiteX17" fmla="*/ 107950 w 196850"/>
              <a:gd name="connsiteY17" fmla="*/ 768350 h 1625600"/>
              <a:gd name="connsiteX18" fmla="*/ 95250 w 196850"/>
              <a:gd name="connsiteY18" fmla="*/ 787400 h 1625600"/>
              <a:gd name="connsiteX19" fmla="*/ 88900 w 196850"/>
              <a:gd name="connsiteY19" fmla="*/ 806450 h 1625600"/>
              <a:gd name="connsiteX20" fmla="*/ 69850 w 196850"/>
              <a:gd name="connsiteY20" fmla="*/ 819150 h 1625600"/>
              <a:gd name="connsiteX21" fmla="*/ 44450 w 196850"/>
              <a:gd name="connsiteY21" fmla="*/ 863600 h 1625600"/>
              <a:gd name="connsiteX22" fmla="*/ 31750 w 196850"/>
              <a:gd name="connsiteY22" fmla="*/ 882650 h 1625600"/>
              <a:gd name="connsiteX23" fmla="*/ 19050 w 196850"/>
              <a:gd name="connsiteY23" fmla="*/ 927100 h 1625600"/>
              <a:gd name="connsiteX24" fmla="*/ 31750 w 196850"/>
              <a:gd name="connsiteY24" fmla="*/ 1060450 h 1625600"/>
              <a:gd name="connsiteX25" fmla="*/ 63500 w 196850"/>
              <a:gd name="connsiteY25" fmla="*/ 1092200 h 1625600"/>
              <a:gd name="connsiteX26" fmla="*/ 76200 w 196850"/>
              <a:gd name="connsiteY26" fmla="*/ 1111250 h 1625600"/>
              <a:gd name="connsiteX27" fmla="*/ 114300 w 196850"/>
              <a:gd name="connsiteY27" fmla="*/ 1136650 h 1625600"/>
              <a:gd name="connsiteX28" fmla="*/ 120650 w 196850"/>
              <a:gd name="connsiteY28" fmla="*/ 1155700 h 1625600"/>
              <a:gd name="connsiteX29" fmla="*/ 139700 w 196850"/>
              <a:gd name="connsiteY29" fmla="*/ 1168400 h 1625600"/>
              <a:gd name="connsiteX30" fmla="*/ 165100 w 196850"/>
              <a:gd name="connsiteY30" fmla="*/ 1187450 h 1625600"/>
              <a:gd name="connsiteX31" fmla="*/ 190500 w 196850"/>
              <a:gd name="connsiteY31" fmla="*/ 1225550 h 1625600"/>
              <a:gd name="connsiteX32" fmla="*/ 196850 w 196850"/>
              <a:gd name="connsiteY32" fmla="*/ 1250950 h 1625600"/>
              <a:gd name="connsiteX33" fmla="*/ 190500 w 196850"/>
              <a:gd name="connsiteY33" fmla="*/ 1339850 h 1625600"/>
              <a:gd name="connsiteX34" fmla="*/ 171450 w 196850"/>
              <a:gd name="connsiteY34" fmla="*/ 1403350 h 1625600"/>
              <a:gd name="connsiteX35" fmla="*/ 158750 w 196850"/>
              <a:gd name="connsiteY35" fmla="*/ 1422400 h 1625600"/>
              <a:gd name="connsiteX36" fmla="*/ 152400 w 196850"/>
              <a:gd name="connsiteY36" fmla="*/ 1441450 h 1625600"/>
              <a:gd name="connsiteX37" fmla="*/ 127000 w 196850"/>
              <a:gd name="connsiteY37" fmla="*/ 1498600 h 1625600"/>
              <a:gd name="connsiteX38" fmla="*/ 95250 w 196850"/>
              <a:gd name="connsiteY38" fmla="*/ 1555750 h 1625600"/>
              <a:gd name="connsiteX39" fmla="*/ 95250 w 196850"/>
              <a:gd name="connsiteY39" fmla="*/ 1625600 h 1625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196850" h="1625600">
                <a:moveTo>
                  <a:pt x="127000" y="0"/>
                </a:moveTo>
                <a:cubicBezTo>
                  <a:pt x="72901" y="32460"/>
                  <a:pt x="111869" y="2917"/>
                  <a:pt x="82550" y="38100"/>
                </a:cubicBezTo>
                <a:cubicBezTo>
                  <a:pt x="68308" y="55190"/>
                  <a:pt x="59809" y="55930"/>
                  <a:pt x="50800" y="76200"/>
                </a:cubicBezTo>
                <a:cubicBezTo>
                  <a:pt x="25936" y="132143"/>
                  <a:pt x="53821" y="98579"/>
                  <a:pt x="19050" y="133350"/>
                </a:cubicBezTo>
                <a:cubicBezTo>
                  <a:pt x="3590" y="179729"/>
                  <a:pt x="9597" y="158463"/>
                  <a:pt x="0" y="196850"/>
                </a:cubicBezTo>
                <a:cubicBezTo>
                  <a:pt x="14593" y="299002"/>
                  <a:pt x="3234" y="257352"/>
                  <a:pt x="25400" y="323850"/>
                </a:cubicBezTo>
                <a:cubicBezTo>
                  <a:pt x="30227" y="338330"/>
                  <a:pt x="42333" y="349250"/>
                  <a:pt x="50800" y="361950"/>
                </a:cubicBezTo>
                <a:cubicBezTo>
                  <a:pt x="63500" y="381000"/>
                  <a:pt x="61383" y="383117"/>
                  <a:pt x="82550" y="393700"/>
                </a:cubicBezTo>
                <a:cubicBezTo>
                  <a:pt x="88537" y="396693"/>
                  <a:pt x="95250" y="397933"/>
                  <a:pt x="101600" y="400050"/>
                </a:cubicBezTo>
                <a:cubicBezTo>
                  <a:pt x="150493" y="448943"/>
                  <a:pt x="129737" y="423206"/>
                  <a:pt x="165100" y="476250"/>
                </a:cubicBezTo>
                <a:cubicBezTo>
                  <a:pt x="169333" y="482600"/>
                  <a:pt x="175387" y="488060"/>
                  <a:pt x="177800" y="495300"/>
                </a:cubicBezTo>
                <a:cubicBezTo>
                  <a:pt x="179917" y="501650"/>
                  <a:pt x="182698" y="507816"/>
                  <a:pt x="184150" y="514350"/>
                </a:cubicBezTo>
                <a:cubicBezTo>
                  <a:pt x="186943" y="526919"/>
                  <a:pt x="187975" y="539825"/>
                  <a:pt x="190500" y="552450"/>
                </a:cubicBezTo>
                <a:cubicBezTo>
                  <a:pt x="192212" y="561008"/>
                  <a:pt x="194733" y="569383"/>
                  <a:pt x="196850" y="577850"/>
                </a:cubicBezTo>
                <a:cubicBezTo>
                  <a:pt x="194733" y="605367"/>
                  <a:pt x="193923" y="633015"/>
                  <a:pt x="190500" y="660400"/>
                </a:cubicBezTo>
                <a:cubicBezTo>
                  <a:pt x="188219" y="678652"/>
                  <a:pt x="167578" y="708722"/>
                  <a:pt x="158750" y="717550"/>
                </a:cubicBezTo>
                <a:cubicBezTo>
                  <a:pt x="152400" y="723900"/>
                  <a:pt x="145449" y="729701"/>
                  <a:pt x="139700" y="736600"/>
                </a:cubicBezTo>
                <a:cubicBezTo>
                  <a:pt x="113242" y="768350"/>
                  <a:pt x="142875" y="745067"/>
                  <a:pt x="107950" y="768350"/>
                </a:cubicBezTo>
                <a:cubicBezTo>
                  <a:pt x="103717" y="774700"/>
                  <a:pt x="98663" y="780574"/>
                  <a:pt x="95250" y="787400"/>
                </a:cubicBezTo>
                <a:cubicBezTo>
                  <a:pt x="92257" y="793387"/>
                  <a:pt x="93081" y="801223"/>
                  <a:pt x="88900" y="806450"/>
                </a:cubicBezTo>
                <a:cubicBezTo>
                  <a:pt x="84132" y="812409"/>
                  <a:pt x="76200" y="814917"/>
                  <a:pt x="69850" y="819150"/>
                </a:cubicBezTo>
                <a:cubicBezTo>
                  <a:pt x="38908" y="865562"/>
                  <a:pt x="76676" y="807204"/>
                  <a:pt x="44450" y="863600"/>
                </a:cubicBezTo>
                <a:cubicBezTo>
                  <a:pt x="40664" y="870226"/>
                  <a:pt x="35163" y="875824"/>
                  <a:pt x="31750" y="882650"/>
                </a:cubicBezTo>
                <a:cubicBezTo>
                  <a:pt x="27195" y="891760"/>
                  <a:pt x="21085" y="918962"/>
                  <a:pt x="19050" y="927100"/>
                </a:cubicBezTo>
                <a:cubicBezTo>
                  <a:pt x="19267" y="930136"/>
                  <a:pt x="24826" y="1037369"/>
                  <a:pt x="31750" y="1060450"/>
                </a:cubicBezTo>
                <a:cubicBezTo>
                  <a:pt x="37042" y="1078089"/>
                  <a:pt x="49742" y="1083028"/>
                  <a:pt x="63500" y="1092200"/>
                </a:cubicBezTo>
                <a:cubicBezTo>
                  <a:pt x="67733" y="1098550"/>
                  <a:pt x="70457" y="1106224"/>
                  <a:pt x="76200" y="1111250"/>
                </a:cubicBezTo>
                <a:cubicBezTo>
                  <a:pt x="87687" y="1121301"/>
                  <a:pt x="114300" y="1136650"/>
                  <a:pt x="114300" y="1136650"/>
                </a:cubicBezTo>
                <a:cubicBezTo>
                  <a:pt x="116417" y="1143000"/>
                  <a:pt x="116469" y="1150473"/>
                  <a:pt x="120650" y="1155700"/>
                </a:cubicBezTo>
                <a:cubicBezTo>
                  <a:pt x="125418" y="1161659"/>
                  <a:pt x="133490" y="1163964"/>
                  <a:pt x="139700" y="1168400"/>
                </a:cubicBezTo>
                <a:cubicBezTo>
                  <a:pt x="148312" y="1174551"/>
                  <a:pt x="158069" y="1179540"/>
                  <a:pt x="165100" y="1187450"/>
                </a:cubicBezTo>
                <a:cubicBezTo>
                  <a:pt x="175241" y="1198858"/>
                  <a:pt x="190500" y="1225550"/>
                  <a:pt x="190500" y="1225550"/>
                </a:cubicBezTo>
                <a:cubicBezTo>
                  <a:pt x="192617" y="1234017"/>
                  <a:pt x="196850" y="1242223"/>
                  <a:pt x="196850" y="1250950"/>
                </a:cubicBezTo>
                <a:cubicBezTo>
                  <a:pt x="196850" y="1280659"/>
                  <a:pt x="193781" y="1310323"/>
                  <a:pt x="190500" y="1339850"/>
                </a:cubicBezTo>
                <a:cubicBezTo>
                  <a:pt x="188901" y="1354245"/>
                  <a:pt x="174642" y="1393773"/>
                  <a:pt x="171450" y="1403350"/>
                </a:cubicBezTo>
                <a:cubicBezTo>
                  <a:pt x="169037" y="1410590"/>
                  <a:pt x="162163" y="1415574"/>
                  <a:pt x="158750" y="1422400"/>
                </a:cubicBezTo>
                <a:cubicBezTo>
                  <a:pt x="155757" y="1428387"/>
                  <a:pt x="155393" y="1435463"/>
                  <a:pt x="152400" y="1441450"/>
                </a:cubicBezTo>
                <a:cubicBezTo>
                  <a:pt x="122211" y="1501827"/>
                  <a:pt x="159765" y="1400306"/>
                  <a:pt x="127000" y="1498600"/>
                </a:cubicBezTo>
                <a:cubicBezTo>
                  <a:pt x="119404" y="1521388"/>
                  <a:pt x="96991" y="1531377"/>
                  <a:pt x="95250" y="1555750"/>
                </a:cubicBezTo>
                <a:cubicBezTo>
                  <a:pt x="93591" y="1578974"/>
                  <a:pt x="95250" y="1602317"/>
                  <a:pt x="95250" y="1625600"/>
                </a:cubicBezTo>
              </a:path>
            </a:pathLst>
          </a:custGeom>
          <a:ln w="28575"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ln w="12700">
                <a:solidFill>
                  <a:schemeClr val="tx1"/>
                </a:solidFill>
              </a:ln>
            </a:endParaRPr>
          </a:p>
        </p:txBody>
      </p:sp>
      <p:sp>
        <p:nvSpPr>
          <p:cNvPr id="22" name="Freeform 21"/>
          <p:cNvSpPr/>
          <p:nvPr/>
        </p:nvSpPr>
        <p:spPr>
          <a:xfrm>
            <a:off x="4169304" y="2885356"/>
            <a:ext cx="180446" cy="1490133"/>
          </a:xfrm>
          <a:custGeom>
            <a:avLst/>
            <a:gdLst>
              <a:gd name="connsiteX0" fmla="*/ 127000 w 196850"/>
              <a:gd name="connsiteY0" fmla="*/ 0 h 1625600"/>
              <a:gd name="connsiteX1" fmla="*/ 82550 w 196850"/>
              <a:gd name="connsiteY1" fmla="*/ 38100 h 1625600"/>
              <a:gd name="connsiteX2" fmla="*/ 50800 w 196850"/>
              <a:gd name="connsiteY2" fmla="*/ 76200 h 1625600"/>
              <a:gd name="connsiteX3" fmla="*/ 19050 w 196850"/>
              <a:gd name="connsiteY3" fmla="*/ 133350 h 1625600"/>
              <a:gd name="connsiteX4" fmla="*/ 0 w 196850"/>
              <a:gd name="connsiteY4" fmla="*/ 196850 h 1625600"/>
              <a:gd name="connsiteX5" fmla="*/ 25400 w 196850"/>
              <a:gd name="connsiteY5" fmla="*/ 323850 h 1625600"/>
              <a:gd name="connsiteX6" fmla="*/ 50800 w 196850"/>
              <a:gd name="connsiteY6" fmla="*/ 361950 h 1625600"/>
              <a:gd name="connsiteX7" fmla="*/ 82550 w 196850"/>
              <a:gd name="connsiteY7" fmla="*/ 393700 h 1625600"/>
              <a:gd name="connsiteX8" fmla="*/ 101600 w 196850"/>
              <a:gd name="connsiteY8" fmla="*/ 400050 h 1625600"/>
              <a:gd name="connsiteX9" fmla="*/ 165100 w 196850"/>
              <a:gd name="connsiteY9" fmla="*/ 476250 h 1625600"/>
              <a:gd name="connsiteX10" fmla="*/ 177800 w 196850"/>
              <a:gd name="connsiteY10" fmla="*/ 495300 h 1625600"/>
              <a:gd name="connsiteX11" fmla="*/ 184150 w 196850"/>
              <a:gd name="connsiteY11" fmla="*/ 514350 h 1625600"/>
              <a:gd name="connsiteX12" fmla="*/ 190500 w 196850"/>
              <a:gd name="connsiteY12" fmla="*/ 552450 h 1625600"/>
              <a:gd name="connsiteX13" fmla="*/ 196850 w 196850"/>
              <a:gd name="connsiteY13" fmla="*/ 577850 h 1625600"/>
              <a:gd name="connsiteX14" fmla="*/ 190500 w 196850"/>
              <a:gd name="connsiteY14" fmla="*/ 660400 h 1625600"/>
              <a:gd name="connsiteX15" fmla="*/ 158750 w 196850"/>
              <a:gd name="connsiteY15" fmla="*/ 717550 h 1625600"/>
              <a:gd name="connsiteX16" fmla="*/ 139700 w 196850"/>
              <a:gd name="connsiteY16" fmla="*/ 736600 h 1625600"/>
              <a:gd name="connsiteX17" fmla="*/ 107950 w 196850"/>
              <a:gd name="connsiteY17" fmla="*/ 768350 h 1625600"/>
              <a:gd name="connsiteX18" fmla="*/ 95250 w 196850"/>
              <a:gd name="connsiteY18" fmla="*/ 787400 h 1625600"/>
              <a:gd name="connsiteX19" fmla="*/ 88900 w 196850"/>
              <a:gd name="connsiteY19" fmla="*/ 806450 h 1625600"/>
              <a:gd name="connsiteX20" fmla="*/ 69850 w 196850"/>
              <a:gd name="connsiteY20" fmla="*/ 819150 h 1625600"/>
              <a:gd name="connsiteX21" fmla="*/ 44450 w 196850"/>
              <a:gd name="connsiteY21" fmla="*/ 863600 h 1625600"/>
              <a:gd name="connsiteX22" fmla="*/ 31750 w 196850"/>
              <a:gd name="connsiteY22" fmla="*/ 882650 h 1625600"/>
              <a:gd name="connsiteX23" fmla="*/ 19050 w 196850"/>
              <a:gd name="connsiteY23" fmla="*/ 927100 h 1625600"/>
              <a:gd name="connsiteX24" fmla="*/ 31750 w 196850"/>
              <a:gd name="connsiteY24" fmla="*/ 1060450 h 1625600"/>
              <a:gd name="connsiteX25" fmla="*/ 63500 w 196850"/>
              <a:gd name="connsiteY25" fmla="*/ 1092200 h 1625600"/>
              <a:gd name="connsiteX26" fmla="*/ 76200 w 196850"/>
              <a:gd name="connsiteY26" fmla="*/ 1111250 h 1625600"/>
              <a:gd name="connsiteX27" fmla="*/ 114300 w 196850"/>
              <a:gd name="connsiteY27" fmla="*/ 1136650 h 1625600"/>
              <a:gd name="connsiteX28" fmla="*/ 120650 w 196850"/>
              <a:gd name="connsiteY28" fmla="*/ 1155700 h 1625600"/>
              <a:gd name="connsiteX29" fmla="*/ 139700 w 196850"/>
              <a:gd name="connsiteY29" fmla="*/ 1168400 h 1625600"/>
              <a:gd name="connsiteX30" fmla="*/ 165100 w 196850"/>
              <a:gd name="connsiteY30" fmla="*/ 1187450 h 1625600"/>
              <a:gd name="connsiteX31" fmla="*/ 190500 w 196850"/>
              <a:gd name="connsiteY31" fmla="*/ 1225550 h 1625600"/>
              <a:gd name="connsiteX32" fmla="*/ 196850 w 196850"/>
              <a:gd name="connsiteY32" fmla="*/ 1250950 h 1625600"/>
              <a:gd name="connsiteX33" fmla="*/ 190500 w 196850"/>
              <a:gd name="connsiteY33" fmla="*/ 1339850 h 1625600"/>
              <a:gd name="connsiteX34" fmla="*/ 171450 w 196850"/>
              <a:gd name="connsiteY34" fmla="*/ 1403350 h 1625600"/>
              <a:gd name="connsiteX35" fmla="*/ 158750 w 196850"/>
              <a:gd name="connsiteY35" fmla="*/ 1422400 h 1625600"/>
              <a:gd name="connsiteX36" fmla="*/ 152400 w 196850"/>
              <a:gd name="connsiteY36" fmla="*/ 1441450 h 1625600"/>
              <a:gd name="connsiteX37" fmla="*/ 127000 w 196850"/>
              <a:gd name="connsiteY37" fmla="*/ 1498600 h 1625600"/>
              <a:gd name="connsiteX38" fmla="*/ 95250 w 196850"/>
              <a:gd name="connsiteY38" fmla="*/ 1555750 h 1625600"/>
              <a:gd name="connsiteX39" fmla="*/ 95250 w 196850"/>
              <a:gd name="connsiteY39" fmla="*/ 1625600 h 1625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196850" h="1625600">
                <a:moveTo>
                  <a:pt x="127000" y="0"/>
                </a:moveTo>
                <a:cubicBezTo>
                  <a:pt x="72901" y="32460"/>
                  <a:pt x="111869" y="2917"/>
                  <a:pt x="82550" y="38100"/>
                </a:cubicBezTo>
                <a:cubicBezTo>
                  <a:pt x="68308" y="55190"/>
                  <a:pt x="59809" y="55930"/>
                  <a:pt x="50800" y="76200"/>
                </a:cubicBezTo>
                <a:cubicBezTo>
                  <a:pt x="25936" y="132143"/>
                  <a:pt x="53821" y="98579"/>
                  <a:pt x="19050" y="133350"/>
                </a:cubicBezTo>
                <a:cubicBezTo>
                  <a:pt x="3590" y="179729"/>
                  <a:pt x="9597" y="158463"/>
                  <a:pt x="0" y="196850"/>
                </a:cubicBezTo>
                <a:cubicBezTo>
                  <a:pt x="14593" y="299002"/>
                  <a:pt x="3234" y="257352"/>
                  <a:pt x="25400" y="323850"/>
                </a:cubicBezTo>
                <a:cubicBezTo>
                  <a:pt x="30227" y="338330"/>
                  <a:pt x="42333" y="349250"/>
                  <a:pt x="50800" y="361950"/>
                </a:cubicBezTo>
                <a:cubicBezTo>
                  <a:pt x="63500" y="381000"/>
                  <a:pt x="61383" y="383117"/>
                  <a:pt x="82550" y="393700"/>
                </a:cubicBezTo>
                <a:cubicBezTo>
                  <a:pt x="88537" y="396693"/>
                  <a:pt x="95250" y="397933"/>
                  <a:pt x="101600" y="400050"/>
                </a:cubicBezTo>
                <a:cubicBezTo>
                  <a:pt x="150493" y="448943"/>
                  <a:pt x="129737" y="423206"/>
                  <a:pt x="165100" y="476250"/>
                </a:cubicBezTo>
                <a:cubicBezTo>
                  <a:pt x="169333" y="482600"/>
                  <a:pt x="175387" y="488060"/>
                  <a:pt x="177800" y="495300"/>
                </a:cubicBezTo>
                <a:cubicBezTo>
                  <a:pt x="179917" y="501650"/>
                  <a:pt x="182698" y="507816"/>
                  <a:pt x="184150" y="514350"/>
                </a:cubicBezTo>
                <a:cubicBezTo>
                  <a:pt x="186943" y="526919"/>
                  <a:pt x="187975" y="539825"/>
                  <a:pt x="190500" y="552450"/>
                </a:cubicBezTo>
                <a:cubicBezTo>
                  <a:pt x="192212" y="561008"/>
                  <a:pt x="194733" y="569383"/>
                  <a:pt x="196850" y="577850"/>
                </a:cubicBezTo>
                <a:cubicBezTo>
                  <a:pt x="194733" y="605367"/>
                  <a:pt x="193923" y="633015"/>
                  <a:pt x="190500" y="660400"/>
                </a:cubicBezTo>
                <a:cubicBezTo>
                  <a:pt x="188219" y="678652"/>
                  <a:pt x="167578" y="708722"/>
                  <a:pt x="158750" y="717550"/>
                </a:cubicBezTo>
                <a:cubicBezTo>
                  <a:pt x="152400" y="723900"/>
                  <a:pt x="145449" y="729701"/>
                  <a:pt x="139700" y="736600"/>
                </a:cubicBezTo>
                <a:cubicBezTo>
                  <a:pt x="113242" y="768350"/>
                  <a:pt x="142875" y="745067"/>
                  <a:pt x="107950" y="768350"/>
                </a:cubicBezTo>
                <a:cubicBezTo>
                  <a:pt x="103717" y="774700"/>
                  <a:pt x="98663" y="780574"/>
                  <a:pt x="95250" y="787400"/>
                </a:cubicBezTo>
                <a:cubicBezTo>
                  <a:pt x="92257" y="793387"/>
                  <a:pt x="93081" y="801223"/>
                  <a:pt x="88900" y="806450"/>
                </a:cubicBezTo>
                <a:cubicBezTo>
                  <a:pt x="84132" y="812409"/>
                  <a:pt x="76200" y="814917"/>
                  <a:pt x="69850" y="819150"/>
                </a:cubicBezTo>
                <a:cubicBezTo>
                  <a:pt x="38908" y="865562"/>
                  <a:pt x="76676" y="807204"/>
                  <a:pt x="44450" y="863600"/>
                </a:cubicBezTo>
                <a:cubicBezTo>
                  <a:pt x="40664" y="870226"/>
                  <a:pt x="35163" y="875824"/>
                  <a:pt x="31750" y="882650"/>
                </a:cubicBezTo>
                <a:cubicBezTo>
                  <a:pt x="27195" y="891760"/>
                  <a:pt x="21085" y="918962"/>
                  <a:pt x="19050" y="927100"/>
                </a:cubicBezTo>
                <a:cubicBezTo>
                  <a:pt x="19267" y="930136"/>
                  <a:pt x="24826" y="1037369"/>
                  <a:pt x="31750" y="1060450"/>
                </a:cubicBezTo>
                <a:cubicBezTo>
                  <a:pt x="37042" y="1078089"/>
                  <a:pt x="49742" y="1083028"/>
                  <a:pt x="63500" y="1092200"/>
                </a:cubicBezTo>
                <a:cubicBezTo>
                  <a:pt x="67733" y="1098550"/>
                  <a:pt x="70457" y="1106224"/>
                  <a:pt x="76200" y="1111250"/>
                </a:cubicBezTo>
                <a:cubicBezTo>
                  <a:pt x="87687" y="1121301"/>
                  <a:pt x="114300" y="1136650"/>
                  <a:pt x="114300" y="1136650"/>
                </a:cubicBezTo>
                <a:cubicBezTo>
                  <a:pt x="116417" y="1143000"/>
                  <a:pt x="116469" y="1150473"/>
                  <a:pt x="120650" y="1155700"/>
                </a:cubicBezTo>
                <a:cubicBezTo>
                  <a:pt x="125418" y="1161659"/>
                  <a:pt x="133490" y="1163964"/>
                  <a:pt x="139700" y="1168400"/>
                </a:cubicBezTo>
                <a:cubicBezTo>
                  <a:pt x="148312" y="1174551"/>
                  <a:pt x="158069" y="1179540"/>
                  <a:pt x="165100" y="1187450"/>
                </a:cubicBezTo>
                <a:cubicBezTo>
                  <a:pt x="175241" y="1198858"/>
                  <a:pt x="190500" y="1225550"/>
                  <a:pt x="190500" y="1225550"/>
                </a:cubicBezTo>
                <a:cubicBezTo>
                  <a:pt x="192617" y="1234017"/>
                  <a:pt x="196850" y="1242223"/>
                  <a:pt x="196850" y="1250950"/>
                </a:cubicBezTo>
                <a:cubicBezTo>
                  <a:pt x="196850" y="1280659"/>
                  <a:pt x="193781" y="1310323"/>
                  <a:pt x="190500" y="1339850"/>
                </a:cubicBezTo>
                <a:cubicBezTo>
                  <a:pt x="188901" y="1354245"/>
                  <a:pt x="174642" y="1393773"/>
                  <a:pt x="171450" y="1403350"/>
                </a:cubicBezTo>
                <a:cubicBezTo>
                  <a:pt x="169037" y="1410590"/>
                  <a:pt x="162163" y="1415574"/>
                  <a:pt x="158750" y="1422400"/>
                </a:cubicBezTo>
                <a:cubicBezTo>
                  <a:pt x="155757" y="1428387"/>
                  <a:pt x="155393" y="1435463"/>
                  <a:pt x="152400" y="1441450"/>
                </a:cubicBezTo>
                <a:cubicBezTo>
                  <a:pt x="122211" y="1501827"/>
                  <a:pt x="159765" y="1400306"/>
                  <a:pt x="127000" y="1498600"/>
                </a:cubicBezTo>
                <a:cubicBezTo>
                  <a:pt x="119404" y="1521388"/>
                  <a:pt x="96991" y="1531377"/>
                  <a:pt x="95250" y="1555750"/>
                </a:cubicBezTo>
                <a:cubicBezTo>
                  <a:pt x="93591" y="1578974"/>
                  <a:pt x="95250" y="1602317"/>
                  <a:pt x="95250" y="1625600"/>
                </a:cubicBezTo>
              </a:path>
            </a:pathLst>
          </a:custGeom>
          <a:ln w="28575"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ln w="12700">
                <a:solidFill>
                  <a:schemeClr val="tx1"/>
                </a:solidFill>
              </a:ln>
            </a:endParaRPr>
          </a:p>
        </p:txBody>
      </p:sp>
      <p:sp>
        <p:nvSpPr>
          <p:cNvPr id="23" name="Freeform 22"/>
          <p:cNvSpPr/>
          <p:nvPr/>
        </p:nvSpPr>
        <p:spPr>
          <a:xfrm>
            <a:off x="4595389" y="2885356"/>
            <a:ext cx="180446" cy="1490133"/>
          </a:xfrm>
          <a:custGeom>
            <a:avLst/>
            <a:gdLst>
              <a:gd name="connsiteX0" fmla="*/ 127000 w 196850"/>
              <a:gd name="connsiteY0" fmla="*/ 0 h 1625600"/>
              <a:gd name="connsiteX1" fmla="*/ 82550 w 196850"/>
              <a:gd name="connsiteY1" fmla="*/ 38100 h 1625600"/>
              <a:gd name="connsiteX2" fmla="*/ 50800 w 196850"/>
              <a:gd name="connsiteY2" fmla="*/ 76200 h 1625600"/>
              <a:gd name="connsiteX3" fmla="*/ 19050 w 196850"/>
              <a:gd name="connsiteY3" fmla="*/ 133350 h 1625600"/>
              <a:gd name="connsiteX4" fmla="*/ 0 w 196850"/>
              <a:gd name="connsiteY4" fmla="*/ 196850 h 1625600"/>
              <a:gd name="connsiteX5" fmla="*/ 25400 w 196850"/>
              <a:gd name="connsiteY5" fmla="*/ 323850 h 1625600"/>
              <a:gd name="connsiteX6" fmla="*/ 50800 w 196850"/>
              <a:gd name="connsiteY6" fmla="*/ 361950 h 1625600"/>
              <a:gd name="connsiteX7" fmla="*/ 82550 w 196850"/>
              <a:gd name="connsiteY7" fmla="*/ 393700 h 1625600"/>
              <a:gd name="connsiteX8" fmla="*/ 101600 w 196850"/>
              <a:gd name="connsiteY8" fmla="*/ 400050 h 1625600"/>
              <a:gd name="connsiteX9" fmla="*/ 165100 w 196850"/>
              <a:gd name="connsiteY9" fmla="*/ 476250 h 1625600"/>
              <a:gd name="connsiteX10" fmla="*/ 177800 w 196850"/>
              <a:gd name="connsiteY10" fmla="*/ 495300 h 1625600"/>
              <a:gd name="connsiteX11" fmla="*/ 184150 w 196850"/>
              <a:gd name="connsiteY11" fmla="*/ 514350 h 1625600"/>
              <a:gd name="connsiteX12" fmla="*/ 190500 w 196850"/>
              <a:gd name="connsiteY12" fmla="*/ 552450 h 1625600"/>
              <a:gd name="connsiteX13" fmla="*/ 196850 w 196850"/>
              <a:gd name="connsiteY13" fmla="*/ 577850 h 1625600"/>
              <a:gd name="connsiteX14" fmla="*/ 190500 w 196850"/>
              <a:gd name="connsiteY14" fmla="*/ 660400 h 1625600"/>
              <a:gd name="connsiteX15" fmla="*/ 158750 w 196850"/>
              <a:gd name="connsiteY15" fmla="*/ 717550 h 1625600"/>
              <a:gd name="connsiteX16" fmla="*/ 139700 w 196850"/>
              <a:gd name="connsiteY16" fmla="*/ 736600 h 1625600"/>
              <a:gd name="connsiteX17" fmla="*/ 107950 w 196850"/>
              <a:gd name="connsiteY17" fmla="*/ 768350 h 1625600"/>
              <a:gd name="connsiteX18" fmla="*/ 95250 w 196850"/>
              <a:gd name="connsiteY18" fmla="*/ 787400 h 1625600"/>
              <a:gd name="connsiteX19" fmla="*/ 88900 w 196850"/>
              <a:gd name="connsiteY19" fmla="*/ 806450 h 1625600"/>
              <a:gd name="connsiteX20" fmla="*/ 69850 w 196850"/>
              <a:gd name="connsiteY20" fmla="*/ 819150 h 1625600"/>
              <a:gd name="connsiteX21" fmla="*/ 44450 w 196850"/>
              <a:gd name="connsiteY21" fmla="*/ 863600 h 1625600"/>
              <a:gd name="connsiteX22" fmla="*/ 31750 w 196850"/>
              <a:gd name="connsiteY22" fmla="*/ 882650 h 1625600"/>
              <a:gd name="connsiteX23" fmla="*/ 19050 w 196850"/>
              <a:gd name="connsiteY23" fmla="*/ 927100 h 1625600"/>
              <a:gd name="connsiteX24" fmla="*/ 31750 w 196850"/>
              <a:gd name="connsiteY24" fmla="*/ 1060450 h 1625600"/>
              <a:gd name="connsiteX25" fmla="*/ 63500 w 196850"/>
              <a:gd name="connsiteY25" fmla="*/ 1092200 h 1625600"/>
              <a:gd name="connsiteX26" fmla="*/ 76200 w 196850"/>
              <a:gd name="connsiteY26" fmla="*/ 1111250 h 1625600"/>
              <a:gd name="connsiteX27" fmla="*/ 114300 w 196850"/>
              <a:gd name="connsiteY27" fmla="*/ 1136650 h 1625600"/>
              <a:gd name="connsiteX28" fmla="*/ 120650 w 196850"/>
              <a:gd name="connsiteY28" fmla="*/ 1155700 h 1625600"/>
              <a:gd name="connsiteX29" fmla="*/ 139700 w 196850"/>
              <a:gd name="connsiteY29" fmla="*/ 1168400 h 1625600"/>
              <a:gd name="connsiteX30" fmla="*/ 165100 w 196850"/>
              <a:gd name="connsiteY30" fmla="*/ 1187450 h 1625600"/>
              <a:gd name="connsiteX31" fmla="*/ 190500 w 196850"/>
              <a:gd name="connsiteY31" fmla="*/ 1225550 h 1625600"/>
              <a:gd name="connsiteX32" fmla="*/ 196850 w 196850"/>
              <a:gd name="connsiteY32" fmla="*/ 1250950 h 1625600"/>
              <a:gd name="connsiteX33" fmla="*/ 190500 w 196850"/>
              <a:gd name="connsiteY33" fmla="*/ 1339850 h 1625600"/>
              <a:gd name="connsiteX34" fmla="*/ 171450 w 196850"/>
              <a:gd name="connsiteY34" fmla="*/ 1403350 h 1625600"/>
              <a:gd name="connsiteX35" fmla="*/ 158750 w 196850"/>
              <a:gd name="connsiteY35" fmla="*/ 1422400 h 1625600"/>
              <a:gd name="connsiteX36" fmla="*/ 152400 w 196850"/>
              <a:gd name="connsiteY36" fmla="*/ 1441450 h 1625600"/>
              <a:gd name="connsiteX37" fmla="*/ 127000 w 196850"/>
              <a:gd name="connsiteY37" fmla="*/ 1498600 h 1625600"/>
              <a:gd name="connsiteX38" fmla="*/ 95250 w 196850"/>
              <a:gd name="connsiteY38" fmla="*/ 1555750 h 1625600"/>
              <a:gd name="connsiteX39" fmla="*/ 95250 w 196850"/>
              <a:gd name="connsiteY39" fmla="*/ 1625600 h 1625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196850" h="1625600">
                <a:moveTo>
                  <a:pt x="127000" y="0"/>
                </a:moveTo>
                <a:cubicBezTo>
                  <a:pt x="72901" y="32460"/>
                  <a:pt x="111869" y="2917"/>
                  <a:pt x="82550" y="38100"/>
                </a:cubicBezTo>
                <a:cubicBezTo>
                  <a:pt x="68308" y="55190"/>
                  <a:pt x="59809" y="55930"/>
                  <a:pt x="50800" y="76200"/>
                </a:cubicBezTo>
                <a:cubicBezTo>
                  <a:pt x="25936" y="132143"/>
                  <a:pt x="53821" y="98579"/>
                  <a:pt x="19050" y="133350"/>
                </a:cubicBezTo>
                <a:cubicBezTo>
                  <a:pt x="3590" y="179729"/>
                  <a:pt x="9597" y="158463"/>
                  <a:pt x="0" y="196850"/>
                </a:cubicBezTo>
                <a:cubicBezTo>
                  <a:pt x="14593" y="299002"/>
                  <a:pt x="3234" y="257352"/>
                  <a:pt x="25400" y="323850"/>
                </a:cubicBezTo>
                <a:cubicBezTo>
                  <a:pt x="30227" y="338330"/>
                  <a:pt x="42333" y="349250"/>
                  <a:pt x="50800" y="361950"/>
                </a:cubicBezTo>
                <a:cubicBezTo>
                  <a:pt x="63500" y="381000"/>
                  <a:pt x="61383" y="383117"/>
                  <a:pt x="82550" y="393700"/>
                </a:cubicBezTo>
                <a:cubicBezTo>
                  <a:pt x="88537" y="396693"/>
                  <a:pt x="95250" y="397933"/>
                  <a:pt x="101600" y="400050"/>
                </a:cubicBezTo>
                <a:cubicBezTo>
                  <a:pt x="150493" y="448943"/>
                  <a:pt x="129737" y="423206"/>
                  <a:pt x="165100" y="476250"/>
                </a:cubicBezTo>
                <a:cubicBezTo>
                  <a:pt x="169333" y="482600"/>
                  <a:pt x="175387" y="488060"/>
                  <a:pt x="177800" y="495300"/>
                </a:cubicBezTo>
                <a:cubicBezTo>
                  <a:pt x="179917" y="501650"/>
                  <a:pt x="182698" y="507816"/>
                  <a:pt x="184150" y="514350"/>
                </a:cubicBezTo>
                <a:cubicBezTo>
                  <a:pt x="186943" y="526919"/>
                  <a:pt x="187975" y="539825"/>
                  <a:pt x="190500" y="552450"/>
                </a:cubicBezTo>
                <a:cubicBezTo>
                  <a:pt x="192212" y="561008"/>
                  <a:pt x="194733" y="569383"/>
                  <a:pt x="196850" y="577850"/>
                </a:cubicBezTo>
                <a:cubicBezTo>
                  <a:pt x="194733" y="605367"/>
                  <a:pt x="193923" y="633015"/>
                  <a:pt x="190500" y="660400"/>
                </a:cubicBezTo>
                <a:cubicBezTo>
                  <a:pt x="188219" y="678652"/>
                  <a:pt x="167578" y="708722"/>
                  <a:pt x="158750" y="717550"/>
                </a:cubicBezTo>
                <a:cubicBezTo>
                  <a:pt x="152400" y="723900"/>
                  <a:pt x="145449" y="729701"/>
                  <a:pt x="139700" y="736600"/>
                </a:cubicBezTo>
                <a:cubicBezTo>
                  <a:pt x="113242" y="768350"/>
                  <a:pt x="142875" y="745067"/>
                  <a:pt x="107950" y="768350"/>
                </a:cubicBezTo>
                <a:cubicBezTo>
                  <a:pt x="103717" y="774700"/>
                  <a:pt x="98663" y="780574"/>
                  <a:pt x="95250" y="787400"/>
                </a:cubicBezTo>
                <a:cubicBezTo>
                  <a:pt x="92257" y="793387"/>
                  <a:pt x="93081" y="801223"/>
                  <a:pt x="88900" y="806450"/>
                </a:cubicBezTo>
                <a:cubicBezTo>
                  <a:pt x="84132" y="812409"/>
                  <a:pt x="76200" y="814917"/>
                  <a:pt x="69850" y="819150"/>
                </a:cubicBezTo>
                <a:cubicBezTo>
                  <a:pt x="38908" y="865562"/>
                  <a:pt x="76676" y="807204"/>
                  <a:pt x="44450" y="863600"/>
                </a:cubicBezTo>
                <a:cubicBezTo>
                  <a:pt x="40664" y="870226"/>
                  <a:pt x="35163" y="875824"/>
                  <a:pt x="31750" y="882650"/>
                </a:cubicBezTo>
                <a:cubicBezTo>
                  <a:pt x="27195" y="891760"/>
                  <a:pt x="21085" y="918962"/>
                  <a:pt x="19050" y="927100"/>
                </a:cubicBezTo>
                <a:cubicBezTo>
                  <a:pt x="19267" y="930136"/>
                  <a:pt x="24826" y="1037369"/>
                  <a:pt x="31750" y="1060450"/>
                </a:cubicBezTo>
                <a:cubicBezTo>
                  <a:pt x="37042" y="1078089"/>
                  <a:pt x="49742" y="1083028"/>
                  <a:pt x="63500" y="1092200"/>
                </a:cubicBezTo>
                <a:cubicBezTo>
                  <a:pt x="67733" y="1098550"/>
                  <a:pt x="70457" y="1106224"/>
                  <a:pt x="76200" y="1111250"/>
                </a:cubicBezTo>
                <a:cubicBezTo>
                  <a:pt x="87687" y="1121301"/>
                  <a:pt x="114300" y="1136650"/>
                  <a:pt x="114300" y="1136650"/>
                </a:cubicBezTo>
                <a:cubicBezTo>
                  <a:pt x="116417" y="1143000"/>
                  <a:pt x="116469" y="1150473"/>
                  <a:pt x="120650" y="1155700"/>
                </a:cubicBezTo>
                <a:cubicBezTo>
                  <a:pt x="125418" y="1161659"/>
                  <a:pt x="133490" y="1163964"/>
                  <a:pt x="139700" y="1168400"/>
                </a:cubicBezTo>
                <a:cubicBezTo>
                  <a:pt x="148312" y="1174551"/>
                  <a:pt x="158069" y="1179540"/>
                  <a:pt x="165100" y="1187450"/>
                </a:cubicBezTo>
                <a:cubicBezTo>
                  <a:pt x="175241" y="1198858"/>
                  <a:pt x="190500" y="1225550"/>
                  <a:pt x="190500" y="1225550"/>
                </a:cubicBezTo>
                <a:cubicBezTo>
                  <a:pt x="192617" y="1234017"/>
                  <a:pt x="196850" y="1242223"/>
                  <a:pt x="196850" y="1250950"/>
                </a:cubicBezTo>
                <a:cubicBezTo>
                  <a:pt x="196850" y="1280659"/>
                  <a:pt x="193781" y="1310323"/>
                  <a:pt x="190500" y="1339850"/>
                </a:cubicBezTo>
                <a:cubicBezTo>
                  <a:pt x="188901" y="1354245"/>
                  <a:pt x="174642" y="1393773"/>
                  <a:pt x="171450" y="1403350"/>
                </a:cubicBezTo>
                <a:cubicBezTo>
                  <a:pt x="169037" y="1410590"/>
                  <a:pt x="162163" y="1415574"/>
                  <a:pt x="158750" y="1422400"/>
                </a:cubicBezTo>
                <a:cubicBezTo>
                  <a:pt x="155757" y="1428387"/>
                  <a:pt x="155393" y="1435463"/>
                  <a:pt x="152400" y="1441450"/>
                </a:cubicBezTo>
                <a:cubicBezTo>
                  <a:pt x="122211" y="1501827"/>
                  <a:pt x="159765" y="1400306"/>
                  <a:pt x="127000" y="1498600"/>
                </a:cubicBezTo>
                <a:cubicBezTo>
                  <a:pt x="119404" y="1521388"/>
                  <a:pt x="96991" y="1531377"/>
                  <a:pt x="95250" y="1555750"/>
                </a:cubicBezTo>
                <a:cubicBezTo>
                  <a:pt x="93591" y="1578974"/>
                  <a:pt x="95250" y="1602317"/>
                  <a:pt x="95250" y="1625600"/>
                </a:cubicBezTo>
              </a:path>
            </a:pathLst>
          </a:custGeom>
          <a:ln w="28575"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ln w="12700">
                <a:solidFill>
                  <a:schemeClr val="tx1"/>
                </a:solidFill>
              </a:ln>
            </a:endParaRPr>
          </a:p>
        </p:txBody>
      </p:sp>
      <p:sp>
        <p:nvSpPr>
          <p:cNvPr id="24" name="Freeform 23"/>
          <p:cNvSpPr/>
          <p:nvPr/>
        </p:nvSpPr>
        <p:spPr>
          <a:xfrm>
            <a:off x="5021474" y="2885356"/>
            <a:ext cx="180446" cy="1490133"/>
          </a:xfrm>
          <a:custGeom>
            <a:avLst/>
            <a:gdLst>
              <a:gd name="connsiteX0" fmla="*/ 127000 w 196850"/>
              <a:gd name="connsiteY0" fmla="*/ 0 h 1625600"/>
              <a:gd name="connsiteX1" fmla="*/ 82550 w 196850"/>
              <a:gd name="connsiteY1" fmla="*/ 38100 h 1625600"/>
              <a:gd name="connsiteX2" fmla="*/ 50800 w 196850"/>
              <a:gd name="connsiteY2" fmla="*/ 76200 h 1625600"/>
              <a:gd name="connsiteX3" fmla="*/ 19050 w 196850"/>
              <a:gd name="connsiteY3" fmla="*/ 133350 h 1625600"/>
              <a:gd name="connsiteX4" fmla="*/ 0 w 196850"/>
              <a:gd name="connsiteY4" fmla="*/ 196850 h 1625600"/>
              <a:gd name="connsiteX5" fmla="*/ 25400 w 196850"/>
              <a:gd name="connsiteY5" fmla="*/ 323850 h 1625600"/>
              <a:gd name="connsiteX6" fmla="*/ 50800 w 196850"/>
              <a:gd name="connsiteY6" fmla="*/ 361950 h 1625600"/>
              <a:gd name="connsiteX7" fmla="*/ 82550 w 196850"/>
              <a:gd name="connsiteY7" fmla="*/ 393700 h 1625600"/>
              <a:gd name="connsiteX8" fmla="*/ 101600 w 196850"/>
              <a:gd name="connsiteY8" fmla="*/ 400050 h 1625600"/>
              <a:gd name="connsiteX9" fmla="*/ 165100 w 196850"/>
              <a:gd name="connsiteY9" fmla="*/ 476250 h 1625600"/>
              <a:gd name="connsiteX10" fmla="*/ 177800 w 196850"/>
              <a:gd name="connsiteY10" fmla="*/ 495300 h 1625600"/>
              <a:gd name="connsiteX11" fmla="*/ 184150 w 196850"/>
              <a:gd name="connsiteY11" fmla="*/ 514350 h 1625600"/>
              <a:gd name="connsiteX12" fmla="*/ 190500 w 196850"/>
              <a:gd name="connsiteY12" fmla="*/ 552450 h 1625600"/>
              <a:gd name="connsiteX13" fmla="*/ 196850 w 196850"/>
              <a:gd name="connsiteY13" fmla="*/ 577850 h 1625600"/>
              <a:gd name="connsiteX14" fmla="*/ 190500 w 196850"/>
              <a:gd name="connsiteY14" fmla="*/ 660400 h 1625600"/>
              <a:gd name="connsiteX15" fmla="*/ 158750 w 196850"/>
              <a:gd name="connsiteY15" fmla="*/ 717550 h 1625600"/>
              <a:gd name="connsiteX16" fmla="*/ 139700 w 196850"/>
              <a:gd name="connsiteY16" fmla="*/ 736600 h 1625600"/>
              <a:gd name="connsiteX17" fmla="*/ 107950 w 196850"/>
              <a:gd name="connsiteY17" fmla="*/ 768350 h 1625600"/>
              <a:gd name="connsiteX18" fmla="*/ 95250 w 196850"/>
              <a:gd name="connsiteY18" fmla="*/ 787400 h 1625600"/>
              <a:gd name="connsiteX19" fmla="*/ 88900 w 196850"/>
              <a:gd name="connsiteY19" fmla="*/ 806450 h 1625600"/>
              <a:gd name="connsiteX20" fmla="*/ 69850 w 196850"/>
              <a:gd name="connsiteY20" fmla="*/ 819150 h 1625600"/>
              <a:gd name="connsiteX21" fmla="*/ 44450 w 196850"/>
              <a:gd name="connsiteY21" fmla="*/ 863600 h 1625600"/>
              <a:gd name="connsiteX22" fmla="*/ 31750 w 196850"/>
              <a:gd name="connsiteY22" fmla="*/ 882650 h 1625600"/>
              <a:gd name="connsiteX23" fmla="*/ 19050 w 196850"/>
              <a:gd name="connsiteY23" fmla="*/ 927100 h 1625600"/>
              <a:gd name="connsiteX24" fmla="*/ 31750 w 196850"/>
              <a:gd name="connsiteY24" fmla="*/ 1060450 h 1625600"/>
              <a:gd name="connsiteX25" fmla="*/ 63500 w 196850"/>
              <a:gd name="connsiteY25" fmla="*/ 1092200 h 1625600"/>
              <a:gd name="connsiteX26" fmla="*/ 76200 w 196850"/>
              <a:gd name="connsiteY26" fmla="*/ 1111250 h 1625600"/>
              <a:gd name="connsiteX27" fmla="*/ 114300 w 196850"/>
              <a:gd name="connsiteY27" fmla="*/ 1136650 h 1625600"/>
              <a:gd name="connsiteX28" fmla="*/ 120650 w 196850"/>
              <a:gd name="connsiteY28" fmla="*/ 1155700 h 1625600"/>
              <a:gd name="connsiteX29" fmla="*/ 139700 w 196850"/>
              <a:gd name="connsiteY29" fmla="*/ 1168400 h 1625600"/>
              <a:gd name="connsiteX30" fmla="*/ 165100 w 196850"/>
              <a:gd name="connsiteY30" fmla="*/ 1187450 h 1625600"/>
              <a:gd name="connsiteX31" fmla="*/ 190500 w 196850"/>
              <a:gd name="connsiteY31" fmla="*/ 1225550 h 1625600"/>
              <a:gd name="connsiteX32" fmla="*/ 196850 w 196850"/>
              <a:gd name="connsiteY32" fmla="*/ 1250950 h 1625600"/>
              <a:gd name="connsiteX33" fmla="*/ 190500 w 196850"/>
              <a:gd name="connsiteY33" fmla="*/ 1339850 h 1625600"/>
              <a:gd name="connsiteX34" fmla="*/ 171450 w 196850"/>
              <a:gd name="connsiteY34" fmla="*/ 1403350 h 1625600"/>
              <a:gd name="connsiteX35" fmla="*/ 158750 w 196850"/>
              <a:gd name="connsiteY35" fmla="*/ 1422400 h 1625600"/>
              <a:gd name="connsiteX36" fmla="*/ 152400 w 196850"/>
              <a:gd name="connsiteY36" fmla="*/ 1441450 h 1625600"/>
              <a:gd name="connsiteX37" fmla="*/ 127000 w 196850"/>
              <a:gd name="connsiteY37" fmla="*/ 1498600 h 1625600"/>
              <a:gd name="connsiteX38" fmla="*/ 95250 w 196850"/>
              <a:gd name="connsiteY38" fmla="*/ 1555750 h 1625600"/>
              <a:gd name="connsiteX39" fmla="*/ 95250 w 196850"/>
              <a:gd name="connsiteY39" fmla="*/ 1625600 h 1625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196850" h="1625600">
                <a:moveTo>
                  <a:pt x="127000" y="0"/>
                </a:moveTo>
                <a:cubicBezTo>
                  <a:pt x="72901" y="32460"/>
                  <a:pt x="111869" y="2917"/>
                  <a:pt x="82550" y="38100"/>
                </a:cubicBezTo>
                <a:cubicBezTo>
                  <a:pt x="68308" y="55190"/>
                  <a:pt x="59809" y="55930"/>
                  <a:pt x="50800" y="76200"/>
                </a:cubicBezTo>
                <a:cubicBezTo>
                  <a:pt x="25936" y="132143"/>
                  <a:pt x="53821" y="98579"/>
                  <a:pt x="19050" y="133350"/>
                </a:cubicBezTo>
                <a:cubicBezTo>
                  <a:pt x="3590" y="179729"/>
                  <a:pt x="9597" y="158463"/>
                  <a:pt x="0" y="196850"/>
                </a:cubicBezTo>
                <a:cubicBezTo>
                  <a:pt x="14593" y="299002"/>
                  <a:pt x="3234" y="257352"/>
                  <a:pt x="25400" y="323850"/>
                </a:cubicBezTo>
                <a:cubicBezTo>
                  <a:pt x="30227" y="338330"/>
                  <a:pt x="42333" y="349250"/>
                  <a:pt x="50800" y="361950"/>
                </a:cubicBezTo>
                <a:cubicBezTo>
                  <a:pt x="63500" y="381000"/>
                  <a:pt x="61383" y="383117"/>
                  <a:pt x="82550" y="393700"/>
                </a:cubicBezTo>
                <a:cubicBezTo>
                  <a:pt x="88537" y="396693"/>
                  <a:pt x="95250" y="397933"/>
                  <a:pt x="101600" y="400050"/>
                </a:cubicBezTo>
                <a:cubicBezTo>
                  <a:pt x="150493" y="448943"/>
                  <a:pt x="129737" y="423206"/>
                  <a:pt x="165100" y="476250"/>
                </a:cubicBezTo>
                <a:cubicBezTo>
                  <a:pt x="169333" y="482600"/>
                  <a:pt x="175387" y="488060"/>
                  <a:pt x="177800" y="495300"/>
                </a:cubicBezTo>
                <a:cubicBezTo>
                  <a:pt x="179917" y="501650"/>
                  <a:pt x="182698" y="507816"/>
                  <a:pt x="184150" y="514350"/>
                </a:cubicBezTo>
                <a:cubicBezTo>
                  <a:pt x="186943" y="526919"/>
                  <a:pt x="187975" y="539825"/>
                  <a:pt x="190500" y="552450"/>
                </a:cubicBezTo>
                <a:cubicBezTo>
                  <a:pt x="192212" y="561008"/>
                  <a:pt x="194733" y="569383"/>
                  <a:pt x="196850" y="577850"/>
                </a:cubicBezTo>
                <a:cubicBezTo>
                  <a:pt x="194733" y="605367"/>
                  <a:pt x="193923" y="633015"/>
                  <a:pt x="190500" y="660400"/>
                </a:cubicBezTo>
                <a:cubicBezTo>
                  <a:pt x="188219" y="678652"/>
                  <a:pt x="167578" y="708722"/>
                  <a:pt x="158750" y="717550"/>
                </a:cubicBezTo>
                <a:cubicBezTo>
                  <a:pt x="152400" y="723900"/>
                  <a:pt x="145449" y="729701"/>
                  <a:pt x="139700" y="736600"/>
                </a:cubicBezTo>
                <a:cubicBezTo>
                  <a:pt x="113242" y="768350"/>
                  <a:pt x="142875" y="745067"/>
                  <a:pt x="107950" y="768350"/>
                </a:cubicBezTo>
                <a:cubicBezTo>
                  <a:pt x="103717" y="774700"/>
                  <a:pt x="98663" y="780574"/>
                  <a:pt x="95250" y="787400"/>
                </a:cubicBezTo>
                <a:cubicBezTo>
                  <a:pt x="92257" y="793387"/>
                  <a:pt x="93081" y="801223"/>
                  <a:pt x="88900" y="806450"/>
                </a:cubicBezTo>
                <a:cubicBezTo>
                  <a:pt x="84132" y="812409"/>
                  <a:pt x="76200" y="814917"/>
                  <a:pt x="69850" y="819150"/>
                </a:cubicBezTo>
                <a:cubicBezTo>
                  <a:pt x="38908" y="865562"/>
                  <a:pt x="76676" y="807204"/>
                  <a:pt x="44450" y="863600"/>
                </a:cubicBezTo>
                <a:cubicBezTo>
                  <a:pt x="40664" y="870226"/>
                  <a:pt x="35163" y="875824"/>
                  <a:pt x="31750" y="882650"/>
                </a:cubicBezTo>
                <a:cubicBezTo>
                  <a:pt x="27195" y="891760"/>
                  <a:pt x="21085" y="918962"/>
                  <a:pt x="19050" y="927100"/>
                </a:cubicBezTo>
                <a:cubicBezTo>
                  <a:pt x="19267" y="930136"/>
                  <a:pt x="24826" y="1037369"/>
                  <a:pt x="31750" y="1060450"/>
                </a:cubicBezTo>
                <a:cubicBezTo>
                  <a:pt x="37042" y="1078089"/>
                  <a:pt x="49742" y="1083028"/>
                  <a:pt x="63500" y="1092200"/>
                </a:cubicBezTo>
                <a:cubicBezTo>
                  <a:pt x="67733" y="1098550"/>
                  <a:pt x="70457" y="1106224"/>
                  <a:pt x="76200" y="1111250"/>
                </a:cubicBezTo>
                <a:cubicBezTo>
                  <a:pt x="87687" y="1121301"/>
                  <a:pt x="114300" y="1136650"/>
                  <a:pt x="114300" y="1136650"/>
                </a:cubicBezTo>
                <a:cubicBezTo>
                  <a:pt x="116417" y="1143000"/>
                  <a:pt x="116469" y="1150473"/>
                  <a:pt x="120650" y="1155700"/>
                </a:cubicBezTo>
                <a:cubicBezTo>
                  <a:pt x="125418" y="1161659"/>
                  <a:pt x="133490" y="1163964"/>
                  <a:pt x="139700" y="1168400"/>
                </a:cubicBezTo>
                <a:cubicBezTo>
                  <a:pt x="148312" y="1174551"/>
                  <a:pt x="158069" y="1179540"/>
                  <a:pt x="165100" y="1187450"/>
                </a:cubicBezTo>
                <a:cubicBezTo>
                  <a:pt x="175241" y="1198858"/>
                  <a:pt x="190500" y="1225550"/>
                  <a:pt x="190500" y="1225550"/>
                </a:cubicBezTo>
                <a:cubicBezTo>
                  <a:pt x="192617" y="1234017"/>
                  <a:pt x="196850" y="1242223"/>
                  <a:pt x="196850" y="1250950"/>
                </a:cubicBezTo>
                <a:cubicBezTo>
                  <a:pt x="196850" y="1280659"/>
                  <a:pt x="193781" y="1310323"/>
                  <a:pt x="190500" y="1339850"/>
                </a:cubicBezTo>
                <a:cubicBezTo>
                  <a:pt x="188901" y="1354245"/>
                  <a:pt x="174642" y="1393773"/>
                  <a:pt x="171450" y="1403350"/>
                </a:cubicBezTo>
                <a:cubicBezTo>
                  <a:pt x="169037" y="1410590"/>
                  <a:pt x="162163" y="1415574"/>
                  <a:pt x="158750" y="1422400"/>
                </a:cubicBezTo>
                <a:cubicBezTo>
                  <a:pt x="155757" y="1428387"/>
                  <a:pt x="155393" y="1435463"/>
                  <a:pt x="152400" y="1441450"/>
                </a:cubicBezTo>
                <a:cubicBezTo>
                  <a:pt x="122211" y="1501827"/>
                  <a:pt x="159765" y="1400306"/>
                  <a:pt x="127000" y="1498600"/>
                </a:cubicBezTo>
                <a:cubicBezTo>
                  <a:pt x="119404" y="1521388"/>
                  <a:pt x="96991" y="1531377"/>
                  <a:pt x="95250" y="1555750"/>
                </a:cubicBezTo>
                <a:cubicBezTo>
                  <a:pt x="93591" y="1578974"/>
                  <a:pt x="95250" y="1602317"/>
                  <a:pt x="95250" y="1625600"/>
                </a:cubicBezTo>
              </a:path>
            </a:pathLst>
          </a:custGeom>
          <a:ln w="28575"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ln w="12700">
                <a:solidFill>
                  <a:schemeClr val="tx1"/>
                </a:solidFill>
              </a:ln>
            </a:endParaRPr>
          </a:p>
        </p:txBody>
      </p:sp>
      <p:sp>
        <p:nvSpPr>
          <p:cNvPr id="25" name="Freeform 24"/>
          <p:cNvSpPr/>
          <p:nvPr/>
        </p:nvSpPr>
        <p:spPr>
          <a:xfrm>
            <a:off x="5447559" y="2885356"/>
            <a:ext cx="180446" cy="1490133"/>
          </a:xfrm>
          <a:custGeom>
            <a:avLst/>
            <a:gdLst>
              <a:gd name="connsiteX0" fmla="*/ 127000 w 196850"/>
              <a:gd name="connsiteY0" fmla="*/ 0 h 1625600"/>
              <a:gd name="connsiteX1" fmla="*/ 82550 w 196850"/>
              <a:gd name="connsiteY1" fmla="*/ 38100 h 1625600"/>
              <a:gd name="connsiteX2" fmla="*/ 50800 w 196850"/>
              <a:gd name="connsiteY2" fmla="*/ 76200 h 1625600"/>
              <a:gd name="connsiteX3" fmla="*/ 19050 w 196850"/>
              <a:gd name="connsiteY3" fmla="*/ 133350 h 1625600"/>
              <a:gd name="connsiteX4" fmla="*/ 0 w 196850"/>
              <a:gd name="connsiteY4" fmla="*/ 196850 h 1625600"/>
              <a:gd name="connsiteX5" fmla="*/ 25400 w 196850"/>
              <a:gd name="connsiteY5" fmla="*/ 323850 h 1625600"/>
              <a:gd name="connsiteX6" fmla="*/ 50800 w 196850"/>
              <a:gd name="connsiteY6" fmla="*/ 361950 h 1625600"/>
              <a:gd name="connsiteX7" fmla="*/ 82550 w 196850"/>
              <a:gd name="connsiteY7" fmla="*/ 393700 h 1625600"/>
              <a:gd name="connsiteX8" fmla="*/ 101600 w 196850"/>
              <a:gd name="connsiteY8" fmla="*/ 400050 h 1625600"/>
              <a:gd name="connsiteX9" fmla="*/ 165100 w 196850"/>
              <a:gd name="connsiteY9" fmla="*/ 476250 h 1625600"/>
              <a:gd name="connsiteX10" fmla="*/ 177800 w 196850"/>
              <a:gd name="connsiteY10" fmla="*/ 495300 h 1625600"/>
              <a:gd name="connsiteX11" fmla="*/ 184150 w 196850"/>
              <a:gd name="connsiteY11" fmla="*/ 514350 h 1625600"/>
              <a:gd name="connsiteX12" fmla="*/ 190500 w 196850"/>
              <a:gd name="connsiteY12" fmla="*/ 552450 h 1625600"/>
              <a:gd name="connsiteX13" fmla="*/ 196850 w 196850"/>
              <a:gd name="connsiteY13" fmla="*/ 577850 h 1625600"/>
              <a:gd name="connsiteX14" fmla="*/ 190500 w 196850"/>
              <a:gd name="connsiteY14" fmla="*/ 660400 h 1625600"/>
              <a:gd name="connsiteX15" fmla="*/ 158750 w 196850"/>
              <a:gd name="connsiteY15" fmla="*/ 717550 h 1625600"/>
              <a:gd name="connsiteX16" fmla="*/ 139700 w 196850"/>
              <a:gd name="connsiteY16" fmla="*/ 736600 h 1625600"/>
              <a:gd name="connsiteX17" fmla="*/ 107950 w 196850"/>
              <a:gd name="connsiteY17" fmla="*/ 768350 h 1625600"/>
              <a:gd name="connsiteX18" fmla="*/ 95250 w 196850"/>
              <a:gd name="connsiteY18" fmla="*/ 787400 h 1625600"/>
              <a:gd name="connsiteX19" fmla="*/ 88900 w 196850"/>
              <a:gd name="connsiteY19" fmla="*/ 806450 h 1625600"/>
              <a:gd name="connsiteX20" fmla="*/ 69850 w 196850"/>
              <a:gd name="connsiteY20" fmla="*/ 819150 h 1625600"/>
              <a:gd name="connsiteX21" fmla="*/ 44450 w 196850"/>
              <a:gd name="connsiteY21" fmla="*/ 863600 h 1625600"/>
              <a:gd name="connsiteX22" fmla="*/ 31750 w 196850"/>
              <a:gd name="connsiteY22" fmla="*/ 882650 h 1625600"/>
              <a:gd name="connsiteX23" fmla="*/ 19050 w 196850"/>
              <a:gd name="connsiteY23" fmla="*/ 927100 h 1625600"/>
              <a:gd name="connsiteX24" fmla="*/ 31750 w 196850"/>
              <a:gd name="connsiteY24" fmla="*/ 1060450 h 1625600"/>
              <a:gd name="connsiteX25" fmla="*/ 63500 w 196850"/>
              <a:gd name="connsiteY25" fmla="*/ 1092200 h 1625600"/>
              <a:gd name="connsiteX26" fmla="*/ 76200 w 196850"/>
              <a:gd name="connsiteY26" fmla="*/ 1111250 h 1625600"/>
              <a:gd name="connsiteX27" fmla="*/ 114300 w 196850"/>
              <a:gd name="connsiteY27" fmla="*/ 1136650 h 1625600"/>
              <a:gd name="connsiteX28" fmla="*/ 120650 w 196850"/>
              <a:gd name="connsiteY28" fmla="*/ 1155700 h 1625600"/>
              <a:gd name="connsiteX29" fmla="*/ 139700 w 196850"/>
              <a:gd name="connsiteY29" fmla="*/ 1168400 h 1625600"/>
              <a:gd name="connsiteX30" fmla="*/ 165100 w 196850"/>
              <a:gd name="connsiteY30" fmla="*/ 1187450 h 1625600"/>
              <a:gd name="connsiteX31" fmla="*/ 190500 w 196850"/>
              <a:gd name="connsiteY31" fmla="*/ 1225550 h 1625600"/>
              <a:gd name="connsiteX32" fmla="*/ 196850 w 196850"/>
              <a:gd name="connsiteY32" fmla="*/ 1250950 h 1625600"/>
              <a:gd name="connsiteX33" fmla="*/ 190500 w 196850"/>
              <a:gd name="connsiteY33" fmla="*/ 1339850 h 1625600"/>
              <a:gd name="connsiteX34" fmla="*/ 171450 w 196850"/>
              <a:gd name="connsiteY34" fmla="*/ 1403350 h 1625600"/>
              <a:gd name="connsiteX35" fmla="*/ 158750 w 196850"/>
              <a:gd name="connsiteY35" fmla="*/ 1422400 h 1625600"/>
              <a:gd name="connsiteX36" fmla="*/ 152400 w 196850"/>
              <a:gd name="connsiteY36" fmla="*/ 1441450 h 1625600"/>
              <a:gd name="connsiteX37" fmla="*/ 127000 w 196850"/>
              <a:gd name="connsiteY37" fmla="*/ 1498600 h 1625600"/>
              <a:gd name="connsiteX38" fmla="*/ 95250 w 196850"/>
              <a:gd name="connsiteY38" fmla="*/ 1555750 h 1625600"/>
              <a:gd name="connsiteX39" fmla="*/ 95250 w 196850"/>
              <a:gd name="connsiteY39" fmla="*/ 1625600 h 1625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196850" h="1625600">
                <a:moveTo>
                  <a:pt x="127000" y="0"/>
                </a:moveTo>
                <a:cubicBezTo>
                  <a:pt x="72901" y="32460"/>
                  <a:pt x="111869" y="2917"/>
                  <a:pt x="82550" y="38100"/>
                </a:cubicBezTo>
                <a:cubicBezTo>
                  <a:pt x="68308" y="55190"/>
                  <a:pt x="59809" y="55930"/>
                  <a:pt x="50800" y="76200"/>
                </a:cubicBezTo>
                <a:cubicBezTo>
                  <a:pt x="25936" y="132143"/>
                  <a:pt x="53821" y="98579"/>
                  <a:pt x="19050" y="133350"/>
                </a:cubicBezTo>
                <a:cubicBezTo>
                  <a:pt x="3590" y="179729"/>
                  <a:pt x="9597" y="158463"/>
                  <a:pt x="0" y="196850"/>
                </a:cubicBezTo>
                <a:cubicBezTo>
                  <a:pt x="14593" y="299002"/>
                  <a:pt x="3234" y="257352"/>
                  <a:pt x="25400" y="323850"/>
                </a:cubicBezTo>
                <a:cubicBezTo>
                  <a:pt x="30227" y="338330"/>
                  <a:pt x="42333" y="349250"/>
                  <a:pt x="50800" y="361950"/>
                </a:cubicBezTo>
                <a:cubicBezTo>
                  <a:pt x="63500" y="381000"/>
                  <a:pt x="61383" y="383117"/>
                  <a:pt x="82550" y="393700"/>
                </a:cubicBezTo>
                <a:cubicBezTo>
                  <a:pt x="88537" y="396693"/>
                  <a:pt x="95250" y="397933"/>
                  <a:pt x="101600" y="400050"/>
                </a:cubicBezTo>
                <a:cubicBezTo>
                  <a:pt x="150493" y="448943"/>
                  <a:pt x="129737" y="423206"/>
                  <a:pt x="165100" y="476250"/>
                </a:cubicBezTo>
                <a:cubicBezTo>
                  <a:pt x="169333" y="482600"/>
                  <a:pt x="175387" y="488060"/>
                  <a:pt x="177800" y="495300"/>
                </a:cubicBezTo>
                <a:cubicBezTo>
                  <a:pt x="179917" y="501650"/>
                  <a:pt x="182698" y="507816"/>
                  <a:pt x="184150" y="514350"/>
                </a:cubicBezTo>
                <a:cubicBezTo>
                  <a:pt x="186943" y="526919"/>
                  <a:pt x="187975" y="539825"/>
                  <a:pt x="190500" y="552450"/>
                </a:cubicBezTo>
                <a:cubicBezTo>
                  <a:pt x="192212" y="561008"/>
                  <a:pt x="194733" y="569383"/>
                  <a:pt x="196850" y="577850"/>
                </a:cubicBezTo>
                <a:cubicBezTo>
                  <a:pt x="194733" y="605367"/>
                  <a:pt x="193923" y="633015"/>
                  <a:pt x="190500" y="660400"/>
                </a:cubicBezTo>
                <a:cubicBezTo>
                  <a:pt x="188219" y="678652"/>
                  <a:pt x="167578" y="708722"/>
                  <a:pt x="158750" y="717550"/>
                </a:cubicBezTo>
                <a:cubicBezTo>
                  <a:pt x="152400" y="723900"/>
                  <a:pt x="145449" y="729701"/>
                  <a:pt x="139700" y="736600"/>
                </a:cubicBezTo>
                <a:cubicBezTo>
                  <a:pt x="113242" y="768350"/>
                  <a:pt x="142875" y="745067"/>
                  <a:pt x="107950" y="768350"/>
                </a:cubicBezTo>
                <a:cubicBezTo>
                  <a:pt x="103717" y="774700"/>
                  <a:pt x="98663" y="780574"/>
                  <a:pt x="95250" y="787400"/>
                </a:cubicBezTo>
                <a:cubicBezTo>
                  <a:pt x="92257" y="793387"/>
                  <a:pt x="93081" y="801223"/>
                  <a:pt x="88900" y="806450"/>
                </a:cubicBezTo>
                <a:cubicBezTo>
                  <a:pt x="84132" y="812409"/>
                  <a:pt x="76200" y="814917"/>
                  <a:pt x="69850" y="819150"/>
                </a:cubicBezTo>
                <a:cubicBezTo>
                  <a:pt x="38908" y="865562"/>
                  <a:pt x="76676" y="807204"/>
                  <a:pt x="44450" y="863600"/>
                </a:cubicBezTo>
                <a:cubicBezTo>
                  <a:pt x="40664" y="870226"/>
                  <a:pt x="35163" y="875824"/>
                  <a:pt x="31750" y="882650"/>
                </a:cubicBezTo>
                <a:cubicBezTo>
                  <a:pt x="27195" y="891760"/>
                  <a:pt x="21085" y="918962"/>
                  <a:pt x="19050" y="927100"/>
                </a:cubicBezTo>
                <a:cubicBezTo>
                  <a:pt x="19267" y="930136"/>
                  <a:pt x="24826" y="1037369"/>
                  <a:pt x="31750" y="1060450"/>
                </a:cubicBezTo>
                <a:cubicBezTo>
                  <a:pt x="37042" y="1078089"/>
                  <a:pt x="49742" y="1083028"/>
                  <a:pt x="63500" y="1092200"/>
                </a:cubicBezTo>
                <a:cubicBezTo>
                  <a:pt x="67733" y="1098550"/>
                  <a:pt x="70457" y="1106224"/>
                  <a:pt x="76200" y="1111250"/>
                </a:cubicBezTo>
                <a:cubicBezTo>
                  <a:pt x="87687" y="1121301"/>
                  <a:pt x="114300" y="1136650"/>
                  <a:pt x="114300" y="1136650"/>
                </a:cubicBezTo>
                <a:cubicBezTo>
                  <a:pt x="116417" y="1143000"/>
                  <a:pt x="116469" y="1150473"/>
                  <a:pt x="120650" y="1155700"/>
                </a:cubicBezTo>
                <a:cubicBezTo>
                  <a:pt x="125418" y="1161659"/>
                  <a:pt x="133490" y="1163964"/>
                  <a:pt x="139700" y="1168400"/>
                </a:cubicBezTo>
                <a:cubicBezTo>
                  <a:pt x="148312" y="1174551"/>
                  <a:pt x="158069" y="1179540"/>
                  <a:pt x="165100" y="1187450"/>
                </a:cubicBezTo>
                <a:cubicBezTo>
                  <a:pt x="175241" y="1198858"/>
                  <a:pt x="190500" y="1225550"/>
                  <a:pt x="190500" y="1225550"/>
                </a:cubicBezTo>
                <a:cubicBezTo>
                  <a:pt x="192617" y="1234017"/>
                  <a:pt x="196850" y="1242223"/>
                  <a:pt x="196850" y="1250950"/>
                </a:cubicBezTo>
                <a:cubicBezTo>
                  <a:pt x="196850" y="1280659"/>
                  <a:pt x="193781" y="1310323"/>
                  <a:pt x="190500" y="1339850"/>
                </a:cubicBezTo>
                <a:cubicBezTo>
                  <a:pt x="188901" y="1354245"/>
                  <a:pt x="174642" y="1393773"/>
                  <a:pt x="171450" y="1403350"/>
                </a:cubicBezTo>
                <a:cubicBezTo>
                  <a:pt x="169037" y="1410590"/>
                  <a:pt x="162163" y="1415574"/>
                  <a:pt x="158750" y="1422400"/>
                </a:cubicBezTo>
                <a:cubicBezTo>
                  <a:pt x="155757" y="1428387"/>
                  <a:pt x="155393" y="1435463"/>
                  <a:pt x="152400" y="1441450"/>
                </a:cubicBezTo>
                <a:cubicBezTo>
                  <a:pt x="122211" y="1501827"/>
                  <a:pt x="159765" y="1400306"/>
                  <a:pt x="127000" y="1498600"/>
                </a:cubicBezTo>
                <a:cubicBezTo>
                  <a:pt x="119404" y="1521388"/>
                  <a:pt x="96991" y="1531377"/>
                  <a:pt x="95250" y="1555750"/>
                </a:cubicBezTo>
                <a:cubicBezTo>
                  <a:pt x="93591" y="1578974"/>
                  <a:pt x="95250" y="1602317"/>
                  <a:pt x="95250" y="1625600"/>
                </a:cubicBezTo>
              </a:path>
            </a:pathLst>
          </a:custGeom>
          <a:ln w="28575"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ln w="12700">
                <a:solidFill>
                  <a:schemeClr val="tx1"/>
                </a:solidFill>
              </a:ln>
            </a:endParaRPr>
          </a:p>
        </p:txBody>
      </p:sp>
      <p:sp>
        <p:nvSpPr>
          <p:cNvPr id="26" name="Freeform 25"/>
          <p:cNvSpPr/>
          <p:nvPr/>
        </p:nvSpPr>
        <p:spPr>
          <a:xfrm>
            <a:off x="5873644" y="2885356"/>
            <a:ext cx="180446" cy="1490133"/>
          </a:xfrm>
          <a:custGeom>
            <a:avLst/>
            <a:gdLst>
              <a:gd name="connsiteX0" fmla="*/ 127000 w 196850"/>
              <a:gd name="connsiteY0" fmla="*/ 0 h 1625600"/>
              <a:gd name="connsiteX1" fmla="*/ 82550 w 196850"/>
              <a:gd name="connsiteY1" fmla="*/ 38100 h 1625600"/>
              <a:gd name="connsiteX2" fmla="*/ 50800 w 196850"/>
              <a:gd name="connsiteY2" fmla="*/ 76200 h 1625600"/>
              <a:gd name="connsiteX3" fmla="*/ 19050 w 196850"/>
              <a:gd name="connsiteY3" fmla="*/ 133350 h 1625600"/>
              <a:gd name="connsiteX4" fmla="*/ 0 w 196850"/>
              <a:gd name="connsiteY4" fmla="*/ 196850 h 1625600"/>
              <a:gd name="connsiteX5" fmla="*/ 25400 w 196850"/>
              <a:gd name="connsiteY5" fmla="*/ 323850 h 1625600"/>
              <a:gd name="connsiteX6" fmla="*/ 50800 w 196850"/>
              <a:gd name="connsiteY6" fmla="*/ 361950 h 1625600"/>
              <a:gd name="connsiteX7" fmla="*/ 82550 w 196850"/>
              <a:gd name="connsiteY7" fmla="*/ 393700 h 1625600"/>
              <a:gd name="connsiteX8" fmla="*/ 101600 w 196850"/>
              <a:gd name="connsiteY8" fmla="*/ 400050 h 1625600"/>
              <a:gd name="connsiteX9" fmla="*/ 165100 w 196850"/>
              <a:gd name="connsiteY9" fmla="*/ 476250 h 1625600"/>
              <a:gd name="connsiteX10" fmla="*/ 177800 w 196850"/>
              <a:gd name="connsiteY10" fmla="*/ 495300 h 1625600"/>
              <a:gd name="connsiteX11" fmla="*/ 184150 w 196850"/>
              <a:gd name="connsiteY11" fmla="*/ 514350 h 1625600"/>
              <a:gd name="connsiteX12" fmla="*/ 190500 w 196850"/>
              <a:gd name="connsiteY12" fmla="*/ 552450 h 1625600"/>
              <a:gd name="connsiteX13" fmla="*/ 196850 w 196850"/>
              <a:gd name="connsiteY13" fmla="*/ 577850 h 1625600"/>
              <a:gd name="connsiteX14" fmla="*/ 190500 w 196850"/>
              <a:gd name="connsiteY14" fmla="*/ 660400 h 1625600"/>
              <a:gd name="connsiteX15" fmla="*/ 158750 w 196850"/>
              <a:gd name="connsiteY15" fmla="*/ 717550 h 1625600"/>
              <a:gd name="connsiteX16" fmla="*/ 139700 w 196850"/>
              <a:gd name="connsiteY16" fmla="*/ 736600 h 1625600"/>
              <a:gd name="connsiteX17" fmla="*/ 107950 w 196850"/>
              <a:gd name="connsiteY17" fmla="*/ 768350 h 1625600"/>
              <a:gd name="connsiteX18" fmla="*/ 95250 w 196850"/>
              <a:gd name="connsiteY18" fmla="*/ 787400 h 1625600"/>
              <a:gd name="connsiteX19" fmla="*/ 88900 w 196850"/>
              <a:gd name="connsiteY19" fmla="*/ 806450 h 1625600"/>
              <a:gd name="connsiteX20" fmla="*/ 69850 w 196850"/>
              <a:gd name="connsiteY20" fmla="*/ 819150 h 1625600"/>
              <a:gd name="connsiteX21" fmla="*/ 44450 w 196850"/>
              <a:gd name="connsiteY21" fmla="*/ 863600 h 1625600"/>
              <a:gd name="connsiteX22" fmla="*/ 31750 w 196850"/>
              <a:gd name="connsiteY22" fmla="*/ 882650 h 1625600"/>
              <a:gd name="connsiteX23" fmla="*/ 19050 w 196850"/>
              <a:gd name="connsiteY23" fmla="*/ 927100 h 1625600"/>
              <a:gd name="connsiteX24" fmla="*/ 31750 w 196850"/>
              <a:gd name="connsiteY24" fmla="*/ 1060450 h 1625600"/>
              <a:gd name="connsiteX25" fmla="*/ 63500 w 196850"/>
              <a:gd name="connsiteY25" fmla="*/ 1092200 h 1625600"/>
              <a:gd name="connsiteX26" fmla="*/ 76200 w 196850"/>
              <a:gd name="connsiteY26" fmla="*/ 1111250 h 1625600"/>
              <a:gd name="connsiteX27" fmla="*/ 114300 w 196850"/>
              <a:gd name="connsiteY27" fmla="*/ 1136650 h 1625600"/>
              <a:gd name="connsiteX28" fmla="*/ 120650 w 196850"/>
              <a:gd name="connsiteY28" fmla="*/ 1155700 h 1625600"/>
              <a:gd name="connsiteX29" fmla="*/ 139700 w 196850"/>
              <a:gd name="connsiteY29" fmla="*/ 1168400 h 1625600"/>
              <a:gd name="connsiteX30" fmla="*/ 165100 w 196850"/>
              <a:gd name="connsiteY30" fmla="*/ 1187450 h 1625600"/>
              <a:gd name="connsiteX31" fmla="*/ 190500 w 196850"/>
              <a:gd name="connsiteY31" fmla="*/ 1225550 h 1625600"/>
              <a:gd name="connsiteX32" fmla="*/ 196850 w 196850"/>
              <a:gd name="connsiteY32" fmla="*/ 1250950 h 1625600"/>
              <a:gd name="connsiteX33" fmla="*/ 190500 w 196850"/>
              <a:gd name="connsiteY33" fmla="*/ 1339850 h 1625600"/>
              <a:gd name="connsiteX34" fmla="*/ 171450 w 196850"/>
              <a:gd name="connsiteY34" fmla="*/ 1403350 h 1625600"/>
              <a:gd name="connsiteX35" fmla="*/ 158750 w 196850"/>
              <a:gd name="connsiteY35" fmla="*/ 1422400 h 1625600"/>
              <a:gd name="connsiteX36" fmla="*/ 152400 w 196850"/>
              <a:gd name="connsiteY36" fmla="*/ 1441450 h 1625600"/>
              <a:gd name="connsiteX37" fmla="*/ 127000 w 196850"/>
              <a:gd name="connsiteY37" fmla="*/ 1498600 h 1625600"/>
              <a:gd name="connsiteX38" fmla="*/ 95250 w 196850"/>
              <a:gd name="connsiteY38" fmla="*/ 1555750 h 1625600"/>
              <a:gd name="connsiteX39" fmla="*/ 95250 w 196850"/>
              <a:gd name="connsiteY39" fmla="*/ 1625600 h 1625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196850" h="1625600">
                <a:moveTo>
                  <a:pt x="127000" y="0"/>
                </a:moveTo>
                <a:cubicBezTo>
                  <a:pt x="72901" y="32460"/>
                  <a:pt x="111869" y="2917"/>
                  <a:pt x="82550" y="38100"/>
                </a:cubicBezTo>
                <a:cubicBezTo>
                  <a:pt x="68308" y="55190"/>
                  <a:pt x="59809" y="55930"/>
                  <a:pt x="50800" y="76200"/>
                </a:cubicBezTo>
                <a:cubicBezTo>
                  <a:pt x="25936" y="132143"/>
                  <a:pt x="53821" y="98579"/>
                  <a:pt x="19050" y="133350"/>
                </a:cubicBezTo>
                <a:cubicBezTo>
                  <a:pt x="3590" y="179729"/>
                  <a:pt x="9597" y="158463"/>
                  <a:pt x="0" y="196850"/>
                </a:cubicBezTo>
                <a:cubicBezTo>
                  <a:pt x="14593" y="299002"/>
                  <a:pt x="3234" y="257352"/>
                  <a:pt x="25400" y="323850"/>
                </a:cubicBezTo>
                <a:cubicBezTo>
                  <a:pt x="30227" y="338330"/>
                  <a:pt x="42333" y="349250"/>
                  <a:pt x="50800" y="361950"/>
                </a:cubicBezTo>
                <a:cubicBezTo>
                  <a:pt x="63500" y="381000"/>
                  <a:pt x="61383" y="383117"/>
                  <a:pt x="82550" y="393700"/>
                </a:cubicBezTo>
                <a:cubicBezTo>
                  <a:pt x="88537" y="396693"/>
                  <a:pt x="95250" y="397933"/>
                  <a:pt x="101600" y="400050"/>
                </a:cubicBezTo>
                <a:cubicBezTo>
                  <a:pt x="150493" y="448943"/>
                  <a:pt x="129737" y="423206"/>
                  <a:pt x="165100" y="476250"/>
                </a:cubicBezTo>
                <a:cubicBezTo>
                  <a:pt x="169333" y="482600"/>
                  <a:pt x="175387" y="488060"/>
                  <a:pt x="177800" y="495300"/>
                </a:cubicBezTo>
                <a:cubicBezTo>
                  <a:pt x="179917" y="501650"/>
                  <a:pt x="182698" y="507816"/>
                  <a:pt x="184150" y="514350"/>
                </a:cubicBezTo>
                <a:cubicBezTo>
                  <a:pt x="186943" y="526919"/>
                  <a:pt x="187975" y="539825"/>
                  <a:pt x="190500" y="552450"/>
                </a:cubicBezTo>
                <a:cubicBezTo>
                  <a:pt x="192212" y="561008"/>
                  <a:pt x="194733" y="569383"/>
                  <a:pt x="196850" y="577850"/>
                </a:cubicBezTo>
                <a:cubicBezTo>
                  <a:pt x="194733" y="605367"/>
                  <a:pt x="193923" y="633015"/>
                  <a:pt x="190500" y="660400"/>
                </a:cubicBezTo>
                <a:cubicBezTo>
                  <a:pt x="188219" y="678652"/>
                  <a:pt x="167578" y="708722"/>
                  <a:pt x="158750" y="717550"/>
                </a:cubicBezTo>
                <a:cubicBezTo>
                  <a:pt x="152400" y="723900"/>
                  <a:pt x="145449" y="729701"/>
                  <a:pt x="139700" y="736600"/>
                </a:cubicBezTo>
                <a:cubicBezTo>
                  <a:pt x="113242" y="768350"/>
                  <a:pt x="142875" y="745067"/>
                  <a:pt x="107950" y="768350"/>
                </a:cubicBezTo>
                <a:cubicBezTo>
                  <a:pt x="103717" y="774700"/>
                  <a:pt x="98663" y="780574"/>
                  <a:pt x="95250" y="787400"/>
                </a:cubicBezTo>
                <a:cubicBezTo>
                  <a:pt x="92257" y="793387"/>
                  <a:pt x="93081" y="801223"/>
                  <a:pt x="88900" y="806450"/>
                </a:cubicBezTo>
                <a:cubicBezTo>
                  <a:pt x="84132" y="812409"/>
                  <a:pt x="76200" y="814917"/>
                  <a:pt x="69850" y="819150"/>
                </a:cubicBezTo>
                <a:cubicBezTo>
                  <a:pt x="38908" y="865562"/>
                  <a:pt x="76676" y="807204"/>
                  <a:pt x="44450" y="863600"/>
                </a:cubicBezTo>
                <a:cubicBezTo>
                  <a:pt x="40664" y="870226"/>
                  <a:pt x="35163" y="875824"/>
                  <a:pt x="31750" y="882650"/>
                </a:cubicBezTo>
                <a:cubicBezTo>
                  <a:pt x="27195" y="891760"/>
                  <a:pt x="21085" y="918962"/>
                  <a:pt x="19050" y="927100"/>
                </a:cubicBezTo>
                <a:cubicBezTo>
                  <a:pt x="19267" y="930136"/>
                  <a:pt x="24826" y="1037369"/>
                  <a:pt x="31750" y="1060450"/>
                </a:cubicBezTo>
                <a:cubicBezTo>
                  <a:pt x="37042" y="1078089"/>
                  <a:pt x="49742" y="1083028"/>
                  <a:pt x="63500" y="1092200"/>
                </a:cubicBezTo>
                <a:cubicBezTo>
                  <a:pt x="67733" y="1098550"/>
                  <a:pt x="70457" y="1106224"/>
                  <a:pt x="76200" y="1111250"/>
                </a:cubicBezTo>
                <a:cubicBezTo>
                  <a:pt x="87687" y="1121301"/>
                  <a:pt x="114300" y="1136650"/>
                  <a:pt x="114300" y="1136650"/>
                </a:cubicBezTo>
                <a:cubicBezTo>
                  <a:pt x="116417" y="1143000"/>
                  <a:pt x="116469" y="1150473"/>
                  <a:pt x="120650" y="1155700"/>
                </a:cubicBezTo>
                <a:cubicBezTo>
                  <a:pt x="125418" y="1161659"/>
                  <a:pt x="133490" y="1163964"/>
                  <a:pt x="139700" y="1168400"/>
                </a:cubicBezTo>
                <a:cubicBezTo>
                  <a:pt x="148312" y="1174551"/>
                  <a:pt x="158069" y="1179540"/>
                  <a:pt x="165100" y="1187450"/>
                </a:cubicBezTo>
                <a:cubicBezTo>
                  <a:pt x="175241" y="1198858"/>
                  <a:pt x="190500" y="1225550"/>
                  <a:pt x="190500" y="1225550"/>
                </a:cubicBezTo>
                <a:cubicBezTo>
                  <a:pt x="192617" y="1234017"/>
                  <a:pt x="196850" y="1242223"/>
                  <a:pt x="196850" y="1250950"/>
                </a:cubicBezTo>
                <a:cubicBezTo>
                  <a:pt x="196850" y="1280659"/>
                  <a:pt x="193781" y="1310323"/>
                  <a:pt x="190500" y="1339850"/>
                </a:cubicBezTo>
                <a:cubicBezTo>
                  <a:pt x="188901" y="1354245"/>
                  <a:pt x="174642" y="1393773"/>
                  <a:pt x="171450" y="1403350"/>
                </a:cubicBezTo>
                <a:cubicBezTo>
                  <a:pt x="169037" y="1410590"/>
                  <a:pt x="162163" y="1415574"/>
                  <a:pt x="158750" y="1422400"/>
                </a:cubicBezTo>
                <a:cubicBezTo>
                  <a:pt x="155757" y="1428387"/>
                  <a:pt x="155393" y="1435463"/>
                  <a:pt x="152400" y="1441450"/>
                </a:cubicBezTo>
                <a:cubicBezTo>
                  <a:pt x="122211" y="1501827"/>
                  <a:pt x="159765" y="1400306"/>
                  <a:pt x="127000" y="1498600"/>
                </a:cubicBezTo>
                <a:cubicBezTo>
                  <a:pt x="119404" y="1521388"/>
                  <a:pt x="96991" y="1531377"/>
                  <a:pt x="95250" y="1555750"/>
                </a:cubicBezTo>
                <a:cubicBezTo>
                  <a:pt x="93591" y="1578974"/>
                  <a:pt x="95250" y="1602317"/>
                  <a:pt x="95250" y="1625600"/>
                </a:cubicBezTo>
              </a:path>
            </a:pathLst>
          </a:custGeom>
          <a:ln w="28575"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ln w="12700">
                <a:solidFill>
                  <a:schemeClr val="tx1"/>
                </a:solidFill>
              </a:ln>
            </a:endParaRPr>
          </a:p>
        </p:txBody>
      </p:sp>
      <p:sp>
        <p:nvSpPr>
          <p:cNvPr id="27" name="Freeform 26"/>
          <p:cNvSpPr/>
          <p:nvPr/>
        </p:nvSpPr>
        <p:spPr>
          <a:xfrm>
            <a:off x="6299729" y="2885356"/>
            <a:ext cx="180446" cy="1490133"/>
          </a:xfrm>
          <a:custGeom>
            <a:avLst/>
            <a:gdLst>
              <a:gd name="connsiteX0" fmla="*/ 127000 w 196850"/>
              <a:gd name="connsiteY0" fmla="*/ 0 h 1625600"/>
              <a:gd name="connsiteX1" fmla="*/ 82550 w 196850"/>
              <a:gd name="connsiteY1" fmla="*/ 38100 h 1625600"/>
              <a:gd name="connsiteX2" fmla="*/ 50800 w 196850"/>
              <a:gd name="connsiteY2" fmla="*/ 76200 h 1625600"/>
              <a:gd name="connsiteX3" fmla="*/ 19050 w 196850"/>
              <a:gd name="connsiteY3" fmla="*/ 133350 h 1625600"/>
              <a:gd name="connsiteX4" fmla="*/ 0 w 196850"/>
              <a:gd name="connsiteY4" fmla="*/ 196850 h 1625600"/>
              <a:gd name="connsiteX5" fmla="*/ 25400 w 196850"/>
              <a:gd name="connsiteY5" fmla="*/ 323850 h 1625600"/>
              <a:gd name="connsiteX6" fmla="*/ 50800 w 196850"/>
              <a:gd name="connsiteY6" fmla="*/ 361950 h 1625600"/>
              <a:gd name="connsiteX7" fmla="*/ 82550 w 196850"/>
              <a:gd name="connsiteY7" fmla="*/ 393700 h 1625600"/>
              <a:gd name="connsiteX8" fmla="*/ 101600 w 196850"/>
              <a:gd name="connsiteY8" fmla="*/ 400050 h 1625600"/>
              <a:gd name="connsiteX9" fmla="*/ 165100 w 196850"/>
              <a:gd name="connsiteY9" fmla="*/ 476250 h 1625600"/>
              <a:gd name="connsiteX10" fmla="*/ 177800 w 196850"/>
              <a:gd name="connsiteY10" fmla="*/ 495300 h 1625600"/>
              <a:gd name="connsiteX11" fmla="*/ 184150 w 196850"/>
              <a:gd name="connsiteY11" fmla="*/ 514350 h 1625600"/>
              <a:gd name="connsiteX12" fmla="*/ 190500 w 196850"/>
              <a:gd name="connsiteY12" fmla="*/ 552450 h 1625600"/>
              <a:gd name="connsiteX13" fmla="*/ 196850 w 196850"/>
              <a:gd name="connsiteY13" fmla="*/ 577850 h 1625600"/>
              <a:gd name="connsiteX14" fmla="*/ 190500 w 196850"/>
              <a:gd name="connsiteY14" fmla="*/ 660400 h 1625600"/>
              <a:gd name="connsiteX15" fmla="*/ 158750 w 196850"/>
              <a:gd name="connsiteY15" fmla="*/ 717550 h 1625600"/>
              <a:gd name="connsiteX16" fmla="*/ 139700 w 196850"/>
              <a:gd name="connsiteY16" fmla="*/ 736600 h 1625600"/>
              <a:gd name="connsiteX17" fmla="*/ 107950 w 196850"/>
              <a:gd name="connsiteY17" fmla="*/ 768350 h 1625600"/>
              <a:gd name="connsiteX18" fmla="*/ 95250 w 196850"/>
              <a:gd name="connsiteY18" fmla="*/ 787400 h 1625600"/>
              <a:gd name="connsiteX19" fmla="*/ 88900 w 196850"/>
              <a:gd name="connsiteY19" fmla="*/ 806450 h 1625600"/>
              <a:gd name="connsiteX20" fmla="*/ 69850 w 196850"/>
              <a:gd name="connsiteY20" fmla="*/ 819150 h 1625600"/>
              <a:gd name="connsiteX21" fmla="*/ 44450 w 196850"/>
              <a:gd name="connsiteY21" fmla="*/ 863600 h 1625600"/>
              <a:gd name="connsiteX22" fmla="*/ 31750 w 196850"/>
              <a:gd name="connsiteY22" fmla="*/ 882650 h 1625600"/>
              <a:gd name="connsiteX23" fmla="*/ 19050 w 196850"/>
              <a:gd name="connsiteY23" fmla="*/ 927100 h 1625600"/>
              <a:gd name="connsiteX24" fmla="*/ 31750 w 196850"/>
              <a:gd name="connsiteY24" fmla="*/ 1060450 h 1625600"/>
              <a:gd name="connsiteX25" fmla="*/ 63500 w 196850"/>
              <a:gd name="connsiteY25" fmla="*/ 1092200 h 1625600"/>
              <a:gd name="connsiteX26" fmla="*/ 76200 w 196850"/>
              <a:gd name="connsiteY26" fmla="*/ 1111250 h 1625600"/>
              <a:gd name="connsiteX27" fmla="*/ 114300 w 196850"/>
              <a:gd name="connsiteY27" fmla="*/ 1136650 h 1625600"/>
              <a:gd name="connsiteX28" fmla="*/ 120650 w 196850"/>
              <a:gd name="connsiteY28" fmla="*/ 1155700 h 1625600"/>
              <a:gd name="connsiteX29" fmla="*/ 139700 w 196850"/>
              <a:gd name="connsiteY29" fmla="*/ 1168400 h 1625600"/>
              <a:gd name="connsiteX30" fmla="*/ 165100 w 196850"/>
              <a:gd name="connsiteY30" fmla="*/ 1187450 h 1625600"/>
              <a:gd name="connsiteX31" fmla="*/ 190500 w 196850"/>
              <a:gd name="connsiteY31" fmla="*/ 1225550 h 1625600"/>
              <a:gd name="connsiteX32" fmla="*/ 196850 w 196850"/>
              <a:gd name="connsiteY32" fmla="*/ 1250950 h 1625600"/>
              <a:gd name="connsiteX33" fmla="*/ 190500 w 196850"/>
              <a:gd name="connsiteY33" fmla="*/ 1339850 h 1625600"/>
              <a:gd name="connsiteX34" fmla="*/ 171450 w 196850"/>
              <a:gd name="connsiteY34" fmla="*/ 1403350 h 1625600"/>
              <a:gd name="connsiteX35" fmla="*/ 158750 w 196850"/>
              <a:gd name="connsiteY35" fmla="*/ 1422400 h 1625600"/>
              <a:gd name="connsiteX36" fmla="*/ 152400 w 196850"/>
              <a:gd name="connsiteY36" fmla="*/ 1441450 h 1625600"/>
              <a:gd name="connsiteX37" fmla="*/ 127000 w 196850"/>
              <a:gd name="connsiteY37" fmla="*/ 1498600 h 1625600"/>
              <a:gd name="connsiteX38" fmla="*/ 95250 w 196850"/>
              <a:gd name="connsiteY38" fmla="*/ 1555750 h 1625600"/>
              <a:gd name="connsiteX39" fmla="*/ 95250 w 196850"/>
              <a:gd name="connsiteY39" fmla="*/ 1625600 h 1625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196850" h="1625600">
                <a:moveTo>
                  <a:pt x="127000" y="0"/>
                </a:moveTo>
                <a:cubicBezTo>
                  <a:pt x="72901" y="32460"/>
                  <a:pt x="111869" y="2917"/>
                  <a:pt x="82550" y="38100"/>
                </a:cubicBezTo>
                <a:cubicBezTo>
                  <a:pt x="68308" y="55190"/>
                  <a:pt x="59809" y="55930"/>
                  <a:pt x="50800" y="76200"/>
                </a:cubicBezTo>
                <a:cubicBezTo>
                  <a:pt x="25936" y="132143"/>
                  <a:pt x="53821" y="98579"/>
                  <a:pt x="19050" y="133350"/>
                </a:cubicBezTo>
                <a:cubicBezTo>
                  <a:pt x="3590" y="179729"/>
                  <a:pt x="9597" y="158463"/>
                  <a:pt x="0" y="196850"/>
                </a:cubicBezTo>
                <a:cubicBezTo>
                  <a:pt x="14593" y="299002"/>
                  <a:pt x="3234" y="257352"/>
                  <a:pt x="25400" y="323850"/>
                </a:cubicBezTo>
                <a:cubicBezTo>
                  <a:pt x="30227" y="338330"/>
                  <a:pt x="42333" y="349250"/>
                  <a:pt x="50800" y="361950"/>
                </a:cubicBezTo>
                <a:cubicBezTo>
                  <a:pt x="63500" y="381000"/>
                  <a:pt x="61383" y="383117"/>
                  <a:pt x="82550" y="393700"/>
                </a:cubicBezTo>
                <a:cubicBezTo>
                  <a:pt x="88537" y="396693"/>
                  <a:pt x="95250" y="397933"/>
                  <a:pt x="101600" y="400050"/>
                </a:cubicBezTo>
                <a:cubicBezTo>
                  <a:pt x="150493" y="448943"/>
                  <a:pt x="129737" y="423206"/>
                  <a:pt x="165100" y="476250"/>
                </a:cubicBezTo>
                <a:cubicBezTo>
                  <a:pt x="169333" y="482600"/>
                  <a:pt x="175387" y="488060"/>
                  <a:pt x="177800" y="495300"/>
                </a:cubicBezTo>
                <a:cubicBezTo>
                  <a:pt x="179917" y="501650"/>
                  <a:pt x="182698" y="507816"/>
                  <a:pt x="184150" y="514350"/>
                </a:cubicBezTo>
                <a:cubicBezTo>
                  <a:pt x="186943" y="526919"/>
                  <a:pt x="187975" y="539825"/>
                  <a:pt x="190500" y="552450"/>
                </a:cubicBezTo>
                <a:cubicBezTo>
                  <a:pt x="192212" y="561008"/>
                  <a:pt x="194733" y="569383"/>
                  <a:pt x="196850" y="577850"/>
                </a:cubicBezTo>
                <a:cubicBezTo>
                  <a:pt x="194733" y="605367"/>
                  <a:pt x="193923" y="633015"/>
                  <a:pt x="190500" y="660400"/>
                </a:cubicBezTo>
                <a:cubicBezTo>
                  <a:pt x="188219" y="678652"/>
                  <a:pt x="167578" y="708722"/>
                  <a:pt x="158750" y="717550"/>
                </a:cubicBezTo>
                <a:cubicBezTo>
                  <a:pt x="152400" y="723900"/>
                  <a:pt x="145449" y="729701"/>
                  <a:pt x="139700" y="736600"/>
                </a:cubicBezTo>
                <a:cubicBezTo>
                  <a:pt x="113242" y="768350"/>
                  <a:pt x="142875" y="745067"/>
                  <a:pt x="107950" y="768350"/>
                </a:cubicBezTo>
                <a:cubicBezTo>
                  <a:pt x="103717" y="774700"/>
                  <a:pt x="98663" y="780574"/>
                  <a:pt x="95250" y="787400"/>
                </a:cubicBezTo>
                <a:cubicBezTo>
                  <a:pt x="92257" y="793387"/>
                  <a:pt x="93081" y="801223"/>
                  <a:pt x="88900" y="806450"/>
                </a:cubicBezTo>
                <a:cubicBezTo>
                  <a:pt x="84132" y="812409"/>
                  <a:pt x="76200" y="814917"/>
                  <a:pt x="69850" y="819150"/>
                </a:cubicBezTo>
                <a:cubicBezTo>
                  <a:pt x="38908" y="865562"/>
                  <a:pt x="76676" y="807204"/>
                  <a:pt x="44450" y="863600"/>
                </a:cubicBezTo>
                <a:cubicBezTo>
                  <a:pt x="40664" y="870226"/>
                  <a:pt x="35163" y="875824"/>
                  <a:pt x="31750" y="882650"/>
                </a:cubicBezTo>
                <a:cubicBezTo>
                  <a:pt x="27195" y="891760"/>
                  <a:pt x="21085" y="918962"/>
                  <a:pt x="19050" y="927100"/>
                </a:cubicBezTo>
                <a:cubicBezTo>
                  <a:pt x="19267" y="930136"/>
                  <a:pt x="24826" y="1037369"/>
                  <a:pt x="31750" y="1060450"/>
                </a:cubicBezTo>
                <a:cubicBezTo>
                  <a:pt x="37042" y="1078089"/>
                  <a:pt x="49742" y="1083028"/>
                  <a:pt x="63500" y="1092200"/>
                </a:cubicBezTo>
                <a:cubicBezTo>
                  <a:pt x="67733" y="1098550"/>
                  <a:pt x="70457" y="1106224"/>
                  <a:pt x="76200" y="1111250"/>
                </a:cubicBezTo>
                <a:cubicBezTo>
                  <a:pt x="87687" y="1121301"/>
                  <a:pt x="114300" y="1136650"/>
                  <a:pt x="114300" y="1136650"/>
                </a:cubicBezTo>
                <a:cubicBezTo>
                  <a:pt x="116417" y="1143000"/>
                  <a:pt x="116469" y="1150473"/>
                  <a:pt x="120650" y="1155700"/>
                </a:cubicBezTo>
                <a:cubicBezTo>
                  <a:pt x="125418" y="1161659"/>
                  <a:pt x="133490" y="1163964"/>
                  <a:pt x="139700" y="1168400"/>
                </a:cubicBezTo>
                <a:cubicBezTo>
                  <a:pt x="148312" y="1174551"/>
                  <a:pt x="158069" y="1179540"/>
                  <a:pt x="165100" y="1187450"/>
                </a:cubicBezTo>
                <a:cubicBezTo>
                  <a:pt x="175241" y="1198858"/>
                  <a:pt x="190500" y="1225550"/>
                  <a:pt x="190500" y="1225550"/>
                </a:cubicBezTo>
                <a:cubicBezTo>
                  <a:pt x="192617" y="1234017"/>
                  <a:pt x="196850" y="1242223"/>
                  <a:pt x="196850" y="1250950"/>
                </a:cubicBezTo>
                <a:cubicBezTo>
                  <a:pt x="196850" y="1280659"/>
                  <a:pt x="193781" y="1310323"/>
                  <a:pt x="190500" y="1339850"/>
                </a:cubicBezTo>
                <a:cubicBezTo>
                  <a:pt x="188901" y="1354245"/>
                  <a:pt x="174642" y="1393773"/>
                  <a:pt x="171450" y="1403350"/>
                </a:cubicBezTo>
                <a:cubicBezTo>
                  <a:pt x="169037" y="1410590"/>
                  <a:pt x="162163" y="1415574"/>
                  <a:pt x="158750" y="1422400"/>
                </a:cubicBezTo>
                <a:cubicBezTo>
                  <a:pt x="155757" y="1428387"/>
                  <a:pt x="155393" y="1435463"/>
                  <a:pt x="152400" y="1441450"/>
                </a:cubicBezTo>
                <a:cubicBezTo>
                  <a:pt x="122211" y="1501827"/>
                  <a:pt x="159765" y="1400306"/>
                  <a:pt x="127000" y="1498600"/>
                </a:cubicBezTo>
                <a:cubicBezTo>
                  <a:pt x="119404" y="1521388"/>
                  <a:pt x="96991" y="1531377"/>
                  <a:pt x="95250" y="1555750"/>
                </a:cubicBezTo>
                <a:cubicBezTo>
                  <a:pt x="93591" y="1578974"/>
                  <a:pt x="95250" y="1602317"/>
                  <a:pt x="95250" y="1625600"/>
                </a:cubicBezTo>
              </a:path>
            </a:pathLst>
          </a:custGeom>
          <a:ln w="28575"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ln w="12700">
                <a:solidFill>
                  <a:schemeClr val="tx1"/>
                </a:solidFill>
              </a:ln>
            </a:endParaRPr>
          </a:p>
        </p:txBody>
      </p:sp>
      <p:sp>
        <p:nvSpPr>
          <p:cNvPr id="28" name="Freeform 27"/>
          <p:cNvSpPr/>
          <p:nvPr/>
        </p:nvSpPr>
        <p:spPr>
          <a:xfrm>
            <a:off x="6725814" y="2885356"/>
            <a:ext cx="180446" cy="1490133"/>
          </a:xfrm>
          <a:custGeom>
            <a:avLst/>
            <a:gdLst>
              <a:gd name="connsiteX0" fmla="*/ 127000 w 196850"/>
              <a:gd name="connsiteY0" fmla="*/ 0 h 1625600"/>
              <a:gd name="connsiteX1" fmla="*/ 82550 w 196850"/>
              <a:gd name="connsiteY1" fmla="*/ 38100 h 1625600"/>
              <a:gd name="connsiteX2" fmla="*/ 50800 w 196850"/>
              <a:gd name="connsiteY2" fmla="*/ 76200 h 1625600"/>
              <a:gd name="connsiteX3" fmla="*/ 19050 w 196850"/>
              <a:gd name="connsiteY3" fmla="*/ 133350 h 1625600"/>
              <a:gd name="connsiteX4" fmla="*/ 0 w 196850"/>
              <a:gd name="connsiteY4" fmla="*/ 196850 h 1625600"/>
              <a:gd name="connsiteX5" fmla="*/ 25400 w 196850"/>
              <a:gd name="connsiteY5" fmla="*/ 323850 h 1625600"/>
              <a:gd name="connsiteX6" fmla="*/ 50800 w 196850"/>
              <a:gd name="connsiteY6" fmla="*/ 361950 h 1625600"/>
              <a:gd name="connsiteX7" fmla="*/ 82550 w 196850"/>
              <a:gd name="connsiteY7" fmla="*/ 393700 h 1625600"/>
              <a:gd name="connsiteX8" fmla="*/ 101600 w 196850"/>
              <a:gd name="connsiteY8" fmla="*/ 400050 h 1625600"/>
              <a:gd name="connsiteX9" fmla="*/ 165100 w 196850"/>
              <a:gd name="connsiteY9" fmla="*/ 476250 h 1625600"/>
              <a:gd name="connsiteX10" fmla="*/ 177800 w 196850"/>
              <a:gd name="connsiteY10" fmla="*/ 495300 h 1625600"/>
              <a:gd name="connsiteX11" fmla="*/ 184150 w 196850"/>
              <a:gd name="connsiteY11" fmla="*/ 514350 h 1625600"/>
              <a:gd name="connsiteX12" fmla="*/ 190500 w 196850"/>
              <a:gd name="connsiteY12" fmla="*/ 552450 h 1625600"/>
              <a:gd name="connsiteX13" fmla="*/ 196850 w 196850"/>
              <a:gd name="connsiteY13" fmla="*/ 577850 h 1625600"/>
              <a:gd name="connsiteX14" fmla="*/ 190500 w 196850"/>
              <a:gd name="connsiteY14" fmla="*/ 660400 h 1625600"/>
              <a:gd name="connsiteX15" fmla="*/ 158750 w 196850"/>
              <a:gd name="connsiteY15" fmla="*/ 717550 h 1625600"/>
              <a:gd name="connsiteX16" fmla="*/ 139700 w 196850"/>
              <a:gd name="connsiteY16" fmla="*/ 736600 h 1625600"/>
              <a:gd name="connsiteX17" fmla="*/ 107950 w 196850"/>
              <a:gd name="connsiteY17" fmla="*/ 768350 h 1625600"/>
              <a:gd name="connsiteX18" fmla="*/ 95250 w 196850"/>
              <a:gd name="connsiteY18" fmla="*/ 787400 h 1625600"/>
              <a:gd name="connsiteX19" fmla="*/ 88900 w 196850"/>
              <a:gd name="connsiteY19" fmla="*/ 806450 h 1625600"/>
              <a:gd name="connsiteX20" fmla="*/ 69850 w 196850"/>
              <a:gd name="connsiteY20" fmla="*/ 819150 h 1625600"/>
              <a:gd name="connsiteX21" fmla="*/ 44450 w 196850"/>
              <a:gd name="connsiteY21" fmla="*/ 863600 h 1625600"/>
              <a:gd name="connsiteX22" fmla="*/ 31750 w 196850"/>
              <a:gd name="connsiteY22" fmla="*/ 882650 h 1625600"/>
              <a:gd name="connsiteX23" fmla="*/ 19050 w 196850"/>
              <a:gd name="connsiteY23" fmla="*/ 927100 h 1625600"/>
              <a:gd name="connsiteX24" fmla="*/ 31750 w 196850"/>
              <a:gd name="connsiteY24" fmla="*/ 1060450 h 1625600"/>
              <a:gd name="connsiteX25" fmla="*/ 63500 w 196850"/>
              <a:gd name="connsiteY25" fmla="*/ 1092200 h 1625600"/>
              <a:gd name="connsiteX26" fmla="*/ 76200 w 196850"/>
              <a:gd name="connsiteY26" fmla="*/ 1111250 h 1625600"/>
              <a:gd name="connsiteX27" fmla="*/ 114300 w 196850"/>
              <a:gd name="connsiteY27" fmla="*/ 1136650 h 1625600"/>
              <a:gd name="connsiteX28" fmla="*/ 120650 w 196850"/>
              <a:gd name="connsiteY28" fmla="*/ 1155700 h 1625600"/>
              <a:gd name="connsiteX29" fmla="*/ 139700 w 196850"/>
              <a:gd name="connsiteY29" fmla="*/ 1168400 h 1625600"/>
              <a:gd name="connsiteX30" fmla="*/ 165100 w 196850"/>
              <a:gd name="connsiteY30" fmla="*/ 1187450 h 1625600"/>
              <a:gd name="connsiteX31" fmla="*/ 190500 w 196850"/>
              <a:gd name="connsiteY31" fmla="*/ 1225550 h 1625600"/>
              <a:gd name="connsiteX32" fmla="*/ 196850 w 196850"/>
              <a:gd name="connsiteY32" fmla="*/ 1250950 h 1625600"/>
              <a:gd name="connsiteX33" fmla="*/ 190500 w 196850"/>
              <a:gd name="connsiteY33" fmla="*/ 1339850 h 1625600"/>
              <a:gd name="connsiteX34" fmla="*/ 171450 w 196850"/>
              <a:gd name="connsiteY34" fmla="*/ 1403350 h 1625600"/>
              <a:gd name="connsiteX35" fmla="*/ 158750 w 196850"/>
              <a:gd name="connsiteY35" fmla="*/ 1422400 h 1625600"/>
              <a:gd name="connsiteX36" fmla="*/ 152400 w 196850"/>
              <a:gd name="connsiteY36" fmla="*/ 1441450 h 1625600"/>
              <a:gd name="connsiteX37" fmla="*/ 127000 w 196850"/>
              <a:gd name="connsiteY37" fmla="*/ 1498600 h 1625600"/>
              <a:gd name="connsiteX38" fmla="*/ 95250 w 196850"/>
              <a:gd name="connsiteY38" fmla="*/ 1555750 h 1625600"/>
              <a:gd name="connsiteX39" fmla="*/ 95250 w 196850"/>
              <a:gd name="connsiteY39" fmla="*/ 1625600 h 1625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196850" h="1625600">
                <a:moveTo>
                  <a:pt x="127000" y="0"/>
                </a:moveTo>
                <a:cubicBezTo>
                  <a:pt x="72901" y="32460"/>
                  <a:pt x="111869" y="2917"/>
                  <a:pt x="82550" y="38100"/>
                </a:cubicBezTo>
                <a:cubicBezTo>
                  <a:pt x="68308" y="55190"/>
                  <a:pt x="59809" y="55930"/>
                  <a:pt x="50800" y="76200"/>
                </a:cubicBezTo>
                <a:cubicBezTo>
                  <a:pt x="25936" y="132143"/>
                  <a:pt x="53821" y="98579"/>
                  <a:pt x="19050" y="133350"/>
                </a:cubicBezTo>
                <a:cubicBezTo>
                  <a:pt x="3590" y="179729"/>
                  <a:pt x="9597" y="158463"/>
                  <a:pt x="0" y="196850"/>
                </a:cubicBezTo>
                <a:cubicBezTo>
                  <a:pt x="14593" y="299002"/>
                  <a:pt x="3234" y="257352"/>
                  <a:pt x="25400" y="323850"/>
                </a:cubicBezTo>
                <a:cubicBezTo>
                  <a:pt x="30227" y="338330"/>
                  <a:pt x="42333" y="349250"/>
                  <a:pt x="50800" y="361950"/>
                </a:cubicBezTo>
                <a:cubicBezTo>
                  <a:pt x="63500" y="381000"/>
                  <a:pt x="61383" y="383117"/>
                  <a:pt x="82550" y="393700"/>
                </a:cubicBezTo>
                <a:cubicBezTo>
                  <a:pt x="88537" y="396693"/>
                  <a:pt x="95250" y="397933"/>
                  <a:pt x="101600" y="400050"/>
                </a:cubicBezTo>
                <a:cubicBezTo>
                  <a:pt x="150493" y="448943"/>
                  <a:pt x="129737" y="423206"/>
                  <a:pt x="165100" y="476250"/>
                </a:cubicBezTo>
                <a:cubicBezTo>
                  <a:pt x="169333" y="482600"/>
                  <a:pt x="175387" y="488060"/>
                  <a:pt x="177800" y="495300"/>
                </a:cubicBezTo>
                <a:cubicBezTo>
                  <a:pt x="179917" y="501650"/>
                  <a:pt x="182698" y="507816"/>
                  <a:pt x="184150" y="514350"/>
                </a:cubicBezTo>
                <a:cubicBezTo>
                  <a:pt x="186943" y="526919"/>
                  <a:pt x="187975" y="539825"/>
                  <a:pt x="190500" y="552450"/>
                </a:cubicBezTo>
                <a:cubicBezTo>
                  <a:pt x="192212" y="561008"/>
                  <a:pt x="194733" y="569383"/>
                  <a:pt x="196850" y="577850"/>
                </a:cubicBezTo>
                <a:cubicBezTo>
                  <a:pt x="194733" y="605367"/>
                  <a:pt x="193923" y="633015"/>
                  <a:pt x="190500" y="660400"/>
                </a:cubicBezTo>
                <a:cubicBezTo>
                  <a:pt x="188219" y="678652"/>
                  <a:pt x="167578" y="708722"/>
                  <a:pt x="158750" y="717550"/>
                </a:cubicBezTo>
                <a:cubicBezTo>
                  <a:pt x="152400" y="723900"/>
                  <a:pt x="145449" y="729701"/>
                  <a:pt x="139700" y="736600"/>
                </a:cubicBezTo>
                <a:cubicBezTo>
                  <a:pt x="113242" y="768350"/>
                  <a:pt x="142875" y="745067"/>
                  <a:pt x="107950" y="768350"/>
                </a:cubicBezTo>
                <a:cubicBezTo>
                  <a:pt x="103717" y="774700"/>
                  <a:pt x="98663" y="780574"/>
                  <a:pt x="95250" y="787400"/>
                </a:cubicBezTo>
                <a:cubicBezTo>
                  <a:pt x="92257" y="793387"/>
                  <a:pt x="93081" y="801223"/>
                  <a:pt x="88900" y="806450"/>
                </a:cubicBezTo>
                <a:cubicBezTo>
                  <a:pt x="84132" y="812409"/>
                  <a:pt x="76200" y="814917"/>
                  <a:pt x="69850" y="819150"/>
                </a:cubicBezTo>
                <a:cubicBezTo>
                  <a:pt x="38908" y="865562"/>
                  <a:pt x="76676" y="807204"/>
                  <a:pt x="44450" y="863600"/>
                </a:cubicBezTo>
                <a:cubicBezTo>
                  <a:pt x="40664" y="870226"/>
                  <a:pt x="35163" y="875824"/>
                  <a:pt x="31750" y="882650"/>
                </a:cubicBezTo>
                <a:cubicBezTo>
                  <a:pt x="27195" y="891760"/>
                  <a:pt x="21085" y="918962"/>
                  <a:pt x="19050" y="927100"/>
                </a:cubicBezTo>
                <a:cubicBezTo>
                  <a:pt x="19267" y="930136"/>
                  <a:pt x="24826" y="1037369"/>
                  <a:pt x="31750" y="1060450"/>
                </a:cubicBezTo>
                <a:cubicBezTo>
                  <a:pt x="37042" y="1078089"/>
                  <a:pt x="49742" y="1083028"/>
                  <a:pt x="63500" y="1092200"/>
                </a:cubicBezTo>
                <a:cubicBezTo>
                  <a:pt x="67733" y="1098550"/>
                  <a:pt x="70457" y="1106224"/>
                  <a:pt x="76200" y="1111250"/>
                </a:cubicBezTo>
                <a:cubicBezTo>
                  <a:pt x="87687" y="1121301"/>
                  <a:pt x="114300" y="1136650"/>
                  <a:pt x="114300" y="1136650"/>
                </a:cubicBezTo>
                <a:cubicBezTo>
                  <a:pt x="116417" y="1143000"/>
                  <a:pt x="116469" y="1150473"/>
                  <a:pt x="120650" y="1155700"/>
                </a:cubicBezTo>
                <a:cubicBezTo>
                  <a:pt x="125418" y="1161659"/>
                  <a:pt x="133490" y="1163964"/>
                  <a:pt x="139700" y="1168400"/>
                </a:cubicBezTo>
                <a:cubicBezTo>
                  <a:pt x="148312" y="1174551"/>
                  <a:pt x="158069" y="1179540"/>
                  <a:pt x="165100" y="1187450"/>
                </a:cubicBezTo>
                <a:cubicBezTo>
                  <a:pt x="175241" y="1198858"/>
                  <a:pt x="190500" y="1225550"/>
                  <a:pt x="190500" y="1225550"/>
                </a:cubicBezTo>
                <a:cubicBezTo>
                  <a:pt x="192617" y="1234017"/>
                  <a:pt x="196850" y="1242223"/>
                  <a:pt x="196850" y="1250950"/>
                </a:cubicBezTo>
                <a:cubicBezTo>
                  <a:pt x="196850" y="1280659"/>
                  <a:pt x="193781" y="1310323"/>
                  <a:pt x="190500" y="1339850"/>
                </a:cubicBezTo>
                <a:cubicBezTo>
                  <a:pt x="188901" y="1354245"/>
                  <a:pt x="174642" y="1393773"/>
                  <a:pt x="171450" y="1403350"/>
                </a:cubicBezTo>
                <a:cubicBezTo>
                  <a:pt x="169037" y="1410590"/>
                  <a:pt x="162163" y="1415574"/>
                  <a:pt x="158750" y="1422400"/>
                </a:cubicBezTo>
                <a:cubicBezTo>
                  <a:pt x="155757" y="1428387"/>
                  <a:pt x="155393" y="1435463"/>
                  <a:pt x="152400" y="1441450"/>
                </a:cubicBezTo>
                <a:cubicBezTo>
                  <a:pt x="122211" y="1501827"/>
                  <a:pt x="159765" y="1400306"/>
                  <a:pt x="127000" y="1498600"/>
                </a:cubicBezTo>
                <a:cubicBezTo>
                  <a:pt x="119404" y="1521388"/>
                  <a:pt x="96991" y="1531377"/>
                  <a:pt x="95250" y="1555750"/>
                </a:cubicBezTo>
                <a:cubicBezTo>
                  <a:pt x="93591" y="1578974"/>
                  <a:pt x="95250" y="1602317"/>
                  <a:pt x="95250" y="1625600"/>
                </a:cubicBezTo>
              </a:path>
            </a:pathLst>
          </a:custGeom>
          <a:ln w="28575"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ln w="12700">
                <a:solidFill>
                  <a:schemeClr val="tx1"/>
                </a:solidFill>
              </a:ln>
            </a:endParaRPr>
          </a:p>
        </p:txBody>
      </p:sp>
      <p:sp>
        <p:nvSpPr>
          <p:cNvPr id="29" name="Freeform 28"/>
          <p:cNvSpPr/>
          <p:nvPr/>
        </p:nvSpPr>
        <p:spPr>
          <a:xfrm>
            <a:off x="7151899" y="2885356"/>
            <a:ext cx="180446" cy="1490133"/>
          </a:xfrm>
          <a:custGeom>
            <a:avLst/>
            <a:gdLst>
              <a:gd name="connsiteX0" fmla="*/ 127000 w 196850"/>
              <a:gd name="connsiteY0" fmla="*/ 0 h 1625600"/>
              <a:gd name="connsiteX1" fmla="*/ 82550 w 196850"/>
              <a:gd name="connsiteY1" fmla="*/ 38100 h 1625600"/>
              <a:gd name="connsiteX2" fmla="*/ 50800 w 196850"/>
              <a:gd name="connsiteY2" fmla="*/ 76200 h 1625600"/>
              <a:gd name="connsiteX3" fmla="*/ 19050 w 196850"/>
              <a:gd name="connsiteY3" fmla="*/ 133350 h 1625600"/>
              <a:gd name="connsiteX4" fmla="*/ 0 w 196850"/>
              <a:gd name="connsiteY4" fmla="*/ 196850 h 1625600"/>
              <a:gd name="connsiteX5" fmla="*/ 25400 w 196850"/>
              <a:gd name="connsiteY5" fmla="*/ 323850 h 1625600"/>
              <a:gd name="connsiteX6" fmla="*/ 50800 w 196850"/>
              <a:gd name="connsiteY6" fmla="*/ 361950 h 1625600"/>
              <a:gd name="connsiteX7" fmla="*/ 82550 w 196850"/>
              <a:gd name="connsiteY7" fmla="*/ 393700 h 1625600"/>
              <a:gd name="connsiteX8" fmla="*/ 101600 w 196850"/>
              <a:gd name="connsiteY8" fmla="*/ 400050 h 1625600"/>
              <a:gd name="connsiteX9" fmla="*/ 165100 w 196850"/>
              <a:gd name="connsiteY9" fmla="*/ 476250 h 1625600"/>
              <a:gd name="connsiteX10" fmla="*/ 177800 w 196850"/>
              <a:gd name="connsiteY10" fmla="*/ 495300 h 1625600"/>
              <a:gd name="connsiteX11" fmla="*/ 184150 w 196850"/>
              <a:gd name="connsiteY11" fmla="*/ 514350 h 1625600"/>
              <a:gd name="connsiteX12" fmla="*/ 190500 w 196850"/>
              <a:gd name="connsiteY12" fmla="*/ 552450 h 1625600"/>
              <a:gd name="connsiteX13" fmla="*/ 196850 w 196850"/>
              <a:gd name="connsiteY13" fmla="*/ 577850 h 1625600"/>
              <a:gd name="connsiteX14" fmla="*/ 190500 w 196850"/>
              <a:gd name="connsiteY14" fmla="*/ 660400 h 1625600"/>
              <a:gd name="connsiteX15" fmla="*/ 158750 w 196850"/>
              <a:gd name="connsiteY15" fmla="*/ 717550 h 1625600"/>
              <a:gd name="connsiteX16" fmla="*/ 139700 w 196850"/>
              <a:gd name="connsiteY16" fmla="*/ 736600 h 1625600"/>
              <a:gd name="connsiteX17" fmla="*/ 107950 w 196850"/>
              <a:gd name="connsiteY17" fmla="*/ 768350 h 1625600"/>
              <a:gd name="connsiteX18" fmla="*/ 95250 w 196850"/>
              <a:gd name="connsiteY18" fmla="*/ 787400 h 1625600"/>
              <a:gd name="connsiteX19" fmla="*/ 88900 w 196850"/>
              <a:gd name="connsiteY19" fmla="*/ 806450 h 1625600"/>
              <a:gd name="connsiteX20" fmla="*/ 69850 w 196850"/>
              <a:gd name="connsiteY20" fmla="*/ 819150 h 1625600"/>
              <a:gd name="connsiteX21" fmla="*/ 44450 w 196850"/>
              <a:gd name="connsiteY21" fmla="*/ 863600 h 1625600"/>
              <a:gd name="connsiteX22" fmla="*/ 31750 w 196850"/>
              <a:gd name="connsiteY22" fmla="*/ 882650 h 1625600"/>
              <a:gd name="connsiteX23" fmla="*/ 19050 w 196850"/>
              <a:gd name="connsiteY23" fmla="*/ 927100 h 1625600"/>
              <a:gd name="connsiteX24" fmla="*/ 31750 w 196850"/>
              <a:gd name="connsiteY24" fmla="*/ 1060450 h 1625600"/>
              <a:gd name="connsiteX25" fmla="*/ 63500 w 196850"/>
              <a:gd name="connsiteY25" fmla="*/ 1092200 h 1625600"/>
              <a:gd name="connsiteX26" fmla="*/ 76200 w 196850"/>
              <a:gd name="connsiteY26" fmla="*/ 1111250 h 1625600"/>
              <a:gd name="connsiteX27" fmla="*/ 114300 w 196850"/>
              <a:gd name="connsiteY27" fmla="*/ 1136650 h 1625600"/>
              <a:gd name="connsiteX28" fmla="*/ 120650 w 196850"/>
              <a:gd name="connsiteY28" fmla="*/ 1155700 h 1625600"/>
              <a:gd name="connsiteX29" fmla="*/ 139700 w 196850"/>
              <a:gd name="connsiteY29" fmla="*/ 1168400 h 1625600"/>
              <a:gd name="connsiteX30" fmla="*/ 165100 w 196850"/>
              <a:gd name="connsiteY30" fmla="*/ 1187450 h 1625600"/>
              <a:gd name="connsiteX31" fmla="*/ 190500 w 196850"/>
              <a:gd name="connsiteY31" fmla="*/ 1225550 h 1625600"/>
              <a:gd name="connsiteX32" fmla="*/ 196850 w 196850"/>
              <a:gd name="connsiteY32" fmla="*/ 1250950 h 1625600"/>
              <a:gd name="connsiteX33" fmla="*/ 190500 w 196850"/>
              <a:gd name="connsiteY33" fmla="*/ 1339850 h 1625600"/>
              <a:gd name="connsiteX34" fmla="*/ 171450 w 196850"/>
              <a:gd name="connsiteY34" fmla="*/ 1403350 h 1625600"/>
              <a:gd name="connsiteX35" fmla="*/ 158750 w 196850"/>
              <a:gd name="connsiteY35" fmla="*/ 1422400 h 1625600"/>
              <a:gd name="connsiteX36" fmla="*/ 152400 w 196850"/>
              <a:gd name="connsiteY36" fmla="*/ 1441450 h 1625600"/>
              <a:gd name="connsiteX37" fmla="*/ 127000 w 196850"/>
              <a:gd name="connsiteY37" fmla="*/ 1498600 h 1625600"/>
              <a:gd name="connsiteX38" fmla="*/ 95250 w 196850"/>
              <a:gd name="connsiteY38" fmla="*/ 1555750 h 1625600"/>
              <a:gd name="connsiteX39" fmla="*/ 95250 w 196850"/>
              <a:gd name="connsiteY39" fmla="*/ 1625600 h 1625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196850" h="1625600">
                <a:moveTo>
                  <a:pt x="127000" y="0"/>
                </a:moveTo>
                <a:cubicBezTo>
                  <a:pt x="72901" y="32460"/>
                  <a:pt x="111869" y="2917"/>
                  <a:pt x="82550" y="38100"/>
                </a:cubicBezTo>
                <a:cubicBezTo>
                  <a:pt x="68308" y="55190"/>
                  <a:pt x="59809" y="55930"/>
                  <a:pt x="50800" y="76200"/>
                </a:cubicBezTo>
                <a:cubicBezTo>
                  <a:pt x="25936" y="132143"/>
                  <a:pt x="53821" y="98579"/>
                  <a:pt x="19050" y="133350"/>
                </a:cubicBezTo>
                <a:cubicBezTo>
                  <a:pt x="3590" y="179729"/>
                  <a:pt x="9597" y="158463"/>
                  <a:pt x="0" y="196850"/>
                </a:cubicBezTo>
                <a:cubicBezTo>
                  <a:pt x="14593" y="299002"/>
                  <a:pt x="3234" y="257352"/>
                  <a:pt x="25400" y="323850"/>
                </a:cubicBezTo>
                <a:cubicBezTo>
                  <a:pt x="30227" y="338330"/>
                  <a:pt x="42333" y="349250"/>
                  <a:pt x="50800" y="361950"/>
                </a:cubicBezTo>
                <a:cubicBezTo>
                  <a:pt x="63500" y="381000"/>
                  <a:pt x="61383" y="383117"/>
                  <a:pt x="82550" y="393700"/>
                </a:cubicBezTo>
                <a:cubicBezTo>
                  <a:pt x="88537" y="396693"/>
                  <a:pt x="95250" y="397933"/>
                  <a:pt x="101600" y="400050"/>
                </a:cubicBezTo>
                <a:cubicBezTo>
                  <a:pt x="150493" y="448943"/>
                  <a:pt x="129737" y="423206"/>
                  <a:pt x="165100" y="476250"/>
                </a:cubicBezTo>
                <a:cubicBezTo>
                  <a:pt x="169333" y="482600"/>
                  <a:pt x="175387" y="488060"/>
                  <a:pt x="177800" y="495300"/>
                </a:cubicBezTo>
                <a:cubicBezTo>
                  <a:pt x="179917" y="501650"/>
                  <a:pt x="182698" y="507816"/>
                  <a:pt x="184150" y="514350"/>
                </a:cubicBezTo>
                <a:cubicBezTo>
                  <a:pt x="186943" y="526919"/>
                  <a:pt x="187975" y="539825"/>
                  <a:pt x="190500" y="552450"/>
                </a:cubicBezTo>
                <a:cubicBezTo>
                  <a:pt x="192212" y="561008"/>
                  <a:pt x="194733" y="569383"/>
                  <a:pt x="196850" y="577850"/>
                </a:cubicBezTo>
                <a:cubicBezTo>
                  <a:pt x="194733" y="605367"/>
                  <a:pt x="193923" y="633015"/>
                  <a:pt x="190500" y="660400"/>
                </a:cubicBezTo>
                <a:cubicBezTo>
                  <a:pt x="188219" y="678652"/>
                  <a:pt x="167578" y="708722"/>
                  <a:pt x="158750" y="717550"/>
                </a:cubicBezTo>
                <a:cubicBezTo>
                  <a:pt x="152400" y="723900"/>
                  <a:pt x="145449" y="729701"/>
                  <a:pt x="139700" y="736600"/>
                </a:cubicBezTo>
                <a:cubicBezTo>
                  <a:pt x="113242" y="768350"/>
                  <a:pt x="142875" y="745067"/>
                  <a:pt x="107950" y="768350"/>
                </a:cubicBezTo>
                <a:cubicBezTo>
                  <a:pt x="103717" y="774700"/>
                  <a:pt x="98663" y="780574"/>
                  <a:pt x="95250" y="787400"/>
                </a:cubicBezTo>
                <a:cubicBezTo>
                  <a:pt x="92257" y="793387"/>
                  <a:pt x="93081" y="801223"/>
                  <a:pt x="88900" y="806450"/>
                </a:cubicBezTo>
                <a:cubicBezTo>
                  <a:pt x="84132" y="812409"/>
                  <a:pt x="76200" y="814917"/>
                  <a:pt x="69850" y="819150"/>
                </a:cubicBezTo>
                <a:cubicBezTo>
                  <a:pt x="38908" y="865562"/>
                  <a:pt x="76676" y="807204"/>
                  <a:pt x="44450" y="863600"/>
                </a:cubicBezTo>
                <a:cubicBezTo>
                  <a:pt x="40664" y="870226"/>
                  <a:pt x="35163" y="875824"/>
                  <a:pt x="31750" y="882650"/>
                </a:cubicBezTo>
                <a:cubicBezTo>
                  <a:pt x="27195" y="891760"/>
                  <a:pt x="21085" y="918962"/>
                  <a:pt x="19050" y="927100"/>
                </a:cubicBezTo>
                <a:cubicBezTo>
                  <a:pt x="19267" y="930136"/>
                  <a:pt x="24826" y="1037369"/>
                  <a:pt x="31750" y="1060450"/>
                </a:cubicBezTo>
                <a:cubicBezTo>
                  <a:pt x="37042" y="1078089"/>
                  <a:pt x="49742" y="1083028"/>
                  <a:pt x="63500" y="1092200"/>
                </a:cubicBezTo>
                <a:cubicBezTo>
                  <a:pt x="67733" y="1098550"/>
                  <a:pt x="70457" y="1106224"/>
                  <a:pt x="76200" y="1111250"/>
                </a:cubicBezTo>
                <a:cubicBezTo>
                  <a:pt x="87687" y="1121301"/>
                  <a:pt x="114300" y="1136650"/>
                  <a:pt x="114300" y="1136650"/>
                </a:cubicBezTo>
                <a:cubicBezTo>
                  <a:pt x="116417" y="1143000"/>
                  <a:pt x="116469" y="1150473"/>
                  <a:pt x="120650" y="1155700"/>
                </a:cubicBezTo>
                <a:cubicBezTo>
                  <a:pt x="125418" y="1161659"/>
                  <a:pt x="133490" y="1163964"/>
                  <a:pt x="139700" y="1168400"/>
                </a:cubicBezTo>
                <a:cubicBezTo>
                  <a:pt x="148312" y="1174551"/>
                  <a:pt x="158069" y="1179540"/>
                  <a:pt x="165100" y="1187450"/>
                </a:cubicBezTo>
                <a:cubicBezTo>
                  <a:pt x="175241" y="1198858"/>
                  <a:pt x="190500" y="1225550"/>
                  <a:pt x="190500" y="1225550"/>
                </a:cubicBezTo>
                <a:cubicBezTo>
                  <a:pt x="192617" y="1234017"/>
                  <a:pt x="196850" y="1242223"/>
                  <a:pt x="196850" y="1250950"/>
                </a:cubicBezTo>
                <a:cubicBezTo>
                  <a:pt x="196850" y="1280659"/>
                  <a:pt x="193781" y="1310323"/>
                  <a:pt x="190500" y="1339850"/>
                </a:cubicBezTo>
                <a:cubicBezTo>
                  <a:pt x="188901" y="1354245"/>
                  <a:pt x="174642" y="1393773"/>
                  <a:pt x="171450" y="1403350"/>
                </a:cubicBezTo>
                <a:cubicBezTo>
                  <a:pt x="169037" y="1410590"/>
                  <a:pt x="162163" y="1415574"/>
                  <a:pt x="158750" y="1422400"/>
                </a:cubicBezTo>
                <a:cubicBezTo>
                  <a:pt x="155757" y="1428387"/>
                  <a:pt x="155393" y="1435463"/>
                  <a:pt x="152400" y="1441450"/>
                </a:cubicBezTo>
                <a:cubicBezTo>
                  <a:pt x="122211" y="1501827"/>
                  <a:pt x="159765" y="1400306"/>
                  <a:pt x="127000" y="1498600"/>
                </a:cubicBezTo>
                <a:cubicBezTo>
                  <a:pt x="119404" y="1521388"/>
                  <a:pt x="96991" y="1531377"/>
                  <a:pt x="95250" y="1555750"/>
                </a:cubicBezTo>
                <a:cubicBezTo>
                  <a:pt x="93591" y="1578974"/>
                  <a:pt x="95250" y="1602317"/>
                  <a:pt x="95250" y="1625600"/>
                </a:cubicBezTo>
              </a:path>
            </a:pathLst>
          </a:custGeom>
          <a:ln w="28575"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ln w="12700">
                <a:solidFill>
                  <a:schemeClr val="tx1"/>
                </a:solidFill>
              </a:ln>
            </a:endParaRPr>
          </a:p>
        </p:txBody>
      </p:sp>
      <p:sp>
        <p:nvSpPr>
          <p:cNvPr id="30" name="Freeform 29"/>
          <p:cNvSpPr/>
          <p:nvPr/>
        </p:nvSpPr>
        <p:spPr>
          <a:xfrm>
            <a:off x="7577984" y="2885356"/>
            <a:ext cx="180446" cy="1490133"/>
          </a:xfrm>
          <a:custGeom>
            <a:avLst/>
            <a:gdLst>
              <a:gd name="connsiteX0" fmla="*/ 127000 w 196850"/>
              <a:gd name="connsiteY0" fmla="*/ 0 h 1625600"/>
              <a:gd name="connsiteX1" fmla="*/ 82550 w 196850"/>
              <a:gd name="connsiteY1" fmla="*/ 38100 h 1625600"/>
              <a:gd name="connsiteX2" fmla="*/ 50800 w 196850"/>
              <a:gd name="connsiteY2" fmla="*/ 76200 h 1625600"/>
              <a:gd name="connsiteX3" fmla="*/ 19050 w 196850"/>
              <a:gd name="connsiteY3" fmla="*/ 133350 h 1625600"/>
              <a:gd name="connsiteX4" fmla="*/ 0 w 196850"/>
              <a:gd name="connsiteY4" fmla="*/ 196850 h 1625600"/>
              <a:gd name="connsiteX5" fmla="*/ 25400 w 196850"/>
              <a:gd name="connsiteY5" fmla="*/ 323850 h 1625600"/>
              <a:gd name="connsiteX6" fmla="*/ 50800 w 196850"/>
              <a:gd name="connsiteY6" fmla="*/ 361950 h 1625600"/>
              <a:gd name="connsiteX7" fmla="*/ 82550 w 196850"/>
              <a:gd name="connsiteY7" fmla="*/ 393700 h 1625600"/>
              <a:gd name="connsiteX8" fmla="*/ 101600 w 196850"/>
              <a:gd name="connsiteY8" fmla="*/ 400050 h 1625600"/>
              <a:gd name="connsiteX9" fmla="*/ 165100 w 196850"/>
              <a:gd name="connsiteY9" fmla="*/ 476250 h 1625600"/>
              <a:gd name="connsiteX10" fmla="*/ 177800 w 196850"/>
              <a:gd name="connsiteY10" fmla="*/ 495300 h 1625600"/>
              <a:gd name="connsiteX11" fmla="*/ 184150 w 196850"/>
              <a:gd name="connsiteY11" fmla="*/ 514350 h 1625600"/>
              <a:gd name="connsiteX12" fmla="*/ 190500 w 196850"/>
              <a:gd name="connsiteY12" fmla="*/ 552450 h 1625600"/>
              <a:gd name="connsiteX13" fmla="*/ 196850 w 196850"/>
              <a:gd name="connsiteY13" fmla="*/ 577850 h 1625600"/>
              <a:gd name="connsiteX14" fmla="*/ 190500 w 196850"/>
              <a:gd name="connsiteY14" fmla="*/ 660400 h 1625600"/>
              <a:gd name="connsiteX15" fmla="*/ 158750 w 196850"/>
              <a:gd name="connsiteY15" fmla="*/ 717550 h 1625600"/>
              <a:gd name="connsiteX16" fmla="*/ 139700 w 196850"/>
              <a:gd name="connsiteY16" fmla="*/ 736600 h 1625600"/>
              <a:gd name="connsiteX17" fmla="*/ 107950 w 196850"/>
              <a:gd name="connsiteY17" fmla="*/ 768350 h 1625600"/>
              <a:gd name="connsiteX18" fmla="*/ 95250 w 196850"/>
              <a:gd name="connsiteY18" fmla="*/ 787400 h 1625600"/>
              <a:gd name="connsiteX19" fmla="*/ 88900 w 196850"/>
              <a:gd name="connsiteY19" fmla="*/ 806450 h 1625600"/>
              <a:gd name="connsiteX20" fmla="*/ 69850 w 196850"/>
              <a:gd name="connsiteY20" fmla="*/ 819150 h 1625600"/>
              <a:gd name="connsiteX21" fmla="*/ 44450 w 196850"/>
              <a:gd name="connsiteY21" fmla="*/ 863600 h 1625600"/>
              <a:gd name="connsiteX22" fmla="*/ 31750 w 196850"/>
              <a:gd name="connsiteY22" fmla="*/ 882650 h 1625600"/>
              <a:gd name="connsiteX23" fmla="*/ 19050 w 196850"/>
              <a:gd name="connsiteY23" fmla="*/ 927100 h 1625600"/>
              <a:gd name="connsiteX24" fmla="*/ 31750 w 196850"/>
              <a:gd name="connsiteY24" fmla="*/ 1060450 h 1625600"/>
              <a:gd name="connsiteX25" fmla="*/ 63500 w 196850"/>
              <a:gd name="connsiteY25" fmla="*/ 1092200 h 1625600"/>
              <a:gd name="connsiteX26" fmla="*/ 76200 w 196850"/>
              <a:gd name="connsiteY26" fmla="*/ 1111250 h 1625600"/>
              <a:gd name="connsiteX27" fmla="*/ 114300 w 196850"/>
              <a:gd name="connsiteY27" fmla="*/ 1136650 h 1625600"/>
              <a:gd name="connsiteX28" fmla="*/ 120650 w 196850"/>
              <a:gd name="connsiteY28" fmla="*/ 1155700 h 1625600"/>
              <a:gd name="connsiteX29" fmla="*/ 139700 w 196850"/>
              <a:gd name="connsiteY29" fmla="*/ 1168400 h 1625600"/>
              <a:gd name="connsiteX30" fmla="*/ 165100 w 196850"/>
              <a:gd name="connsiteY30" fmla="*/ 1187450 h 1625600"/>
              <a:gd name="connsiteX31" fmla="*/ 190500 w 196850"/>
              <a:gd name="connsiteY31" fmla="*/ 1225550 h 1625600"/>
              <a:gd name="connsiteX32" fmla="*/ 196850 w 196850"/>
              <a:gd name="connsiteY32" fmla="*/ 1250950 h 1625600"/>
              <a:gd name="connsiteX33" fmla="*/ 190500 w 196850"/>
              <a:gd name="connsiteY33" fmla="*/ 1339850 h 1625600"/>
              <a:gd name="connsiteX34" fmla="*/ 171450 w 196850"/>
              <a:gd name="connsiteY34" fmla="*/ 1403350 h 1625600"/>
              <a:gd name="connsiteX35" fmla="*/ 158750 w 196850"/>
              <a:gd name="connsiteY35" fmla="*/ 1422400 h 1625600"/>
              <a:gd name="connsiteX36" fmla="*/ 152400 w 196850"/>
              <a:gd name="connsiteY36" fmla="*/ 1441450 h 1625600"/>
              <a:gd name="connsiteX37" fmla="*/ 127000 w 196850"/>
              <a:gd name="connsiteY37" fmla="*/ 1498600 h 1625600"/>
              <a:gd name="connsiteX38" fmla="*/ 95250 w 196850"/>
              <a:gd name="connsiteY38" fmla="*/ 1555750 h 1625600"/>
              <a:gd name="connsiteX39" fmla="*/ 95250 w 196850"/>
              <a:gd name="connsiteY39" fmla="*/ 1625600 h 1625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196850" h="1625600">
                <a:moveTo>
                  <a:pt x="127000" y="0"/>
                </a:moveTo>
                <a:cubicBezTo>
                  <a:pt x="72901" y="32460"/>
                  <a:pt x="111869" y="2917"/>
                  <a:pt x="82550" y="38100"/>
                </a:cubicBezTo>
                <a:cubicBezTo>
                  <a:pt x="68308" y="55190"/>
                  <a:pt x="59809" y="55930"/>
                  <a:pt x="50800" y="76200"/>
                </a:cubicBezTo>
                <a:cubicBezTo>
                  <a:pt x="25936" y="132143"/>
                  <a:pt x="53821" y="98579"/>
                  <a:pt x="19050" y="133350"/>
                </a:cubicBezTo>
                <a:cubicBezTo>
                  <a:pt x="3590" y="179729"/>
                  <a:pt x="9597" y="158463"/>
                  <a:pt x="0" y="196850"/>
                </a:cubicBezTo>
                <a:cubicBezTo>
                  <a:pt x="14593" y="299002"/>
                  <a:pt x="3234" y="257352"/>
                  <a:pt x="25400" y="323850"/>
                </a:cubicBezTo>
                <a:cubicBezTo>
                  <a:pt x="30227" y="338330"/>
                  <a:pt x="42333" y="349250"/>
                  <a:pt x="50800" y="361950"/>
                </a:cubicBezTo>
                <a:cubicBezTo>
                  <a:pt x="63500" y="381000"/>
                  <a:pt x="61383" y="383117"/>
                  <a:pt x="82550" y="393700"/>
                </a:cubicBezTo>
                <a:cubicBezTo>
                  <a:pt x="88537" y="396693"/>
                  <a:pt x="95250" y="397933"/>
                  <a:pt x="101600" y="400050"/>
                </a:cubicBezTo>
                <a:cubicBezTo>
                  <a:pt x="150493" y="448943"/>
                  <a:pt x="129737" y="423206"/>
                  <a:pt x="165100" y="476250"/>
                </a:cubicBezTo>
                <a:cubicBezTo>
                  <a:pt x="169333" y="482600"/>
                  <a:pt x="175387" y="488060"/>
                  <a:pt x="177800" y="495300"/>
                </a:cubicBezTo>
                <a:cubicBezTo>
                  <a:pt x="179917" y="501650"/>
                  <a:pt x="182698" y="507816"/>
                  <a:pt x="184150" y="514350"/>
                </a:cubicBezTo>
                <a:cubicBezTo>
                  <a:pt x="186943" y="526919"/>
                  <a:pt x="187975" y="539825"/>
                  <a:pt x="190500" y="552450"/>
                </a:cubicBezTo>
                <a:cubicBezTo>
                  <a:pt x="192212" y="561008"/>
                  <a:pt x="194733" y="569383"/>
                  <a:pt x="196850" y="577850"/>
                </a:cubicBezTo>
                <a:cubicBezTo>
                  <a:pt x="194733" y="605367"/>
                  <a:pt x="193923" y="633015"/>
                  <a:pt x="190500" y="660400"/>
                </a:cubicBezTo>
                <a:cubicBezTo>
                  <a:pt x="188219" y="678652"/>
                  <a:pt x="167578" y="708722"/>
                  <a:pt x="158750" y="717550"/>
                </a:cubicBezTo>
                <a:cubicBezTo>
                  <a:pt x="152400" y="723900"/>
                  <a:pt x="145449" y="729701"/>
                  <a:pt x="139700" y="736600"/>
                </a:cubicBezTo>
                <a:cubicBezTo>
                  <a:pt x="113242" y="768350"/>
                  <a:pt x="142875" y="745067"/>
                  <a:pt x="107950" y="768350"/>
                </a:cubicBezTo>
                <a:cubicBezTo>
                  <a:pt x="103717" y="774700"/>
                  <a:pt x="98663" y="780574"/>
                  <a:pt x="95250" y="787400"/>
                </a:cubicBezTo>
                <a:cubicBezTo>
                  <a:pt x="92257" y="793387"/>
                  <a:pt x="93081" y="801223"/>
                  <a:pt x="88900" y="806450"/>
                </a:cubicBezTo>
                <a:cubicBezTo>
                  <a:pt x="84132" y="812409"/>
                  <a:pt x="76200" y="814917"/>
                  <a:pt x="69850" y="819150"/>
                </a:cubicBezTo>
                <a:cubicBezTo>
                  <a:pt x="38908" y="865562"/>
                  <a:pt x="76676" y="807204"/>
                  <a:pt x="44450" y="863600"/>
                </a:cubicBezTo>
                <a:cubicBezTo>
                  <a:pt x="40664" y="870226"/>
                  <a:pt x="35163" y="875824"/>
                  <a:pt x="31750" y="882650"/>
                </a:cubicBezTo>
                <a:cubicBezTo>
                  <a:pt x="27195" y="891760"/>
                  <a:pt x="21085" y="918962"/>
                  <a:pt x="19050" y="927100"/>
                </a:cubicBezTo>
                <a:cubicBezTo>
                  <a:pt x="19267" y="930136"/>
                  <a:pt x="24826" y="1037369"/>
                  <a:pt x="31750" y="1060450"/>
                </a:cubicBezTo>
                <a:cubicBezTo>
                  <a:pt x="37042" y="1078089"/>
                  <a:pt x="49742" y="1083028"/>
                  <a:pt x="63500" y="1092200"/>
                </a:cubicBezTo>
                <a:cubicBezTo>
                  <a:pt x="67733" y="1098550"/>
                  <a:pt x="70457" y="1106224"/>
                  <a:pt x="76200" y="1111250"/>
                </a:cubicBezTo>
                <a:cubicBezTo>
                  <a:pt x="87687" y="1121301"/>
                  <a:pt x="114300" y="1136650"/>
                  <a:pt x="114300" y="1136650"/>
                </a:cubicBezTo>
                <a:cubicBezTo>
                  <a:pt x="116417" y="1143000"/>
                  <a:pt x="116469" y="1150473"/>
                  <a:pt x="120650" y="1155700"/>
                </a:cubicBezTo>
                <a:cubicBezTo>
                  <a:pt x="125418" y="1161659"/>
                  <a:pt x="133490" y="1163964"/>
                  <a:pt x="139700" y="1168400"/>
                </a:cubicBezTo>
                <a:cubicBezTo>
                  <a:pt x="148312" y="1174551"/>
                  <a:pt x="158069" y="1179540"/>
                  <a:pt x="165100" y="1187450"/>
                </a:cubicBezTo>
                <a:cubicBezTo>
                  <a:pt x="175241" y="1198858"/>
                  <a:pt x="190500" y="1225550"/>
                  <a:pt x="190500" y="1225550"/>
                </a:cubicBezTo>
                <a:cubicBezTo>
                  <a:pt x="192617" y="1234017"/>
                  <a:pt x="196850" y="1242223"/>
                  <a:pt x="196850" y="1250950"/>
                </a:cubicBezTo>
                <a:cubicBezTo>
                  <a:pt x="196850" y="1280659"/>
                  <a:pt x="193781" y="1310323"/>
                  <a:pt x="190500" y="1339850"/>
                </a:cubicBezTo>
                <a:cubicBezTo>
                  <a:pt x="188901" y="1354245"/>
                  <a:pt x="174642" y="1393773"/>
                  <a:pt x="171450" y="1403350"/>
                </a:cubicBezTo>
                <a:cubicBezTo>
                  <a:pt x="169037" y="1410590"/>
                  <a:pt x="162163" y="1415574"/>
                  <a:pt x="158750" y="1422400"/>
                </a:cubicBezTo>
                <a:cubicBezTo>
                  <a:pt x="155757" y="1428387"/>
                  <a:pt x="155393" y="1435463"/>
                  <a:pt x="152400" y="1441450"/>
                </a:cubicBezTo>
                <a:cubicBezTo>
                  <a:pt x="122211" y="1501827"/>
                  <a:pt x="159765" y="1400306"/>
                  <a:pt x="127000" y="1498600"/>
                </a:cubicBezTo>
                <a:cubicBezTo>
                  <a:pt x="119404" y="1521388"/>
                  <a:pt x="96991" y="1531377"/>
                  <a:pt x="95250" y="1555750"/>
                </a:cubicBezTo>
                <a:cubicBezTo>
                  <a:pt x="93591" y="1578974"/>
                  <a:pt x="95250" y="1602317"/>
                  <a:pt x="95250" y="1625600"/>
                </a:cubicBezTo>
              </a:path>
            </a:pathLst>
          </a:custGeom>
          <a:ln w="28575"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ln w="12700">
                <a:solidFill>
                  <a:schemeClr val="tx1"/>
                </a:solidFill>
              </a:ln>
            </a:endParaRPr>
          </a:p>
        </p:txBody>
      </p:sp>
      <p:sp>
        <p:nvSpPr>
          <p:cNvPr id="31" name="Freeform 30"/>
          <p:cNvSpPr/>
          <p:nvPr/>
        </p:nvSpPr>
        <p:spPr>
          <a:xfrm>
            <a:off x="8004069" y="2885356"/>
            <a:ext cx="180446" cy="1490133"/>
          </a:xfrm>
          <a:custGeom>
            <a:avLst/>
            <a:gdLst>
              <a:gd name="connsiteX0" fmla="*/ 127000 w 196850"/>
              <a:gd name="connsiteY0" fmla="*/ 0 h 1625600"/>
              <a:gd name="connsiteX1" fmla="*/ 82550 w 196850"/>
              <a:gd name="connsiteY1" fmla="*/ 38100 h 1625600"/>
              <a:gd name="connsiteX2" fmla="*/ 50800 w 196850"/>
              <a:gd name="connsiteY2" fmla="*/ 76200 h 1625600"/>
              <a:gd name="connsiteX3" fmla="*/ 19050 w 196850"/>
              <a:gd name="connsiteY3" fmla="*/ 133350 h 1625600"/>
              <a:gd name="connsiteX4" fmla="*/ 0 w 196850"/>
              <a:gd name="connsiteY4" fmla="*/ 196850 h 1625600"/>
              <a:gd name="connsiteX5" fmla="*/ 25400 w 196850"/>
              <a:gd name="connsiteY5" fmla="*/ 323850 h 1625600"/>
              <a:gd name="connsiteX6" fmla="*/ 50800 w 196850"/>
              <a:gd name="connsiteY6" fmla="*/ 361950 h 1625600"/>
              <a:gd name="connsiteX7" fmla="*/ 82550 w 196850"/>
              <a:gd name="connsiteY7" fmla="*/ 393700 h 1625600"/>
              <a:gd name="connsiteX8" fmla="*/ 101600 w 196850"/>
              <a:gd name="connsiteY8" fmla="*/ 400050 h 1625600"/>
              <a:gd name="connsiteX9" fmla="*/ 165100 w 196850"/>
              <a:gd name="connsiteY9" fmla="*/ 476250 h 1625600"/>
              <a:gd name="connsiteX10" fmla="*/ 177800 w 196850"/>
              <a:gd name="connsiteY10" fmla="*/ 495300 h 1625600"/>
              <a:gd name="connsiteX11" fmla="*/ 184150 w 196850"/>
              <a:gd name="connsiteY11" fmla="*/ 514350 h 1625600"/>
              <a:gd name="connsiteX12" fmla="*/ 190500 w 196850"/>
              <a:gd name="connsiteY12" fmla="*/ 552450 h 1625600"/>
              <a:gd name="connsiteX13" fmla="*/ 196850 w 196850"/>
              <a:gd name="connsiteY13" fmla="*/ 577850 h 1625600"/>
              <a:gd name="connsiteX14" fmla="*/ 190500 w 196850"/>
              <a:gd name="connsiteY14" fmla="*/ 660400 h 1625600"/>
              <a:gd name="connsiteX15" fmla="*/ 158750 w 196850"/>
              <a:gd name="connsiteY15" fmla="*/ 717550 h 1625600"/>
              <a:gd name="connsiteX16" fmla="*/ 139700 w 196850"/>
              <a:gd name="connsiteY16" fmla="*/ 736600 h 1625600"/>
              <a:gd name="connsiteX17" fmla="*/ 107950 w 196850"/>
              <a:gd name="connsiteY17" fmla="*/ 768350 h 1625600"/>
              <a:gd name="connsiteX18" fmla="*/ 95250 w 196850"/>
              <a:gd name="connsiteY18" fmla="*/ 787400 h 1625600"/>
              <a:gd name="connsiteX19" fmla="*/ 88900 w 196850"/>
              <a:gd name="connsiteY19" fmla="*/ 806450 h 1625600"/>
              <a:gd name="connsiteX20" fmla="*/ 69850 w 196850"/>
              <a:gd name="connsiteY20" fmla="*/ 819150 h 1625600"/>
              <a:gd name="connsiteX21" fmla="*/ 44450 w 196850"/>
              <a:gd name="connsiteY21" fmla="*/ 863600 h 1625600"/>
              <a:gd name="connsiteX22" fmla="*/ 31750 w 196850"/>
              <a:gd name="connsiteY22" fmla="*/ 882650 h 1625600"/>
              <a:gd name="connsiteX23" fmla="*/ 19050 w 196850"/>
              <a:gd name="connsiteY23" fmla="*/ 927100 h 1625600"/>
              <a:gd name="connsiteX24" fmla="*/ 31750 w 196850"/>
              <a:gd name="connsiteY24" fmla="*/ 1060450 h 1625600"/>
              <a:gd name="connsiteX25" fmla="*/ 63500 w 196850"/>
              <a:gd name="connsiteY25" fmla="*/ 1092200 h 1625600"/>
              <a:gd name="connsiteX26" fmla="*/ 76200 w 196850"/>
              <a:gd name="connsiteY26" fmla="*/ 1111250 h 1625600"/>
              <a:gd name="connsiteX27" fmla="*/ 114300 w 196850"/>
              <a:gd name="connsiteY27" fmla="*/ 1136650 h 1625600"/>
              <a:gd name="connsiteX28" fmla="*/ 120650 w 196850"/>
              <a:gd name="connsiteY28" fmla="*/ 1155700 h 1625600"/>
              <a:gd name="connsiteX29" fmla="*/ 139700 w 196850"/>
              <a:gd name="connsiteY29" fmla="*/ 1168400 h 1625600"/>
              <a:gd name="connsiteX30" fmla="*/ 165100 w 196850"/>
              <a:gd name="connsiteY30" fmla="*/ 1187450 h 1625600"/>
              <a:gd name="connsiteX31" fmla="*/ 190500 w 196850"/>
              <a:gd name="connsiteY31" fmla="*/ 1225550 h 1625600"/>
              <a:gd name="connsiteX32" fmla="*/ 196850 w 196850"/>
              <a:gd name="connsiteY32" fmla="*/ 1250950 h 1625600"/>
              <a:gd name="connsiteX33" fmla="*/ 190500 w 196850"/>
              <a:gd name="connsiteY33" fmla="*/ 1339850 h 1625600"/>
              <a:gd name="connsiteX34" fmla="*/ 171450 w 196850"/>
              <a:gd name="connsiteY34" fmla="*/ 1403350 h 1625600"/>
              <a:gd name="connsiteX35" fmla="*/ 158750 w 196850"/>
              <a:gd name="connsiteY35" fmla="*/ 1422400 h 1625600"/>
              <a:gd name="connsiteX36" fmla="*/ 152400 w 196850"/>
              <a:gd name="connsiteY36" fmla="*/ 1441450 h 1625600"/>
              <a:gd name="connsiteX37" fmla="*/ 127000 w 196850"/>
              <a:gd name="connsiteY37" fmla="*/ 1498600 h 1625600"/>
              <a:gd name="connsiteX38" fmla="*/ 95250 w 196850"/>
              <a:gd name="connsiteY38" fmla="*/ 1555750 h 1625600"/>
              <a:gd name="connsiteX39" fmla="*/ 95250 w 196850"/>
              <a:gd name="connsiteY39" fmla="*/ 1625600 h 1625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196850" h="1625600">
                <a:moveTo>
                  <a:pt x="127000" y="0"/>
                </a:moveTo>
                <a:cubicBezTo>
                  <a:pt x="72901" y="32460"/>
                  <a:pt x="111869" y="2917"/>
                  <a:pt x="82550" y="38100"/>
                </a:cubicBezTo>
                <a:cubicBezTo>
                  <a:pt x="68308" y="55190"/>
                  <a:pt x="59809" y="55930"/>
                  <a:pt x="50800" y="76200"/>
                </a:cubicBezTo>
                <a:cubicBezTo>
                  <a:pt x="25936" y="132143"/>
                  <a:pt x="53821" y="98579"/>
                  <a:pt x="19050" y="133350"/>
                </a:cubicBezTo>
                <a:cubicBezTo>
                  <a:pt x="3590" y="179729"/>
                  <a:pt x="9597" y="158463"/>
                  <a:pt x="0" y="196850"/>
                </a:cubicBezTo>
                <a:cubicBezTo>
                  <a:pt x="14593" y="299002"/>
                  <a:pt x="3234" y="257352"/>
                  <a:pt x="25400" y="323850"/>
                </a:cubicBezTo>
                <a:cubicBezTo>
                  <a:pt x="30227" y="338330"/>
                  <a:pt x="42333" y="349250"/>
                  <a:pt x="50800" y="361950"/>
                </a:cubicBezTo>
                <a:cubicBezTo>
                  <a:pt x="63500" y="381000"/>
                  <a:pt x="61383" y="383117"/>
                  <a:pt x="82550" y="393700"/>
                </a:cubicBezTo>
                <a:cubicBezTo>
                  <a:pt x="88537" y="396693"/>
                  <a:pt x="95250" y="397933"/>
                  <a:pt x="101600" y="400050"/>
                </a:cubicBezTo>
                <a:cubicBezTo>
                  <a:pt x="150493" y="448943"/>
                  <a:pt x="129737" y="423206"/>
                  <a:pt x="165100" y="476250"/>
                </a:cubicBezTo>
                <a:cubicBezTo>
                  <a:pt x="169333" y="482600"/>
                  <a:pt x="175387" y="488060"/>
                  <a:pt x="177800" y="495300"/>
                </a:cubicBezTo>
                <a:cubicBezTo>
                  <a:pt x="179917" y="501650"/>
                  <a:pt x="182698" y="507816"/>
                  <a:pt x="184150" y="514350"/>
                </a:cubicBezTo>
                <a:cubicBezTo>
                  <a:pt x="186943" y="526919"/>
                  <a:pt x="187975" y="539825"/>
                  <a:pt x="190500" y="552450"/>
                </a:cubicBezTo>
                <a:cubicBezTo>
                  <a:pt x="192212" y="561008"/>
                  <a:pt x="194733" y="569383"/>
                  <a:pt x="196850" y="577850"/>
                </a:cubicBezTo>
                <a:cubicBezTo>
                  <a:pt x="194733" y="605367"/>
                  <a:pt x="193923" y="633015"/>
                  <a:pt x="190500" y="660400"/>
                </a:cubicBezTo>
                <a:cubicBezTo>
                  <a:pt x="188219" y="678652"/>
                  <a:pt x="167578" y="708722"/>
                  <a:pt x="158750" y="717550"/>
                </a:cubicBezTo>
                <a:cubicBezTo>
                  <a:pt x="152400" y="723900"/>
                  <a:pt x="145449" y="729701"/>
                  <a:pt x="139700" y="736600"/>
                </a:cubicBezTo>
                <a:cubicBezTo>
                  <a:pt x="113242" y="768350"/>
                  <a:pt x="142875" y="745067"/>
                  <a:pt x="107950" y="768350"/>
                </a:cubicBezTo>
                <a:cubicBezTo>
                  <a:pt x="103717" y="774700"/>
                  <a:pt x="98663" y="780574"/>
                  <a:pt x="95250" y="787400"/>
                </a:cubicBezTo>
                <a:cubicBezTo>
                  <a:pt x="92257" y="793387"/>
                  <a:pt x="93081" y="801223"/>
                  <a:pt x="88900" y="806450"/>
                </a:cubicBezTo>
                <a:cubicBezTo>
                  <a:pt x="84132" y="812409"/>
                  <a:pt x="76200" y="814917"/>
                  <a:pt x="69850" y="819150"/>
                </a:cubicBezTo>
                <a:cubicBezTo>
                  <a:pt x="38908" y="865562"/>
                  <a:pt x="76676" y="807204"/>
                  <a:pt x="44450" y="863600"/>
                </a:cubicBezTo>
                <a:cubicBezTo>
                  <a:pt x="40664" y="870226"/>
                  <a:pt x="35163" y="875824"/>
                  <a:pt x="31750" y="882650"/>
                </a:cubicBezTo>
                <a:cubicBezTo>
                  <a:pt x="27195" y="891760"/>
                  <a:pt x="21085" y="918962"/>
                  <a:pt x="19050" y="927100"/>
                </a:cubicBezTo>
                <a:cubicBezTo>
                  <a:pt x="19267" y="930136"/>
                  <a:pt x="24826" y="1037369"/>
                  <a:pt x="31750" y="1060450"/>
                </a:cubicBezTo>
                <a:cubicBezTo>
                  <a:pt x="37042" y="1078089"/>
                  <a:pt x="49742" y="1083028"/>
                  <a:pt x="63500" y="1092200"/>
                </a:cubicBezTo>
                <a:cubicBezTo>
                  <a:pt x="67733" y="1098550"/>
                  <a:pt x="70457" y="1106224"/>
                  <a:pt x="76200" y="1111250"/>
                </a:cubicBezTo>
                <a:cubicBezTo>
                  <a:pt x="87687" y="1121301"/>
                  <a:pt x="114300" y="1136650"/>
                  <a:pt x="114300" y="1136650"/>
                </a:cubicBezTo>
                <a:cubicBezTo>
                  <a:pt x="116417" y="1143000"/>
                  <a:pt x="116469" y="1150473"/>
                  <a:pt x="120650" y="1155700"/>
                </a:cubicBezTo>
                <a:cubicBezTo>
                  <a:pt x="125418" y="1161659"/>
                  <a:pt x="133490" y="1163964"/>
                  <a:pt x="139700" y="1168400"/>
                </a:cubicBezTo>
                <a:cubicBezTo>
                  <a:pt x="148312" y="1174551"/>
                  <a:pt x="158069" y="1179540"/>
                  <a:pt x="165100" y="1187450"/>
                </a:cubicBezTo>
                <a:cubicBezTo>
                  <a:pt x="175241" y="1198858"/>
                  <a:pt x="190500" y="1225550"/>
                  <a:pt x="190500" y="1225550"/>
                </a:cubicBezTo>
                <a:cubicBezTo>
                  <a:pt x="192617" y="1234017"/>
                  <a:pt x="196850" y="1242223"/>
                  <a:pt x="196850" y="1250950"/>
                </a:cubicBezTo>
                <a:cubicBezTo>
                  <a:pt x="196850" y="1280659"/>
                  <a:pt x="193781" y="1310323"/>
                  <a:pt x="190500" y="1339850"/>
                </a:cubicBezTo>
                <a:cubicBezTo>
                  <a:pt x="188901" y="1354245"/>
                  <a:pt x="174642" y="1393773"/>
                  <a:pt x="171450" y="1403350"/>
                </a:cubicBezTo>
                <a:cubicBezTo>
                  <a:pt x="169037" y="1410590"/>
                  <a:pt x="162163" y="1415574"/>
                  <a:pt x="158750" y="1422400"/>
                </a:cubicBezTo>
                <a:cubicBezTo>
                  <a:pt x="155757" y="1428387"/>
                  <a:pt x="155393" y="1435463"/>
                  <a:pt x="152400" y="1441450"/>
                </a:cubicBezTo>
                <a:cubicBezTo>
                  <a:pt x="122211" y="1501827"/>
                  <a:pt x="159765" y="1400306"/>
                  <a:pt x="127000" y="1498600"/>
                </a:cubicBezTo>
                <a:cubicBezTo>
                  <a:pt x="119404" y="1521388"/>
                  <a:pt x="96991" y="1531377"/>
                  <a:pt x="95250" y="1555750"/>
                </a:cubicBezTo>
                <a:cubicBezTo>
                  <a:pt x="93591" y="1578974"/>
                  <a:pt x="95250" y="1602317"/>
                  <a:pt x="95250" y="1625600"/>
                </a:cubicBezTo>
              </a:path>
            </a:pathLst>
          </a:custGeom>
          <a:ln w="28575"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ln w="12700">
                <a:solidFill>
                  <a:schemeClr val="tx1"/>
                </a:solidFill>
              </a:ln>
            </a:endParaRPr>
          </a:p>
        </p:txBody>
      </p:sp>
      <p:sp>
        <p:nvSpPr>
          <p:cNvPr id="32" name="Freeform 31"/>
          <p:cNvSpPr/>
          <p:nvPr/>
        </p:nvSpPr>
        <p:spPr>
          <a:xfrm>
            <a:off x="8430154" y="2885356"/>
            <a:ext cx="180446" cy="1490133"/>
          </a:xfrm>
          <a:custGeom>
            <a:avLst/>
            <a:gdLst>
              <a:gd name="connsiteX0" fmla="*/ 127000 w 196850"/>
              <a:gd name="connsiteY0" fmla="*/ 0 h 1625600"/>
              <a:gd name="connsiteX1" fmla="*/ 82550 w 196850"/>
              <a:gd name="connsiteY1" fmla="*/ 38100 h 1625600"/>
              <a:gd name="connsiteX2" fmla="*/ 50800 w 196850"/>
              <a:gd name="connsiteY2" fmla="*/ 76200 h 1625600"/>
              <a:gd name="connsiteX3" fmla="*/ 19050 w 196850"/>
              <a:gd name="connsiteY3" fmla="*/ 133350 h 1625600"/>
              <a:gd name="connsiteX4" fmla="*/ 0 w 196850"/>
              <a:gd name="connsiteY4" fmla="*/ 196850 h 1625600"/>
              <a:gd name="connsiteX5" fmla="*/ 25400 w 196850"/>
              <a:gd name="connsiteY5" fmla="*/ 323850 h 1625600"/>
              <a:gd name="connsiteX6" fmla="*/ 50800 w 196850"/>
              <a:gd name="connsiteY6" fmla="*/ 361950 h 1625600"/>
              <a:gd name="connsiteX7" fmla="*/ 82550 w 196850"/>
              <a:gd name="connsiteY7" fmla="*/ 393700 h 1625600"/>
              <a:gd name="connsiteX8" fmla="*/ 101600 w 196850"/>
              <a:gd name="connsiteY8" fmla="*/ 400050 h 1625600"/>
              <a:gd name="connsiteX9" fmla="*/ 165100 w 196850"/>
              <a:gd name="connsiteY9" fmla="*/ 476250 h 1625600"/>
              <a:gd name="connsiteX10" fmla="*/ 177800 w 196850"/>
              <a:gd name="connsiteY10" fmla="*/ 495300 h 1625600"/>
              <a:gd name="connsiteX11" fmla="*/ 184150 w 196850"/>
              <a:gd name="connsiteY11" fmla="*/ 514350 h 1625600"/>
              <a:gd name="connsiteX12" fmla="*/ 190500 w 196850"/>
              <a:gd name="connsiteY12" fmla="*/ 552450 h 1625600"/>
              <a:gd name="connsiteX13" fmla="*/ 196850 w 196850"/>
              <a:gd name="connsiteY13" fmla="*/ 577850 h 1625600"/>
              <a:gd name="connsiteX14" fmla="*/ 190500 w 196850"/>
              <a:gd name="connsiteY14" fmla="*/ 660400 h 1625600"/>
              <a:gd name="connsiteX15" fmla="*/ 158750 w 196850"/>
              <a:gd name="connsiteY15" fmla="*/ 717550 h 1625600"/>
              <a:gd name="connsiteX16" fmla="*/ 139700 w 196850"/>
              <a:gd name="connsiteY16" fmla="*/ 736600 h 1625600"/>
              <a:gd name="connsiteX17" fmla="*/ 107950 w 196850"/>
              <a:gd name="connsiteY17" fmla="*/ 768350 h 1625600"/>
              <a:gd name="connsiteX18" fmla="*/ 95250 w 196850"/>
              <a:gd name="connsiteY18" fmla="*/ 787400 h 1625600"/>
              <a:gd name="connsiteX19" fmla="*/ 88900 w 196850"/>
              <a:gd name="connsiteY19" fmla="*/ 806450 h 1625600"/>
              <a:gd name="connsiteX20" fmla="*/ 69850 w 196850"/>
              <a:gd name="connsiteY20" fmla="*/ 819150 h 1625600"/>
              <a:gd name="connsiteX21" fmla="*/ 44450 w 196850"/>
              <a:gd name="connsiteY21" fmla="*/ 863600 h 1625600"/>
              <a:gd name="connsiteX22" fmla="*/ 31750 w 196850"/>
              <a:gd name="connsiteY22" fmla="*/ 882650 h 1625600"/>
              <a:gd name="connsiteX23" fmla="*/ 19050 w 196850"/>
              <a:gd name="connsiteY23" fmla="*/ 927100 h 1625600"/>
              <a:gd name="connsiteX24" fmla="*/ 31750 w 196850"/>
              <a:gd name="connsiteY24" fmla="*/ 1060450 h 1625600"/>
              <a:gd name="connsiteX25" fmla="*/ 63500 w 196850"/>
              <a:gd name="connsiteY25" fmla="*/ 1092200 h 1625600"/>
              <a:gd name="connsiteX26" fmla="*/ 76200 w 196850"/>
              <a:gd name="connsiteY26" fmla="*/ 1111250 h 1625600"/>
              <a:gd name="connsiteX27" fmla="*/ 114300 w 196850"/>
              <a:gd name="connsiteY27" fmla="*/ 1136650 h 1625600"/>
              <a:gd name="connsiteX28" fmla="*/ 120650 w 196850"/>
              <a:gd name="connsiteY28" fmla="*/ 1155700 h 1625600"/>
              <a:gd name="connsiteX29" fmla="*/ 139700 w 196850"/>
              <a:gd name="connsiteY29" fmla="*/ 1168400 h 1625600"/>
              <a:gd name="connsiteX30" fmla="*/ 165100 w 196850"/>
              <a:gd name="connsiteY30" fmla="*/ 1187450 h 1625600"/>
              <a:gd name="connsiteX31" fmla="*/ 190500 w 196850"/>
              <a:gd name="connsiteY31" fmla="*/ 1225550 h 1625600"/>
              <a:gd name="connsiteX32" fmla="*/ 196850 w 196850"/>
              <a:gd name="connsiteY32" fmla="*/ 1250950 h 1625600"/>
              <a:gd name="connsiteX33" fmla="*/ 190500 w 196850"/>
              <a:gd name="connsiteY33" fmla="*/ 1339850 h 1625600"/>
              <a:gd name="connsiteX34" fmla="*/ 171450 w 196850"/>
              <a:gd name="connsiteY34" fmla="*/ 1403350 h 1625600"/>
              <a:gd name="connsiteX35" fmla="*/ 158750 w 196850"/>
              <a:gd name="connsiteY35" fmla="*/ 1422400 h 1625600"/>
              <a:gd name="connsiteX36" fmla="*/ 152400 w 196850"/>
              <a:gd name="connsiteY36" fmla="*/ 1441450 h 1625600"/>
              <a:gd name="connsiteX37" fmla="*/ 127000 w 196850"/>
              <a:gd name="connsiteY37" fmla="*/ 1498600 h 1625600"/>
              <a:gd name="connsiteX38" fmla="*/ 95250 w 196850"/>
              <a:gd name="connsiteY38" fmla="*/ 1555750 h 1625600"/>
              <a:gd name="connsiteX39" fmla="*/ 95250 w 196850"/>
              <a:gd name="connsiteY39" fmla="*/ 1625600 h 1625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196850" h="1625600">
                <a:moveTo>
                  <a:pt x="127000" y="0"/>
                </a:moveTo>
                <a:cubicBezTo>
                  <a:pt x="72901" y="32460"/>
                  <a:pt x="111869" y="2917"/>
                  <a:pt x="82550" y="38100"/>
                </a:cubicBezTo>
                <a:cubicBezTo>
                  <a:pt x="68308" y="55190"/>
                  <a:pt x="59809" y="55930"/>
                  <a:pt x="50800" y="76200"/>
                </a:cubicBezTo>
                <a:cubicBezTo>
                  <a:pt x="25936" y="132143"/>
                  <a:pt x="53821" y="98579"/>
                  <a:pt x="19050" y="133350"/>
                </a:cubicBezTo>
                <a:cubicBezTo>
                  <a:pt x="3590" y="179729"/>
                  <a:pt x="9597" y="158463"/>
                  <a:pt x="0" y="196850"/>
                </a:cubicBezTo>
                <a:cubicBezTo>
                  <a:pt x="14593" y="299002"/>
                  <a:pt x="3234" y="257352"/>
                  <a:pt x="25400" y="323850"/>
                </a:cubicBezTo>
                <a:cubicBezTo>
                  <a:pt x="30227" y="338330"/>
                  <a:pt x="42333" y="349250"/>
                  <a:pt x="50800" y="361950"/>
                </a:cubicBezTo>
                <a:cubicBezTo>
                  <a:pt x="63500" y="381000"/>
                  <a:pt x="61383" y="383117"/>
                  <a:pt x="82550" y="393700"/>
                </a:cubicBezTo>
                <a:cubicBezTo>
                  <a:pt x="88537" y="396693"/>
                  <a:pt x="95250" y="397933"/>
                  <a:pt x="101600" y="400050"/>
                </a:cubicBezTo>
                <a:cubicBezTo>
                  <a:pt x="150493" y="448943"/>
                  <a:pt x="129737" y="423206"/>
                  <a:pt x="165100" y="476250"/>
                </a:cubicBezTo>
                <a:cubicBezTo>
                  <a:pt x="169333" y="482600"/>
                  <a:pt x="175387" y="488060"/>
                  <a:pt x="177800" y="495300"/>
                </a:cubicBezTo>
                <a:cubicBezTo>
                  <a:pt x="179917" y="501650"/>
                  <a:pt x="182698" y="507816"/>
                  <a:pt x="184150" y="514350"/>
                </a:cubicBezTo>
                <a:cubicBezTo>
                  <a:pt x="186943" y="526919"/>
                  <a:pt x="187975" y="539825"/>
                  <a:pt x="190500" y="552450"/>
                </a:cubicBezTo>
                <a:cubicBezTo>
                  <a:pt x="192212" y="561008"/>
                  <a:pt x="194733" y="569383"/>
                  <a:pt x="196850" y="577850"/>
                </a:cubicBezTo>
                <a:cubicBezTo>
                  <a:pt x="194733" y="605367"/>
                  <a:pt x="193923" y="633015"/>
                  <a:pt x="190500" y="660400"/>
                </a:cubicBezTo>
                <a:cubicBezTo>
                  <a:pt x="188219" y="678652"/>
                  <a:pt x="167578" y="708722"/>
                  <a:pt x="158750" y="717550"/>
                </a:cubicBezTo>
                <a:cubicBezTo>
                  <a:pt x="152400" y="723900"/>
                  <a:pt x="145449" y="729701"/>
                  <a:pt x="139700" y="736600"/>
                </a:cubicBezTo>
                <a:cubicBezTo>
                  <a:pt x="113242" y="768350"/>
                  <a:pt x="142875" y="745067"/>
                  <a:pt x="107950" y="768350"/>
                </a:cubicBezTo>
                <a:cubicBezTo>
                  <a:pt x="103717" y="774700"/>
                  <a:pt x="98663" y="780574"/>
                  <a:pt x="95250" y="787400"/>
                </a:cubicBezTo>
                <a:cubicBezTo>
                  <a:pt x="92257" y="793387"/>
                  <a:pt x="93081" y="801223"/>
                  <a:pt x="88900" y="806450"/>
                </a:cubicBezTo>
                <a:cubicBezTo>
                  <a:pt x="84132" y="812409"/>
                  <a:pt x="76200" y="814917"/>
                  <a:pt x="69850" y="819150"/>
                </a:cubicBezTo>
                <a:cubicBezTo>
                  <a:pt x="38908" y="865562"/>
                  <a:pt x="76676" y="807204"/>
                  <a:pt x="44450" y="863600"/>
                </a:cubicBezTo>
                <a:cubicBezTo>
                  <a:pt x="40664" y="870226"/>
                  <a:pt x="35163" y="875824"/>
                  <a:pt x="31750" y="882650"/>
                </a:cubicBezTo>
                <a:cubicBezTo>
                  <a:pt x="27195" y="891760"/>
                  <a:pt x="21085" y="918962"/>
                  <a:pt x="19050" y="927100"/>
                </a:cubicBezTo>
                <a:cubicBezTo>
                  <a:pt x="19267" y="930136"/>
                  <a:pt x="24826" y="1037369"/>
                  <a:pt x="31750" y="1060450"/>
                </a:cubicBezTo>
                <a:cubicBezTo>
                  <a:pt x="37042" y="1078089"/>
                  <a:pt x="49742" y="1083028"/>
                  <a:pt x="63500" y="1092200"/>
                </a:cubicBezTo>
                <a:cubicBezTo>
                  <a:pt x="67733" y="1098550"/>
                  <a:pt x="70457" y="1106224"/>
                  <a:pt x="76200" y="1111250"/>
                </a:cubicBezTo>
                <a:cubicBezTo>
                  <a:pt x="87687" y="1121301"/>
                  <a:pt x="114300" y="1136650"/>
                  <a:pt x="114300" y="1136650"/>
                </a:cubicBezTo>
                <a:cubicBezTo>
                  <a:pt x="116417" y="1143000"/>
                  <a:pt x="116469" y="1150473"/>
                  <a:pt x="120650" y="1155700"/>
                </a:cubicBezTo>
                <a:cubicBezTo>
                  <a:pt x="125418" y="1161659"/>
                  <a:pt x="133490" y="1163964"/>
                  <a:pt x="139700" y="1168400"/>
                </a:cubicBezTo>
                <a:cubicBezTo>
                  <a:pt x="148312" y="1174551"/>
                  <a:pt x="158069" y="1179540"/>
                  <a:pt x="165100" y="1187450"/>
                </a:cubicBezTo>
                <a:cubicBezTo>
                  <a:pt x="175241" y="1198858"/>
                  <a:pt x="190500" y="1225550"/>
                  <a:pt x="190500" y="1225550"/>
                </a:cubicBezTo>
                <a:cubicBezTo>
                  <a:pt x="192617" y="1234017"/>
                  <a:pt x="196850" y="1242223"/>
                  <a:pt x="196850" y="1250950"/>
                </a:cubicBezTo>
                <a:cubicBezTo>
                  <a:pt x="196850" y="1280659"/>
                  <a:pt x="193781" y="1310323"/>
                  <a:pt x="190500" y="1339850"/>
                </a:cubicBezTo>
                <a:cubicBezTo>
                  <a:pt x="188901" y="1354245"/>
                  <a:pt x="174642" y="1393773"/>
                  <a:pt x="171450" y="1403350"/>
                </a:cubicBezTo>
                <a:cubicBezTo>
                  <a:pt x="169037" y="1410590"/>
                  <a:pt x="162163" y="1415574"/>
                  <a:pt x="158750" y="1422400"/>
                </a:cubicBezTo>
                <a:cubicBezTo>
                  <a:pt x="155757" y="1428387"/>
                  <a:pt x="155393" y="1435463"/>
                  <a:pt x="152400" y="1441450"/>
                </a:cubicBezTo>
                <a:cubicBezTo>
                  <a:pt x="122211" y="1501827"/>
                  <a:pt x="159765" y="1400306"/>
                  <a:pt x="127000" y="1498600"/>
                </a:cubicBezTo>
                <a:cubicBezTo>
                  <a:pt x="119404" y="1521388"/>
                  <a:pt x="96991" y="1531377"/>
                  <a:pt x="95250" y="1555750"/>
                </a:cubicBezTo>
                <a:cubicBezTo>
                  <a:pt x="93591" y="1578974"/>
                  <a:pt x="95250" y="1602317"/>
                  <a:pt x="95250" y="1625600"/>
                </a:cubicBezTo>
              </a:path>
            </a:pathLst>
          </a:custGeom>
          <a:ln w="28575"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ln w="12700">
                <a:solidFill>
                  <a:schemeClr val="tx1"/>
                </a:solidFill>
              </a:ln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1501629" y="5396908"/>
            <a:ext cx="6140742" cy="1015663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algn="ctr"/>
            <a:r>
              <a:rPr lang="en-US" sz="2400" dirty="0" smtClean="0"/>
              <a:t>Threads in a grid are grouped into thread </a:t>
            </a:r>
            <a:r>
              <a:rPr lang="en-US" sz="2400" b="1" dirty="0" smtClean="0">
                <a:solidFill>
                  <a:schemeClr val="accent5"/>
                </a:solidFill>
              </a:rPr>
              <a:t>blocks</a:t>
            </a:r>
          </a:p>
          <a:p>
            <a:pPr algn="ctr"/>
            <a:r>
              <a:rPr lang="en-US" dirty="0" smtClean="0">
                <a:solidFill>
                  <a:schemeClr val="bg1">
                    <a:lumMod val="65000"/>
                  </a:schemeClr>
                </a:solidFill>
              </a:rPr>
              <a:t>(significance: threads in the same block can collaborate in ways that threads in different blocks cannot – discussed later)</a:t>
            </a:r>
            <a:endParaRPr lang="en-US" sz="2400" dirty="0" smtClean="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07273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/>
              <a:t>Launching a Grid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 smtClean="0"/>
              <a:t>Threads in the same grid execute the same function known as a </a:t>
            </a:r>
            <a:r>
              <a:rPr lang="en-US" b="1" dirty="0" smtClean="0">
                <a:solidFill>
                  <a:schemeClr val="accent5"/>
                </a:solidFill>
              </a:rPr>
              <a:t>kernel</a:t>
            </a:r>
          </a:p>
          <a:p>
            <a:endParaRPr lang="en-US" dirty="0" smtClean="0"/>
          </a:p>
          <a:p>
            <a:r>
              <a:rPr lang="en-US" dirty="0" smtClean="0"/>
              <a:t>A grid can be launched by calling a kernel and configuring it with appropriate grid and block sizes</a:t>
            </a:r>
          </a:p>
          <a:p>
            <a:pPr lvl="1"/>
            <a:endParaRPr lang="en-US" dirty="0" smtClean="0"/>
          </a:p>
          <a:p>
            <a:pPr lvl="1"/>
            <a:r>
              <a:rPr lang="en-US" dirty="0" smtClean="0"/>
              <a:t>Example: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1426130" y="2983461"/>
            <a:ext cx="7768205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 err="1">
                <a:solidFill>
                  <a:srgbClr val="00BF00"/>
                </a:solidFill>
                <a:latin typeface="Lucida Console" panose="020B0609040504020204" pitchFamily="49" charset="0"/>
              </a:rPr>
              <a:t>const</a:t>
            </a:r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400" dirty="0">
                <a:solidFill>
                  <a:srgbClr val="00BF00"/>
                </a:solidFill>
                <a:latin typeface="Lucida Console" panose="020B0609040504020204" pitchFamily="49" charset="0"/>
              </a:rPr>
              <a:t>unsigned</a:t>
            </a:r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400" dirty="0" err="1">
                <a:solidFill>
                  <a:srgbClr val="00BF00"/>
                </a:solidFill>
                <a:latin typeface="Lucida Console" panose="020B0609040504020204" pitchFamily="49" charset="0"/>
              </a:rPr>
              <a:t>int</a:t>
            </a:r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4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numThreadsPerBlock</a:t>
            </a:r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 = </a:t>
            </a:r>
            <a:r>
              <a:rPr lang="en-US" sz="1400" dirty="0">
                <a:solidFill>
                  <a:srgbClr val="BFBF00"/>
                </a:solidFill>
                <a:latin typeface="Lucida Console" panose="020B0609040504020204" pitchFamily="49" charset="0"/>
              </a:rPr>
              <a:t>512</a:t>
            </a:r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;</a:t>
            </a:r>
          </a:p>
          <a:p>
            <a:r>
              <a:rPr lang="en-US" sz="1400" dirty="0" err="1" smtClean="0">
                <a:solidFill>
                  <a:srgbClr val="00BF00"/>
                </a:solidFill>
                <a:latin typeface="Lucida Console" panose="020B0609040504020204" pitchFamily="49" charset="0"/>
              </a:rPr>
              <a:t>const</a:t>
            </a:r>
            <a:r>
              <a:rPr lang="en-US" sz="1400" dirty="0" smtClean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400" dirty="0">
                <a:solidFill>
                  <a:srgbClr val="00BF00"/>
                </a:solidFill>
                <a:latin typeface="Lucida Console" panose="020B0609040504020204" pitchFamily="49" charset="0"/>
              </a:rPr>
              <a:t>unsigned</a:t>
            </a:r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400" dirty="0" err="1">
                <a:solidFill>
                  <a:srgbClr val="00BF00"/>
                </a:solidFill>
                <a:latin typeface="Lucida Console" panose="020B0609040504020204" pitchFamily="49" charset="0"/>
              </a:rPr>
              <a:t>int</a:t>
            </a:r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4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numBlocks</a:t>
            </a:r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 = N/</a:t>
            </a:r>
            <a:r>
              <a:rPr lang="en-US" sz="14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numThreadsPerBlock</a:t>
            </a:r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;</a:t>
            </a:r>
          </a:p>
          <a:p>
            <a:r>
              <a:rPr lang="en-US" sz="1400" dirty="0" err="1" smtClean="0">
                <a:solidFill>
                  <a:prstClr val="black"/>
                </a:solidFill>
                <a:latin typeface="Lucida Console" panose="020B0609040504020204" pitchFamily="49" charset="0"/>
              </a:rPr>
              <a:t>vecadd_kernel</a:t>
            </a:r>
            <a:r>
              <a:rPr lang="en-US" sz="1400" dirty="0" smtClean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&lt;&lt;&lt; </a:t>
            </a:r>
            <a:r>
              <a:rPr lang="en-US" sz="14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numBlocks</a:t>
            </a:r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, </a:t>
            </a:r>
            <a:r>
              <a:rPr lang="en-US" sz="14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numThreadsPerBlock</a:t>
            </a:r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 &gt;&gt;&gt; (</a:t>
            </a:r>
            <a:r>
              <a:rPr lang="en-US" sz="14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x_d</a:t>
            </a:r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, </a:t>
            </a:r>
            <a:r>
              <a:rPr lang="en-US" sz="14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y_d</a:t>
            </a:r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, </a:t>
            </a:r>
            <a:r>
              <a:rPr lang="en-US" sz="14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z_d</a:t>
            </a:r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, N);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8633487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/>
              <a:t>Implementing a Kernel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 smtClean="0"/>
              <a:t>A kernel is similar to a C/C++ function</a:t>
            </a:r>
          </a:p>
          <a:p>
            <a:endParaRPr lang="en-US" dirty="0" smtClean="0"/>
          </a:p>
          <a:p>
            <a:r>
              <a:rPr lang="en-US" dirty="0" smtClean="0"/>
              <a:t>It is preceded by the keyword 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__global__</a:t>
            </a:r>
            <a:r>
              <a:rPr lang="en-US" dirty="0" smtClean="0"/>
              <a:t> to indicate that it is a GPU kernel</a:t>
            </a:r>
          </a:p>
          <a:p>
            <a:endParaRPr lang="en-US" dirty="0"/>
          </a:p>
          <a:p>
            <a:r>
              <a:rPr lang="en-US" dirty="0" smtClean="0"/>
              <a:t>It uses special keywords to distinguish different threads from each other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81484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/>
              <a:t>Grid Dimension</a:t>
            </a:r>
          </a:p>
        </p:txBody>
      </p:sp>
      <p:grpSp>
        <p:nvGrpSpPr>
          <p:cNvPr id="53" name="Group 52"/>
          <p:cNvGrpSpPr/>
          <p:nvPr/>
        </p:nvGrpSpPr>
        <p:grpSpPr>
          <a:xfrm>
            <a:off x="1919748" y="2814654"/>
            <a:ext cx="6789809" cy="1645920"/>
            <a:chOff x="1919748" y="3122014"/>
            <a:chExt cx="6789809" cy="1645920"/>
          </a:xfrm>
        </p:grpSpPr>
        <p:sp>
          <p:nvSpPr>
            <p:cNvPr id="11" name="Rectangle 10"/>
            <p:cNvSpPr/>
            <p:nvPr/>
          </p:nvSpPr>
          <p:spPr>
            <a:xfrm>
              <a:off x="1919748" y="3122014"/>
              <a:ext cx="1645920" cy="1645920"/>
            </a:xfrm>
            <a:prstGeom prst="rect">
              <a:avLst/>
            </a:prstGeom>
            <a:noFill/>
            <a:ln w="38100">
              <a:solidFill>
                <a:schemeClr val="accent5"/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Rectangle 32"/>
            <p:cNvSpPr/>
            <p:nvPr/>
          </p:nvSpPr>
          <p:spPr>
            <a:xfrm>
              <a:off x="3634378" y="3122014"/>
              <a:ext cx="1645920" cy="1645920"/>
            </a:xfrm>
            <a:prstGeom prst="rect">
              <a:avLst/>
            </a:prstGeom>
            <a:noFill/>
            <a:ln w="38100">
              <a:solidFill>
                <a:schemeClr val="accent5"/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Rectangle 33"/>
            <p:cNvSpPr/>
            <p:nvPr/>
          </p:nvSpPr>
          <p:spPr>
            <a:xfrm>
              <a:off x="5349008" y="3122014"/>
              <a:ext cx="1645920" cy="1645920"/>
            </a:xfrm>
            <a:prstGeom prst="rect">
              <a:avLst/>
            </a:prstGeom>
            <a:noFill/>
            <a:ln w="38100">
              <a:solidFill>
                <a:schemeClr val="accent5"/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Rectangle 34"/>
            <p:cNvSpPr/>
            <p:nvPr/>
          </p:nvSpPr>
          <p:spPr>
            <a:xfrm>
              <a:off x="7063637" y="3122014"/>
              <a:ext cx="1645920" cy="1645920"/>
            </a:xfrm>
            <a:prstGeom prst="rect">
              <a:avLst/>
            </a:prstGeom>
            <a:noFill/>
            <a:ln w="38100">
              <a:solidFill>
                <a:schemeClr val="accent5"/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 14"/>
            <p:cNvSpPr/>
            <p:nvPr/>
          </p:nvSpPr>
          <p:spPr>
            <a:xfrm>
              <a:off x="2038879" y="3200400"/>
              <a:ext cx="180446" cy="1490133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16" name="Freeform 15"/>
            <p:cNvSpPr/>
            <p:nvPr/>
          </p:nvSpPr>
          <p:spPr>
            <a:xfrm>
              <a:off x="2464964" y="3200400"/>
              <a:ext cx="180446" cy="1490133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17" name="Freeform 16"/>
            <p:cNvSpPr/>
            <p:nvPr/>
          </p:nvSpPr>
          <p:spPr>
            <a:xfrm>
              <a:off x="2891049" y="3200400"/>
              <a:ext cx="180446" cy="1490133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18" name="Freeform 17"/>
            <p:cNvSpPr/>
            <p:nvPr/>
          </p:nvSpPr>
          <p:spPr>
            <a:xfrm>
              <a:off x="3317134" y="3200400"/>
              <a:ext cx="180446" cy="1490133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21" name="Freeform 20"/>
            <p:cNvSpPr/>
            <p:nvPr/>
          </p:nvSpPr>
          <p:spPr>
            <a:xfrm>
              <a:off x="3743219" y="3200400"/>
              <a:ext cx="180446" cy="1490133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22" name="Freeform 21"/>
            <p:cNvSpPr/>
            <p:nvPr/>
          </p:nvSpPr>
          <p:spPr>
            <a:xfrm>
              <a:off x="4169304" y="3200400"/>
              <a:ext cx="180446" cy="1490133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23" name="Freeform 22"/>
            <p:cNvSpPr/>
            <p:nvPr/>
          </p:nvSpPr>
          <p:spPr>
            <a:xfrm>
              <a:off x="4595389" y="3200400"/>
              <a:ext cx="180446" cy="1490133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24" name="Freeform 23"/>
            <p:cNvSpPr/>
            <p:nvPr/>
          </p:nvSpPr>
          <p:spPr>
            <a:xfrm>
              <a:off x="5021474" y="3200400"/>
              <a:ext cx="180446" cy="1490133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25" name="Freeform 24"/>
            <p:cNvSpPr/>
            <p:nvPr/>
          </p:nvSpPr>
          <p:spPr>
            <a:xfrm>
              <a:off x="5447559" y="3200400"/>
              <a:ext cx="180446" cy="1490133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26" name="Freeform 25"/>
            <p:cNvSpPr/>
            <p:nvPr/>
          </p:nvSpPr>
          <p:spPr>
            <a:xfrm>
              <a:off x="5873644" y="3200400"/>
              <a:ext cx="180446" cy="1490133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27" name="Freeform 26"/>
            <p:cNvSpPr/>
            <p:nvPr/>
          </p:nvSpPr>
          <p:spPr>
            <a:xfrm>
              <a:off x="6299729" y="3200400"/>
              <a:ext cx="180446" cy="1490133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28" name="Freeform 27"/>
            <p:cNvSpPr/>
            <p:nvPr/>
          </p:nvSpPr>
          <p:spPr>
            <a:xfrm>
              <a:off x="6725814" y="3200400"/>
              <a:ext cx="180446" cy="1490133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29" name="Freeform 28"/>
            <p:cNvSpPr/>
            <p:nvPr/>
          </p:nvSpPr>
          <p:spPr>
            <a:xfrm>
              <a:off x="7151899" y="3200400"/>
              <a:ext cx="180446" cy="1490133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30" name="Freeform 29"/>
            <p:cNvSpPr/>
            <p:nvPr/>
          </p:nvSpPr>
          <p:spPr>
            <a:xfrm>
              <a:off x="7577984" y="3200400"/>
              <a:ext cx="180446" cy="1490133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31" name="Freeform 30"/>
            <p:cNvSpPr/>
            <p:nvPr/>
          </p:nvSpPr>
          <p:spPr>
            <a:xfrm>
              <a:off x="8004069" y="3200400"/>
              <a:ext cx="180446" cy="1490133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32" name="Freeform 31"/>
            <p:cNvSpPr/>
            <p:nvPr/>
          </p:nvSpPr>
          <p:spPr>
            <a:xfrm>
              <a:off x="8430154" y="3200400"/>
              <a:ext cx="180446" cy="1490133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</p:grpSp>
      <p:sp>
        <p:nvSpPr>
          <p:cNvPr id="4" name="TextBox 3"/>
          <p:cNvSpPr txBox="1"/>
          <p:nvPr/>
        </p:nvSpPr>
        <p:spPr>
          <a:xfrm>
            <a:off x="4271418" y="1337226"/>
            <a:ext cx="17120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err="1" smtClean="0">
                <a:solidFill>
                  <a:schemeClr val="accent5"/>
                </a:solidFill>
                <a:latin typeface="Courier New" pitchFamily="49" charset="0"/>
                <a:cs typeface="Courier New" pitchFamily="49" charset="0"/>
              </a:rPr>
              <a:t>gridDim.x</a:t>
            </a:r>
            <a:endParaRPr lang="en-US" b="1" dirty="0">
              <a:solidFill>
                <a:schemeClr val="accent5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955005" y="1584701"/>
            <a:ext cx="234472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smtClean="0">
                <a:solidFill>
                  <a:schemeClr val="bg1">
                    <a:lumMod val="50000"/>
                  </a:schemeClr>
                </a:solidFill>
              </a:rPr>
              <a:t># of blocks in grid</a:t>
            </a:r>
            <a:endParaRPr lang="en-US" sz="1600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38" name="Straight Arrow Connector 37"/>
          <p:cNvCxnSpPr/>
          <p:nvPr/>
        </p:nvCxnSpPr>
        <p:spPr>
          <a:xfrm>
            <a:off x="1919748" y="1970248"/>
            <a:ext cx="6789809" cy="0"/>
          </a:xfrm>
          <a:prstGeom prst="straightConnector1">
            <a:avLst/>
          </a:prstGeom>
          <a:ln>
            <a:solidFill>
              <a:schemeClr val="accent5"/>
            </a:solidFill>
            <a:headEnd type="arrow"/>
            <a:tailEnd type="arrow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401122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/>
              <a:t>Block Index</a:t>
            </a:r>
          </a:p>
        </p:txBody>
      </p:sp>
      <p:grpSp>
        <p:nvGrpSpPr>
          <p:cNvPr id="53" name="Group 52"/>
          <p:cNvGrpSpPr/>
          <p:nvPr/>
        </p:nvGrpSpPr>
        <p:grpSpPr>
          <a:xfrm>
            <a:off x="1919748" y="2806970"/>
            <a:ext cx="6789809" cy="1645920"/>
            <a:chOff x="1919748" y="3122014"/>
            <a:chExt cx="6789809" cy="1645920"/>
          </a:xfrm>
        </p:grpSpPr>
        <p:sp>
          <p:nvSpPr>
            <p:cNvPr id="11" name="Rectangle 10"/>
            <p:cNvSpPr/>
            <p:nvPr/>
          </p:nvSpPr>
          <p:spPr>
            <a:xfrm>
              <a:off x="1919748" y="3122014"/>
              <a:ext cx="1645920" cy="1645920"/>
            </a:xfrm>
            <a:prstGeom prst="rect">
              <a:avLst/>
            </a:prstGeom>
            <a:noFill/>
            <a:ln w="38100">
              <a:solidFill>
                <a:schemeClr val="accent5"/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Rectangle 32"/>
            <p:cNvSpPr/>
            <p:nvPr/>
          </p:nvSpPr>
          <p:spPr>
            <a:xfrm>
              <a:off x="3634378" y="3122014"/>
              <a:ext cx="1645920" cy="1645920"/>
            </a:xfrm>
            <a:prstGeom prst="rect">
              <a:avLst/>
            </a:prstGeom>
            <a:noFill/>
            <a:ln w="38100">
              <a:solidFill>
                <a:schemeClr val="accent5"/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Rectangle 33"/>
            <p:cNvSpPr/>
            <p:nvPr/>
          </p:nvSpPr>
          <p:spPr>
            <a:xfrm>
              <a:off x="5349008" y="3122014"/>
              <a:ext cx="1645920" cy="1645920"/>
            </a:xfrm>
            <a:prstGeom prst="rect">
              <a:avLst/>
            </a:prstGeom>
            <a:noFill/>
            <a:ln w="38100">
              <a:solidFill>
                <a:schemeClr val="accent6"/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Rectangle 34"/>
            <p:cNvSpPr/>
            <p:nvPr/>
          </p:nvSpPr>
          <p:spPr>
            <a:xfrm>
              <a:off x="7063637" y="3122014"/>
              <a:ext cx="1645920" cy="1645920"/>
            </a:xfrm>
            <a:prstGeom prst="rect">
              <a:avLst/>
            </a:prstGeom>
            <a:noFill/>
            <a:ln w="38100">
              <a:solidFill>
                <a:schemeClr val="accent5"/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 14"/>
            <p:cNvSpPr/>
            <p:nvPr/>
          </p:nvSpPr>
          <p:spPr>
            <a:xfrm>
              <a:off x="2038879" y="3200400"/>
              <a:ext cx="180446" cy="1490133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16" name="Freeform 15"/>
            <p:cNvSpPr/>
            <p:nvPr/>
          </p:nvSpPr>
          <p:spPr>
            <a:xfrm>
              <a:off x="2464964" y="3200400"/>
              <a:ext cx="180446" cy="1490133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17" name="Freeform 16"/>
            <p:cNvSpPr/>
            <p:nvPr/>
          </p:nvSpPr>
          <p:spPr>
            <a:xfrm>
              <a:off x="2891049" y="3200400"/>
              <a:ext cx="180446" cy="1490133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18" name="Freeform 17"/>
            <p:cNvSpPr/>
            <p:nvPr/>
          </p:nvSpPr>
          <p:spPr>
            <a:xfrm>
              <a:off x="3317134" y="3200400"/>
              <a:ext cx="180446" cy="1490133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21" name="Freeform 20"/>
            <p:cNvSpPr/>
            <p:nvPr/>
          </p:nvSpPr>
          <p:spPr>
            <a:xfrm>
              <a:off x="3743219" y="3200400"/>
              <a:ext cx="180446" cy="1490133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22" name="Freeform 21"/>
            <p:cNvSpPr/>
            <p:nvPr/>
          </p:nvSpPr>
          <p:spPr>
            <a:xfrm>
              <a:off x="4169304" y="3200400"/>
              <a:ext cx="180446" cy="1490133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23" name="Freeform 22"/>
            <p:cNvSpPr/>
            <p:nvPr/>
          </p:nvSpPr>
          <p:spPr>
            <a:xfrm>
              <a:off x="4595389" y="3200400"/>
              <a:ext cx="180446" cy="1490133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24" name="Freeform 23"/>
            <p:cNvSpPr/>
            <p:nvPr/>
          </p:nvSpPr>
          <p:spPr>
            <a:xfrm>
              <a:off x="5021474" y="3200400"/>
              <a:ext cx="180446" cy="1490133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25" name="Freeform 24"/>
            <p:cNvSpPr/>
            <p:nvPr/>
          </p:nvSpPr>
          <p:spPr>
            <a:xfrm>
              <a:off x="5447559" y="3200400"/>
              <a:ext cx="180446" cy="1490133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26" name="Freeform 25"/>
            <p:cNvSpPr/>
            <p:nvPr/>
          </p:nvSpPr>
          <p:spPr>
            <a:xfrm>
              <a:off x="5873644" y="3200400"/>
              <a:ext cx="180446" cy="1490133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27" name="Freeform 26"/>
            <p:cNvSpPr/>
            <p:nvPr/>
          </p:nvSpPr>
          <p:spPr>
            <a:xfrm>
              <a:off x="6299729" y="3200400"/>
              <a:ext cx="180446" cy="1490133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28" name="Freeform 27"/>
            <p:cNvSpPr/>
            <p:nvPr/>
          </p:nvSpPr>
          <p:spPr>
            <a:xfrm>
              <a:off x="6725814" y="3200400"/>
              <a:ext cx="180446" cy="1490133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29" name="Freeform 28"/>
            <p:cNvSpPr/>
            <p:nvPr/>
          </p:nvSpPr>
          <p:spPr>
            <a:xfrm>
              <a:off x="7151899" y="3200400"/>
              <a:ext cx="180446" cy="1490133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30" name="Freeform 29"/>
            <p:cNvSpPr/>
            <p:nvPr/>
          </p:nvSpPr>
          <p:spPr>
            <a:xfrm>
              <a:off x="7577984" y="3200400"/>
              <a:ext cx="180446" cy="1490133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31" name="Freeform 30"/>
            <p:cNvSpPr/>
            <p:nvPr/>
          </p:nvSpPr>
          <p:spPr>
            <a:xfrm>
              <a:off x="8004069" y="3200400"/>
              <a:ext cx="180446" cy="1490133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32" name="Freeform 31"/>
            <p:cNvSpPr/>
            <p:nvPr/>
          </p:nvSpPr>
          <p:spPr>
            <a:xfrm>
              <a:off x="8430154" y="3200400"/>
              <a:ext cx="180446" cy="1490133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</p:grpSp>
      <p:sp>
        <p:nvSpPr>
          <p:cNvPr id="4" name="TextBox 3"/>
          <p:cNvSpPr txBox="1"/>
          <p:nvPr/>
        </p:nvSpPr>
        <p:spPr>
          <a:xfrm>
            <a:off x="4271418" y="1329542"/>
            <a:ext cx="17120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err="1" smtClean="0">
                <a:solidFill>
                  <a:schemeClr val="accent5"/>
                </a:solidFill>
                <a:latin typeface="Courier New" pitchFamily="49" charset="0"/>
                <a:cs typeface="Courier New" pitchFamily="49" charset="0"/>
              </a:rPr>
              <a:t>gridDim.x</a:t>
            </a:r>
            <a:endParaRPr lang="en-US" b="1" dirty="0">
              <a:solidFill>
                <a:schemeClr val="accent5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2697326" y="2057939"/>
            <a:ext cx="17120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err="1" smtClean="0">
                <a:solidFill>
                  <a:schemeClr val="accent6"/>
                </a:solidFill>
                <a:latin typeface="Courier New" pitchFamily="49" charset="0"/>
                <a:cs typeface="Courier New" pitchFamily="49" charset="0"/>
              </a:rPr>
              <a:t>blockIdx.x</a:t>
            </a:r>
            <a:endParaRPr lang="en-US" b="1" dirty="0">
              <a:solidFill>
                <a:schemeClr val="accent6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955005" y="1577017"/>
            <a:ext cx="234472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smtClean="0">
                <a:solidFill>
                  <a:schemeClr val="bg1">
                    <a:lumMod val="50000"/>
                  </a:schemeClr>
                </a:solidFill>
              </a:rPr>
              <a:t># of blocks in grid</a:t>
            </a:r>
            <a:endParaRPr lang="en-US" sz="16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2192560" y="2305414"/>
            <a:ext cx="27462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smtClean="0">
                <a:solidFill>
                  <a:schemeClr val="bg1">
                    <a:lumMod val="50000"/>
                  </a:schemeClr>
                </a:solidFill>
              </a:rPr>
              <a:t>position of block in grid</a:t>
            </a:r>
            <a:endParaRPr lang="en-US" sz="1600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38" name="Straight Arrow Connector 37"/>
          <p:cNvCxnSpPr/>
          <p:nvPr/>
        </p:nvCxnSpPr>
        <p:spPr>
          <a:xfrm>
            <a:off x="1919748" y="1962564"/>
            <a:ext cx="6789809" cy="0"/>
          </a:xfrm>
          <a:prstGeom prst="straightConnector1">
            <a:avLst/>
          </a:prstGeom>
          <a:ln>
            <a:solidFill>
              <a:schemeClr val="accent5"/>
            </a:solidFill>
            <a:headEnd type="arrow"/>
            <a:tailEnd type="arrow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/>
          <p:nvPr/>
        </p:nvCxnSpPr>
        <p:spPr>
          <a:xfrm>
            <a:off x="1919748" y="2658851"/>
            <a:ext cx="3429260" cy="0"/>
          </a:xfrm>
          <a:prstGeom prst="straightConnector1">
            <a:avLst/>
          </a:prstGeom>
          <a:ln>
            <a:solidFill>
              <a:schemeClr val="accent6"/>
            </a:solidFill>
            <a:headEnd type="arrow"/>
            <a:tailEnd type="arrow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289049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/>
              <a:t>Block Dimension</a:t>
            </a:r>
          </a:p>
        </p:txBody>
      </p:sp>
      <p:grpSp>
        <p:nvGrpSpPr>
          <p:cNvPr id="53" name="Group 52"/>
          <p:cNvGrpSpPr/>
          <p:nvPr/>
        </p:nvGrpSpPr>
        <p:grpSpPr>
          <a:xfrm>
            <a:off x="1919748" y="2814654"/>
            <a:ext cx="6789809" cy="1645920"/>
            <a:chOff x="1919748" y="3122014"/>
            <a:chExt cx="6789809" cy="1645920"/>
          </a:xfrm>
        </p:grpSpPr>
        <p:sp>
          <p:nvSpPr>
            <p:cNvPr id="11" name="Rectangle 10"/>
            <p:cNvSpPr/>
            <p:nvPr/>
          </p:nvSpPr>
          <p:spPr>
            <a:xfrm>
              <a:off x="1919748" y="3122014"/>
              <a:ext cx="1645920" cy="1645920"/>
            </a:xfrm>
            <a:prstGeom prst="rect">
              <a:avLst/>
            </a:prstGeom>
            <a:noFill/>
            <a:ln w="38100">
              <a:solidFill>
                <a:schemeClr val="accent5"/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Rectangle 32"/>
            <p:cNvSpPr/>
            <p:nvPr/>
          </p:nvSpPr>
          <p:spPr>
            <a:xfrm>
              <a:off x="3634378" y="3122014"/>
              <a:ext cx="1645920" cy="1645920"/>
            </a:xfrm>
            <a:prstGeom prst="rect">
              <a:avLst/>
            </a:prstGeom>
            <a:noFill/>
            <a:ln w="38100">
              <a:solidFill>
                <a:schemeClr val="accent5"/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Rectangle 33"/>
            <p:cNvSpPr/>
            <p:nvPr/>
          </p:nvSpPr>
          <p:spPr>
            <a:xfrm>
              <a:off x="5349008" y="3122014"/>
              <a:ext cx="1645920" cy="1645920"/>
            </a:xfrm>
            <a:prstGeom prst="rect">
              <a:avLst/>
            </a:prstGeom>
            <a:noFill/>
            <a:ln w="38100">
              <a:solidFill>
                <a:schemeClr val="accent6"/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Rectangle 34"/>
            <p:cNvSpPr/>
            <p:nvPr/>
          </p:nvSpPr>
          <p:spPr>
            <a:xfrm>
              <a:off x="7063637" y="3122014"/>
              <a:ext cx="1645920" cy="1645920"/>
            </a:xfrm>
            <a:prstGeom prst="rect">
              <a:avLst/>
            </a:prstGeom>
            <a:noFill/>
            <a:ln w="38100">
              <a:solidFill>
                <a:schemeClr val="accent5"/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 14"/>
            <p:cNvSpPr/>
            <p:nvPr/>
          </p:nvSpPr>
          <p:spPr>
            <a:xfrm>
              <a:off x="2038879" y="3200400"/>
              <a:ext cx="180446" cy="1490133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16" name="Freeform 15"/>
            <p:cNvSpPr/>
            <p:nvPr/>
          </p:nvSpPr>
          <p:spPr>
            <a:xfrm>
              <a:off x="2464964" y="3200400"/>
              <a:ext cx="180446" cy="1490133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17" name="Freeform 16"/>
            <p:cNvSpPr/>
            <p:nvPr/>
          </p:nvSpPr>
          <p:spPr>
            <a:xfrm>
              <a:off x="2891049" y="3200400"/>
              <a:ext cx="180446" cy="1490133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18" name="Freeform 17"/>
            <p:cNvSpPr/>
            <p:nvPr/>
          </p:nvSpPr>
          <p:spPr>
            <a:xfrm>
              <a:off x="3317134" y="3200400"/>
              <a:ext cx="180446" cy="1490133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21" name="Freeform 20"/>
            <p:cNvSpPr/>
            <p:nvPr/>
          </p:nvSpPr>
          <p:spPr>
            <a:xfrm>
              <a:off x="3743219" y="3200400"/>
              <a:ext cx="180446" cy="1490133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22" name="Freeform 21"/>
            <p:cNvSpPr/>
            <p:nvPr/>
          </p:nvSpPr>
          <p:spPr>
            <a:xfrm>
              <a:off x="4169304" y="3200400"/>
              <a:ext cx="180446" cy="1490133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23" name="Freeform 22"/>
            <p:cNvSpPr/>
            <p:nvPr/>
          </p:nvSpPr>
          <p:spPr>
            <a:xfrm>
              <a:off x="4595389" y="3200400"/>
              <a:ext cx="180446" cy="1490133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24" name="Freeform 23"/>
            <p:cNvSpPr/>
            <p:nvPr/>
          </p:nvSpPr>
          <p:spPr>
            <a:xfrm>
              <a:off x="5021474" y="3200400"/>
              <a:ext cx="180446" cy="1490133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25" name="Freeform 24"/>
            <p:cNvSpPr/>
            <p:nvPr/>
          </p:nvSpPr>
          <p:spPr>
            <a:xfrm>
              <a:off x="5447559" y="3200400"/>
              <a:ext cx="180446" cy="1490133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solidFill>
                <a:schemeClr val="accent4">
                  <a:lumMod val="75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26" name="Freeform 25"/>
            <p:cNvSpPr/>
            <p:nvPr/>
          </p:nvSpPr>
          <p:spPr>
            <a:xfrm>
              <a:off x="5873644" y="3200400"/>
              <a:ext cx="180446" cy="1490133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solidFill>
                <a:schemeClr val="accent4">
                  <a:lumMod val="75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27" name="Freeform 26"/>
            <p:cNvSpPr/>
            <p:nvPr/>
          </p:nvSpPr>
          <p:spPr>
            <a:xfrm>
              <a:off x="6299729" y="3200400"/>
              <a:ext cx="180446" cy="1490133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solidFill>
                <a:schemeClr val="accent4">
                  <a:lumMod val="75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28" name="Freeform 27"/>
            <p:cNvSpPr/>
            <p:nvPr/>
          </p:nvSpPr>
          <p:spPr>
            <a:xfrm>
              <a:off x="6725814" y="3200400"/>
              <a:ext cx="180446" cy="1490133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solidFill>
                <a:schemeClr val="accent4">
                  <a:lumMod val="75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29" name="Freeform 28"/>
            <p:cNvSpPr/>
            <p:nvPr/>
          </p:nvSpPr>
          <p:spPr>
            <a:xfrm>
              <a:off x="7151899" y="3200400"/>
              <a:ext cx="180446" cy="1490133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30" name="Freeform 29"/>
            <p:cNvSpPr/>
            <p:nvPr/>
          </p:nvSpPr>
          <p:spPr>
            <a:xfrm>
              <a:off x="7577984" y="3200400"/>
              <a:ext cx="180446" cy="1490133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31" name="Freeform 30"/>
            <p:cNvSpPr/>
            <p:nvPr/>
          </p:nvSpPr>
          <p:spPr>
            <a:xfrm>
              <a:off x="8004069" y="3200400"/>
              <a:ext cx="180446" cy="1490133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32" name="Freeform 31"/>
            <p:cNvSpPr/>
            <p:nvPr/>
          </p:nvSpPr>
          <p:spPr>
            <a:xfrm>
              <a:off x="8430154" y="3200400"/>
              <a:ext cx="180446" cy="1490133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</p:grpSp>
      <p:sp>
        <p:nvSpPr>
          <p:cNvPr id="4" name="TextBox 3"/>
          <p:cNvSpPr txBox="1"/>
          <p:nvPr/>
        </p:nvSpPr>
        <p:spPr>
          <a:xfrm>
            <a:off x="4271418" y="1337226"/>
            <a:ext cx="17120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err="1" smtClean="0">
                <a:solidFill>
                  <a:schemeClr val="accent5"/>
                </a:solidFill>
                <a:latin typeface="Courier New" pitchFamily="49" charset="0"/>
                <a:cs typeface="Courier New" pitchFamily="49" charset="0"/>
              </a:rPr>
              <a:t>gridDim.x</a:t>
            </a:r>
            <a:endParaRPr lang="en-US" b="1" dirty="0">
              <a:solidFill>
                <a:schemeClr val="accent5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2697326" y="2065623"/>
            <a:ext cx="17120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err="1" smtClean="0">
                <a:solidFill>
                  <a:schemeClr val="accent6"/>
                </a:solidFill>
                <a:latin typeface="Courier New" pitchFamily="49" charset="0"/>
                <a:cs typeface="Courier New" pitchFamily="49" charset="0"/>
              </a:rPr>
              <a:t>blockIdx.x</a:t>
            </a:r>
            <a:endParaRPr lang="en-US" b="1" dirty="0">
              <a:solidFill>
                <a:schemeClr val="accent6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5331366" y="5440399"/>
            <a:ext cx="17120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err="1" smtClean="0">
                <a:solidFill>
                  <a:schemeClr val="accent4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blockDim.x</a:t>
            </a:r>
            <a:endParaRPr lang="en-US" b="1" dirty="0">
              <a:solidFill>
                <a:schemeClr val="accent4">
                  <a:lumMod val="75000"/>
                </a:schemeClr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955005" y="1584701"/>
            <a:ext cx="234472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smtClean="0">
                <a:solidFill>
                  <a:schemeClr val="bg1">
                    <a:lumMod val="50000"/>
                  </a:schemeClr>
                </a:solidFill>
              </a:rPr>
              <a:t># of blocks in grid</a:t>
            </a:r>
            <a:endParaRPr lang="en-US" sz="16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2192560" y="2313098"/>
            <a:ext cx="27462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smtClean="0">
                <a:solidFill>
                  <a:schemeClr val="bg1">
                    <a:lumMod val="50000"/>
                  </a:schemeClr>
                </a:solidFill>
              </a:rPr>
              <a:t>position of block in grid</a:t>
            </a:r>
            <a:endParaRPr lang="en-US" sz="16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5201920" y="5687874"/>
            <a:ext cx="202036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smtClean="0">
                <a:solidFill>
                  <a:schemeClr val="bg1">
                    <a:lumMod val="50000"/>
                  </a:schemeClr>
                </a:solidFill>
              </a:rPr>
              <a:t># threads in block</a:t>
            </a:r>
            <a:endParaRPr lang="en-US" sz="1600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38" name="Straight Arrow Connector 37"/>
          <p:cNvCxnSpPr/>
          <p:nvPr/>
        </p:nvCxnSpPr>
        <p:spPr>
          <a:xfrm>
            <a:off x="1919748" y="1970248"/>
            <a:ext cx="6789809" cy="0"/>
          </a:xfrm>
          <a:prstGeom prst="straightConnector1">
            <a:avLst/>
          </a:prstGeom>
          <a:ln>
            <a:solidFill>
              <a:schemeClr val="accent5"/>
            </a:solidFill>
            <a:headEnd type="arrow"/>
            <a:tailEnd type="arrow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/>
          <p:nvPr/>
        </p:nvCxnSpPr>
        <p:spPr>
          <a:xfrm>
            <a:off x="1919748" y="2666535"/>
            <a:ext cx="3429260" cy="0"/>
          </a:xfrm>
          <a:prstGeom prst="straightConnector1">
            <a:avLst/>
          </a:prstGeom>
          <a:ln>
            <a:solidFill>
              <a:schemeClr val="accent6"/>
            </a:solidFill>
            <a:headEnd type="arrow"/>
            <a:tailEnd type="arrow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/>
          <p:nvPr/>
        </p:nvCxnSpPr>
        <p:spPr>
          <a:xfrm>
            <a:off x="5364480" y="5409039"/>
            <a:ext cx="1645920" cy="0"/>
          </a:xfrm>
          <a:prstGeom prst="straightConnector1">
            <a:avLst/>
          </a:prstGeom>
          <a:ln>
            <a:solidFill>
              <a:schemeClr val="accent4">
                <a:lumMod val="75000"/>
              </a:schemeClr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44719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/>
              <a:t>Thread Index</a:t>
            </a:r>
          </a:p>
        </p:txBody>
      </p:sp>
      <p:grpSp>
        <p:nvGrpSpPr>
          <p:cNvPr id="53" name="Group 52"/>
          <p:cNvGrpSpPr/>
          <p:nvPr/>
        </p:nvGrpSpPr>
        <p:grpSpPr>
          <a:xfrm>
            <a:off x="1919748" y="2814654"/>
            <a:ext cx="6789809" cy="1645920"/>
            <a:chOff x="1919748" y="3122014"/>
            <a:chExt cx="6789809" cy="1645920"/>
          </a:xfrm>
        </p:grpSpPr>
        <p:sp>
          <p:nvSpPr>
            <p:cNvPr id="11" name="Rectangle 10"/>
            <p:cNvSpPr/>
            <p:nvPr/>
          </p:nvSpPr>
          <p:spPr>
            <a:xfrm>
              <a:off x="1919748" y="3122014"/>
              <a:ext cx="1645920" cy="1645920"/>
            </a:xfrm>
            <a:prstGeom prst="rect">
              <a:avLst/>
            </a:prstGeom>
            <a:noFill/>
            <a:ln w="38100">
              <a:solidFill>
                <a:schemeClr val="accent5"/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Rectangle 32"/>
            <p:cNvSpPr/>
            <p:nvPr/>
          </p:nvSpPr>
          <p:spPr>
            <a:xfrm>
              <a:off x="3634378" y="3122014"/>
              <a:ext cx="1645920" cy="1645920"/>
            </a:xfrm>
            <a:prstGeom prst="rect">
              <a:avLst/>
            </a:prstGeom>
            <a:noFill/>
            <a:ln w="38100">
              <a:solidFill>
                <a:schemeClr val="accent5"/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Rectangle 33"/>
            <p:cNvSpPr/>
            <p:nvPr/>
          </p:nvSpPr>
          <p:spPr>
            <a:xfrm>
              <a:off x="5349008" y="3122014"/>
              <a:ext cx="1645920" cy="1645920"/>
            </a:xfrm>
            <a:prstGeom prst="rect">
              <a:avLst/>
            </a:prstGeom>
            <a:noFill/>
            <a:ln w="38100">
              <a:solidFill>
                <a:schemeClr val="accent6"/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Rectangle 34"/>
            <p:cNvSpPr/>
            <p:nvPr/>
          </p:nvSpPr>
          <p:spPr>
            <a:xfrm>
              <a:off x="7063637" y="3122014"/>
              <a:ext cx="1645920" cy="1645920"/>
            </a:xfrm>
            <a:prstGeom prst="rect">
              <a:avLst/>
            </a:prstGeom>
            <a:noFill/>
            <a:ln w="38100">
              <a:solidFill>
                <a:schemeClr val="accent5"/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 14"/>
            <p:cNvSpPr/>
            <p:nvPr/>
          </p:nvSpPr>
          <p:spPr>
            <a:xfrm>
              <a:off x="2038879" y="3200400"/>
              <a:ext cx="180446" cy="1490133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16" name="Freeform 15"/>
            <p:cNvSpPr/>
            <p:nvPr/>
          </p:nvSpPr>
          <p:spPr>
            <a:xfrm>
              <a:off x="2464964" y="3200400"/>
              <a:ext cx="180446" cy="1490133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17" name="Freeform 16"/>
            <p:cNvSpPr/>
            <p:nvPr/>
          </p:nvSpPr>
          <p:spPr>
            <a:xfrm>
              <a:off x="2891049" y="3200400"/>
              <a:ext cx="180446" cy="1490133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18" name="Freeform 17"/>
            <p:cNvSpPr/>
            <p:nvPr/>
          </p:nvSpPr>
          <p:spPr>
            <a:xfrm>
              <a:off x="3317134" y="3200400"/>
              <a:ext cx="180446" cy="1490133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21" name="Freeform 20"/>
            <p:cNvSpPr/>
            <p:nvPr/>
          </p:nvSpPr>
          <p:spPr>
            <a:xfrm>
              <a:off x="3743219" y="3200400"/>
              <a:ext cx="180446" cy="1490133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22" name="Freeform 21"/>
            <p:cNvSpPr/>
            <p:nvPr/>
          </p:nvSpPr>
          <p:spPr>
            <a:xfrm>
              <a:off x="4169304" y="3200400"/>
              <a:ext cx="180446" cy="1490133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23" name="Freeform 22"/>
            <p:cNvSpPr/>
            <p:nvPr/>
          </p:nvSpPr>
          <p:spPr>
            <a:xfrm>
              <a:off x="4595389" y="3200400"/>
              <a:ext cx="180446" cy="1490133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24" name="Freeform 23"/>
            <p:cNvSpPr/>
            <p:nvPr/>
          </p:nvSpPr>
          <p:spPr>
            <a:xfrm>
              <a:off x="5021474" y="3200400"/>
              <a:ext cx="180446" cy="1490133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25" name="Freeform 24"/>
            <p:cNvSpPr/>
            <p:nvPr/>
          </p:nvSpPr>
          <p:spPr>
            <a:xfrm>
              <a:off x="5447559" y="3200400"/>
              <a:ext cx="180446" cy="1490133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solidFill>
                <a:schemeClr val="accent4">
                  <a:lumMod val="75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26" name="Freeform 25"/>
            <p:cNvSpPr/>
            <p:nvPr/>
          </p:nvSpPr>
          <p:spPr>
            <a:xfrm>
              <a:off x="5873644" y="3200400"/>
              <a:ext cx="180446" cy="1490133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solidFill>
                <a:schemeClr val="accent2"/>
              </a:solidFill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27" name="Freeform 26"/>
            <p:cNvSpPr/>
            <p:nvPr/>
          </p:nvSpPr>
          <p:spPr>
            <a:xfrm>
              <a:off x="6299729" y="3200400"/>
              <a:ext cx="180446" cy="1490133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solidFill>
                <a:schemeClr val="accent4">
                  <a:lumMod val="75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28" name="Freeform 27"/>
            <p:cNvSpPr/>
            <p:nvPr/>
          </p:nvSpPr>
          <p:spPr>
            <a:xfrm>
              <a:off x="6725814" y="3200400"/>
              <a:ext cx="180446" cy="1490133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solidFill>
                <a:schemeClr val="accent4">
                  <a:lumMod val="75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29" name="Freeform 28"/>
            <p:cNvSpPr/>
            <p:nvPr/>
          </p:nvSpPr>
          <p:spPr>
            <a:xfrm>
              <a:off x="7151899" y="3200400"/>
              <a:ext cx="180446" cy="1490133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30" name="Freeform 29"/>
            <p:cNvSpPr/>
            <p:nvPr/>
          </p:nvSpPr>
          <p:spPr>
            <a:xfrm>
              <a:off x="7577984" y="3200400"/>
              <a:ext cx="180446" cy="1490133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31" name="Freeform 30"/>
            <p:cNvSpPr/>
            <p:nvPr/>
          </p:nvSpPr>
          <p:spPr>
            <a:xfrm>
              <a:off x="8004069" y="3200400"/>
              <a:ext cx="180446" cy="1490133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32" name="Freeform 31"/>
            <p:cNvSpPr/>
            <p:nvPr/>
          </p:nvSpPr>
          <p:spPr>
            <a:xfrm>
              <a:off x="8430154" y="3200400"/>
              <a:ext cx="180446" cy="1490133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</p:grpSp>
      <p:sp>
        <p:nvSpPr>
          <p:cNvPr id="4" name="TextBox 3"/>
          <p:cNvSpPr txBox="1"/>
          <p:nvPr/>
        </p:nvSpPr>
        <p:spPr>
          <a:xfrm>
            <a:off x="4271418" y="1337226"/>
            <a:ext cx="17120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err="1" smtClean="0">
                <a:solidFill>
                  <a:schemeClr val="accent5"/>
                </a:solidFill>
                <a:latin typeface="Courier New" pitchFamily="49" charset="0"/>
                <a:cs typeface="Courier New" pitchFamily="49" charset="0"/>
              </a:rPr>
              <a:t>gridDim.x</a:t>
            </a:r>
            <a:endParaRPr lang="en-US" b="1" dirty="0">
              <a:solidFill>
                <a:schemeClr val="accent5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2697326" y="2065623"/>
            <a:ext cx="17120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err="1" smtClean="0">
                <a:solidFill>
                  <a:schemeClr val="accent6"/>
                </a:solidFill>
                <a:latin typeface="Courier New" pitchFamily="49" charset="0"/>
                <a:cs typeface="Courier New" pitchFamily="49" charset="0"/>
              </a:rPr>
              <a:t>blockIdx.x</a:t>
            </a:r>
            <a:endParaRPr lang="en-US" b="1" dirty="0">
              <a:solidFill>
                <a:schemeClr val="accent6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5331366" y="5440399"/>
            <a:ext cx="17120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err="1" smtClean="0">
                <a:solidFill>
                  <a:schemeClr val="accent4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blockDim.x</a:t>
            </a:r>
            <a:endParaRPr lang="en-US" b="1" dirty="0">
              <a:solidFill>
                <a:schemeClr val="accent4">
                  <a:lumMod val="75000"/>
                </a:schemeClr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4806050" y="4660222"/>
            <a:ext cx="1712014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 err="1" smtClean="0">
                <a:solidFill>
                  <a:schemeClr val="accent2"/>
                </a:solidFill>
                <a:latin typeface="Courier New" pitchFamily="49" charset="0"/>
                <a:cs typeface="Courier New" pitchFamily="49" charset="0"/>
              </a:rPr>
              <a:t>threadIdx.x</a:t>
            </a:r>
            <a:endParaRPr lang="en-US" b="1" dirty="0">
              <a:solidFill>
                <a:schemeClr val="accent2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955005" y="1584701"/>
            <a:ext cx="234472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smtClean="0">
                <a:solidFill>
                  <a:schemeClr val="bg1">
                    <a:lumMod val="50000"/>
                  </a:schemeClr>
                </a:solidFill>
              </a:rPr>
              <a:t># of blocks in grid</a:t>
            </a:r>
            <a:endParaRPr lang="en-US" sz="16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2192560" y="2313098"/>
            <a:ext cx="27462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smtClean="0">
                <a:solidFill>
                  <a:schemeClr val="bg1">
                    <a:lumMod val="50000"/>
                  </a:schemeClr>
                </a:solidFill>
              </a:rPr>
              <a:t>position of block in grid</a:t>
            </a:r>
            <a:endParaRPr lang="en-US" sz="16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5201920" y="5687874"/>
            <a:ext cx="202036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smtClean="0">
                <a:solidFill>
                  <a:schemeClr val="bg1">
                    <a:lumMod val="50000"/>
                  </a:schemeClr>
                </a:solidFill>
              </a:rPr>
              <a:t># threads in block</a:t>
            </a:r>
            <a:endParaRPr lang="en-US" sz="16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4326070" y="4907697"/>
            <a:ext cx="27462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smtClean="0">
                <a:solidFill>
                  <a:schemeClr val="bg1">
                    <a:lumMod val="50000"/>
                  </a:schemeClr>
                </a:solidFill>
              </a:rPr>
              <a:t>position of thread in block</a:t>
            </a:r>
            <a:endParaRPr lang="en-US" sz="1600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38" name="Straight Arrow Connector 37"/>
          <p:cNvCxnSpPr/>
          <p:nvPr/>
        </p:nvCxnSpPr>
        <p:spPr>
          <a:xfrm>
            <a:off x="1919748" y="1970248"/>
            <a:ext cx="6789809" cy="0"/>
          </a:xfrm>
          <a:prstGeom prst="straightConnector1">
            <a:avLst/>
          </a:prstGeom>
          <a:ln>
            <a:solidFill>
              <a:schemeClr val="accent5"/>
            </a:solidFill>
            <a:headEnd type="arrow"/>
            <a:tailEnd type="arrow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/>
          <p:nvPr/>
        </p:nvCxnSpPr>
        <p:spPr>
          <a:xfrm>
            <a:off x="1919748" y="2666535"/>
            <a:ext cx="3429260" cy="0"/>
          </a:xfrm>
          <a:prstGeom prst="straightConnector1">
            <a:avLst/>
          </a:prstGeom>
          <a:ln>
            <a:solidFill>
              <a:schemeClr val="accent6"/>
            </a:solidFill>
            <a:headEnd type="arrow"/>
            <a:tailEnd type="arrow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/>
          <p:nvPr/>
        </p:nvCxnSpPr>
        <p:spPr>
          <a:xfrm>
            <a:off x="5364480" y="5409039"/>
            <a:ext cx="1645920" cy="0"/>
          </a:xfrm>
          <a:prstGeom prst="straightConnector1">
            <a:avLst/>
          </a:prstGeom>
          <a:ln>
            <a:solidFill>
              <a:schemeClr val="accent4">
                <a:lumMod val="75000"/>
              </a:schemeClr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/>
          <p:cNvCxnSpPr/>
          <p:nvPr/>
        </p:nvCxnSpPr>
        <p:spPr>
          <a:xfrm>
            <a:off x="5364480" y="4628861"/>
            <a:ext cx="606108" cy="0"/>
          </a:xfrm>
          <a:prstGeom prst="straightConnector1">
            <a:avLst/>
          </a:prstGeom>
          <a:ln>
            <a:solidFill>
              <a:schemeClr val="accent2"/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678479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" name="Group 52"/>
          <p:cNvGrpSpPr/>
          <p:nvPr/>
        </p:nvGrpSpPr>
        <p:grpSpPr>
          <a:xfrm>
            <a:off x="1919748" y="2814654"/>
            <a:ext cx="6789809" cy="1645920"/>
            <a:chOff x="1919748" y="3122014"/>
            <a:chExt cx="6789809" cy="1645920"/>
          </a:xfrm>
        </p:grpSpPr>
        <p:sp>
          <p:nvSpPr>
            <p:cNvPr id="57" name="Rectangle 56"/>
            <p:cNvSpPr/>
            <p:nvPr/>
          </p:nvSpPr>
          <p:spPr>
            <a:xfrm>
              <a:off x="1919748" y="3122014"/>
              <a:ext cx="1645920" cy="1645920"/>
            </a:xfrm>
            <a:prstGeom prst="rect">
              <a:avLst/>
            </a:prstGeom>
            <a:noFill/>
            <a:ln w="38100">
              <a:solidFill>
                <a:schemeClr val="accent5"/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Rectangle 57"/>
            <p:cNvSpPr/>
            <p:nvPr/>
          </p:nvSpPr>
          <p:spPr>
            <a:xfrm>
              <a:off x="3634378" y="3122014"/>
              <a:ext cx="1645920" cy="1645920"/>
            </a:xfrm>
            <a:prstGeom prst="rect">
              <a:avLst/>
            </a:prstGeom>
            <a:noFill/>
            <a:ln w="38100">
              <a:solidFill>
                <a:schemeClr val="accent5"/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Rectangle 61"/>
            <p:cNvSpPr/>
            <p:nvPr/>
          </p:nvSpPr>
          <p:spPr>
            <a:xfrm>
              <a:off x="5349008" y="3122014"/>
              <a:ext cx="1645920" cy="1645920"/>
            </a:xfrm>
            <a:prstGeom prst="rect">
              <a:avLst/>
            </a:prstGeom>
            <a:noFill/>
            <a:ln w="38100">
              <a:solidFill>
                <a:schemeClr val="accent5"/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Rectangle 62"/>
            <p:cNvSpPr/>
            <p:nvPr/>
          </p:nvSpPr>
          <p:spPr>
            <a:xfrm>
              <a:off x="7063637" y="3122014"/>
              <a:ext cx="1645920" cy="1645920"/>
            </a:xfrm>
            <a:prstGeom prst="rect">
              <a:avLst/>
            </a:prstGeom>
            <a:noFill/>
            <a:ln w="38100">
              <a:solidFill>
                <a:schemeClr val="accent5"/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Freeform 63"/>
            <p:cNvSpPr/>
            <p:nvPr/>
          </p:nvSpPr>
          <p:spPr>
            <a:xfrm>
              <a:off x="2038879" y="3200400"/>
              <a:ext cx="180446" cy="1490133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65" name="Freeform 64"/>
            <p:cNvSpPr/>
            <p:nvPr/>
          </p:nvSpPr>
          <p:spPr>
            <a:xfrm>
              <a:off x="2464964" y="3200400"/>
              <a:ext cx="180446" cy="1490133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66" name="Freeform 65"/>
            <p:cNvSpPr/>
            <p:nvPr/>
          </p:nvSpPr>
          <p:spPr>
            <a:xfrm>
              <a:off x="2891049" y="3200400"/>
              <a:ext cx="180446" cy="1490133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67" name="Freeform 66"/>
            <p:cNvSpPr/>
            <p:nvPr/>
          </p:nvSpPr>
          <p:spPr>
            <a:xfrm>
              <a:off x="3317134" y="3200400"/>
              <a:ext cx="180446" cy="1490133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68" name="Freeform 67"/>
            <p:cNvSpPr/>
            <p:nvPr/>
          </p:nvSpPr>
          <p:spPr>
            <a:xfrm>
              <a:off x="3743219" y="3200400"/>
              <a:ext cx="180446" cy="1490133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69" name="Freeform 68"/>
            <p:cNvSpPr/>
            <p:nvPr/>
          </p:nvSpPr>
          <p:spPr>
            <a:xfrm>
              <a:off x="4169304" y="3200400"/>
              <a:ext cx="180446" cy="1490133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70" name="Freeform 69"/>
            <p:cNvSpPr/>
            <p:nvPr/>
          </p:nvSpPr>
          <p:spPr>
            <a:xfrm>
              <a:off x="4595389" y="3200400"/>
              <a:ext cx="180446" cy="1490133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71" name="Freeform 70"/>
            <p:cNvSpPr/>
            <p:nvPr/>
          </p:nvSpPr>
          <p:spPr>
            <a:xfrm>
              <a:off x="5021474" y="3200400"/>
              <a:ext cx="180446" cy="1490133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72" name="Freeform 71"/>
            <p:cNvSpPr/>
            <p:nvPr/>
          </p:nvSpPr>
          <p:spPr>
            <a:xfrm>
              <a:off x="5447559" y="3200400"/>
              <a:ext cx="180446" cy="1490133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73" name="Freeform 72"/>
            <p:cNvSpPr/>
            <p:nvPr/>
          </p:nvSpPr>
          <p:spPr>
            <a:xfrm>
              <a:off x="5873644" y="3200400"/>
              <a:ext cx="180446" cy="1490133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74" name="Freeform 73"/>
            <p:cNvSpPr/>
            <p:nvPr/>
          </p:nvSpPr>
          <p:spPr>
            <a:xfrm>
              <a:off x="6299729" y="3200400"/>
              <a:ext cx="180446" cy="1490133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75" name="Freeform 74"/>
            <p:cNvSpPr/>
            <p:nvPr/>
          </p:nvSpPr>
          <p:spPr>
            <a:xfrm>
              <a:off x="6725814" y="3200400"/>
              <a:ext cx="180446" cy="1490133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76" name="Freeform 75"/>
            <p:cNvSpPr/>
            <p:nvPr/>
          </p:nvSpPr>
          <p:spPr>
            <a:xfrm>
              <a:off x="7151899" y="3200400"/>
              <a:ext cx="180446" cy="1490133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77" name="Freeform 76"/>
            <p:cNvSpPr/>
            <p:nvPr/>
          </p:nvSpPr>
          <p:spPr>
            <a:xfrm>
              <a:off x="7577984" y="3200400"/>
              <a:ext cx="180446" cy="1490133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78" name="Freeform 77"/>
            <p:cNvSpPr/>
            <p:nvPr/>
          </p:nvSpPr>
          <p:spPr>
            <a:xfrm>
              <a:off x="8004069" y="3200400"/>
              <a:ext cx="180446" cy="1490133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79" name="Freeform 78"/>
            <p:cNvSpPr/>
            <p:nvPr/>
          </p:nvSpPr>
          <p:spPr>
            <a:xfrm>
              <a:off x="8430154" y="3200400"/>
              <a:ext cx="180446" cy="1490133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</p:grpSp>
      <p:grpSp>
        <p:nvGrpSpPr>
          <p:cNvPr id="55" name="Group 54"/>
          <p:cNvGrpSpPr/>
          <p:nvPr/>
        </p:nvGrpSpPr>
        <p:grpSpPr>
          <a:xfrm>
            <a:off x="1905000" y="1702415"/>
            <a:ext cx="6843252" cy="3262312"/>
            <a:chOff x="1905000" y="2009775"/>
            <a:chExt cx="6843252" cy="3262312"/>
          </a:xfrm>
        </p:grpSpPr>
        <p:cxnSp>
          <p:nvCxnSpPr>
            <p:cNvPr id="37" name="Straight Connector 36"/>
            <p:cNvCxnSpPr/>
            <p:nvPr/>
          </p:nvCxnSpPr>
          <p:spPr>
            <a:xfrm flipH="1">
              <a:off x="1905000" y="2009775"/>
              <a:ext cx="6533" cy="3262312"/>
            </a:xfrm>
            <a:prstGeom prst="line">
              <a:avLst/>
            </a:prstGeom>
            <a:ln>
              <a:prstDash val="sysDot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8" name="Straight Connector 37"/>
            <p:cNvCxnSpPr/>
            <p:nvPr/>
          </p:nvCxnSpPr>
          <p:spPr>
            <a:xfrm flipH="1">
              <a:off x="2332295" y="2009775"/>
              <a:ext cx="6533" cy="3262312"/>
            </a:xfrm>
            <a:prstGeom prst="line">
              <a:avLst/>
            </a:prstGeom>
            <a:ln>
              <a:prstDash val="sysDot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9" name="Straight Connector 38"/>
            <p:cNvCxnSpPr/>
            <p:nvPr/>
          </p:nvCxnSpPr>
          <p:spPr>
            <a:xfrm flipH="1">
              <a:off x="2759590" y="2009775"/>
              <a:ext cx="6533" cy="3262312"/>
            </a:xfrm>
            <a:prstGeom prst="line">
              <a:avLst/>
            </a:prstGeom>
            <a:ln>
              <a:prstDash val="sysDot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0" name="Straight Connector 39"/>
            <p:cNvCxnSpPr/>
            <p:nvPr/>
          </p:nvCxnSpPr>
          <p:spPr>
            <a:xfrm flipH="1">
              <a:off x="3186885" y="2009775"/>
              <a:ext cx="6533" cy="3262312"/>
            </a:xfrm>
            <a:prstGeom prst="line">
              <a:avLst/>
            </a:prstGeom>
            <a:ln>
              <a:prstDash val="sysDot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1" name="Straight Connector 40"/>
            <p:cNvCxnSpPr/>
            <p:nvPr/>
          </p:nvCxnSpPr>
          <p:spPr>
            <a:xfrm flipH="1">
              <a:off x="3614180" y="2009775"/>
              <a:ext cx="6533" cy="3262312"/>
            </a:xfrm>
            <a:prstGeom prst="line">
              <a:avLst/>
            </a:prstGeom>
            <a:ln>
              <a:prstDash val="sysDot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2" name="Straight Connector 41"/>
            <p:cNvCxnSpPr/>
            <p:nvPr/>
          </p:nvCxnSpPr>
          <p:spPr>
            <a:xfrm flipH="1">
              <a:off x="4041475" y="2009775"/>
              <a:ext cx="6533" cy="3262312"/>
            </a:xfrm>
            <a:prstGeom prst="line">
              <a:avLst/>
            </a:prstGeom>
            <a:ln>
              <a:prstDash val="sysDot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3" name="Straight Connector 42"/>
            <p:cNvCxnSpPr/>
            <p:nvPr/>
          </p:nvCxnSpPr>
          <p:spPr>
            <a:xfrm flipH="1">
              <a:off x="4468770" y="2009775"/>
              <a:ext cx="6533" cy="3262312"/>
            </a:xfrm>
            <a:prstGeom prst="line">
              <a:avLst/>
            </a:prstGeom>
            <a:ln>
              <a:prstDash val="sysDot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4" name="Straight Connector 43"/>
            <p:cNvCxnSpPr/>
            <p:nvPr/>
          </p:nvCxnSpPr>
          <p:spPr>
            <a:xfrm flipH="1">
              <a:off x="4896065" y="2009775"/>
              <a:ext cx="6533" cy="3262312"/>
            </a:xfrm>
            <a:prstGeom prst="line">
              <a:avLst/>
            </a:prstGeom>
            <a:ln>
              <a:prstDash val="sysDot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5" name="Straight Connector 44"/>
            <p:cNvCxnSpPr/>
            <p:nvPr/>
          </p:nvCxnSpPr>
          <p:spPr>
            <a:xfrm flipH="1">
              <a:off x="5323360" y="2009775"/>
              <a:ext cx="6533" cy="3262312"/>
            </a:xfrm>
            <a:prstGeom prst="line">
              <a:avLst/>
            </a:prstGeom>
            <a:ln>
              <a:prstDash val="sysDot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6" name="Straight Connector 45"/>
            <p:cNvCxnSpPr/>
            <p:nvPr/>
          </p:nvCxnSpPr>
          <p:spPr>
            <a:xfrm flipH="1">
              <a:off x="5750655" y="2009775"/>
              <a:ext cx="6533" cy="3262312"/>
            </a:xfrm>
            <a:prstGeom prst="line">
              <a:avLst/>
            </a:prstGeom>
            <a:ln>
              <a:prstDash val="sysDot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7" name="Straight Connector 46"/>
            <p:cNvCxnSpPr/>
            <p:nvPr/>
          </p:nvCxnSpPr>
          <p:spPr>
            <a:xfrm flipH="1">
              <a:off x="6177950" y="2009775"/>
              <a:ext cx="6533" cy="3262312"/>
            </a:xfrm>
            <a:prstGeom prst="line">
              <a:avLst/>
            </a:prstGeom>
            <a:ln>
              <a:prstDash val="sysDot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8" name="Straight Connector 47"/>
            <p:cNvCxnSpPr/>
            <p:nvPr/>
          </p:nvCxnSpPr>
          <p:spPr>
            <a:xfrm flipH="1">
              <a:off x="6605245" y="2009775"/>
              <a:ext cx="6533" cy="3262312"/>
            </a:xfrm>
            <a:prstGeom prst="line">
              <a:avLst/>
            </a:prstGeom>
            <a:ln>
              <a:prstDash val="sysDot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9" name="Straight Connector 48"/>
            <p:cNvCxnSpPr/>
            <p:nvPr/>
          </p:nvCxnSpPr>
          <p:spPr>
            <a:xfrm flipH="1">
              <a:off x="7032540" y="2009775"/>
              <a:ext cx="6533" cy="3262312"/>
            </a:xfrm>
            <a:prstGeom prst="line">
              <a:avLst/>
            </a:prstGeom>
            <a:ln>
              <a:prstDash val="sysDot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0" name="Straight Connector 49"/>
            <p:cNvCxnSpPr/>
            <p:nvPr/>
          </p:nvCxnSpPr>
          <p:spPr>
            <a:xfrm flipH="1">
              <a:off x="7459835" y="2009775"/>
              <a:ext cx="6533" cy="3262312"/>
            </a:xfrm>
            <a:prstGeom prst="line">
              <a:avLst/>
            </a:prstGeom>
            <a:ln>
              <a:prstDash val="sysDot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1" name="Straight Connector 50"/>
            <p:cNvCxnSpPr/>
            <p:nvPr/>
          </p:nvCxnSpPr>
          <p:spPr>
            <a:xfrm flipH="1">
              <a:off x="7887130" y="2009775"/>
              <a:ext cx="6533" cy="3262312"/>
            </a:xfrm>
            <a:prstGeom prst="line">
              <a:avLst/>
            </a:prstGeom>
            <a:ln>
              <a:prstDash val="sysDot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2" name="Straight Connector 51"/>
            <p:cNvCxnSpPr/>
            <p:nvPr/>
          </p:nvCxnSpPr>
          <p:spPr>
            <a:xfrm flipH="1">
              <a:off x="8741719" y="2009775"/>
              <a:ext cx="6533" cy="3262312"/>
            </a:xfrm>
            <a:prstGeom prst="line">
              <a:avLst/>
            </a:prstGeom>
            <a:ln>
              <a:prstDash val="sysDot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4" name="Straight Connector 53"/>
            <p:cNvCxnSpPr/>
            <p:nvPr/>
          </p:nvCxnSpPr>
          <p:spPr>
            <a:xfrm flipH="1">
              <a:off x="8314425" y="2009775"/>
              <a:ext cx="6533" cy="3262312"/>
            </a:xfrm>
            <a:prstGeom prst="line">
              <a:avLst/>
            </a:prstGeom>
            <a:ln>
              <a:prstDash val="sysDot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" name="Text Placeholder 3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/>
              <a:t>Parallel Vector Addition in CUDA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5360193"/>
              </p:ext>
            </p:extLst>
          </p:nvPr>
        </p:nvGraphicFramePr>
        <p:xfrm>
          <a:off x="1905000" y="1321415"/>
          <a:ext cx="6858000" cy="42862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28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8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8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86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286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286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286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286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2862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286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2862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2862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2862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428625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428625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428625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</a:tblGrid>
              <a:tr h="428625"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107159" marR="107159" marT="53574" marB="53574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107159" marR="107159" marT="53574" marB="53574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107159" marR="107159" marT="53574" marB="53574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107159" marR="107159" marT="53574" marB="53574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107159" marR="107159" marT="53574" marB="53574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107159" marR="107159" marT="53574" marB="53574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107159" marR="107159" marT="53574" marB="53574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107159" marR="107159" marT="53574" marB="53574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107159" marR="107159" marT="53574" marB="53574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107159" marR="107159" marT="53574" marB="53574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107159" marR="107159" marT="53574" marB="53574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107159" marR="107159" marT="53574" marB="53574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107159" marR="107159" marT="53574" marB="53574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107159" marR="107159" marT="53574" marB="53574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107159" marR="107159" marT="53574" marB="53574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107159" marR="107159" marT="53574" marB="53574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7079415"/>
              </p:ext>
            </p:extLst>
          </p:nvPr>
        </p:nvGraphicFramePr>
        <p:xfrm>
          <a:off x="1898467" y="2083415"/>
          <a:ext cx="6858000" cy="42862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28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8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8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86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286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286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286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286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2862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286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2862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2862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2862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428625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428625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428625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</a:tblGrid>
              <a:tr h="428625"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107159" marR="107159" marT="53574" marB="53574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107159" marR="107159" marT="53574" marB="53574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107159" marR="107159" marT="53574" marB="53574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107159" marR="107159" marT="53574" marB="53574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107159" marR="107159" marT="53574" marB="53574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107159" marR="107159" marT="53574" marB="53574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107159" marR="107159" marT="53574" marB="53574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107159" marR="107159" marT="53574" marB="53574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107159" marR="107159" marT="53574" marB="53574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107159" marR="107159" marT="53574" marB="53574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107159" marR="107159" marT="53574" marB="53574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107159" marR="107159" marT="53574" marB="53574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107159" marR="107159" marT="53574" marB="53574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107159" marR="107159" marT="53574" marB="53574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107159" marR="107159" marT="53574" marB="53574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107159" marR="107159" marT="53574" marB="53574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186805"/>
              </p:ext>
            </p:extLst>
          </p:nvPr>
        </p:nvGraphicFramePr>
        <p:xfrm>
          <a:off x="1898467" y="4750415"/>
          <a:ext cx="6858000" cy="42862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28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8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8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86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286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286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286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286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2862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286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2862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2862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2862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428625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428625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428625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</a:tblGrid>
              <a:tr h="428625"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107159" marR="107159" marT="53574" marB="53574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107159" marR="107159" marT="53574" marB="53574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107159" marR="107159" marT="53574" marB="53574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107159" marR="107159" marT="53574" marB="53574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107159" marR="107159" marT="53574" marB="53574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107159" marR="107159" marT="53574" marB="53574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107159" marR="107159" marT="53574" marB="53574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107159" marR="107159" marT="53574" marB="53574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107159" marR="107159" marT="53574" marB="53574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107159" marR="107159" marT="53574" marB="53574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107159" marR="107159" marT="53574" marB="53574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107159" marR="107159" marT="53574" marB="53574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107159" marR="107159" marT="53574" marB="53574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107159" marR="107159" marT="53574" marB="53574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107159" marR="107159" marT="53574" marB="53574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107159" marR="107159" marT="53574" marB="53574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9" name="TextBox 58"/>
          <p:cNvSpPr txBox="1"/>
          <p:nvPr/>
        </p:nvSpPr>
        <p:spPr>
          <a:xfrm>
            <a:off x="296041" y="1345796"/>
            <a:ext cx="16024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 smtClean="0"/>
              <a:t>Input Vector </a:t>
            </a:r>
            <a:r>
              <a:rPr lang="en-US" dirty="0" smtClean="0">
                <a:solidFill>
                  <a:prstClr val="black"/>
                </a:solidFill>
                <a:latin typeface="Lucida Console" panose="020B0609040504020204" pitchFamily="49" charset="0"/>
              </a:rPr>
              <a:t>x</a:t>
            </a:r>
            <a:r>
              <a:rPr lang="en-US" dirty="0" smtClean="0"/>
              <a:t>:</a:t>
            </a:r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296041" y="2113061"/>
            <a:ext cx="16024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 smtClean="0"/>
              <a:t>Input Vector </a:t>
            </a:r>
            <a:r>
              <a:rPr lang="en-US" dirty="0" smtClean="0">
                <a:solidFill>
                  <a:prstClr val="black"/>
                </a:solidFill>
                <a:latin typeface="Lucida Console" panose="020B0609040504020204" pitchFamily="49" charset="0"/>
              </a:rPr>
              <a:t>y</a:t>
            </a:r>
            <a:r>
              <a:rPr lang="en-US" dirty="0" smtClean="0"/>
              <a:t>:</a:t>
            </a:r>
            <a:endParaRPr lang="en-US" dirty="0"/>
          </a:p>
        </p:txBody>
      </p:sp>
      <p:sp>
        <p:nvSpPr>
          <p:cNvPr id="61" name="TextBox 60"/>
          <p:cNvSpPr txBox="1"/>
          <p:nvPr/>
        </p:nvSpPr>
        <p:spPr>
          <a:xfrm>
            <a:off x="124520" y="4780061"/>
            <a:ext cx="17739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 smtClean="0"/>
              <a:t>Output Vector </a:t>
            </a:r>
            <a:r>
              <a:rPr lang="en-US" dirty="0" smtClean="0">
                <a:solidFill>
                  <a:prstClr val="black"/>
                </a:solidFill>
                <a:latin typeface="Lucida Console" panose="020B0609040504020204" pitchFamily="49" charset="0"/>
              </a:rPr>
              <a:t>z</a:t>
            </a:r>
            <a:r>
              <a:rPr lang="en-US" dirty="0" smtClean="0"/>
              <a:t>:</a:t>
            </a:r>
            <a:endParaRPr lang="en-US" dirty="0"/>
          </a:p>
        </p:txBody>
      </p:sp>
      <p:sp>
        <p:nvSpPr>
          <p:cNvPr id="80" name="Rectangle 79"/>
          <p:cNvSpPr/>
          <p:nvPr/>
        </p:nvSpPr>
        <p:spPr>
          <a:xfrm>
            <a:off x="296040" y="5413714"/>
            <a:ext cx="8621457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BF00"/>
                </a:solidFill>
                <a:latin typeface="Lucida Console" panose="020B0609040504020204" pitchFamily="49" charset="0"/>
              </a:rPr>
              <a:t>__global__</a:t>
            </a:r>
            <a:r>
              <a:rPr lang="en-US" sz="16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600" dirty="0">
                <a:solidFill>
                  <a:srgbClr val="00BF00"/>
                </a:solidFill>
                <a:latin typeface="Lucida Console" panose="020B0609040504020204" pitchFamily="49" charset="0"/>
              </a:rPr>
              <a:t>void</a:t>
            </a:r>
            <a:r>
              <a:rPr lang="en-US" sz="16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vecadd_kernel</a:t>
            </a:r>
            <a:r>
              <a:rPr lang="en-US" sz="1600" dirty="0">
                <a:solidFill>
                  <a:prstClr val="black"/>
                </a:solidFill>
                <a:latin typeface="Lucida Console" panose="020B0609040504020204" pitchFamily="49" charset="0"/>
              </a:rPr>
              <a:t>(</a:t>
            </a:r>
            <a:r>
              <a:rPr lang="en-US" sz="1600" dirty="0">
                <a:solidFill>
                  <a:srgbClr val="00BF00"/>
                </a:solidFill>
                <a:latin typeface="Lucida Console" panose="020B0609040504020204" pitchFamily="49" charset="0"/>
              </a:rPr>
              <a:t>float</a:t>
            </a:r>
            <a:r>
              <a:rPr lang="en-US" sz="1600" dirty="0">
                <a:solidFill>
                  <a:prstClr val="black"/>
                </a:solidFill>
                <a:latin typeface="Lucida Console" panose="020B0609040504020204" pitchFamily="49" charset="0"/>
              </a:rPr>
              <a:t>* x, </a:t>
            </a:r>
            <a:r>
              <a:rPr lang="en-US" sz="1600" dirty="0">
                <a:solidFill>
                  <a:srgbClr val="00BF00"/>
                </a:solidFill>
                <a:latin typeface="Lucida Console" panose="020B0609040504020204" pitchFamily="49" charset="0"/>
              </a:rPr>
              <a:t>float</a:t>
            </a:r>
            <a:r>
              <a:rPr lang="en-US" sz="1600" dirty="0">
                <a:solidFill>
                  <a:prstClr val="black"/>
                </a:solidFill>
                <a:latin typeface="Lucida Console" panose="020B0609040504020204" pitchFamily="49" charset="0"/>
              </a:rPr>
              <a:t>* y, </a:t>
            </a:r>
            <a:r>
              <a:rPr lang="en-US" sz="1600" dirty="0">
                <a:solidFill>
                  <a:srgbClr val="00BF00"/>
                </a:solidFill>
                <a:latin typeface="Lucida Console" panose="020B0609040504020204" pitchFamily="49" charset="0"/>
              </a:rPr>
              <a:t>float</a:t>
            </a:r>
            <a:r>
              <a:rPr lang="en-US" sz="1600" dirty="0">
                <a:solidFill>
                  <a:prstClr val="black"/>
                </a:solidFill>
                <a:latin typeface="Lucida Console" panose="020B0609040504020204" pitchFamily="49" charset="0"/>
              </a:rPr>
              <a:t>* z, </a:t>
            </a:r>
            <a:r>
              <a:rPr lang="en-US" sz="1600" dirty="0" err="1">
                <a:solidFill>
                  <a:srgbClr val="00BF00"/>
                </a:solidFill>
                <a:latin typeface="Lucida Console" panose="020B0609040504020204" pitchFamily="49" charset="0"/>
              </a:rPr>
              <a:t>int</a:t>
            </a:r>
            <a:r>
              <a:rPr lang="en-US" sz="1600" dirty="0">
                <a:solidFill>
                  <a:prstClr val="black"/>
                </a:solidFill>
                <a:latin typeface="Lucida Console" panose="020B0609040504020204" pitchFamily="49" charset="0"/>
              </a:rPr>
              <a:t> N) {</a:t>
            </a:r>
          </a:p>
          <a:p>
            <a:r>
              <a:rPr lang="en-US" sz="1600" dirty="0">
                <a:solidFill>
                  <a:prstClr val="black"/>
                </a:solidFill>
                <a:latin typeface="Lucida Console" panose="020B0609040504020204" pitchFamily="49" charset="0"/>
              </a:rPr>
              <a:t>    </a:t>
            </a:r>
            <a:r>
              <a:rPr lang="en-US" sz="1600" dirty="0" err="1">
                <a:solidFill>
                  <a:srgbClr val="00BF00"/>
                </a:solidFill>
                <a:latin typeface="Lucida Console" panose="020B0609040504020204" pitchFamily="49" charset="0"/>
              </a:rPr>
              <a:t>int</a:t>
            </a:r>
            <a:r>
              <a:rPr lang="en-US" sz="16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600" dirty="0" err="1" smtClean="0">
                <a:solidFill>
                  <a:prstClr val="black"/>
                </a:solidFill>
                <a:latin typeface="Lucida Console" panose="020B0609040504020204" pitchFamily="49" charset="0"/>
              </a:rPr>
              <a:t>i</a:t>
            </a:r>
            <a:r>
              <a:rPr lang="en-US" sz="1600" dirty="0" smtClean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600" dirty="0">
                <a:solidFill>
                  <a:prstClr val="black"/>
                </a:solidFill>
                <a:latin typeface="Lucida Console" panose="020B0609040504020204" pitchFamily="49" charset="0"/>
              </a:rPr>
              <a:t>= </a:t>
            </a:r>
            <a:r>
              <a:rPr lang="en-US" sz="1600" dirty="0" err="1">
                <a:solidFill>
                  <a:srgbClr val="00BFBF"/>
                </a:solidFill>
                <a:latin typeface="Lucida Console" panose="020B0609040504020204" pitchFamily="49" charset="0"/>
              </a:rPr>
              <a:t>blockDim</a:t>
            </a:r>
            <a:r>
              <a:rPr lang="en-US" sz="16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.x</a:t>
            </a:r>
            <a:r>
              <a:rPr lang="en-US" sz="1600" dirty="0">
                <a:solidFill>
                  <a:prstClr val="black"/>
                </a:solidFill>
                <a:latin typeface="Lucida Console" panose="020B0609040504020204" pitchFamily="49" charset="0"/>
              </a:rPr>
              <a:t>*</a:t>
            </a:r>
            <a:r>
              <a:rPr lang="en-US" sz="1600" dirty="0" err="1">
                <a:solidFill>
                  <a:srgbClr val="00BFBF"/>
                </a:solidFill>
                <a:latin typeface="Lucida Console" panose="020B0609040504020204" pitchFamily="49" charset="0"/>
              </a:rPr>
              <a:t>blockIdx</a:t>
            </a:r>
            <a:r>
              <a:rPr lang="en-US" sz="16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.x</a:t>
            </a:r>
            <a:r>
              <a:rPr lang="en-US" sz="1600" dirty="0">
                <a:solidFill>
                  <a:prstClr val="black"/>
                </a:solidFill>
                <a:latin typeface="Lucida Console" panose="020B0609040504020204" pitchFamily="49" charset="0"/>
              </a:rPr>
              <a:t> + </a:t>
            </a:r>
            <a:r>
              <a:rPr lang="en-US" sz="1600" dirty="0" err="1">
                <a:solidFill>
                  <a:srgbClr val="00BFBF"/>
                </a:solidFill>
                <a:latin typeface="Lucida Console" panose="020B0609040504020204" pitchFamily="49" charset="0"/>
              </a:rPr>
              <a:t>threadIdx</a:t>
            </a:r>
            <a:r>
              <a:rPr lang="en-US" sz="16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.x</a:t>
            </a:r>
            <a:r>
              <a:rPr lang="en-US" sz="1600" dirty="0">
                <a:solidFill>
                  <a:prstClr val="black"/>
                </a:solidFill>
                <a:latin typeface="Lucida Console" panose="020B0609040504020204" pitchFamily="49" charset="0"/>
              </a:rPr>
              <a:t>;</a:t>
            </a:r>
          </a:p>
          <a:p>
            <a:r>
              <a:rPr lang="en-US" sz="1600" dirty="0" smtClean="0">
                <a:solidFill>
                  <a:prstClr val="black"/>
                </a:solidFill>
                <a:latin typeface="Lucida Console" panose="020B0609040504020204" pitchFamily="49" charset="0"/>
              </a:rPr>
              <a:t>    z[</a:t>
            </a:r>
            <a:r>
              <a:rPr lang="en-US" sz="1600" dirty="0" err="1" smtClean="0">
                <a:solidFill>
                  <a:prstClr val="black"/>
                </a:solidFill>
                <a:latin typeface="Lucida Console" panose="020B0609040504020204" pitchFamily="49" charset="0"/>
              </a:rPr>
              <a:t>i</a:t>
            </a:r>
            <a:r>
              <a:rPr lang="en-US" sz="1600" dirty="0" smtClean="0">
                <a:solidFill>
                  <a:prstClr val="black"/>
                </a:solidFill>
                <a:latin typeface="Lucida Console" panose="020B0609040504020204" pitchFamily="49" charset="0"/>
              </a:rPr>
              <a:t>] </a:t>
            </a:r>
            <a:r>
              <a:rPr lang="en-US" sz="1600" dirty="0">
                <a:solidFill>
                  <a:prstClr val="black"/>
                </a:solidFill>
                <a:latin typeface="Lucida Console" panose="020B0609040504020204" pitchFamily="49" charset="0"/>
              </a:rPr>
              <a:t>= </a:t>
            </a:r>
            <a:r>
              <a:rPr lang="en-US" sz="1600" dirty="0" smtClean="0">
                <a:solidFill>
                  <a:prstClr val="black"/>
                </a:solidFill>
                <a:latin typeface="Lucida Console" panose="020B0609040504020204" pitchFamily="49" charset="0"/>
              </a:rPr>
              <a:t>x[</a:t>
            </a:r>
            <a:r>
              <a:rPr lang="en-US" sz="1600" dirty="0" err="1" smtClean="0">
                <a:solidFill>
                  <a:prstClr val="black"/>
                </a:solidFill>
                <a:latin typeface="Lucida Console" panose="020B0609040504020204" pitchFamily="49" charset="0"/>
              </a:rPr>
              <a:t>i</a:t>
            </a:r>
            <a:r>
              <a:rPr lang="en-US" sz="1600" dirty="0" smtClean="0">
                <a:solidFill>
                  <a:prstClr val="black"/>
                </a:solidFill>
                <a:latin typeface="Lucida Console" panose="020B0609040504020204" pitchFamily="49" charset="0"/>
              </a:rPr>
              <a:t>] </a:t>
            </a:r>
            <a:r>
              <a:rPr lang="en-US" sz="1600" dirty="0">
                <a:solidFill>
                  <a:prstClr val="black"/>
                </a:solidFill>
                <a:latin typeface="Lucida Console" panose="020B0609040504020204" pitchFamily="49" charset="0"/>
              </a:rPr>
              <a:t>+ </a:t>
            </a:r>
            <a:r>
              <a:rPr lang="en-US" sz="1600" dirty="0" smtClean="0">
                <a:solidFill>
                  <a:prstClr val="black"/>
                </a:solidFill>
                <a:latin typeface="Lucida Console" panose="020B0609040504020204" pitchFamily="49" charset="0"/>
              </a:rPr>
              <a:t>y[</a:t>
            </a:r>
            <a:r>
              <a:rPr lang="en-US" sz="1600" dirty="0" err="1" smtClean="0">
                <a:solidFill>
                  <a:prstClr val="black"/>
                </a:solidFill>
                <a:latin typeface="Lucida Console" panose="020B0609040504020204" pitchFamily="49" charset="0"/>
              </a:rPr>
              <a:t>i</a:t>
            </a:r>
            <a:r>
              <a:rPr lang="en-US" sz="1600" dirty="0" smtClean="0">
                <a:solidFill>
                  <a:prstClr val="black"/>
                </a:solidFill>
                <a:latin typeface="Lucida Console" panose="020B0609040504020204" pitchFamily="49" charset="0"/>
              </a:rPr>
              <a:t>];</a:t>
            </a:r>
            <a:endParaRPr lang="en-US" sz="1600" dirty="0">
              <a:solidFill>
                <a:prstClr val="black"/>
              </a:solidFill>
              <a:latin typeface="Lucida Console" panose="020B0609040504020204" pitchFamily="49" charset="0"/>
            </a:endParaRPr>
          </a:p>
          <a:p>
            <a:r>
              <a:rPr lang="en-US" sz="1600" dirty="0" smtClean="0">
                <a:solidFill>
                  <a:prstClr val="black"/>
                </a:solidFill>
                <a:latin typeface="Lucida Console" panose="020B0609040504020204" pitchFamily="49" charset="0"/>
              </a:rPr>
              <a:t>}</a:t>
            </a:r>
            <a:endParaRPr lang="en-US" sz="1600" dirty="0">
              <a:solidFill>
                <a:prstClr val="black"/>
              </a:solidFill>
              <a:latin typeface="Lucida Console" panose="020B0609040504020204" pitchFamily="49" charset="0"/>
            </a:endParaRPr>
          </a:p>
        </p:txBody>
      </p:sp>
      <p:sp>
        <p:nvSpPr>
          <p:cNvPr id="81" name="TextBox 80"/>
          <p:cNvSpPr txBox="1"/>
          <p:nvPr/>
        </p:nvSpPr>
        <p:spPr>
          <a:xfrm>
            <a:off x="6011642" y="6008682"/>
            <a:ext cx="3228234" cy="646331"/>
          </a:xfrm>
          <a:prstGeom prst="callout1">
            <a:avLst>
              <a:gd name="adj1" fmla="val 9665"/>
              <a:gd name="adj2" fmla="val 12456"/>
              <a:gd name="adj3" fmla="val -23784"/>
              <a:gd name="adj4" fmla="val 9482"/>
            </a:avLst>
          </a:prstGeom>
          <a:noFill/>
          <a:ln>
            <a:solidFill>
              <a:schemeClr val="accent3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solidFill>
                  <a:schemeClr val="accent3"/>
                </a:solidFill>
              </a:rPr>
              <a:t>Identify a thread’s global index and use it to index the arrays</a:t>
            </a:r>
            <a:endParaRPr lang="en-US" dirty="0">
              <a:solidFill>
                <a:schemeClr val="accent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41903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0" grpId="0"/>
      <p:bldP spid="81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/>
              <a:t>Boundary Conditions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Autofit/>
          </a:bodyPr>
          <a:lstStyle/>
          <a:p>
            <a:r>
              <a:rPr lang="en-US" dirty="0" smtClean="0"/>
              <a:t>Recall launch configurations: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If </a:t>
            </a:r>
            <a:r>
              <a:rPr lang="en-US" dirty="0" smtClean="0">
                <a:solidFill>
                  <a:prstClr val="black"/>
                </a:solidFill>
                <a:latin typeface="Lucida Console" panose="020B0609040504020204" pitchFamily="49" charset="0"/>
              </a:rPr>
              <a:t>N</a:t>
            </a:r>
            <a:r>
              <a:rPr lang="en-US" dirty="0" smtClean="0"/>
              <a:t> is not a multiple of </a:t>
            </a:r>
            <a:r>
              <a:rPr lang="en-US" dirty="0" err="1" smtClean="0">
                <a:solidFill>
                  <a:prstClr val="black"/>
                </a:solidFill>
                <a:latin typeface="Lucida Console" panose="020B0609040504020204" pitchFamily="49" charset="0"/>
              </a:rPr>
              <a:t>numThreadsPerBlock</a:t>
            </a:r>
            <a:r>
              <a:rPr lang="en-US" dirty="0"/>
              <a:t>, </a:t>
            </a:r>
            <a:r>
              <a:rPr lang="en-US" dirty="0" smtClean="0"/>
              <a:t>fewer threads will be launched than desired</a:t>
            </a:r>
          </a:p>
          <a:p>
            <a:endParaRPr lang="en-US" dirty="0"/>
          </a:p>
          <a:p>
            <a:r>
              <a:rPr lang="en-US" dirty="0" smtClean="0"/>
              <a:t>Solution: use the ceiling to launch extra threads then omit the threads after the boundary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857514" y="1335758"/>
            <a:ext cx="7768205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 err="1">
                <a:solidFill>
                  <a:srgbClr val="00BF00"/>
                </a:solidFill>
                <a:latin typeface="Lucida Console" panose="020B0609040504020204" pitchFamily="49" charset="0"/>
              </a:rPr>
              <a:t>const</a:t>
            </a:r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400" dirty="0">
                <a:solidFill>
                  <a:srgbClr val="00BF00"/>
                </a:solidFill>
                <a:latin typeface="Lucida Console" panose="020B0609040504020204" pitchFamily="49" charset="0"/>
              </a:rPr>
              <a:t>unsigned</a:t>
            </a:r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400" dirty="0" err="1">
                <a:solidFill>
                  <a:srgbClr val="00BF00"/>
                </a:solidFill>
                <a:latin typeface="Lucida Console" panose="020B0609040504020204" pitchFamily="49" charset="0"/>
              </a:rPr>
              <a:t>int</a:t>
            </a:r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4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numThreadsPerBlock</a:t>
            </a:r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 = </a:t>
            </a:r>
            <a:r>
              <a:rPr lang="en-US" sz="1400" dirty="0">
                <a:solidFill>
                  <a:srgbClr val="BFBF00"/>
                </a:solidFill>
                <a:latin typeface="Lucida Console" panose="020B0609040504020204" pitchFamily="49" charset="0"/>
              </a:rPr>
              <a:t>512</a:t>
            </a:r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;</a:t>
            </a:r>
          </a:p>
          <a:p>
            <a:r>
              <a:rPr lang="en-US" sz="1400" dirty="0" err="1" smtClean="0">
                <a:solidFill>
                  <a:srgbClr val="00BF00"/>
                </a:solidFill>
                <a:latin typeface="Lucida Console" panose="020B0609040504020204" pitchFamily="49" charset="0"/>
              </a:rPr>
              <a:t>const</a:t>
            </a:r>
            <a:r>
              <a:rPr lang="en-US" sz="1400" dirty="0" smtClean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400" dirty="0">
                <a:solidFill>
                  <a:srgbClr val="00BF00"/>
                </a:solidFill>
                <a:latin typeface="Lucida Console" panose="020B0609040504020204" pitchFamily="49" charset="0"/>
              </a:rPr>
              <a:t>unsigned</a:t>
            </a:r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400" dirty="0" err="1">
                <a:solidFill>
                  <a:srgbClr val="00BF00"/>
                </a:solidFill>
                <a:latin typeface="Lucida Console" panose="020B0609040504020204" pitchFamily="49" charset="0"/>
              </a:rPr>
              <a:t>int</a:t>
            </a:r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4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numBlocks</a:t>
            </a:r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 = N/</a:t>
            </a:r>
            <a:r>
              <a:rPr lang="en-US" sz="14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numThreadsPerBlock</a:t>
            </a:r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;</a:t>
            </a:r>
          </a:p>
          <a:p>
            <a:r>
              <a:rPr lang="en-US" sz="1400" dirty="0" err="1" smtClean="0">
                <a:solidFill>
                  <a:prstClr val="black"/>
                </a:solidFill>
                <a:latin typeface="Lucida Console" panose="020B0609040504020204" pitchFamily="49" charset="0"/>
              </a:rPr>
              <a:t>vecadd_kernel</a:t>
            </a:r>
            <a:r>
              <a:rPr lang="en-US" sz="1400" dirty="0" smtClean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&lt;&lt;&lt; </a:t>
            </a:r>
            <a:r>
              <a:rPr lang="en-US" sz="14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numBlocks</a:t>
            </a:r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, </a:t>
            </a:r>
            <a:r>
              <a:rPr lang="en-US" sz="14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numThreadsPerBlock</a:t>
            </a:r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 &gt;&gt;&gt; (</a:t>
            </a:r>
            <a:r>
              <a:rPr lang="en-US" sz="14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x_d</a:t>
            </a:r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, </a:t>
            </a:r>
            <a:r>
              <a:rPr lang="en-US" sz="14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y_d</a:t>
            </a:r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, </a:t>
            </a:r>
            <a:r>
              <a:rPr lang="en-US" sz="14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z_d</a:t>
            </a:r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, N);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4216593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" name="Group 52"/>
          <p:cNvGrpSpPr/>
          <p:nvPr/>
        </p:nvGrpSpPr>
        <p:grpSpPr>
          <a:xfrm>
            <a:off x="1919748" y="2814654"/>
            <a:ext cx="6789809" cy="1645920"/>
            <a:chOff x="1919748" y="3122014"/>
            <a:chExt cx="6789809" cy="1645920"/>
          </a:xfrm>
        </p:grpSpPr>
        <p:sp>
          <p:nvSpPr>
            <p:cNvPr id="57" name="Rectangle 56"/>
            <p:cNvSpPr/>
            <p:nvPr/>
          </p:nvSpPr>
          <p:spPr>
            <a:xfrm>
              <a:off x="1919748" y="3122014"/>
              <a:ext cx="1645920" cy="1645920"/>
            </a:xfrm>
            <a:prstGeom prst="rect">
              <a:avLst/>
            </a:prstGeom>
            <a:noFill/>
            <a:ln w="38100">
              <a:solidFill>
                <a:schemeClr val="accent5"/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Rectangle 57"/>
            <p:cNvSpPr/>
            <p:nvPr/>
          </p:nvSpPr>
          <p:spPr>
            <a:xfrm>
              <a:off x="3634378" y="3122014"/>
              <a:ext cx="1645920" cy="1645920"/>
            </a:xfrm>
            <a:prstGeom prst="rect">
              <a:avLst/>
            </a:prstGeom>
            <a:noFill/>
            <a:ln w="38100">
              <a:solidFill>
                <a:schemeClr val="accent5"/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Rectangle 61"/>
            <p:cNvSpPr/>
            <p:nvPr/>
          </p:nvSpPr>
          <p:spPr>
            <a:xfrm>
              <a:off x="5349008" y="3122014"/>
              <a:ext cx="1645920" cy="1645920"/>
            </a:xfrm>
            <a:prstGeom prst="rect">
              <a:avLst/>
            </a:prstGeom>
            <a:noFill/>
            <a:ln w="38100">
              <a:solidFill>
                <a:schemeClr val="accent5"/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Rectangle 62"/>
            <p:cNvSpPr/>
            <p:nvPr/>
          </p:nvSpPr>
          <p:spPr>
            <a:xfrm>
              <a:off x="7063637" y="3122014"/>
              <a:ext cx="1645920" cy="1645920"/>
            </a:xfrm>
            <a:prstGeom prst="rect">
              <a:avLst/>
            </a:prstGeom>
            <a:noFill/>
            <a:ln w="38100">
              <a:solidFill>
                <a:schemeClr val="accent5"/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Freeform 63"/>
            <p:cNvSpPr/>
            <p:nvPr/>
          </p:nvSpPr>
          <p:spPr>
            <a:xfrm>
              <a:off x="2038879" y="3200400"/>
              <a:ext cx="180446" cy="1490133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65" name="Freeform 64"/>
            <p:cNvSpPr/>
            <p:nvPr/>
          </p:nvSpPr>
          <p:spPr>
            <a:xfrm>
              <a:off x="2464964" y="3200400"/>
              <a:ext cx="180446" cy="1490133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66" name="Freeform 65"/>
            <p:cNvSpPr/>
            <p:nvPr/>
          </p:nvSpPr>
          <p:spPr>
            <a:xfrm>
              <a:off x="2891049" y="3200400"/>
              <a:ext cx="180446" cy="1490133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67" name="Freeform 66"/>
            <p:cNvSpPr/>
            <p:nvPr/>
          </p:nvSpPr>
          <p:spPr>
            <a:xfrm>
              <a:off x="3317134" y="3200400"/>
              <a:ext cx="180446" cy="1490133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68" name="Freeform 67"/>
            <p:cNvSpPr/>
            <p:nvPr/>
          </p:nvSpPr>
          <p:spPr>
            <a:xfrm>
              <a:off x="3743219" y="3200400"/>
              <a:ext cx="180446" cy="1490133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69" name="Freeform 68"/>
            <p:cNvSpPr/>
            <p:nvPr/>
          </p:nvSpPr>
          <p:spPr>
            <a:xfrm>
              <a:off x="4169304" y="3200400"/>
              <a:ext cx="180446" cy="1490133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70" name="Freeform 69"/>
            <p:cNvSpPr/>
            <p:nvPr/>
          </p:nvSpPr>
          <p:spPr>
            <a:xfrm>
              <a:off x="4595389" y="3200400"/>
              <a:ext cx="180446" cy="1490133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71" name="Freeform 70"/>
            <p:cNvSpPr/>
            <p:nvPr/>
          </p:nvSpPr>
          <p:spPr>
            <a:xfrm>
              <a:off x="5021474" y="3200400"/>
              <a:ext cx="180446" cy="1490133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72" name="Freeform 71"/>
            <p:cNvSpPr/>
            <p:nvPr/>
          </p:nvSpPr>
          <p:spPr>
            <a:xfrm>
              <a:off x="5447559" y="3200400"/>
              <a:ext cx="180446" cy="1490133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73" name="Freeform 72"/>
            <p:cNvSpPr/>
            <p:nvPr/>
          </p:nvSpPr>
          <p:spPr>
            <a:xfrm>
              <a:off x="5873644" y="3200400"/>
              <a:ext cx="180446" cy="1490133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74" name="Freeform 73"/>
            <p:cNvSpPr/>
            <p:nvPr/>
          </p:nvSpPr>
          <p:spPr>
            <a:xfrm>
              <a:off x="6299729" y="3200400"/>
              <a:ext cx="180446" cy="1490133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75" name="Freeform 74"/>
            <p:cNvSpPr/>
            <p:nvPr/>
          </p:nvSpPr>
          <p:spPr>
            <a:xfrm>
              <a:off x="6725814" y="3200400"/>
              <a:ext cx="180446" cy="1490133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76" name="Freeform 75"/>
            <p:cNvSpPr/>
            <p:nvPr/>
          </p:nvSpPr>
          <p:spPr>
            <a:xfrm>
              <a:off x="7151899" y="3200400"/>
              <a:ext cx="180446" cy="1490133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77" name="Freeform 76"/>
            <p:cNvSpPr/>
            <p:nvPr/>
          </p:nvSpPr>
          <p:spPr>
            <a:xfrm>
              <a:off x="7577984" y="3200400"/>
              <a:ext cx="180446" cy="1490133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78" name="Freeform 77"/>
            <p:cNvSpPr/>
            <p:nvPr/>
          </p:nvSpPr>
          <p:spPr>
            <a:xfrm>
              <a:off x="8004069" y="3200400"/>
              <a:ext cx="180446" cy="1490133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solidFill>
                <a:schemeClr val="accent3"/>
              </a:solidFill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  <a:solidFill>
                  <a:schemeClr val="accent3"/>
                </a:solidFill>
              </a:endParaRPr>
            </a:p>
          </p:txBody>
        </p:sp>
        <p:sp>
          <p:nvSpPr>
            <p:cNvPr id="79" name="Freeform 78"/>
            <p:cNvSpPr/>
            <p:nvPr/>
          </p:nvSpPr>
          <p:spPr>
            <a:xfrm>
              <a:off x="8430154" y="3200400"/>
              <a:ext cx="180446" cy="1490133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solidFill>
                <a:schemeClr val="accent3"/>
              </a:solidFill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  <a:solidFill>
                  <a:schemeClr val="accent3"/>
                </a:solidFill>
              </a:endParaRPr>
            </a:p>
          </p:txBody>
        </p:sp>
      </p:grpSp>
      <p:grpSp>
        <p:nvGrpSpPr>
          <p:cNvPr id="55" name="Group 54"/>
          <p:cNvGrpSpPr/>
          <p:nvPr/>
        </p:nvGrpSpPr>
        <p:grpSpPr>
          <a:xfrm>
            <a:off x="1905000" y="1702415"/>
            <a:ext cx="6843252" cy="3262312"/>
            <a:chOff x="1905000" y="2009775"/>
            <a:chExt cx="6843252" cy="3262312"/>
          </a:xfrm>
        </p:grpSpPr>
        <p:cxnSp>
          <p:nvCxnSpPr>
            <p:cNvPr id="37" name="Straight Connector 36"/>
            <p:cNvCxnSpPr/>
            <p:nvPr/>
          </p:nvCxnSpPr>
          <p:spPr>
            <a:xfrm flipH="1">
              <a:off x="1905000" y="2009775"/>
              <a:ext cx="6533" cy="3262312"/>
            </a:xfrm>
            <a:prstGeom prst="line">
              <a:avLst/>
            </a:prstGeom>
            <a:ln>
              <a:prstDash val="sysDot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8" name="Straight Connector 37"/>
            <p:cNvCxnSpPr/>
            <p:nvPr/>
          </p:nvCxnSpPr>
          <p:spPr>
            <a:xfrm flipH="1">
              <a:off x="2332295" y="2009775"/>
              <a:ext cx="6533" cy="3262312"/>
            </a:xfrm>
            <a:prstGeom prst="line">
              <a:avLst/>
            </a:prstGeom>
            <a:ln>
              <a:prstDash val="sysDot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9" name="Straight Connector 38"/>
            <p:cNvCxnSpPr/>
            <p:nvPr/>
          </p:nvCxnSpPr>
          <p:spPr>
            <a:xfrm flipH="1">
              <a:off x="2759590" y="2009775"/>
              <a:ext cx="6533" cy="3262312"/>
            </a:xfrm>
            <a:prstGeom prst="line">
              <a:avLst/>
            </a:prstGeom>
            <a:ln>
              <a:prstDash val="sysDot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0" name="Straight Connector 39"/>
            <p:cNvCxnSpPr/>
            <p:nvPr/>
          </p:nvCxnSpPr>
          <p:spPr>
            <a:xfrm flipH="1">
              <a:off x="3186885" y="2009775"/>
              <a:ext cx="6533" cy="3262312"/>
            </a:xfrm>
            <a:prstGeom prst="line">
              <a:avLst/>
            </a:prstGeom>
            <a:ln>
              <a:prstDash val="sysDot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1" name="Straight Connector 40"/>
            <p:cNvCxnSpPr/>
            <p:nvPr/>
          </p:nvCxnSpPr>
          <p:spPr>
            <a:xfrm flipH="1">
              <a:off x="3614180" y="2009775"/>
              <a:ext cx="6533" cy="3262312"/>
            </a:xfrm>
            <a:prstGeom prst="line">
              <a:avLst/>
            </a:prstGeom>
            <a:ln>
              <a:prstDash val="sysDot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2" name="Straight Connector 41"/>
            <p:cNvCxnSpPr/>
            <p:nvPr/>
          </p:nvCxnSpPr>
          <p:spPr>
            <a:xfrm flipH="1">
              <a:off x="4041475" y="2009775"/>
              <a:ext cx="6533" cy="3262312"/>
            </a:xfrm>
            <a:prstGeom prst="line">
              <a:avLst/>
            </a:prstGeom>
            <a:ln>
              <a:prstDash val="sysDot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3" name="Straight Connector 42"/>
            <p:cNvCxnSpPr/>
            <p:nvPr/>
          </p:nvCxnSpPr>
          <p:spPr>
            <a:xfrm flipH="1">
              <a:off x="4468770" y="2009775"/>
              <a:ext cx="6533" cy="3262312"/>
            </a:xfrm>
            <a:prstGeom prst="line">
              <a:avLst/>
            </a:prstGeom>
            <a:ln>
              <a:prstDash val="sysDot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4" name="Straight Connector 43"/>
            <p:cNvCxnSpPr/>
            <p:nvPr/>
          </p:nvCxnSpPr>
          <p:spPr>
            <a:xfrm flipH="1">
              <a:off x="4896065" y="2009775"/>
              <a:ext cx="6533" cy="3262312"/>
            </a:xfrm>
            <a:prstGeom prst="line">
              <a:avLst/>
            </a:prstGeom>
            <a:ln>
              <a:prstDash val="sysDot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5" name="Straight Connector 44"/>
            <p:cNvCxnSpPr/>
            <p:nvPr/>
          </p:nvCxnSpPr>
          <p:spPr>
            <a:xfrm flipH="1">
              <a:off x="5323360" y="2009775"/>
              <a:ext cx="6533" cy="3262312"/>
            </a:xfrm>
            <a:prstGeom prst="line">
              <a:avLst/>
            </a:prstGeom>
            <a:ln>
              <a:prstDash val="sysDot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6" name="Straight Connector 45"/>
            <p:cNvCxnSpPr/>
            <p:nvPr/>
          </p:nvCxnSpPr>
          <p:spPr>
            <a:xfrm flipH="1">
              <a:off x="5750655" y="2009775"/>
              <a:ext cx="6533" cy="3262312"/>
            </a:xfrm>
            <a:prstGeom prst="line">
              <a:avLst/>
            </a:prstGeom>
            <a:ln>
              <a:prstDash val="sysDot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7" name="Straight Connector 46"/>
            <p:cNvCxnSpPr/>
            <p:nvPr/>
          </p:nvCxnSpPr>
          <p:spPr>
            <a:xfrm flipH="1">
              <a:off x="6177950" y="2009775"/>
              <a:ext cx="6533" cy="3262312"/>
            </a:xfrm>
            <a:prstGeom prst="line">
              <a:avLst/>
            </a:prstGeom>
            <a:ln>
              <a:prstDash val="sysDot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8" name="Straight Connector 47"/>
            <p:cNvCxnSpPr/>
            <p:nvPr/>
          </p:nvCxnSpPr>
          <p:spPr>
            <a:xfrm flipH="1">
              <a:off x="6605245" y="2009775"/>
              <a:ext cx="6533" cy="3262312"/>
            </a:xfrm>
            <a:prstGeom prst="line">
              <a:avLst/>
            </a:prstGeom>
            <a:ln>
              <a:prstDash val="sysDot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9" name="Straight Connector 48"/>
            <p:cNvCxnSpPr/>
            <p:nvPr/>
          </p:nvCxnSpPr>
          <p:spPr>
            <a:xfrm flipH="1">
              <a:off x="7032540" y="2009775"/>
              <a:ext cx="6533" cy="3262312"/>
            </a:xfrm>
            <a:prstGeom prst="line">
              <a:avLst/>
            </a:prstGeom>
            <a:ln>
              <a:prstDash val="sysDot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0" name="Straight Connector 49"/>
            <p:cNvCxnSpPr/>
            <p:nvPr/>
          </p:nvCxnSpPr>
          <p:spPr>
            <a:xfrm flipH="1">
              <a:off x="7459835" y="2009775"/>
              <a:ext cx="6533" cy="3262312"/>
            </a:xfrm>
            <a:prstGeom prst="line">
              <a:avLst/>
            </a:prstGeom>
            <a:ln>
              <a:prstDash val="sysDot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1" name="Straight Connector 50"/>
            <p:cNvCxnSpPr/>
            <p:nvPr/>
          </p:nvCxnSpPr>
          <p:spPr>
            <a:xfrm flipH="1">
              <a:off x="7887130" y="2009775"/>
              <a:ext cx="6533" cy="3262312"/>
            </a:xfrm>
            <a:prstGeom prst="line">
              <a:avLst/>
            </a:prstGeom>
            <a:ln>
              <a:prstDash val="sysDot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2" name="Straight Connector 51"/>
            <p:cNvCxnSpPr/>
            <p:nvPr/>
          </p:nvCxnSpPr>
          <p:spPr>
            <a:xfrm flipH="1">
              <a:off x="8741719" y="2009775"/>
              <a:ext cx="6533" cy="3262312"/>
            </a:xfrm>
            <a:prstGeom prst="line">
              <a:avLst/>
            </a:prstGeom>
            <a:ln>
              <a:prstDash val="sysDot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4" name="Straight Connector 53"/>
            <p:cNvCxnSpPr/>
            <p:nvPr/>
          </p:nvCxnSpPr>
          <p:spPr>
            <a:xfrm flipH="1">
              <a:off x="8314425" y="2009775"/>
              <a:ext cx="6533" cy="3262312"/>
            </a:xfrm>
            <a:prstGeom prst="line">
              <a:avLst/>
            </a:prstGeom>
            <a:ln>
              <a:prstDash val="sysDot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" name="Text Placeholder 3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/>
              <a:t>Execution with Boundary Checks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4806449"/>
              </p:ext>
            </p:extLst>
          </p:nvPr>
        </p:nvGraphicFramePr>
        <p:xfrm>
          <a:off x="1905000" y="1321415"/>
          <a:ext cx="6000750" cy="42862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28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8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8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86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286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286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286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286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2862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286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2862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2862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2862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428625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</a:tblGrid>
              <a:tr h="428625"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107159" marR="107159" marT="53574" marB="53574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107159" marR="107159" marT="53574" marB="53574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107159" marR="107159" marT="53574" marB="53574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107159" marR="107159" marT="53574" marB="53574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107159" marR="107159" marT="53574" marB="53574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107159" marR="107159" marT="53574" marB="53574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107159" marR="107159" marT="53574" marB="53574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107159" marR="107159" marT="53574" marB="53574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107159" marR="107159" marT="53574" marB="53574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107159" marR="107159" marT="53574" marB="53574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107159" marR="107159" marT="53574" marB="53574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107159" marR="107159" marT="53574" marB="53574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107159" marR="107159" marT="53574" marB="53574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107159" marR="107159" marT="53574" marB="53574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6542380"/>
              </p:ext>
            </p:extLst>
          </p:nvPr>
        </p:nvGraphicFramePr>
        <p:xfrm>
          <a:off x="1898467" y="2083415"/>
          <a:ext cx="6000750" cy="42862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28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8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8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86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286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286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286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286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2862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286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2862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2862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2862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428625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</a:tblGrid>
              <a:tr h="428625"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107159" marR="107159" marT="53574" marB="53574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107159" marR="107159" marT="53574" marB="53574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107159" marR="107159" marT="53574" marB="53574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107159" marR="107159" marT="53574" marB="53574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107159" marR="107159" marT="53574" marB="53574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107159" marR="107159" marT="53574" marB="53574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107159" marR="107159" marT="53574" marB="53574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107159" marR="107159" marT="53574" marB="53574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107159" marR="107159" marT="53574" marB="53574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107159" marR="107159" marT="53574" marB="53574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107159" marR="107159" marT="53574" marB="53574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107159" marR="107159" marT="53574" marB="53574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107159" marR="107159" marT="53574" marB="53574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107159" marR="107159" marT="53574" marB="53574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2482616"/>
              </p:ext>
            </p:extLst>
          </p:nvPr>
        </p:nvGraphicFramePr>
        <p:xfrm>
          <a:off x="1898467" y="4750415"/>
          <a:ext cx="6000750" cy="42862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28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8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8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86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286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286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286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286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2862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286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2862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2862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2862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428625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</a:tblGrid>
              <a:tr h="428625"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107159" marR="107159" marT="53574" marB="53574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107159" marR="107159" marT="53574" marB="53574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107159" marR="107159" marT="53574" marB="53574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107159" marR="107159" marT="53574" marB="53574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107159" marR="107159" marT="53574" marB="53574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107159" marR="107159" marT="53574" marB="53574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107159" marR="107159" marT="53574" marB="53574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107159" marR="107159" marT="53574" marB="53574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107159" marR="107159" marT="53574" marB="53574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107159" marR="107159" marT="53574" marB="53574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107159" marR="107159" marT="53574" marB="53574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107159" marR="107159" marT="53574" marB="53574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107159" marR="107159" marT="53574" marB="53574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107159" marR="107159" marT="53574" marB="53574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9" name="TextBox 58"/>
          <p:cNvSpPr txBox="1"/>
          <p:nvPr/>
        </p:nvSpPr>
        <p:spPr>
          <a:xfrm>
            <a:off x="296041" y="1345796"/>
            <a:ext cx="16024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 smtClean="0"/>
              <a:t>Input Vector </a:t>
            </a:r>
            <a:r>
              <a:rPr lang="en-US" dirty="0" smtClean="0">
                <a:solidFill>
                  <a:prstClr val="black"/>
                </a:solidFill>
                <a:latin typeface="Lucida Console" panose="020B0609040504020204" pitchFamily="49" charset="0"/>
              </a:rPr>
              <a:t>x</a:t>
            </a:r>
            <a:r>
              <a:rPr lang="en-US" dirty="0" smtClean="0"/>
              <a:t>:</a:t>
            </a:r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296041" y="2113061"/>
            <a:ext cx="16024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 smtClean="0"/>
              <a:t>Input Vector </a:t>
            </a:r>
            <a:r>
              <a:rPr lang="en-US" dirty="0" smtClean="0">
                <a:solidFill>
                  <a:prstClr val="black"/>
                </a:solidFill>
                <a:latin typeface="Lucida Console" panose="020B0609040504020204" pitchFamily="49" charset="0"/>
              </a:rPr>
              <a:t>y</a:t>
            </a:r>
            <a:r>
              <a:rPr lang="en-US" dirty="0" smtClean="0"/>
              <a:t>:</a:t>
            </a:r>
            <a:endParaRPr lang="en-US" dirty="0"/>
          </a:p>
        </p:txBody>
      </p:sp>
      <p:sp>
        <p:nvSpPr>
          <p:cNvPr id="61" name="TextBox 60"/>
          <p:cNvSpPr txBox="1"/>
          <p:nvPr/>
        </p:nvSpPr>
        <p:spPr>
          <a:xfrm>
            <a:off x="124520" y="4780061"/>
            <a:ext cx="17739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 smtClean="0"/>
              <a:t>Output Vector </a:t>
            </a:r>
            <a:r>
              <a:rPr lang="en-US" dirty="0" smtClean="0">
                <a:solidFill>
                  <a:prstClr val="black"/>
                </a:solidFill>
                <a:latin typeface="Lucida Console" panose="020B0609040504020204" pitchFamily="49" charset="0"/>
              </a:rPr>
              <a:t>z</a:t>
            </a:r>
            <a:r>
              <a:rPr lang="en-US" dirty="0" smtClean="0"/>
              <a:t>: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23548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/>
              <a:t>Code with Boundary Checks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 smtClean="0"/>
              <a:t>Launch code:</a:t>
            </a:r>
          </a:p>
          <a:p>
            <a:endParaRPr lang="en-US" dirty="0"/>
          </a:p>
          <a:p>
            <a:endParaRPr lang="en-US" dirty="0" smtClean="0"/>
          </a:p>
          <a:p>
            <a:r>
              <a:rPr lang="en-US" dirty="0" smtClean="0"/>
              <a:t>Kernel code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1014137" y="1459255"/>
            <a:ext cx="7479892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 err="1" smtClean="0">
                <a:solidFill>
                  <a:srgbClr val="00BF00"/>
                </a:solidFill>
                <a:latin typeface="Lucida Console" panose="020B0609040504020204" pitchFamily="49" charset="0"/>
              </a:rPr>
              <a:t>const</a:t>
            </a:r>
            <a:r>
              <a:rPr lang="en-US" sz="1200" dirty="0" smtClean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200" dirty="0">
                <a:solidFill>
                  <a:srgbClr val="00BF00"/>
                </a:solidFill>
                <a:latin typeface="Lucida Console" panose="020B0609040504020204" pitchFamily="49" charset="0"/>
              </a:rPr>
              <a:t>unsigned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200" dirty="0" err="1">
                <a:solidFill>
                  <a:srgbClr val="00BF00"/>
                </a:solidFill>
                <a:latin typeface="Lucida Console" panose="020B0609040504020204" pitchFamily="49" charset="0"/>
              </a:rPr>
              <a:t>int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2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numBlocks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= </a:t>
            </a:r>
            <a:r>
              <a:rPr lang="en-US" sz="1200" dirty="0" smtClean="0">
                <a:solidFill>
                  <a:prstClr val="black"/>
                </a:solidFill>
                <a:latin typeface="Lucida Console" panose="020B0609040504020204" pitchFamily="49" charset="0"/>
              </a:rPr>
              <a:t>(N + </a:t>
            </a:r>
            <a:r>
              <a:rPr lang="en-US" sz="1200" dirty="0" err="1" smtClean="0">
                <a:solidFill>
                  <a:prstClr val="black"/>
                </a:solidFill>
                <a:latin typeface="Lucida Console" panose="020B0609040504020204" pitchFamily="49" charset="0"/>
              </a:rPr>
              <a:t>numThreadsPerBlock</a:t>
            </a:r>
            <a:r>
              <a:rPr lang="en-US" sz="1200" dirty="0" smtClean="0">
                <a:solidFill>
                  <a:prstClr val="black"/>
                </a:solidFill>
                <a:latin typeface="Lucida Console" panose="020B0609040504020204" pitchFamily="49" charset="0"/>
              </a:rPr>
              <a:t> – 1)/</a:t>
            </a:r>
            <a:r>
              <a:rPr lang="en-US" sz="1200" dirty="0" err="1" smtClean="0">
                <a:solidFill>
                  <a:prstClr val="black"/>
                </a:solidFill>
                <a:latin typeface="Lucida Console" panose="020B0609040504020204" pitchFamily="49" charset="0"/>
              </a:rPr>
              <a:t>numThreadsPerBlock</a:t>
            </a:r>
            <a:r>
              <a:rPr lang="en-US" sz="1200" dirty="0" smtClean="0">
                <a:solidFill>
                  <a:prstClr val="black"/>
                </a:solidFill>
                <a:latin typeface="Lucida Console" panose="020B0609040504020204" pitchFamily="49" charset="0"/>
              </a:rPr>
              <a:t>;</a:t>
            </a:r>
            <a:endParaRPr lang="en-US" sz="1200" dirty="0">
              <a:solidFill>
                <a:prstClr val="black"/>
              </a:solidFill>
              <a:latin typeface="Lucida Console" panose="020B0609040504020204" pitchFamily="49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014138" y="2639851"/>
            <a:ext cx="7479892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00BF00"/>
                </a:solidFill>
                <a:latin typeface="Lucida Console" panose="020B0609040504020204" pitchFamily="49" charset="0"/>
              </a:rPr>
              <a:t>__global__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200" dirty="0">
                <a:solidFill>
                  <a:srgbClr val="00BF00"/>
                </a:solidFill>
                <a:latin typeface="Lucida Console" panose="020B0609040504020204" pitchFamily="49" charset="0"/>
              </a:rPr>
              <a:t>void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2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vecadd_kernel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(</a:t>
            </a:r>
            <a:r>
              <a:rPr lang="en-US" sz="1200" dirty="0">
                <a:solidFill>
                  <a:srgbClr val="00BF00"/>
                </a:solidFill>
                <a:latin typeface="Lucida Console" panose="020B0609040504020204" pitchFamily="49" charset="0"/>
              </a:rPr>
              <a:t>float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* x, </a:t>
            </a:r>
            <a:r>
              <a:rPr lang="en-US" sz="1200" dirty="0">
                <a:solidFill>
                  <a:srgbClr val="00BF00"/>
                </a:solidFill>
                <a:latin typeface="Lucida Console" panose="020B0609040504020204" pitchFamily="49" charset="0"/>
              </a:rPr>
              <a:t>float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* y, </a:t>
            </a:r>
            <a:r>
              <a:rPr lang="en-US" sz="1200" dirty="0">
                <a:solidFill>
                  <a:srgbClr val="00BF00"/>
                </a:solidFill>
                <a:latin typeface="Lucida Console" panose="020B0609040504020204" pitchFamily="49" charset="0"/>
              </a:rPr>
              <a:t>float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* z, </a:t>
            </a:r>
            <a:r>
              <a:rPr lang="en-US" sz="1200" dirty="0" err="1">
                <a:solidFill>
                  <a:srgbClr val="00BF00"/>
                </a:solidFill>
                <a:latin typeface="Lucida Console" panose="020B0609040504020204" pitchFamily="49" charset="0"/>
              </a:rPr>
              <a:t>int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N) {</a:t>
            </a:r>
          </a:p>
          <a:p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   </a:t>
            </a:r>
            <a:r>
              <a:rPr lang="en-US" sz="1200" dirty="0" err="1">
                <a:solidFill>
                  <a:srgbClr val="00BF00"/>
                </a:solidFill>
                <a:latin typeface="Lucida Console" panose="020B0609040504020204" pitchFamily="49" charset="0"/>
              </a:rPr>
              <a:t>int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200" dirty="0" err="1" smtClean="0">
                <a:solidFill>
                  <a:prstClr val="black"/>
                </a:solidFill>
                <a:latin typeface="Lucida Console" panose="020B0609040504020204" pitchFamily="49" charset="0"/>
              </a:rPr>
              <a:t>i</a:t>
            </a:r>
            <a:r>
              <a:rPr lang="en-US" sz="1200" dirty="0" smtClean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= </a:t>
            </a:r>
            <a:r>
              <a:rPr lang="en-US" sz="1200" dirty="0" err="1">
                <a:solidFill>
                  <a:srgbClr val="00BFBF"/>
                </a:solidFill>
                <a:latin typeface="Lucida Console" panose="020B0609040504020204" pitchFamily="49" charset="0"/>
              </a:rPr>
              <a:t>blockDim</a:t>
            </a:r>
            <a:r>
              <a:rPr lang="en-US" sz="12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.x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*</a:t>
            </a:r>
            <a:r>
              <a:rPr lang="en-US" sz="1200" dirty="0" err="1">
                <a:solidFill>
                  <a:srgbClr val="00BFBF"/>
                </a:solidFill>
                <a:latin typeface="Lucida Console" panose="020B0609040504020204" pitchFamily="49" charset="0"/>
              </a:rPr>
              <a:t>blockIdx</a:t>
            </a:r>
            <a:r>
              <a:rPr lang="en-US" sz="12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.x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+ </a:t>
            </a:r>
            <a:r>
              <a:rPr lang="en-US" sz="1200" dirty="0" err="1">
                <a:solidFill>
                  <a:srgbClr val="00BFBF"/>
                </a:solidFill>
                <a:latin typeface="Lucida Console" panose="020B0609040504020204" pitchFamily="49" charset="0"/>
              </a:rPr>
              <a:t>threadIdx</a:t>
            </a:r>
            <a:r>
              <a:rPr lang="en-US" sz="12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.x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;</a:t>
            </a:r>
          </a:p>
          <a:p>
            <a:r>
              <a:rPr lang="en-US" sz="1200" dirty="0" smtClean="0">
                <a:solidFill>
                  <a:prstClr val="black"/>
                </a:solidFill>
                <a:latin typeface="Lucida Console" panose="020B0609040504020204" pitchFamily="49" charset="0"/>
              </a:rPr>
              <a:t>    </a:t>
            </a:r>
            <a:r>
              <a:rPr lang="en-US" sz="1200" dirty="0" smtClean="0">
                <a:solidFill>
                  <a:srgbClr val="00BF00"/>
                </a:solidFill>
                <a:latin typeface="Lucida Console" panose="020B0609040504020204" pitchFamily="49" charset="0"/>
              </a:rPr>
              <a:t>if</a:t>
            </a:r>
            <a:r>
              <a:rPr lang="en-US" sz="1200" dirty="0" smtClean="0">
                <a:solidFill>
                  <a:prstClr val="black"/>
                </a:solidFill>
                <a:latin typeface="Lucida Console" panose="020B0609040504020204" pitchFamily="49" charset="0"/>
              </a:rPr>
              <a:t>(</a:t>
            </a:r>
            <a:r>
              <a:rPr lang="en-US" sz="1200" dirty="0" err="1" smtClean="0">
                <a:solidFill>
                  <a:prstClr val="black"/>
                </a:solidFill>
                <a:latin typeface="Lucida Console" panose="020B0609040504020204" pitchFamily="49" charset="0"/>
              </a:rPr>
              <a:t>i</a:t>
            </a:r>
            <a:r>
              <a:rPr lang="en-US" sz="1200" dirty="0" smtClean="0">
                <a:solidFill>
                  <a:prstClr val="black"/>
                </a:solidFill>
                <a:latin typeface="Lucida Console" panose="020B0609040504020204" pitchFamily="49" charset="0"/>
              </a:rPr>
              <a:t> &lt; N) {</a:t>
            </a:r>
          </a:p>
          <a:p>
            <a:r>
              <a:rPr lang="en-US" sz="1200" dirty="0" smtClean="0">
                <a:solidFill>
                  <a:prstClr val="black"/>
                </a:solidFill>
                <a:latin typeface="Lucida Console" panose="020B0609040504020204" pitchFamily="49" charset="0"/>
              </a:rPr>
              <a:t>        z[</a:t>
            </a:r>
            <a:r>
              <a:rPr lang="en-US" sz="1200" dirty="0" err="1" smtClean="0">
                <a:solidFill>
                  <a:prstClr val="black"/>
                </a:solidFill>
                <a:latin typeface="Lucida Console" panose="020B0609040504020204" pitchFamily="49" charset="0"/>
              </a:rPr>
              <a:t>i</a:t>
            </a:r>
            <a:r>
              <a:rPr lang="en-US" sz="1200" dirty="0" smtClean="0">
                <a:solidFill>
                  <a:prstClr val="black"/>
                </a:solidFill>
                <a:latin typeface="Lucida Console" panose="020B0609040504020204" pitchFamily="49" charset="0"/>
              </a:rPr>
              <a:t>] 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= </a:t>
            </a:r>
            <a:r>
              <a:rPr lang="en-US" sz="1200" dirty="0" smtClean="0">
                <a:solidFill>
                  <a:prstClr val="black"/>
                </a:solidFill>
                <a:latin typeface="Lucida Console" panose="020B0609040504020204" pitchFamily="49" charset="0"/>
              </a:rPr>
              <a:t>x[</a:t>
            </a:r>
            <a:r>
              <a:rPr lang="en-US" sz="1200" dirty="0" err="1" smtClean="0">
                <a:solidFill>
                  <a:prstClr val="black"/>
                </a:solidFill>
                <a:latin typeface="Lucida Console" panose="020B0609040504020204" pitchFamily="49" charset="0"/>
              </a:rPr>
              <a:t>i</a:t>
            </a:r>
            <a:r>
              <a:rPr lang="en-US" sz="1200" dirty="0" smtClean="0">
                <a:solidFill>
                  <a:prstClr val="black"/>
                </a:solidFill>
                <a:latin typeface="Lucida Console" panose="020B0609040504020204" pitchFamily="49" charset="0"/>
              </a:rPr>
              <a:t>] 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+ </a:t>
            </a:r>
            <a:r>
              <a:rPr lang="en-US" sz="1200" dirty="0" smtClean="0">
                <a:solidFill>
                  <a:prstClr val="black"/>
                </a:solidFill>
                <a:latin typeface="Lucida Console" panose="020B0609040504020204" pitchFamily="49" charset="0"/>
              </a:rPr>
              <a:t>y[</a:t>
            </a:r>
            <a:r>
              <a:rPr lang="en-US" sz="1200" dirty="0" err="1" smtClean="0">
                <a:solidFill>
                  <a:prstClr val="black"/>
                </a:solidFill>
                <a:latin typeface="Lucida Console" panose="020B0609040504020204" pitchFamily="49" charset="0"/>
              </a:rPr>
              <a:t>i</a:t>
            </a:r>
            <a:r>
              <a:rPr lang="en-US" sz="1200" dirty="0" smtClean="0">
                <a:solidFill>
                  <a:prstClr val="black"/>
                </a:solidFill>
                <a:latin typeface="Lucida Console" panose="020B0609040504020204" pitchFamily="49" charset="0"/>
              </a:rPr>
              <a:t>];</a:t>
            </a:r>
          </a:p>
          <a:p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200" dirty="0" smtClean="0">
                <a:solidFill>
                  <a:prstClr val="black"/>
                </a:solidFill>
                <a:latin typeface="Lucida Console" panose="020B0609040504020204" pitchFamily="49" charset="0"/>
              </a:rPr>
              <a:t>   }</a:t>
            </a:r>
            <a:endParaRPr lang="en-US" sz="1200" dirty="0">
              <a:solidFill>
                <a:prstClr val="black"/>
              </a:solidFill>
              <a:latin typeface="Lucida Console" panose="020B0609040504020204" pitchFamily="49" charset="0"/>
            </a:endParaRPr>
          </a:p>
          <a:p>
            <a:r>
              <a:rPr lang="en-US" sz="1200" dirty="0" smtClean="0">
                <a:solidFill>
                  <a:prstClr val="black"/>
                </a:solidFill>
                <a:latin typeface="Lucida Console" panose="020B0609040504020204" pitchFamily="49" charset="0"/>
              </a:rPr>
              <a:t>}</a:t>
            </a:r>
            <a:endParaRPr lang="en-US" sz="1200" dirty="0">
              <a:solidFill>
                <a:prstClr val="black"/>
              </a:solidFill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53676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/>
              <a:t>Compilation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65111" y="840656"/>
            <a:ext cx="2465838" cy="5143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1800" dirty="0" smtClean="0">
                <a:solidFill>
                  <a:schemeClr val="tx1"/>
                </a:solidFill>
              </a:rPr>
              <a:t>C/C++ and CUDA code</a:t>
            </a:r>
            <a:endParaRPr lang="en-US" sz="1800" dirty="0">
              <a:solidFill>
                <a:schemeClr val="tx1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1852394" y="1621881"/>
            <a:ext cx="5143500" cy="685800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1800" dirty="0" smtClean="0">
                <a:solidFill>
                  <a:schemeClr val="tx1"/>
                </a:solidFill>
              </a:rPr>
              <a:t>NVIDIA CUDA Compiler (NVCC)</a:t>
            </a:r>
            <a:endParaRPr lang="en-US" sz="1800" dirty="0">
              <a:solidFill>
                <a:schemeClr val="tx1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1854680" y="3357999"/>
            <a:ext cx="2400300" cy="742950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1800" dirty="0">
                <a:solidFill>
                  <a:schemeClr val="tx1"/>
                </a:solidFill>
              </a:rPr>
              <a:t>Host </a:t>
            </a:r>
            <a:r>
              <a:rPr lang="en-US" sz="1800" dirty="0" smtClean="0">
                <a:solidFill>
                  <a:schemeClr val="tx1"/>
                </a:solidFill>
              </a:rPr>
              <a:t>C/C++ Compiler</a:t>
            </a:r>
            <a:endParaRPr lang="en-US" sz="1800" dirty="0">
              <a:solidFill>
                <a:schemeClr val="tx1"/>
              </a:solidFill>
            </a:endParaRPr>
          </a:p>
        </p:txBody>
      </p:sp>
      <p:sp>
        <p:nvSpPr>
          <p:cNvPr id="9" name="TextBox 12"/>
          <p:cNvSpPr txBox="1">
            <a:spLocks noChangeArrowheads="1"/>
          </p:cNvSpPr>
          <p:nvPr/>
        </p:nvSpPr>
        <p:spPr bwMode="auto">
          <a:xfrm>
            <a:off x="1053885" y="2648173"/>
            <a:ext cx="177234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1800" dirty="0">
                <a:latin typeface="+mn-lt"/>
              </a:rPr>
              <a:t>Host </a:t>
            </a:r>
            <a:r>
              <a:rPr lang="en-US" altLang="en-US" sz="1800" dirty="0" smtClean="0">
                <a:latin typeface="+mn-lt"/>
              </a:rPr>
              <a:t>C/C++ Code</a:t>
            </a:r>
            <a:endParaRPr lang="en-US" altLang="en-US" sz="1800" dirty="0">
              <a:latin typeface="+mn-lt"/>
            </a:endParaRPr>
          </a:p>
        </p:txBody>
      </p:sp>
      <p:sp>
        <p:nvSpPr>
          <p:cNvPr id="11" name="TextBox 14"/>
          <p:cNvSpPr txBox="1">
            <a:spLocks noChangeArrowheads="1"/>
          </p:cNvSpPr>
          <p:nvPr/>
        </p:nvSpPr>
        <p:spPr bwMode="auto">
          <a:xfrm>
            <a:off x="6072349" y="2649712"/>
            <a:ext cx="221105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1800" dirty="0" smtClean="0">
                <a:latin typeface="+mn-lt"/>
              </a:rPr>
              <a:t>PTX (Virtual) ISA code</a:t>
            </a:r>
            <a:endParaRPr lang="en-US" altLang="en-US" sz="1800" dirty="0">
              <a:latin typeface="+mn-lt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4597880" y="3357999"/>
            <a:ext cx="2400300" cy="742950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1800" dirty="0">
                <a:solidFill>
                  <a:schemeClr val="tx1"/>
                </a:solidFill>
              </a:rPr>
              <a:t>Device Just-in-Time Compiler</a:t>
            </a:r>
          </a:p>
        </p:txBody>
      </p:sp>
      <p:sp>
        <p:nvSpPr>
          <p:cNvPr id="16" name="TextBox 14"/>
          <p:cNvSpPr txBox="1">
            <a:spLocks noChangeArrowheads="1"/>
          </p:cNvSpPr>
          <p:nvPr/>
        </p:nvSpPr>
        <p:spPr bwMode="auto">
          <a:xfrm>
            <a:off x="6072349" y="4302942"/>
            <a:ext cx="1756057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1800" dirty="0" smtClean="0">
                <a:latin typeface="+mn-lt"/>
              </a:rPr>
              <a:t>Device Assembly</a:t>
            </a:r>
          </a:p>
          <a:p>
            <a:pPr algn="ctr" eaLnBrk="1" hangingPunct="1"/>
            <a:r>
              <a:rPr lang="en-US" altLang="en-US" sz="1800" dirty="0" smtClean="0">
                <a:latin typeface="+mn-lt"/>
              </a:rPr>
              <a:t>(e.g., SASS)</a:t>
            </a:r>
            <a:endParaRPr lang="en-US" altLang="en-US" sz="1800" dirty="0">
              <a:latin typeface="+mn-lt"/>
            </a:endParaRPr>
          </a:p>
        </p:txBody>
      </p:sp>
      <p:sp>
        <p:nvSpPr>
          <p:cNvPr id="17" name="TextBox 14"/>
          <p:cNvSpPr txBox="1">
            <a:spLocks noChangeArrowheads="1"/>
          </p:cNvSpPr>
          <p:nvPr/>
        </p:nvSpPr>
        <p:spPr bwMode="auto">
          <a:xfrm>
            <a:off x="424485" y="4302942"/>
            <a:ext cx="2356024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1800" dirty="0" smtClean="0">
                <a:latin typeface="+mn-lt"/>
              </a:rPr>
              <a:t>Host Assembly</a:t>
            </a:r>
          </a:p>
          <a:p>
            <a:pPr algn="ctr" eaLnBrk="1" hangingPunct="1"/>
            <a:r>
              <a:rPr lang="en-US" altLang="en-US" sz="1800" dirty="0" smtClean="0">
                <a:latin typeface="+mn-lt"/>
              </a:rPr>
              <a:t>(e.g., x86, Power, ARM)</a:t>
            </a:r>
            <a:endParaRPr lang="en-US" altLang="en-US" sz="1800" dirty="0">
              <a:latin typeface="+mn-lt"/>
            </a:endParaRPr>
          </a:p>
        </p:txBody>
      </p:sp>
      <p:sp>
        <p:nvSpPr>
          <p:cNvPr id="18" name="Snip Diagonal Corner Rectangle 17"/>
          <p:cNvSpPr/>
          <p:nvPr/>
        </p:nvSpPr>
        <p:spPr>
          <a:xfrm>
            <a:off x="4195544" y="822402"/>
            <a:ext cx="457200" cy="548640"/>
          </a:xfrm>
          <a:prstGeom prst="snip2Diag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accent3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US" sz="2000" dirty="0" smtClean="0">
                <a:cs typeface="Courier New" panose="02070309020205020404" pitchFamily="49" charset="0"/>
              </a:rPr>
              <a:t>.cu</a:t>
            </a:r>
            <a:endParaRPr lang="en-US" sz="2000" dirty="0">
              <a:cs typeface="Courier New" panose="02070309020205020404" pitchFamily="49" charset="0"/>
            </a:endParaRPr>
          </a:p>
        </p:txBody>
      </p:sp>
      <p:sp>
        <p:nvSpPr>
          <p:cNvPr id="19" name="Hexagon 18"/>
          <p:cNvSpPr/>
          <p:nvPr/>
        </p:nvSpPr>
        <p:spPr>
          <a:xfrm>
            <a:off x="5477990" y="2558520"/>
            <a:ext cx="640080" cy="548640"/>
          </a:xfrm>
          <a:prstGeom prst="hexagon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US" sz="2000" dirty="0" smtClean="0">
                <a:cs typeface="Courier New" panose="02070309020205020404" pitchFamily="49" charset="0"/>
              </a:rPr>
              <a:t>.</a:t>
            </a:r>
            <a:r>
              <a:rPr lang="en-US" sz="2000" dirty="0" err="1" smtClean="0">
                <a:cs typeface="Courier New" panose="02070309020205020404" pitchFamily="49" charset="0"/>
              </a:rPr>
              <a:t>ptx</a:t>
            </a:r>
            <a:endParaRPr lang="en-US" sz="2000" dirty="0">
              <a:cs typeface="Courier New" panose="02070309020205020404" pitchFamily="49" charset="0"/>
            </a:endParaRPr>
          </a:p>
        </p:txBody>
      </p:sp>
      <p:sp>
        <p:nvSpPr>
          <p:cNvPr id="20" name="Oval 19"/>
          <p:cNvSpPr/>
          <p:nvPr/>
        </p:nvSpPr>
        <p:spPr>
          <a:xfrm>
            <a:off x="2780510" y="4351788"/>
            <a:ext cx="548640" cy="548640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5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endParaRPr lang="en-US" sz="2000" dirty="0">
              <a:cs typeface="Courier New" panose="02070309020205020404" pitchFamily="49" charset="0"/>
            </a:endParaRPr>
          </a:p>
        </p:txBody>
      </p:sp>
      <p:sp>
        <p:nvSpPr>
          <p:cNvPr id="21" name="Snip Diagonal Corner Rectangle 20"/>
          <p:cNvSpPr/>
          <p:nvPr/>
        </p:nvSpPr>
        <p:spPr>
          <a:xfrm>
            <a:off x="2826230" y="2558520"/>
            <a:ext cx="457200" cy="548640"/>
          </a:xfrm>
          <a:prstGeom prst="snip2Diag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accent3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US" sz="2000" dirty="0" smtClean="0">
                <a:cs typeface="Courier New" panose="02070309020205020404" pitchFamily="49" charset="0"/>
              </a:rPr>
              <a:t>.c</a:t>
            </a:r>
            <a:endParaRPr lang="en-US" sz="2000" dirty="0">
              <a:cs typeface="Courier New" panose="02070309020205020404" pitchFamily="49" charset="0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5523710" y="4351788"/>
            <a:ext cx="548640" cy="548640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endParaRPr lang="en-US" sz="2000" dirty="0">
              <a:cs typeface="Courier New" panose="02070309020205020404" pitchFamily="49" charset="0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1852394" y="5151269"/>
            <a:ext cx="2404872" cy="100667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200" b="1" dirty="0" smtClean="0">
                <a:solidFill>
                  <a:schemeClr val="accent5">
                    <a:lumMod val="75000"/>
                  </a:schemeClr>
                </a:solidFill>
              </a:rPr>
              <a:t>CPU</a:t>
            </a:r>
            <a:endParaRPr lang="en-US" b="1" dirty="0" smtClean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4595594" y="5151269"/>
            <a:ext cx="2404872" cy="100667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200" b="1" dirty="0" smtClean="0">
                <a:solidFill>
                  <a:schemeClr val="accent6">
                    <a:lumMod val="75000"/>
                  </a:schemeClr>
                </a:solidFill>
              </a:rPr>
              <a:t>GPU</a:t>
            </a:r>
            <a:endParaRPr lang="en-US" b="1" dirty="0" smtClean="0">
              <a:solidFill>
                <a:schemeClr val="accent6">
                  <a:lumMod val="75000"/>
                </a:schemeClr>
              </a:solidFill>
            </a:endParaRPr>
          </a:p>
        </p:txBody>
      </p:sp>
      <p:cxnSp>
        <p:nvCxnSpPr>
          <p:cNvPr id="32" name="Straight Arrow Connector 31"/>
          <p:cNvCxnSpPr>
            <a:stCxn id="18" idx="1"/>
          </p:cNvCxnSpPr>
          <p:nvPr/>
        </p:nvCxnSpPr>
        <p:spPr>
          <a:xfrm>
            <a:off x="4424144" y="1371042"/>
            <a:ext cx="0" cy="25083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>
            <a:endCxn id="20" idx="0"/>
          </p:cNvCxnSpPr>
          <p:nvPr/>
        </p:nvCxnSpPr>
        <p:spPr>
          <a:xfrm>
            <a:off x="3054830" y="4100949"/>
            <a:ext cx="0" cy="25083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>
            <a:endCxn id="21" idx="3"/>
          </p:cNvCxnSpPr>
          <p:nvPr/>
        </p:nvCxnSpPr>
        <p:spPr>
          <a:xfrm>
            <a:off x="3054830" y="2307681"/>
            <a:ext cx="0" cy="25083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>
            <a:stCxn id="20" idx="4"/>
            <a:endCxn id="23" idx="0"/>
          </p:cNvCxnSpPr>
          <p:nvPr/>
        </p:nvCxnSpPr>
        <p:spPr>
          <a:xfrm>
            <a:off x="3054830" y="4900428"/>
            <a:ext cx="0" cy="25084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5" name="Straight Arrow Connector 44"/>
          <p:cNvCxnSpPr>
            <a:stCxn id="21" idx="1"/>
          </p:cNvCxnSpPr>
          <p:nvPr/>
        </p:nvCxnSpPr>
        <p:spPr>
          <a:xfrm>
            <a:off x="3054830" y="3107160"/>
            <a:ext cx="0" cy="25083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8" name="Straight Arrow Connector 47"/>
          <p:cNvCxnSpPr>
            <a:endCxn id="22" idx="0"/>
          </p:cNvCxnSpPr>
          <p:nvPr/>
        </p:nvCxnSpPr>
        <p:spPr>
          <a:xfrm>
            <a:off x="5798030" y="4100949"/>
            <a:ext cx="0" cy="25083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9" name="Straight Arrow Connector 48"/>
          <p:cNvCxnSpPr/>
          <p:nvPr/>
        </p:nvCxnSpPr>
        <p:spPr>
          <a:xfrm>
            <a:off x="5798030" y="2307681"/>
            <a:ext cx="0" cy="25083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0" name="Straight Arrow Connector 49"/>
          <p:cNvCxnSpPr>
            <a:stCxn id="22" idx="4"/>
            <a:endCxn id="24" idx="0"/>
          </p:cNvCxnSpPr>
          <p:nvPr/>
        </p:nvCxnSpPr>
        <p:spPr>
          <a:xfrm>
            <a:off x="5798030" y="4900428"/>
            <a:ext cx="0" cy="25084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1" name="Straight Arrow Connector 50"/>
          <p:cNvCxnSpPr/>
          <p:nvPr/>
        </p:nvCxnSpPr>
        <p:spPr>
          <a:xfrm flipH="1">
            <a:off x="5798030" y="3107160"/>
            <a:ext cx="0" cy="25083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569759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9" grpId="0"/>
      <p:bldP spid="11" grpId="0"/>
      <p:bldP spid="13" grpId="0" animBg="1"/>
      <p:bldP spid="16" grpId="0"/>
      <p:bldP spid="17" grpId="0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/>
              <a:t>Function Declarations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Autofit/>
          </a:bodyPr>
          <a:lstStyle/>
          <a:p>
            <a:r>
              <a:rPr lang="en-US" dirty="0" smtClean="0"/>
              <a:t>Keywords that differentiate where a function is intended to run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/>
          </a:p>
          <a:p>
            <a:r>
              <a:rPr lang="en-US" dirty="0" smtClean="0"/>
              <a:t>Why need 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__host__</a:t>
            </a:r>
            <a:r>
              <a:rPr lang="en-US" dirty="0" smtClean="0"/>
              <a:t> if it is the default?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7488939"/>
              </p:ext>
            </p:extLst>
          </p:nvPr>
        </p:nvGraphicFramePr>
        <p:xfrm>
          <a:off x="2240280" y="1212307"/>
          <a:ext cx="4663440" cy="2286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54480">
                  <a:extLst>
                    <a:ext uri="{9D8B030D-6E8A-4147-A177-3AD203B41FA5}">
                      <a16:colId xmlns:a16="http://schemas.microsoft.com/office/drawing/2014/main" val="2951952639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25704435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56374052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Keyword</a:t>
                      </a:r>
                      <a:endParaRPr lang="en-US" b="1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Callable From</a:t>
                      </a:r>
                      <a:endParaRPr lang="en-US" b="1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Executed On</a:t>
                      </a:r>
                      <a:endParaRPr lang="en-US" b="1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52605768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__host__</a:t>
                      </a:r>
                    </a:p>
                    <a:p>
                      <a:pPr algn="ctr"/>
                      <a:r>
                        <a:rPr lang="en-US" sz="1400" dirty="0" smtClean="0">
                          <a:solidFill>
                            <a:schemeClr val="accent3"/>
                          </a:solidFill>
                        </a:rPr>
                        <a:t>(default)</a:t>
                      </a:r>
                      <a:endParaRPr lang="en-US" dirty="0">
                        <a:solidFill>
                          <a:schemeClr val="accent3"/>
                        </a:solidFill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Host</a:t>
                      </a:r>
                      <a:endParaRPr lang="en-US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Host</a:t>
                      </a:r>
                      <a:endParaRPr lang="en-US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8816985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__global__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Host</a:t>
                      </a:r>
                    </a:p>
                    <a:p>
                      <a:pPr algn="ctr"/>
                      <a:r>
                        <a:rPr lang="en-US" dirty="0" smtClean="0"/>
                        <a:t>(or Device)</a:t>
                      </a:r>
                      <a:endParaRPr lang="en-US" dirty="0"/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Device</a:t>
                      </a:r>
                      <a:endParaRPr lang="en-US" dirty="0"/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9649009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__device__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Device</a:t>
                      </a:r>
                      <a:endParaRPr lang="en-US" dirty="0"/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Device</a:t>
                      </a:r>
                      <a:endParaRPr lang="en-US" dirty="0"/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17495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921936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/>
              <a:t>Function Declarations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 smtClean="0"/>
              <a:t>The keyword 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__host__</a:t>
            </a:r>
            <a:r>
              <a:rPr lang="en-US" dirty="0" smtClean="0"/>
              <a:t> is useful when needing to mark </a:t>
            </a:r>
            <a:r>
              <a:rPr lang="en-US" dirty="0"/>
              <a:t>a function as executable on both the host and the </a:t>
            </a:r>
            <a:r>
              <a:rPr lang="en-US" dirty="0" smtClean="0"/>
              <a:t>device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612395" y="1599520"/>
            <a:ext cx="8523216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BF00"/>
                </a:solidFill>
                <a:latin typeface="Lucida Console" panose="020B0609040504020204" pitchFamily="49" charset="0"/>
              </a:rPr>
              <a:t>__host__</a:t>
            </a:r>
            <a:r>
              <a:rPr lang="en-US" sz="16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600" dirty="0">
                <a:solidFill>
                  <a:srgbClr val="00BF00"/>
                </a:solidFill>
                <a:latin typeface="Lucida Console" panose="020B0609040504020204" pitchFamily="49" charset="0"/>
              </a:rPr>
              <a:t>__device__</a:t>
            </a:r>
            <a:r>
              <a:rPr lang="en-US" sz="16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600" dirty="0">
                <a:solidFill>
                  <a:srgbClr val="00BF00"/>
                </a:solidFill>
                <a:latin typeface="Lucida Console" panose="020B0609040504020204" pitchFamily="49" charset="0"/>
              </a:rPr>
              <a:t>float</a:t>
            </a:r>
            <a:r>
              <a:rPr lang="en-US" sz="1600" dirty="0">
                <a:solidFill>
                  <a:prstClr val="black"/>
                </a:solidFill>
                <a:latin typeface="Lucida Console" panose="020B0609040504020204" pitchFamily="49" charset="0"/>
              </a:rPr>
              <a:t> f(</a:t>
            </a:r>
            <a:r>
              <a:rPr lang="en-US" sz="1600" dirty="0">
                <a:solidFill>
                  <a:srgbClr val="00BF00"/>
                </a:solidFill>
                <a:latin typeface="Lucida Console" panose="020B0609040504020204" pitchFamily="49" charset="0"/>
              </a:rPr>
              <a:t>float</a:t>
            </a:r>
            <a:r>
              <a:rPr lang="en-US" sz="1600" dirty="0">
                <a:solidFill>
                  <a:prstClr val="black"/>
                </a:solidFill>
                <a:latin typeface="Lucida Console" panose="020B0609040504020204" pitchFamily="49" charset="0"/>
              </a:rPr>
              <a:t> a, </a:t>
            </a:r>
            <a:r>
              <a:rPr lang="en-US" sz="1600" dirty="0">
                <a:solidFill>
                  <a:srgbClr val="00BF00"/>
                </a:solidFill>
                <a:latin typeface="Lucida Console" panose="020B0609040504020204" pitchFamily="49" charset="0"/>
              </a:rPr>
              <a:t>float</a:t>
            </a:r>
            <a:r>
              <a:rPr lang="en-US" sz="1600" dirty="0">
                <a:solidFill>
                  <a:prstClr val="black"/>
                </a:solidFill>
                <a:latin typeface="Lucida Console" panose="020B0609040504020204" pitchFamily="49" charset="0"/>
              </a:rPr>
              <a:t> b) {</a:t>
            </a:r>
          </a:p>
          <a:p>
            <a:r>
              <a:rPr lang="en-US" sz="1600" dirty="0">
                <a:solidFill>
                  <a:prstClr val="black"/>
                </a:solidFill>
                <a:latin typeface="Lucida Console" panose="020B0609040504020204" pitchFamily="49" charset="0"/>
              </a:rPr>
              <a:t>    </a:t>
            </a:r>
            <a:r>
              <a:rPr lang="en-US" sz="1600" dirty="0">
                <a:solidFill>
                  <a:srgbClr val="BFBF00"/>
                </a:solidFill>
                <a:latin typeface="Lucida Console" panose="020B0609040504020204" pitchFamily="49" charset="0"/>
              </a:rPr>
              <a:t>return</a:t>
            </a:r>
            <a:r>
              <a:rPr lang="en-US" sz="1600" dirty="0">
                <a:solidFill>
                  <a:prstClr val="black"/>
                </a:solidFill>
                <a:latin typeface="Lucida Console" panose="020B0609040504020204" pitchFamily="49" charset="0"/>
              </a:rPr>
              <a:t> a + b;</a:t>
            </a:r>
          </a:p>
          <a:p>
            <a:r>
              <a:rPr lang="en-US" sz="1600" dirty="0" smtClean="0">
                <a:solidFill>
                  <a:prstClr val="black"/>
                </a:solidFill>
                <a:latin typeface="Lucida Console" panose="020B0609040504020204" pitchFamily="49" charset="0"/>
              </a:rPr>
              <a:t>}</a:t>
            </a:r>
          </a:p>
          <a:p>
            <a:r>
              <a:rPr lang="en-US" sz="1600" dirty="0" smtClean="0">
                <a:solidFill>
                  <a:srgbClr val="00BF00"/>
                </a:solidFill>
                <a:latin typeface="Lucida Console" panose="020B0609040504020204" pitchFamily="49" charset="0"/>
              </a:rPr>
              <a:t>void</a:t>
            </a:r>
            <a:r>
              <a:rPr lang="en-US" sz="1600" dirty="0" smtClean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600" dirty="0" err="1" smtClean="0">
                <a:solidFill>
                  <a:prstClr val="black"/>
                </a:solidFill>
                <a:latin typeface="Lucida Console" panose="020B0609040504020204" pitchFamily="49" charset="0"/>
              </a:rPr>
              <a:t>vecadd</a:t>
            </a:r>
            <a:r>
              <a:rPr lang="en-US" sz="1600" dirty="0" smtClean="0">
                <a:solidFill>
                  <a:prstClr val="black"/>
                </a:solidFill>
                <a:latin typeface="Lucida Console" panose="020B0609040504020204" pitchFamily="49" charset="0"/>
              </a:rPr>
              <a:t>(</a:t>
            </a:r>
            <a:r>
              <a:rPr lang="en-US" sz="1600" dirty="0" smtClean="0">
                <a:solidFill>
                  <a:srgbClr val="00BF00"/>
                </a:solidFill>
                <a:latin typeface="Lucida Console" panose="020B0609040504020204" pitchFamily="49" charset="0"/>
              </a:rPr>
              <a:t>float</a:t>
            </a:r>
            <a:r>
              <a:rPr lang="en-US" sz="1600" dirty="0">
                <a:solidFill>
                  <a:prstClr val="black"/>
                </a:solidFill>
                <a:latin typeface="Lucida Console" panose="020B0609040504020204" pitchFamily="49" charset="0"/>
              </a:rPr>
              <a:t>* x, </a:t>
            </a:r>
            <a:r>
              <a:rPr lang="en-US" sz="1600" dirty="0">
                <a:solidFill>
                  <a:srgbClr val="00BF00"/>
                </a:solidFill>
                <a:latin typeface="Lucida Console" panose="020B0609040504020204" pitchFamily="49" charset="0"/>
              </a:rPr>
              <a:t>float</a:t>
            </a:r>
            <a:r>
              <a:rPr lang="en-US" sz="1600" dirty="0">
                <a:solidFill>
                  <a:prstClr val="black"/>
                </a:solidFill>
                <a:latin typeface="Lucida Console" panose="020B0609040504020204" pitchFamily="49" charset="0"/>
              </a:rPr>
              <a:t>* y, </a:t>
            </a:r>
            <a:r>
              <a:rPr lang="en-US" sz="1600" dirty="0">
                <a:solidFill>
                  <a:srgbClr val="00BF00"/>
                </a:solidFill>
                <a:latin typeface="Lucida Console" panose="020B0609040504020204" pitchFamily="49" charset="0"/>
              </a:rPr>
              <a:t>float</a:t>
            </a:r>
            <a:r>
              <a:rPr lang="en-US" sz="1600" dirty="0">
                <a:solidFill>
                  <a:prstClr val="black"/>
                </a:solidFill>
                <a:latin typeface="Lucida Console" panose="020B0609040504020204" pitchFamily="49" charset="0"/>
              </a:rPr>
              <a:t>* z, </a:t>
            </a:r>
            <a:r>
              <a:rPr lang="en-US" sz="1600" dirty="0" err="1">
                <a:solidFill>
                  <a:srgbClr val="00BF00"/>
                </a:solidFill>
                <a:latin typeface="Lucida Console" panose="020B0609040504020204" pitchFamily="49" charset="0"/>
              </a:rPr>
              <a:t>int</a:t>
            </a:r>
            <a:r>
              <a:rPr lang="en-US" sz="1600" dirty="0">
                <a:solidFill>
                  <a:prstClr val="black"/>
                </a:solidFill>
                <a:latin typeface="Lucida Console" panose="020B0609040504020204" pitchFamily="49" charset="0"/>
              </a:rPr>
              <a:t> N) {</a:t>
            </a:r>
          </a:p>
          <a:p>
            <a:r>
              <a:rPr lang="en-US" sz="1600" dirty="0">
                <a:solidFill>
                  <a:prstClr val="black"/>
                </a:solidFill>
                <a:latin typeface="Lucida Console" panose="020B0609040504020204" pitchFamily="49" charset="0"/>
              </a:rPr>
              <a:t>    </a:t>
            </a:r>
            <a:r>
              <a:rPr lang="en-US" sz="1600" dirty="0">
                <a:solidFill>
                  <a:srgbClr val="BFBF00"/>
                </a:solidFill>
                <a:latin typeface="Lucida Console" panose="020B0609040504020204" pitchFamily="49" charset="0"/>
              </a:rPr>
              <a:t>for</a:t>
            </a:r>
            <a:r>
              <a:rPr lang="en-US" sz="1600" dirty="0">
                <a:solidFill>
                  <a:prstClr val="black"/>
                </a:solidFill>
                <a:latin typeface="Lucida Console" panose="020B0609040504020204" pitchFamily="49" charset="0"/>
              </a:rPr>
              <a:t>(</a:t>
            </a:r>
            <a:r>
              <a:rPr lang="en-US" sz="1600" dirty="0">
                <a:solidFill>
                  <a:srgbClr val="00BF00"/>
                </a:solidFill>
                <a:latin typeface="Lucida Console" panose="020B0609040504020204" pitchFamily="49" charset="0"/>
              </a:rPr>
              <a:t>unsigned</a:t>
            </a:r>
            <a:r>
              <a:rPr lang="en-US" sz="16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600" dirty="0" err="1">
                <a:solidFill>
                  <a:srgbClr val="00BF00"/>
                </a:solidFill>
                <a:latin typeface="Lucida Console" panose="020B0609040504020204" pitchFamily="49" charset="0"/>
              </a:rPr>
              <a:t>int</a:t>
            </a:r>
            <a:r>
              <a:rPr lang="en-US" sz="16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i</a:t>
            </a:r>
            <a:r>
              <a:rPr lang="en-US" sz="1600" dirty="0">
                <a:solidFill>
                  <a:prstClr val="black"/>
                </a:solidFill>
                <a:latin typeface="Lucida Console" panose="020B0609040504020204" pitchFamily="49" charset="0"/>
              </a:rPr>
              <a:t> = </a:t>
            </a:r>
            <a:r>
              <a:rPr lang="en-US" sz="1600" dirty="0">
                <a:solidFill>
                  <a:srgbClr val="BFBF00"/>
                </a:solidFill>
                <a:latin typeface="Lucida Console" panose="020B0609040504020204" pitchFamily="49" charset="0"/>
              </a:rPr>
              <a:t>0</a:t>
            </a:r>
            <a:r>
              <a:rPr lang="en-US" sz="1600" dirty="0">
                <a:solidFill>
                  <a:prstClr val="black"/>
                </a:solidFill>
                <a:latin typeface="Lucida Console" panose="020B0609040504020204" pitchFamily="49" charset="0"/>
              </a:rPr>
              <a:t>; </a:t>
            </a:r>
            <a:r>
              <a:rPr lang="en-US" sz="16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i</a:t>
            </a:r>
            <a:r>
              <a:rPr lang="en-US" sz="1600" dirty="0">
                <a:solidFill>
                  <a:prstClr val="black"/>
                </a:solidFill>
                <a:latin typeface="Lucida Console" panose="020B0609040504020204" pitchFamily="49" charset="0"/>
              </a:rPr>
              <a:t> &lt; N; ++</a:t>
            </a:r>
            <a:r>
              <a:rPr lang="en-US" sz="16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i</a:t>
            </a:r>
            <a:r>
              <a:rPr lang="en-US" sz="1600" dirty="0">
                <a:solidFill>
                  <a:prstClr val="black"/>
                </a:solidFill>
                <a:latin typeface="Lucida Console" panose="020B0609040504020204" pitchFamily="49" charset="0"/>
              </a:rPr>
              <a:t>) {</a:t>
            </a:r>
          </a:p>
          <a:p>
            <a:r>
              <a:rPr lang="en-US" sz="1600" dirty="0">
                <a:solidFill>
                  <a:prstClr val="black"/>
                </a:solidFill>
                <a:latin typeface="Lucida Console" panose="020B0609040504020204" pitchFamily="49" charset="0"/>
              </a:rPr>
              <a:t>        z[</a:t>
            </a:r>
            <a:r>
              <a:rPr lang="en-US" sz="16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i</a:t>
            </a:r>
            <a:r>
              <a:rPr lang="en-US" sz="1600" dirty="0">
                <a:solidFill>
                  <a:prstClr val="black"/>
                </a:solidFill>
                <a:latin typeface="Lucida Console" panose="020B0609040504020204" pitchFamily="49" charset="0"/>
              </a:rPr>
              <a:t>] = f(x[</a:t>
            </a:r>
            <a:r>
              <a:rPr lang="en-US" sz="16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i</a:t>
            </a:r>
            <a:r>
              <a:rPr lang="en-US" sz="1600" dirty="0">
                <a:solidFill>
                  <a:prstClr val="black"/>
                </a:solidFill>
                <a:latin typeface="Lucida Console" panose="020B0609040504020204" pitchFamily="49" charset="0"/>
              </a:rPr>
              <a:t>], y[</a:t>
            </a:r>
            <a:r>
              <a:rPr lang="en-US" sz="16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i</a:t>
            </a:r>
            <a:r>
              <a:rPr lang="en-US" sz="1600" dirty="0">
                <a:solidFill>
                  <a:prstClr val="black"/>
                </a:solidFill>
                <a:latin typeface="Lucida Console" panose="020B0609040504020204" pitchFamily="49" charset="0"/>
              </a:rPr>
              <a:t>]);</a:t>
            </a:r>
          </a:p>
          <a:p>
            <a:r>
              <a:rPr lang="en-US" sz="1600" dirty="0">
                <a:solidFill>
                  <a:prstClr val="black"/>
                </a:solidFill>
                <a:latin typeface="Lucida Console" panose="020B0609040504020204" pitchFamily="49" charset="0"/>
              </a:rPr>
              <a:t>    }</a:t>
            </a:r>
          </a:p>
          <a:p>
            <a:r>
              <a:rPr lang="en-US" sz="1600" dirty="0">
                <a:solidFill>
                  <a:prstClr val="black"/>
                </a:solidFill>
                <a:latin typeface="Lucida Console" panose="020B0609040504020204" pitchFamily="49" charset="0"/>
              </a:rPr>
              <a:t>}</a:t>
            </a:r>
          </a:p>
          <a:p>
            <a:r>
              <a:rPr lang="en-US" sz="1600" dirty="0" smtClean="0">
                <a:solidFill>
                  <a:srgbClr val="00BF00"/>
                </a:solidFill>
                <a:latin typeface="Lucida Console" panose="020B0609040504020204" pitchFamily="49" charset="0"/>
              </a:rPr>
              <a:t>__</a:t>
            </a:r>
            <a:r>
              <a:rPr lang="en-US" sz="1600" dirty="0">
                <a:solidFill>
                  <a:srgbClr val="00BF00"/>
                </a:solidFill>
                <a:latin typeface="Lucida Console" panose="020B0609040504020204" pitchFamily="49" charset="0"/>
              </a:rPr>
              <a:t>global__</a:t>
            </a:r>
            <a:r>
              <a:rPr lang="en-US" sz="16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600" dirty="0">
                <a:solidFill>
                  <a:srgbClr val="00BF00"/>
                </a:solidFill>
                <a:latin typeface="Lucida Console" panose="020B0609040504020204" pitchFamily="49" charset="0"/>
              </a:rPr>
              <a:t>void</a:t>
            </a:r>
            <a:r>
              <a:rPr lang="en-US" sz="16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vecadd_kernel</a:t>
            </a:r>
            <a:r>
              <a:rPr lang="en-US" sz="1600" dirty="0">
                <a:solidFill>
                  <a:prstClr val="black"/>
                </a:solidFill>
                <a:latin typeface="Lucida Console" panose="020B0609040504020204" pitchFamily="49" charset="0"/>
              </a:rPr>
              <a:t>(</a:t>
            </a:r>
            <a:r>
              <a:rPr lang="en-US" sz="1600" dirty="0">
                <a:solidFill>
                  <a:srgbClr val="00BF00"/>
                </a:solidFill>
                <a:latin typeface="Lucida Console" panose="020B0609040504020204" pitchFamily="49" charset="0"/>
              </a:rPr>
              <a:t>float</a:t>
            </a:r>
            <a:r>
              <a:rPr lang="en-US" sz="1600" dirty="0">
                <a:solidFill>
                  <a:prstClr val="black"/>
                </a:solidFill>
                <a:latin typeface="Lucida Console" panose="020B0609040504020204" pitchFamily="49" charset="0"/>
              </a:rPr>
              <a:t>* x, </a:t>
            </a:r>
            <a:r>
              <a:rPr lang="en-US" sz="1600" dirty="0">
                <a:solidFill>
                  <a:srgbClr val="00BF00"/>
                </a:solidFill>
                <a:latin typeface="Lucida Console" panose="020B0609040504020204" pitchFamily="49" charset="0"/>
              </a:rPr>
              <a:t>float</a:t>
            </a:r>
            <a:r>
              <a:rPr lang="en-US" sz="1600" dirty="0">
                <a:solidFill>
                  <a:prstClr val="black"/>
                </a:solidFill>
                <a:latin typeface="Lucida Console" panose="020B0609040504020204" pitchFamily="49" charset="0"/>
              </a:rPr>
              <a:t>* y, </a:t>
            </a:r>
            <a:r>
              <a:rPr lang="en-US" sz="1600" dirty="0">
                <a:solidFill>
                  <a:srgbClr val="00BF00"/>
                </a:solidFill>
                <a:latin typeface="Lucida Console" panose="020B0609040504020204" pitchFamily="49" charset="0"/>
              </a:rPr>
              <a:t>float</a:t>
            </a:r>
            <a:r>
              <a:rPr lang="en-US" sz="1600" dirty="0">
                <a:solidFill>
                  <a:prstClr val="black"/>
                </a:solidFill>
                <a:latin typeface="Lucida Console" panose="020B0609040504020204" pitchFamily="49" charset="0"/>
              </a:rPr>
              <a:t>* z, </a:t>
            </a:r>
            <a:r>
              <a:rPr lang="en-US" sz="1600" dirty="0" err="1">
                <a:solidFill>
                  <a:srgbClr val="00BF00"/>
                </a:solidFill>
                <a:latin typeface="Lucida Console" panose="020B0609040504020204" pitchFamily="49" charset="0"/>
              </a:rPr>
              <a:t>int</a:t>
            </a:r>
            <a:r>
              <a:rPr lang="en-US" sz="1600" dirty="0">
                <a:solidFill>
                  <a:prstClr val="black"/>
                </a:solidFill>
                <a:latin typeface="Lucida Console" panose="020B0609040504020204" pitchFamily="49" charset="0"/>
              </a:rPr>
              <a:t> N) {</a:t>
            </a:r>
          </a:p>
          <a:p>
            <a:r>
              <a:rPr lang="en-US" sz="1600" dirty="0">
                <a:solidFill>
                  <a:prstClr val="black"/>
                </a:solidFill>
                <a:latin typeface="Lucida Console" panose="020B0609040504020204" pitchFamily="49" charset="0"/>
              </a:rPr>
              <a:t>    </a:t>
            </a:r>
            <a:r>
              <a:rPr lang="en-US" sz="1600" dirty="0" err="1">
                <a:solidFill>
                  <a:srgbClr val="00BF00"/>
                </a:solidFill>
                <a:latin typeface="Lucida Console" panose="020B0609040504020204" pitchFamily="49" charset="0"/>
              </a:rPr>
              <a:t>int</a:t>
            </a:r>
            <a:r>
              <a:rPr lang="en-US" sz="16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i</a:t>
            </a:r>
            <a:r>
              <a:rPr lang="en-US" sz="1600" dirty="0">
                <a:solidFill>
                  <a:prstClr val="black"/>
                </a:solidFill>
                <a:latin typeface="Lucida Console" panose="020B0609040504020204" pitchFamily="49" charset="0"/>
              </a:rPr>
              <a:t> = </a:t>
            </a:r>
            <a:r>
              <a:rPr lang="en-US" sz="1600" dirty="0" err="1">
                <a:solidFill>
                  <a:srgbClr val="00BFBF"/>
                </a:solidFill>
                <a:latin typeface="Lucida Console" panose="020B0609040504020204" pitchFamily="49" charset="0"/>
              </a:rPr>
              <a:t>blockDim</a:t>
            </a:r>
            <a:r>
              <a:rPr lang="en-US" sz="16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.x</a:t>
            </a:r>
            <a:r>
              <a:rPr lang="en-US" sz="1600" dirty="0">
                <a:solidFill>
                  <a:prstClr val="black"/>
                </a:solidFill>
                <a:latin typeface="Lucida Console" panose="020B0609040504020204" pitchFamily="49" charset="0"/>
              </a:rPr>
              <a:t>*</a:t>
            </a:r>
            <a:r>
              <a:rPr lang="en-US" sz="1600" dirty="0" err="1">
                <a:solidFill>
                  <a:srgbClr val="00BFBF"/>
                </a:solidFill>
                <a:latin typeface="Lucida Console" panose="020B0609040504020204" pitchFamily="49" charset="0"/>
              </a:rPr>
              <a:t>blockIdx</a:t>
            </a:r>
            <a:r>
              <a:rPr lang="en-US" sz="16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.x</a:t>
            </a:r>
            <a:r>
              <a:rPr lang="en-US" sz="1600" dirty="0">
                <a:solidFill>
                  <a:prstClr val="black"/>
                </a:solidFill>
                <a:latin typeface="Lucida Console" panose="020B0609040504020204" pitchFamily="49" charset="0"/>
              </a:rPr>
              <a:t> + </a:t>
            </a:r>
            <a:r>
              <a:rPr lang="en-US" sz="1600" dirty="0" err="1">
                <a:solidFill>
                  <a:srgbClr val="00BFBF"/>
                </a:solidFill>
                <a:latin typeface="Lucida Console" panose="020B0609040504020204" pitchFamily="49" charset="0"/>
              </a:rPr>
              <a:t>threadIdx</a:t>
            </a:r>
            <a:r>
              <a:rPr lang="en-US" sz="16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.x</a:t>
            </a:r>
            <a:r>
              <a:rPr lang="en-US" sz="1600" dirty="0">
                <a:solidFill>
                  <a:prstClr val="black"/>
                </a:solidFill>
                <a:latin typeface="Lucida Console" panose="020B0609040504020204" pitchFamily="49" charset="0"/>
              </a:rPr>
              <a:t>;</a:t>
            </a:r>
          </a:p>
          <a:p>
            <a:r>
              <a:rPr lang="en-US" sz="1600" dirty="0">
                <a:solidFill>
                  <a:prstClr val="black"/>
                </a:solidFill>
                <a:latin typeface="Lucida Console" panose="020B0609040504020204" pitchFamily="49" charset="0"/>
              </a:rPr>
              <a:t>    </a:t>
            </a:r>
            <a:r>
              <a:rPr lang="en-US" sz="1600" dirty="0">
                <a:solidFill>
                  <a:srgbClr val="BFBF00"/>
                </a:solidFill>
                <a:latin typeface="Lucida Console" panose="020B0609040504020204" pitchFamily="49" charset="0"/>
              </a:rPr>
              <a:t>if</a:t>
            </a:r>
            <a:r>
              <a:rPr lang="en-US" sz="1600" dirty="0">
                <a:solidFill>
                  <a:prstClr val="black"/>
                </a:solidFill>
                <a:latin typeface="Lucida Console" panose="020B0609040504020204" pitchFamily="49" charset="0"/>
              </a:rPr>
              <a:t> (</a:t>
            </a:r>
            <a:r>
              <a:rPr lang="en-US" sz="16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i</a:t>
            </a:r>
            <a:r>
              <a:rPr lang="en-US" sz="1600" dirty="0">
                <a:solidFill>
                  <a:prstClr val="black"/>
                </a:solidFill>
                <a:latin typeface="Lucida Console" panose="020B0609040504020204" pitchFamily="49" charset="0"/>
              </a:rPr>
              <a:t> &lt; N) {</a:t>
            </a:r>
          </a:p>
          <a:p>
            <a:r>
              <a:rPr lang="en-US" sz="1600" dirty="0">
                <a:solidFill>
                  <a:prstClr val="black"/>
                </a:solidFill>
                <a:latin typeface="Lucida Console" panose="020B0609040504020204" pitchFamily="49" charset="0"/>
              </a:rPr>
              <a:t>        z[</a:t>
            </a:r>
            <a:r>
              <a:rPr lang="en-US" sz="16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i</a:t>
            </a:r>
            <a:r>
              <a:rPr lang="en-US" sz="1600" dirty="0">
                <a:solidFill>
                  <a:prstClr val="black"/>
                </a:solidFill>
                <a:latin typeface="Lucida Console" panose="020B0609040504020204" pitchFamily="49" charset="0"/>
              </a:rPr>
              <a:t>] = f(x[</a:t>
            </a:r>
            <a:r>
              <a:rPr lang="en-US" sz="16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i</a:t>
            </a:r>
            <a:r>
              <a:rPr lang="en-US" sz="1600" dirty="0">
                <a:solidFill>
                  <a:prstClr val="black"/>
                </a:solidFill>
                <a:latin typeface="Lucida Console" panose="020B0609040504020204" pitchFamily="49" charset="0"/>
              </a:rPr>
              <a:t>], y[</a:t>
            </a:r>
            <a:r>
              <a:rPr lang="en-US" sz="16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i</a:t>
            </a:r>
            <a:r>
              <a:rPr lang="en-US" sz="1600" dirty="0">
                <a:solidFill>
                  <a:prstClr val="black"/>
                </a:solidFill>
                <a:latin typeface="Lucida Console" panose="020B0609040504020204" pitchFamily="49" charset="0"/>
              </a:rPr>
              <a:t>]);</a:t>
            </a:r>
          </a:p>
          <a:p>
            <a:r>
              <a:rPr lang="en-US" sz="1600" dirty="0">
                <a:solidFill>
                  <a:prstClr val="black"/>
                </a:solidFill>
                <a:latin typeface="Lucida Console" panose="020B0609040504020204" pitchFamily="49" charset="0"/>
              </a:rPr>
              <a:t>    }</a:t>
            </a:r>
          </a:p>
          <a:p>
            <a:r>
              <a:rPr lang="en-US" sz="1600" dirty="0">
                <a:solidFill>
                  <a:prstClr val="black"/>
                </a:solidFill>
                <a:latin typeface="Lucida Console" panose="020B0609040504020204" pitchFamily="49" charset="0"/>
              </a:rPr>
              <a:t>}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0873193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628650" y="2878138"/>
            <a:ext cx="7886700" cy="1101725"/>
          </a:xfrm>
        </p:spPr>
        <p:txBody>
          <a:bodyPr/>
          <a:lstStyle/>
          <a:p>
            <a:pPr algn="ctr"/>
            <a:r>
              <a:rPr lang="en-US" sz="7200" dirty="0" smtClean="0"/>
              <a:t>How much faster?</a:t>
            </a:r>
            <a:endParaRPr lang="en-US" sz="7200" dirty="0"/>
          </a:p>
        </p:txBody>
      </p:sp>
    </p:spTree>
    <p:extLst>
      <p:ext uri="{BB962C8B-B14F-4D97-AF65-F5344CB8AC3E}">
        <p14:creationId xmlns:p14="http://schemas.microsoft.com/office/powerpoint/2010/main" val="10411095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/>
              <a:t>Asynchronous Kernel Calls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 smtClean="0"/>
              <a:t>By default, kernel calls </a:t>
            </a:r>
            <a:r>
              <a:rPr lang="en-US" dirty="0"/>
              <a:t>are </a:t>
            </a:r>
            <a:r>
              <a:rPr lang="en-US" dirty="0" smtClean="0"/>
              <a:t>asynchronous</a:t>
            </a:r>
          </a:p>
          <a:p>
            <a:pPr lvl="1"/>
            <a:r>
              <a:rPr lang="en-US" dirty="0" smtClean="0"/>
              <a:t>Useful for overlapping GPU computations with CPU computations</a:t>
            </a:r>
            <a:endParaRPr lang="en-US" dirty="0"/>
          </a:p>
          <a:p>
            <a:endParaRPr lang="en-US" dirty="0"/>
          </a:p>
          <a:p>
            <a:r>
              <a:rPr lang="en-US" dirty="0" smtClean="0"/>
              <a:t>Use the following API function to synchronize</a:t>
            </a:r>
          </a:p>
          <a:p>
            <a:pPr marL="457200" lvl="1" indent="0">
              <a:buNone/>
            </a:pPr>
            <a:r>
              <a:rPr lang="en-US" sz="18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cudaError_t</a:t>
            </a:r>
            <a:r>
              <a:rPr lang="en-US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cudaDeviceSynchronize</a:t>
            </a:r>
            <a:r>
              <a:rPr lang="en-US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endParaRPr lang="en-US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sz="1800" dirty="0"/>
              <a:t>Blocks until the device has completed all preceding requested </a:t>
            </a:r>
            <a:r>
              <a:rPr lang="en-US" sz="1800" dirty="0" smtClean="0"/>
              <a:t>tasks</a:t>
            </a:r>
            <a:endParaRPr lang="en-US" sz="18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80700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/>
              <a:t>Error Checking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 smtClean="0"/>
              <a:t>All CUDA API calls return an error code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cudaError_t</a:t>
            </a:r>
            <a:r>
              <a:rPr lang="en-US" dirty="0" smtClean="0"/>
              <a:t> that can be used to check if any errors occurred</a:t>
            </a:r>
          </a:p>
          <a:p>
            <a:pPr lvl="1"/>
            <a:r>
              <a:rPr lang="en-US" dirty="0" smtClean="0"/>
              <a:t>Example:</a:t>
            </a:r>
          </a:p>
          <a:p>
            <a:pPr lvl="1"/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For kernel calls, one can check the error returned by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cudaDeviceSynchronize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dirty="0" smtClean="0"/>
              <a:t> or call the following API function:</a:t>
            </a:r>
          </a:p>
          <a:p>
            <a:pPr marL="457200" lvl="1" indent="0">
              <a:buNone/>
            </a:pP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cudaError_t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cudaGetLastError</a:t>
            </a:r>
            <a:r>
              <a:rPr lang="en-US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590255" y="1778339"/>
            <a:ext cx="6477614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 err="1" smtClean="0">
                <a:solidFill>
                  <a:srgbClr val="00BF00"/>
                </a:solidFill>
                <a:latin typeface="Lucida Console" panose="020B0609040504020204" pitchFamily="49" charset="0"/>
              </a:rPr>
              <a:t>cudaError_t</a:t>
            </a:r>
            <a:r>
              <a:rPr lang="en-US" sz="1600" dirty="0" smtClean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600" dirty="0">
                <a:solidFill>
                  <a:prstClr val="black"/>
                </a:solidFill>
                <a:latin typeface="Lucida Console" panose="020B0609040504020204" pitchFamily="49" charset="0"/>
              </a:rPr>
              <a:t>err = </a:t>
            </a:r>
            <a:r>
              <a:rPr lang="en-US" sz="1600" dirty="0" smtClean="0">
                <a:solidFill>
                  <a:prstClr val="black"/>
                </a:solidFill>
                <a:latin typeface="Lucida Console" panose="020B0609040504020204" pitchFamily="49" charset="0"/>
              </a:rPr>
              <a:t>...;</a:t>
            </a:r>
            <a:endParaRPr lang="en-US" sz="1600" dirty="0">
              <a:solidFill>
                <a:prstClr val="black"/>
              </a:solidFill>
              <a:latin typeface="Lucida Console" panose="020B0609040504020204" pitchFamily="49" charset="0"/>
            </a:endParaRPr>
          </a:p>
          <a:p>
            <a:r>
              <a:rPr lang="en-US" sz="1600" dirty="0" smtClean="0">
                <a:solidFill>
                  <a:srgbClr val="BFBF00"/>
                </a:solidFill>
                <a:latin typeface="Lucida Console" panose="020B0609040504020204" pitchFamily="49" charset="0"/>
              </a:rPr>
              <a:t>if</a:t>
            </a:r>
            <a:r>
              <a:rPr lang="en-US" sz="1600" dirty="0" smtClean="0">
                <a:solidFill>
                  <a:prstClr val="black"/>
                </a:solidFill>
                <a:latin typeface="Lucida Console" panose="020B0609040504020204" pitchFamily="49" charset="0"/>
              </a:rPr>
              <a:t>(err </a:t>
            </a:r>
            <a:r>
              <a:rPr lang="en-US" sz="1600" dirty="0">
                <a:solidFill>
                  <a:prstClr val="black"/>
                </a:solidFill>
                <a:latin typeface="Lucida Console" panose="020B0609040504020204" pitchFamily="49" charset="0"/>
              </a:rPr>
              <a:t>!= </a:t>
            </a:r>
            <a:r>
              <a:rPr lang="en-US" sz="1600" dirty="0" err="1">
                <a:solidFill>
                  <a:srgbClr val="BFBF00"/>
                </a:solidFill>
                <a:latin typeface="Lucida Console" panose="020B0609040504020204" pitchFamily="49" charset="0"/>
              </a:rPr>
              <a:t>cudaSuccess</a:t>
            </a:r>
            <a:r>
              <a:rPr lang="en-US" sz="1600" dirty="0">
                <a:solidFill>
                  <a:prstClr val="black"/>
                </a:solidFill>
                <a:latin typeface="Lucida Console" panose="020B0609040504020204" pitchFamily="49" charset="0"/>
              </a:rPr>
              <a:t>) {</a:t>
            </a:r>
          </a:p>
          <a:p>
            <a:r>
              <a:rPr lang="en-US" sz="1600" dirty="0" smtClean="0">
                <a:solidFill>
                  <a:prstClr val="black"/>
                </a:solidFill>
                <a:latin typeface="Lucida Console" panose="020B0609040504020204" pitchFamily="49" charset="0"/>
              </a:rPr>
              <a:t>    </a:t>
            </a:r>
            <a:r>
              <a:rPr lang="en-US" sz="1600" dirty="0" err="1" smtClean="0">
                <a:solidFill>
                  <a:prstClr val="black"/>
                </a:solidFill>
                <a:latin typeface="Lucida Console" panose="020B0609040504020204" pitchFamily="49" charset="0"/>
              </a:rPr>
              <a:t>printf</a:t>
            </a:r>
            <a:r>
              <a:rPr lang="en-US" sz="1600" dirty="0">
                <a:solidFill>
                  <a:prstClr val="black"/>
                </a:solidFill>
                <a:latin typeface="Lucida Console" panose="020B0609040504020204" pitchFamily="49" charset="0"/>
              </a:rPr>
              <a:t>(</a:t>
            </a:r>
            <a:r>
              <a:rPr lang="en-US" sz="1600" dirty="0">
                <a:solidFill>
                  <a:srgbClr val="BFBF00"/>
                </a:solidFill>
                <a:latin typeface="Lucida Console" panose="020B0609040504020204" pitchFamily="49" charset="0"/>
              </a:rPr>
              <a:t>"Error: </a:t>
            </a:r>
            <a:r>
              <a:rPr lang="en-US" sz="1600" dirty="0">
                <a:solidFill>
                  <a:srgbClr val="BF00BF"/>
                </a:solidFill>
                <a:latin typeface="Lucida Console" panose="020B0609040504020204" pitchFamily="49" charset="0"/>
              </a:rPr>
              <a:t>%s\n</a:t>
            </a:r>
            <a:r>
              <a:rPr lang="en-US" sz="1600" dirty="0">
                <a:solidFill>
                  <a:srgbClr val="BFBF00"/>
                </a:solidFill>
                <a:latin typeface="Lucida Console" panose="020B0609040504020204" pitchFamily="49" charset="0"/>
              </a:rPr>
              <a:t>"</a:t>
            </a:r>
            <a:r>
              <a:rPr lang="en-US" sz="1600" dirty="0">
                <a:solidFill>
                  <a:prstClr val="black"/>
                </a:solidFill>
                <a:latin typeface="Lucida Console" panose="020B0609040504020204" pitchFamily="49" charset="0"/>
              </a:rPr>
              <a:t>, </a:t>
            </a:r>
            <a:r>
              <a:rPr lang="en-US" sz="1600" dirty="0" err="1" smtClean="0">
                <a:solidFill>
                  <a:prstClr val="black"/>
                </a:solidFill>
                <a:latin typeface="Lucida Console" panose="020B0609040504020204" pitchFamily="49" charset="0"/>
              </a:rPr>
              <a:t>cudaGetErrorString</a:t>
            </a:r>
            <a:r>
              <a:rPr lang="en-US" sz="1600" dirty="0" smtClean="0">
                <a:solidFill>
                  <a:prstClr val="black"/>
                </a:solidFill>
                <a:latin typeface="Lucida Console" panose="020B0609040504020204" pitchFamily="49" charset="0"/>
              </a:rPr>
              <a:t>(err</a:t>
            </a:r>
            <a:r>
              <a:rPr lang="en-US" sz="1600" dirty="0">
                <a:solidFill>
                  <a:prstClr val="black"/>
                </a:solidFill>
                <a:latin typeface="Lucida Console" panose="020B0609040504020204" pitchFamily="49" charset="0"/>
              </a:rPr>
              <a:t>));</a:t>
            </a:r>
          </a:p>
          <a:p>
            <a:r>
              <a:rPr lang="en-US" sz="1600" dirty="0" smtClean="0">
                <a:solidFill>
                  <a:prstClr val="black"/>
                </a:solidFill>
                <a:latin typeface="Lucida Console" panose="020B0609040504020204" pitchFamily="49" charset="0"/>
              </a:rPr>
              <a:t>    </a:t>
            </a:r>
            <a:r>
              <a:rPr lang="en-US" sz="1600" dirty="0">
                <a:solidFill>
                  <a:prstClr val="black"/>
                </a:solidFill>
                <a:latin typeface="Lucida Console" panose="020B0609040504020204" pitchFamily="49" charset="0"/>
              </a:rPr>
              <a:t>exit(</a:t>
            </a:r>
            <a:r>
              <a:rPr lang="en-US" sz="1600" dirty="0">
                <a:solidFill>
                  <a:srgbClr val="BFBF00"/>
                </a:solidFill>
                <a:latin typeface="Lucida Console" panose="020B0609040504020204" pitchFamily="49" charset="0"/>
              </a:rPr>
              <a:t>0</a:t>
            </a:r>
            <a:r>
              <a:rPr lang="en-US" sz="1600" dirty="0">
                <a:solidFill>
                  <a:prstClr val="black"/>
                </a:solidFill>
                <a:latin typeface="Lucida Console" panose="020B0609040504020204" pitchFamily="49" charset="0"/>
              </a:rPr>
              <a:t>);</a:t>
            </a:r>
            <a:endParaRPr lang="en-US" sz="1600" dirty="0" smtClean="0">
              <a:solidFill>
                <a:prstClr val="black"/>
              </a:solidFill>
              <a:latin typeface="Lucida Console" panose="020B0609040504020204" pitchFamily="49" charset="0"/>
            </a:endParaRPr>
          </a:p>
          <a:p>
            <a:r>
              <a:rPr lang="en-US" sz="1600" dirty="0" smtClean="0">
                <a:solidFill>
                  <a:prstClr val="black"/>
                </a:solidFill>
                <a:latin typeface="Lucida Console" panose="020B0609040504020204" pitchFamily="49" charset="0"/>
              </a:rPr>
              <a:t>}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9249297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/>
              <a:t>You just learned CUDA!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 smtClean="0"/>
              <a:t>The rest of this course is about parallelization strategies and optimizations for massively parallel processors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94236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 smtClean="0"/>
              <a:t>References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Wen-</a:t>
            </a:r>
            <a:r>
              <a:rPr lang="en-US" dirty="0" err="1"/>
              <a:t>mei</a:t>
            </a:r>
            <a:r>
              <a:rPr lang="en-US" dirty="0"/>
              <a:t> W. </a:t>
            </a:r>
            <a:r>
              <a:rPr lang="en-US" dirty="0" err="1"/>
              <a:t>Hwu</a:t>
            </a:r>
            <a:r>
              <a:rPr lang="en-US" dirty="0"/>
              <a:t>, David B. Kirk, and Izzat El Hajj. </a:t>
            </a:r>
            <a:r>
              <a:rPr lang="en-US" i="1" dirty="0"/>
              <a:t>Programming Massively Parallel Processors: A Hands-on Approach</a:t>
            </a:r>
            <a:r>
              <a:rPr lang="en-US" dirty="0"/>
              <a:t>. Morgan Kaufmann, 2022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r>
              <a:rPr lang="en-US" dirty="0"/>
              <a:t>CUDA C++ Programming Guide</a:t>
            </a:r>
            <a:r>
              <a:rPr lang="en-US" dirty="0" smtClean="0"/>
              <a:t>:</a:t>
            </a:r>
            <a:br>
              <a:rPr lang="en-US" dirty="0" smtClean="0"/>
            </a:br>
            <a:r>
              <a:rPr lang="en-US" dirty="0" smtClean="0">
                <a:hlinkClick r:id="rId2"/>
              </a:rPr>
              <a:t>https</a:t>
            </a:r>
            <a:r>
              <a:rPr lang="en-US" dirty="0">
                <a:hlinkClick r:id="rId2"/>
              </a:rPr>
              <a:t>://</a:t>
            </a:r>
            <a:r>
              <a:rPr lang="en-US" dirty="0" smtClean="0">
                <a:hlinkClick r:id="rId2"/>
              </a:rPr>
              <a:t>docs.nvidia.com/cuda/cuda-c-programming-guide</a:t>
            </a:r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38975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439</TotalTime>
  <Words>1356</Words>
  <Application>Microsoft Office PowerPoint</Application>
  <PresentationFormat>On-screen Show (4:3)</PresentationFormat>
  <Paragraphs>285</Paragraphs>
  <Slides>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6" baseType="lpstr">
      <vt:lpstr>MS PGothic</vt:lpstr>
      <vt:lpstr>Arial</vt:lpstr>
      <vt:lpstr>Calibri</vt:lpstr>
      <vt:lpstr>Calibri Light</vt:lpstr>
      <vt:lpstr>Courier New</vt:lpstr>
      <vt:lpstr>Lucida Console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How much faster?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</dc:title>
  <dc:creator>Tejasvi Waghmare (IL-IN)</dc:creator>
  <cp:lastModifiedBy>Izzat El Hajj</cp:lastModifiedBy>
  <cp:revision>118</cp:revision>
  <dcterms:created xsi:type="dcterms:W3CDTF">2022-03-30T06:33:52Z</dcterms:created>
  <dcterms:modified xsi:type="dcterms:W3CDTF">2022-08-31T11:49:49Z</dcterms:modified>
</cp:coreProperties>
</file>