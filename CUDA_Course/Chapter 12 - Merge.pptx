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18"/>
  </p:handout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1" y="3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02-11-2022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12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Merge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Merge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b="1" dirty="0">
                <a:solidFill>
                  <a:schemeClr val="accent5"/>
                </a:solidFill>
              </a:rPr>
              <a:t>ordered merge</a:t>
            </a:r>
            <a:r>
              <a:rPr lang="en-US" dirty="0"/>
              <a:t> operations takes two ordered lists and combines them into a single ordered list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696117"/>
              </p:ext>
            </p:extLst>
          </p:nvPr>
        </p:nvGraphicFramePr>
        <p:xfrm>
          <a:off x="1232005" y="2629123"/>
          <a:ext cx="3200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70258995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1104837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657875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4405284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30797912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5378628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288979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69168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131556"/>
              </p:ext>
            </p:extLst>
          </p:nvPr>
        </p:nvGraphicFramePr>
        <p:xfrm>
          <a:off x="5487679" y="2629123"/>
          <a:ext cx="2286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70258995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1104837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657875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4405284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288979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69168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333368"/>
              </p:ext>
            </p:extLst>
          </p:nvPr>
        </p:nvGraphicFramePr>
        <p:xfrm>
          <a:off x="1828800" y="4333673"/>
          <a:ext cx="54864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66389988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7973456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9734543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330285691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937712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70258995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311048378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55657875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54405284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30797912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153786287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0288979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6691680"/>
                  </a:ext>
                </a:extLst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2890314" y="3532753"/>
            <a:ext cx="614723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5348087" y="3532753"/>
            <a:ext cx="1183342" cy="640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2335" y="267305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2848" y="2673057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V="1">
            <a:off x="1847856" y="4913296"/>
            <a:ext cx="54406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15984" y="4868537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 + 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0702" y="437760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1220051" y="3176487"/>
            <a:ext cx="321235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44781" y="3131728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5480564" y="3176487"/>
            <a:ext cx="22931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67716" y="313172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52090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3" grpId="0"/>
      <p:bldP spid="16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Sequential Merge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1176" y="2020963"/>
            <a:ext cx="806164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merge(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 A,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 B,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 C,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m,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n)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j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k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k &lt; m + n; ++k) {</a:t>
            </a:r>
          </a:p>
          <a:p>
            <a:r>
              <a:rPr lang="pt-BR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pt-BR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pt-BR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(j == n || i &lt; m &amp;&amp; A[i] &lt;= B[j])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C[k] = A[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++];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else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C[k] = B[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j++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69231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Parallel Merge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855408"/>
              </p:ext>
            </p:extLst>
          </p:nvPr>
        </p:nvGraphicFramePr>
        <p:xfrm>
          <a:off x="1143000" y="2938155"/>
          <a:ext cx="685800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8161826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97901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4675957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335230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134422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59659699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1242428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106522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387264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553336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6190374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290403"/>
              </p:ext>
            </p:extLst>
          </p:nvPr>
        </p:nvGraphicFramePr>
        <p:xfrm>
          <a:off x="728064" y="1762558"/>
          <a:ext cx="384048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572443"/>
              </p:ext>
            </p:extLst>
          </p:nvPr>
        </p:nvGraphicFramePr>
        <p:xfrm>
          <a:off x="5331278" y="1762558"/>
          <a:ext cx="30175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1071008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53803902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240062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140351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2518126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526807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4351898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35931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6506151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1480188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646912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576366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8650" y="3986614"/>
            <a:ext cx="78867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/>
              <a:t>Parallelization approach:</a:t>
            </a:r>
            <a:r>
              <a:rPr lang="en-US" sz="2000" dirty="0"/>
              <a:t> Assign a thread to each output element and have it fetch the corresponding input element from A or B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b="1" u="sng" dirty="0"/>
              <a:t>Key Challenge:</a:t>
            </a:r>
            <a:r>
              <a:rPr lang="en-US" sz="2000" dirty="0"/>
              <a:t> How does each thread find its input element?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28064" y="2109470"/>
            <a:ext cx="38404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0348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3798" y="202660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5331278" y="2109470"/>
            <a:ext cx="30175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3562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791" y="20266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143000" y="3194888"/>
            <a:ext cx="6858000" cy="369332"/>
            <a:chOff x="1143000" y="3374961"/>
            <a:chExt cx="3840480" cy="36933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1143000" y="3457824"/>
              <a:ext cx="384048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63867" y="3374961"/>
              <a:ext cx="398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 + n</a:t>
              </a: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30093" y="28811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41844" y="2392310"/>
            <a:ext cx="6636780" cy="501830"/>
            <a:chOff x="1241844" y="2776510"/>
            <a:chExt cx="6636780" cy="501830"/>
          </a:xfrm>
        </p:grpSpPr>
        <p:sp>
          <p:nvSpPr>
            <p:cNvPr id="18" name="Freeform 17"/>
            <p:cNvSpPr/>
            <p:nvPr/>
          </p:nvSpPr>
          <p:spPr>
            <a:xfrm>
              <a:off x="1241844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2611064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" name="Freeform 19"/>
            <p:cNvSpPr/>
            <p:nvPr/>
          </p:nvSpPr>
          <p:spPr>
            <a:xfrm>
              <a:off x="3980284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349504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6718724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4" name="Freeform 23"/>
            <p:cNvSpPr/>
            <p:nvPr/>
          </p:nvSpPr>
          <p:spPr>
            <a:xfrm>
              <a:off x="1515688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5" name="Freeform 24"/>
            <p:cNvSpPr/>
            <p:nvPr/>
          </p:nvSpPr>
          <p:spPr>
            <a:xfrm>
              <a:off x="2884908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6" name="Freeform 25"/>
            <p:cNvSpPr/>
            <p:nvPr/>
          </p:nvSpPr>
          <p:spPr>
            <a:xfrm>
              <a:off x="4254128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7" name="Freeform 26"/>
            <p:cNvSpPr/>
            <p:nvPr/>
          </p:nvSpPr>
          <p:spPr>
            <a:xfrm>
              <a:off x="5623348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8" name="Freeform 27"/>
            <p:cNvSpPr/>
            <p:nvPr/>
          </p:nvSpPr>
          <p:spPr>
            <a:xfrm>
              <a:off x="6992568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9" name="Freeform 28"/>
            <p:cNvSpPr/>
            <p:nvPr/>
          </p:nvSpPr>
          <p:spPr>
            <a:xfrm>
              <a:off x="1789532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0" name="Freeform 29"/>
            <p:cNvSpPr/>
            <p:nvPr/>
          </p:nvSpPr>
          <p:spPr>
            <a:xfrm>
              <a:off x="3158752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" name="Freeform 30"/>
            <p:cNvSpPr/>
            <p:nvPr/>
          </p:nvSpPr>
          <p:spPr>
            <a:xfrm>
              <a:off x="4527972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" name="Freeform 31"/>
            <p:cNvSpPr/>
            <p:nvPr/>
          </p:nvSpPr>
          <p:spPr>
            <a:xfrm>
              <a:off x="5897192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" name="Freeform 32"/>
            <p:cNvSpPr/>
            <p:nvPr/>
          </p:nvSpPr>
          <p:spPr>
            <a:xfrm>
              <a:off x="7266412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" name="Freeform 33"/>
            <p:cNvSpPr/>
            <p:nvPr/>
          </p:nvSpPr>
          <p:spPr>
            <a:xfrm>
              <a:off x="2063376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" name="Freeform 34"/>
            <p:cNvSpPr/>
            <p:nvPr/>
          </p:nvSpPr>
          <p:spPr>
            <a:xfrm>
              <a:off x="3432596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" name="Freeform 35"/>
            <p:cNvSpPr/>
            <p:nvPr/>
          </p:nvSpPr>
          <p:spPr>
            <a:xfrm>
              <a:off x="4801816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7" name="Freeform 36"/>
            <p:cNvSpPr/>
            <p:nvPr/>
          </p:nvSpPr>
          <p:spPr>
            <a:xfrm>
              <a:off x="6171036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8" name="Freeform 37"/>
            <p:cNvSpPr/>
            <p:nvPr/>
          </p:nvSpPr>
          <p:spPr>
            <a:xfrm>
              <a:off x="7540256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9" name="Freeform 38"/>
            <p:cNvSpPr/>
            <p:nvPr/>
          </p:nvSpPr>
          <p:spPr>
            <a:xfrm>
              <a:off x="2337220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0" name="Freeform 39"/>
            <p:cNvSpPr/>
            <p:nvPr/>
          </p:nvSpPr>
          <p:spPr>
            <a:xfrm>
              <a:off x="3706440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1" name="Freeform 40"/>
            <p:cNvSpPr/>
            <p:nvPr/>
          </p:nvSpPr>
          <p:spPr>
            <a:xfrm>
              <a:off x="5075660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2" name="Freeform 41"/>
            <p:cNvSpPr/>
            <p:nvPr/>
          </p:nvSpPr>
          <p:spPr>
            <a:xfrm>
              <a:off x="6444880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3" name="Freeform 42"/>
            <p:cNvSpPr/>
            <p:nvPr/>
          </p:nvSpPr>
          <p:spPr>
            <a:xfrm>
              <a:off x="7814101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076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Finding Co-ranks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773673"/>
              </p:ext>
            </p:extLst>
          </p:nvPr>
        </p:nvGraphicFramePr>
        <p:xfrm>
          <a:off x="1143000" y="2938155"/>
          <a:ext cx="685800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8161826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97901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4675957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335230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134422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59659699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1242428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106522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387264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553336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6190374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704027"/>
              </p:ext>
            </p:extLst>
          </p:nvPr>
        </p:nvGraphicFramePr>
        <p:xfrm>
          <a:off x="728064" y="1762558"/>
          <a:ext cx="384048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622602"/>
              </p:ext>
            </p:extLst>
          </p:nvPr>
        </p:nvGraphicFramePr>
        <p:xfrm>
          <a:off x="5331278" y="1762558"/>
          <a:ext cx="30175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1071008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53803902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240062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140351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2518126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526807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4351898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35931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6506151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1480188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646912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6366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8650" y="3602414"/>
            <a:ext cx="78867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Objective:</a:t>
            </a:r>
            <a:r>
              <a:rPr lang="en-US" sz="2000" dirty="0"/>
              <a:t> Given k, find </a:t>
            </a:r>
            <a:r>
              <a:rPr lang="en-US" sz="2000" dirty="0" err="1"/>
              <a:t>i</a:t>
            </a:r>
            <a:r>
              <a:rPr lang="en-US" sz="2000" dirty="0"/>
              <a:t> and j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We refer to </a:t>
            </a:r>
            <a:r>
              <a:rPr lang="en-US" sz="2000" dirty="0" err="1"/>
              <a:t>i</a:t>
            </a:r>
            <a:r>
              <a:rPr lang="en-US" sz="2000" dirty="0"/>
              <a:t> and j as the </a:t>
            </a:r>
            <a:r>
              <a:rPr lang="en-US" sz="2000" b="1" dirty="0">
                <a:solidFill>
                  <a:schemeClr val="accent5"/>
                </a:solidFill>
              </a:rPr>
              <a:t>co-ranks</a:t>
            </a:r>
            <a:r>
              <a:rPr lang="en-US" sz="2000" dirty="0"/>
              <a:t> of k</a:t>
            </a:r>
          </a:p>
          <a:p>
            <a:endParaRPr lang="en-US" sz="2000" dirty="0"/>
          </a:p>
          <a:p>
            <a:r>
              <a:rPr lang="en-US" sz="2000" dirty="0"/>
              <a:t>We observe that:</a:t>
            </a:r>
          </a:p>
          <a:p>
            <a:pPr algn="ctr"/>
            <a:r>
              <a:rPr lang="en-US" sz="2000" dirty="0"/>
              <a:t>k = </a:t>
            </a:r>
            <a:r>
              <a:rPr lang="en-US" sz="2000" dirty="0" err="1"/>
              <a:t>i</a:t>
            </a:r>
            <a:r>
              <a:rPr lang="en-US" sz="2000" dirty="0"/>
              <a:t> + j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dirty="0"/>
              <a:t>Therefore, it is sufficient to find </a:t>
            </a:r>
            <a:r>
              <a:rPr lang="en-US" sz="2000" dirty="0" err="1"/>
              <a:t>i</a:t>
            </a:r>
            <a:r>
              <a:rPr lang="en-US" sz="2000" dirty="0"/>
              <a:t>, then use j = k - </a:t>
            </a:r>
            <a:r>
              <a:rPr lang="en-US" sz="2000" dirty="0" err="1"/>
              <a:t>i</a:t>
            </a:r>
            <a:r>
              <a:rPr lang="en-US" sz="2000" dirty="0"/>
              <a:t>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28064" y="2109470"/>
            <a:ext cx="38404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0348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3798" y="202660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5331278" y="2109470"/>
            <a:ext cx="30175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3562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791" y="20266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143000" y="3194888"/>
            <a:ext cx="6858000" cy="369332"/>
            <a:chOff x="1143000" y="3374961"/>
            <a:chExt cx="3840480" cy="36933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1143000" y="3457824"/>
              <a:ext cx="384048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63867" y="3374961"/>
              <a:ext cx="398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 + n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740447" y="2351235"/>
            <a:ext cx="288862" cy="569144"/>
            <a:chOff x="3740447" y="2867123"/>
            <a:chExt cx="288862" cy="569144"/>
          </a:xfrm>
        </p:grpSpPr>
        <p:cxnSp>
          <p:nvCxnSpPr>
            <p:cNvPr id="8" name="Straight Arrow Connector 7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740447" y="2867123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k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240659" y="1170221"/>
            <a:ext cx="237566" cy="569144"/>
            <a:chOff x="3766095" y="2867123"/>
            <a:chExt cx="237566" cy="569144"/>
          </a:xfrm>
        </p:grpSpPr>
        <p:cxnSp>
          <p:nvCxnSpPr>
            <p:cNvPr id="27" name="Straight Arrow Connector 26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766095" y="2867123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i</a:t>
              </a:r>
              <a:endParaRPr lang="en-US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307033" y="1170221"/>
            <a:ext cx="239168" cy="569144"/>
            <a:chOff x="3765294" y="2867123"/>
            <a:chExt cx="239168" cy="569144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765294" y="2867123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j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830093" y="28811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407142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Finding Co-ranks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" y="3602414"/>
            <a:ext cx="7886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Objective:</a:t>
            </a:r>
            <a:r>
              <a:rPr lang="en-US" sz="2000" dirty="0"/>
              <a:t> Given k, find </a:t>
            </a:r>
            <a:r>
              <a:rPr lang="en-US" sz="2000" dirty="0" err="1"/>
              <a:t>i</a:t>
            </a:r>
            <a:r>
              <a:rPr lang="en-US" sz="2000" dirty="0"/>
              <a:t>			</a:t>
            </a:r>
            <a:r>
              <a:rPr lang="en-US" sz="2000" b="1" u="sng" dirty="0"/>
              <a:t>To find j:</a:t>
            </a:r>
            <a:r>
              <a:rPr lang="en-US" sz="2000" dirty="0"/>
              <a:t> j = k - </a:t>
            </a:r>
            <a:r>
              <a:rPr lang="en-US" sz="2000" dirty="0" err="1"/>
              <a:t>i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Let’s set a bounds on </a:t>
            </a:r>
            <a:r>
              <a:rPr lang="en-US" sz="2000" dirty="0" err="1"/>
              <a:t>i</a:t>
            </a:r>
            <a:r>
              <a:rPr lang="en-US" sz="2000" dirty="0"/>
              <a:t>. We observe that: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28064" y="2109470"/>
            <a:ext cx="38404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0348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3798" y="202660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5331278" y="2109470"/>
            <a:ext cx="30175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3562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791" y="20266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143000" y="3194888"/>
            <a:ext cx="6858000" cy="369332"/>
            <a:chOff x="1143000" y="3374961"/>
            <a:chExt cx="3840480" cy="36933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1143000" y="3457824"/>
              <a:ext cx="384048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63867" y="3374961"/>
              <a:ext cx="398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 + n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740447" y="2351235"/>
            <a:ext cx="288862" cy="569144"/>
            <a:chOff x="3740447" y="2867123"/>
            <a:chExt cx="288862" cy="569144"/>
          </a:xfrm>
        </p:grpSpPr>
        <p:cxnSp>
          <p:nvCxnSpPr>
            <p:cNvPr id="8" name="Straight Arrow Connector 7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740447" y="2867123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k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240659" y="1170221"/>
            <a:ext cx="237566" cy="569144"/>
            <a:chOff x="3766095" y="2867123"/>
            <a:chExt cx="237566" cy="569144"/>
          </a:xfrm>
        </p:grpSpPr>
        <p:cxnSp>
          <p:nvCxnSpPr>
            <p:cNvPr id="27" name="Straight Arrow Connector 26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766095" y="2867123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i</a:t>
              </a:r>
              <a:endParaRPr lang="en-US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307033" y="1170221"/>
            <a:ext cx="239168" cy="569144"/>
            <a:chOff x="3765294" y="2867123"/>
            <a:chExt cx="239168" cy="569144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765294" y="2867123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j</a:t>
              </a:r>
            </a:p>
          </p:txBody>
        </p:sp>
      </p:grpSp>
      <p:sp>
        <p:nvSpPr>
          <p:cNvPr id="3" name="Rectangle 2"/>
          <p:cNvSpPr/>
          <p:nvPr/>
        </p:nvSpPr>
        <p:spPr>
          <a:xfrm>
            <a:off x="1963924" y="4542930"/>
            <a:ext cx="12971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0  ≤  </a:t>
            </a:r>
            <a:r>
              <a:rPr lang="en-US" sz="2000" dirty="0" err="1"/>
              <a:t>i</a:t>
            </a:r>
            <a:r>
              <a:rPr lang="en-US" sz="2000" dirty="0"/>
              <a:t>  ≤  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7764" y="4542930"/>
            <a:ext cx="5774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and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72374" y="4542930"/>
            <a:ext cx="2387193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/>
              <a:t>0  ≤     j    ≤  n</a:t>
            </a:r>
          </a:p>
          <a:p>
            <a:pPr algn="ctr"/>
            <a:r>
              <a:rPr lang="en-US" sz="2000" dirty="0"/>
              <a:t>0  ≤  k - </a:t>
            </a:r>
            <a:r>
              <a:rPr lang="en-US" sz="2000" dirty="0" err="1"/>
              <a:t>i</a:t>
            </a:r>
            <a:r>
              <a:rPr lang="en-US" sz="2000" dirty="0"/>
              <a:t>  ≤  n</a:t>
            </a:r>
          </a:p>
          <a:p>
            <a:pPr algn="ctr"/>
            <a:r>
              <a:rPr lang="en-US" sz="2000" dirty="0"/>
              <a:t>      -k  ≤    -</a:t>
            </a:r>
            <a:r>
              <a:rPr lang="en-US" sz="2000" dirty="0" err="1"/>
              <a:t>i</a:t>
            </a:r>
            <a:r>
              <a:rPr lang="en-US" sz="2000" dirty="0"/>
              <a:t>    ≤  -k + n</a:t>
            </a:r>
          </a:p>
          <a:p>
            <a:pPr algn="ctr"/>
            <a:r>
              <a:rPr lang="en-US" sz="2000" dirty="0"/>
              <a:t>k - n  ≤    </a:t>
            </a:r>
            <a:r>
              <a:rPr lang="en-US" sz="2000" dirty="0" err="1"/>
              <a:t>i</a:t>
            </a:r>
            <a:r>
              <a:rPr lang="en-US" sz="2000" dirty="0"/>
              <a:t>     ≤  k     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8650" y="5951149"/>
            <a:ext cx="544174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Therefore:                   max(0, k - n)  ≤  </a:t>
            </a:r>
            <a:r>
              <a:rPr lang="en-US" sz="2000" dirty="0" err="1"/>
              <a:t>i</a:t>
            </a:r>
            <a:r>
              <a:rPr lang="en-US" sz="2000" dirty="0"/>
              <a:t>  ≤  min(m, 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093" y="28811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214855"/>
              </p:ext>
            </p:extLst>
          </p:nvPr>
        </p:nvGraphicFramePr>
        <p:xfrm>
          <a:off x="1143000" y="2938155"/>
          <a:ext cx="685800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8161826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97901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4675957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335230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134422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59659699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1242428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106522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387264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553336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6190374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94804"/>
              </p:ext>
            </p:extLst>
          </p:nvPr>
        </p:nvGraphicFramePr>
        <p:xfrm>
          <a:off x="728064" y="1762558"/>
          <a:ext cx="384048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683588"/>
              </p:ext>
            </p:extLst>
          </p:nvPr>
        </p:nvGraphicFramePr>
        <p:xfrm>
          <a:off x="5331278" y="1762558"/>
          <a:ext cx="30175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1071008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53803902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240062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140351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2518126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526807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4351898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35931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6506151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1480188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646912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63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3363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2" grpId="0"/>
      <p:bldP spid="33" grpId="0" uiExpand="1" build="p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Finding Co-ranks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49" y="3602414"/>
            <a:ext cx="82387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Objective:</a:t>
            </a:r>
            <a:r>
              <a:rPr lang="en-US" sz="2000" dirty="0"/>
              <a:t> Given k, find </a:t>
            </a:r>
            <a:r>
              <a:rPr lang="en-US" sz="2000" dirty="0" err="1"/>
              <a:t>i</a:t>
            </a:r>
            <a:r>
              <a:rPr lang="en-US" sz="2000" dirty="0"/>
              <a:t>			</a:t>
            </a:r>
            <a:r>
              <a:rPr lang="en-US" sz="2000" b="1" u="sng" dirty="0"/>
              <a:t>To find j:</a:t>
            </a:r>
            <a:r>
              <a:rPr lang="en-US" sz="2000" dirty="0"/>
              <a:t> j = k -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b="1" u="sng" dirty="0"/>
              <a:t>Bound on i:</a:t>
            </a:r>
            <a:r>
              <a:rPr lang="en-US" sz="2000" dirty="0"/>
              <a:t>  max(0, k - n)  ≤  </a:t>
            </a:r>
            <a:r>
              <a:rPr lang="en-US" sz="2000" dirty="0" err="1"/>
              <a:t>i</a:t>
            </a:r>
            <a:r>
              <a:rPr lang="en-US" sz="2000" dirty="0"/>
              <a:t>  ≤  min(m, k)</a:t>
            </a:r>
          </a:p>
          <a:p>
            <a:endParaRPr lang="en-US" sz="2000" dirty="0"/>
          </a:p>
          <a:p>
            <a:r>
              <a:rPr lang="en-US" sz="2000" b="1" u="sng" dirty="0"/>
              <a:t>Strategy:</a:t>
            </a:r>
            <a:r>
              <a:rPr lang="en-US" sz="2000" dirty="0"/>
              <a:t> Perform a binary search within the bound</a:t>
            </a:r>
          </a:p>
          <a:p>
            <a:endParaRPr lang="en-US" sz="2000" dirty="0"/>
          </a:p>
          <a:p>
            <a:r>
              <a:rPr lang="en-US" sz="2000" dirty="0"/>
              <a:t>How do we know when we found </a:t>
            </a:r>
            <a:r>
              <a:rPr lang="en-US" sz="2000" dirty="0" err="1"/>
              <a:t>i</a:t>
            </a:r>
            <a:r>
              <a:rPr lang="en-US" sz="2000" dirty="0"/>
              <a:t>? We observe that:</a:t>
            </a:r>
          </a:p>
          <a:p>
            <a:pPr algn="ctr"/>
            <a:r>
              <a:rPr lang="en-US" sz="2000" dirty="0"/>
              <a:t>A[</a:t>
            </a:r>
            <a:r>
              <a:rPr lang="en-US" sz="2000" dirty="0" err="1"/>
              <a:t>i</a:t>
            </a:r>
            <a:r>
              <a:rPr lang="en-US" sz="2000" dirty="0"/>
              <a:t> - 1]  ≤  B[j]          and          B[j - 1]  &lt;  A[</a:t>
            </a:r>
            <a:r>
              <a:rPr lang="en-US" sz="2000" dirty="0" err="1"/>
              <a:t>i</a:t>
            </a:r>
            <a:r>
              <a:rPr lang="en-US" sz="2000" dirty="0"/>
              <a:t>]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28064" y="2109470"/>
            <a:ext cx="38404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0348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3798" y="202660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5331278" y="2109470"/>
            <a:ext cx="30175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3562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791" y="20266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143000" y="3194888"/>
            <a:ext cx="6858000" cy="369332"/>
            <a:chOff x="1143000" y="3374961"/>
            <a:chExt cx="3840480" cy="36933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1143000" y="3457824"/>
              <a:ext cx="384048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63867" y="3374961"/>
              <a:ext cx="398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 + n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740447" y="2351235"/>
            <a:ext cx="288862" cy="569144"/>
            <a:chOff x="3740447" y="2867123"/>
            <a:chExt cx="288862" cy="569144"/>
          </a:xfrm>
        </p:grpSpPr>
        <p:cxnSp>
          <p:nvCxnSpPr>
            <p:cNvPr id="8" name="Straight Arrow Connector 7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740447" y="2867123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k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240659" y="1170221"/>
            <a:ext cx="237566" cy="569144"/>
            <a:chOff x="3766095" y="2867123"/>
            <a:chExt cx="237566" cy="569144"/>
          </a:xfrm>
        </p:grpSpPr>
        <p:cxnSp>
          <p:nvCxnSpPr>
            <p:cNvPr id="27" name="Straight Arrow Connector 26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766095" y="2867123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i</a:t>
              </a:r>
              <a:endParaRPr lang="en-US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307033" y="1170221"/>
            <a:ext cx="239168" cy="569144"/>
            <a:chOff x="3765294" y="2867123"/>
            <a:chExt cx="239168" cy="569144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765294" y="2867123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j</a:t>
              </a: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830093" y="28811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602198"/>
              </p:ext>
            </p:extLst>
          </p:nvPr>
        </p:nvGraphicFramePr>
        <p:xfrm>
          <a:off x="1143000" y="2938155"/>
          <a:ext cx="685800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8161826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97901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4675957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335230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134422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59659699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1242428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106522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387264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553336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6190374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478027"/>
              </p:ext>
            </p:extLst>
          </p:nvPr>
        </p:nvGraphicFramePr>
        <p:xfrm>
          <a:off x="728064" y="1762558"/>
          <a:ext cx="384048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604151"/>
              </p:ext>
            </p:extLst>
          </p:nvPr>
        </p:nvGraphicFramePr>
        <p:xfrm>
          <a:off x="5331278" y="1762558"/>
          <a:ext cx="30175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1071008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53803902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240062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140351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2518126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526807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4351898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35931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6506151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1480188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646912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63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330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Finding Co-ranks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49" y="3602414"/>
            <a:ext cx="823872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Objective:</a:t>
            </a:r>
            <a:r>
              <a:rPr lang="en-US" sz="2000" dirty="0"/>
              <a:t> Given k, find </a:t>
            </a:r>
            <a:r>
              <a:rPr lang="en-US" sz="2000" dirty="0" err="1"/>
              <a:t>i</a:t>
            </a:r>
            <a:r>
              <a:rPr lang="en-US" sz="2000" dirty="0"/>
              <a:t>			</a:t>
            </a:r>
            <a:r>
              <a:rPr lang="en-US" sz="2000" b="1" u="sng" dirty="0"/>
              <a:t>To find j:</a:t>
            </a:r>
            <a:r>
              <a:rPr lang="en-US" sz="2000" dirty="0"/>
              <a:t> j = k -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r>
              <a:rPr lang="en-US" sz="2000" b="1" u="sng" dirty="0"/>
              <a:t>Bound on i:</a:t>
            </a:r>
            <a:r>
              <a:rPr lang="en-US" sz="2000" dirty="0"/>
              <a:t>  max(0, k - n)  ≤  </a:t>
            </a:r>
            <a:r>
              <a:rPr lang="en-US" sz="2000" dirty="0" err="1"/>
              <a:t>i</a:t>
            </a:r>
            <a:r>
              <a:rPr lang="en-US" sz="2000" dirty="0"/>
              <a:t>  ≤  min(m, k)</a:t>
            </a:r>
          </a:p>
          <a:p>
            <a:endParaRPr lang="en-US" sz="2000" dirty="0"/>
          </a:p>
          <a:p>
            <a:r>
              <a:rPr lang="en-US" sz="2000" b="1" u="sng" dirty="0"/>
              <a:t>Strategy:</a:t>
            </a:r>
            <a:r>
              <a:rPr lang="en-US" sz="2000" dirty="0"/>
              <a:t> Perform a binary search within the bound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Guess is correct:	A[</a:t>
            </a:r>
            <a:r>
              <a:rPr lang="en-US" sz="2000" dirty="0" err="1"/>
              <a:t>i</a:t>
            </a:r>
            <a:r>
              <a:rPr lang="en-US" sz="2000" dirty="0"/>
              <a:t> - 1]  ≤  B[j]  &amp;&amp;  B[j - 1]  &lt;  A[</a:t>
            </a:r>
            <a:r>
              <a:rPr lang="en-US" sz="2000" dirty="0" err="1"/>
              <a:t>i</a:t>
            </a:r>
            <a:r>
              <a:rPr lang="en-US" sz="2000" dirty="0"/>
              <a:t>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Guess is </a:t>
            </a:r>
            <a:r>
              <a:rPr lang="en-US" sz="2000" b="1" dirty="0">
                <a:solidFill>
                  <a:schemeClr val="accent6"/>
                </a:solidFill>
              </a:rPr>
              <a:t>too high</a:t>
            </a:r>
            <a:r>
              <a:rPr lang="en-US" sz="2000" dirty="0"/>
              <a:t>:	A[</a:t>
            </a:r>
            <a:r>
              <a:rPr lang="en-US" sz="2000" dirty="0" err="1">
                <a:solidFill>
                  <a:schemeClr val="accent6"/>
                </a:solidFill>
              </a:rPr>
              <a:t>i</a:t>
            </a:r>
            <a:r>
              <a:rPr lang="en-US" sz="2000" dirty="0">
                <a:solidFill>
                  <a:schemeClr val="accent6"/>
                </a:solidFill>
              </a:rPr>
              <a:t>'</a:t>
            </a:r>
            <a:r>
              <a:rPr lang="en-US" sz="2000" dirty="0"/>
              <a:t> - 1]  &gt;  B[</a:t>
            </a:r>
            <a:r>
              <a:rPr lang="en-US" sz="2000" dirty="0">
                <a:solidFill>
                  <a:schemeClr val="accent6"/>
                </a:solidFill>
              </a:rPr>
              <a:t>j'</a:t>
            </a:r>
            <a:r>
              <a:rPr lang="en-US" sz="2000" dirty="0"/>
              <a:t>]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Guess is </a:t>
            </a:r>
            <a:r>
              <a:rPr lang="en-US" sz="2000" b="1" dirty="0">
                <a:solidFill>
                  <a:schemeClr val="accent2"/>
                </a:solidFill>
              </a:rPr>
              <a:t>too low</a:t>
            </a:r>
            <a:r>
              <a:rPr lang="en-US" sz="2000" dirty="0"/>
              <a:t>:	B[</a:t>
            </a:r>
            <a:r>
              <a:rPr lang="en-US" sz="2000" dirty="0">
                <a:solidFill>
                  <a:schemeClr val="accent2"/>
                </a:solidFill>
              </a:rPr>
              <a:t>j''</a:t>
            </a:r>
            <a:r>
              <a:rPr lang="en-US" sz="2000" dirty="0"/>
              <a:t> - 1]  ≥  A[</a:t>
            </a:r>
            <a:r>
              <a:rPr lang="en-US" sz="2000" dirty="0" err="1">
                <a:solidFill>
                  <a:schemeClr val="accent2"/>
                </a:solidFill>
              </a:rPr>
              <a:t>i</a:t>
            </a:r>
            <a:r>
              <a:rPr lang="en-US" sz="2000" dirty="0">
                <a:solidFill>
                  <a:schemeClr val="accent2"/>
                </a:solidFill>
              </a:rPr>
              <a:t>''</a:t>
            </a:r>
            <a:r>
              <a:rPr lang="en-US" sz="2000" dirty="0"/>
              <a:t>]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728064" y="2109470"/>
            <a:ext cx="38404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0348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3798" y="202660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5331278" y="2109470"/>
            <a:ext cx="30175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3562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791" y="20266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143000" y="3194888"/>
            <a:ext cx="6858000" cy="369332"/>
            <a:chOff x="1143000" y="3374961"/>
            <a:chExt cx="3840480" cy="36933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1143000" y="3457824"/>
              <a:ext cx="384048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63867" y="3374961"/>
              <a:ext cx="398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 + n</a:t>
              </a: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740447" y="2351235"/>
            <a:ext cx="288862" cy="569144"/>
            <a:chOff x="3740447" y="2867123"/>
            <a:chExt cx="288862" cy="569144"/>
          </a:xfrm>
        </p:grpSpPr>
        <p:cxnSp>
          <p:nvCxnSpPr>
            <p:cNvPr id="8" name="Straight Arrow Connector 7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740447" y="2867123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k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2240659" y="1170221"/>
            <a:ext cx="237566" cy="569144"/>
            <a:chOff x="3766095" y="2867123"/>
            <a:chExt cx="237566" cy="569144"/>
          </a:xfrm>
        </p:grpSpPr>
        <p:cxnSp>
          <p:nvCxnSpPr>
            <p:cNvPr id="27" name="Straight Arrow Connector 26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3766095" y="2867123"/>
              <a:ext cx="23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i</a:t>
              </a:r>
              <a:endParaRPr lang="en-US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307033" y="1170221"/>
            <a:ext cx="239168" cy="569144"/>
            <a:chOff x="3765294" y="2867123"/>
            <a:chExt cx="239168" cy="569144"/>
          </a:xfrm>
        </p:grpSpPr>
        <p:cxnSp>
          <p:nvCxnSpPr>
            <p:cNvPr id="30" name="Straight Arrow Connector 29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765294" y="2867123"/>
              <a:ext cx="2391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j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2774631" y="1170221"/>
            <a:ext cx="288862" cy="569144"/>
            <a:chOff x="3740447" y="2867123"/>
            <a:chExt cx="288862" cy="569144"/>
          </a:xfrm>
        </p:grpSpPr>
        <p:cxnSp>
          <p:nvCxnSpPr>
            <p:cNvPr id="33" name="Straight Arrow Connector 32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3740447" y="2867123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accent6"/>
                  </a:solidFill>
                </a:rPr>
                <a:t>i</a:t>
              </a:r>
              <a:r>
                <a:rPr lang="en-US" dirty="0">
                  <a:solidFill>
                    <a:schemeClr val="accent6"/>
                  </a:solidFill>
                </a:rPr>
                <a:t>'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090127" y="1170221"/>
            <a:ext cx="341761" cy="569144"/>
            <a:chOff x="3713998" y="2867123"/>
            <a:chExt cx="341761" cy="569144"/>
          </a:xfrm>
        </p:grpSpPr>
        <p:cxnSp>
          <p:nvCxnSpPr>
            <p:cNvPr id="36" name="Straight Arrow Connector 35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3713998" y="2867123"/>
              <a:ext cx="3417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j''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377833" y="1170221"/>
            <a:ext cx="340158" cy="569144"/>
            <a:chOff x="3714799" y="2867123"/>
            <a:chExt cx="340158" cy="569144"/>
          </a:xfrm>
        </p:grpSpPr>
        <p:cxnSp>
          <p:nvCxnSpPr>
            <p:cNvPr id="39" name="Straight Arrow Connector 38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/>
            <p:cNvSpPr txBox="1"/>
            <p:nvPr/>
          </p:nvSpPr>
          <p:spPr>
            <a:xfrm>
              <a:off x="3714799" y="2867123"/>
              <a:ext cx="3401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>
                  <a:solidFill>
                    <a:schemeClr val="accent2"/>
                  </a:solidFill>
                </a:rPr>
                <a:t>i</a:t>
              </a:r>
              <a:r>
                <a:rPr lang="en-US" dirty="0">
                  <a:solidFill>
                    <a:schemeClr val="accent2"/>
                  </a:solidFill>
                </a:rPr>
                <a:t>''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5736152" y="1170221"/>
            <a:ext cx="290465" cy="569144"/>
            <a:chOff x="3739646" y="2867123"/>
            <a:chExt cx="290465" cy="569144"/>
          </a:xfrm>
        </p:grpSpPr>
        <p:cxnSp>
          <p:nvCxnSpPr>
            <p:cNvPr id="42" name="Straight Arrow Connector 41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3" name="TextBox 42"/>
            <p:cNvSpPr txBox="1"/>
            <p:nvPr/>
          </p:nvSpPr>
          <p:spPr>
            <a:xfrm>
              <a:off x="3739646" y="2867123"/>
              <a:ext cx="2904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6"/>
                  </a:solidFill>
                </a:rPr>
                <a:t>j'</a:t>
              </a:r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830093" y="28811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409053"/>
              </p:ext>
            </p:extLst>
          </p:nvPr>
        </p:nvGraphicFramePr>
        <p:xfrm>
          <a:off x="1143000" y="2938155"/>
          <a:ext cx="685800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8161826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97901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4675957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335230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134422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59659699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1242428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106522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387264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553336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6190374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46" name="Table 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685422"/>
              </p:ext>
            </p:extLst>
          </p:nvPr>
        </p:nvGraphicFramePr>
        <p:xfrm>
          <a:off x="728064" y="1762558"/>
          <a:ext cx="384048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47" name="Table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388316"/>
              </p:ext>
            </p:extLst>
          </p:nvPr>
        </p:nvGraphicFramePr>
        <p:xfrm>
          <a:off x="5331278" y="1762558"/>
          <a:ext cx="30175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1071008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53803902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240062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140351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2518126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526807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4351898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35931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6506151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1480188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646912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63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05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Parallel Merge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1257" y="959975"/>
            <a:ext cx="8621486" cy="5678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__device__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coRank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* A,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* B,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m,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n,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k) {</a:t>
            </a:r>
          </a:p>
          <a:p>
            <a:endParaRPr lang="en-US" sz="11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>
                <a:solidFill>
                  <a:srgbClr val="00BFBF"/>
                </a:solidFill>
                <a:latin typeface="Lucida Console" panose="020B0609040504020204" pitchFamily="49" charset="0"/>
              </a:rPr>
              <a:t>// Initialize bounds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iLow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= (k &gt; n)?(k - n):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iHigh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= (k &lt; m)?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k:m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1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>
                <a:solidFill>
                  <a:srgbClr val="00BFBF"/>
                </a:solidFill>
                <a:latin typeface="Lucida Console" panose="020B0609040504020204" pitchFamily="49" charset="0"/>
              </a:rPr>
              <a:t>// Binary search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while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true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= (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iLow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iHigh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)/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j = k -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&gt;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&amp;&amp; j &lt; n &amp;&amp; A[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] &gt; B[j]) {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iHigh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else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(j &gt;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&amp;&amp;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&lt; m &amp;&amp; B[j -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] &gt;= A[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]) {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iLow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else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return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1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  <a:p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merge_kernel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* A,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* B,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* C,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m,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n) {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k = </a:t>
            </a:r>
            <a:r>
              <a:rPr lang="en-US" sz="11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1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1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(k &lt; m + n) {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coRank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(A, B, m, n, k);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1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1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j = k - 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pt-BR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pt-BR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pt-BR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(j == n || i &lt; m &amp;&amp; A[i] &lt;= B[j]) {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C[k] = A[</a:t>
            </a:r>
            <a:r>
              <a:rPr lang="en-US" sz="11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 </a:t>
            </a:r>
            <a:r>
              <a:rPr lang="en-US" sz="1100" dirty="0">
                <a:solidFill>
                  <a:srgbClr val="BFBF00"/>
                </a:solidFill>
                <a:latin typeface="Lucida Console" panose="020B0609040504020204" pitchFamily="49" charset="0"/>
              </a:rPr>
              <a:t>else</a:t>
            </a:r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C[k] = B[j];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1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7059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Work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Sequential merge performs </a:t>
            </a:r>
            <a:r>
              <a:rPr lang="en-US" i="1" dirty="0"/>
              <a:t>O(N)</a:t>
            </a:r>
            <a:r>
              <a:rPr lang="en-US" dirty="0"/>
              <a:t> operations</a:t>
            </a:r>
          </a:p>
          <a:p>
            <a:endParaRPr lang="en-US" dirty="0"/>
          </a:p>
          <a:p>
            <a:r>
              <a:rPr lang="en-US" dirty="0"/>
              <a:t>Parallel merge performs </a:t>
            </a:r>
            <a:r>
              <a:rPr lang="en-US" i="1" dirty="0"/>
              <a:t>O(N log(N))</a:t>
            </a:r>
            <a:r>
              <a:rPr lang="en-US" dirty="0"/>
              <a:t> operations</a:t>
            </a:r>
          </a:p>
          <a:p>
            <a:pPr lvl="1"/>
            <a:r>
              <a:rPr lang="en-US" dirty="0"/>
              <a:t>Launches </a:t>
            </a:r>
            <a:r>
              <a:rPr lang="en-US" i="1" dirty="0"/>
              <a:t>N</a:t>
            </a:r>
            <a:r>
              <a:rPr lang="en-US" dirty="0"/>
              <a:t> threads</a:t>
            </a:r>
          </a:p>
          <a:p>
            <a:pPr lvl="1"/>
            <a:r>
              <a:rPr lang="en-US" dirty="0"/>
              <a:t>Each thread performs a binary search which is </a:t>
            </a:r>
            <a:r>
              <a:rPr lang="en-US" i="1" dirty="0"/>
              <a:t>O(log(N))</a:t>
            </a:r>
            <a:endParaRPr lang="en-US" dirty="0"/>
          </a:p>
          <a:p>
            <a:endParaRPr lang="en-US" dirty="0"/>
          </a:p>
          <a:p>
            <a:r>
              <a:rPr lang="en-US" dirty="0"/>
              <a:t>Use thread coarsening to improve work efficiency</a:t>
            </a:r>
          </a:p>
        </p:txBody>
      </p:sp>
    </p:spTree>
    <p:extLst>
      <p:ext uri="{BB962C8B-B14F-4D97-AF65-F5344CB8AC3E}">
        <p14:creationId xmlns:p14="http://schemas.microsoft.com/office/powerpoint/2010/main" val="89782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Applying Thread Coarsening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789722"/>
              </p:ext>
            </p:extLst>
          </p:nvPr>
        </p:nvGraphicFramePr>
        <p:xfrm>
          <a:off x="1143000" y="2938155"/>
          <a:ext cx="685800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8161826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97901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24675957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6335230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134422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59659699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1242428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1065220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3872647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9553336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6190374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977416"/>
              </p:ext>
            </p:extLst>
          </p:nvPr>
        </p:nvGraphicFramePr>
        <p:xfrm>
          <a:off x="728064" y="1762558"/>
          <a:ext cx="384048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57262000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78184056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2024191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95702329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056945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004451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7640934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63221081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81766691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4125904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75159212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33523208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484117128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75048694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500702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104300"/>
              </p:ext>
            </p:extLst>
          </p:nvPr>
        </p:nvGraphicFramePr>
        <p:xfrm>
          <a:off x="5331278" y="1762558"/>
          <a:ext cx="301752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331071008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153803902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240062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191403513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2518126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52680705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44351898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3353593156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665061517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814801884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646912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5763664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 flipV="1">
            <a:off x="728064" y="2109470"/>
            <a:ext cx="384048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10348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3798" y="2026607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5331278" y="2109470"/>
            <a:ext cx="301752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13562" y="1715052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791" y="202660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143000" y="3194888"/>
            <a:ext cx="6858000" cy="369332"/>
            <a:chOff x="1143000" y="3374961"/>
            <a:chExt cx="3840480" cy="369332"/>
          </a:xfrm>
        </p:grpSpPr>
        <p:cxnSp>
          <p:nvCxnSpPr>
            <p:cNvPr id="15" name="Straight Arrow Connector 14"/>
            <p:cNvCxnSpPr/>
            <p:nvPr/>
          </p:nvCxnSpPr>
          <p:spPr>
            <a:xfrm flipV="1">
              <a:off x="1143000" y="3457824"/>
              <a:ext cx="384048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2863867" y="3374961"/>
              <a:ext cx="3987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 + n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241844" y="2392310"/>
            <a:ext cx="5550923" cy="501830"/>
            <a:chOff x="1241844" y="2776510"/>
            <a:chExt cx="5550923" cy="501830"/>
          </a:xfrm>
        </p:grpSpPr>
        <p:sp>
          <p:nvSpPr>
            <p:cNvPr id="18" name="Freeform 17"/>
            <p:cNvSpPr/>
            <p:nvPr/>
          </p:nvSpPr>
          <p:spPr>
            <a:xfrm>
              <a:off x="1241844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2613444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" name="Freeform 19"/>
            <p:cNvSpPr/>
            <p:nvPr/>
          </p:nvSpPr>
          <p:spPr>
            <a:xfrm>
              <a:off x="3985044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5356644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2" name="Freeform 21"/>
            <p:cNvSpPr/>
            <p:nvPr/>
          </p:nvSpPr>
          <p:spPr>
            <a:xfrm>
              <a:off x="6728244" y="2776510"/>
              <a:ext cx="64523" cy="50183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830093" y="288112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1935" y="3945206"/>
            <a:ext cx="75001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Assign threads to fixed-length output segments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Each thread calls the </a:t>
            </a:r>
            <a:r>
              <a:rPr lang="en-US" dirty="0" err="1"/>
              <a:t>coRank</a:t>
            </a:r>
            <a:r>
              <a:rPr lang="en-US" dirty="0"/>
              <a:t> function to find the bounds of its input segments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Each thread then performs a sequential merge of its input segments</a:t>
            </a:r>
          </a:p>
        </p:txBody>
      </p:sp>
    </p:spTree>
    <p:extLst>
      <p:ext uri="{BB962C8B-B14F-4D97-AF65-F5344CB8AC3E}">
        <p14:creationId xmlns:p14="http://schemas.microsoft.com/office/powerpoint/2010/main" val="115262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Applying Thread Coarsening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99527" y="1381419"/>
            <a:ext cx="8944946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__device__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mergeSequential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A,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B,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C,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m,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n)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j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k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 k &lt; m + n; ++k) {</a:t>
            </a:r>
          </a:p>
          <a:p>
            <a:r>
              <a:rPr lang="pt-BR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pt-BR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pt-BR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(j == n || i &lt; m &amp;&amp; A[i] &lt;= B[j])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C[k] = A[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++];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else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C[k] = B[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j++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200" dirty="0"/>
          </a:p>
          <a:p>
            <a:endParaRPr lang="en-US" sz="1200" dirty="0">
              <a:solidFill>
                <a:srgbClr val="00BF00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__global__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void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merge_kernel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A,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B,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C,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m,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n)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k = (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)*COARSE_FACTOR;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(k &lt; m + n)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coRank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(A, B, m, n, k);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j = k -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kNext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(k + COARSE_FACTOR &lt; m + n)?(k + COARSE_FACTOR):(m + n);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iNext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coRank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(A, B, m, n,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kNext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jNext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kNext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iNext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mergeSequential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(&amp;A[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], &amp;B[j], &amp;C[k],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iNext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jNext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- j);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407191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Optimizing for Coalescing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Memory accesses are not coalesced</a:t>
            </a:r>
          </a:p>
          <a:p>
            <a:pPr lvl="1"/>
            <a:r>
              <a:rPr lang="en-US" dirty="0"/>
              <a:t>During co-rank function, each thread performs binary search which has random access</a:t>
            </a:r>
          </a:p>
          <a:p>
            <a:pPr lvl="1"/>
            <a:r>
              <a:rPr lang="en-US" dirty="0"/>
              <a:t>During sequential merge, each thread loops through its own segment of consecutive elements</a:t>
            </a:r>
          </a:p>
          <a:p>
            <a:endParaRPr lang="en-US" dirty="0"/>
          </a:p>
          <a:p>
            <a:r>
              <a:rPr lang="en-US" dirty="0"/>
              <a:t>Optimization:</a:t>
            </a:r>
          </a:p>
          <a:p>
            <a:pPr lvl="1"/>
            <a:r>
              <a:rPr lang="en-US" dirty="0"/>
              <a:t>Load the entire block’s segment to shared memory</a:t>
            </a:r>
          </a:p>
          <a:p>
            <a:pPr lvl="2"/>
            <a:r>
              <a:rPr lang="en-US" dirty="0"/>
              <a:t>Loads from global memory are coalesced</a:t>
            </a:r>
          </a:p>
          <a:p>
            <a:pPr lvl="2"/>
            <a:r>
              <a:rPr lang="en-US" dirty="0"/>
              <a:t>One thread in block does co-rank to find block’s input segments</a:t>
            </a:r>
          </a:p>
          <a:p>
            <a:pPr lvl="1"/>
            <a:r>
              <a:rPr lang="en-US" dirty="0"/>
              <a:t>Do the per-thread co-rank and merge in shared memory</a:t>
            </a:r>
          </a:p>
          <a:p>
            <a:pPr lvl="2"/>
            <a:r>
              <a:rPr lang="en-US" dirty="0"/>
              <a:t>Non-coalesced accesses performed in shared memory</a:t>
            </a:r>
          </a:p>
        </p:txBody>
      </p:sp>
    </p:spTree>
    <p:extLst>
      <p:ext uri="{BB962C8B-B14F-4D97-AF65-F5344CB8AC3E}">
        <p14:creationId xmlns:p14="http://schemas.microsoft.com/office/powerpoint/2010/main" val="459198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Optimizing for Coalescing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58556" y="1183545"/>
            <a:ext cx="1670538" cy="1574174"/>
            <a:chOff x="2667000" y="1752600"/>
            <a:chExt cx="889511" cy="838200"/>
          </a:xfrm>
        </p:grpSpPr>
        <p:sp>
          <p:nvSpPr>
            <p:cNvPr id="5" name="Rectangle 4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8" name="Freeform 7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696723" y="1183545"/>
            <a:ext cx="1670538" cy="1574174"/>
            <a:chOff x="2667000" y="1752600"/>
            <a:chExt cx="889511" cy="838200"/>
          </a:xfrm>
        </p:grpSpPr>
        <p:sp>
          <p:nvSpPr>
            <p:cNvPr id="11" name="Rectangle 10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434889" y="1183545"/>
            <a:ext cx="1670538" cy="1574174"/>
            <a:chOff x="2667000" y="1752600"/>
            <a:chExt cx="889511" cy="838200"/>
          </a:xfrm>
        </p:grpSpPr>
        <p:sp>
          <p:nvSpPr>
            <p:cNvPr id="17" name="Rectangle 16"/>
            <p:cNvSpPr/>
            <p:nvPr/>
          </p:nvSpPr>
          <p:spPr>
            <a:xfrm>
              <a:off x="2667000" y="1752600"/>
              <a:ext cx="889511" cy="838200"/>
            </a:xfrm>
            <a:prstGeom prst="rect">
              <a:avLst/>
            </a:prstGeom>
            <a:noFill/>
            <a:ln w="285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2731382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2953269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0" name="Freeform 19"/>
            <p:cNvSpPr/>
            <p:nvPr/>
          </p:nvSpPr>
          <p:spPr>
            <a:xfrm>
              <a:off x="3175156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21" name="Freeform 20"/>
            <p:cNvSpPr/>
            <p:nvPr/>
          </p:nvSpPr>
          <p:spPr>
            <a:xfrm>
              <a:off x="3397044" y="1822015"/>
              <a:ext cx="97519" cy="73152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891758"/>
              </p:ext>
            </p:extLst>
          </p:nvPr>
        </p:nvGraphicFramePr>
        <p:xfrm>
          <a:off x="1188720" y="5928220"/>
          <a:ext cx="676656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82800859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72649939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2434372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76000606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697008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8620436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9054608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67916159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89912446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34037218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30975989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19090064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38021796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57551352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18897442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24773186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81707994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92667039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0715182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82879343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15735062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28596602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54865152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0063422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80974853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64351861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69092697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15329203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01912139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03985625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82941299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07730529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49306704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80598358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73345197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22182385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07365787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…</a:t>
                      </a:r>
                      <a:endParaRPr lang="en-US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169619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729393" y="178596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…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022728"/>
              </p:ext>
            </p:extLst>
          </p:nvPr>
        </p:nvGraphicFramePr>
        <p:xfrm>
          <a:off x="892404" y="5166221"/>
          <a:ext cx="384048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82800859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72649939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8620436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9054608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67916159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38021796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57551352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24773186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81707994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92667039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15735062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54865152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0063422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80974853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64351861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01912139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03985625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07730529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49306704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80598358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73345197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…</a:t>
                      </a:r>
                      <a:endParaRPr lang="en-US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169619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415533"/>
              </p:ext>
            </p:extLst>
          </p:nvPr>
        </p:nvGraphicFramePr>
        <p:xfrm>
          <a:off x="542450" y="3916569"/>
          <a:ext cx="219456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36154699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014894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8789417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95234016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53045111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48670385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90279925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8030736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80156927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93247022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19870025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68519232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47040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291752"/>
              </p:ext>
            </p:extLst>
          </p:nvPr>
        </p:nvGraphicFramePr>
        <p:xfrm>
          <a:off x="3525091" y="3916569"/>
          <a:ext cx="219456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355249012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74725763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66690555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32809713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55453429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21158150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72510234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25780869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55793137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40471718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8760890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22102059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46745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955425"/>
              </p:ext>
            </p:extLst>
          </p:nvPr>
        </p:nvGraphicFramePr>
        <p:xfrm>
          <a:off x="6507732" y="3916569"/>
          <a:ext cx="219456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31517168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80346909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87053330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65516509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89656174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07977233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26872402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92470946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4158178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54596218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87723894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739532089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25549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7168532"/>
              </p:ext>
            </p:extLst>
          </p:nvPr>
        </p:nvGraphicFramePr>
        <p:xfrm>
          <a:off x="5143189" y="5166221"/>
          <a:ext cx="329184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82800859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6970080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8620436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09054608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34037218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30975989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19090064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38021796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82879343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15735062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54865152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0063422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80974853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64351861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69092697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82941299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22182385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07365787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…</a:t>
                      </a:r>
                      <a:endParaRPr lang="en-US" sz="6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169619"/>
                  </a:ext>
                </a:extLst>
              </a:tr>
            </a:tbl>
          </a:graphicData>
        </a:graphic>
      </p:graphicFrame>
      <p:grpSp>
        <p:nvGrpSpPr>
          <p:cNvPr id="31" name="Group 30"/>
          <p:cNvGrpSpPr/>
          <p:nvPr/>
        </p:nvGrpSpPr>
        <p:grpSpPr>
          <a:xfrm>
            <a:off x="3071459" y="5336043"/>
            <a:ext cx="622286" cy="569144"/>
            <a:chOff x="3573735" y="2867123"/>
            <a:chExt cx="622286" cy="569144"/>
          </a:xfrm>
        </p:grpSpPr>
        <p:cxnSp>
          <p:nvCxnSpPr>
            <p:cNvPr id="32" name="Straight Arrow Connector 31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3573735" y="2867123"/>
              <a:ext cx="6222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k</a:t>
              </a:r>
              <a:r>
                <a:rPr lang="en-US" baseline="-25000" dirty="0" err="1"/>
                <a:t>block</a:t>
              </a:r>
              <a:endParaRPr lang="en-US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519996" y="4559597"/>
            <a:ext cx="570990" cy="569144"/>
            <a:chOff x="3599383" y="2867123"/>
            <a:chExt cx="570990" cy="569144"/>
          </a:xfrm>
        </p:grpSpPr>
        <p:cxnSp>
          <p:nvCxnSpPr>
            <p:cNvPr id="35" name="Straight Arrow Connector 34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3599383" y="2867123"/>
              <a:ext cx="5709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i</a:t>
              </a:r>
              <a:r>
                <a:rPr lang="en-US" baseline="-25000" dirty="0" err="1"/>
                <a:t>block</a:t>
              </a:r>
              <a:endParaRPr lang="en-US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144460" y="4559597"/>
            <a:ext cx="572593" cy="569144"/>
            <a:chOff x="3598582" y="2867123"/>
            <a:chExt cx="572593" cy="569144"/>
          </a:xfrm>
        </p:grpSpPr>
        <p:cxnSp>
          <p:nvCxnSpPr>
            <p:cNvPr id="38" name="Straight Arrow Connector 37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TextBox 38"/>
            <p:cNvSpPr txBox="1"/>
            <p:nvPr/>
          </p:nvSpPr>
          <p:spPr>
            <a:xfrm>
              <a:off x="3598582" y="2867123"/>
              <a:ext cx="572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err="1"/>
                <a:t>j</a:t>
              </a:r>
              <a:r>
                <a:rPr lang="en-US" baseline="-25000" dirty="0" err="1"/>
                <a:t>block</a:t>
              </a:r>
              <a:endParaRPr lang="en-US" dirty="0"/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569189" y="50737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4670" y="5073731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3023" y="582338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</a:t>
            </a: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9387887"/>
              </p:ext>
            </p:extLst>
          </p:nvPr>
        </p:nvGraphicFramePr>
        <p:xfrm>
          <a:off x="404228" y="3284855"/>
          <a:ext cx="91440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265743955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82449945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1837445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52701283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86593923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5872755"/>
                  </a:ext>
                </a:extLst>
              </a:tr>
            </a:tbl>
          </a:graphicData>
        </a:graphic>
      </p:graphicFrame>
      <p:graphicFrame>
        <p:nvGraphicFramePr>
          <p:cNvPr id="50" name="Table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25024"/>
              </p:ext>
            </p:extLst>
          </p:nvPr>
        </p:nvGraphicFramePr>
        <p:xfrm>
          <a:off x="1634786" y="3284855"/>
          <a:ext cx="128016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56142508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29754419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441102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8473564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832785276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683390185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719581924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605678"/>
                  </a:ext>
                </a:extLst>
              </a:tr>
            </a:tbl>
          </a:graphicData>
        </a:graphic>
      </p:graphicFrame>
      <p:graphicFrame>
        <p:nvGraphicFramePr>
          <p:cNvPr id="51" name="Table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926995"/>
              </p:ext>
            </p:extLst>
          </p:nvPr>
        </p:nvGraphicFramePr>
        <p:xfrm>
          <a:off x="3237516" y="3284855"/>
          <a:ext cx="146304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195959191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15204181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82232423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68183828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25458857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40022519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9784542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11043577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069488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3851437"/>
              </p:ext>
            </p:extLst>
          </p:nvPr>
        </p:nvGraphicFramePr>
        <p:xfrm>
          <a:off x="5016714" y="3284855"/>
          <a:ext cx="91440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314891106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37627807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37926713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71356186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388998060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644830"/>
                  </a:ext>
                </a:extLst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970781"/>
              </p:ext>
            </p:extLst>
          </p:nvPr>
        </p:nvGraphicFramePr>
        <p:xfrm>
          <a:off x="6253684" y="3284855"/>
          <a:ext cx="128016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3184081038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68813360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093354339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590371973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2373280684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19384662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17868576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671415"/>
                  </a:ext>
                </a:extLst>
              </a:tr>
            </a:tbl>
          </a:graphicData>
        </a:graphic>
      </p:graphicFrame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385525"/>
              </p:ext>
            </p:extLst>
          </p:nvPr>
        </p:nvGraphicFramePr>
        <p:xfrm>
          <a:off x="7849998" y="3284855"/>
          <a:ext cx="914400" cy="182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2880">
                  <a:extLst>
                    <a:ext uri="{9D8B030D-6E8A-4147-A177-3AD203B41FA5}">
                      <a16:colId xmlns:a16="http://schemas.microsoft.com/office/drawing/2014/main" val="3348131587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61691841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3384313820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751050522"/>
                    </a:ext>
                  </a:extLst>
                </a:gridCol>
                <a:gridCol w="182880">
                  <a:extLst>
                    <a:ext uri="{9D8B030D-6E8A-4147-A177-3AD203B41FA5}">
                      <a16:colId xmlns:a16="http://schemas.microsoft.com/office/drawing/2014/main" val="412054996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600" dirty="0"/>
                    </a:p>
                  </a:txBody>
                  <a:tcPr marL="0" marR="0" marT="0" marB="0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398061"/>
                  </a:ext>
                </a:extLst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36797" y="3237796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A_s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73767" y="3237796"/>
            <a:ext cx="405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B_s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70085" y="3237796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A_s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55695" y="3237796"/>
            <a:ext cx="405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B_s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86253" y="3237796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A_s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88983" y="3237796"/>
            <a:ext cx="4058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B_s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8379" y="3869510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C_s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61019" y="3869510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C_s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52245" y="3869510"/>
            <a:ext cx="4122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C_s</a:t>
            </a:r>
          </a:p>
        </p:txBody>
      </p:sp>
      <p:grpSp>
        <p:nvGrpSpPr>
          <p:cNvPr id="67" name="Group 66"/>
          <p:cNvGrpSpPr/>
          <p:nvPr/>
        </p:nvGrpSpPr>
        <p:grpSpPr>
          <a:xfrm>
            <a:off x="4491889" y="3446015"/>
            <a:ext cx="255198" cy="457200"/>
            <a:chOff x="3757279" y="2867123"/>
            <a:chExt cx="255198" cy="569144"/>
          </a:xfrm>
        </p:grpSpPr>
        <p:cxnSp>
          <p:nvCxnSpPr>
            <p:cNvPr id="68" name="Straight Arrow Connector 67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3757279" y="2867123"/>
              <a:ext cx="255198" cy="3448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k</a:t>
              </a:r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4040004" y="2819824"/>
            <a:ext cx="219932" cy="457200"/>
            <a:chOff x="3774911" y="2867123"/>
            <a:chExt cx="219932" cy="569144"/>
          </a:xfrm>
        </p:grpSpPr>
        <p:cxnSp>
          <p:nvCxnSpPr>
            <p:cNvPr id="71" name="Straight Arrow Connector 70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3774911" y="2867123"/>
              <a:ext cx="219932" cy="3448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 err="1"/>
                <a:t>i</a:t>
              </a:r>
              <a:endParaRPr lang="en-US" sz="1200" dirty="0"/>
            </a:p>
          </p:txBody>
        </p:sp>
      </p:grpSp>
      <p:grpSp>
        <p:nvGrpSpPr>
          <p:cNvPr id="73" name="Group 72"/>
          <p:cNvGrpSpPr/>
          <p:nvPr/>
        </p:nvGrpSpPr>
        <p:grpSpPr>
          <a:xfrm>
            <a:off x="5088399" y="2819824"/>
            <a:ext cx="221536" cy="457200"/>
            <a:chOff x="3774110" y="2867123"/>
            <a:chExt cx="221536" cy="569144"/>
          </a:xfrm>
        </p:grpSpPr>
        <p:cxnSp>
          <p:nvCxnSpPr>
            <p:cNvPr id="74" name="Straight Arrow Connector 73"/>
            <p:cNvCxnSpPr/>
            <p:nvPr/>
          </p:nvCxnSpPr>
          <p:spPr>
            <a:xfrm flipH="1">
              <a:off x="3884878" y="3183731"/>
              <a:ext cx="0" cy="2525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3774110" y="2867123"/>
              <a:ext cx="221536" cy="3448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/>
                <a:t>j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052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40" grpId="0"/>
      <p:bldP spid="41" grpId="0"/>
      <p:bldP spid="42" grpId="0"/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Parallel Merge with Coalescing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70857" y="566012"/>
            <a:ext cx="8204721" cy="60478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BF"/>
                </a:solidFill>
                <a:latin typeface="Lucida Console" panose="020B0609040504020204" pitchFamily="49" charset="0"/>
              </a:rPr>
              <a:t>// Find the block's segments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*COARSE_FACTOR;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kNextBlock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(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&lt; 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gridDim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9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)?(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*COARSE_FACTOR):(m + n);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iNextBlock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== </a:t>
            </a:r>
            <a:r>
              <a:rPr lang="en-US" sz="9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coRank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(A, B, m, n,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iNextBlock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coRank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(A, B, m, n,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kNextBlock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jNextBlock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kNextBlock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iNextBlock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9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BF"/>
                </a:solidFill>
                <a:latin typeface="Lucida Console" panose="020B0609040504020204" pitchFamily="49" charset="0"/>
              </a:rPr>
              <a:t>// Load block's segments to shared memory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A_s[COARSE_FACTOR*BLOCK_DIM];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iNextBlock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&lt;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+= 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A_s[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] = A[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* B_s = A_s +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jNextBlock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j = 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 j &lt;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 j += 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B_s[j] = B[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+ j];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9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BF"/>
                </a:solidFill>
                <a:latin typeface="Lucida Console" panose="020B0609040504020204" pitchFamily="49" charset="0"/>
              </a:rPr>
              <a:t>// Merge in shared memory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C_s[COARSE_FACTOR*BLOCK_DIM];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k = 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*COARSE_FACTOR;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(k &lt;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coRank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(A_s, B_s,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, k);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j = k -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kNext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(k + COARSE_FACTOR &lt;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)?(k + COARSE_FACTOR):(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iNext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coRank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(A_s, B_s,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kNext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);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jNext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kNext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iNext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mergeSequential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(&amp;A_s[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], &amp;B_s[j], &amp;C_s[k],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iNext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,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jNext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- j);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9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00BFBF"/>
                </a:solidFill>
                <a:latin typeface="Lucida Console" panose="020B0609040504020204" pitchFamily="49" charset="0"/>
              </a:rPr>
              <a:t>// Write block's segment to global memory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9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9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9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k = 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 k &lt;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mBlock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nBlock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; k += </a:t>
            </a:r>
            <a:r>
              <a:rPr lang="en-US" sz="9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C[</a:t>
            </a:r>
            <a:r>
              <a:rPr lang="en-US" sz="9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kBlock</a:t>
            </a:r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+ k] = C_s[k];</a:t>
            </a:r>
          </a:p>
          <a:p>
            <a:r>
              <a:rPr lang="en-US" sz="9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9908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29193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395</TotalTime>
  <Words>1908</Words>
  <Application>Microsoft Office PowerPoint</Application>
  <PresentationFormat>On-screen Show (4:3)</PresentationFormat>
  <Paragraphs>293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75</cp:revision>
  <dcterms:created xsi:type="dcterms:W3CDTF">2022-03-30T06:33:52Z</dcterms:created>
  <dcterms:modified xsi:type="dcterms:W3CDTF">2022-11-02T10:18:01Z</dcterms:modified>
</cp:coreProperties>
</file>