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handoutMasterIdLst>
    <p:handoutMasterId r:id="rId25"/>
  </p:handoutMasterIdLst>
  <p:sldIdLst>
    <p:sldId id="270" r:id="rId2"/>
    <p:sldId id="282" r:id="rId3"/>
    <p:sldId id="313" r:id="rId4"/>
    <p:sldId id="315" r:id="rId5"/>
    <p:sldId id="316" r:id="rId6"/>
    <p:sldId id="317" r:id="rId7"/>
    <p:sldId id="318" r:id="rId8"/>
    <p:sldId id="319" r:id="rId9"/>
    <p:sldId id="320" r:id="rId10"/>
    <p:sldId id="321" r:id="rId11"/>
    <p:sldId id="322" r:id="rId12"/>
    <p:sldId id="323" r:id="rId13"/>
    <p:sldId id="324" r:id="rId14"/>
    <p:sldId id="325" r:id="rId15"/>
    <p:sldId id="326" r:id="rId16"/>
    <p:sldId id="327" r:id="rId17"/>
    <p:sldId id="328" r:id="rId18"/>
    <p:sldId id="329" r:id="rId19"/>
    <p:sldId id="330" r:id="rId20"/>
    <p:sldId id="331" r:id="rId21"/>
    <p:sldId id="332" r:id="rId22"/>
    <p:sldId id="333"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4C4C"/>
    <a:srgbClr val="E08E2F"/>
    <a:srgbClr val="E09135"/>
    <a:srgbClr val="FFFFFF"/>
    <a:srgbClr val="DC8623"/>
    <a:srgbClr val="DB8522"/>
    <a:srgbClr val="4D4D4D"/>
    <a:srgbClr val="EB6500"/>
    <a:srgbClr val="53565A"/>
    <a:srgbClr val="FF98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97" d="100"/>
          <a:sy n="97" d="100"/>
        </p:scale>
        <p:origin x="91" y="3288"/>
      </p:cViewPr>
      <p:guideLst>
        <p:guide orient="horz" pos="2160"/>
        <p:guide pos="2880"/>
      </p:guideLst>
    </p:cSldViewPr>
  </p:slideViewPr>
  <p:notesTextViewPr>
    <p:cViewPr>
      <p:scale>
        <a:sx n="1" d="1"/>
        <a:sy n="1" d="1"/>
      </p:scale>
      <p:origin x="0" y="0"/>
    </p:cViewPr>
  </p:notesTextViewPr>
  <p:notesViewPr>
    <p:cSldViewPr snapToGrid="0">
      <p:cViewPr varScale="1">
        <p:scale>
          <a:sx n="99" d="100"/>
          <a:sy n="99" d="100"/>
        </p:scale>
        <p:origin x="357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C9F2AD-ACD9-4F52-8557-48C099C603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A315BD4B-9B5A-4159-B729-CBA6AE207B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7D2E7-9FC7-4207-9062-A3303B783802}" type="datetimeFigureOut">
              <a:rPr lang="en-IN" smtClean="0"/>
              <a:t>18-10-2022</a:t>
            </a:fld>
            <a:endParaRPr lang="en-IN"/>
          </a:p>
        </p:txBody>
      </p:sp>
      <p:sp>
        <p:nvSpPr>
          <p:cNvPr id="4" name="Footer Placeholder 3">
            <a:extLst>
              <a:ext uri="{FF2B5EF4-FFF2-40B4-BE49-F238E27FC236}">
                <a16:creationId xmlns:a16="http://schemas.microsoft.com/office/drawing/2014/main" id="{D794C69D-016E-496D-B1AA-E9EE96139D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A5A0A3E-29D3-4009-A482-439DDE028B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4528DA-F324-4659-A143-8781AC34D3E0}" type="slidenum">
              <a:rPr lang="en-IN" smtClean="0"/>
              <a:t>‹#›</a:t>
            </a:fld>
            <a:endParaRPr lang="en-IN"/>
          </a:p>
        </p:txBody>
      </p:sp>
    </p:spTree>
    <p:extLst>
      <p:ext uri="{BB962C8B-B14F-4D97-AF65-F5344CB8AC3E}">
        <p14:creationId xmlns:p14="http://schemas.microsoft.com/office/powerpoint/2010/main" val="2795357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796104-84F2-48BB-8877-C91A5891E909}" type="datetimeFigureOut">
              <a:rPr lang="en-US" smtClean="0"/>
              <a:t>10/18/2022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97F14A-86F4-4B56-9138-4E1BB78D4DC8}" type="slidenum">
              <a:rPr lang="en-US" smtClean="0"/>
              <a:t>‹#›</a:t>
            </a:fld>
            <a:endParaRPr lang="en-US"/>
          </a:p>
        </p:txBody>
      </p:sp>
    </p:spTree>
    <p:extLst>
      <p:ext uri="{BB962C8B-B14F-4D97-AF65-F5344CB8AC3E}">
        <p14:creationId xmlns:p14="http://schemas.microsoft.com/office/powerpoint/2010/main" val="3389130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xfrm>
            <a:off x="3978132" y="8804333"/>
            <a:ext cx="3043343" cy="463471"/>
          </a:xfrm>
          <a:prstGeom prst="rect">
            <a:avLst/>
          </a:prstGeom>
          <a:noFill/>
        </p:spPr>
        <p:txBody>
          <a:bodyPr lIns="93095" tIns="46548" rIns="93095" bIns="46548"/>
          <a:lstStyle>
            <a:lvl1pPr eaLnBrk="0" hangingPunct="0">
              <a:defRPr>
                <a:solidFill>
                  <a:schemeClr val="tx1"/>
                </a:solidFill>
                <a:latin typeface="Arial" pitchFamily="34" charset="0"/>
              </a:defRPr>
            </a:lvl1pPr>
            <a:lvl2pPr marL="756397" indent="-290922" eaLnBrk="0" hangingPunct="0">
              <a:defRPr>
                <a:solidFill>
                  <a:schemeClr val="tx1"/>
                </a:solidFill>
                <a:latin typeface="Arial" pitchFamily="34" charset="0"/>
              </a:defRPr>
            </a:lvl2pPr>
            <a:lvl3pPr marL="1163688" indent="-232738" eaLnBrk="0" hangingPunct="0">
              <a:defRPr>
                <a:solidFill>
                  <a:schemeClr val="tx1"/>
                </a:solidFill>
                <a:latin typeface="Arial" pitchFamily="34" charset="0"/>
              </a:defRPr>
            </a:lvl3pPr>
            <a:lvl4pPr marL="1629164" indent="-232738" eaLnBrk="0" hangingPunct="0">
              <a:defRPr>
                <a:solidFill>
                  <a:schemeClr val="tx1"/>
                </a:solidFill>
                <a:latin typeface="Arial" pitchFamily="34" charset="0"/>
              </a:defRPr>
            </a:lvl4pPr>
            <a:lvl5pPr marL="2094639" indent="-232738" eaLnBrk="0" hangingPunct="0">
              <a:defRPr>
                <a:solidFill>
                  <a:schemeClr val="tx1"/>
                </a:solidFill>
                <a:latin typeface="Arial" pitchFamily="34" charset="0"/>
              </a:defRPr>
            </a:lvl5pPr>
            <a:lvl6pPr marL="2560114" indent="-232738" eaLnBrk="0" fontAlgn="base" hangingPunct="0">
              <a:spcBef>
                <a:spcPct val="0"/>
              </a:spcBef>
              <a:spcAft>
                <a:spcPct val="0"/>
              </a:spcAft>
              <a:defRPr>
                <a:solidFill>
                  <a:schemeClr val="tx1"/>
                </a:solidFill>
                <a:latin typeface="Arial" pitchFamily="34" charset="0"/>
              </a:defRPr>
            </a:lvl6pPr>
            <a:lvl7pPr marL="3025590" indent="-232738" eaLnBrk="0" fontAlgn="base" hangingPunct="0">
              <a:spcBef>
                <a:spcPct val="0"/>
              </a:spcBef>
              <a:spcAft>
                <a:spcPct val="0"/>
              </a:spcAft>
              <a:defRPr>
                <a:solidFill>
                  <a:schemeClr val="tx1"/>
                </a:solidFill>
                <a:latin typeface="Arial" pitchFamily="34" charset="0"/>
              </a:defRPr>
            </a:lvl7pPr>
            <a:lvl8pPr marL="3491065" indent="-232738" eaLnBrk="0" fontAlgn="base" hangingPunct="0">
              <a:spcBef>
                <a:spcPct val="0"/>
              </a:spcBef>
              <a:spcAft>
                <a:spcPct val="0"/>
              </a:spcAft>
              <a:defRPr>
                <a:solidFill>
                  <a:schemeClr val="tx1"/>
                </a:solidFill>
                <a:latin typeface="Arial" pitchFamily="34" charset="0"/>
              </a:defRPr>
            </a:lvl8pPr>
            <a:lvl9pPr marL="3956540" indent="-232738" eaLnBrk="0" fontAlgn="base" hangingPunct="0">
              <a:spcBef>
                <a:spcPct val="0"/>
              </a:spcBef>
              <a:spcAft>
                <a:spcPct val="0"/>
              </a:spcAft>
              <a:defRPr>
                <a:solidFill>
                  <a:schemeClr val="tx1"/>
                </a:solidFill>
                <a:latin typeface="Arial" pitchFamily="34" charset="0"/>
              </a:defRPr>
            </a:lvl9pPr>
          </a:lstStyle>
          <a:p>
            <a:pPr eaLnBrk="1" hangingPunct="1"/>
            <a:fld id="{7E9AAF94-C992-48C5-BDF9-4CED6467F2CB}" type="slidenum">
              <a:rPr lang="en-US" smtClean="0"/>
              <a:pPr eaLnBrk="1" hangingPunct="1"/>
              <a:t>3</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xfrm>
            <a:off x="934789" y="4402971"/>
            <a:ext cx="5153525" cy="4171236"/>
          </a:xfrm>
          <a:noFill/>
        </p:spPr>
        <p:txBody>
          <a:bodyPr/>
          <a:lstStyle/>
          <a:p>
            <a:pPr eaLnBrk="1" hangingPunct="1"/>
            <a:r>
              <a:rPr lang="en-US">
                <a:latin typeface="Arial" pitchFamily="34" charset="0"/>
              </a:rPr>
              <a:t>Thus, non-Cartesian trajectories, such as the spiral trajectory shown here, are becoming increasingly popular. These non-Cartesian scans are faster and less susceptible to artifacts than Cartesian scans.</a:t>
            </a:r>
          </a:p>
          <a:p>
            <a:pPr eaLnBrk="1" hangingPunct="1"/>
            <a:endParaRPr lang="en-US">
              <a:latin typeface="Arial" pitchFamily="34" charset="0"/>
            </a:endParaRPr>
          </a:p>
          <a:p>
            <a:pPr eaLnBrk="1" hangingPunct="1"/>
            <a:r>
              <a:rPr lang="en-US">
                <a:latin typeface="Arial" pitchFamily="34" charset="0"/>
              </a:rPr>
              <a:t>However, the FFT cannot be applied directly to the non-Cartesian scan data. One popular approach is to “grid” the data. That is, the non-Cartesian data (shown in orange) is interpolated onto a uniform grid (shown in blue) using some sort of windowing function. The FFT can then be applied to the interpolated data. This technique introduces inaccuracies and satisfies no statistical optimality criterion, but is very fast, and does produce better images than a Cartesian scan.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xfrm>
            <a:off x="3978132" y="8804333"/>
            <a:ext cx="3043343" cy="463471"/>
          </a:xfrm>
          <a:prstGeom prst="rect">
            <a:avLst/>
          </a:prstGeom>
          <a:noFill/>
        </p:spPr>
        <p:txBody>
          <a:bodyPr lIns="93095" tIns="46548" rIns="93095" bIns="46548"/>
          <a:lstStyle>
            <a:lvl1pPr eaLnBrk="0" hangingPunct="0">
              <a:defRPr>
                <a:solidFill>
                  <a:schemeClr val="tx1"/>
                </a:solidFill>
                <a:latin typeface="Arial" pitchFamily="34" charset="0"/>
              </a:defRPr>
            </a:lvl1pPr>
            <a:lvl2pPr marL="756397" indent="-290922" eaLnBrk="0" hangingPunct="0">
              <a:defRPr>
                <a:solidFill>
                  <a:schemeClr val="tx1"/>
                </a:solidFill>
                <a:latin typeface="Arial" pitchFamily="34" charset="0"/>
              </a:defRPr>
            </a:lvl2pPr>
            <a:lvl3pPr marL="1163688" indent="-232738" eaLnBrk="0" hangingPunct="0">
              <a:defRPr>
                <a:solidFill>
                  <a:schemeClr val="tx1"/>
                </a:solidFill>
                <a:latin typeface="Arial" pitchFamily="34" charset="0"/>
              </a:defRPr>
            </a:lvl3pPr>
            <a:lvl4pPr marL="1629164" indent="-232738" eaLnBrk="0" hangingPunct="0">
              <a:defRPr>
                <a:solidFill>
                  <a:schemeClr val="tx1"/>
                </a:solidFill>
                <a:latin typeface="Arial" pitchFamily="34" charset="0"/>
              </a:defRPr>
            </a:lvl4pPr>
            <a:lvl5pPr marL="2094639" indent="-232738" eaLnBrk="0" hangingPunct="0">
              <a:defRPr>
                <a:solidFill>
                  <a:schemeClr val="tx1"/>
                </a:solidFill>
                <a:latin typeface="Arial" pitchFamily="34" charset="0"/>
              </a:defRPr>
            </a:lvl5pPr>
            <a:lvl6pPr marL="2560114" indent="-232738" eaLnBrk="0" fontAlgn="base" hangingPunct="0">
              <a:spcBef>
                <a:spcPct val="0"/>
              </a:spcBef>
              <a:spcAft>
                <a:spcPct val="0"/>
              </a:spcAft>
              <a:defRPr>
                <a:solidFill>
                  <a:schemeClr val="tx1"/>
                </a:solidFill>
                <a:latin typeface="Arial" pitchFamily="34" charset="0"/>
              </a:defRPr>
            </a:lvl6pPr>
            <a:lvl7pPr marL="3025590" indent="-232738" eaLnBrk="0" fontAlgn="base" hangingPunct="0">
              <a:spcBef>
                <a:spcPct val="0"/>
              </a:spcBef>
              <a:spcAft>
                <a:spcPct val="0"/>
              </a:spcAft>
              <a:defRPr>
                <a:solidFill>
                  <a:schemeClr val="tx1"/>
                </a:solidFill>
                <a:latin typeface="Arial" pitchFamily="34" charset="0"/>
              </a:defRPr>
            </a:lvl7pPr>
            <a:lvl8pPr marL="3491065" indent="-232738" eaLnBrk="0" fontAlgn="base" hangingPunct="0">
              <a:spcBef>
                <a:spcPct val="0"/>
              </a:spcBef>
              <a:spcAft>
                <a:spcPct val="0"/>
              </a:spcAft>
              <a:defRPr>
                <a:solidFill>
                  <a:schemeClr val="tx1"/>
                </a:solidFill>
                <a:latin typeface="Arial" pitchFamily="34" charset="0"/>
              </a:defRPr>
            </a:lvl8pPr>
            <a:lvl9pPr marL="3956540" indent="-232738" eaLnBrk="0" fontAlgn="base" hangingPunct="0">
              <a:spcBef>
                <a:spcPct val="0"/>
              </a:spcBef>
              <a:spcAft>
                <a:spcPct val="0"/>
              </a:spcAft>
              <a:defRPr>
                <a:solidFill>
                  <a:schemeClr val="tx1"/>
                </a:solidFill>
                <a:latin typeface="Arial" pitchFamily="34" charset="0"/>
              </a:defRPr>
            </a:lvl9pPr>
          </a:lstStyle>
          <a:p>
            <a:pPr eaLnBrk="1" hangingPunct="1"/>
            <a:fld id="{1C87CB05-3101-4795-9C5A-DF8CA0852D7A}" type="slidenum">
              <a:rPr lang="en-US" smtClean="0"/>
              <a:pPr eaLnBrk="1" hangingPunct="1"/>
              <a:t>4</a:t>
            </a:fld>
            <a:endParaRPr 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xfrm>
            <a:off x="934789" y="4402971"/>
            <a:ext cx="5153525" cy="4171236"/>
          </a:xfrm>
          <a:noFill/>
        </p:spPr>
        <p:txBody>
          <a:bodyPr/>
          <a:lstStyle/>
          <a:p>
            <a:pPr eaLnBrk="1" hangingPunct="1"/>
            <a:r>
              <a:rPr lang="en-US">
                <a:latin typeface="Arial" pitchFamily="34" charset="0"/>
              </a:rPr>
              <a:t>The least-squares reconstruction algorithm poses the reconstruction problem in the form FHF times p = FHd. </a:t>
            </a:r>
          </a:p>
          <a:p>
            <a:pPr eaLnBrk="1" hangingPunct="1"/>
            <a:r>
              <a:rPr lang="en-US">
                <a:latin typeface="Arial" pitchFamily="34" charset="0"/>
              </a:rPr>
              <a:t>1. P is the desired image.</a:t>
            </a:r>
          </a:p>
          <a:p>
            <a:pPr eaLnBrk="1" hangingPunct="1"/>
            <a:r>
              <a:rPr lang="en-US">
                <a:latin typeface="Arial" pitchFamily="34" charset="0"/>
              </a:rPr>
              <a:t>2. FHF is a special data structure that can be derived very quickly from another data structure, Q. Q depends only on the scanner configuration and can therefore be computed before the scan data is even acquired. So, while computing Q is very expensive, this cost can be amortized over many reconstructions, and does not factor into the reconstruction time for any image.</a:t>
            </a:r>
          </a:p>
          <a:p>
            <a:pPr eaLnBrk="1" hangingPunct="1"/>
            <a:r>
              <a:rPr lang="en-US">
                <a:latin typeface="Arial" pitchFamily="34" charset="0"/>
              </a:rPr>
              <a:t>3. FHd is a matrix that depends on both the scanner configuration and the data. Computing FHd is fairly expensive.</a:t>
            </a:r>
          </a:p>
          <a:p>
            <a:pPr eaLnBrk="1" hangingPunct="1"/>
            <a:endParaRPr lang="en-US">
              <a:latin typeface="Arial" pitchFamily="34" charset="0"/>
            </a:endParaRPr>
          </a:p>
          <a:p>
            <a:pPr eaLnBrk="1" hangingPunct="1"/>
            <a:r>
              <a:rPr lang="en-US">
                <a:latin typeface="Arial" pitchFamily="34" charset="0"/>
              </a:rPr>
              <a:t>Finally, given FHF and FHd, a linear solver is used to find the image. This last step is quite fast. In fact, 99.5% of the reconstruction time for a single image is devoted to computing FHd, and computing Q is even more expensive, so those are the computations that we chose to accelerate on the G80.</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xfrm>
            <a:off x="3978132" y="8804333"/>
            <a:ext cx="3043343" cy="463471"/>
          </a:xfrm>
          <a:prstGeom prst="rect">
            <a:avLst/>
          </a:prstGeom>
          <a:noFill/>
        </p:spPr>
        <p:txBody>
          <a:bodyPr lIns="93095" tIns="46548" rIns="93095" bIns="46548"/>
          <a:lstStyle>
            <a:lvl1pPr eaLnBrk="0" hangingPunct="0">
              <a:defRPr>
                <a:solidFill>
                  <a:schemeClr val="tx1"/>
                </a:solidFill>
                <a:latin typeface="Arial" pitchFamily="34" charset="0"/>
              </a:defRPr>
            </a:lvl1pPr>
            <a:lvl2pPr marL="756397" indent="-290922" eaLnBrk="0" hangingPunct="0">
              <a:defRPr>
                <a:solidFill>
                  <a:schemeClr val="tx1"/>
                </a:solidFill>
                <a:latin typeface="Arial" pitchFamily="34" charset="0"/>
              </a:defRPr>
            </a:lvl2pPr>
            <a:lvl3pPr marL="1163688" indent="-232738" eaLnBrk="0" hangingPunct="0">
              <a:defRPr>
                <a:solidFill>
                  <a:schemeClr val="tx1"/>
                </a:solidFill>
                <a:latin typeface="Arial" pitchFamily="34" charset="0"/>
              </a:defRPr>
            </a:lvl3pPr>
            <a:lvl4pPr marL="1629164" indent="-232738" eaLnBrk="0" hangingPunct="0">
              <a:defRPr>
                <a:solidFill>
                  <a:schemeClr val="tx1"/>
                </a:solidFill>
                <a:latin typeface="Arial" pitchFamily="34" charset="0"/>
              </a:defRPr>
            </a:lvl4pPr>
            <a:lvl5pPr marL="2094639" indent="-232738" eaLnBrk="0" hangingPunct="0">
              <a:defRPr>
                <a:solidFill>
                  <a:schemeClr val="tx1"/>
                </a:solidFill>
                <a:latin typeface="Arial" pitchFamily="34" charset="0"/>
              </a:defRPr>
            </a:lvl5pPr>
            <a:lvl6pPr marL="2560114" indent="-232738" eaLnBrk="0" fontAlgn="base" hangingPunct="0">
              <a:spcBef>
                <a:spcPct val="0"/>
              </a:spcBef>
              <a:spcAft>
                <a:spcPct val="0"/>
              </a:spcAft>
              <a:defRPr>
                <a:solidFill>
                  <a:schemeClr val="tx1"/>
                </a:solidFill>
                <a:latin typeface="Arial" pitchFamily="34" charset="0"/>
              </a:defRPr>
            </a:lvl6pPr>
            <a:lvl7pPr marL="3025590" indent="-232738" eaLnBrk="0" fontAlgn="base" hangingPunct="0">
              <a:spcBef>
                <a:spcPct val="0"/>
              </a:spcBef>
              <a:spcAft>
                <a:spcPct val="0"/>
              </a:spcAft>
              <a:defRPr>
                <a:solidFill>
                  <a:schemeClr val="tx1"/>
                </a:solidFill>
                <a:latin typeface="Arial" pitchFamily="34" charset="0"/>
              </a:defRPr>
            </a:lvl7pPr>
            <a:lvl8pPr marL="3491065" indent="-232738" eaLnBrk="0" fontAlgn="base" hangingPunct="0">
              <a:spcBef>
                <a:spcPct val="0"/>
              </a:spcBef>
              <a:spcAft>
                <a:spcPct val="0"/>
              </a:spcAft>
              <a:defRPr>
                <a:solidFill>
                  <a:schemeClr val="tx1"/>
                </a:solidFill>
                <a:latin typeface="Arial" pitchFamily="34" charset="0"/>
              </a:defRPr>
            </a:lvl8pPr>
            <a:lvl9pPr marL="3956540" indent="-232738" eaLnBrk="0" fontAlgn="base" hangingPunct="0">
              <a:spcBef>
                <a:spcPct val="0"/>
              </a:spcBef>
              <a:spcAft>
                <a:spcPct val="0"/>
              </a:spcAft>
              <a:defRPr>
                <a:solidFill>
                  <a:schemeClr val="tx1"/>
                </a:solidFill>
                <a:latin typeface="Arial" pitchFamily="34" charset="0"/>
              </a:defRPr>
            </a:lvl9pPr>
          </a:lstStyle>
          <a:p>
            <a:pPr eaLnBrk="1" hangingPunct="1"/>
            <a:fld id="{E8EB41D4-3AA0-4B15-88F8-2C718DC69D9E}" type="slidenum">
              <a:rPr lang="en-US" smtClean="0"/>
              <a:pPr eaLnBrk="1" hangingPunct="1"/>
              <a:t>6</a:t>
            </a:fld>
            <a:endParaRPr 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xfrm>
            <a:off x="934789" y="4402971"/>
            <a:ext cx="5153525" cy="4171236"/>
          </a:xfrm>
          <a:noFill/>
        </p:spPr>
        <p:txBody>
          <a:bodyPr/>
          <a:lstStyle/>
          <a:p>
            <a:pPr eaLnBrk="1" hangingPunct="1"/>
            <a:r>
              <a:rPr lang="en-US">
                <a:latin typeface="Arial" pitchFamily="34" charset="0"/>
              </a:rPr>
              <a:t>The algorithms for Q and FHd are nearly identical, so in the interest of time we’ll examine only Q.</a:t>
            </a:r>
          </a:p>
          <a:p>
            <a:pPr eaLnBrk="1" hangingPunct="1"/>
            <a:r>
              <a:rPr lang="en-US">
                <a:latin typeface="Arial" pitchFamily="34" charset="0"/>
              </a:rPr>
              <a:t>There are M scan points, with the 3D scan data represented by kx, ky, kz, and phi.</a:t>
            </a:r>
          </a:p>
          <a:p>
            <a:pPr eaLnBrk="1" hangingPunct="1"/>
            <a:r>
              <a:rPr lang="en-US">
                <a:latin typeface="Arial" pitchFamily="34" charset="0"/>
              </a:rPr>
              <a:t>There are N pixels, with the 3D pixel data represented by x, y, and z (inputs) and Q (output).</a:t>
            </a:r>
          </a:p>
          <a:p>
            <a:pPr eaLnBrk="1" hangingPunct="1"/>
            <a:endParaRPr lang="en-US">
              <a:latin typeface="Arial" pitchFamily="34" charset="0"/>
            </a:endParaRPr>
          </a:p>
          <a:p>
            <a:pPr eaLnBrk="1" hangingPunct="1"/>
            <a:r>
              <a:rPr lang="en-US">
                <a:latin typeface="Arial" pitchFamily="34" charset="0"/>
              </a:rPr>
              <a:t>As you can see, the algorithm is embarrassingly data-parallel.</a:t>
            </a:r>
          </a:p>
          <a:p>
            <a:pPr eaLnBrk="1" hangingPunct="1"/>
            <a:r>
              <a:rPr lang="en-US">
                <a:latin typeface="Arial" pitchFamily="34" charset="0"/>
              </a:rPr>
              <a:t>Each iteration of the outer loop corresponds to a single point of scan data. For that single point of scan data, we first compute the magnitude-squared of phi. Then, the inner loop iterates over all the pixels, because the current scan data point contributes to the value of Q at every pixel. In other words, the value of Q at each pixel depends on every scan point. Clearly, the algorithm is O(MN).</a:t>
            </a:r>
          </a:p>
          <a:p>
            <a:pPr eaLnBrk="1" hangingPunct="1"/>
            <a:endParaRPr lang="en-US">
              <a:latin typeface="Arial" pitchFamily="34" charset="0"/>
            </a:endParaRPr>
          </a:p>
          <a:p>
            <a:pPr eaLnBrk="1" hangingPunct="1"/>
            <a:r>
              <a:rPr lang="en-US">
                <a:latin typeface="Arial" pitchFamily="34" charset="0"/>
              </a:rPr>
              <a:t>Examining the inner loop more closely, we see that there are 10 floating-point arithmetic operations, 2 floating-point trig operations, and 10 loads. This instruction mix hints at the bottlenecks we face as we map this algorithm to the G80.</a:t>
            </a:r>
          </a:p>
          <a:p>
            <a:pPr eaLnBrk="1" hangingPunct="1"/>
            <a:endParaRPr lang="en-US">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xfrm>
            <a:off x="3978132" y="8804333"/>
            <a:ext cx="3043343" cy="463471"/>
          </a:xfrm>
          <a:prstGeom prst="rect">
            <a:avLst/>
          </a:prstGeom>
          <a:noFill/>
        </p:spPr>
        <p:txBody>
          <a:bodyPr lIns="93095" tIns="46548" rIns="93095" bIns="46548"/>
          <a:lstStyle>
            <a:lvl1pPr eaLnBrk="0" hangingPunct="0">
              <a:defRPr>
                <a:solidFill>
                  <a:schemeClr val="tx1"/>
                </a:solidFill>
                <a:latin typeface="Arial" pitchFamily="34" charset="0"/>
              </a:defRPr>
            </a:lvl1pPr>
            <a:lvl2pPr marL="756397" indent="-290922" eaLnBrk="0" hangingPunct="0">
              <a:defRPr>
                <a:solidFill>
                  <a:schemeClr val="tx1"/>
                </a:solidFill>
                <a:latin typeface="Arial" pitchFamily="34" charset="0"/>
              </a:defRPr>
            </a:lvl2pPr>
            <a:lvl3pPr marL="1163688" indent="-232738" eaLnBrk="0" hangingPunct="0">
              <a:defRPr>
                <a:solidFill>
                  <a:schemeClr val="tx1"/>
                </a:solidFill>
                <a:latin typeface="Arial" pitchFamily="34" charset="0"/>
              </a:defRPr>
            </a:lvl3pPr>
            <a:lvl4pPr marL="1629164" indent="-232738" eaLnBrk="0" hangingPunct="0">
              <a:defRPr>
                <a:solidFill>
                  <a:schemeClr val="tx1"/>
                </a:solidFill>
                <a:latin typeface="Arial" pitchFamily="34" charset="0"/>
              </a:defRPr>
            </a:lvl4pPr>
            <a:lvl5pPr marL="2094639" indent="-232738" eaLnBrk="0" hangingPunct="0">
              <a:defRPr>
                <a:solidFill>
                  <a:schemeClr val="tx1"/>
                </a:solidFill>
                <a:latin typeface="Arial" pitchFamily="34" charset="0"/>
              </a:defRPr>
            </a:lvl5pPr>
            <a:lvl6pPr marL="2560114" indent="-232738" eaLnBrk="0" fontAlgn="base" hangingPunct="0">
              <a:spcBef>
                <a:spcPct val="0"/>
              </a:spcBef>
              <a:spcAft>
                <a:spcPct val="0"/>
              </a:spcAft>
              <a:defRPr>
                <a:solidFill>
                  <a:schemeClr val="tx1"/>
                </a:solidFill>
                <a:latin typeface="Arial" pitchFamily="34" charset="0"/>
              </a:defRPr>
            </a:lvl6pPr>
            <a:lvl7pPr marL="3025590" indent="-232738" eaLnBrk="0" fontAlgn="base" hangingPunct="0">
              <a:spcBef>
                <a:spcPct val="0"/>
              </a:spcBef>
              <a:spcAft>
                <a:spcPct val="0"/>
              </a:spcAft>
              <a:defRPr>
                <a:solidFill>
                  <a:schemeClr val="tx1"/>
                </a:solidFill>
                <a:latin typeface="Arial" pitchFamily="34" charset="0"/>
              </a:defRPr>
            </a:lvl7pPr>
            <a:lvl8pPr marL="3491065" indent="-232738" eaLnBrk="0" fontAlgn="base" hangingPunct="0">
              <a:spcBef>
                <a:spcPct val="0"/>
              </a:spcBef>
              <a:spcAft>
                <a:spcPct val="0"/>
              </a:spcAft>
              <a:defRPr>
                <a:solidFill>
                  <a:schemeClr val="tx1"/>
                </a:solidFill>
                <a:latin typeface="Arial" pitchFamily="34" charset="0"/>
              </a:defRPr>
            </a:lvl8pPr>
            <a:lvl9pPr marL="3956540" indent="-232738" eaLnBrk="0" fontAlgn="base" hangingPunct="0">
              <a:spcBef>
                <a:spcPct val="0"/>
              </a:spcBef>
              <a:spcAft>
                <a:spcPct val="0"/>
              </a:spcAft>
              <a:defRPr>
                <a:solidFill>
                  <a:schemeClr val="tx1"/>
                </a:solidFill>
                <a:latin typeface="Arial" pitchFamily="34" charset="0"/>
              </a:defRPr>
            </a:lvl9pPr>
          </a:lstStyle>
          <a:p>
            <a:pPr eaLnBrk="1" hangingPunct="1"/>
            <a:fld id="{6071357B-6125-4DEF-8914-539D2CD0985F}" type="slidenum">
              <a:rPr lang="en-US" smtClean="0"/>
              <a:pPr eaLnBrk="1" hangingPunct="1"/>
              <a:t>9</a:t>
            </a:fld>
            <a:endParaRPr 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xfrm>
            <a:off x="934789" y="4402971"/>
            <a:ext cx="5153525" cy="4171236"/>
          </a:xfrm>
          <a:noFill/>
        </p:spPr>
        <p:txBody>
          <a:bodyPr/>
          <a:lstStyle/>
          <a:p>
            <a:pPr eaLnBrk="1" hangingPunct="1"/>
            <a:r>
              <a:rPr lang="en-US">
                <a:latin typeface="Arial" pitchFamily="34" charset="0"/>
              </a:rPr>
              <a:t>The algorithms for Q and FhD are nearly identical, so in the interest of time we’ll examine only Q.</a:t>
            </a:r>
          </a:p>
          <a:p>
            <a:pPr eaLnBrk="1" hangingPunct="1"/>
            <a:r>
              <a:rPr lang="en-US">
                <a:latin typeface="Arial" pitchFamily="34" charset="0"/>
              </a:rPr>
              <a:t>There are M scan points, with the 3D scan data represented by kx, ky, kz, and phi.</a:t>
            </a:r>
          </a:p>
          <a:p>
            <a:pPr eaLnBrk="1" hangingPunct="1"/>
            <a:r>
              <a:rPr lang="en-US">
                <a:latin typeface="Arial" pitchFamily="34" charset="0"/>
              </a:rPr>
              <a:t>There are N pixels, with the 3D pixel data represented by x, y, and z (inputs) and Q (output).</a:t>
            </a:r>
          </a:p>
          <a:p>
            <a:pPr eaLnBrk="1" hangingPunct="1"/>
            <a:endParaRPr lang="en-US">
              <a:latin typeface="Arial" pitchFamily="34" charset="0"/>
            </a:endParaRPr>
          </a:p>
          <a:p>
            <a:pPr eaLnBrk="1" hangingPunct="1"/>
            <a:r>
              <a:rPr lang="en-US">
                <a:latin typeface="Arial" pitchFamily="34" charset="0"/>
              </a:rPr>
              <a:t>As you can see, the algorithm is embarrassingly data-parallel.</a:t>
            </a:r>
          </a:p>
          <a:p>
            <a:pPr eaLnBrk="1" hangingPunct="1"/>
            <a:r>
              <a:rPr lang="en-US">
                <a:latin typeface="Arial" pitchFamily="34" charset="0"/>
              </a:rPr>
              <a:t>Each iteration of the outer loop corresponds to a single point of scan data. For that single point of scan data, we first compute the magnitude-squared of phi. Then, the inner loop iterates over all the pixels, because the current scan data point contributes to the value of Q at every pixel. In other words, the value of Q at each pixel depends on every scan point. Clearly, the algorithm is O(MN).</a:t>
            </a:r>
          </a:p>
          <a:p>
            <a:pPr eaLnBrk="1" hangingPunct="1"/>
            <a:endParaRPr lang="en-US">
              <a:latin typeface="Arial" pitchFamily="34" charset="0"/>
            </a:endParaRPr>
          </a:p>
          <a:p>
            <a:pPr eaLnBrk="1" hangingPunct="1"/>
            <a:r>
              <a:rPr lang="en-US">
                <a:latin typeface="Arial" pitchFamily="34" charset="0"/>
              </a:rPr>
              <a:t>Examining the inner loop more closely, we see that there are 10 floating-point arithmetic operations, 2 floating-point trig operations, and 10 loads. This instruction mix hints at the bottlenecks we face as we map this algorithm to the G80.</a:t>
            </a:r>
          </a:p>
          <a:p>
            <a:pPr eaLnBrk="1" hangingPunct="1"/>
            <a:endParaRPr lang="en-US">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xfrm>
            <a:off x="3978132" y="8804333"/>
            <a:ext cx="3043343" cy="463471"/>
          </a:xfrm>
          <a:prstGeom prst="rect">
            <a:avLst/>
          </a:prstGeom>
          <a:noFill/>
        </p:spPr>
        <p:txBody>
          <a:bodyPr lIns="93095" tIns="46548" rIns="93095" bIns="46548"/>
          <a:lstStyle>
            <a:lvl1pPr eaLnBrk="0" hangingPunct="0">
              <a:defRPr>
                <a:solidFill>
                  <a:schemeClr val="tx1"/>
                </a:solidFill>
                <a:latin typeface="Arial" pitchFamily="34" charset="0"/>
              </a:defRPr>
            </a:lvl1pPr>
            <a:lvl2pPr marL="756397" indent="-290922" eaLnBrk="0" hangingPunct="0">
              <a:defRPr>
                <a:solidFill>
                  <a:schemeClr val="tx1"/>
                </a:solidFill>
                <a:latin typeface="Arial" pitchFamily="34" charset="0"/>
              </a:defRPr>
            </a:lvl2pPr>
            <a:lvl3pPr marL="1163688" indent="-232738" eaLnBrk="0" hangingPunct="0">
              <a:defRPr>
                <a:solidFill>
                  <a:schemeClr val="tx1"/>
                </a:solidFill>
                <a:latin typeface="Arial" pitchFamily="34" charset="0"/>
              </a:defRPr>
            </a:lvl3pPr>
            <a:lvl4pPr marL="1629164" indent="-232738" eaLnBrk="0" hangingPunct="0">
              <a:defRPr>
                <a:solidFill>
                  <a:schemeClr val="tx1"/>
                </a:solidFill>
                <a:latin typeface="Arial" pitchFamily="34" charset="0"/>
              </a:defRPr>
            </a:lvl4pPr>
            <a:lvl5pPr marL="2094639" indent="-232738" eaLnBrk="0" hangingPunct="0">
              <a:defRPr>
                <a:solidFill>
                  <a:schemeClr val="tx1"/>
                </a:solidFill>
                <a:latin typeface="Arial" pitchFamily="34" charset="0"/>
              </a:defRPr>
            </a:lvl5pPr>
            <a:lvl6pPr marL="2560114" indent="-232738" eaLnBrk="0" fontAlgn="base" hangingPunct="0">
              <a:spcBef>
                <a:spcPct val="0"/>
              </a:spcBef>
              <a:spcAft>
                <a:spcPct val="0"/>
              </a:spcAft>
              <a:defRPr>
                <a:solidFill>
                  <a:schemeClr val="tx1"/>
                </a:solidFill>
                <a:latin typeface="Arial" pitchFamily="34" charset="0"/>
              </a:defRPr>
            </a:lvl6pPr>
            <a:lvl7pPr marL="3025590" indent="-232738" eaLnBrk="0" fontAlgn="base" hangingPunct="0">
              <a:spcBef>
                <a:spcPct val="0"/>
              </a:spcBef>
              <a:spcAft>
                <a:spcPct val="0"/>
              </a:spcAft>
              <a:defRPr>
                <a:solidFill>
                  <a:schemeClr val="tx1"/>
                </a:solidFill>
                <a:latin typeface="Arial" pitchFamily="34" charset="0"/>
              </a:defRPr>
            </a:lvl7pPr>
            <a:lvl8pPr marL="3491065" indent="-232738" eaLnBrk="0" fontAlgn="base" hangingPunct="0">
              <a:spcBef>
                <a:spcPct val="0"/>
              </a:spcBef>
              <a:spcAft>
                <a:spcPct val="0"/>
              </a:spcAft>
              <a:defRPr>
                <a:solidFill>
                  <a:schemeClr val="tx1"/>
                </a:solidFill>
                <a:latin typeface="Arial" pitchFamily="34" charset="0"/>
              </a:defRPr>
            </a:lvl8pPr>
            <a:lvl9pPr marL="3956540" indent="-232738" eaLnBrk="0" fontAlgn="base" hangingPunct="0">
              <a:spcBef>
                <a:spcPct val="0"/>
              </a:spcBef>
              <a:spcAft>
                <a:spcPct val="0"/>
              </a:spcAft>
              <a:defRPr>
                <a:solidFill>
                  <a:schemeClr val="tx1"/>
                </a:solidFill>
                <a:latin typeface="Arial" pitchFamily="34" charset="0"/>
              </a:defRPr>
            </a:lvl9pPr>
          </a:lstStyle>
          <a:p>
            <a:pPr eaLnBrk="1" hangingPunct="1"/>
            <a:fld id="{7349AC57-FC45-47EF-97F1-6636F84EED14}" type="slidenum">
              <a:rPr lang="en-US" smtClean="0"/>
              <a:pPr eaLnBrk="1" hangingPunct="1"/>
              <a:t>11</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xfrm>
            <a:off x="934789" y="4402971"/>
            <a:ext cx="5153525" cy="4171236"/>
          </a:xfrm>
          <a:noFill/>
        </p:spPr>
        <p:txBody>
          <a:bodyPr/>
          <a:lstStyle/>
          <a:p>
            <a:pPr eaLnBrk="1" hangingPunct="1"/>
            <a:r>
              <a:rPr lang="en-US">
                <a:latin typeface="Arial" pitchFamily="34" charset="0"/>
              </a:rPr>
              <a:t>The algorithms for Q and FHd are nearly identical, so in the interest of time we’ll examine only Q.</a:t>
            </a:r>
          </a:p>
          <a:p>
            <a:pPr eaLnBrk="1" hangingPunct="1"/>
            <a:r>
              <a:rPr lang="en-US">
                <a:latin typeface="Arial" pitchFamily="34" charset="0"/>
              </a:rPr>
              <a:t>There are M scan points, with the 3D scan data represented by kx, ky, kz, and phi.</a:t>
            </a:r>
          </a:p>
          <a:p>
            <a:pPr eaLnBrk="1" hangingPunct="1"/>
            <a:r>
              <a:rPr lang="en-US">
                <a:latin typeface="Arial" pitchFamily="34" charset="0"/>
              </a:rPr>
              <a:t>There are N pixels, with the 3D pixel data represented by x, y, and z (inputs) and Q (output).</a:t>
            </a:r>
          </a:p>
          <a:p>
            <a:pPr eaLnBrk="1" hangingPunct="1"/>
            <a:endParaRPr lang="en-US">
              <a:latin typeface="Arial" pitchFamily="34" charset="0"/>
            </a:endParaRPr>
          </a:p>
          <a:p>
            <a:pPr eaLnBrk="1" hangingPunct="1"/>
            <a:r>
              <a:rPr lang="en-US">
                <a:latin typeface="Arial" pitchFamily="34" charset="0"/>
              </a:rPr>
              <a:t>As you can see, the algorithm is embarrassingly data-parallel.</a:t>
            </a:r>
          </a:p>
          <a:p>
            <a:pPr eaLnBrk="1" hangingPunct="1"/>
            <a:r>
              <a:rPr lang="en-US">
                <a:latin typeface="Arial" pitchFamily="34" charset="0"/>
              </a:rPr>
              <a:t>Each iteration of the outer loop corresponds to a single point of scan data. For that single point of scan data, we first compute the magnitude-squared of phi. Then, the inner loop iterates over all the pixels, because the current scan data point contributes to the value of Q at every pixel. In other words, the value of Q at each pixel depends on every scan point. Clearly, the algorithm is O(MN).</a:t>
            </a:r>
          </a:p>
          <a:p>
            <a:pPr eaLnBrk="1" hangingPunct="1"/>
            <a:endParaRPr lang="en-US">
              <a:latin typeface="Arial" pitchFamily="34" charset="0"/>
            </a:endParaRPr>
          </a:p>
          <a:p>
            <a:pPr eaLnBrk="1" hangingPunct="1"/>
            <a:r>
              <a:rPr lang="en-US">
                <a:latin typeface="Arial" pitchFamily="34" charset="0"/>
              </a:rPr>
              <a:t>Examining the inner loop more closely, we see that there are 10 floating-point arithmetic operations, 2 floating-point trig operations, and 10 loads. This instruction mix hints at the bottlenecks we face as we map this algorithm to the G80.</a:t>
            </a:r>
          </a:p>
          <a:p>
            <a:pPr eaLnBrk="1" hangingPunct="1"/>
            <a:endParaRPr lang="en-US">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xfrm>
            <a:off x="3978132" y="8804333"/>
            <a:ext cx="3043343" cy="463471"/>
          </a:xfrm>
          <a:prstGeom prst="rect">
            <a:avLst/>
          </a:prstGeom>
          <a:noFill/>
        </p:spPr>
        <p:txBody>
          <a:bodyPr lIns="93095" tIns="46548" rIns="93095" bIns="46548"/>
          <a:lstStyle>
            <a:lvl1pPr eaLnBrk="0" hangingPunct="0">
              <a:defRPr>
                <a:solidFill>
                  <a:schemeClr val="tx1"/>
                </a:solidFill>
                <a:latin typeface="Arial" pitchFamily="34" charset="0"/>
              </a:defRPr>
            </a:lvl1pPr>
            <a:lvl2pPr marL="756397" indent="-290922" eaLnBrk="0" hangingPunct="0">
              <a:defRPr>
                <a:solidFill>
                  <a:schemeClr val="tx1"/>
                </a:solidFill>
                <a:latin typeface="Arial" pitchFamily="34" charset="0"/>
              </a:defRPr>
            </a:lvl2pPr>
            <a:lvl3pPr marL="1163688" indent="-232738" eaLnBrk="0" hangingPunct="0">
              <a:defRPr>
                <a:solidFill>
                  <a:schemeClr val="tx1"/>
                </a:solidFill>
                <a:latin typeface="Arial" pitchFamily="34" charset="0"/>
              </a:defRPr>
            </a:lvl3pPr>
            <a:lvl4pPr marL="1629164" indent="-232738" eaLnBrk="0" hangingPunct="0">
              <a:defRPr>
                <a:solidFill>
                  <a:schemeClr val="tx1"/>
                </a:solidFill>
                <a:latin typeface="Arial" pitchFamily="34" charset="0"/>
              </a:defRPr>
            </a:lvl4pPr>
            <a:lvl5pPr marL="2094639" indent="-232738" eaLnBrk="0" hangingPunct="0">
              <a:defRPr>
                <a:solidFill>
                  <a:schemeClr val="tx1"/>
                </a:solidFill>
                <a:latin typeface="Arial" pitchFamily="34" charset="0"/>
              </a:defRPr>
            </a:lvl5pPr>
            <a:lvl6pPr marL="2560114" indent="-232738" eaLnBrk="0" fontAlgn="base" hangingPunct="0">
              <a:spcBef>
                <a:spcPct val="0"/>
              </a:spcBef>
              <a:spcAft>
                <a:spcPct val="0"/>
              </a:spcAft>
              <a:defRPr>
                <a:solidFill>
                  <a:schemeClr val="tx1"/>
                </a:solidFill>
                <a:latin typeface="Arial" pitchFamily="34" charset="0"/>
              </a:defRPr>
            </a:lvl6pPr>
            <a:lvl7pPr marL="3025590" indent="-232738" eaLnBrk="0" fontAlgn="base" hangingPunct="0">
              <a:spcBef>
                <a:spcPct val="0"/>
              </a:spcBef>
              <a:spcAft>
                <a:spcPct val="0"/>
              </a:spcAft>
              <a:defRPr>
                <a:solidFill>
                  <a:schemeClr val="tx1"/>
                </a:solidFill>
                <a:latin typeface="Arial" pitchFamily="34" charset="0"/>
              </a:defRPr>
            </a:lvl7pPr>
            <a:lvl8pPr marL="3491065" indent="-232738" eaLnBrk="0" fontAlgn="base" hangingPunct="0">
              <a:spcBef>
                <a:spcPct val="0"/>
              </a:spcBef>
              <a:spcAft>
                <a:spcPct val="0"/>
              </a:spcAft>
              <a:defRPr>
                <a:solidFill>
                  <a:schemeClr val="tx1"/>
                </a:solidFill>
                <a:latin typeface="Arial" pitchFamily="34" charset="0"/>
              </a:defRPr>
            </a:lvl8pPr>
            <a:lvl9pPr marL="3956540" indent="-232738" eaLnBrk="0" fontAlgn="base" hangingPunct="0">
              <a:spcBef>
                <a:spcPct val="0"/>
              </a:spcBef>
              <a:spcAft>
                <a:spcPct val="0"/>
              </a:spcAft>
              <a:defRPr>
                <a:solidFill>
                  <a:schemeClr val="tx1"/>
                </a:solidFill>
                <a:latin typeface="Arial" pitchFamily="34" charset="0"/>
              </a:defRPr>
            </a:lvl9pPr>
          </a:lstStyle>
          <a:p>
            <a:pPr eaLnBrk="1" hangingPunct="1"/>
            <a:fld id="{AC2A5B85-3249-4741-85FC-6D64B4396965}" type="slidenum">
              <a:rPr lang="en-US" smtClean="0"/>
              <a:pPr eaLnBrk="1" hangingPunct="1"/>
              <a:t>12</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xfrm>
            <a:off x="934789" y="4402971"/>
            <a:ext cx="5153525" cy="4171236"/>
          </a:xfrm>
          <a:noFill/>
        </p:spPr>
        <p:txBody>
          <a:bodyPr/>
          <a:lstStyle/>
          <a:p>
            <a:pPr eaLnBrk="1" hangingPunct="1"/>
            <a:r>
              <a:rPr lang="en-US">
                <a:latin typeface="Arial" pitchFamily="34" charset="0"/>
              </a:rPr>
              <a:t>The algorithms for Q and FHd are nearly identical, so in the interest of time we’ll examine only Q.</a:t>
            </a:r>
          </a:p>
          <a:p>
            <a:pPr eaLnBrk="1" hangingPunct="1"/>
            <a:r>
              <a:rPr lang="en-US">
                <a:latin typeface="Arial" pitchFamily="34" charset="0"/>
              </a:rPr>
              <a:t>There are M scan points, with the 3D scan data represented by kx, ky, kz, and phi.</a:t>
            </a:r>
          </a:p>
          <a:p>
            <a:pPr eaLnBrk="1" hangingPunct="1"/>
            <a:r>
              <a:rPr lang="en-US">
                <a:latin typeface="Arial" pitchFamily="34" charset="0"/>
              </a:rPr>
              <a:t>There are N pixels, with the 3D pixel data represented by x, y, and z (inputs) and Q (output).</a:t>
            </a:r>
          </a:p>
          <a:p>
            <a:pPr eaLnBrk="1" hangingPunct="1"/>
            <a:endParaRPr lang="en-US">
              <a:latin typeface="Arial" pitchFamily="34" charset="0"/>
            </a:endParaRPr>
          </a:p>
          <a:p>
            <a:pPr eaLnBrk="1" hangingPunct="1"/>
            <a:r>
              <a:rPr lang="en-US">
                <a:latin typeface="Arial" pitchFamily="34" charset="0"/>
              </a:rPr>
              <a:t>As you can see, the algorithm is embarrassingly data-parallel.</a:t>
            </a:r>
          </a:p>
          <a:p>
            <a:pPr eaLnBrk="1" hangingPunct="1"/>
            <a:r>
              <a:rPr lang="en-US">
                <a:latin typeface="Arial" pitchFamily="34" charset="0"/>
              </a:rPr>
              <a:t>Each iteration of the outer loop corresponds to a single point of scan data. For that single point of scan data, we first compute the magnitude-squared of phi. Then, the inner loop iterates over all the pixels, because the current scan data point contributes to the value of Q at every pixel. In other words, the value of Q at each pixel depends on every scan point. Clearly, the algorithm is O(MN).</a:t>
            </a:r>
          </a:p>
          <a:p>
            <a:pPr eaLnBrk="1" hangingPunct="1"/>
            <a:endParaRPr lang="en-US">
              <a:latin typeface="Arial" pitchFamily="34" charset="0"/>
            </a:endParaRPr>
          </a:p>
          <a:p>
            <a:pPr eaLnBrk="1" hangingPunct="1"/>
            <a:r>
              <a:rPr lang="en-US">
                <a:latin typeface="Arial" pitchFamily="34" charset="0"/>
              </a:rPr>
              <a:t>Examining the inner loop more closely, we see that there are 10 floating-point arithmetic operations, 2 floating-point trig operations, and 10 loads. This instruction mix hints at the bottlenecks we face as we map this algorithm to the G80.</a:t>
            </a:r>
          </a:p>
          <a:p>
            <a:pPr eaLnBrk="1" hangingPunct="1"/>
            <a:endParaRPr lang="en-US">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xfrm>
            <a:off x="3978132" y="8804333"/>
            <a:ext cx="3043343" cy="463471"/>
          </a:xfrm>
          <a:prstGeom prst="rect">
            <a:avLst/>
          </a:prstGeom>
          <a:noFill/>
        </p:spPr>
        <p:txBody>
          <a:bodyPr lIns="93095" tIns="46548" rIns="93095" bIns="46548"/>
          <a:lstStyle>
            <a:lvl1pPr eaLnBrk="0" hangingPunct="0">
              <a:defRPr>
                <a:solidFill>
                  <a:schemeClr val="tx1"/>
                </a:solidFill>
                <a:latin typeface="Arial" pitchFamily="34" charset="0"/>
              </a:defRPr>
            </a:lvl1pPr>
            <a:lvl2pPr marL="756397" indent="-290922" eaLnBrk="0" hangingPunct="0">
              <a:defRPr>
                <a:solidFill>
                  <a:schemeClr val="tx1"/>
                </a:solidFill>
                <a:latin typeface="Arial" pitchFamily="34" charset="0"/>
              </a:defRPr>
            </a:lvl2pPr>
            <a:lvl3pPr marL="1163688" indent="-232738" eaLnBrk="0" hangingPunct="0">
              <a:defRPr>
                <a:solidFill>
                  <a:schemeClr val="tx1"/>
                </a:solidFill>
                <a:latin typeface="Arial" pitchFamily="34" charset="0"/>
              </a:defRPr>
            </a:lvl3pPr>
            <a:lvl4pPr marL="1629164" indent="-232738" eaLnBrk="0" hangingPunct="0">
              <a:defRPr>
                <a:solidFill>
                  <a:schemeClr val="tx1"/>
                </a:solidFill>
                <a:latin typeface="Arial" pitchFamily="34" charset="0"/>
              </a:defRPr>
            </a:lvl4pPr>
            <a:lvl5pPr marL="2094639" indent="-232738" eaLnBrk="0" hangingPunct="0">
              <a:defRPr>
                <a:solidFill>
                  <a:schemeClr val="tx1"/>
                </a:solidFill>
                <a:latin typeface="Arial" pitchFamily="34" charset="0"/>
              </a:defRPr>
            </a:lvl5pPr>
            <a:lvl6pPr marL="2560114" indent="-232738" eaLnBrk="0" fontAlgn="base" hangingPunct="0">
              <a:spcBef>
                <a:spcPct val="0"/>
              </a:spcBef>
              <a:spcAft>
                <a:spcPct val="0"/>
              </a:spcAft>
              <a:defRPr>
                <a:solidFill>
                  <a:schemeClr val="tx1"/>
                </a:solidFill>
                <a:latin typeface="Arial" pitchFamily="34" charset="0"/>
              </a:defRPr>
            </a:lvl6pPr>
            <a:lvl7pPr marL="3025590" indent="-232738" eaLnBrk="0" fontAlgn="base" hangingPunct="0">
              <a:spcBef>
                <a:spcPct val="0"/>
              </a:spcBef>
              <a:spcAft>
                <a:spcPct val="0"/>
              </a:spcAft>
              <a:defRPr>
                <a:solidFill>
                  <a:schemeClr val="tx1"/>
                </a:solidFill>
                <a:latin typeface="Arial" pitchFamily="34" charset="0"/>
              </a:defRPr>
            </a:lvl7pPr>
            <a:lvl8pPr marL="3491065" indent="-232738" eaLnBrk="0" fontAlgn="base" hangingPunct="0">
              <a:spcBef>
                <a:spcPct val="0"/>
              </a:spcBef>
              <a:spcAft>
                <a:spcPct val="0"/>
              </a:spcAft>
              <a:defRPr>
                <a:solidFill>
                  <a:schemeClr val="tx1"/>
                </a:solidFill>
                <a:latin typeface="Arial" pitchFamily="34" charset="0"/>
              </a:defRPr>
            </a:lvl8pPr>
            <a:lvl9pPr marL="3956540" indent="-232738" eaLnBrk="0" fontAlgn="base" hangingPunct="0">
              <a:spcBef>
                <a:spcPct val="0"/>
              </a:spcBef>
              <a:spcAft>
                <a:spcPct val="0"/>
              </a:spcAft>
              <a:defRPr>
                <a:solidFill>
                  <a:schemeClr val="tx1"/>
                </a:solidFill>
                <a:latin typeface="Arial" pitchFamily="34" charset="0"/>
              </a:defRPr>
            </a:lvl9pPr>
          </a:lstStyle>
          <a:p>
            <a:pPr eaLnBrk="1" hangingPunct="1"/>
            <a:fld id="{FA302A8E-1E34-4EC6-BCA7-B2B0873292E7}" type="slidenum">
              <a:rPr lang="en-US" smtClean="0"/>
              <a:pPr eaLnBrk="1" hangingPunct="1"/>
              <a:t>13</a:t>
            </a:fld>
            <a:endParaRPr 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xfrm>
            <a:off x="934789" y="4402971"/>
            <a:ext cx="5153525" cy="4171236"/>
          </a:xfrm>
          <a:noFill/>
        </p:spPr>
        <p:txBody>
          <a:bodyPr/>
          <a:lstStyle/>
          <a:p>
            <a:pPr eaLnBrk="1" hangingPunct="1"/>
            <a:r>
              <a:rPr lang="en-US">
                <a:latin typeface="Arial" pitchFamily="34" charset="0"/>
              </a:rPr>
              <a:t>The algorithms for Q and FHd are nearly identical, so in the interest of time we’ll examine only Q.</a:t>
            </a:r>
          </a:p>
          <a:p>
            <a:pPr eaLnBrk="1" hangingPunct="1"/>
            <a:r>
              <a:rPr lang="en-US">
                <a:latin typeface="Arial" pitchFamily="34" charset="0"/>
              </a:rPr>
              <a:t>There are M scan points, with the 3D scan data represented by kx, ky, kz, and phi.</a:t>
            </a:r>
          </a:p>
          <a:p>
            <a:pPr eaLnBrk="1" hangingPunct="1"/>
            <a:r>
              <a:rPr lang="en-US">
                <a:latin typeface="Arial" pitchFamily="34" charset="0"/>
              </a:rPr>
              <a:t>There are N pixels, with the 3D pixel data represented by x, y, and z (inputs) and Q (output).</a:t>
            </a:r>
          </a:p>
          <a:p>
            <a:pPr eaLnBrk="1" hangingPunct="1"/>
            <a:endParaRPr lang="en-US">
              <a:latin typeface="Arial" pitchFamily="34" charset="0"/>
            </a:endParaRPr>
          </a:p>
          <a:p>
            <a:pPr eaLnBrk="1" hangingPunct="1"/>
            <a:r>
              <a:rPr lang="en-US">
                <a:latin typeface="Arial" pitchFamily="34" charset="0"/>
              </a:rPr>
              <a:t>As you can see, the algorithm is embarrassingly data-parallel.</a:t>
            </a:r>
          </a:p>
          <a:p>
            <a:pPr eaLnBrk="1" hangingPunct="1"/>
            <a:r>
              <a:rPr lang="en-US">
                <a:latin typeface="Arial" pitchFamily="34" charset="0"/>
              </a:rPr>
              <a:t>Each iteration of the outer loop corresponds to a single point of scan data. For that single point of scan data, we first compute the magnitude-squared of phi. Then, the inner loop iterates over all the pixels, because the current scan data point contributes to the value of Q at every pixel. In other words, the value of Q at each pixel depends on every scan point. Clearly, the algorithm is O(MN).</a:t>
            </a:r>
          </a:p>
          <a:p>
            <a:pPr eaLnBrk="1" hangingPunct="1"/>
            <a:endParaRPr lang="en-US">
              <a:latin typeface="Arial" pitchFamily="34" charset="0"/>
            </a:endParaRPr>
          </a:p>
          <a:p>
            <a:pPr eaLnBrk="1" hangingPunct="1"/>
            <a:r>
              <a:rPr lang="en-US">
                <a:latin typeface="Arial" pitchFamily="34" charset="0"/>
              </a:rPr>
              <a:t>Examining the inner loop more closely, we see that there are 10 floating-point arithmetic operations, 2 floating-point trig operations, and 10 loads. This instruction mix hints at the bottlenecks we face as we map this algorithm to the G80.</a:t>
            </a:r>
          </a:p>
          <a:p>
            <a:pPr eaLnBrk="1" hangingPunct="1"/>
            <a:endParaRPr lang="en-US">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xfrm>
            <a:off x="3978132" y="8804333"/>
            <a:ext cx="3043343" cy="463471"/>
          </a:xfrm>
          <a:prstGeom prst="rect">
            <a:avLst/>
          </a:prstGeom>
          <a:noFill/>
        </p:spPr>
        <p:txBody>
          <a:bodyPr lIns="93095" tIns="46548" rIns="93095" bIns="46548"/>
          <a:lstStyle>
            <a:lvl1pPr eaLnBrk="0" hangingPunct="0">
              <a:defRPr>
                <a:solidFill>
                  <a:schemeClr val="tx1"/>
                </a:solidFill>
                <a:latin typeface="Arial" pitchFamily="34" charset="0"/>
              </a:defRPr>
            </a:lvl1pPr>
            <a:lvl2pPr marL="756397" indent="-290922" eaLnBrk="0" hangingPunct="0">
              <a:defRPr>
                <a:solidFill>
                  <a:schemeClr val="tx1"/>
                </a:solidFill>
                <a:latin typeface="Arial" pitchFamily="34" charset="0"/>
              </a:defRPr>
            </a:lvl2pPr>
            <a:lvl3pPr marL="1163688" indent="-232738" eaLnBrk="0" hangingPunct="0">
              <a:defRPr>
                <a:solidFill>
                  <a:schemeClr val="tx1"/>
                </a:solidFill>
                <a:latin typeface="Arial" pitchFamily="34" charset="0"/>
              </a:defRPr>
            </a:lvl3pPr>
            <a:lvl4pPr marL="1629164" indent="-232738" eaLnBrk="0" hangingPunct="0">
              <a:defRPr>
                <a:solidFill>
                  <a:schemeClr val="tx1"/>
                </a:solidFill>
                <a:latin typeface="Arial" pitchFamily="34" charset="0"/>
              </a:defRPr>
            </a:lvl4pPr>
            <a:lvl5pPr marL="2094639" indent="-232738" eaLnBrk="0" hangingPunct="0">
              <a:defRPr>
                <a:solidFill>
                  <a:schemeClr val="tx1"/>
                </a:solidFill>
                <a:latin typeface="Arial" pitchFamily="34" charset="0"/>
              </a:defRPr>
            </a:lvl5pPr>
            <a:lvl6pPr marL="2560114" indent="-232738" eaLnBrk="0" fontAlgn="base" hangingPunct="0">
              <a:spcBef>
                <a:spcPct val="0"/>
              </a:spcBef>
              <a:spcAft>
                <a:spcPct val="0"/>
              </a:spcAft>
              <a:defRPr>
                <a:solidFill>
                  <a:schemeClr val="tx1"/>
                </a:solidFill>
                <a:latin typeface="Arial" pitchFamily="34" charset="0"/>
              </a:defRPr>
            </a:lvl6pPr>
            <a:lvl7pPr marL="3025590" indent="-232738" eaLnBrk="0" fontAlgn="base" hangingPunct="0">
              <a:spcBef>
                <a:spcPct val="0"/>
              </a:spcBef>
              <a:spcAft>
                <a:spcPct val="0"/>
              </a:spcAft>
              <a:defRPr>
                <a:solidFill>
                  <a:schemeClr val="tx1"/>
                </a:solidFill>
                <a:latin typeface="Arial" pitchFamily="34" charset="0"/>
              </a:defRPr>
            </a:lvl7pPr>
            <a:lvl8pPr marL="3491065" indent="-232738" eaLnBrk="0" fontAlgn="base" hangingPunct="0">
              <a:spcBef>
                <a:spcPct val="0"/>
              </a:spcBef>
              <a:spcAft>
                <a:spcPct val="0"/>
              </a:spcAft>
              <a:defRPr>
                <a:solidFill>
                  <a:schemeClr val="tx1"/>
                </a:solidFill>
                <a:latin typeface="Arial" pitchFamily="34" charset="0"/>
              </a:defRPr>
            </a:lvl8pPr>
            <a:lvl9pPr marL="3956540" indent="-232738" eaLnBrk="0" fontAlgn="base" hangingPunct="0">
              <a:spcBef>
                <a:spcPct val="0"/>
              </a:spcBef>
              <a:spcAft>
                <a:spcPct val="0"/>
              </a:spcAft>
              <a:defRPr>
                <a:solidFill>
                  <a:schemeClr val="tx1"/>
                </a:solidFill>
                <a:latin typeface="Arial" pitchFamily="34" charset="0"/>
              </a:defRPr>
            </a:lvl9pPr>
          </a:lstStyle>
          <a:p>
            <a:pPr eaLnBrk="1" hangingPunct="1"/>
            <a:fld id="{23A04B43-96D6-456F-8127-D39FBC275637}" type="slidenum">
              <a:rPr lang="en-US" smtClean="0"/>
              <a:pPr eaLnBrk="1" hangingPunct="1"/>
              <a:t>14</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xfrm>
            <a:off x="934789" y="4402971"/>
            <a:ext cx="5153525" cy="4171236"/>
          </a:xfrm>
          <a:noFill/>
        </p:spPr>
        <p:txBody>
          <a:bodyPr/>
          <a:lstStyle/>
          <a:p>
            <a:pPr eaLnBrk="1" hangingPunct="1"/>
            <a:r>
              <a:rPr lang="en-US">
                <a:latin typeface="Arial" pitchFamily="34" charset="0"/>
              </a:rPr>
              <a:t>The algorithms for Q and FHd are nearly identical, so in the interest of time we’ll examine only Q.</a:t>
            </a:r>
          </a:p>
          <a:p>
            <a:pPr eaLnBrk="1" hangingPunct="1"/>
            <a:r>
              <a:rPr lang="en-US">
                <a:latin typeface="Arial" pitchFamily="34" charset="0"/>
              </a:rPr>
              <a:t>There are M scan points, with the 3D scan data represented by kx, ky, kz, and phi.</a:t>
            </a:r>
          </a:p>
          <a:p>
            <a:pPr eaLnBrk="1" hangingPunct="1"/>
            <a:r>
              <a:rPr lang="en-US">
                <a:latin typeface="Arial" pitchFamily="34" charset="0"/>
              </a:rPr>
              <a:t>There are N pixels, with the 3D pixel data represented by x, y, and z (inputs) and Q (output).</a:t>
            </a:r>
          </a:p>
          <a:p>
            <a:pPr eaLnBrk="1" hangingPunct="1"/>
            <a:endParaRPr lang="en-US">
              <a:latin typeface="Arial" pitchFamily="34" charset="0"/>
            </a:endParaRPr>
          </a:p>
          <a:p>
            <a:pPr eaLnBrk="1" hangingPunct="1"/>
            <a:r>
              <a:rPr lang="en-US">
                <a:latin typeface="Arial" pitchFamily="34" charset="0"/>
              </a:rPr>
              <a:t>As you can see, the algorithm is embarrassingly data-parallel.</a:t>
            </a:r>
          </a:p>
          <a:p>
            <a:pPr eaLnBrk="1" hangingPunct="1"/>
            <a:r>
              <a:rPr lang="en-US">
                <a:latin typeface="Arial" pitchFamily="34" charset="0"/>
              </a:rPr>
              <a:t>Each iteration of the outer loop corresponds to a single point of scan data. For that single point of scan data, we first compute the magnitude-squared of phi. Then, the inner loop iterates over all the pixels, because the current scan data point contributes to the value of Q at every pixel. In other words, the value of Q at each pixel depends on every scan point. Clearly, the algorithm is O(MN).</a:t>
            </a:r>
          </a:p>
          <a:p>
            <a:pPr eaLnBrk="1" hangingPunct="1"/>
            <a:endParaRPr lang="en-US">
              <a:latin typeface="Arial" pitchFamily="34" charset="0"/>
            </a:endParaRPr>
          </a:p>
          <a:p>
            <a:pPr eaLnBrk="1" hangingPunct="1"/>
            <a:r>
              <a:rPr lang="en-US">
                <a:latin typeface="Arial" pitchFamily="34" charset="0"/>
              </a:rPr>
              <a:t>Examining the inner loop more closely, we see that there are 10 floating-point arithmetic operations, 2 floating-point trig operations, and 10 loads. This instruction mix hints at the bottlenecks we face as we map this algorithm to the G80.</a:t>
            </a:r>
          </a:p>
          <a:p>
            <a:pPr eaLnBrk="1" hangingPunct="1"/>
            <a:endParaRPr lang="en-US">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xfrm>
            <a:off x="3978132" y="8804333"/>
            <a:ext cx="3043343" cy="463471"/>
          </a:xfrm>
          <a:prstGeom prst="rect">
            <a:avLst/>
          </a:prstGeom>
          <a:noFill/>
        </p:spPr>
        <p:txBody>
          <a:bodyPr lIns="93095" tIns="46548" rIns="93095" bIns="46548"/>
          <a:lstStyle>
            <a:lvl1pPr eaLnBrk="0" hangingPunct="0">
              <a:defRPr>
                <a:solidFill>
                  <a:schemeClr val="tx1"/>
                </a:solidFill>
                <a:latin typeface="Arial" pitchFamily="34" charset="0"/>
              </a:defRPr>
            </a:lvl1pPr>
            <a:lvl2pPr marL="756397" indent="-290922" eaLnBrk="0" hangingPunct="0">
              <a:defRPr>
                <a:solidFill>
                  <a:schemeClr val="tx1"/>
                </a:solidFill>
                <a:latin typeface="Arial" pitchFamily="34" charset="0"/>
              </a:defRPr>
            </a:lvl2pPr>
            <a:lvl3pPr marL="1163688" indent="-232738" eaLnBrk="0" hangingPunct="0">
              <a:defRPr>
                <a:solidFill>
                  <a:schemeClr val="tx1"/>
                </a:solidFill>
                <a:latin typeface="Arial" pitchFamily="34" charset="0"/>
              </a:defRPr>
            </a:lvl3pPr>
            <a:lvl4pPr marL="1629164" indent="-232738" eaLnBrk="0" hangingPunct="0">
              <a:defRPr>
                <a:solidFill>
                  <a:schemeClr val="tx1"/>
                </a:solidFill>
                <a:latin typeface="Arial" pitchFamily="34" charset="0"/>
              </a:defRPr>
            </a:lvl4pPr>
            <a:lvl5pPr marL="2094639" indent="-232738" eaLnBrk="0" hangingPunct="0">
              <a:defRPr>
                <a:solidFill>
                  <a:schemeClr val="tx1"/>
                </a:solidFill>
                <a:latin typeface="Arial" pitchFamily="34" charset="0"/>
              </a:defRPr>
            </a:lvl5pPr>
            <a:lvl6pPr marL="2560114" indent="-232738" eaLnBrk="0" fontAlgn="base" hangingPunct="0">
              <a:spcBef>
                <a:spcPct val="0"/>
              </a:spcBef>
              <a:spcAft>
                <a:spcPct val="0"/>
              </a:spcAft>
              <a:defRPr>
                <a:solidFill>
                  <a:schemeClr val="tx1"/>
                </a:solidFill>
                <a:latin typeface="Arial" pitchFamily="34" charset="0"/>
              </a:defRPr>
            </a:lvl6pPr>
            <a:lvl7pPr marL="3025590" indent="-232738" eaLnBrk="0" fontAlgn="base" hangingPunct="0">
              <a:spcBef>
                <a:spcPct val="0"/>
              </a:spcBef>
              <a:spcAft>
                <a:spcPct val="0"/>
              </a:spcAft>
              <a:defRPr>
                <a:solidFill>
                  <a:schemeClr val="tx1"/>
                </a:solidFill>
                <a:latin typeface="Arial" pitchFamily="34" charset="0"/>
              </a:defRPr>
            </a:lvl7pPr>
            <a:lvl8pPr marL="3491065" indent="-232738" eaLnBrk="0" fontAlgn="base" hangingPunct="0">
              <a:spcBef>
                <a:spcPct val="0"/>
              </a:spcBef>
              <a:spcAft>
                <a:spcPct val="0"/>
              </a:spcAft>
              <a:defRPr>
                <a:solidFill>
                  <a:schemeClr val="tx1"/>
                </a:solidFill>
                <a:latin typeface="Arial" pitchFamily="34" charset="0"/>
              </a:defRPr>
            </a:lvl8pPr>
            <a:lvl9pPr marL="3956540" indent="-232738" eaLnBrk="0" fontAlgn="base" hangingPunct="0">
              <a:spcBef>
                <a:spcPct val="0"/>
              </a:spcBef>
              <a:spcAft>
                <a:spcPct val="0"/>
              </a:spcAft>
              <a:defRPr>
                <a:solidFill>
                  <a:schemeClr val="tx1"/>
                </a:solidFill>
                <a:latin typeface="Arial" pitchFamily="34" charset="0"/>
              </a:defRPr>
            </a:lvl9pPr>
          </a:lstStyle>
          <a:p>
            <a:pPr eaLnBrk="1" hangingPunct="1"/>
            <a:fld id="{0D94DBD5-30CB-4D7D-8CCF-B8119DBFFFB1}" type="slidenum">
              <a:rPr lang="en-US" smtClean="0"/>
              <a:pPr eaLnBrk="1" hangingPunct="1"/>
              <a:t>15</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xfrm>
            <a:off x="934789" y="4402971"/>
            <a:ext cx="5153525" cy="4171236"/>
          </a:xfrm>
          <a:noFill/>
        </p:spPr>
        <p:txBody>
          <a:bodyPr/>
          <a:lstStyle/>
          <a:p>
            <a:pPr eaLnBrk="1" hangingPunct="1"/>
            <a:r>
              <a:rPr lang="en-US">
                <a:latin typeface="Arial" pitchFamily="34" charset="0"/>
              </a:rPr>
              <a:t>How can the layout of scan data in the constant memory be causing the poor performance we just observed?</a:t>
            </a:r>
          </a:p>
          <a:p>
            <a:pPr eaLnBrk="1" hangingPunct="1"/>
            <a:r>
              <a:rPr lang="en-US">
                <a:latin typeface="Arial" pitchFamily="34" charset="0"/>
              </a:rPr>
              <a:t>First, recall that the kx, ky, kz, and phi components of the same scan point have both temporal and spatial locality.</a:t>
            </a:r>
          </a:p>
          <a:p>
            <a:pPr eaLnBrk="1" hangingPunct="1"/>
            <a:r>
              <a:rPr lang="en-US">
                <a:latin typeface="Arial" pitchFamily="34" charset="0"/>
              </a:rPr>
              <a:t>The temporal locality is across threads (when one thread loads a scan point, there’s a high probability that another thread will load the same scan point soon).</a:t>
            </a:r>
          </a:p>
          <a:p>
            <a:pPr eaLnBrk="1" hangingPunct="1"/>
            <a:r>
              <a:rPr lang="en-US">
                <a:latin typeface="Arial" pitchFamily="34" charset="0"/>
              </a:rPr>
              <a:t>The spatial locality is both within and across threads (when one thread loads a scan point, there’s a high probability that the same thread and other threads will load nearby scan points soon).</a:t>
            </a:r>
          </a:p>
          <a:p>
            <a:pPr eaLnBrk="1" hangingPunct="1"/>
            <a:endParaRPr lang="en-US">
              <a:latin typeface="Arial" pitchFamily="34" charset="0"/>
            </a:endParaRPr>
          </a:p>
          <a:p>
            <a:pPr eaLnBrk="1" hangingPunct="1"/>
            <a:r>
              <a:rPr lang="en-US">
                <a:latin typeface="Arial" pitchFamily="34" charset="0"/>
              </a:rPr>
              <a:t>In the old data layout, the components of the same scan point are not in contiguous memory. So prefetching isn’t as effective as it might be, and in-phase threads may cause a lot of unnecessary cache conflicts, depending on the line size and associativity of the constant caches.</a:t>
            </a:r>
          </a:p>
          <a:p>
            <a:pPr eaLnBrk="1" hangingPunct="1"/>
            <a:endParaRPr lang="en-US">
              <a:latin typeface="Arial" pitchFamily="34" charset="0"/>
            </a:endParaRPr>
          </a:p>
          <a:p>
            <a:pPr eaLnBrk="1" hangingPunct="1"/>
            <a:r>
              <a:rPr lang="en-US">
                <a:latin typeface="Arial" pitchFamily="34" charset="0"/>
              </a:rPr>
              <a:t>In the new data layout, those problems don’t exist.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xfrm>
            <a:off x="3978132" y="8804333"/>
            <a:ext cx="3043343" cy="463471"/>
          </a:xfrm>
          <a:prstGeom prst="rect">
            <a:avLst/>
          </a:prstGeom>
          <a:noFill/>
        </p:spPr>
        <p:txBody>
          <a:bodyPr lIns="93095" tIns="46548" rIns="93095" bIns="46548"/>
          <a:lstStyle>
            <a:lvl1pPr eaLnBrk="0" hangingPunct="0">
              <a:defRPr>
                <a:solidFill>
                  <a:schemeClr val="tx1"/>
                </a:solidFill>
                <a:latin typeface="Arial" pitchFamily="34" charset="0"/>
              </a:defRPr>
            </a:lvl1pPr>
            <a:lvl2pPr marL="756397" indent="-290922" eaLnBrk="0" hangingPunct="0">
              <a:defRPr>
                <a:solidFill>
                  <a:schemeClr val="tx1"/>
                </a:solidFill>
                <a:latin typeface="Arial" pitchFamily="34" charset="0"/>
              </a:defRPr>
            </a:lvl2pPr>
            <a:lvl3pPr marL="1163688" indent="-232738" eaLnBrk="0" hangingPunct="0">
              <a:defRPr>
                <a:solidFill>
                  <a:schemeClr val="tx1"/>
                </a:solidFill>
                <a:latin typeface="Arial" pitchFamily="34" charset="0"/>
              </a:defRPr>
            </a:lvl3pPr>
            <a:lvl4pPr marL="1629164" indent="-232738" eaLnBrk="0" hangingPunct="0">
              <a:defRPr>
                <a:solidFill>
                  <a:schemeClr val="tx1"/>
                </a:solidFill>
                <a:latin typeface="Arial" pitchFamily="34" charset="0"/>
              </a:defRPr>
            </a:lvl4pPr>
            <a:lvl5pPr marL="2094639" indent="-232738" eaLnBrk="0" hangingPunct="0">
              <a:defRPr>
                <a:solidFill>
                  <a:schemeClr val="tx1"/>
                </a:solidFill>
                <a:latin typeface="Arial" pitchFamily="34" charset="0"/>
              </a:defRPr>
            </a:lvl5pPr>
            <a:lvl6pPr marL="2560114" indent="-232738" eaLnBrk="0" fontAlgn="base" hangingPunct="0">
              <a:spcBef>
                <a:spcPct val="0"/>
              </a:spcBef>
              <a:spcAft>
                <a:spcPct val="0"/>
              </a:spcAft>
              <a:defRPr>
                <a:solidFill>
                  <a:schemeClr val="tx1"/>
                </a:solidFill>
                <a:latin typeface="Arial" pitchFamily="34" charset="0"/>
              </a:defRPr>
            </a:lvl6pPr>
            <a:lvl7pPr marL="3025590" indent="-232738" eaLnBrk="0" fontAlgn="base" hangingPunct="0">
              <a:spcBef>
                <a:spcPct val="0"/>
              </a:spcBef>
              <a:spcAft>
                <a:spcPct val="0"/>
              </a:spcAft>
              <a:defRPr>
                <a:solidFill>
                  <a:schemeClr val="tx1"/>
                </a:solidFill>
                <a:latin typeface="Arial" pitchFamily="34" charset="0"/>
              </a:defRPr>
            </a:lvl7pPr>
            <a:lvl8pPr marL="3491065" indent="-232738" eaLnBrk="0" fontAlgn="base" hangingPunct="0">
              <a:spcBef>
                <a:spcPct val="0"/>
              </a:spcBef>
              <a:spcAft>
                <a:spcPct val="0"/>
              </a:spcAft>
              <a:defRPr>
                <a:solidFill>
                  <a:schemeClr val="tx1"/>
                </a:solidFill>
                <a:latin typeface="Arial" pitchFamily="34" charset="0"/>
              </a:defRPr>
            </a:lvl8pPr>
            <a:lvl9pPr marL="3956540" indent="-232738" eaLnBrk="0" fontAlgn="base" hangingPunct="0">
              <a:spcBef>
                <a:spcPct val="0"/>
              </a:spcBef>
              <a:spcAft>
                <a:spcPct val="0"/>
              </a:spcAft>
              <a:defRPr>
                <a:solidFill>
                  <a:schemeClr val="tx1"/>
                </a:solidFill>
                <a:latin typeface="Arial" pitchFamily="34" charset="0"/>
              </a:defRPr>
            </a:lvl9pPr>
          </a:lstStyle>
          <a:p>
            <a:pPr eaLnBrk="1" hangingPunct="1"/>
            <a:fld id="{7018630F-8D68-4A5E-A084-FC2CA4DB33B6}" type="slidenum">
              <a:rPr lang="en-US" smtClean="0"/>
              <a:pPr eaLnBrk="1" hangingPunct="1"/>
              <a:t>16</a:t>
            </a:fld>
            <a:endParaRPr 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xfrm>
            <a:off x="934789" y="4402971"/>
            <a:ext cx="5153525" cy="4171236"/>
          </a:xfrm>
          <a:noFill/>
        </p:spPr>
        <p:txBody>
          <a:bodyPr/>
          <a:lstStyle/>
          <a:p>
            <a:pPr eaLnBrk="1" hangingPunct="1"/>
            <a:r>
              <a:rPr lang="en-US">
                <a:latin typeface="Arial" pitchFamily="34" charset="0"/>
              </a:rPr>
              <a:t>The algorithms for Q and FHd are nearly identical, so in the interest of time we’ll examine only Q.</a:t>
            </a:r>
          </a:p>
          <a:p>
            <a:pPr eaLnBrk="1" hangingPunct="1"/>
            <a:r>
              <a:rPr lang="en-US">
                <a:latin typeface="Arial" pitchFamily="34" charset="0"/>
              </a:rPr>
              <a:t>There are M scan points, with the 3D scan data represented by kx, ky, kz, and phi.</a:t>
            </a:r>
          </a:p>
          <a:p>
            <a:pPr eaLnBrk="1" hangingPunct="1"/>
            <a:r>
              <a:rPr lang="en-US">
                <a:latin typeface="Arial" pitchFamily="34" charset="0"/>
              </a:rPr>
              <a:t>There are N pixels, with the 3D pixel data represented by x, y, and z (inputs) and Q (output).</a:t>
            </a:r>
          </a:p>
          <a:p>
            <a:pPr eaLnBrk="1" hangingPunct="1"/>
            <a:endParaRPr lang="en-US">
              <a:latin typeface="Arial" pitchFamily="34" charset="0"/>
            </a:endParaRPr>
          </a:p>
          <a:p>
            <a:pPr eaLnBrk="1" hangingPunct="1"/>
            <a:r>
              <a:rPr lang="en-US">
                <a:latin typeface="Arial" pitchFamily="34" charset="0"/>
              </a:rPr>
              <a:t>As you can see, the algorithm is embarrassingly data-parallel.</a:t>
            </a:r>
          </a:p>
          <a:p>
            <a:pPr eaLnBrk="1" hangingPunct="1"/>
            <a:r>
              <a:rPr lang="en-US">
                <a:latin typeface="Arial" pitchFamily="34" charset="0"/>
              </a:rPr>
              <a:t>Each iteration of the outer loop corresponds to a single point of scan data. For that single point of scan data, we first compute the magnitude-squared of phi. Then, the inner loop iterates over all the pixels, because the current scan data point contributes to the value of Q at every pixel. In other words, the value of Q at each pixel depends on every scan point. Clearly, the algorithm is O(MN).</a:t>
            </a:r>
          </a:p>
          <a:p>
            <a:pPr eaLnBrk="1" hangingPunct="1"/>
            <a:endParaRPr lang="en-US">
              <a:latin typeface="Arial" pitchFamily="34" charset="0"/>
            </a:endParaRPr>
          </a:p>
          <a:p>
            <a:pPr eaLnBrk="1" hangingPunct="1"/>
            <a:r>
              <a:rPr lang="en-US">
                <a:latin typeface="Arial" pitchFamily="34" charset="0"/>
              </a:rPr>
              <a:t>Examining the inner loop more closely, we see that there are 10 floating-point arithmetic operations, 2 floating-point trig operations, and 10 loads. This instruction mix hints at the bottlenecks we face as we map this algorithm to the G80.</a:t>
            </a:r>
          </a:p>
          <a:p>
            <a:pPr eaLnBrk="1" hangingPunct="1"/>
            <a:endParaRPr lang="en-US">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xfrm>
            <a:off x="3978132" y="8804333"/>
            <a:ext cx="3043343" cy="463471"/>
          </a:xfrm>
          <a:prstGeom prst="rect">
            <a:avLst/>
          </a:prstGeom>
          <a:noFill/>
        </p:spPr>
        <p:txBody>
          <a:bodyPr lIns="93095" tIns="46548" rIns="93095" bIns="46548"/>
          <a:lstStyle>
            <a:lvl1pPr eaLnBrk="0" hangingPunct="0">
              <a:defRPr>
                <a:solidFill>
                  <a:schemeClr val="tx1"/>
                </a:solidFill>
                <a:latin typeface="Arial" pitchFamily="34" charset="0"/>
              </a:defRPr>
            </a:lvl1pPr>
            <a:lvl2pPr marL="756397" indent="-290922" eaLnBrk="0" hangingPunct="0">
              <a:defRPr>
                <a:solidFill>
                  <a:schemeClr val="tx1"/>
                </a:solidFill>
                <a:latin typeface="Arial" pitchFamily="34" charset="0"/>
              </a:defRPr>
            </a:lvl2pPr>
            <a:lvl3pPr marL="1163688" indent="-232738" eaLnBrk="0" hangingPunct="0">
              <a:defRPr>
                <a:solidFill>
                  <a:schemeClr val="tx1"/>
                </a:solidFill>
                <a:latin typeface="Arial" pitchFamily="34" charset="0"/>
              </a:defRPr>
            </a:lvl3pPr>
            <a:lvl4pPr marL="1629164" indent="-232738" eaLnBrk="0" hangingPunct="0">
              <a:defRPr>
                <a:solidFill>
                  <a:schemeClr val="tx1"/>
                </a:solidFill>
                <a:latin typeface="Arial" pitchFamily="34" charset="0"/>
              </a:defRPr>
            </a:lvl4pPr>
            <a:lvl5pPr marL="2094639" indent="-232738" eaLnBrk="0" hangingPunct="0">
              <a:defRPr>
                <a:solidFill>
                  <a:schemeClr val="tx1"/>
                </a:solidFill>
                <a:latin typeface="Arial" pitchFamily="34" charset="0"/>
              </a:defRPr>
            </a:lvl5pPr>
            <a:lvl6pPr marL="2560114" indent="-232738" eaLnBrk="0" fontAlgn="base" hangingPunct="0">
              <a:spcBef>
                <a:spcPct val="0"/>
              </a:spcBef>
              <a:spcAft>
                <a:spcPct val="0"/>
              </a:spcAft>
              <a:defRPr>
                <a:solidFill>
                  <a:schemeClr val="tx1"/>
                </a:solidFill>
                <a:latin typeface="Arial" pitchFamily="34" charset="0"/>
              </a:defRPr>
            </a:lvl6pPr>
            <a:lvl7pPr marL="3025590" indent="-232738" eaLnBrk="0" fontAlgn="base" hangingPunct="0">
              <a:spcBef>
                <a:spcPct val="0"/>
              </a:spcBef>
              <a:spcAft>
                <a:spcPct val="0"/>
              </a:spcAft>
              <a:defRPr>
                <a:solidFill>
                  <a:schemeClr val="tx1"/>
                </a:solidFill>
                <a:latin typeface="Arial" pitchFamily="34" charset="0"/>
              </a:defRPr>
            </a:lvl7pPr>
            <a:lvl8pPr marL="3491065" indent="-232738" eaLnBrk="0" fontAlgn="base" hangingPunct="0">
              <a:spcBef>
                <a:spcPct val="0"/>
              </a:spcBef>
              <a:spcAft>
                <a:spcPct val="0"/>
              </a:spcAft>
              <a:defRPr>
                <a:solidFill>
                  <a:schemeClr val="tx1"/>
                </a:solidFill>
                <a:latin typeface="Arial" pitchFamily="34" charset="0"/>
              </a:defRPr>
            </a:lvl8pPr>
            <a:lvl9pPr marL="3956540" indent="-232738" eaLnBrk="0" fontAlgn="base" hangingPunct="0">
              <a:spcBef>
                <a:spcPct val="0"/>
              </a:spcBef>
              <a:spcAft>
                <a:spcPct val="0"/>
              </a:spcAft>
              <a:defRPr>
                <a:solidFill>
                  <a:schemeClr val="tx1"/>
                </a:solidFill>
                <a:latin typeface="Arial" pitchFamily="34" charset="0"/>
              </a:defRPr>
            </a:lvl9pPr>
          </a:lstStyle>
          <a:p>
            <a:pPr eaLnBrk="1" hangingPunct="1"/>
            <a:fld id="{41120B33-7EBF-4BA0-A58C-2E0D7845D844}" type="slidenum">
              <a:rPr lang="en-US" smtClean="0"/>
              <a:pPr eaLnBrk="1" hangingPunct="1"/>
              <a:t>17</a:t>
            </a:fld>
            <a:endParaRPr 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xfrm>
            <a:off x="934789" y="4402971"/>
            <a:ext cx="5153525" cy="4171236"/>
          </a:xfrm>
          <a:noFill/>
        </p:spPr>
        <p:txBody>
          <a:bodyPr/>
          <a:lstStyle/>
          <a:p>
            <a:pPr eaLnBrk="1" hangingPunct="1"/>
            <a:r>
              <a:rPr lang="en-US">
                <a:latin typeface="Arial" pitchFamily="34" charset="0"/>
              </a:rPr>
              <a:t>The algorithms for Q and FHd are nearly identical, so in the interest of time we’ll examine only Q.</a:t>
            </a:r>
          </a:p>
          <a:p>
            <a:pPr eaLnBrk="1" hangingPunct="1"/>
            <a:r>
              <a:rPr lang="en-US">
                <a:latin typeface="Arial" pitchFamily="34" charset="0"/>
              </a:rPr>
              <a:t>There are M scan points, with the 3D scan data represented by kx, ky, kz, and phi.</a:t>
            </a:r>
          </a:p>
          <a:p>
            <a:pPr eaLnBrk="1" hangingPunct="1"/>
            <a:r>
              <a:rPr lang="en-US">
                <a:latin typeface="Arial" pitchFamily="34" charset="0"/>
              </a:rPr>
              <a:t>There are N pixels, with the 3D pixel data represented by x, y, and z (inputs) and Q (output).</a:t>
            </a:r>
          </a:p>
          <a:p>
            <a:pPr eaLnBrk="1" hangingPunct="1"/>
            <a:endParaRPr lang="en-US">
              <a:latin typeface="Arial" pitchFamily="34" charset="0"/>
            </a:endParaRPr>
          </a:p>
          <a:p>
            <a:pPr eaLnBrk="1" hangingPunct="1"/>
            <a:r>
              <a:rPr lang="en-US">
                <a:latin typeface="Arial" pitchFamily="34" charset="0"/>
              </a:rPr>
              <a:t>As you can see, the algorithm is embarrassingly data-parallel.</a:t>
            </a:r>
          </a:p>
          <a:p>
            <a:pPr eaLnBrk="1" hangingPunct="1"/>
            <a:r>
              <a:rPr lang="en-US">
                <a:latin typeface="Arial" pitchFamily="34" charset="0"/>
              </a:rPr>
              <a:t>Each iteration of the outer loop corresponds to a single point of scan data. For that single point of scan data, we first compute the magnitude-squared of phi. Then, the inner loop iterates over all the pixels, because the current scan data point contributes to the value of Q at every pixel. In other words, the value of Q at each pixel depends on every scan point. Clearly, the algorithm is O(MN).</a:t>
            </a:r>
          </a:p>
          <a:p>
            <a:pPr eaLnBrk="1" hangingPunct="1"/>
            <a:endParaRPr lang="en-US">
              <a:latin typeface="Arial" pitchFamily="34" charset="0"/>
            </a:endParaRPr>
          </a:p>
          <a:p>
            <a:pPr eaLnBrk="1" hangingPunct="1"/>
            <a:r>
              <a:rPr lang="en-US">
                <a:latin typeface="Arial" pitchFamily="34" charset="0"/>
              </a:rPr>
              <a:t>Examining the inner loop more closely, we see that there are 10 floating-point arithmetic operations, 2 floating-point trig operations, and 10 loads. This instruction mix hints at the bottlenecks we face as we map this algorithm to the G80.</a:t>
            </a:r>
          </a:p>
          <a:p>
            <a:pPr eaLnBrk="1" hangingPunct="1"/>
            <a:endParaRPr lang="en-US">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xfrm>
            <a:off x="3978132" y="8804333"/>
            <a:ext cx="3043343" cy="463471"/>
          </a:xfrm>
          <a:prstGeom prst="rect">
            <a:avLst/>
          </a:prstGeom>
          <a:noFill/>
        </p:spPr>
        <p:txBody>
          <a:bodyPr lIns="93095" tIns="46548" rIns="93095" bIns="46548"/>
          <a:lstStyle>
            <a:lvl1pPr eaLnBrk="0" hangingPunct="0">
              <a:defRPr>
                <a:solidFill>
                  <a:schemeClr val="tx1"/>
                </a:solidFill>
                <a:latin typeface="Arial" pitchFamily="34" charset="0"/>
              </a:defRPr>
            </a:lvl1pPr>
            <a:lvl2pPr marL="756397" indent="-290922" eaLnBrk="0" hangingPunct="0">
              <a:defRPr>
                <a:solidFill>
                  <a:schemeClr val="tx1"/>
                </a:solidFill>
                <a:latin typeface="Arial" pitchFamily="34" charset="0"/>
              </a:defRPr>
            </a:lvl2pPr>
            <a:lvl3pPr marL="1163688" indent="-232738" eaLnBrk="0" hangingPunct="0">
              <a:defRPr>
                <a:solidFill>
                  <a:schemeClr val="tx1"/>
                </a:solidFill>
                <a:latin typeface="Arial" pitchFamily="34" charset="0"/>
              </a:defRPr>
            </a:lvl3pPr>
            <a:lvl4pPr marL="1629164" indent="-232738" eaLnBrk="0" hangingPunct="0">
              <a:defRPr>
                <a:solidFill>
                  <a:schemeClr val="tx1"/>
                </a:solidFill>
                <a:latin typeface="Arial" pitchFamily="34" charset="0"/>
              </a:defRPr>
            </a:lvl4pPr>
            <a:lvl5pPr marL="2094639" indent="-232738" eaLnBrk="0" hangingPunct="0">
              <a:defRPr>
                <a:solidFill>
                  <a:schemeClr val="tx1"/>
                </a:solidFill>
                <a:latin typeface="Arial" pitchFamily="34" charset="0"/>
              </a:defRPr>
            </a:lvl5pPr>
            <a:lvl6pPr marL="2560114" indent="-232738" eaLnBrk="0" fontAlgn="base" hangingPunct="0">
              <a:spcBef>
                <a:spcPct val="0"/>
              </a:spcBef>
              <a:spcAft>
                <a:spcPct val="0"/>
              </a:spcAft>
              <a:defRPr>
                <a:solidFill>
                  <a:schemeClr val="tx1"/>
                </a:solidFill>
                <a:latin typeface="Arial" pitchFamily="34" charset="0"/>
              </a:defRPr>
            </a:lvl6pPr>
            <a:lvl7pPr marL="3025590" indent="-232738" eaLnBrk="0" fontAlgn="base" hangingPunct="0">
              <a:spcBef>
                <a:spcPct val="0"/>
              </a:spcBef>
              <a:spcAft>
                <a:spcPct val="0"/>
              </a:spcAft>
              <a:defRPr>
                <a:solidFill>
                  <a:schemeClr val="tx1"/>
                </a:solidFill>
                <a:latin typeface="Arial" pitchFamily="34" charset="0"/>
              </a:defRPr>
            </a:lvl7pPr>
            <a:lvl8pPr marL="3491065" indent="-232738" eaLnBrk="0" fontAlgn="base" hangingPunct="0">
              <a:spcBef>
                <a:spcPct val="0"/>
              </a:spcBef>
              <a:spcAft>
                <a:spcPct val="0"/>
              </a:spcAft>
              <a:defRPr>
                <a:solidFill>
                  <a:schemeClr val="tx1"/>
                </a:solidFill>
                <a:latin typeface="Arial" pitchFamily="34" charset="0"/>
              </a:defRPr>
            </a:lvl8pPr>
            <a:lvl9pPr marL="3956540" indent="-232738" eaLnBrk="0" fontAlgn="base" hangingPunct="0">
              <a:spcBef>
                <a:spcPct val="0"/>
              </a:spcBef>
              <a:spcAft>
                <a:spcPct val="0"/>
              </a:spcAft>
              <a:defRPr>
                <a:solidFill>
                  <a:schemeClr val="tx1"/>
                </a:solidFill>
                <a:latin typeface="Arial" pitchFamily="34" charset="0"/>
              </a:defRPr>
            </a:lvl9pPr>
          </a:lstStyle>
          <a:p>
            <a:pPr eaLnBrk="1" hangingPunct="1"/>
            <a:fld id="{3C3EFCDA-8E13-445B-8D6E-A79D5AB0358F}" type="slidenum">
              <a:rPr lang="en-US" smtClean="0"/>
              <a:pPr eaLnBrk="1" hangingPunct="1"/>
              <a:t>18</a:t>
            </a:fld>
            <a:endParaRPr 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xfrm>
            <a:off x="934789" y="4402971"/>
            <a:ext cx="5153525" cy="4171236"/>
          </a:xfrm>
          <a:noFill/>
        </p:spPr>
        <p:txBody>
          <a:bodyPr/>
          <a:lstStyle/>
          <a:p>
            <a:pPr eaLnBrk="1" hangingPunct="1"/>
            <a:r>
              <a:rPr lang="en-US">
                <a:latin typeface="Arial" pitchFamily="34" charset="0"/>
              </a:rPr>
              <a:t>The algorithms for Q and FHd are nearly identical, so in the interest of time we’ll examine only Q.</a:t>
            </a:r>
          </a:p>
          <a:p>
            <a:pPr eaLnBrk="1" hangingPunct="1"/>
            <a:r>
              <a:rPr lang="en-US">
                <a:latin typeface="Arial" pitchFamily="34" charset="0"/>
              </a:rPr>
              <a:t>There are M scan points, with the 3D scan data represented by kx, ky, kz, and phi.</a:t>
            </a:r>
          </a:p>
          <a:p>
            <a:pPr eaLnBrk="1" hangingPunct="1"/>
            <a:r>
              <a:rPr lang="en-US">
                <a:latin typeface="Arial" pitchFamily="34" charset="0"/>
              </a:rPr>
              <a:t>There are N pixels, with the 3D pixel data represented by x, y, and z (inputs) and Q (output).</a:t>
            </a:r>
          </a:p>
          <a:p>
            <a:pPr eaLnBrk="1" hangingPunct="1"/>
            <a:endParaRPr lang="en-US">
              <a:latin typeface="Arial" pitchFamily="34" charset="0"/>
            </a:endParaRPr>
          </a:p>
          <a:p>
            <a:pPr eaLnBrk="1" hangingPunct="1"/>
            <a:r>
              <a:rPr lang="en-US">
                <a:latin typeface="Arial" pitchFamily="34" charset="0"/>
              </a:rPr>
              <a:t>As you can see, the algorithm is embarrassingly data-parallel.</a:t>
            </a:r>
          </a:p>
          <a:p>
            <a:pPr eaLnBrk="1" hangingPunct="1"/>
            <a:r>
              <a:rPr lang="en-US">
                <a:latin typeface="Arial" pitchFamily="34" charset="0"/>
              </a:rPr>
              <a:t>Each iteration of the outer loop corresponds to a single point of scan data. For that single point of scan data, we first compute the magnitude-squared of phi. Then, the inner loop iterates over all the pixels, because the current scan data point contributes to the value of Q at every pixel. In other words, the value of Q at each pixel depends on every scan point. Clearly, the algorithm is O(MN).</a:t>
            </a:r>
          </a:p>
          <a:p>
            <a:pPr eaLnBrk="1" hangingPunct="1"/>
            <a:endParaRPr lang="en-US">
              <a:latin typeface="Arial" pitchFamily="34" charset="0"/>
            </a:endParaRPr>
          </a:p>
          <a:p>
            <a:pPr eaLnBrk="1" hangingPunct="1"/>
            <a:r>
              <a:rPr lang="en-US">
                <a:latin typeface="Arial" pitchFamily="34" charset="0"/>
              </a:rPr>
              <a:t>Examining the inner loop more closely, we see that there are 10 floating-point arithmetic operations, 2 floating-point trig operations, and 10 loads. This instruction mix hints at the bottlenecks we face as we map this algorithm to the G80.</a:t>
            </a:r>
          </a:p>
          <a:p>
            <a:pPr eaLnBrk="1" hangingPunct="1"/>
            <a:endParaRPr lang="en-US">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xfrm>
            <a:off x="3978132" y="8804333"/>
            <a:ext cx="3043343" cy="463471"/>
          </a:xfrm>
          <a:prstGeom prst="rect">
            <a:avLst/>
          </a:prstGeom>
          <a:noFill/>
        </p:spPr>
        <p:txBody>
          <a:bodyPr lIns="93095" tIns="46548" rIns="93095" bIns="46548"/>
          <a:lstStyle>
            <a:lvl1pPr eaLnBrk="0" hangingPunct="0">
              <a:defRPr>
                <a:solidFill>
                  <a:schemeClr val="tx1"/>
                </a:solidFill>
                <a:latin typeface="Arial" pitchFamily="34" charset="0"/>
              </a:defRPr>
            </a:lvl1pPr>
            <a:lvl2pPr marL="756397" indent="-290922" eaLnBrk="0" hangingPunct="0">
              <a:defRPr>
                <a:solidFill>
                  <a:schemeClr val="tx1"/>
                </a:solidFill>
                <a:latin typeface="Arial" pitchFamily="34" charset="0"/>
              </a:defRPr>
            </a:lvl2pPr>
            <a:lvl3pPr marL="1163688" indent="-232738" eaLnBrk="0" hangingPunct="0">
              <a:defRPr>
                <a:solidFill>
                  <a:schemeClr val="tx1"/>
                </a:solidFill>
                <a:latin typeface="Arial" pitchFamily="34" charset="0"/>
              </a:defRPr>
            </a:lvl3pPr>
            <a:lvl4pPr marL="1629164" indent="-232738" eaLnBrk="0" hangingPunct="0">
              <a:defRPr>
                <a:solidFill>
                  <a:schemeClr val="tx1"/>
                </a:solidFill>
                <a:latin typeface="Arial" pitchFamily="34" charset="0"/>
              </a:defRPr>
            </a:lvl4pPr>
            <a:lvl5pPr marL="2094639" indent="-232738" eaLnBrk="0" hangingPunct="0">
              <a:defRPr>
                <a:solidFill>
                  <a:schemeClr val="tx1"/>
                </a:solidFill>
                <a:latin typeface="Arial" pitchFamily="34" charset="0"/>
              </a:defRPr>
            </a:lvl5pPr>
            <a:lvl6pPr marL="2560114" indent="-232738" eaLnBrk="0" fontAlgn="base" hangingPunct="0">
              <a:spcBef>
                <a:spcPct val="0"/>
              </a:spcBef>
              <a:spcAft>
                <a:spcPct val="0"/>
              </a:spcAft>
              <a:defRPr>
                <a:solidFill>
                  <a:schemeClr val="tx1"/>
                </a:solidFill>
                <a:latin typeface="Arial" pitchFamily="34" charset="0"/>
              </a:defRPr>
            </a:lvl6pPr>
            <a:lvl7pPr marL="3025590" indent="-232738" eaLnBrk="0" fontAlgn="base" hangingPunct="0">
              <a:spcBef>
                <a:spcPct val="0"/>
              </a:spcBef>
              <a:spcAft>
                <a:spcPct val="0"/>
              </a:spcAft>
              <a:defRPr>
                <a:solidFill>
                  <a:schemeClr val="tx1"/>
                </a:solidFill>
                <a:latin typeface="Arial" pitchFamily="34" charset="0"/>
              </a:defRPr>
            </a:lvl7pPr>
            <a:lvl8pPr marL="3491065" indent="-232738" eaLnBrk="0" fontAlgn="base" hangingPunct="0">
              <a:spcBef>
                <a:spcPct val="0"/>
              </a:spcBef>
              <a:spcAft>
                <a:spcPct val="0"/>
              </a:spcAft>
              <a:defRPr>
                <a:solidFill>
                  <a:schemeClr val="tx1"/>
                </a:solidFill>
                <a:latin typeface="Arial" pitchFamily="34" charset="0"/>
              </a:defRPr>
            </a:lvl8pPr>
            <a:lvl9pPr marL="3956540" indent="-232738" eaLnBrk="0" fontAlgn="base" hangingPunct="0">
              <a:spcBef>
                <a:spcPct val="0"/>
              </a:spcBef>
              <a:spcAft>
                <a:spcPct val="0"/>
              </a:spcAft>
              <a:defRPr>
                <a:solidFill>
                  <a:schemeClr val="tx1"/>
                </a:solidFill>
                <a:latin typeface="Arial" pitchFamily="34" charset="0"/>
              </a:defRPr>
            </a:lvl9pPr>
          </a:lstStyle>
          <a:p>
            <a:pPr eaLnBrk="1" hangingPunct="1"/>
            <a:fld id="{D4D7B77A-7AF4-48DC-9A8B-A4F22B5E2A43}" type="slidenum">
              <a:rPr lang="en-US" smtClean="0"/>
              <a:pPr eaLnBrk="1" hangingPunct="1"/>
              <a:t>19</a:t>
            </a:fld>
            <a:endParaRPr 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xfrm>
            <a:off x="934789" y="4402971"/>
            <a:ext cx="5153525" cy="4171236"/>
          </a:xfrm>
          <a:noFill/>
        </p:spPr>
        <p:txBody>
          <a:bodyPr/>
          <a:lstStyle/>
          <a:p>
            <a:pPr eaLnBrk="1" hangingPunct="1"/>
            <a:endParaRPr lang="en-US">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xfrm>
            <a:off x="3978132" y="8804333"/>
            <a:ext cx="3043343" cy="463471"/>
          </a:xfrm>
          <a:prstGeom prst="rect">
            <a:avLst/>
          </a:prstGeom>
          <a:noFill/>
        </p:spPr>
        <p:txBody>
          <a:bodyPr lIns="93095" tIns="46548" rIns="93095" bIns="46548"/>
          <a:lstStyle>
            <a:lvl1pPr eaLnBrk="0" hangingPunct="0">
              <a:defRPr>
                <a:solidFill>
                  <a:schemeClr val="tx1"/>
                </a:solidFill>
                <a:latin typeface="Arial" pitchFamily="34" charset="0"/>
              </a:defRPr>
            </a:lvl1pPr>
            <a:lvl2pPr marL="756397" indent="-290922" eaLnBrk="0" hangingPunct="0">
              <a:defRPr>
                <a:solidFill>
                  <a:schemeClr val="tx1"/>
                </a:solidFill>
                <a:latin typeface="Arial" pitchFamily="34" charset="0"/>
              </a:defRPr>
            </a:lvl2pPr>
            <a:lvl3pPr marL="1163688" indent="-232738" eaLnBrk="0" hangingPunct="0">
              <a:defRPr>
                <a:solidFill>
                  <a:schemeClr val="tx1"/>
                </a:solidFill>
                <a:latin typeface="Arial" pitchFamily="34" charset="0"/>
              </a:defRPr>
            </a:lvl3pPr>
            <a:lvl4pPr marL="1629164" indent="-232738" eaLnBrk="0" hangingPunct="0">
              <a:defRPr>
                <a:solidFill>
                  <a:schemeClr val="tx1"/>
                </a:solidFill>
                <a:latin typeface="Arial" pitchFamily="34" charset="0"/>
              </a:defRPr>
            </a:lvl4pPr>
            <a:lvl5pPr marL="2094639" indent="-232738" eaLnBrk="0" hangingPunct="0">
              <a:defRPr>
                <a:solidFill>
                  <a:schemeClr val="tx1"/>
                </a:solidFill>
                <a:latin typeface="Arial" pitchFamily="34" charset="0"/>
              </a:defRPr>
            </a:lvl5pPr>
            <a:lvl6pPr marL="2560114" indent="-232738" eaLnBrk="0" fontAlgn="base" hangingPunct="0">
              <a:spcBef>
                <a:spcPct val="0"/>
              </a:spcBef>
              <a:spcAft>
                <a:spcPct val="0"/>
              </a:spcAft>
              <a:defRPr>
                <a:solidFill>
                  <a:schemeClr val="tx1"/>
                </a:solidFill>
                <a:latin typeface="Arial" pitchFamily="34" charset="0"/>
              </a:defRPr>
            </a:lvl6pPr>
            <a:lvl7pPr marL="3025590" indent="-232738" eaLnBrk="0" fontAlgn="base" hangingPunct="0">
              <a:spcBef>
                <a:spcPct val="0"/>
              </a:spcBef>
              <a:spcAft>
                <a:spcPct val="0"/>
              </a:spcAft>
              <a:defRPr>
                <a:solidFill>
                  <a:schemeClr val="tx1"/>
                </a:solidFill>
                <a:latin typeface="Arial" pitchFamily="34" charset="0"/>
              </a:defRPr>
            </a:lvl7pPr>
            <a:lvl8pPr marL="3491065" indent="-232738" eaLnBrk="0" fontAlgn="base" hangingPunct="0">
              <a:spcBef>
                <a:spcPct val="0"/>
              </a:spcBef>
              <a:spcAft>
                <a:spcPct val="0"/>
              </a:spcAft>
              <a:defRPr>
                <a:solidFill>
                  <a:schemeClr val="tx1"/>
                </a:solidFill>
                <a:latin typeface="Arial" pitchFamily="34" charset="0"/>
              </a:defRPr>
            </a:lvl8pPr>
            <a:lvl9pPr marL="3956540" indent="-232738" eaLnBrk="0" fontAlgn="base" hangingPunct="0">
              <a:spcBef>
                <a:spcPct val="0"/>
              </a:spcBef>
              <a:spcAft>
                <a:spcPct val="0"/>
              </a:spcAft>
              <a:defRPr>
                <a:solidFill>
                  <a:schemeClr val="tx1"/>
                </a:solidFill>
                <a:latin typeface="Arial" pitchFamily="34" charset="0"/>
              </a:defRPr>
            </a:lvl9pPr>
          </a:lstStyle>
          <a:p>
            <a:pPr eaLnBrk="1" hangingPunct="1"/>
            <a:fld id="{49123779-5923-4F30-8A4F-981DD0F674DB}" type="slidenum">
              <a:rPr lang="en-US" smtClean="0"/>
              <a:pPr eaLnBrk="1" hangingPunct="1"/>
              <a:t>21</a:t>
            </a:fld>
            <a:endParaRPr lang="en-US"/>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xfrm>
            <a:off x="934789" y="4402971"/>
            <a:ext cx="5153525" cy="4171236"/>
          </a:xfrm>
          <a:noFill/>
        </p:spPr>
        <p:txBody>
          <a:bodyPr/>
          <a:lstStyle/>
          <a:p>
            <a:pPr eaLnBrk="1" hangingPunct="1"/>
            <a:r>
              <a:rPr lang="en-US">
                <a:latin typeface="Arial" pitchFamily="34" charset="0"/>
              </a:rPr>
              <a:t>Also, relative to the CPU, the GPU achieves speedup of 357X for Q, 228X for FHd, and 108X for the reconstruction. </a:t>
            </a:r>
          </a:p>
          <a:p>
            <a:pPr eaLnBrk="1" hangingPunct="1"/>
            <a:r>
              <a:rPr lang="en-US">
                <a:latin typeface="Arial" pitchFamily="34" charset="0"/>
              </a:rPr>
              <a:t>The acceleration for FHd is lower than the acceleration for Q most likely because FHd has two sines and two cosines in each inner loop, which may oversubscribe the SFUs.</a:t>
            </a:r>
          </a:p>
          <a:p>
            <a:pPr eaLnBrk="1" hangingPunct="1"/>
            <a:r>
              <a:rPr lang="en-US">
                <a:latin typeface="Arial" pitchFamily="34" charset="0"/>
              </a:rPr>
              <a:t>The acceleration for the total reconstruction is only 108X because the linear solver, which initially accounted for less than 0.5% of the reconstruction, now accounts for roughly 50%. We expect that the running the solver on the G80 will cut the total reconstruction time to about 100 seconds.</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2.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614FD1-D902-4A59-BCAB-4AA8AF3D9081}"/>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descr="A picture containing shape&#10;&#10;Description automatically generated">
            <a:extLst>
              <a:ext uri="{FF2B5EF4-FFF2-40B4-BE49-F238E27FC236}">
                <a16:creationId xmlns:a16="http://schemas.microsoft.com/office/drawing/2014/main" id="{BA4AD1CF-AA6C-4924-8675-811F23CE0D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24"/>
            <a:ext cx="9144000" cy="6850625"/>
          </a:xfrm>
          <a:prstGeom prst="rect">
            <a:avLst/>
          </a:prstGeom>
        </p:spPr>
      </p:pic>
      <p:sp>
        <p:nvSpPr>
          <p:cNvPr id="5" name="Rectangle 4">
            <a:extLst>
              <a:ext uri="{FF2B5EF4-FFF2-40B4-BE49-F238E27FC236}">
                <a16:creationId xmlns:a16="http://schemas.microsoft.com/office/drawing/2014/main" id="{F2E2EB6C-4AC4-41A2-8F72-A329B2E1580B}"/>
              </a:ext>
            </a:extLst>
          </p:cNvPr>
          <p:cNvSpPr/>
          <p:nvPr userDrawn="1"/>
        </p:nvSpPr>
        <p:spPr>
          <a:xfrm>
            <a:off x="-2300" y="6812281"/>
            <a:ext cx="9144000" cy="4571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 name="Group 5">
            <a:extLst>
              <a:ext uri="{FF2B5EF4-FFF2-40B4-BE49-F238E27FC236}">
                <a16:creationId xmlns:a16="http://schemas.microsoft.com/office/drawing/2014/main" id="{CDB9DDB9-4BD9-4BCF-86A4-772414CF0629}"/>
              </a:ext>
            </a:extLst>
          </p:cNvPr>
          <p:cNvGrpSpPr/>
          <p:nvPr userDrawn="1"/>
        </p:nvGrpSpPr>
        <p:grpSpPr>
          <a:xfrm>
            <a:off x="-72699" y="-3125"/>
            <a:ext cx="1374756" cy="1441923"/>
            <a:chOff x="-113156" y="25300"/>
            <a:chExt cx="1332205" cy="1441923"/>
          </a:xfrm>
        </p:grpSpPr>
        <p:sp>
          <p:nvSpPr>
            <p:cNvPr id="7" name="Rectangle: Rounded Corners 35">
              <a:extLst>
                <a:ext uri="{FF2B5EF4-FFF2-40B4-BE49-F238E27FC236}">
                  <a16:creationId xmlns:a16="http://schemas.microsoft.com/office/drawing/2014/main" id="{7957AE27-1DC8-4907-8AB1-2560A90A543A}"/>
                </a:ext>
              </a:extLst>
            </p:cNvPr>
            <p:cNvSpPr/>
            <p:nvPr/>
          </p:nvSpPr>
          <p:spPr>
            <a:xfrm>
              <a:off x="-43557" y="25300"/>
              <a:ext cx="1262606" cy="1441923"/>
            </a:xfrm>
            <a:prstGeom prst="roundRect">
              <a:avLst>
                <a:gd name="adj" fmla="val 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8" name="Picture 2" descr="Data Mining. Concepts and Techniques, 3rd Edition (The Morgan Kaufmann  Series in Data Management Systems)">
              <a:extLst>
                <a:ext uri="{FF2B5EF4-FFF2-40B4-BE49-F238E27FC236}">
                  <a16:creationId xmlns:a16="http://schemas.microsoft.com/office/drawing/2014/main" id="{9E395FDB-906D-4C55-85C3-0A95428EBDB4}"/>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12187" r="-1"/>
            <a:stretch/>
          </p:blipFill>
          <p:spPr bwMode="auto">
            <a:xfrm>
              <a:off x="-113156" y="357913"/>
              <a:ext cx="1317458" cy="770070"/>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TextBox 8">
            <a:extLst>
              <a:ext uri="{FF2B5EF4-FFF2-40B4-BE49-F238E27FC236}">
                <a16:creationId xmlns:a16="http://schemas.microsoft.com/office/drawing/2014/main" id="{A2C3EE6A-8657-4A6B-87F7-02627342A27B}"/>
              </a:ext>
            </a:extLst>
          </p:cNvPr>
          <p:cNvSpPr txBox="1">
            <a:spLocks noChangeArrowheads="1"/>
          </p:cNvSpPr>
          <p:nvPr userDrawn="1"/>
        </p:nvSpPr>
        <p:spPr bwMode="auto">
          <a:xfrm>
            <a:off x="2636487" y="1788690"/>
            <a:ext cx="3731741" cy="261610"/>
          </a:xfrm>
          <a:prstGeom prst="roundRect">
            <a:avLst>
              <a:gd name="adj" fmla="val 0"/>
            </a:avLst>
          </a:prstGeom>
          <a:noFill/>
          <a:ln w="9525">
            <a:noFill/>
            <a:miter lim="800000"/>
            <a:headEnd/>
            <a:tailEnd/>
          </a:ln>
        </p:spPr>
        <p:txBody>
          <a:bodyPr wrap="square">
            <a:spAutoFit/>
          </a:bodyPr>
          <a:lstStyle/>
          <a:p>
            <a:pPr>
              <a:defRPr/>
            </a:pPr>
            <a:r>
              <a:rPr lang="en-GB" sz="1100" i="1" dirty="0">
                <a:solidFill>
                  <a:srgbClr val="53565A"/>
                </a:solidFill>
                <a:latin typeface="+mj-lt"/>
              </a:rPr>
              <a:t>Wen-</a:t>
            </a:r>
            <a:r>
              <a:rPr lang="en-GB" sz="1100" i="1" dirty="0" err="1">
                <a:solidFill>
                  <a:srgbClr val="53565A"/>
                </a:solidFill>
                <a:latin typeface="+mj-lt"/>
              </a:rPr>
              <a:t>mei</a:t>
            </a:r>
            <a:r>
              <a:rPr lang="en-GB" sz="1100" i="1" dirty="0">
                <a:solidFill>
                  <a:srgbClr val="53565A"/>
                </a:solidFill>
                <a:latin typeface="+mj-lt"/>
              </a:rPr>
              <a:t> </a:t>
            </a:r>
            <a:r>
              <a:rPr lang="en-GB" sz="1100" i="1" dirty="0" err="1">
                <a:solidFill>
                  <a:srgbClr val="53565A"/>
                </a:solidFill>
                <a:latin typeface="+mj-lt"/>
              </a:rPr>
              <a:t>Hwu</a:t>
            </a:r>
            <a:r>
              <a:rPr lang="en-GB" sz="1100" i="1" dirty="0">
                <a:solidFill>
                  <a:srgbClr val="53565A"/>
                </a:solidFill>
                <a:latin typeface="+mj-lt"/>
              </a:rPr>
              <a:t>, David Kirk, Izzat El Hajj</a:t>
            </a:r>
            <a:endParaRPr lang="en-US" sz="1100" i="1" dirty="0">
              <a:solidFill>
                <a:srgbClr val="53565A"/>
              </a:solidFill>
              <a:latin typeface="+mj-lt"/>
            </a:endParaRPr>
          </a:p>
        </p:txBody>
      </p:sp>
      <p:cxnSp>
        <p:nvCxnSpPr>
          <p:cNvPr id="10" name="Straight Connector 9">
            <a:extLst>
              <a:ext uri="{FF2B5EF4-FFF2-40B4-BE49-F238E27FC236}">
                <a16:creationId xmlns:a16="http://schemas.microsoft.com/office/drawing/2014/main" id="{243523CE-3289-4AA1-A7D0-4D0378C02A45}"/>
              </a:ext>
            </a:extLst>
          </p:cNvPr>
          <p:cNvCxnSpPr/>
          <p:nvPr userDrawn="1"/>
        </p:nvCxnSpPr>
        <p:spPr>
          <a:xfrm>
            <a:off x="2360588" y="1928406"/>
            <a:ext cx="275899" cy="0"/>
          </a:xfrm>
          <a:prstGeom prst="line">
            <a:avLst/>
          </a:prstGeom>
          <a:ln w="19050">
            <a:solidFill>
              <a:srgbClr val="53565A"/>
            </a:solidFill>
          </a:ln>
        </p:spPr>
        <p:style>
          <a:lnRef idx="1">
            <a:schemeClr val="accent1"/>
          </a:lnRef>
          <a:fillRef idx="0">
            <a:schemeClr val="accent1"/>
          </a:fillRef>
          <a:effectRef idx="0">
            <a:schemeClr val="accent1"/>
          </a:effectRef>
          <a:fontRef idx="minor">
            <a:schemeClr val="tx1"/>
          </a:fontRef>
        </p:style>
      </p:cxnSp>
      <p:pic>
        <p:nvPicPr>
          <p:cNvPr id="11" name="Picture 10" descr="Background pattern&#10;&#10;Description automatically generated">
            <a:extLst>
              <a:ext uri="{FF2B5EF4-FFF2-40B4-BE49-F238E27FC236}">
                <a16:creationId xmlns:a16="http://schemas.microsoft.com/office/drawing/2014/main" id="{2B1CFD73-162D-4195-B0FC-38DEE10693FE}"/>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r="14303"/>
          <a:stretch/>
        </p:blipFill>
        <p:spPr>
          <a:xfrm>
            <a:off x="1299246" y="1441973"/>
            <a:ext cx="7844400" cy="1577329"/>
          </a:xfrm>
          <a:prstGeom prst="rect">
            <a:avLst/>
          </a:prstGeom>
        </p:spPr>
      </p:pic>
      <p:sp>
        <p:nvSpPr>
          <p:cNvPr id="12" name="TextBox 11">
            <a:extLst>
              <a:ext uri="{FF2B5EF4-FFF2-40B4-BE49-F238E27FC236}">
                <a16:creationId xmlns:a16="http://schemas.microsoft.com/office/drawing/2014/main" id="{2BF7728A-41A1-445F-A9FF-56DF9F9BB7F1}"/>
              </a:ext>
            </a:extLst>
          </p:cNvPr>
          <p:cNvSpPr txBox="1"/>
          <p:nvPr userDrawn="1"/>
        </p:nvSpPr>
        <p:spPr bwMode="auto">
          <a:xfrm>
            <a:off x="1567422" y="1743145"/>
            <a:ext cx="5679695" cy="461665"/>
          </a:xfrm>
          <a:prstGeom prst="rect">
            <a:avLst/>
          </a:prstGeom>
          <a:noFill/>
        </p:spPr>
        <p:txBody>
          <a:bodyPr wrap="none">
            <a:spAutoFit/>
          </a:bodyPr>
          <a:lstStyle/>
          <a:p>
            <a:pPr>
              <a:defRPr/>
            </a:pPr>
            <a:r>
              <a:rPr lang="en-GB" sz="2400" b="1" dirty="0">
                <a:solidFill>
                  <a:schemeClr val="bg1"/>
                </a:solidFill>
              </a:rPr>
              <a:t>Programming Massively Parallel Processors</a:t>
            </a:r>
            <a:endParaRPr lang="en-US" sz="2400" b="1" dirty="0">
              <a:solidFill>
                <a:schemeClr val="bg1"/>
              </a:solidFill>
            </a:endParaRPr>
          </a:p>
        </p:txBody>
      </p:sp>
      <p:sp>
        <p:nvSpPr>
          <p:cNvPr id="13" name="TextBox 12">
            <a:extLst>
              <a:ext uri="{FF2B5EF4-FFF2-40B4-BE49-F238E27FC236}">
                <a16:creationId xmlns:a16="http://schemas.microsoft.com/office/drawing/2014/main" id="{0B215409-9B9B-4DB6-906D-C53B1CDED403}"/>
              </a:ext>
            </a:extLst>
          </p:cNvPr>
          <p:cNvSpPr txBox="1"/>
          <p:nvPr userDrawn="1"/>
        </p:nvSpPr>
        <p:spPr>
          <a:xfrm>
            <a:off x="1567421" y="2143201"/>
            <a:ext cx="2206373" cy="646331"/>
          </a:xfrm>
          <a:prstGeom prst="rect">
            <a:avLst/>
          </a:prstGeom>
          <a:noFill/>
        </p:spPr>
        <p:txBody>
          <a:bodyPr wrap="none" rtlCol="0">
            <a:spAutoFit/>
          </a:bodyPr>
          <a:lstStyle/>
          <a:p>
            <a:r>
              <a:rPr lang="en-GB" sz="1800" dirty="0">
                <a:solidFill>
                  <a:schemeClr val="bg1"/>
                </a:solidFill>
                <a:latin typeface="+mj-lt"/>
              </a:rPr>
              <a:t>A Hands-on Approach</a:t>
            </a:r>
            <a:endParaRPr lang="en-US" sz="1800" dirty="0">
              <a:solidFill>
                <a:schemeClr val="bg1"/>
              </a:solidFill>
              <a:latin typeface="+mj-lt"/>
            </a:endParaRPr>
          </a:p>
          <a:p>
            <a:endParaRPr lang="en-IN" dirty="0"/>
          </a:p>
        </p:txBody>
      </p:sp>
      <p:sp>
        <p:nvSpPr>
          <p:cNvPr id="14" name="Rectangle 13">
            <a:extLst>
              <a:ext uri="{FF2B5EF4-FFF2-40B4-BE49-F238E27FC236}">
                <a16:creationId xmlns:a16="http://schemas.microsoft.com/office/drawing/2014/main" id="{C364E5FD-D2A2-4A68-8897-43FA77D6453D}"/>
              </a:ext>
            </a:extLst>
          </p:cNvPr>
          <p:cNvSpPr/>
          <p:nvPr userDrawn="1"/>
        </p:nvSpPr>
        <p:spPr>
          <a:xfrm>
            <a:off x="1299245" y="3024958"/>
            <a:ext cx="7836105" cy="6006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z</a:t>
            </a:r>
          </a:p>
        </p:txBody>
      </p:sp>
      <p:pic>
        <p:nvPicPr>
          <p:cNvPr id="17" name="Picture 16" descr="A picture containing night sky&#10;&#10;Description automatically generated">
            <a:extLst>
              <a:ext uri="{FF2B5EF4-FFF2-40B4-BE49-F238E27FC236}">
                <a16:creationId xmlns:a16="http://schemas.microsoft.com/office/drawing/2014/main" id="{CB3A55CF-D158-4A58-A4DE-DEEA1CF1071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93773" y="4445883"/>
            <a:ext cx="4410075" cy="1952625"/>
          </a:xfrm>
          <a:prstGeom prst="rect">
            <a:avLst/>
          </a:prstGeom>
        </p:spPr>
      </p:pic>
      <p:sp>
        <p:nvSpPr>
          <p:cNvPr id="18" name="L-Shape 17">
            <a:extLst>
              <a:ext uri="{FF2B5EF4-FFF2-40B4-BE49-F238E27FC236}">
                <a16:creationId xmlns:a16="http://schemas.microsoft.com/office/drawing/2014/main" id="{715CF1CF-E105-4089-BA77-56B70A742ECB}"/>
              </a:ext>
            </a:extLst>
          </p:cNvPr>
          <p:cNvSpPr/>
          <p:nvPr userDrawn="1"/>
        </p:nvSpPr>
        <p:spPr>
          <a:xfrm rot="13500000">
            <a:off x="2939485" y="3242288"/>
            <a:ext cx="140020" cy="140020"/>
          </a:xfrm>
          <a:prstGeom prst="corner">
            <a:avLst>
              <a:gd name="adj1" fmla="val 27650"/>
              <a:gd name="adj2" fmla="val 25788"/>
            </a:avLst>
          </a:prstGeom>
          <a:solidFill>
            <a:srgbClr val="DB8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0E928E1F-54E8-4389-82DD-5CF4C77F4AB0}"/>
              </a:ext>
            </a:extLst>
          </p:cNvPr>
          <p:cNvSpPr/>
          <p:nvPr userDrawn="1"/>
        </p:nvSpPr>
        <p:spPr>
          <a:xfrm>
            <a:off x="7884826" y="6812281"/>
            <a:ext cx="1259174" cy="45719"/>
          </a:xfrm>
          <a:prstGeom prst="rect">
            <a:avLst/>
          </a:prstGeom>
          <a:solidFill>
            <a:srgbClr val="DC86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descr="Chart&#10;&#10;Description automatically generated">
            <a:extLst>
              <a:ext uri="{FF2B5EF4-FFF2-40B4-BE49-F238E27FC236}">
                <a16:creationId xmlns:a16="http://schemas.microsoft.com/office/drawing/2014/main" id="{083DB60B-7D3C-470B-9BE6-C4062D6A1D4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690372" y="3636069"/>
            <a:ext cx="2232972" cy="2762439"/>
          </a:xfrm>
          <a:prstGeom prst="rect">
            <a:avLst/>
          </a:prstGeom>
        </p:spPr>
      </p:pic>
      <p:sp>
        <p:nvSpPr>
          <p:cNvPr id="21" name="Rectangle 7">
            <a:extLst>
              <a:ext uri="{FF2B5EF4-FFF2-40B4-BE49-F238E27FC236}">
                <a16:creationId xmlns:a16="http://schemas.microsoft.com/office/drawing/2014/main" id="{21B15398-A182-4C0B-854E-654EA8B5B28D}"/>
              </a:ext>
            </a:extLst>
          </p:cNvPr>
          <p:cNvSpPr>
            <a:spLocks/>
          </p:cNvSpPr>
          <p:nvPr userDrawn="1"/>
        </p:nvSpPr>
        <p:spPr bwMode="auto">
          <a:xfrm>
            <a:off x="59677" y="6603329"/>
            <a:ext cx="1579154" cy="185454"/>
          </a:xfrm>
          <a:prstGeom prst="rect">
            <a:avLst/>
          </a:prstGeom>
          <a:noFill/>
          <a:ln>
            <a:noFill/>
          </a:ln>
        </p:spPr>
        <p:txBody>
          <a:bodyPr lIns="0" tIns="0" rIns="40639" bIns="0" anchor="ctr"/>
          <a:lstStyle>
            <a:lvl1pPr marL="39688" eaLnBrk="0" hangingPunct="0">
              <a:defRPr sz="2400">
                <a:solidFill>
                  <a:srgbClr val="000000"/>
                </a:solidFill>
                <a:latin typeface="Times New Roman" panose="02020603050405020304" pitchFamily="18" charset="0"/>
                <a:sym typeface="Times New Roman" panose="02020603050405020304" pitchFamily="18" charset="0"/>
              </a:defRPr>
            </a:lvl1pPr>
            <a:lvl2pPr marL="742950" indent="-285750" eaLnBrk="0" hangingPunct="0">
              <a:defRPr sz="2400">
                <a:solidFill>
                  <a:srgbClr val="000000"/>
                </a:solidFill>
                <a:latin typeface="Times New Roman" panose="02020603050405020304" pitchFamily="18" charset="0"/>
                <a:sym typeface="Times New Roman" panose="02020603050405020304" pitchFamily="18" charset="0"/>
              </a:defRPr>
            </a:lvl2pPr>
            <a:lvl3pPr marL="1143000" indent="-228600" eaLnBrk="0" hangingPunct="0">
              <a:defRPr sz="2400">
                <a:solidFill>
                  <a:srgbClr val="000000"/>
                </a:solidFill>
                <a:latin typeface="Times New Roman" panose="02020603050405020304" pitchFamily="18" charset="0"/>
                <a:sym typeface="Times New Roman" panose="02020603050405020304" pitchFamily="18" charset="0"/>
              </a:defRPr>
            </a:lvl3pPr>
            <a:lvl4pPr marL="1600200" indent="-228600" eaLnBrk="0" hangingPunct="0">
              <a:defRPr sz="2400">
                <a:solidFill>
                  <a:srgbClr val="000000"/>
                </a:solidFill>
                <a:latin typeface="Times New Roman" panose="02020603050405020304" pitchFamily="18" charset="0"/>
                <a:sym typeface="Times New Roman" panose="02020603050405020304" pitchFamily="18" charset="0"/>
              </a:defRPr>
            </a:lvl4pPr>
            <a:lvl5pPr marL="2057400" indent="-228600" eaLnBrk="0" hangingPunct="0">
              <a:defRPr sz="2400">
                <a:solidFill>
                  <a:srgbClr val="000000"/>
                </a:solidFill>
                <a:latin typeface="Times New Roman" panose="02020603050405020304" pitchFamily="18" charset="0"/>
                <a:sym typeface="Times New Roman" panose="02020603050405020304" pitchFamily="18" charset="0"/>
              </a:defRPr>
            </a:lvl5pPr>
            <a:lvl6pPr marL="25146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6pPr>
            <a:lvl7pPr marL="29718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7pPr>
            <a:lvl8pPr marL="34290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8pPr>
            <a:lvl9pPr marL="38862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9pPr>
          </a:lstStyle>
          <a:p>
            <a:pPr eaLnBrk="1" hangingPunct="1"/>
            <a:r>
              <a:rPr lang="en-US" altLang="en-US" sz="800" dirty="0">
                <a:solidFill>
                  <a:schemeClr val="tx1">
                    <a:lumMod val="50000"/>
                    <a:lumOff val="50000"/>
                  </a:schemeClr>
                </a:solidFill>
                <a:latin typeface="Arial" panose="020B0604020202020204" pitchFamily="34" charset="0"/>
                <a:cs typeface="Arial" panose="020B0604020202020204" pitchFamily="34" charset="0"/>
                <a:sym typeface="Arial" panose="020B0604020202020204" pitchFamily="34" charset="0"/>
              </a:rPr>
              <a:t>Copyright © 2022 Elsevier</a:t>
            </a:r>
          </a:p>
        </p:txBody>
      </p:sp>
      <p:sp>
        <p:nvSpPr>
          <p:cNvPr id="23" name="Text Placeholder 22"/>
          <p:cNvSpPr>
            <a:spLocks noGrp="1"/>
          </p:cNvSpPr>
          <p:nvPr>
            <p:ph type="body" sz="quarter" idx="10" hasCustomPrompt="1"/>
          </p:nvPr>
        </p:nvSpPr>
        <p:spPr>
          <a:xfrm>
            <a:off x="1298575" y="3011550"/>
            <a:ext cx="1611556" cy="606145"/>
          </a:xfrm>
          <a:prstGeom prst="rect">
            <a:avLst/>
          </a:prstGeom>
        </p:spPr>
        <p:txBody>
          <a:bodyPr anchor="ctr" anchorCtr="0"/>
          <a:lstStyle>
            <a:lvl1pPr marL="0" indent="0">
              <a:buNone/>
              <a:defRPr sz="2000" b="1" cap="all" baseline="0">
                <a:latin typeface="+mn-lt"/>
              </a:defRPr>
            </a:lvl1pPr>
          </a:lstStyle>
          <a:p>
            <a:pPr lvl="0"/>
            <a:r>
              <a:rPr lang="en-US" dirty="0"/>
              <a:t>Chapter #</a:t>
            </a:r>
          </a:p>
        </p:txBody>
      </p:sp>
      <p:sp>
        <p:nvSpPr>
          <p:cNvPr id="27" name="Text Placeholder 22"/>
          <p:cNvSpPr>
            <a:spLocks noGrp="1"/>
          </p:cNvSpPr>
          <p:nvPr>
            <p:ph type="body" sz="quarter" idx="11" hasCustomPrompt="1"/>
          </p:nvPr>
        </p:nvSpPr>
        <p:spPr>
          <a:xfrm>
            <a:off x="3146829" y="3011550"/>
            <a:ext cx="5898609" cy="606145"/>
          </a:xfrm>
          <a:prstGeom prst="rect">
            <a:avLst/>
          </a:prstGeom>
        </p:spPr>
        <p:txBody>
          <a:bodyPr anchor="ctr" anchorCtr="0"/>
          <a:lstStyle>
            <a:lvl1pPr marL="0" indent="0">
              <a:buNone/>
              <a:defRPr sz="2000" b="1" cap="none" baseline="0">
                <a:latin typeface="+mj-lt"/>
              </a:defRPr>
            </a:lvl1pPr>
          </a:lstStyle>
          <a:p>
            <a:pPr lvl="0"/>
            <a:r>
              <a:rPr lang="en-US" dirty="0"/>
              <a:t>Chapter Title</a:t>
            </a:r>
          </a:p>
        </p:txBody>
      </p:sp>
    </p:spTree>
    <p:extLst>
      <p:ext uri="{BB962C8B-B14F-4D97-AF65-F5344CB8AC3E}">
        <p14:creationId xmlns:p14="http://schemas.microsoft.com/office/powerpoint/2010/main" val="2487965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71011D6E-2CED-4BBC-A66B-38F7B0BDDCF4}"/>
              </a:ext>
            </a:extLst>
          </p:cNvPr>
          <p:cNvSpPr>
            <a:spLocks noGrp="1"/>
          </p:cNvSpPr>
          <p:nvPr>
            <p:ph type="body" idx="10"/>
          </p:nvPr>
        </p:nvSpPr>
        <p:spPr>
          <a:xfrm>
            <a:off x="1018908" y="43891"/>
            <a:ext cx="7886700" cy="453544"/>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8" name="Content Placeholder 2">
            <a:extLst>
              <a:ext uri="{FF2B5EF4-FFF2-40B4-BE49-F238E27FC236}">
                <a16:creationId xmlns:a16="http://schemas.microsoft.com/office/drawing/2014/main" id="{370D1EB3-9074-4E31-9DCF-ADFD596A7E89}"/>
              </a:ext>
            </a:extLst>
          </p:cNvPr>
          <p:cNvSpPr>
            <a:spLocks noGrp="1"/>
          </p:cNvSpPr>
          <p:nvPr>
            <p:ph sz="half" idx="1"/>
          </p:nvPr>
        </p:nvSpPr>
        <p:spPr>
          <a:xfrm>
            <a:off x="350672" y="838072"/>
            <a:ext cx="8464802" cy="558463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21174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71011D6E-2CED-4BBC-A66B-38F7B0BDDCF4}"/>
              </a:ext>
            </a:extLst>
          </p:cNvPr>
          <p:cNvSpPr>
            <a:spLocks noGrp="1"/>
          </p:cNvSpPr>
          <p:nvPr>
            <p:ph type="body" idx="10"/>
          </p:nvPr>
        </p:nvSpPr>
        <p:spPr>
          <a:xfrm>
            <a:off x="1018908" y="43891"/>
            <a:ext cx="7886700" cy="453544"/>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654453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514897"/>
            <a:ext cx="3868340" cy="645898"/>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629842" y="1248402"/>
            <a:ext cx="3868340" cy="5261907"/>
          </a:xfrm>
        </p:spPr>
        <p:txBody>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514897"/>
            <a:ext cx="3887391" cy="645898"/>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1248402"/>
            <a:ext cx="3887391" cy="5261907"/>
          </a:xfrm>
        </p:spPr>
        <p:txBody>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a:extLst>
              <a:ext uri="{FF2B5EF4-FFF2-40B4-BE49-F238E27FC236}">
                <a16:creationId xmlns:a16="http://schemas.microsoft.com/office/drawing/2014/main" id="{71011D6E-2CED-4BBC-A66B-38F7B0BDDCF4}"/>
              </a:ext>
            </a:extLst>
          </p:cNvPr>
          <p:cNvSpPr>
            <a:spLocks noGrp="1"/>
          </p:cNvSpPr>
          <p:nvPr>
            <p:ph type="body" idx="13"/>
          </p:nvPr>
        </p:nvSpPr>
        <p:spPr>
          <a:xfrm>
            <a:off x="1018908" y="43891"/>
            <a:ext cx="7886700" cy="453544"/>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36891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1018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2379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00416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923213" cy="1141413"/>
          </a:xfrm>
        </p:spPr>
        <p:txBody>
          <a:bodyPr/>
          <a:lstStyle/>
          <a:p>
            <a:r>
              <a:rPr lang="en-US"/>
              <a:t>Click to edit Master title style</a:t>
            </a:r>
          </a:p>
        </p:txBody>
      </p:sp>
      <p:sp>
        <p:nvSpPr>
          <p:cNvPr id="3" name="Text Placeholder 2"/>
          <p:cNvSpPr>
            <a:spLocks noGrp="1"/>
          </p:cNvSpPr>
          <p:nvPr>
            <p:ph type="body" sz="half" idx="1"/>
          </p:nvPr>
        </p:nvSpPr>
        <p:spPr>
          <a:xfrm>
            <a:off x="685800" y="1524000"/>
            <a:ext cx="7923213" cy="2208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3884613"/>
            <a:ext cx="7923213"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4595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923213" cy="1141413"/>
          </a:xfrm>
        </p:spPr>
        <p:txBody>
          <a:bodyPr/>
          <a:lstStyle/>
          <a:p>
            <a:r>
              <a:rPr lang="en-US"/>
              <a:t>Click to edit Master title style</a:t>
            </a:r>
          </a:p>
        </p:txBody>
      </p:sp>
    </p:spTree>
    <p:extLst>
      <p:ext uri="{BB962C8B-B14F-4D97-AF65-F5344CB8AC3E}">
        <p14:creationId xmlns:p14="http://schemas.microsoft.com/office/powerpoint/2010/main" val="102890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A picture containing night sky&#10;&#10;Description automatically generated">
            <a:extLst>
              <a:ext uri="{FF2B5EF4-FFF2-40B4-BE49-F238E27FC236}">
                <a16:creationId xmlns:a16="http://schemas.microsoft.com/office/drawing/2014/main" id="{0451918C-3068-494B-B756-EB2CEF6603DC}"/>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flipH="1">
            <a:off x="-1" y="5538866"/>
            <a:ext cx="3013881" cy="1334439"/>
          </a:xfrm>
          <a:prstGeom prst="rect">
            <a:avLst/>
          </a:prstGeom>
        </p:spPr>
      </p:pic>
      <p:sp>
        <p:nvSpPr>
          <p:cNvPr id="13" name="Rectangle 5">
            <a:extLst>
              <a:ext uri="{FF2B5EF4-FFF2-40B4-BE49-F238E27FC236}">
                <a16:creationId xmlns:a16="http://schemas.microsoft.com/office/drawing/2014/main" id="{31DF901C-E89A-4945-9091-D20419752365}"/>
              </a:ext>
            </a:extLst>
          </p:cNvPr>
          <p:cNvSpPr/>
          <p:nvPr userDrawn="1"/>
        </p:nvSpPr>
        <p:spPr>
          <a:xfrm>
            <a:off x="6914848" y="4280108"/>
            <a:ext cx="2226852" cy="2533254"/>
          </a:xfrm>
          <a:custGeom>
            <a:avLst/>
            <a:gdLst>
              <a:gd name="connsiteX0" fmla="*/ 0 w 4572000"/>
              <a:gd name="connsiteY0" fmla="*/ 0 h 3429000"/>
              <a:gd name="connsiteX1" fmla="*/ 4572000 w 4572000"/>
              <a:gd name="connsiteY1" fmla="*/ 0 h 3429000"/>
              <a:gd name="connsiteX2" fmla="*/ 4572000 w 4572000"/>
              <a:gd name="connsiteY2" fmla="*/ 3429000 h 3429000"/>
              <a:gd name="connsiteX3" fmla="*/ 0 w 4572000"/>
              <a:gd name="connsiteY3" fmla="*/ 3429000 h 3429000"/>
              <a:gd name="connsiteX4" fmla="*/ 0 w 4572000"/>
              <a:gd name="connsiteY4" fmla="*/ 0 h 3429000"/>
              <a:gd name="connsiteX0" fmla="*/ 0 w 4572000"/>
              <a:gd name="connsiteY0" fmla="*/ 3429000 h 3429000"/>
              <a:gd name="connsiteX1" fmla="*/ 4572000 w 4572000"/>
              <a:gd name="connsiteY1" fmla="*/ 0 h 3429000"/>
              <a:gd name="connsiteX2" fmla="*/ 4572000 w 4572000"/>
              <a:gd name="connsiteY2" fmla="*/ 3429000 h 3429000"/>
              <a:gd name="connsiteX3" fmla="*/ 0 w 457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4572000" h="3429000">
                <a:moveTo>
                  <a:pt x="0" y="3429000"/>
                </a:moveTo>
                <a:lnTo>
                  <a:pt x="4572000" y="0"/>
                </a:lnTo>
                <a:lnTo>
                  <a:pt x="4572000" y="3429000"/>
                </a:lnTo>
                <a:lnTo>
                  <a:pt x="0" y="3429000"/>
                </a:lnTo>
                <a:close/>
              </a:path>
            </a:pathLst>
          </a:custGeom>
          <a:solidFill>
            <a:schemeClr val="bg1">
              <a:lumMod val="95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967E801F-3FA2-4ED1-804F-E330EBA748E7}"/>
              </a:ext>
            </a:extLst>
          </p:cNvPr>
          <p:cNvPicPr>
            <a:picLocks noChangeAspect="1"/>
          </p:cNvPicPr>
          <p:nvPr userDrawn="1"/>
        </p:nvPicPr>
        <p:blipFill rotWithShape="1">
          <a:blip r:embed="rId12">
            <a:extLst>
              <a:ext uri="{28A0092B-C50C-407E-A947-70E740481C1C}">
                <a14:useLocalDpi xmlns:a14="http://schemas.microsoft.com/office/drawing/2010/main" val="0"/>
              </a:ext>
            </a:extLst>
          </a:blip>
          <a:srcRect l="991" t="4554" r="77" b="59326"/>
          <a:stretch/>
        </p:blipFill>
        <p:spPr>
          <a:xfrm>
            <a:off x="930683" y="-1553"/>
            <a:ext cx="8211017" cy="511200"/>
          </a:xfrm>
          <a:prstGeom prst="rect">
            <a:avLst/>
          </a:prstGeom>
        </p:spPr>
      </p:pic>
      <p:pic>
        <p:nvPicPr>
          <p:cNvPr id="8" name="Picture 2" descr="Data Mining. Concepts and Techniques, 3rd Edition (The Morgan Kaufmann  Series in Data Management Systems)">
            <a:extLst>
              <a:ext uri="{FF2B5EF4-FFF2-40B4-BE49-F238E27FC236}">
                <a16:creationId xmlns:a16="http://schemas.microsoft.com/office/drawing/2014/main" id="{A52DA9B2-CDDD-4030-BA37-75FEC690ABAD}"/>
              </a:ext>
            </a:extLst>
          </p:cNvPr>
          <p:cNvPicPr>
            <a:picLocks noChangeAspect="1" noChangeArrowheads="1"/>
          </p:cNvPicPr>
          <p:nvPr userDrawn="1"/>
        </p:nvPicPr>
        <p:blipFill>
          <a:blip r:embed="rId13">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0" y="0"/>
            <a:ext cx="930682" cy="50987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6E92C0D8-7584-4BDC-BE7D-11D53629CF58}"/>
              </a:ext>
            </a:extLst>
          </p:cNvPr>
          <p:cNvSpPr/>
          <p:nvPr userDrawn="1"/>
        </p:nvSpPr>
        <p:spPr>
          <a:xfrm>
            <a:off x="-2300" y="6812281"/>
            <a:ext cx="9144000" cy="4571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7">
            <a:extLst>
              <a:ext uri="{FF2B5EF4-FFF2-40B4-BE49-F238E27FC236}">
                <a16:creationId xmlns:a16="http://schemas.microsoft.com/office/drawing/2014/main" id="{80D6273C-93F4-4ED4-A1B6-1578A4766C97}"/>
              </a:ext>
            </a:extLst>
          </p:cNvPr>
          <p:cNvSpPr>
            <a:spLocks/>
          </p:cNvSpPr>
          <p:nvPr userDrawn="1"/>
        </p:nvSpPr>
        <p:spPr bwMode="auto">
          <a:xfrm>
            <a:off x="59677" y="6603329"/>
            <a:ext cx="1579154" cy="185454"/>
          </a:xfrm>
          <a:prstGeom prst="rect">
            <a:avLst/>
          </a:prstGeom>
          <a:noFill/>
          <a:ln>
            <a:noFill/>
          </a:ln>
        </p:spPr>
        <p:txBody>
          <a:bodyPr lIns="0" tIns="0" rIns="40639" bIns="0" anchor="ctr"/>
          <a:lstStyle>
            <a:lvl1pPr marL="39688" eaLnBrk="0" hangingPunct="0">
              <a:defRPr sz="2400">
                <a:solidFill>
                  <a:srgbClr val="000000"/>
                </a:solidFill>
                <a:latin typeface="Times New Roman" panose="02020603050405020304" pitchFamily="18" charset="0"/>
                <a:sym typeface="Times New Roman" panose="02020603050405020304" pitchFamily="18" charset="0"/>
              </a:defRPr>
            </a:lvl1pPr>
            <a:lvl2pPr marL="742950" indent="-285750" eaLnBrk="0" hangingPunct="0">
              <a:defRPr sz="2400">
                <a:solidFill>
                  <a:srgbClr val="000000"/>
                </a:solidFill>
                <a:latin typeface="Times New Roman" panose="02020603050405020304" pitchFamily="18" charset="0"/>
                <a:sym typeface="Times New Roman" panose="02020603050405020304" pitchFamily="18" charset="0"/>
              </a:defRPr>
            </a:lvl2pPr>
            <a:lvl3pPr marL="1143000" indent="-228600" eaLnBrk="0" hangingPunct="0">
              <a:defRPr sz="2400">
                <a:solidFill>
                  <a:srgbClr val="000000"/>
                </a:solidFill>
                <a:latin typeface="Times New Roman" panose="02020603050405020304" pitchFamily="18" charset="0"/>
                <a:sym typeface="Times New Roman" panose="02020603050405020304" pitchFamily="18" charset="0"/>
              </a:defRPr>
            </a:lvl3pPr>
            <a:lvl4pPr marL="1600200" indent="-228600" eaLnBrk="0" hangingPunct="0">
              <a:defRPr sz="2400">
                <a:solidFill>
                  <a:srgbClr val="000000"/>
                </a:solidFill>
                <a:latin typeface="Times New Roman" panose="02020603050405020304" pitchFamily="18" charset="0"/>
                <a:sym typeface="Times New Roman" panose="02020603050405020304" pitchFamily="18" charset="0"/>
              </a:defRPr>
            </a:lvl4pPr>
            <a:lvl5pPr marL="2057400" indent="-228600" eaLnBrk="0" hangingPunct="0">
              <a:defRPr sz="2400">
                <a:solidFill>
                  <a:srgbClr val="000000"/>
                </a:solidFill>
                <a:latin typeface="Times New Roman" panose="02020603050405020304" pitchFamily="18" charset="0"/>
                <a:sym typeface="Times New Roman" panose="02020603050405020304" pitchFamily="18" charset="0"/>
              </a:defRPr>
            </a:lvl5pPr>
            <a:lvl6pPr marL="25146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6pPr>
            <a:lvl7pPr marL="29718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7pPr>
            <a:lvl8pPr marL="34290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8pPr>
            <a:lvl9pPr marL="38862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9pPr>
          </a:lstStyle>
          <a:p>
            <a:pPr eaLnBrk="1" hangingPunct="1"/>
            <a:r>
              <a:rPr lang="en-US" altLang="en-US" sz="800" dirty="0">
                <a:solidFill>
                  <a:schemeClr val="tx1">
                    <a:lumMod val="50000"/>
                    <a:lumOff val="50000"/>
                  </a:schemeClr>
                </a:solidFill>
                <a:latin typeface="Arial" panose="020B0604020202020204" pitchFamily="34" charset="0"/>
                <a:cs typeface="Arial" panose="020B0604020202020204" pitchFamily="34" charset="0"/>
                <a:sym typeface="Arial" panose="020B0604020202020204" pitchFamily="34" charset="0"/>
              </a:rPr>
              <a:t>Copyright © 2022 Elsevier</a:t>
            </a:r>
          </a:p>
        </p:txBody>
      </p:sp>
      <p:sp>
        <p:nvSpPr>
          <p:cNvPr id="14" name="Rectangle 13">
            <a:extLst>
              <a:ext uri="{FF2B5EF4-FFF2-40B4-BE49-F238E27FC236}">
                <a16:creationId xmlns:a16="http://schemas.microsoft.com/office/drawing/2014/main" id="{D26B0C97-5D7F-45E4-B756-6265FC57D53E}"/>
              </a:ext>
            </a:extLst>
          </p:cNvPr>
          <p:cNvSpPr/>
          <p:nvPr userDrawn="1"/>
        </p:nvSpPr>
        <p:spPr>
          <a:xfrm>
            <a:off x="7884826" y="6812281"/>
            <a:ext cx="1259174" cy="45719"/>
          </a:xfrm>
          <a:prstGeom prst="rect">
            <a:avLst/>
          </a:prstGeom>
          <a:solidFill>
            <a:srgbClr val="DC86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36460033"/>
      </p:ext>
    </p:extLst>
  </p:cSld>
  <p:clrMap bg1="lt1" tx1="dk1" bg2="lt2" tx2="dk2" accent1="accent1" accent2="accent2" accent3="accent3" accent4="accent4" accent5="accent5" accent6="accent6" hlink="hlink" folHlink="folHlink"/>
  <p:sldLayoutIdLst>
    <p:sldLayoutId id="2147483663" r:id="rId1"/>
    <p:sldLayoutId id="2147483662" r:id="rId2"/>
    <p:sldLayoutId id="2147483664" r:id="rId3"/>
    <p:sldLayoutId id="2147483667" r:id="rId4"/>
    <p:sldLayoutId id="2147483665" r:id="rId5"/>
    <p:sldLayoutId id="2147483668" r:id="rId6"/>
    <p:sldLayoutId id="2147483669" r:id="rId7"/>
    <p:sldLayoutId id="2147483670" r:id="rId8"/>
    <p:sldLayoutId id="2147483671"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10.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14.wmf"/><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3.wmf"/><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US"/>
              <a:t>Chapter 17</a:t>
            </a:r>
            <a:endParaRPr lang="en-US" dirty="0"/>
          </a:p>
        </p:txBody>
      </p:sp>
      <p:sp>
        <p:nvSpPr>
          <p:cNvPr id="5" name="Text Placeholder 4"/>
          <p:cNvSpPr>
            <a:spLocks noGrp="1"/>
          </p:cNvSpPr>
          <p:nvPr>
            <p:ph type="body" sz="quarter" idx="11"/>
          </p:nvPr>
        </p:nvSpPr>
        <p:spPr/>
        <p:txBody>
          <a:bodyPr/>
          <a:lstStyle/>
          <a:p>
            <a:r>
              <a:rPr lang="en-US" dirty="0"/>
              <a:t>Application Case Study – Iterative MRI Reconstruction</a:t>
            </a:r>
          </a:p>
        </p:txBody>
      </p:sp>
    </p:spTree>
    <p:extLst>
      <p:ext uri="{BB962C8B-B14F-4D97-AF65-F5344CB8AC3E}">
        <p14:creationId xmlns:p14="http://schemas.microsoft.com/office/powerpoint/2010/main" val="383142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D9B685-1B80-7487-BB6F-1D5F5BE85DDC}"/>
              </a:ext>
            </a:extLst>
          </p:cNvPr>
          <p:cNvSpPr>
            <a:spLocks noGrp="1"/>
          </p:cNvSpPr>
          <p:nvPr>
            <p:ph type="body" idx="10"/>
          </p:nvPr>
        </p:nvSpPr>
        <p:spPr/>
        <p:txBody>
          <a:bodyPr/>
          <a:lstStyle/>
          <a:p>
            <a:r>
              <a:rPr lang="en-US" dirty="0"/>
              <a:t>Objective</a:t>
            </a:r>
          </a:p>
        </p:txBody>
      </p:sp>
      <p:sp>
        <p:nvSpPr>
          <p:cNvPr id="2" name="Content Placeholder 1">
            <a:extLst>
              <a:ext uri="{FF2B5EF4-FFF2-40B4-BE49-F238E27FC236}">
                <a16:creationId xmlns:a16="http://schemas.microsoft.com/office/drawing/2014/main" id="{35B30472-F69B-5760-64E8-17EA5C2C7A9A}"/>
              </a:ext>
            </a:extLst>
          </p:cNvPr>
          <p:cNvSpPr>
            <a:spLocks noGrp="1"/>
          </p:cNvSpPr>
          <p:nvPr>
            <p:ph sz="half" idx="1"/>
          </p:nvPr>
        </p:nvSpPr>
        <p:spPr/>
        <p:txBody>
          <a:bodyPr/>
          <a:lstStyle/>
          <a:p>
            <a:pPr eaLnBrk="1" hangingPunct="1"/>
            <a:r>
              <a:rPr lang="en-US" dirty="0"/>
              <a:t>To learn how to apply parallel programming techniques to an application </a:t>
            </a:r>
          </a:p>
          <a:p>
            <a:pPr lvl="1" eaLnBrk="1" hangingPunct="1"/>
            <a:r>
              <a:rPr lang="en-US" sz="2000" dirty="0"/>
              <a:t>Determining parallelism structure</a:t>
            </a:r>
          </a:p>
          <a:p>
            <a:pPr lvl="1" eaLnBrk="1" hangingPunct="1"/>
            <a:r>
              <a:rPr lang="en-US" sz="2000" dirty="0"/>
              <a:t>Loop transformations</a:t>
            </a:r>
          </a:p>
          <a:p>
            <a:pPr lvl="1" eaLnBrk="1" hangingPunct="1"/>
            <a:r>
              <a:rPr lang="en-US" sz="2000" dirty="0"/>
              <a:t>Memory layout considerations</a:t>
            </a:r>
          </a:p>
          <a:p>
            <a:pPr lvl="1" eaLnBrk="1" hangingPunct="1"/>
            <a:r>
              <a:rPr lang="en-US" sz="2000" dirty="0"/>
              <a:t>Validation</a:t>
            </a:r>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3"/>
          <p:cNvSpPr txBox="1">
            <a:spLocks noChangeArrowheads="1"/>
          </p:cNvSpPr>
          <p:nvPr/>
        </p:nvSpPr>
        <p:spPr bwMode="auto">
          <a:xfrm>
            <a:off x="533400" y="2344640"/>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400">
                <a:solidFill>
                  <a:schemeClr val="folHlink"/>
                </a:solidFill>
                <a:latin typeface="Arial Narrow" pitchFamily="34" charset="0"/>
              </a:rPr>
              <a:t>Cartesian Scan Data</a:t>
            </a:r>
          </a:p>
        </p:txBody>
      </p:sp>
      <p:sp>
        <p:nvSpPr>
          <p:cNvPr id="2051" name="Text Box 4"/>
          <p:cNvSpPr txBox="1">
            <a:spLocks noChangeArrowheads="1"/>
          </p:cNvSpPr>
          <p:nvPr/>
        </p:nvSpPr>
        <p:spPr bwMode="auto">
          <a:xfrm>
            <a:off x="6019800" y="234464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400">
                <a:latin typeface="Arial Narrow" pitchFamily="34" charset="0"/>
              </a:rPr>
              <a:t>Spiral Scan Data</a:t>
            </a:r>
          </a:p>
        </p:txBody>
      </p:sp>
      <p:sp>
        <p:nvSpPr>
          <p:cNvPr id="2052" name="Text Box 5"/>
          <p:cNvSpPr txBox="1">
            <a:spLocks noChangeArrowheads="1"/>
          </p:cNvSpPr>
          <p:nvPr/>
        </p:nvSpPr>
        <p:spPr bwMode="auto">
          <a:xfrm>
            <a:off x="3581400" y="310664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400">
                <a:latin typeface="Arial Narrow" pitchFamily="34" charset="0"/>
              </a:rPr>
              <a:t>Gridding</a:t>
            </a:r>
            <a:r>
              <a:rPr lang="en-US" sz="2400" baseline="45000">
                <a:latin typeface="Arial Narrow" pitchFamily="34" charset="0"/>
              </a:rPr>
              <a:t>1</a:t>
            </a:r>
          </a:p>
        </p:txBody>
      </p:sp>
      <p:sp>
        <p:nvSpPr>
          <p:cNvPr id="2053" name="Text Box 6"/>
          <p:cNvSpPr txBox="1">
            <a:spLocks noChangeArrowheads="1"/>
          </p:cNvSpPr>
          <p:nvPr/>
        </p:nvSpPr>
        <p:spPr bwMode="auto">
          <a:xfrm>
            <a:off x="533400" y="5621240"/>
            <a:ext cx="2286000" cy="457200"/>
          </a:xfrm>
          <a:prstGeom prst="rect">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400" b="1">
                <a:solidFill>
                  <a:schemeClr val="bg1"/>
                </a:solidFill>
                <a:latin typeface="Arial Narrow" pitchFamily="34" charset="0"/>
              </a:rPr>
              <a:t>FFT</a:t>
            </a:r>
          </a:p>
        </p:txBody>
      </p:sp>
      <p:sp>
        <p:nvSpPr>
          <p:cNvPr id="2054" name="Line 7"/>
          <p:cNvSpPr>
            <a:spLocks noChangeShapeType="1"/>
          </p:cNvSpPr>
          <p:nvPr/>
        </p:nvSpPr>
        <p:spPr bwMode="auto">
          <a:xfrm flipH="1">
            <a:off x="5562600" y="3411440"/>
            <a:ext cx="685800" cy="381000"/>
          </a:xfrm>
          <a:prstGeom prst="line">
            <a:avLst/>
          </a:prstGeom>
          <a:noFill/>
          <a:ln w="69850" cmpd="tri">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55" name="Line 8"/>
          <p:cNvSpPr>
            <a:spLocks noChangeShapeType="1"/>
          </p:cNvSpPr>
          <p:nvPr/>
        </p:nvSpPr>
        <p:spPr bwMode="auto">
          <a:xfrm flipH="1">
            <a:off x="2667000" y="5011640"/>
            <a:ext cx="685800" cy="381000"/>
          </a:xfrm>
          <a:prstGeom prst="line">
            <a:avLst/>
          </a:prstGeom>
          <a:noFill/>
          <a:ln w="69850" cmpd="tri">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56" name="Line 9"/>
          <p:cNvSpPr>
            <a:spLocks noChangeShapeType="1"/>
          </p:cNvSpPr>
          <p:nvPr/>
        </p:nvSpPr>
        <p:spPr bwMode="auto">
          <a:xfrm>
            <a:off x="1600200" y="4783040"/>
            <a:ext cx="0" cy="685800"/>
          </a:xfrm>
          <a:prstGeom prst="line">
            <a:avLst/>
          </a:prstGeom>
          <a:noFill/>
          <a:ln w="69850" cmpd="tri">
            <a:solidFill>
              <a:srgbClr val="C0C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57" name="Text Box 10"/>
          <p:cNvSpPr txBox="1">
            <a:spLocks noChangeArrowheads="1"/>
          </p:cNvSpPr>
          <p:nvPr/>
        </p:nvSpPr>
        <p:spPr bwMode="auto">
          <a:xfrm>
            <a:off x="6477000" y="5621240"/>
            <a:ext cx="2286000" cy="457200"/>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400" b="1">
                <a:solidFill>
                  <a:schemeClr val="bg1"/>
                </a:solidFill>
                <a:latin typeface="Arial Narrow" pitchFamily="34" charset="0"/>
              </a:rPr>
              <a:t>LS</a:t>
            </a:r>
          </a:p>
        </p:txBody>
      </p:sp>
      <p:sp>
        <p:nvSpPr>
          <p:cNvPr id="2058" name="Line 11"/>
          <p:cNvSpPr>
            <a:spLocks noChangeShapeType="1"/>
          </p:cNvSpPr>
          <p:nvPr/>
        </p:nvSpPr>
        <p:spPr bwMode="auto">
          <a:xfrm>
            <a:off x="7086600" y="4630640"/>
            <a:ext cx="0" cy="838200"/>
          </a:xfrm>
          <a:prstGeom prst="line">
            <a:avLst/>
          </a:prstGeom>
          <a:noFill/>
          <a:ln w="69850" cmpd="tri">
            <a:solidFill>
              <a:srgbClr val="C0C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59" name="Text Box 13"/>
          <p:cNvSpPr txBox="1">
            <a:spLocks noChangeArrowheads="1"/>
          </p:cNvSpPr>
          <p:nvPr/>
        </p:nvSpPr>
        <p:spPr bwMode="auto">
          <a:xfrm>
            <a:off x="8610600" y="62484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200">
                <a:latin typeface="Arial Narrow" pitchFamily="34" charset="0"/>
              </a:rPr>
              <a:t>2</a:t>
            </a:r>
          </a:p>
        </p:txBody>
      </p:sp>
      <p:pic>
        <p:nvPicPr>
          <p:cNvPr id="2060"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2725640"/>
            <a:ext cx="2133600" cy="1820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1"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3640040"/>
            <a:ext cx="2209800" cy="183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2"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2725640"/>
            <a:ext cx="2286000" cy="183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63" name="Text Box 19"/>
          <p:cNvSpPr txBox="1">
            <a:spLocks noChangeArrowheads="1"/>
          </p:cNvSpPr>
          <p:nvPr/>
        </p:nvSpPr>
        <p:spPr bwMode="auto">
          <a:xfrm>
            <a:off x="1219200" y="6038753"/>
            <a:ext cx="463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t>(a)</a:t>
            </a:r>
          </a:p>
        </p:txBody>
      </p:sp>
      <p:sp>
        <p:nvSpPr>
          <p:cNvPr id="2064" name="Text Box 20"/>
          <p:cNvSpPr txBox="1">
            <a:spLocks noChangeArrowheads="1"/>
          </p:cNvSpPr>
          <p:nvPr/>
        </p:nvSpPr>
        <p:spPr bwMode="auto">
          <a:xfrm>
            <a:off x="4251325" y="6038753"/>
            <a:ext cx="463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t>(b)</a:t>
            </a:r>
          </a:p>
        </p:txBody>
      </p:sp>
      <p:sp>
        <p:nvSpPr>
          <p:cNvPr id="2065" name="Text Box 21"/>
          <p:cNvSpPr txBox="1">
            <a:spLocks noChangeArrowheads="1"/>
          </p:cNvSpPr>
          <p:nvPr/>
        </p:nvSpPr>
        <p:spPr bwMode="auto">
          <a:xfrm>
            <a:off x="7223125" y="6038753"/>
            <a:ext cx="450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t>(c)</a:t>
            </a:r>
          </a:p>
        </p:txBody>
      </p:sp>
      <p:pic>
        <p:nvPicPr>
          <p:cNvPr id="3074"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3403" y="1371600"/>
            <a:ext cx="4885594" cy="973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2">
            <a:extLst>
              <a:ext uri="{FF2B5EF4-FFF2-40B4-BE49-F238E27FC236}">
                <a16:creationId xmlns:a16="http://schemas.microsoft.com/office/drawing/2014/main" id="{4B3347CA-E941-0009-54D1-B8F63E1010EA}"/>
              </a:ext>
            </a:extLst>
          </p:cNvPr>
          <p:cNvSpPr>
            <a:spLocks noGrp="1"/>
          </p:cNvSpPr>
          <p:nvPr>
            <p:ph type="body" idx="10"/>
          </p:nvPr>
        </p:nvSpPr>
        <p:spPr/>
        <p:txBody>
          <a:bodyPr/>
          <a:lstStyle/>
          <a:p>
            <a:r>
              <a:rPr lang="en-US" dirty="0"/>
              <a:t>Non-</a:t>
            </a:r>
            <a:r>
              <a:rPr lang="en-US" dirty="0" err="1"/>
              <a:t>Cartiesian</a:t>
            </a:r>
            <a:r>
              <a:rPr lang="en-US" dirty="0"/>
              <a:t> MRI Scan</a:t>
            </a:r>
          </a:p>
        </p:txBody>
      </p:sp>
      <p:sp>
        <p:nvSpPr>
          <p:cNvPr id="4" name="TextBox 3">
            <a:extLst>
              <a:ext uri="{FF2B5EF4-FFF2-40B4-BE49-F238E27FC236}">
                <a16:creationId xmlns:a16="http://schemas.microsoft.com/office/drawing/2014/main" id="{E45F5B96-D40A-AD44-0E9F-B14907BED6B7}"/>
              </a:ext>
            </a:extLst>
          </p:cNvPr>
          <p:cNvSpPr txBox="1"/>
          <p:nvPr/>
        </p:nvSpPr>
        <p:spPr>
          <a:xfrm>
            <a:off x="7086600" y="4104577"/>
            <a:ext cx="2209799" cy="1477328"/>
          </a:xfrm>
          <a:prstGeom prst="rect">
            <a:avLst/>
          </a:prstGeom>
          <a:noFill/>
        </p:spPr>
        <p:txBody>
          <a:bodyPr wrap="square" rtlCol="0">
            <a:spAutoFit/>
          </a:bodyPr>
          <a:lstStyle/>
          <a:p>
            <a:r>
              <a:rPr lang="en-US" dirty="0"/>
              <a:t>More samples near origin, giving better resolution for important parts of the scan space</a:t>
            </a:r>
          </a:p>
        </p:txBody>
      </p:sp>
    </p:spTree>
    <p:extLst>
      <p:ext uri="{BB962C8B-B14F-4D97-AF65-F5344CB8AC3E}">
        <p14:creationId xmlns:p14="http://schemas.microsoft.com/office/powerpoint/2010/main" val="2367084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4"/>
          <p:cNvSpPr txBox="1">
            <a:spLocks noChangeArrowheads="1"/>
          </p:cNvSpPr>
          <p:nvPr/>
        </p:nvSpPr>
        <p:spPr bwMode="auto">
          <a:xfrm>
            <a:off x="2369870" y="1581704"/>
            <a:ext cx="3657600" cy="457200"/>
          </a:xfrm>
          <a:prstGeom prst="rect">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400" b="1">
                <a:solidFill>
                  <a:schemeClr val="bg1"/>
                </a:solidFill>
                <a:latin typeface="Arial Narrow" pitchFamily="34" charset="0"/>
              </a:rPr>
              <a:t>Compute F</a:t>
            </a:r>
            <a:r>
              <a:rPr lang="en-US" sz="2400" b="1" baseline="45000">
                <a:solidFill>
                  <a:schemeClr val="bg1"/>
                </a:solidFill>
                <a:latin typeface="Arial Narrow" pitchFamily="34" charset="0"/>
              </a:rPr>
              <a:t>H</a:t>
            </a:r>
            <a:r>
              <a:rPr lang="en-US" sz="2400" b="1">
                <a:solidFill>
                  <a:schemeClr val="bg1"/>
                </a:solidFill>
                <a:latin typeface="Arial Narrow" pitchFamily="34" charset="0"/>
              </a:rPr>
              <a:t>F + </a:t>
            </a:r>
            <a:r>
              <a:rPr lang="el-GR" sz="2400" b="1">
                <a:solidFill>
                  <a:schemeClr val="bg1"/>
                </a:solidFill>
                <a:latin typeface="Arial Narrow" pitchFamily="34" charset="0"/>
              </a:rPr>
              <a:t>λ</a:t>
            </a:r>
            <a:r>
              <a:rPr lang="en-US" sz="2400" b="1">
                <a:solidFill>
                  <a:schemeClr val="bg1"/>
                </a:solidFill>
                <a:latin typeface="Arial Narrow" pitchFamily="34" charset="0"/>
              </a:rPr>
              <a:t>W</a:t>
            </a:r>
            <a:r>
              <a:rPr lang="en-US" sz="2400" b="1" baseline="30000">
                <a:solidFill>
                  <a:schemeClr val="bg1"/>
                </a:solidFill>
                <a:latin typeface="Arial Narrow" pitchFamily="34" charset="0"/>
              </a:rPr>
              <a:t>H</a:t>
            </a:r>
            <a:r>
              <a:rPr lang="en-US" sz="2400" b="1">
                <a:solidFill>
                  <a:schemeClr val="bg1"/>
                </a:solidFill>
                <a:latin typeface="Arial Narrow" pitchFamily="34" charset="0"/>
              </a:rPr>
              <a:t>W</a:t>
            </a:r>
            <a:endParaRPr lang="el-GR" sz="2400" b="1">
              <a:solidFill>
                <a:schemeClr val="bg1"/>
              </a:solidFill>
              <a:latin typeface="Arial Narrow" pitchFamily="34" charset="0"/>
            </a:endParaRPr>
          </a:p>
        </p:txBody>
      </p:sp>
      <p:sp>
        <p:nvSpPr>
          <p:cNvPr id="4099" name="Text Box 5"/>
          <p:cNvSpPr txBox="1">
            <a:spLocks noChangeArrowheads="1"/>
          </p:cNvSpPr>
          <p:nvPr/>
        </p:nvSpPr>
        <p:spPr bwMode="auto">
          <a:xfrm>
            <a:off x="1074470" y="2343704"/>
            <a:ext cx="1905000" cy="457200"/>
          </a:xfrm>
          <a:prstGeom prst="rect">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400" b="1">
                <a:solidFill>
                  <a:schemeClr val="bg1"/>
                </a:solidFill>
                <a:latin typeface="Arial Narrow" pitchFamily="34" charset="0"/>
              </a:rPr>
              <a:t>Acquire Data</a:t>
            </a:r>
          </a:p>
        </p:txBody>
      </p:sp>
      <p:sp>
        <p:nvSpPr>
          <p:cNvPr id="4100" name="Text Box 6"/>
          <p:cNvSpPr txBox="1">
            <a:spLocks noChangeArrowheads="1"/>
          </p:cNvSpPr>
          <p:nvPr/>
        </p:nvSpPr>
        <p:spPr bwMode="auto">
          <a:xfrm>
            <a:off x="1074470" y="3410504"/>
            <a:ext cx="1905000" cy="457200"/>
          </a:xfrm>
          <a:prstGeom prst="rect">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400" b="1">
                <a:solidFill>
                  <a:schemeClr val="bg1"/>
                </a:solidFill>
                <a:latin typeface="Arial Narrow" pitchFamily="34" charset="0"/>
              </a:rPr>
              <a:t>Compute F</a:t>
            </a:r>
            <a:r>
              <a:rPr lang="en-US" sz="2400" b="1" baseline="45000">
                <a:solidFill>
                  <a:schemeClr val="bg1"/>
                </a:solidFill>
                <a:latin typeface="Arial Narrow" pitchFamily="34" charset="0"/>
              </a:rPr>
              <a:t>H</a:t>
            </a:r>
            <a:r>
              <a:rPr lang="en-US" sz="2400" b="1">
                <a:solidFill>
                  <a:schemeClr val="bg1"/>
                </a:solidFill>
                <a:latin typeface="Arial Narrow" pitchFamily="34" charset="0"/>
              </a:rPr>
              <a:t>D</a:t>
            </a:r>
          </a:p>
        </p:txBody>
      </p:sp>
      <p:sp>
        <p:nvSpPr>
          <p:cNvPr id="4101" name="Text Box 7"/>
          <p:cNvSpPr txBox="1">
            <a:spLocks noChangeArrowheads="1"/>
          </p:cNvSpPr>
          <p:nvPr/>
        </p:nvSpPr>
        <p:spPr bwMode="auto">
          <a:xfrm>
            <a:off x="1912670" y="4629704"/>
            <a:ext cx="1905000" cy="457200"/>
          </a:xfrm>
          <a:prstGeom prst="rect">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spcBef>
                <a:spcPct val="50000"/>
              </a:spcBef>
            </a:pPr>
            <a:r>
              <a:rPr lang="en-US" sz="2400" b="1">
                <a:solidFill>
                  <a:schemeClr val="bg1"/>
                </a:solidFill>
                <a:latin typeface="Arial Narrow" pitchFamily="34" charset="0"/>
              </a:rPr>
              <a:t>Find ρ</a:t>
            </a:r>
          </a:p>
        </p:txBody>
      </p:sp>
      <p:cxnSp>
        <p:nvCxnSpPr>
          <p:cNvPr id="4102" name="AutoShape 8"/>
          <p:cNvCxnSpPr>
            <a:cxnSpLocks noChangeShapeType="1"/>
            <a:stCxn id="4099" idx="2"/>
            <a:endCxn id="4100" idx="0"/>
          </p:cNvCxnSpPr>
          <p:nvPr/>
        </p:nvCxnSpPr>
        <p:spPr bwMode="auto">
          <a:xfrm>
            <a:off x="2026970" y="2800904"/>
            <a:ext cx="0" cy="609600"/>
          </a:xfrm>
          <a:prstGeom prst="straightConnector1">
            <a:avLst/>
          </a:prstGeom>
          <a:noFill/>
          <a:ln w="6985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3" name="AutoShape 9"/>
          <p:cNvCxnSpPr>
            <a:cxnSpLocks noChangeShapeType="1"/>
          </p:cNvCxnSpPr>
          <p:nvPr/>
        </p:nvCxnSpPr>
        <p:spPr bwMode="auto">
          <a:xfrm>
            <a:off x="3512870" y="2038904"/>
            <a:ext cx="0" cy="2590800"/>
          </a:xfrm>
          <a:prstGeom prst="straightConnector1">
            <a:avLst/>
          </a:prstGeom>
          <a:noFill/>
          <a:ln w="6985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4" name="AutoShape 10"/>
          <p:cNvCxnSpPr>
            <a:cxnSpLocks noChangeShapeType="1"/>
            <a:stCxn id="4100" idx="2"/>
            <a:endCxn id="4101" idx="0"/>
          </p:cNvCxnSpPr>
          <p:nvPr/>
        </p:nvCxnSpPr>
        <p:spPr bwMode="auto">
          <a:xfrm>
            <a:off x="2026970" y="3867704"/>
            <a:ext cx="838200" cy="762000"/>
          </a:xfrm>
          <a:prstGeom prst="straightConnector1">
            <a:avLst/>
          </a:prstGeom>
          <a:noFill/>
          <a:ln w="6985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05" name="AutoShape 11"/>
          <p:cNvCxnSpPr>
            <a:cxnSpLocks noChangeShapeType="1"/>
            <a:stCxn id="4101" idx="2"/>
            <a:endCxn id="4108" idx="0"/>
          </p:cNvCxnSpPr>
          <p:nvPr/>
        </p:nvCxnSpPr>
        <p:spPr bwMode="auto">
          <a:xfrm rot="16200000" flipV="1">
            <a:off x="2312720" y="4534454"/>
            <a:ext cx="457200" cy="647700"/>
          </a:xfrm>
          <a:prstGeom prst="curvedConnector5">
            <a:avLst>
              <a:gd name="adj1" fmla="val -93056"/>
              <a:gd name="adj2" fmla="val 263968"/>
              <a:gd name="adj3" fmla="val 231597"/>
            </a:avLst>
          </a:prstGeom>
          <a:noFill/>
          <a:ln w="6985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06" name="Rectangle 12"/>
          <p:cNvSpPr>
            <a:spLocks noChangeArrowheads="1"/>
          </p:cNvSpPr>
          <p:nvPr/>
        </p:nvSpPr>
        <p:spPr bwMode="auto">
          <a:xfrm>
            <a:off x="3131870" y="4629704"/>
            <a:ext cx="685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07" name="Rectangle 13"/>
          <p:cNvSpPr>
            <a:spLocks noChangeArrowheads="1"/>
          </p:cNvSpPr>
          <p:nvPr/>
        </p:nvSpPr>
        <p:spPr bwMode="auto">
          <a:xfrm>
            <a:off x="2522270" y="4629704"/>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08" name="Rectangle 14"/>
          <p:cNvSpPr>
            <a:spLocks noChangeArrowheads="1"/>
          </p:cNvSpPr>
          <p:nvPr/>
        </p:nvSpPr>
        <p:spPr bwMode="auto">
          <a:xfrm>
            <a:off x="1912670" y="4629704"/>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4110" name="Object 4"/>
          <p:cNvGraphicFramePr>
            <a:graphicFrameLocks noChangeAspect="1"/>
          </p:cNvGraphicFramePr>
          <p:nvPr>
            <p:extLst>
              <p:ext uri="{D42A27DB-BD31-4B8C-83A1-F6EECF244321}">
                <p14:modId xmlns:p14="http://schemas.microsoft.com/office/powerpoint/2010/main" val="2233065424"/>
              </p:ext>
            </p:extLst>
          </p:nvPr>
        </p:nvGraphicFramePr>
        <p:xfrm>
          <a:off x="3547795" y="3258104"/>
          <a:ext cx="5357813" cy="754063"/>
        </p:xfrm>
        <a:graphic>
          <a:graphicData uri="http://schemas.openxmlformats.org/presentationml/2006/ole">
            <mc:AlternateContent xmlns:mc="http://schemas.openxmlformats.org/markup-compatibility/2006">
              <mc:Choice xmlns:v="urn:schemas-microsoft-com:vml" Requires="v">
                <p:oleObj spid="_x0000_s1027" name="Equation" r:id="rId4" imgW="1625600" imgH="228600" progId="Equation.3">
                  <p:embed/>
                </p:oleObj>
              </mc:Choice>
              <mc:Fallback>
                <p:oleObj name="Equation" r:id="rId4" imgW="1625600" imgH="228600" progId="Equation.3">
                  <p:embed/>
                  <p:pic>
                    <p:nvPicPr>
                      <p:cNvPr id="411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47795" y="3258104"/>
                        <a:ext cx="5357813" cy="754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 Placeholder 2">
            <a:extLst>
              <a:ext uri="{FF2B5EF4-FFF2-40B4-BE49-F238E27FC236}">
                <a16:creationId xmlns:a16="http://schemas.microsoft.com/office/drawing/2014/main" id="{3F2C9717-E3C5-2A19-857E-F692BF97E71A}"/>
              </a:ext>
            </a:extLst>
          </p:cNvPr>
          <p:cNvSpPr>
            <a:spLocks noGrp="1"/>
          </p:cNvSpPr>
          <p:nvPr>
            <p:ph type="body" idx="10"/>
          </p:nvPr>
        </p:nvSpPr>
        <p:spPr/>
        <p:txBody>
          <a:bodyPr/>
          <a:lstStyle/>
          <a:p>
            <a:r>
              <a:rPr lang="en-US" dirty="0"/>
              <a:t>An Iterative Solver Based </a:t>
            </a:r>
            <a:r>
              <a:rPr lang="en-US" dirty="0" err="1"/>
              <a:t>Apparch</a:t>
            </a:r>
            <a:r>
              <a:rPr lang="en-US" dirty="0"/>
              <a:t> to Image Reconstruction</a:t>
            </a:r>
          </a:p>
        </p:txBody>
      </p:sp>
    </p:spTree>
    <p:extLst>
      <p:ext uri="{BB962C8B-B14F-4D97-AF65-F5344CB8AC3E}">
        <p14:creationId xmlns:p14="http://schemas.microsoft.com/office/powerpoint/2010/main" val="1754380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a:spLocks noChangeArrowheads="1"/>
          </p:cNvSpPr>
          <p:nvPr/>
        </p:nvSpPr>
        <p:spPr bwMode="auto">
          <a:xfrm>
            <a:off x="76200" y="838200"/>
            <a:ext cx="4572000" cy="461664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for (m = 0; m &lt; M; m++) {</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phiMag</a:t>
            </a:r>
            <a:r>
              <a:rPr lang="en-US" sz="1800" b="1" dirty="0">
                <a:latin typeface="Courier New" pitchFamily="49" charset="0"/>
              </a:rPr>
              <a:t>[m] = </a:t>
            </a:r>
            <a:r>
              <a:rPr lang="en-US" sz="1800" b="1" dirty="0" err="1">
                <a:latin typeface="Courier New" pitchFamily="49" charset="0"/>
              </a:rPr>
              <a:t>rPhi</a:t>
            </a:r>
            <a:r>
              <a:rPr lang="en-US" sz="1800" b="1" dirty="0">
                <a:latin typeface="Courier New" pitchFamily="49" charset="0"/>
              </a:rPr>
              <a:t>[m]*</a:t>
            </a:r>
            <a:r>
              <a:rPr lang="en-US" sz="1800" b="1" dirty="0" err="1">
                <a:latin typeface="Courier New" pitchFamily="49" charset="0"/>
              </a:rPr>
              <a:t>rPhi</a:t>
            </a:r>
            <a:r>
              <a:rPr lang="en-US" sz="1800" b="1" dirty="0">
                <a:latin typeface="Courier New" pitchFamily="49" charset="0"/>
              </a:rPr>
              <a:t>[m] +</a:t>
            </a:r>
          </a:p>
          <a:p>
            <a:pPr eaLnBrk="1" hangingPunct="1"/>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[m]*</a:t>
            </a:r>
            <a:r>
              <a:rPr lang="en-US" sz="1800" b="1" dirty="0" err="1">
                <a:latin typeface="Courier New" pitchFamily="49" charset="0"/>
              </a:rPr>
              <a:t>iPhi</a:t>
            </a:r>
            <a:r>
              <a:rPr lang="en-US" sz="1800" b="1" dirty="0">
                <a:latin typeface="Courier New" pitchFamily="49" charset="0"/>
              </a:rPr>
              <a:t>[m];</a:t>
            </a:r>
          </a:p>
          <a:p>
            <a:pPr eaLnBrk="1" hangingPunct="1"/>
            <a:endParaRPr lang="en-US" sz="1800" b="1" dirty="0">
              <a:latin typeface="Courier New" pitchFamily="49" charset="0"/>
            </a:endParaRPr>
          </a:p>
          <a:p>
            <a:pPr eaLnBrk="1" hangingPunct="1"/>
            <a:r>
              <a:rPr lang="en-US" sz="1800" b="1" dirty="0">
                <a:latin typeface="Courier New" pitchFamily="49" charset="0"/>
              </a:rPr>
              <a:t>  for (n = 0; n &lt; N; n++) {</a:t>
            </a:r>
          </a:p>
          <a:p>
            <a:pPr eaLnBrk="1" hangingPunct="1"/>
            <a:r>
              <a:rPr lang="en-US" sz="1800" b="1" dirty="0">
                <a:latin typeface="Courier New" pitchFamily="49" charset="0"/>
              </a:rPr>
              <a:t>    </a:t>
            </a:r>
            <a:r>
              <a:rPr lang="en-US" sz="1800" b="1" dirty="0" err="1">
                <a:latin typeface="Courier New" pitchFamily="49" charset="0"/>
              </a:rPr>
              <a:t>expQ</a:t>
            </a:r>
            <a:r>
              <a:rPr lang="en-US" sz="1800" b="1" dirty="0">
                <a:latin typeface="Courier New" pitchFamily="49" charset="0"/>
              </a:rPr>
              <a:t> = 2*PI*(</a:t>
            </a:r>
            <a:r>
              <a:rPr lang="en-US" sz="1800" b="1" dirty="0" err="1">
                <a:latin typeface="Courier New" pitchFamily="49" charset="0"/>
              </a:rPr>
              <a:t>kx</a:t>
            </a:r>
            <a:r>
              <a:rPr lang="en-US" sz="1800" b="1" dirty="0">
                <a:latin typeface="Courier New" pitchFamily="49" charset="0"/>
              </a:rPr>
              <a:t>[m]*x[n] +</a:t>
            </a:r>
          </a:p>
          <a:p>
            <a:pPr eaLnBrk="1" hangingPunct="1"/>
            <a:r>
              <a:rPr lang="en-US" sz="1800" b="1" dirty="0">
                <a:latin typeface="Courier New" pitchFamily="49" charset="0"/>
              </a:rPr>
              <a:t>                 </a:t>
            </a:r>
            <a:r>
              <a:rPr lang="en-US" sz="1800" b="1" dirty="0" err="1">
                <a:latin typeface="Courier New" pitchFamily="49" charset="0"/>
              </a:rPr>
              <a:t>ky</a:t>
            </a:r>
            <a:r>
              <a:rPr lang="en-US" sz="1800" b="1" dirty="0">
                <a:latin typeface="Courier New" pitchFamily="49" charset="0"/>
              </a:rPr>
              <a:t>[m]*y[n] +</a:t>
            </a:r>
          </a:p>
          <a:p>
            <a:pPr eaLnBrk="1" hangingPunct="1"/>
            <a:r>
              <a:rPr lang="en-US" sz="1800" b="1" dirty="0">
                <a:latin typeface="Courier New" pitchFamily="49" charset="0"/>
              </a:rPr>
              <a:t>                 </a:t>
            </a:r>
            <a:r>
              <a:rPr lang="en-US" sz="1800" b="1" dirty="0" err="1">
                <a:latin typeface="Courier New" pitchFamily="49" charset="0"/>
              </a:rPr>
              <a:t>kz</a:t>
            </a:r>
            <a:r>
              <a:rPr lang="en-US" sz="1800" b="1" dirty="0">
                <a:latin typeface="Courier New" pitchFamily="49" charset="0"/>
              </a:rPr>
              <a:t>[m]*z[n]);</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rQ</a:t>
            </a:r>
            <a:r>
              <a:rPr lang="en-US" sz="1800" b="1" dirty="0">
                <a:latin typeface="Courier New" pitchFamily="49" charset="0"/>
              </a:rPr>
              <a:t>[n] +=</a:t>
            </a:r>
            <a:r>
              <a:rPr lang="en-US" sz="1800" b="1" dirty="0" err="1">
                <a:latin typeface="Courier New" pitchFamily="49" charset="0"/>
              </a:rPr>
              <a:t>phiMag</a:t>
            </a:r>
            <a:r>
              <a:rPr lang="en-US" sz="1800" b="1" dirty="0">
                <a:latin typeface="Courier New" pitchFamily="49" charset="0"/>
              </a:rPr>
              <a:t>[m]*</a:t>
            </a:r>
            <a:r>
              <a:rPr lang="en-US" sz="1800" b="1" dirty="0" err="1">
                <a:latin typeface="Courier New" pitchFamily="49" charset="0"/>
              </a:rPr>
              <a:t>cos</a:t>
            </a:r>
            <a:r>
              <a:rPr lang="en-US" sz="1800" b="1" dirty="0">
                <a:latin typeface="Courier New" pitchFamily="49" charset="0"/>
              </a:rPr>
              <a:t>(</a:t>
            </a:r>
            <a:r>
              <a:rPr lang="en-US" sz="1800" b="1" dirty="0" err="1">
                <a:latin typeface="Courier New" pitchFamily="49" charset="0"/>
              </a:rPr>
              <a:t>expQ</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iQ</a:t>
            </a:r>
            <a:r>
              <a:rPr lang="en-US" sz="1800" b="1" dirty="0">
                <a:latin typeface="Courier New" pitchFamily="49" charset="0"/>
              </a:rPr>
              <a:t>[n] +=</a:t>
            </a:r>
            <a:r>
              <a:rPr lang="en-US" sz="1800" b="1" dirty="0" err="1">
                <a:latin typeface="Courier New" pitchFamily="49" charset="0"/>
              </a:rPr>
              <a:t>phiMag</a:t>
            </a:r>
            <a:r>
              <a:rPr lang="en-US" sz="1800" b="1" dirty="0">
                <a:latin typeface="Courier New" pitchFamily="49" charset="0"/>
              </a:rPr>
              <a:t>[m]*sin(</a:t>
            </a:r>
            <a:r>
              <a:rPr lang="en-US" sz="1800" b="1" dirty="0" err="1">
                <a:latin typeface="Courier New" pitchFamily="49" charset="0"/>
              </a:rPr>
              <a:t>expQ</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a:t>
            </a:r>
          </a:p>
          <a:p>
            <a:pPr algn="ctr" eaLnBrk="1" hangingPunct="1"/>
            <a:r>
              <a:rPr lang="en-US" sz="1800" b="1" dirty="0">
                <a:latin typeface="Courier New" pitchFamily="49" charset="0"/>
              </a:rPr>
              <a:t>(a) Q computation</a:t>
            </a:r>
          </a:p>
          <a:p>
            <a:pPr eaLnBrk="1" hangingPunct="1"/>
            <a:endParaRPr lang="en-US" b="1" dirty="0">
              <a:latin typeface="Courier New" pitchFamily="49" charset="0"/>
            </a:endParaRPr>
          </a:p>
        </p:txBody>
      </p:sp>
      <p:sp>
        <p:nvSpPr>
          <p:cNvPr id="5123" name="Text Box 5"/>
          <p:cNvSpPr txBox="1">
            <a:spLocks noChangeArrowheads="1"/>
          </p:cNvSpPr>
          <p:nvPr/>
        </p:nvSpPr>
        <p:spPr bwMode="auto">
          <a:xfrm>
            <a:off x="4648200" y="838200"/>
            <a:ext cx="4572000" cy="58689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for (m = 0; m &lt; M; m++) {</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rMu</a:t>
            </a:r>
            <a:r>
              <a:rPr lang="en-US" sz="1800" b="1" dirty="0">
                <a:latin typeface="Courier New" pitchFamily="49" charset="0"/>
              </a:rPr>
              <a:t>[m] = </a:t>
            </a:r>
            <a:r>
              <a:rPr lang="en-US" sz="1800" b="1" dirty="0" err="1">
                <a:latin typeface="Courier New" pitchFamily="49" charset="0"/>
              </a:rPr>
              <a:t>rPhi</a:t>
            </a:r>
            <a:r>
              <a:rPr lang="en-US" sz="1800" b="1" dirty="0">
                <a:latin typeface="Courier New" pitchFamily="49" charset="0"/>
              </a:rPr>
              <a:t>[m]*</a:t>
            </a:r>
            <a:r>
              <a:rPr lang="en-US" sz="1800" b="1" dirty="0" err="1">
                <a:latin typeface="Courier New" pitchFamily="49" charset="0"/>
              </a:rPr>
              <a:t>rD</a:t>
            </a:r>
            <a:r>
              <a:rPr lang="en-US" sz="1800" b="1" dirty="0">
                <a:latin typeface="Courier New" pitchFamily="49" charset="0"/>
              </a:rPr>
              <a:t>[m] +</a:t>
            </a:r>
          </a:p>
          <a:p>
            <a:pPr eaLnBrk="1" hangingPunct="1"/>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[m]*</a:t>
            </a:r>
            <a:r>
              <a:rPr lang="en-US" sz="1800" b="1" dirty="0" err="1">
                <a:latin typeface="Courier New" pitchFamily="49" charset="0"/>
              </a:rPr>
              <a:t>iD</a:t>
            </a:r>
            <a:r>
              <a:rPr lang="en-US" sz="1800" b="1" dirty="0">
                <a:latin typeface="Courier New" pitchFamily="49" charset="0"/>
              </a:rPr>
              <a:t>[m];</a:t>
            </a:r>
          </a:p>
          <a:p>
            <a:pPr eaLnBrk="1" hangingPunct="1"/>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[m] = </a:t>
            </a:r>
            <a:r>
              <a:rPr lang="en-US" sz="1800" b="1" dirty="0" err="1">
                <a:latin typeface="Courier New" pitchFamily="49" charset="0"/>
              </a:rPr>
              <a:t>rPhi</a:t>
            </a:r>
            <a:r>
              <a:rPr lang="en-US" sz="1800" b="1" dirty="0">
                <a:latin typeface="Courier New" pitchFamily="49" charset="0"/>
              </a:rPr>
              <a:t>[m]*</a:t>
            </a:r>
            <a:r>
              <a:rPr lang="en-US" sz="1800" b="1" dirty="0" err="1">
                <a:latin typeface="Courier New" pitchFamily="49" charset="0"/>
              </a:rPr>
              <a:t>iD</a:t>
            </a:r>
            <a:r>
              <a:rPr lang="en-US" sz="1800" b="1" dirty="0">
                <a:latin typeface="Courier New" pitchFamily="49" charset="0"/>
              </a:rPr>
              <a:t>[m] –</a:t>
            </a:r>
          </a:p>
          <a:p>
            <a:pPr eaLnBrk="1" hangingPunct="1"/>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[m]*</a:t>
            </a:r>
            <a:r>
              <a:rPr lang="en-US" sz="1800" b="1" dirty="0" err="1">
                <a:latin typeface="Courier New" pitchFamily="49" charset="0"/>
              </a:rPr>
              <a:t>rD</a:t>
            </a:r>
            <a:r>
              <a:rPr lang="en-US" sz="1800" b="1" dirty="0">
                <a:latin typeface="Courier New" pitchFamily="49" charset="0"/>
              </a:rPr>
              <a:t>[m];</a:t>
            </a:r>
          </a:p>
          <a:p>
            <a:pPr eaLnBrk="1" hangingPunct="1"/>
            <a:endParaRPr lang="en-US" sz="1800" b="1" dirty="0">
              <a:latin typeface="Courier New" pitchFamily="49" charset="0"/>
            </a:endParaRPr>
          </a:p>
          <a:p>
            <a:pPr eaLnBrk="1" hangingPunct="1"/>
            <a:r>
              <a:rPr lang="en-US" sz="1800" b="1" dirty="0">
                <a:latin typeface="Courier New" pitchFamily="49" charset="0"/>
              </a:rPr>
              <a:t>  for (n = 0; n &lt; N; n++) {</a:t>
            </a:r>
          </a:p>
          <a:p>
            <a:pPr eaLnBrk="1" hangingPunct="1"/>
            <a:r>
              <a:rPr lang="en-US" sz="1800" b="1" dirty="0">
                <a:latin typeface="Courier New" pitchFamily="49" charset="0"/>
              </a:rPr>
              <a:t>    </a:t>
            </a:r>
            <a:r>
              <a:rPr lang="en-US" sz="1800" b="1" dirty="0" err="1">
                <a:latin typeface="Courier New" pitchFamily="49" charset="0"/>
              </a:rPr>
              <a:t>expFhD</a:t>
            </a:r>
            <a:r>
              <a:rPr lang="en-US" sz="1800" b="1" dirty="0">
                <a:latin typeface="Courier New" pitchFamily="49" charset="0"/>
              </a:rPr>
              <a:t> = 2*PI*(</a:t>
            </a:r>
            <a:r>
              <a:rPr lang="en-US" sz="1800" b="1" dirty="0" err="1">
                <a:latin typeface="Courier New" pitchFamily="49" charset="0"/>
              </a:rPr>
              <a:t>kx</a:t>
            </a:r>
            <a:r>
              <a:rPr lang="en-US" sz="1800" b="1" dirty="0">
                <a:latin typeface="Courier New" pitchFamily="49" charset="0"/>
              </a:rPr>
              <a:t>[m]*x[n] +</a:t>
            </a:r>
          </a:p>
          <a:p>
            <a:pPr eaLnBrk="1" hangingPunct="1"/>
            <a:r>
              <a:rPr lang="en-US" sz="1800" b="1" dirty="0">
                <a:latin typeface="Courier New" pitchFamily="49" charset="0"/>
              </a:rPr>
              <a:t>                   </a:t>
            </a:r>
            <a:r>
              <a:rPr lang="en-US" sz="1800" b="1" dirty="0" err="1">
                <a:latin typeface="Courier New" pitchFamily="49" charset="0"/>
              </a:rPr>
              <a:t>ky</a:t>
            </a:r>
            <a:r>
              <a:rPr lang="en-US" sz="1800" b="1" dirty="0">
                <a:latin typeface="Courier New" pitchFamily="49" charset="0"/>
              </a:rPr>
              <a:t>[m]*y[n] +</a:t>
            </a:r>
          </a:p>
          <a:p>
            <a:pPr eaLnBrk="1" hangingPunct="1"/>
            <a:r>
              <a:rPr lang="en-US" sz="1800" b="1" dirty="0">
                <a:latin typeface="Courier New" pitchFamily="49" charset="0"/>
              </a:rPr>
              <a:t>                   </a:t>
            </a:r>
            <a:r>
              <a:rPr lang="en-US" sz="1800" b="1" dirty="0" err="1">
                <a:latin typeface="Courier New" pitchFamily="49" charset="0"/>
              </a:rPr>
              <a:t>kz</a:t>
            </a:r>
            <a:r>
              <a:rPr lang="en-US" sz="1800" b="1" dirty="0">
                <a:latin typeface="Courier New" pitchFamily="49" charset="0"/>
              </a:rPr>
              <a:t>[m]*z[n]);</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cos</a:t>
            </a:r>
            <a:r>
              <a:rPr lang="en-US" sz="1800" b="1" dirty="0">
                <a:latin typeface="Courier New" pitchFamily="49" charset="0"/>
              </a:rPr>
              <a:t>(</a:t>
            </a:r>
            <a:r>
              <a:rPr lang="en-US" sz="1800" b="1" dirty="0" err="1">
                <a:latin typeface="Courier New" pitchFamily="49" charset="0"/>
              </a:rPr>
              <a:t>expFhD</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sArg</a:t>
            </a:r>
            <a:r>
              <a:rPr lang="en-US" sz="1800" b="1" dirty="0">
                <a:latin typeface="Courier New" pitchFamily="49" charset="0"/>
              </a:rPr>
              <a:t> = sin(</a:t>
            </a:r>
            <a:r>
              <a:rPr lang="en-US" sz="1800" b="1" dirty="0" err="1">
                <a:latin typeface="Courier New" pitchFamily="49" charset="0"/>
              </a:rPr>
              <a:t>expFhD</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rFhD</a:t>
            </a:r>
            <a:r>
              <a:rPr lang="en-US" sz="1800" b="1" dirty="0">
                <a:latin typeface="Courier New" pitchFamily="49" charset="0"/>
              </a:rPr>
              <a:t>[n]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iFhD</a:t>
            </a:r>
            <a:r>
              <a:rPr lang="en-US" sz="1800" b="1" dirty="0">
                <a:latin typeface="Courier New" pitchFamily="49" charset="0"/>
              </a:rPr>
              <a:t>[n]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	(b) F</a:t>
            </a:r>
            <a:r>
              <a:rPr lang="en-US" sz="1800" b="1" baseline="30000" dirty="0">
                <a:latin typeface="Courier New" pitchFamily="49" charset="0"/>
              </a:rPr>
              <a:t>H</a:t>
            </a:r>
            <a:r>
              <a:rPr lang="en-US" sz="1800" b="1" dirty="0">
                <a:latin typeface="Courier New" pitchFamily="49" charset="0"/>
              </a:rPr>
              <a:t>D computation</a:t>
            </a:r>
          </a:p>
        </p:txBody>
      </p:sp>
      <p:sp>
        <p:nvSpPr>
          <p:cNvPr id="3" name="Text Placeholder 2">
            <a:extLst>
              <a:ext uri="{FF2B5EF4-FFF2-40B4-BE49-F238E27FC236}">
                <a16:creationId xmlns:a16="http://schemas.microsoft.com/office/drawing/2014/main" id="{3DEDEC50-DEE7-1589-5D5A-2DCA1966FAAA}"/>
              </a:ext>
            </a:extLst>
          </p:cNvPr>
          <p:cNvSpPr>
            <a:spLocks noGrp="1"/>
          </p:cNvSpPr>
          <p:nvPr>
            <p:ph type="body" idx="10"/>
          </p:nvPr>
        </p:nvSpPr>
        <p:spPr/>
        <p:txBody>
          <a:bodyPr/>
          <a:lstStyle/>
          <a:p>
            <a:r>
              <a:rPr lang="en-US" dirty="0"/>
              <a:t>Computation of Q and F</a:t>
            </a:r>
            <a:r>
              <a:rPr lang="en-US" baseline="30000" dirty="0"/>
              <a:t>H</a:t>
            </a:r>
            <a:r>
              <a:rPr lang="en-US" dirty="0"/>
              <a:t>D</a:t>
            </a:r>
          </a:p>
        </p:txBody>
      </p:sp>
    </p:spTree>
    <p:extLst>
      <p:ext uri="{BB962C8B-B14F-4D97-AF65-F5344CB8AC3E}">
        <p14:creationId xmlns:p14="http://schemas.microsoft.com/office/powerpoint/2010/main" val="1730549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3"/>
          <p:cNvSpPr txBox="1">
            <a:spLocks noChangeArrowheads="1"/>
          </p:cNvSpPr>
          <p:nvPr/>
        </p:nvSpPr>
        <p:spPr bwMode="auto">
          <a:xfrm>
            <a:off x="304800" y="1447800"/>
            <a:ext cx="8915400" cy="4800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__global__ void </a:t>
            </a:r>
            <a:r>
              <a:rPr lang="en-US" sz="1800" b="1" dirty="0" err="1">
                <a:latin typeface="Courier New" pitchFamily="49" charset="0"/>
              </a:rPr>
              <a:t>cmpFhD</a:t>
            </a:r>
            <a:r>
              <a:rPr lang="en-US" sz="1800" b="1" dirty="0">
                <a:latin typeface="Courier New" pitchFamily="49" charset="0"/>
              </a:rPr>
              <a:t>(float* </a:t>
            </a:r>
            <a:r>
              <a:rPr lang="en-US" sz="1800" b="1" dirty="0" err="1">
                <a:latin typeface="Courier New" pitchFamily="49" charset="0"/>
              </a:rPr>
              <a:t>rPhi</a:t>
            </a:r>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 </a:t>
            </a:r>
            <a:r>
              <a:rPr lang="en-US" sz="1800" b="1" dirty="0" err="1">
                <a:latin typeface="Courier New" pitchFamily="49" charset="0"/>
              </a:rPr>
              <a:t>rD</a:t>
            </a:r>
            <a:r>
              <a:rPr lang="en-US" sz="1800" b="1" dirty="0">
                <a:latin typeface="Courier New" pitchFamily="49" charset="0"/>
              </a:rPr>
              <a:t>, </a:t>
            </a:r>
            <a:r>
              <a:rPr lang="en-US" sz="1800" b="1" dirty="0" err="1">
                <a:latin typeface="Courier New" pitchFamily="49" charset="0"/>
              </a:rPr>
              <a:t>iD</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kx</a:t>
            </a:r>
            <a:r>
              <a:rPr lang="en-US" sz="1800" b="1" dirty="0">
                <a:latin typeface="Courier New" pitchFamily="49" charset="0"/>
              </a:rPr>
              <a:t>, </a:t>
            </a:r>
            <a:r>
              <a:rPr lang="en-US" sz="1800" b="1" dirty="0" err="1">
                <a:latin typeface="Courier New" pitchFamily="49" charset="0"/>
              </a:rPr>
              <a:t>ky</a:t>
            </a:r>
            <a:r>
              <a:rPr lang="en-US" sz="1800" b="1" dirty="0">
                <a:latin typeface="Courier New" pitchFamily="49" charset="0"/>
              </a:rPr>
              <a:t>, </a:t>
            </a:r>
            <a:r>
              <a:rPr lang="en-US" sz="1800" b="1" dirty="0" err="1">
                <a:latin typeface="Courier New" pitchFamily="49" charset="0"/>
              </a:rPr>
              <a:t>kz</a:t>
            </a:r>
            <a:r>
              <a:rPr lang="en-US" sz="1800" b="1" dirty="0">
                <a:latin typeface="Courier New" pitchFamily="49" charset="0"/>
              </a:rPr>
              <a:t>, x, y, z, </a:t>
            </a:r>
            <a:r>
              <a:rPr lang="en-US" sz="1800" b="1" dirty="0" err="1">
                <a:latin typeface="Courier New" pitchFamily="49" charset="0"/>
              </a:rPr>
              <a:t>rMu</a:t>
            </a:r>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 </a:t>
            </a:r>
            <a:r>
              <a:rPr lang="en-US" sz="1800" b="1" dirty="0" err="1">
                <a:latin typeface="Courier New" pitchFamily="49" charset="0"/>
              </a:rPr>
              <a:t>rFhD</a:t>
            </a:r>
            <a:r>
              <a:rPr lang="en-US" sz="1800" b="1" dirty="0">
                <a:latin typeface="Courier New" pitchFamily="49" charset="0"/>
              </a:rPr>
              <a:t>, </a:t>
            </a:r>
            <a:r>
              <a:rPr lang="en-US" sz="1800" b="1" dirty="0" err="1">
                <a:latin typeface="Courier New" pitchFamily="49" charset="0"/>
              </a:rPr>
              <a:t>iFhD</a:t>
            </a:r>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N) {</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m = </a:t>
            </a:r>
            <a:r>
              <a:rPr lang="en-US" sz="1800" b="1" dirty="0" err="1">
                <a:latin typeface="Courier New" pitchFamily="49" charset="0"/>
              </a:rPr>
              <a:t>blockIdx.x</a:t>
            </a:r>
            <a:r>
              <a:rPr lang="en-US" sz="1800" b="1" dirty="0">
                <a:latin typeface="Courier New" pitchFamily="49" charset="0"/>
              </a:rPr>
              <a:t> * FHD_THREADS_PER_BLOCK + </a:t>
            </a:r>
            <a:r>
              <a:rPr lang="en-US" sz="1800" b="1" dirty="0" err="1">
                <a:latin typeface="Courier New" pitchFamily="49" charset="0"/>
              </a:rPr>
              <a:t>threadIdx.x</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rMu</a:t>
            </a:r>
            <a:r>
              <a:rPr lang="en-US" sz="1800" b="1" dirty="0">
                <a:latin typeface="Courier New" pitchFamily="49" charset="0"/>
              </a:rPr>
              <a:t>[m] = </a:t>
            </a:r>
            <a:r>
              <a:rPr lang="en-US" sz="1800" b="1" dirty="0" err="1">
                <a:latin typeface="Courier New" pitchFamily="49" charset="0"/>
              </a:rPr>
              <a:t>rPhi</a:t>
            </a:r>
            <a:r>
              <a:rPr lang="en-US" sz="1800" b="1" dirty="0">
                <a:latin typeface="Courier New" pitchFamily="49" charset="0"/>
              </a:rPr>
              <a:t>[m]*</a:t>
            </a:r>
            <a:r>
              <a:rPr lang="en-US" sz="1800" b="1" dirty="0" err="1">
                <a:latin typeface="Courier New" pitchFamily="49" charset="0"/>
              </a:rPr>
              <a:t>rD</a:t>
            </a:r>
            <a:r>
              <a:rPr lang="en-US" sz="1800" b="1" dirty="0">
                <a:latin typeface="Courier New" pitchFamily="49" charset="0"/>
              </a:rPr>
              <a:t>[m] + </a:t>
            </a:r>
            <a:r>
              <a:rPr lang="en-US" sz="1800" b="1" dirty="0" err="1">
                <a:latin typeface="Courier New" pitchFamily="49" charset="0"/>
              </a:rPr>
              <a:t>iPhi</a:t>
            </a:r>
            <a:r>
              <a:rPr lang="en-US" sz="1800" b="1" dirty="0">
                <a:latin typeface="Courier New" pitchFamily="49" charset="0"/>
              </a:rPr>
              <a:t>[m]*</a:t>
            </a:r>
            <a:r>
              <a:rPr lang="en-US" sz="1800" b="1" dirty="0" err="1">
                <a:latin typeface="Courier New" pitchFamily="49" charset="0"/>
              </a:rPr>
              <a:t>iD</a:t>
            </a:r>
            <a:r>
              <a:rPr lang="en-US" sz="1800" b="1" dirty="0">
                <a:latin typeface="Courier New" pitchFamily="49" charset="0"/>
              </a:rPr>
              <a:t>[m];</a:t>
            </a:r>
          </a:p>
          <a:p>
            <a:pPr eaLnBrk="1" hangingPunct="1"/>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[m] = </a:t>
            </a:r>
            <a:r>
              <a:rPr lang="en-US" sz="1800" b="1" dirty="0" err="1">
                <a:latin typeface="Courier New" pitchFamily="49" charset="0"/>
              </a:rPr>
              <a:t>rPhi</a:t>
            </a:r>
            <a:r>
              <a:rPr lang="en-US" sz="1800" b="1" dirty="0">
                <a:latin typeface="Courier New" pitchFamily="49" charset="0"/>
              </a:rPr>
              <a:t>[m]*</a:t>
            </a:r>
            <a:r>
              <a:rPr lang="en-US" sz="1800" b="1" dirty="0" err="1">
                <a:latin typeface="Courier New" pitchFamily="49" charset="0"/>
              </a:rPr>
              <a:t>iD</a:t>
            </a:r>
            <a:r>
              <a:rPr lang="en-US" sz="1800" b="1" dirty="0">
                <a:latin typeface="Courier New" pitchFamily="49" charset="0"/>
              </a:rPr>
              <a:t>[m] – </a:t>
            </a:r>
            <a:r>
              <a:rPr lang="en-US" sz="1800" b="1" dirty="0" err="1">
                <a:latin typeface="Courier New" pitchFamily="49" charset="0"/>
              </a:rPr>
              <a:t>iPhi</a:t>
            </a:r>
            <a:r>
              <a:rPr lang="en-US" sz="1800" b="1" dirty="0">
                <a:latin typeface="Courier New" pitchFamily="49" charset="0"/>
              </a:rPr>
              <a:t>[m]*</a:t>
            </a:r>
            <a:r>
              <a:rPr lang="en-US" sz="1800" b="1" dirty="0" err="1">
                <a:latin typeface="Courier New" pitchFamily="49" charset="0"/>
              </a:rPr>
              <a:t>rD</a:t>
            </a:r>
            <a:r>
              <a:rPr lang="en-US" sz="1800" b="1" dirty="0">
                <a:latin typeface="Courier New" pitchFamily="49" charset="0"/>
              </a:rPr>
              <a:t>[m];</a:t>
            </a:r>
          </a:p>
          <a:p>
            <a:pPr eaLnBrk="1" hangingPunct="1"/>
            <a:endParaRPr lang="en-US" sz="1800" b="1" dirty="0">
              <a:latin typeface="Courier New" pitchFamily="49" charset="0"/>
            </a:endParaRPr>
          </a:p>
          <a:p>
            <a:pPr eaLnBrk="1" hangingPunct="1"/>
            <a:r>
              <a:rPr lang="en-US" sz="1800" b="1" dirty="0">
                <a:latin typeface="Courier New" pitchFamily="49" charset="0"/>
              </a:rPr>
              <a:t>  for (n = 0; n &lt; N; n++) {</a:t>
            </a:r>
          </a:p>
          <a:p>
            <a:pPr eaLnBrk="1" hangingPunct="1"/>
            <a:r>
              <a:rPr lang="en-US" sz="1800" b="1" dirty="0">
                <a:latin typeface="Courier New" pitchFamily="49" charset="0"/>
              </a:rPr>
              <a:t>    float </a:t>
            </a:r>
            <a:r>
              <a:rPr lang="en-US" sz="1800" b="1" dirty="0" err="1">
                <a:latin typeface="Courier New" pitchFamily="49" charset="0"/>
              </a:rPr>
              <a:t>expFhD</a:t>
            </a:r>
            <a:r>
              <a:rPr lang="en-US" sz="1800" b="1" dirty="0">
                <a:latin typeface="Courier New" pitchFamily="49" charset="0"/>
              </a:rPr>
              <a:t> = 2*PI*(</a:t>
            </a:r>
            <a:r>
              <a:rPr lang="en-US" sz="1800" b="1" dirty="0" err="1">
                <a:latin typeface="Courier New" pitchFamily="49" charset="0"/>
              </a:rPr>
              <a:t>kx</a:t>
            </a:r>
            <a:r>
              <a:rPr lang="en-US" sz="1800" b="1" dirty="0">
                <a:latin typeface="Courier New" pitchFamily="49" charset="0"/>
              </a:rPr>
              <a:t>[m]*x[n] + </a:t>
            </a:r>
            <a:r>
              <a:rPr lang="en-US" sz="1800" b="1" dirty="0" err="1">
                <a:latin typeface="Courier New" pitchFamily="49" charset="0"/>
              </a:rPr>
              <a:t>ky</a:t>
            </a:r>
            <a:r>
              <a:rPr lang="en-US" sz="1800" b="1" dirty="0">
                <a:latin typeface="Courier New" pitchFamily="49" charset="0"/>
              </a:rPr>
              <a:t>[m]*y[n] + </a:t>
            </a:r>
            <a:r>
              <a:rPr lang="en-US" sz="1800" b="1" dirty="0" err="1">
                <a:latin typeface="Courier New" pitchFamily="49" charset="0"/>
              </a:rPr>
              <a:t>kz</a:t>
            </a:r>
            <a:r>
              <a:rPr lang="en-US" sz="1800" b="1" dirty="0">
                <a:latin typeface="Courier New" pitchFamily="49" charset="0"/>
              </a:rPr>
              <a:t>[m]*z[n]);</a:t>
            </a:r>
          </a:p>
          <a:p>
            <a:pPr eaLnBrk="1" hangingPunct="1"/>
            <a:endParaRPr lang="en-US" sz="1800" b="1" dirty="0">
              <a:latin typeface="Courier New" pitchFamily="49" charset="0"/>
            </a:endParaRPr>
          </a:p>
          <a:p>
            <a:pPr eaLnBrk="1" hangingPunct="1"/>
            <a:r>
              <a:rPr lang="en-US" sz="1800" b="1" dirty="0">
                <a:latin typeface="Courier New" pitchFamily="49" charset="0"/>
              </a:rPr>
              <a:t>    float </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cos</a:t>
            </a:r>
            <a:r>
              <a:rPr lang="en-US" sz="1800" b="1" dirty="0">
                <a:latin typeface="Courier New" pitchFamily="49" charset="0"/>
              </a:rPr>
              <a:t>(</a:t>
            </a:r>
            <a:r>
              <a:rPr lang="en-US" sz="1800" b="1" dirty="0" err="1">
                <a:latin typeface="Courier New" pitchFamily="49" charset="0"/>
              </a:rPr>
              <a:t>expFhD</a:t>
            </a:r>
            <a:r>
              <a:rPr lang="en-US" sz="1800" b="1" dirty="0">
                <a:latin typeface="Courier New" pitchFamily="49" charset="0"/>
              </a:rPr>
              <a:t>);  float </a:t>
            </a:r>
            <a:r>
              <a:rPr lang="en-US" sz="1800" b="1" dirty="0" err="1">
                <a:latin typeface="Courier New" pitchFamily="49" charset="0"/>
              </a:rPr>
              <a:t>sArg</a:t>
            </a:r>
            <a:r>
              <a:rPr lang="en-US" sz="1800" b="1" dirty="0">
                <a:latin typeface="Courier New" pitchFamily="49" charset="0"/>
              </a:rPr>
              <a:t> = sin(</a:t>
            </a:r>
            <a:r>
              <a:rPr lang="en-US" sz="1800" b="1" dirty="0" err="1">
                <a:latin typeface="Courier New" pitchFamily="49" charset="0"/>
              </a:rPr>
              <a:t>expFhD</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rFhD</a:t>
            </a:r>
            <a:r>
              <a:rPr lang="en-US" sz="1800" b="1" dirty="0">
                <a:latin typeface="Courier New" pitchFamily="49" charset="0"/>
              </a:rPr>
              <a:t>[n]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iFhD</a:t>
            </a:r>
            <a:r>
              <a:rPr lang="en-US" sz="1800" b="1" dirty="0">
                <a:latin typeface="Courier New" pitchFamily="49" charset="0"/>
              </a:rPr>
              <a:t>[n]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a:t>
            </a:r>
          </a:p>
        </p:txBody>
      </p:sp>
      <p:sp>
        <p:nvSpPr>
          <p:cNvPr id="6147" name="Text Box 6"/>
          <p:cNvSpPr txBox="1">
            <a:spLocks noChangeArrowheads="1"/>
          </p:cNvSpPr>
          <p:nvPr/>
        </p:nvSpPr>
        <p:spPr bwMode="auto">
          <a:xfrm>
            <a:off x="8610600" y="62484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200">
                <a:latin typeface="Arial Narrow" pitchFamily="34" charset="0"/>
              </a:rPr>
              <a:t>6</a:t>
            </a:r>
          </a:p>
        </p:txBody>
      </p:sp>
      <p:sp>
        <p:nvSpPr>
          <p:cNvPr id="3" name="Text Placeholder 2">
            <a:extLst>
              <a:ext uri="{FF2B5EF4-FFF2-40B4-BE49-F238E27FC236}">
                <a16:creationId xmlns:a16="http://schemas.microsoft.com/office/drawing/2014/main" id="{08D39EA0-58DA-19E8-919C-306E1CEA9DF4}"/>
              </a:ext>
            </a:extLst>
          </p:cNvPr>
          <p:cNvSpPr>
            <a:spLocks noGrp="1"/>
          </p:cNvSpPr>
          <p:nvPr>
            <p:ph type="body" idx="10"/>
          </p:nvPr>
        </p:nvSpPr>
        <p:spPr/>
        <p:txBody>
          <a:bodyPr/>
          <a:lstStyle/>
          <a:p>
            <a:r>
              <a:rPr lang="en-US" dirty="0"/>
              <a:t>First version of the F</a:t>
            </a:r>
            <a:r>
              <a:rPr lang="en-US" baseline="30000" dirty="0"/>
              <a:t>H</a:t>
            </a:r>
            <a:r>
              <a:rPr lang="en-US" dirty="0"/>
              <a:t>D kernel.</a:t>
            </a:r>
          </a:p>
        </p:txBody>
      </p:sp>
    </p:spTree>
    <p:extLst>
      <p:ext uri="{BB962C8B-B14F-4D97-AF65-F5344CB8AC3E}">
        <p14:creationId xmlns:p14="http://schemas.microsoft.com/office/powerpoint/2010/main" val="1029288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4"/>
          <p:cNvSpPr txBox="1">
            <a:spLocks noChangeArrowheads="1"/>
          </p:cNvSpPr>
          <p:nvPr/>
        </p:nvSpPr>
        <p:spPr bwMode="auto">
          <a:xfrm>
            <a:off x="37322" y="762000"/>
            <a:ext cx="4572000" cy="61436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for (m = 0; m &lt; M; m++) {</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rMu</a:t>
            </a:r>
            <a:r>
              <a:rPr lang="en-US" sz="1800" b="1" dirty="0">
                <a:latin typeface="Courier New" pitchFamily="49" charset="0"/>
              </a:rPr>
              <a:t>[m] = </a:t>
            </a:r>
            <a:r>
              <a:rPr lang="en-US" sz="1800" b="1" dirty="0" err="1">
                <a:latin typeface="Courier New" pitchFamily="49" charset="0"/>
              </a:rPr>
              <a:t>rPhi</a:t>
            </a:r>
            <a:r>
              <a:rPr lang="en-US" sz="1800" b="1" dirty="0">
                <a:latin typeface="Courier New" pitchFamily="49" charset="0"/>
              </a:rPr>
              <a:t>[m]*</a:t>
            </a:r>
            <a:r>
              <a:rPr lang="en-US" sz="1800" b="1" dirty="0" err="1">
                <a:latin typeface="Courier New" pitchFamily="49" charset="0"/>
              </a:rPr>
              <a:t>rD</a:t>
            </a:r>
            <a:r>
              <a:rPr lang="en-US" sz="1800" b="1" dirty="0">
                <a:latin typeface="Courier New" pitchFamily="49" charset="0"/>
              </a:rPr>
              <a:t>[m] +</a:t>
            </a:r>
          </a:p>
          <a:p>
            <a:pPr eaLnBrk="1" hangingPunct="1"/>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[m]*</a:t>
            </a:r>
            <a:r>
              <a:rPr lang="en-US" sz="1800" b="1" dirty="0" err="1">
                <a:latin typeface="Courier New" pitchFamily="49" charset="0"/>
              </a:rPr>
              <a:t>iD</a:t>
            </a:r>
            <a:r>
              <a:rPr lang="en-US" sz="1800" b="1" dirty="0">
                <a:latin typeface="Courier New" pitchFamily="49" charset="0"/>
              </a:rPr>
              <a:t>[m];</a:t>
            </a:r>
          </a:p>
          <a:p>
            <a:pPr eaLnBrk="1" hangingPunct="1"/>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[m] = </a:t>
            </a:r>
            <a:r>
              <a:rPr lang="en-US" sz="1800" b="1" dirty="0" err="1">
                <a:latin typeface="Courier New" pitchFamily="49" charset="0"/>
              </a:rPr>
              <a:t>rPhi</a:t>
            </a:r>
            <a:r>
              <a:rPr lang="en-US" sz="1800" b="1" dirty="0">
                <a:latin typeface="Courier New" pitchFamily="49" charset="0"/>
              </a:rPr>
              <a:t>[m]*</a:t>
            </a:r>
            <a:r>
              <a:rPr lang="en-US" sz="1800" b="1" dirty="0" err="1">
                <a:latin typeface="Courier New" pitchFamily="49" charset="0"/>
              </a:rPr>
              <a:t>iD</a:t>
            </a:r>
            <a:r>
              <a:rPr lang="en-US" sz="1800" b="1" dirty="0">
                <a:latin typeface="Courier New" pitchFamily="49" charset="0"/>
              </a:rPr>
              <a:t>[m] –</a:t>
            </a:r>
          </a:p>
          <a:p>
            <a:pPr eaLnBrk="1" hangingPunct="1"/>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[m]*</a:t>
            </a:r>
            <a:r>
              <a:rPr lang="en-US" sz="1800" b="1" dirty="0" err="1">
                <a:latin typeface="Courier New" pitchFamily="49" charset="0"/>
              </a:rPr>
              <a:t>rD</a:t>
            </a:r>
            <a:r>
              <a:rPr lang="en-US" sz="1800" b="1" dirty="0">
                <a:latin typeface="Courier New" pitchFamily="49" charset="0"/>
              </a:rPr>
              <a:t>[m];</a:t>
            </a:r>
          </a:p>
          <a:p>
            <a:pPr eaLnBrk="1" hangingPunct="1"/>
            <a:endParaRPr lang="en-US" sz="1800" b="1" dirty="0">
              <a:latin typeface="Courier New" pitchFamily="49" charset="0"/>
            </a:endParaRPr>
          </a:p>
          <a:p>
            <a:pPr eaLnBrk="1" hangingPunct="1"/>
            <a:r>
              <a:rPr lang="en-US" sz="1800" b="1" dirty="0">
                <a:latin typeface="Courier New" pitchFamily="49" charset="0"/>
              </a:rPr>
              <a:t>  for (n = 0; n &lt; N; n++) {</a:t>
            </a:r>
          </a:p>
          <a:p>
            <a:pPr eaLnBrk="1" hangingPunct="1"/>
            <a:r>
              <a:rPr lang="en-US" sz="1800" b="1" dirty="0">
                <a:latin typeface="Courier New" pitchFamily="49" charset="0"/>
              </a:rPr>
              <a:t>    </a:t>
            </a:r>
            <a:r>
              <a:rPr lang="en-US" sz="1800" b="1" dirty="0" err="1">
                <a:latin typeface="Courier New" pitchFamily="49" charset="0"/>
              </a:rPr>
              <a:t>expFhD</a:t>
            </a:r>
            <a:r>
              <a:rPr lang="en-US" sz="1800" b="1" dirty="0">
                <a:latin typeface="Courier New" pitchFamily="49" charset="0"/>
              </a:rPr>
              <a:t> = 2*PI*(</a:t>
            </a:r>
            <a:r>
              <a:rPr lang="en-US" sz="1800" b="1" dirty="0" err="1">
                <a:latin typeface="Courier New" pitchFamily="49" charset="0"/>
              </a:rPr>
              <a:t>kx</a:t>
            </a:r>
            <a:r>
              <a:rPr lang="en-US" sz="1800" b="1" dirty="0">
                <a:latin typeface="Courier New" pitchFamily="49" charset="0"/>
              </a:rPr>
              <a:t>[m]*x[n] +</a:t>
            </a:r>
          </a:p>
          <a:p>
            <a:pPr eaLnBrk="1" hangingPunct="1"/>
            <a:r>
              <a:rPr lang="en-US" sz="1800" b="1" dirty="0">
                <a:latin typeface="Courier New" pitchFamily="49" charset="0"/>
              </a:rPr>
              <a:t>                   </a:t>
            </a:r>
            <a:r>
              <a:rPr lang="en-US" sz="1800" b="1" dirty="0" err="1">
                <a:latin typeface="Courier New" pitchFamily="49" charset="0"/>
              </a:rPr>
              <a:t>ky</a:t>
            </a:r>
            <a:r>
              <a:rPr lang="en-US" sz="1800" b="1" dirty="0">
                <a:latin typeface="Courier New" pitchFamily="49" charset="0"/>
              </a:rPr>
              <a:t>[m]*y[n] +</a:t>
            </a:r>
          </a:p>
          <a:p>
            <a:pPr eaLnBrk="1" hangingPunct="1"/>
            <a:r>
              <a:rPr lang="en-US" sz="1800" b="1" dirty="0">
                <a:latin typeface="Courier New" pitchFamily="49" charset="0"/>
              </a:rPr>
              <a:t>                   </a:t>
            </a:r>
            <a:r>
              <a:rPr lang="en-US" sz="1800" b="1" dirty="0" err="1">
                <a:latin typeface="Courier New" pitchFamily="49" charset="0"/>
              </a:rPr>
              <a:t>kz</a:t>
            </a:r>
            <a:r>
              <a:rPr lang="en-US" sz="1800" b="1" dirty="0">
                <a:latin typeface="Courier New" pitchFamily="49" charset="0"/>
              </a:rPr>
              <a:t>[m]*z[n]);</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cos</a:t>
            </a:r>
            <a:r>
              <a:rPr lang="en-US" sz="1800" b="1" dirty="0">
                <a:latin typeface="Courier New" pitchFamily="49" charset="0"/>
              </a:rPr>
              <a:t>(</a:t>
            </a:r>
            <a:r>
              <a:rPr lang="en-US" sz="1800" b="1" dirty="0" err="1">
                <a:latin typeface="Courier New" pitchFamily="49" charset="0"/>
              </a:rPr>
              <a:t>expFhD</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sArg</a:t>
            </a:r>
            <a:r>
              <a:rPr lang="en-US" sz="1800" b="1" dirty="0">
                <a:latin typeface="Courier New" pitchFamily="49" charset="0"/>
              </a:rPr>
              <a:t> = sin(</a:t>
            </a:r>
            <a:r>
              <a:rPr lang="en-US" sz="1800" b="1" dirty="0" err="1">
                <a:latin typeface="Courier New" pitchFamily="49" charset="0"/>
              </a:rPr>
              <a:t>expFhD</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rFhD</a:t>
            </a:r>
            <a:r>
              <a:rPr lang="en-US" sz="1800" b="1" dirty="0">
                <a:latin typeface="Courier New" pitchFamily="49" charset="0"/>
              </a:rPr>
              <a:t>[n]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iFhD</a:t>
            </a:r>
            <a:r>
              <a:rPr lang="en-US" sz="1800" b="1" dirty="0">
                <a:latin typeface="Courier New" pitchFamily="49" charset="0"/>
              </a:rPr>
              <a:t>[n]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	</a:t>
            </a:r>
          </a:p>
          <a:p>
            <a:pPr algn="ctr" eaLnBrk="1" hangingPunct="1"/>
            <a:r>
              <a:rPr lang="en-US" sz="1800" b="1" dirty="0">
                <a:latin typeface="Courier New" pitchFamily="49" charset="0"/>
              </a:rPr>
              <a:t>(a) F</a:t>
            </a:r>
            <a:r>
              <a:rPr lang="en-US" sz="1800" b="1" baseline="30000" dirty="0">
                <a:latin typeface="Courier New" pitchFamily="49" charset="0"/>
              </a:rPr>
              <a:t>H</a:t>
            </a:r>
            <a:r>
              <a:rPr lang="en-US" sz="1800" b="1" dirty="0">
                <a:latin typeface="Courier New" pitchFamily="49" charset="0"/>
              </a:rPr>
              <a:t>D computation</a:t>
            </a:r>
          </a:p>
        </p:txBody>
      </p:sp>
      <p:sp>
        <p:nvSpPr>
          <p:cNvPr id="7171" name="Text Box 5"/>
          <p:cNvSpPr txBox="1">
            <a:spLocks noChangeArrowheads="1"/>
          </p:cNvSpPr>
          <p:nvPr/>
        </p:nvSpPr>
        <p:spPr bwMode="auto">
          <a:xfrm>
            <a:off x="4609322" y="762000"/>
            <a:ext cx="4572000" cy="61436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for (m = 0; m &lt; M; m++) {</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rMu</a:t>
            </a:r>
            <a:r>
              <a:rPr lang="en-US" sz="1800" b="1" dirty="0">
                <a:latin typeface="Courier New" pitchFamily="49" charset="0"/>
              </a:rPr>
              <a:t>[m] = </a:t>
            </a:r>
            <a:r>
              <a:rPr lang="en-US" sz="1800" b="1" dirty="0" err="1">
                <a:latin typeface="Courier New" pitchFamily="49" charset="0"/>
              </a:rPr>
              <a:t>rPhi</a:t>
            </a:r>
            <a:r>
              <a:rPr lang="en-US" sz="1800" b="1" dirty="0">
                <a:latin typeface="Courier New" pitchFamily="49" charset="0"/>
              </a:rPr>
              <a:t>[m]*</a:t>
            </a:r>
            <a:r>
              <a:rPr lang="en-US" sz="1800" b="1" dirty="0" err="1">
                <a:latin typeface="Courier New" pitchFamily="49" charset="0"/>
              </a:rPr>
              <a:t>rD</a:t>
            </a:r>
            <a:r>
              <a:rPr lang="en-US" sz="1800" b="1" dirty="0">
                <a:latin typeface="Courier New" pitchFamily="49" charset="0"/>
              </a:rPr>
              <a:t>[m] +</a:t>
            </a:r>
          </a:p>
          <a:p>
            <a:pPr eaLnBrk="1" hangingPunct="1"/>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[m]*</a:t>
            </a:r>
            <a:r>
              <a:rPr lang="en-US" sz="1800" b="1" dirty="0" err="1">
                <a:latin typeface="Courier New" pitchFamily="49" charset="0"/>
              </a:rPr>
              <a:t>iD</a:t>
            </a:r>
            <a:r>
              <a:rPr lang="en-US" sz="1800" b="1" dirty="0">
                <a:latin typeface="Courier New" pitchFamily="49" charset="0"/>
              </a:rPr>
              <a:t>[m];</a:t>
            </a:r>
          </a:p>
          <a:p>
            <a:pPr eaLnBrk="1" hangingPunct="1"/>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[m] = </a:t>
            </a:r>
            <a:r>
              <a:rPr lang="en-US" sz="1800" b="1" dirty="0" err="1">
                <a:latin typeface="Courier New" pitchFamily="49" charset="0"/>
              </a:rPr>
              <a:t>rPhi</a:t>
            </a:r>
            <a:r>
              <a:rPr lang="en-US" sz="1800" b="1" dirty="0">
                <a:latin typeface="Courier New" pitchFamily="49" charset="0"/>
              </a:rPr>
              <a:t>[m]*</a:t>
            </a:r>
            <a:r>
              <a:rPr lang="en-US" sz="1800" b="1" dirty="0" err="1">
                <a:latin typeface="Courier New" pitchFamily="49" charset="0"/>
              </a:rPr>
              <a:t>iD</a:t>
            </a:r>
            <a:r>
              <a:rPr lang="en-US" sz="1800" b="1" dirty="0">
                <a:latin typeface="Courier New" pitchFamily="49" charset="0"/>
              </a:rPr>
              <a:t>[m] –</a:t>
            </a:r>
          </a:p>
          <a:p>
            <a:pPr eaLnBrk="1" hangingPunct="1"/>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[m]*</a:t>
            </a:r>
            <a:r>
              <a:rPr lang="en-US" sz="1800" b="1" dirty="0" err="1">
                <a:latin typeface="Courier New" pitchFamily="49" charset="0"/>
              </a:rPr>
              <a:t>rD</a:t>
            </a:r>
            <a:r>
              <a:rPr lang="en-US" sz="1800" b="1" dirty="0">
                <a:latin typeface="Courier New" pitchFamily="49" charset="0"/>
              </a:rPr>
              <a:t>[m];</a:t>
            </a:r>
          </a:p>
          <a:p>
            <a:pPr eaLnBrk="1" hangingPunct="1"/>
            <a:r>
              <a:rPr lang="en-US" sz="1800" b="1" dirty="0">
                <a:latin typeface="Courier New" pitchFamily="49" charset="0"/>
              </a:rPr>
              <a:t>}</a:t>
            </a:r>
          </a:p>
          <a:p>
            <a:pPr eaLnBrk="1" hangingPunct="1"/>
            <a:r>
              <a:rPr lang="en-US" sz="1800" b="1" dirty="0">
                <a:latin typeface="Courier New" pitchFamily="49" charset="0"/>
              </a:rPr>
              <a:t>for (m = 0; m &lt; M; m++) {</a:t>
            </a:r>
          </a:p>
          <a:p>
            <a:pPr eaLnBrk="1" hangingPunct="1"/>
            <a:r>
              <a:rPr lang="en-US" sz="1800" b="1" dirty="0">
                <a:latin typeface="Courier New" pitchFamily="49" charset="0"/>
              </a:rPr>
              <a:t>  for (n = 0; n &lt; N; n++) {</a:t>
            </a:r>
          </a:p>
          <a:p>
            <a:pPr eaLnBrk="1" hangingPunct="1"/>
            <a:r>
              <a:rPr lang="en-US" sz="1800" b="1" dirty="0">
                <a:latin typeface="Courier New" pitchFamily="49" charset="0"/>
              </a:rPr>
              <a:t>    </a:t>
            </a:r>
            <a:r>
              <a:rPr lang="en-US" sz="1800" b="1" dirty="0" err="1">
                <a:latin typeface="Courier New" pitchFamily="49" charset="0"/>
              </a:rPr>
              <a:t>expFhD</a:t>
            </a:r>
            <a:r>
              <a:rPr lang="en-US" sz="1800" b="1" dirty="0">
                <a:latin typeface="Courier New" pitchFamily="49" charset="0"/>
              </a:rPr>
              <a:t> = 2*PI*(</a:t>
            </a:r>
            <a:r>
              <a:rPr lang="en-US" sz="1800" b="1" dirty="0" err="1">
                <a:latin typeface="Courier New" pitchFamily="49" charset="0"/>
              </a:rPr>
              <a:t>kx</a:t>
            </a:r>
            <a:r>
              <a:rPr lang="en-US" sz="1800" b="1" dirty="0">
                <a:latin typeface="Courier New" pitchFamily="49" charset="0"/>
              </a:rPr>
              <a:t>[m]*x[n] +</a:t>
            </a:r>
          </a:p>
          <a:p>
            <a:pPr eaLnBrk="1" hangingPunct="1"/>
            <a:r>
              <a:rPr lang="en-US" sz="1800" b="1" dirty="0">
                <a:latin typeface="Courier New" pitchFamily="49" charset="0"/>
              </a:rPr>
              <a:t>                   </a:t>
            </a:r>
            <a:r>
              <a:rPr lang="en-US" sz="1800" b="1" dirty="0" err="1">
                <a:latin typeface="Courier New" pitchFamily="49" charset="0"/>
              </a:rPr>
              <a:t>ky</a:t>
            </a:r>
            <a:r>
              <a:rPr lang="en-US" sz="1800" b="1" dirty="0">
                <a:latin typeface="Courier New" pitchFamily="49" charset="0"/>
              </a:rPr>
              <a:t>[m]*y[n] +</a:t>
            </a:r>
          </a:p>
          <a:p>
            <a:pPr eaLnBrk="1" hangingPunct="1"/>
            <a:r>
              <a:rPr lang="en-US" sz="1800" b="1" dirty="0">
                <a:latin typeface="Courier New" pitchFamily="49" charset="0"/>
              </a:rPr>
              <a:t>                   </a:t>
            </a:r>
            <a:r>
              <a:rPr lang="en-US" sz="1800" b="1" dirty="0" err="1">
                <a:latin typeface="Courier New" pitchFamily="49" charset="0"/>
              </a:rPr>
              <a:t>kz</a:t>
            </a:r>
            <a:r>
              <a:rPr lang="en-US" sz="1800" b="1" dirty="0">
                <a:latin typeface="Courier New" pitchFamily="49" charset="0"/>
              </a:rPr>
              <a:t>[m]*z[n]);</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cos</a:t>
            </a:r>
            <a:r>
              <a:rPr lang="en-US" sz="1800" b="1" dirty="0">
                <a:latin typeface="Courier New" pitchFamily="49" charset="0"/>
              </a:rPr>
              <a:t>(</a:t>
            </a:r>
            <a:r>
              <a:rPr lang="en-US" sz="1800" b="1" dirty="0" err="1">
                <a:latin typeface="Courier New" pitchFamily="49" charset="0"/>
              </a:rPr>
              <a:t>expFhD</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sArg</a:t>
            </a:r>
            <a:r>
              <a:rPr lang="en-US" sz="1800" b="1" dirty="0">
                <a:latin typeface="Courier New" pitchFamily="49" charset="0"/>
              </a:rPr>
              <a:t> = sin(</a:t>
            </a:r>
            <a:r>
              <a:rPr lang="en-US" sz="1800" b="1" dirty="0" err="1">
                <a:latin typeface="Courier New" pitchFamily="49" charset="0"/>
              </a:rPr>
              <a:t>expFhD</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rFhD</a:t>
            </a:r>
            <a:r>
              <a:rPr lang="en-US" sz="1800" b="1" dirty="0">
                <a:latin typeface="Courier New" pitchFamily="49" charset="0"/>
              </a:rPr>
              <a:t>[n]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iFhD</a:t>
            </a:r>
            <a:r>
              <a:rPr lang="en-US" sz="1800" b="1" dirty="0">
                <a:latin typeface="Courier New" pitchFamily="49" charset="0"/>
              </a:rPr>
              <a:t>[n]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	(b) after loop fission</a:t>
            </a:r>
          </a:p>
        </p:txBody>
      </p:sp>
      <p:sp>
        <p:nvSpPr>
          <p:cNvPr id="3" name="Text Placeholder 2">
            <a:extLst>
              <a:ext uri="{FF2B5EF4-FFF2-40B4-BE49-F238E27FC236}">
                <a16:creationId xmlns:a16="http://schemas.microsoft.com/office/drawing/2014/main" id="{AF029267-E8B8-393F-C232-5C030EBD5A3D}"/>
              </a:ext>
            </a:extLst>
          </p:cNvPr>
          <p:cNvSpPr>
            <a:spLocks noGrp="1"/>
          </p:cNvSpPr>
          <p:nvPr>
            <p:ph type="body" idx="10"/>
          </p:nvPr>
        </p:nvSpPr>
        <p:spPr/>
        <p:txBody>
          <a:bodyPr/>
          <a:lstStyle/>
          <a:p>
            <a:r>
              <a:rPr lang="en-US" dirty="0"/>
              <a:t>Loop Fission</a:t>
            </a:r>
          </a:p>
        </p:txBody>
      </p:sp>
    </p:spTree>
    <p:extLst>
      <p:ext uri="{BB962C8B-B14F-4D97-AF65-F5344CB8AC3E}">
        <p14:creationId xmlns:p14="http://schemas.microsoft.com/office/powerpoint/2010/main" val="3120367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5"/>
          <p:cNvSpPr txBox="1">
            <a:spLocks noChangeArrowheads="1"/>
          </p:cNvSpPr>
          <p:nvPr/>
        </p:nvSpPr>
        <p:spPr bwMode="auto">
          <a:xfrm>
            <a:off x="304800" y="1791789"/>
            <a:ext cx="8839200" cy="20240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__global__ void </a:t>
            </a:r>
            <a:r>
              <a:rPr lang="en-US" sz="1800" b="1" dirty="0" err="1">
                <a:latin typeface="Courier New" pitchFamily="49" charset="0"/>
              </a:rPr>
              <a:t>cmpMu</a:t>
            </a:r>
            <a:r>
              <a:rPr lang="en-US" sz="1800" b="1" dirty="0">
                <a:latin typeface="Courier New" pitchFamily="49" charset="0"/>
              </a:rPr>
              <a:t>(float* </a:t>
            </a:r>
            <a:r>
              <a:rPr lang="en-US" sz="1800" b="1" dirty="0" err="1">
                <a:latin typeface="Courier New" pitchFamily="49" charset="0"/>
              </a:rPr>
              <a:t>rPhi</a:t>
            </a:r>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 </a:t>
            </a:r>
            <a:r>
              <a:rPr lang="en-US" sz="1800" b="1" dirty="0" err="1">
                <a:latin typeface="Courier New" pitchFamily="49" charset="0"/>
              </a:rPr>
              <a:t>rD</a:t>
            </a:r>
            <a:r>
              <a:rPr lang="en-US" sz="1800" b="1" dirty="0">
                <a:latin typeface="Courier New" pitchFamily="49" charset="0"/>
              </a:rPr>
              <a:t>, </a:t>
            </a:r>
            <a:r>
              <a:rPr lang="en-US" sz="1800" b="1" dirty="0" err="1">
                <a:latin typeface="Courier New" pitchFamily="49" charset="0"/>
              </a:rPr>
              <a:t>iD</a:t>
            </a:r>
            <a:r>
              <a:rPr lang="en-US" sz="1800" b="1" dirty="0">
                <a:latin typeface="Courier New" pitchFamily="49" charset="0"/>
              </a:rPr>
              <a:t>, </a:t>
            </a:r>
            <a:r>
              <a:rPr lang="en-US" sz="1800" b="1" dirty="0" err="1">
                <a:latin typeface="Courier New" pitchFamily="49" charset="0"/>
              </a:rPr>
              <a:t>rMu</a:t>
            </a:r>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m = </a:t>
            </a:r>
            <a:r>
              <a:rPr lang="en-US" sz="1800" b="1" dirty="0" err="1">
                <a:latin typeface="Courier New" pitchFamily="49" charset="0"/>
              </a:rPr>
              <a:t>blockIdx.x</a:t>
            </a:r>
            <a:r>
              <a:rPr lang="en-US" sz="1800" b="1" dirty="0">
                <a:latin typeface="Courier New" pitchFamily="49" charset="0"/>
              </a:rPr>
              <a:t> * MU_THREAEDS_PER_BLOCK + </a:t>
            </a:r>
            <a:r>
              <a:rPr lang="en-US" sz="1800" b="1" dirty="0" err="1">
                <a:latin typeface="Courier New" pitchFamily="49" charset="0"/>
              </a:rPr>
              <a:t>threadIdx.x</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rMu</a:t>
            </a:r>
            <a:r>
              <a:rPr lang="en-US" sz="1800" b="1" dirty="0">
                <a:latin typeface="Courier New" pitchFamily="49" charset="0"/>
              </a:rPr>
              <a:t>[m] = </a:t>
            </a:r>
            <a:r>
              <a:rPr lang="en-US" sz="1800" b="1" dirty="0" err="1">
                <a:latin typeface="Courier New" pitchFamily="49" charset="0"/>
              </a:rPr>
              <a:t>rPhi</a:t>
            </a:r>
            <a:r>
              <a:rPr lang="en-US" sz="1800" b="1" dirty="0">
                <a:latin typeface="Courier New" pitchFamily="49" charset="0"/>
              </a:rPr>
              <a:t>[m]*</a:t>
            </a:r>
            <a:r>
              <a:rPr lang="en-US" sz="1800" b="1" dirty="0" err="1">
                <a:latin typeface="Courier New" pitchFamily="49" charset="0"/>
              </a:rPr>
              <a:t>rD</a:t>
            </a:r>
            <a:r>
              <a:rPr lang="en-US" sz="1800" b="1" dirty="0">
                <a:latin typeface="Courier New" pitchFamily="49" charset="0"/>
              </a:rPr>
              <a:t>[m] + </a:t>
            </a:r>
            <a:r>
              <a:rPr lang="en-US" sz="1800" b="1" dirty="0" err="1">
                <a:latin typeface="Courier New" pitchFamily="49" charset="0"/>
              </a:rPr>
              <a:t>iPhi</a:t>
            </a:r>
            <a:r>
              <a:rPr lang="en-US" sz="1800" b="1" dirty="0">
                <a:latin typeface="Courier New" pitchFamily="49" charset="0"/>
              </a:rPr>
              <a:t>[m]*</a:t>
            </a:r>
            <a:r>
              <a:rPr lang="en-US" sz="1800" b="1" dirty="0" err="1">
                <a:latin typeface="Courier New" pitchFamily="49" charset="0"/>
              </a:rPr>
              <a:t>iD</a:t>
            </a:r>
            <a:r>
              <a:rPr lang="en-US" sz="1800" b="1" dirty="0">
                <a:latin typeface="Courier New" pitchFamily="49" charset="0"/>
              </a:rPr>
              <a:t>[m];</a:t>
            </a:r>
          </a:p>
          <a:p>
            <a:pPr eaLnBrk="1" hangingPunct="1"/>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[m] = </a:t>
            </a:r>
            <a:r>
              <a:rPr lang="en-US" sz="1800" b="1" dirty="0" err="1">
                <a:latin typeface="Courier New" pitchFamily="49" charset="0"/>
              </a:rPr>
              <a:t>rPhi</a:t>
            </a:r>
            <a:r>
              <a:rPr lang="en-US" sz="1800" b="1" dirty="0">
                <a:latin typeface="Courier New" pitchFamily="49" charset="0"/>
              </a:rPr>
              <a:t>[m]*</a:t>
            </a:r>
            <a:r>
              <a:rPr lang="en-US" sz="1800" b="1" dirty="0" err="1">
                <a:latin typeface="Courier New" pitchFamily="49" charset="0"/>
              </a:rPr>
              <a:t>iD</a:t>
            </a:r>
            <a:r>
              <a:rPr lang="en-US" sz="1800" b="1" dirty="0">
                <a:latin typeface="Courier New" pitchFamily="49" charset="0"/>
              </a:rPr>
              <a:t>[m] – </a:t>
            </a:r>
            <a:r>
              <a:rPr lang="en-US" sz="1800" b="1" dirty="0" err="1">
                <a:latin typeface="Courier New" pitchFamily="49" charset="0"/>
              </a:rPr>
              <a:t>iPhi</a:t>
            </a:r>
            <a:r>
              <a:rPr lang="en-US" sz="1800" b="1" dirty="0">
                <a:latin typeface="Courier New" pitchFamily="49" charset="0"/>
              </a:rPr>
              <a:t>[m]*</a:t>
            </a:r>
            <a:r>
              <a:rPr lang="en-US" sz="1800" b="1" dirty="0" err="1">
                <a:latin typeface="Courier New" pitchFamily="49" charset="0"/>
              </a:rPr>
              <a:t>rD</a:t>
            </a:r>
            <a:r>
              <a:rPr lang="en-US" sz="1800" b="1" dirty="0">
                <a:latin typeface="Courier New" pitchFamily="49" charset="0"/>
              </a:rPr>
              <a:t>[m];</a:t>
            </a:r>
          </a:p>
          <a:p>
            <a:pPr eaLnBrk="1" hangingPunct="1"/>
            <a:r>
              <a:rPr lang="en-US" sz="1800" b="1" dirty="0">
                <a:latin typeface="Courier New" pitchFamily="49" charset="0"/>
              </a:rPr>
              <a:t>}</a:t>
            </a:r>
          </a:p>
        </p:txBody>
      </p:sp>
      <p:sp>
        <p:nvSpPr>
          <p:cNvPr id="3" name="Text Placeholder 2">
            <a:extLst>
              <a:ext uri="{FF2B5EF4-FFF2-40B4-BE49-F238E27FC236}">
                <a16:creationId xmlns:a16="http://schemas.microsoft.com/office/drawing/2014/main" id="{E7BB6DCE-2B82-C794-A1DB-82D5E8D25ACC}"/>
              </a:ext>
            </a:extLst>
          </p:cNvPr>
          <p:cNvSpPr>
            <a:spLocks noGrp="1"/>
          </p:cNvSpPr>
          <p:nvPr>
            <p:ph type="body" idx="10"/>
          </p:nvPr>
        </p:nvSpPr>
        <p:spPr/>
        <p:txBody>
          <a:bodyPr/>
          <a:lstStyle/>
          <a:p>
            <a:r>
              <a:rPr lang="en-US" dirty="0" err="1"/>
              <a:t>cmpMu</a:t>
            </a:r>
            <a:r>
              <a:rPr lang="en-US" dirty="0"/>
              <a:t> kernel</a:t>
            </a:r>
          </a:p>
        </p:txBody>
      </p:sp>
    </p:spTree>
    <p:extLst>
      <p:ext uri="{BB962C8B-B14F-4D97-AF65-F5344CB8AC3E}">
        <p14:creationId xmlns:p14="http://schemas.microsoft.com/office/powerpoint/2010/main" val="1493372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533400" y="2027237"/>
            <a:ext cx="8610600" cy="4221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__global__ void </a:t>
            </a:r>
            <a:r>
              <a:rPr lang="en-US" sz="1800" b="1" dirty="0" err="1">
                <a:latin typeface="Courier New" pitchFamily="49" charset="0"/>
              </a:rPr>
              <a:t>cmpFhD</a:t>
            </a:r>
            <a:r>
              <a:rPr lang="en-US" sz="1800" b="1" dirty="0">
                <a:latin typeface="Courier New" pitchFamily="49" charset="0"/>
              </a:rPr>
              <a:t>(float* </a:t>
            </a:r>
            <a:r>
              <a:rPr lang="en-US" sz="1800" b="1" dirty="0" err="1">
                <a:latin typeface="Courier New" pitchFamily="49" charset="0"/>
              </a:rPr>
              <a:t>rPhi</a:t>
            </a:r>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 </a:t>
            </a:r>
            <a:r>
              <a:rPr lang="en-US" sz="1800" b="1" dirty="0" err="1">
                <a:latin typeface="Courier New" pitchFamily="49" charset="0"/>
              </a:rPr>
              <a:t>phiMag</a:t>
            </a:r>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kx</a:t>
            </a:r>
            <a:r>
              <a:rPr lang="en-US" sz="1800" b="1" dirty="0">
                <a:latin typeface="Courier New" pitchFamily="49" charset="0"/>
              </a:rPr>
              <a:t>, </a:t>
            </a:r>
            <a:r>
              <a:rPr lang="en-US" sz="1800" b="1" dirty="0" err="1">
                <a:latin typeface="Courier New" pitchFamily="49" charset="0"/>
              </a:rPr>
              <a:t>ky</a:t>
            </a:r>
            <a:r>
              <a:rPr lang="en-US" sz="1800" b="1" dirty="0">
                <a:latin typeface="Courier New" pitchFamily="49" charset="0"/>
              </a:rPr>
              <a:t>, </a:t>
            </a:r>
            <a:r>
              <a:rPr lang="en-US" sz="1800" b="1" dirty="0" err="1">
                <a:latin typeface="Courier New" pitchFamily="49" charset="0"/>
              </a:rPr>
              <a:t>kz</a:t>
            </a:r>
            <a:r>
              <a:rPr lang="en-US" sz="1800" b="1" dirty="0">
                <a:latin typeface="Courier New" pitchFamily="49" charset="0"/>
              </a:rPr>
              <a:t>, x, y, z, </a:t>
            </a:r>
            <a:r>
              <a:rPr lang="en-US" sz="1800" b="1" dirty="0" err="1">
                <a:latin typeface="Courier New" pitchFamily="49" charset="0"/>
              </a:rPr>
              <a:t>rMu</a:t>
            </a:r>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N) {</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m = </a:t>
            </a:r>
            <a:r>
              <a:rPr lang="en-US" sz="1800" b="1" dirty="0" err="1">
                <a:latin typeface="Courier New" pitchFamily="49" charset="0"/>
              </a:rPr>
              <a:t>blockIdx.x</a:t>
            </a:r>
            <a:r>
              <a:rPr lang="en-US" sz="1800" b="1" dirty="0">
                <a:latin typeface="Courier New" pitchFamily="49" charset="0"/>
              </a:rPr>
              <a:t> * FHD_THREADS_PER_BLOCK + </a:t>
            </a:r>
            <a:r>
              <a:rPr lang="en-US" sz="1800" b="1" dirty="0" err="1">
                <a:latin typeface="Courier New" pitchFamily="49" charset="0"/>
              </a:rPr>
              <a:t>threadIdx.x</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for (n = 0; n &lt; N; n++) {</a:t>
            </a:r>
          </a:p>
          <a:p>
            <a:pPr eaLnBrk="1" hangingPunct="1"/>
            <a:r>
              <a:rPr lang="en-US" sz="1800" b="1" dirty="0">
                <a:latin typeface="Courier New" pitchFamily="49" charset="0"/>
              </a:rPr>
              <a:t>    float </a:t>
            </a:r>
            <a:r>
              <a:rPr lang="en-US" sz="1800" b="1" dirty="0" err="1">
                <a:latin typeface="Courier New" pitchFamily="49" charset="0"/>
              </a:rPr>
              <a:t>expFhD</a:t>
            </a:r>
            <a:r>
              <a:rPr lang="en-US" sz="1800" b="1" dirty="0">
                <a:latin typeface="Courier New" pitchFamily="49" charset="0"/>
              </a:rPr>
              <a:t> = 2*PI*(</a:t>
            </a:r>
            <a:r>
              <a:rPr lang="en-US" sz="1800" b="1" dirty="0" err="1">
                <a:latin typeface="Courier New" pitchFamily="49" charset="0"/>
              </a:rPr>
              <a:t>kx</a:t>
            </a:r>
            <a:r>
              <a:rPr lang="en-US" sz="1800" b="1" dirty="0">
                <a:latin typeface="Courier New" pitchFamily="49" charset="0"/>
              </a:rPr>
              <a:t>[m]*x[n]+</a:t>
            </a:r>
            <a:r>
              <a:rPr lang="en-US" sz="1800" b="1" dirty="0" err="1">
                <a:latin typeface="Courier New" pitchFamily="49" charset="0"/>
              </a:rPr>
              <a:t>ky</a:t>
            </a:r>
            <a:r>
              <a:rPr lang="en-US" sz="1800" b="1" dirty="0">
                <a:latin typeface="Courier New" pitchFamily="49" charset="0"/>
              </a:rPr>
              <a:t>[m]*y[n]+</a:t>
            </a:r>
            <a:r>
              <a:rPr lang="en-US" sz="1800" b="1" dirty="0" err="1">
                <a:latin typeface="Courier New" pitchFamily="49" charset="0"/>
              </a:rPr>
              <a:t>kz</a:t>
            </a:r>
            <a:r>
              <a:rPr lang="en-US" sz="1800" b="1" dirty="0">
                <a:latin typeface="Courier New" pitchFamily="49" charset="0"/>
              </a:rPr>
              <a:t>[m]*z[n]);</a:t>
            </a:r>
          </a:p>
          <a:p>
            <a:pPr eaLnBrk="1" hangingPunct="1"/>
            <a:endParaRPr lang="en-US" sz="1800" b="1" dirty="0">
              <a:latin typeface="Courier New" pitchFamily="49" charset="0"/>
            </a:endParaRPr>
          </a:p>
          <a:p>
            <a:pPr eaLnBrk="1" hangingPunct="1"/>
            <a:r>
              <a:rPr lang="en-US" sz="1800" b="1" dirty="0">
                <a:latin typeface="Courier New" pitchFamily="49" charset="0"/>
              </a:rPr>
              <a:t>    float </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cos</a:t>
            </a:r>
            <a:r>
              <a:rPr lang="en-US" sz="1800" b="1" dirty="0">
                <a:latin typeface="Courier New" pitchFamily="49" charset="0"/>
              </a:rPr>
              <a:t>(</a:t>
            </a:r>
            <a:r>
              <a:rPr lang="en-US" sz="1800" b="1" dirty="0" err="1">
                <a:latin typeface="Courier New" pitchFamily="49" charset="0"/>
              </a:rPr>
              <a:t>expFhD</a:t>
            </a:r>
            <a:r>
              <a:rPr lang="en-US" sz="1800" b="1" dirty="0">
                <a:latin typeface="Courier New" pitchFamily="49" charset="0"/>
              </a:rPr>
              <a:t>);  </a:t>
            </a:r>
          </a:p>
          <a:p>
            <a:pPr eaLnBrk="1" hangingPunct="1"/>
            <a:r>
              <a:rPr lang="en-US" sz="1800" b="1" dirty="0">
                <a:latin typeface="Courier New" pitchFamily="49" charset="0"/>
              </a:rPr>
              <a:t>    float </a:t>
            </a:r>
            <a:r>
              <a:rPr lang="en-US" sz="1800" b="1" dirty="0" err="1">
                <a:latin typeface="Courier New" pitchFamily="49" charset="0"/>
              </a:rPr>
              <a:t>sArg</a:t>
            </a:r>
            <a:r>
              <a:rPr lang="en-US" sz="1800" b="1" dirty="0">
                <a:latin typeface="Courier New" pitchFamily="49" charset="0"/>
              </a:rPr>
              <a:t> = sin(</a:t>
            </a:r>
            <a:r>
              <a:rPr lang="en-US" sz="1800" b="1" dirty="0" err="1">
                <a:latin typeface="Courier New" pitchFamily="49" charset="0"/>
              </a:rPr>
              <a:t>expFhD</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rFhD</a:t>
            </a:r>
            <a:r>
              <a:rPr lang="en-US" sz="1800" b="1" dirty="0">
                <a:latin typeface="Courier New" pitchFamily="49" charset="0"/>
              </a:rPr>
              <a:t>[n]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iFhD</a:t>
            </a:r>
            <a:r>
              <a:rPr lang="en-US" sz="1800" b="1" dirty="0">
                <a:latin typeface="Courier New" pitchFamily="49" charset="0"/>
              </a:rPr>
              <a:t>[n]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a:t>
            </a:r>
          </a:p>
        </p:txBody>
      </p:sp>
      <p:sp>
        <p:nvSpPr>
          <p:cNvPr id="9219" name="Text Box 3"/>
          <p:cNvSpPr txBox="1">
            <a:spLocks noChangeArrowheads="1"/>
          </p:cNvSpPr>
          <p:nvPr/>
        </p:nvSpPr>
        <p:spPr bwMode="auto">
          <a:xfrm>
            <a:off x="8610600" y="62484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200">
                <a:latin typeface="Arial Narrow" pitchFamily="34" charset="0"/>
              </a:rPr>
              <a:t>6</a:t>
            </a:r>
          </a:p>
        </p:txBody>
      </p:sp>
      <p:sp>
        <p:nvSpPr>
          <p:cNvPr id="3" name="Text Placeholder 2">
            <a:extLst>
              <a:ext uri="{FF2B5EF4-FFF2-40B4-BE49-F238E27FC236}">
                <a16:creationId xmlns:a16="http://schemas.microsoft.com/office/drawing/2014/main" id="{7B41768A-7ED3-E86B-D744-65BE9FE077E6}"/>
              </a:ext>
            </a:extLst>
          </p:cNvPr>
          <p:cNvSpPr>
            <a:spLocks noGrp="1"/>
          </p:cNvSpPr>
          <p:nvPr>
            <p:ph type="body" idx="10"/>
          </p:nvPr>
        </p:nvSpPr>
        <p:spPr/>
        <p:txBody>
          <a:bodyPr/>
          <a:lstStyle/>
          <a:p>
            <a:r>
              <a:rPr lang="en-US" dirty="0"/>
              <a:t>Second option of the F</a:t>
            </a:r>
            <a:r>
              <a:rPr lang="en-US" baseline="30000" dirty="0"/>
              <a:t>H</a:t>
            </a:r>
            <a:r>
              <a:rPr lang="en-US" dirty="0"/>
              <a:t>D kernel </a:t>
            </a:r>
          </a:p>
        </p:txBody>
      </p:sp>
    </p:spTree>
    <p:extLst>
      <p:ext uri="{BB962C8B-B14F-4D97-AF65-F5344CB8AC3E}">
        <p14:creationId xmlns:p14="http://schemas.microsoft.com/office/powerpoint/2010/main" val="3338539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4"/>
          <p:cNvSpPr txBox="1">
            <a:spLocks noChangeArrowheads="1"/>
          </p:cNvSpPr>
          <p:nvPr/>
        </p:nvSpPr>
        <p:spPr bwMode="auto">
          <a:xfrm>
            <a:off x="0" y="1828800"/>
            <a:ext cx="4572000" cy="4221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for (m = 0; m &lt; M; m++) {</a:t>
            </a:r>
          </a:p>
          <a:p>
            <a:pPr eaLnBrk="1" hangingPunct="1"/>
            <a:r>
              <a:rPr lang="en-US" sz="1800" b="1" dirty="0">
                <a:latin typeface="Courier New" pitchFamily="49" charset="0"/>
              </a:rPr>
              <a:t>  for (n = 0; n &lt; N; n++) {</a:t>
            </a:r>
          </a:p>
          <a:p>
            <a:pPr eaLnBrk="1" hangingPunct="1"/>
            <a:r>
              <a:rPr lang="en-US" sz="1800" b="1" dirty="0">
                <a:latin typeface="Courier New" pitchFamily="49" charset="0"/>
              </a:rPr>
              <a:t>    </a:t>
            </a:r>
            <a:r>
              <a:rPr lang="en-US" sz="1800" b="1" dirty="0" err="1">
                <a:latin typeface="Courier New" pitchFamily="49" charset="0"/>
              </a:rPr>
              <a:t>expFhD</a:t>
            </a:r>
            <a:r>
              <a:rPr lang="en-US" sz="1800" b="1" dirty="0">
                <a:latin typeface="Courier New" pitchFamily="49" charset="0"/>
              </a:rPr>
              <a:t> = 2*PI*(</a:t>
            </a:r>
            <a:r>
              <a:rPr lang="en-US" sz="1800" b="1" dirty="0" err="1">
                <a:latin typeface="Courier New" pitchFamily="49" charset="0"/>
              </a:rPr>
              <a:t>kx</a:t>
            </a:r>
            <a:r>
              <a:rPr lang="en-US" sz="1800" b="1" dirty="0">
                <a:latin typeface="Courier New" pitchFamily="49" charset="0"/>
              </a:rPr>
              <a:t>[m]*x[n] +</a:t>
            </a:r>
          </a:p>
          <a:p>
            <a:pPr eaLnBrk="1" hangingPunct="1"/>
            <a:r>
              <a:rPr lang="en-US" sz="1800" b="1" dirty="0">
                <a:latin typeface="Courier New" pitchFamily="49" charset="0"/>
              </a:rPr>
              <a:t>                   </a:t>
            </a:r>
            <a:r>
              <a:rPr lang="en-US" sz="1800" b="1" dirty="0" err="1">
                <a:latin typeface="Courier New" pitchFamily="49" charset="0"/>
              </a:rPr>
              <a:t>ky</a:t>
            </a:r>
            <a:r>
              <a:rPr lang="en-US" sz="1800" b="1" dirty="0">
                <a:latin typeface="Courier New" pitchFamily="49" charset="0"/>
              </a:rPr>
              <a:t>[m]*y[n] +</a:t>
            </a:r>
          </a:p>
          <a:p>
            <a:pPr eaLnBrk="1" hangingPunct="1"/>
            <a:r>
              <a:rPr lang="en-US" sz="1800" b="1" dirty="0">
                <a:latin typeface="Courier New" pitchFamily="49" charset="0"/>
              </a:rPr>
              <a:t>                   </a:t>
            </a:r>
            <a:r>
              <a:rPr lang="en-US" sz="1800" b="1" dirty="0" err="1">
                <a:latin typeface="Courier New" pitchFamily="49" charset="0"/>
              </a:rPr>
              <a:t>kz</a:t>
            </a:r>
            <a:r>
              <a:rPr lang="en-US" sz="1800" b="1" dirty="0">
                <a:latin typeface="Courier New" pitchFamily="49" charset="0"/>
              </a:rPr>
              <a:t>[m]*z[n]);</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cos</a:t>
            </a:r>
            <a:r>
              <a:rPr lang="en-US" sz="1800" b="1" dirty="0">
                <a:latin typeface="Courier New" pitchFamily="49" charset="0"/>
              </a:rPr>
              <a:t>(</a:t>
            </a:r>
            <a:r>
              <a:rPr lang="en-US" sz="1800" b="1" dirty="0" err="1">
                <a:latin typeface="Courier New" pitchFamily="49" charset="0"/>
              </a:rPr>
              <a:t>expFhD</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sArg</a:t>
            </a:r>
            <a:r>
              <a:rPr lang="en-US" sz="1800" b="1" dirty="0">
                <a:latin typeface="Courier New" pitchFamily="49" charset="0"/>
              </a:rPr>
              <a:t> = sin(</a:t>
            </a:r>
            <a:r>
              <a:rPr lang="en-US" sz="1800" b="1" dirty="0" err="1">
                <a:latin typeface="Courier New" pitchFamily="49" charset="0"/>
              </a:rPr>
              <a:t>expFhD</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rFhD</a:t>
            </a:r>
            <a:r>
              <a:rPr lang="en-US" sz="1800" b="1" dirty="0">
                <a:latin typeface="Courier New" pitchFamily="49" charset="0"/>
              </a:rPr>
              <a:t>[n]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iFhD</a:t>
            </a:r>
            <a:r>
              <a:rPr lang="en-US" sz="1800" b="1" dirty="0">
                <a:latin typeface="Courier New" pitchFamily="49" charset="0"/>
              </a:rPr>
              <a:t>[n]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  (a) before loop interchange</a:t>
            </a:r>
          </a:p>
        </p:txBody>
      </p:sp>
      <p:sp>
        <p:nvSpPr>
          <p:cNvPr id="10243" name="Text Box 5"/>
          <p:cNvSpPr txBox="1">
            <a:spLocks noChangeArrowheads="1"/>
          </p:cNvSpPr>
          <p:nvPr/>
        </p:nvSpPr>
        <p:spPr bwMode="auto">
          <a:xfrm>
            <a:off x="4572000" y="1828800"/>
            <a:ext cx="4495800" cy="4221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for (n = 0; n &lt; N; n++) {</a:t>
            </a:r>
          </a:p>
          <a:p>
            <a:pPr eaLnBrk="1" hangingPunct="1"/>
            <a:r>
              <a:rPr lang="en-US" sz="1800" b="1" dirty="0">
                <a:latin typeface="Courier New" pitchFamily="49" charset="0"/>
              </a:rPr>
              <a:t>  for (m = 0; m &lt; M; m++) {</a:t>
            </a:r>
          </a:p>
          <a:p>
            <a:pPr eaLnBrk="1" hangingPunct="1"/>
            <a:r>
              <a:rPr lang="en-US" sz="1800" b="1" dirty="0">
                <a:latin typeface="Courier New" pitchFamily="49" charset="0"/>
              </a:rPr>
              <a:t>    </a:t>
            </a:r>
            <a:r>
              <a:rPr lang="en-US" sz="1800" b="1" dirty="0" err="1">
                <a:latin typeface="Courier New" pitchFamily="49" charset="0"/>
              </a:rPr>
              <a:t>expFhD</a:t>
            </a:r>
            <a:r>
              <a:rPr lang="en-US" sz="1800" b="1" dirty="0">
                <a:latin typeface="Courier New" pitchFamily="49" charset="0"/>
              </a:rPr>
              <a:t> = 2*PI*(</a:t>
            </a:r>
            <a:r>
              <a:rPr lang="en-US" sz="1800" b="1" dirty="0" err="1">
                <a:latin typeface="Courier New" pitchFamily="49" charset="0"/>
              </a:rPr>
              <a:t>kx</a:t>
            </a:r>
            <a:r>
              <a:rPr lang="en-US" sz="1800" b="1" dirty="0">
                <a:latin typeface="Courier New" pitchFamily="49" charset="0"/>
              </a:rPr>
              <a:t>[m]*x[n] +</a:t>
            </a:r>
          </a:p>
          <a:p>
            <a:pPr eaLnBrk="1" hangingPunct="1"/>
            <a:r>
              <a:rPr lang="en-US" sz="1800" b="1" dirty="0">
                <a:latin typeface="Courier New" pitchFamily="49" charset="0"/>
              </a:rPr>
              <a:t>                   </a:t>
            </a:r>
            <a:r>
              <a:rPr lang="en-US" sz="1800" b="1" dirty="0" err="1">
                <a:latin typeface="Courier New" pitchFamily="49" charset="0"/>
              </a:rPr>
              <a:t>ky</a:t>
            </a:r>
            <a:r>
              <a:rPr lang="en-US" sz="1800" b="1" dirty="0">
                <a:latin typeface="Courier New" pitchFamily="49" charset="0"/>
              </a:rPr>
              <a:t>[m]*y[n] +</a:t>
            </a:r>
          </a:p>
          <a:p>
            <a:pPr eaLnBrk="1" hangingPunct="1"/>
            <a:r>
              <a:rPr lang="en-US" sz="1800" b="1" dirty="0">
                <a:latin typeface="Courier New" pitchFamily="49" charset="0"/>
              </a:rPr>
              <a:t>                   </a:t>
            </a:r>
            <a:r>
              <a:rPr lang="en-US" sz="1800" b="1" dirty="0" err="1">
                <a:latin typeface="Courier New" pitchFamily="49" charset="0"/>
              </a:rPr>
              <a:t>kz</a:t>
            </a:r>
            <a:r>
              <a:rPr lang="en-US" sz="1800" b="1" dirty="0">
                <a:latin typeface="Courier New" pitchFamily="49" charset="0"/>
              </a:rPr>
              <a:t>[m]*z[n]);</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cos</a:t>
            </a:r>
            <a:r>
              <a:rPr lang="en-US" sz="1800" b="1" dirty="0">
                <a:latin typeface="Courier New" pitchFamily="49" charset="0"/>
              </a:rPr>
              <a:t>(</a:t>
            </a:r>
            <a:r>
              <a:rPr lang="en-US" sz="1800" b="1" dirty="0" err="1">
                <a:latin typeface="Courier New" pitchFamily="49" charset="0"/>
              </a:rPr>
              <a:t>expFhD</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sArg</a:t>
            </a:r>
            <a:r>
              <a:rPr lang="en-US" sz="1800" b="1" dirty="0">
                <a:latin typeface="Courier New" pitchFamily="49" charset="0"/>
              </a:rPr>
              <a:t> = sin(</a:t>
            </a:r>
            <a:r>
              <a:rPr lang="en-US" sz="1800" b="1" dirty="0" err="1">
                <a:latin typeface="Courier New" pitchFamily="49" charset="0"/>
              </a:rPr>
              <a:t>expFhD</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rFhD</a:t>
            </a:r>
            <a:r>
              <a:rPr lang="en-US" sz="1800" b="1" dirty="0">
                <a:latin typeface="Courier New" pitchFamily="49" charset="0"/>
              </a:rPr>
              <a:t>[n]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iFhD</a:t>
            </a:r>
            <a:r>
              <a:rPr lang="en-US" sz="1800" b="1" dirty="0">
                <a:latin typeface="Courier New" pitchFamily="49" charset="0"/>
              </a:rPr>
              <a:t>[n]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  (b) after loop interchange</a:t>
            </a:r>
          </a:p>
        </p:txBody>
      </p:sp>
      <p:sp>
        <p:nvSpPr>
          <p:cNvPr id="3" name="Text Placeholder 2">
            <a:extLst>
              <a:ext uri="{FF2B5EF4-FFF2-40B4-BE49-F238E27FC236}">
                <a16:creationId xmlns:a16="http://schemas.microsoft.com/office/drawing/2014/main" id="{05264EF6-41B3-7828-7066-72C6E373C65B}"/>
              </a:ext>
            </a:extLst>
          </p:cNvPr>
          <p:cNvSpPr>
            <a:spLocks noGrp="1"/>
          </p:cNvSpPr>
          <p:nvPr>
            <p:ph type="body" idx="10"/>
          </p:nvPr>
        </p:nvSpPr>
        <p:spPr/>
        <p:txBody>
          <a:bodyPr/>
          <a:lstStyle/>
          <a:p>
            <a:r>
              <a:rPr lang="en-US" dirty="0"/>
              <a:t>Loop interchange of the F</a:t>
            </a:r>
            <a:r>
              <a:rPr lang="en-US" baseline="30000" dirty="0"/>
              <a:t>H</a:t>
            </a:r>
            <a:r>
              <a:rPr lang="en-US" dirty="0"/>
              <a:t>D computation</a:t>
            </a:r>
          </a:p>
        </p:txBody>
      </p:sp>
    </p:spTree>
    <p:extLst>
      <p:ext uri="{BB962C8B-B14F-4D97-AF65-F5344CB8AC3E}">
        <p14:creationId xmlns:p14="http://schemas.microsoft.com/office/powerpoint/2010/main" val="2609470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381000" y="1828800"/>
            <a:ext cx="8610600" cy="4221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__global__ void </a:t>
            </a:r>
            <a:r>
              <a:rPr lang="en-US" sz="1800" b="1" dirty="0" err="1">
                <a:latin typeface="Courier New" pitchFamily="49" charset="0"/>
              </a:rPr>
              <a:t>cmpFhD</a:t>
            </a:r>
            <a:r>
              <a:rPr lang="en-US" sz="1800" b="1" dirty="0">
                <a:latin typeface="Courier New" pitchFamily="49" charset="0"/>
              </a:rPr>
              <a:t>(float* </a:t>
            </a:r>
            <a:r>
              <a:rPr lang="en-US" sz="1800" b="1" dirty="0" err="1">
                <a:latin typeface="Courier New" pitchFamily="49" charset="0"/>
              </a:rPr>
              <a:t>rPhi</a:t>
            </a:r>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 </a:t>
            </a:r>
            <a:r>
              <a:rPr lang="en-US" sz="1800" b="1" dirty="0" err="1">
                <a:latin typeface="Courier New" pitchFamily="49" charset="0"/>
              </a:rPr>
              <a:t>phiMag</a:t>
            </a:r>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kx</a:t>
            </a:r>
            <a:r>
              <a:rPr lang="en-US" sz="1800" b="1" dirty="0">
                <a:latin typeface="Courier New" pitchFamily="49" charset="0"/>
              </a:rPr>
              <a:t>, </a:t>
            </a:r>
            <a:r>
              <a:rPr lang="en-US" sz="1800" b="1" dirty="0" err="1">
                <a:latin typeface="Courier New" pitchFamily="49" charset="0"/>
              </a:rPr>
              <a:t>ky</a:t>
            </a:r>
            <a:r>
              <a:rPr lang="en-US" sz="1800" b="1" dirty="0">
                <a:latin typeface="Courier New" pitchFamily="49" charset="0"/>
              </a:rPr>
              <a:t>, </a:t>
            </a:r>
            <a:r>
              <a:rPr lang="en-US" sz="1800" b="1" dirty="0" err="1">
                <a:latin typeface="Courier New" pitchFamily="49" charset="0"/>
              </a:rPr>
              <a:t>kz</a:t>
            </a:r>
            <a:r>
              <a:rPr lang="en-US" sz="1800" b="1" dirty="0">
                <a:latin typeface="Courier New" pitchFamily="49" charset="0"/>
              </a:rPr>
              <a:t>, x, y, z, </a:t>
            </a:r>
            <a:r>
              <a:rPr lang="en-US" sz="1800" b="1" dirty="0" err="1">
                <a:latin typeface="Courier New" pitchFamily="49" charset="0"/>
              </a:rPr>
              <a:t>rMu</a:t>
            </a:r>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M) {</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n = </a:t>
            </a:r>
            <a:r>
              <a:rPr lang="en-US" sz="1800" b="1" dirty="0" err="1">
                <a:latin typeface="Courier New" pitchFamily="49" charset="0"/>
              </a:rPr>
              <a:t>blockIdx.x</a:t>
            </a:r>
            <a:r>
              <a:rPr lang="en-US" sz="1800" b="1" dirty="0">
                <a:latin typeface="Courier New" pitchFamily="49" charset="0"/>
              </a:rPr>
              <a:t> * FHD_THREADS_PER_BLOCK + </a:t>
            </a:r>
            <a:r>
              <a:rPr lang="en-US" sz="1800" b="1" dirty="0" err="1">
                <a:latin typeface="Courier New" pitchFamily="49" charset="0"/>
              </a:rPr>
              <a:t>threadIdx.x</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for (m = 0; m &lt; M; m++) {</a:t>
            </a:r>
          </a:p>
          <a:p>
            <a:pPr eaLnBrk="1" hangingPunct="1"/>
            <a:r>
              <a:rPr lang="en-US" sz="1800" b="1" dirty="0">
                <a:latin typeface="Courier New" pitchFamily="49" charset="0"/>
              </a:rPr>
              <a:t>    float </a:t>
            </a:r>
            <a:r>
              <a:rPr lang="en-US" sz="1800" b="1" dirty="0" err="1">
                <a:latin typeface="Courier New" pitchFamily="49" charset="0"/>
              </a:rPr>
              <a:t>expFhD</a:t>
            </a:r>
            <a:r>
              <a:rPr lang="en-US" sz="1800" b="1" dirty="0">
                <a:latin typeface="Courier New" pitchFamily="49" charset="0"/>
              </a:rPr>
              <a:t> = 2*PI*(</a:t>
            </a:r>
            <a:r>
              <a:rPr lang="en-US" sz="1800" b="1" dirty="0" err="1">
                <a:latin typeface="Courier New" pitchFamily="49" charset="0"/>
              </a:rPr>
              <a:t>kx</a:t>
            </a:r>
            <a:r>
              <a:rPr lang="en-US" sz="1800" b="1" dirty="0">
                <a:latin typeface="Courier New" pitchFamily="49" charset="0"/>
              </a:rPr>
              <a:t>[m]*x[n]+</a:t>
            </a:r>
            <a:r>
              <a:rPr lang="en-US" sz="1800" b="1" dirty="0" err="1">
                <a:latin typeface="Courier New" pitchFamily="49" charset="0"/>
              </a:rPr>
              <a:t>ky</a:t>
            </a:r>
            <a:r>
              <a:rPr lang="en-US" sz="1800" b="1" dirty="0">
                <a:latin typeface="Courier New" pitchFamily="49" charset="0"/>
              </a:rPr>
              <a:t>[m]*y[n]+</a:t>
            </a:r>
            <a:r>
              <a:rPr lang="en-US" sz="1800" b="1" dirty="0" err="1">
                <a:latin typeface="Courier New" pitchFamily="49" charset="0"/>
              </a:rPr>
              <a:t>kz</a:t>
            </a:r>
            <a:r>
              <a:rPr lang="en-US" sz="1800" b="1" dirty="0">
                <a:latin typeface="Courier New" pitchFamily="49" charset="0"/>
              </a:rPr>
              <a:t>[m]*z[n]);</a:t>
            </a:r>
          </a:p>
          <a:p>
            <a:pPr eaLnBrk="1" hangingPunct="1"/>
            <a:endParaRPr lang="en-US" sz="1800" b="1" dirty="0">
              <a:latin typeface="Courier New" pitchFamily="49" charset="0"/>
            </a:endParaRPr>
          </a:p>
          <a:p>
            <a:pPr eaLnBrk="1" hangingPunct="1"/>
            <a:r>
              <a:rPr lang="en-US" sz="1800" b="1" dirty="0">
                <a:latin typeface="Courier New" pitchFamily="49" charset="0"/>
              </a:rPr>
              <a:t>    float </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cos</a:t>
            </a:r>
            <a:r>
              <a:rPr lang="en-US" sz="1800" b="1" dirty="0">
                <a:latin typeface="Courier New" pitchFamily="49" charset="0"/>
              </a:rPr>
              <a:t>(</a:t>
            </a:r>
            <a:r>
              <a:rPr lang="en-US" sz="1800" b="1" dirty="0" err="1">
                <a:latin typeface="Courier New" pitchFamily="49" charset="0"/>
              </a:rPr>
              <a:t>expFhD</a:t>
            </a:r>
            <a:r>
              <a:rPr lang="en-US" sz="1800" b="1" dirty="0">
                <a:latin typeface="Courier New" pitchFamily="49" charset="0"/>
              </a:rPr>
              <a:t>);  </a:t>
            </a:r>
          </a:p>
          <a:p>
            <a:pPr eaLnBrk="1" hangingPunct="1"/>
            <a:r>
              <a:rPr lang="en-US" sz="1800" b="1" dirty="0">
                <a:latin typeface="Courier New" pitchFamily="49" charset="0"/>
              </a:rPr>
              <a:t>    float </a:t>
            </a:r>
            <a:r>
              <a:rPr lang="en-US" sz="1800" b="1" dirty="0" err="1">
                <a:latin typeface="Courier New" pitchFamily="49" charset="0"/>
              </a:rPr>
              <a:t>sArg</a:t>
            </a:r>
            <a:r>
              <a:rPr lang="en-US" sz="1800" b="1" dirty="0">
                <a:latin typeface="Courier New" pitchFamily="49" charset="0"/>
              </a:rPr>
              <a:t> = sin(</a:t>
            </a:r>
            <a:r>
              <a:rPr lang="en-US" sz="1800" b="1" dirty="0" err="1">
                <a:latin typeface="Courier New" pitchFamily="49" charset="0"/>
              </a:rPr>
              <a:t>expFhD</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rFhD</a:t>
            </a:r>
            <a:r>
              <a:rPr lang="en-US" sz="1800" b="1" dirty="0">
                <a:latin typeface="Courier New" pitchFamily="49" charset="0"/>
              </a:rPr>
              <a:t>[n]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iFhD</a:t>
            </a:r>
            <a:r>
              <a:rPr lang="en-US" sz="1800" b="1" dirty="0">
                <a:latin typeface="Courier New" pitchFamily="49" charset="0"/>
              </a:rPr>
              <a:t>[n]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a:t>
            </a:r>
          </a:p>
        </p:txBody>
      </p:sp>
      <p:sp>
        <p:nvSpPr>
          <p:cNvPr id="11267" name="Text Box 3"/>
          <p:cNvSpPr txBox="1">
            <a:spLocks noChangeArrowheads="1"/>
          </p:cNvSpPr>
          <p:nvPr/>
        </p:nvSpPr>
        <p:spPr bwMode="auto">
          <a:xfrm>
            <a:off x="8610600" y="62484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200">
                <a:latin typeface="Arial Narrow" pitchFamily="34" charset="0"/>
              </a:rPr>
              <a:t>6</a:t>
            </a:r>
          </a:p>
        </p:txBody>
      </p:sp>
      <p:sp>
        <p:nvSpPr>
          <p:cNvPr id="3" name="Text Placeholder 2">
            <a:extLst>
              <a:ext uri="{FF2B5EF4-FFF2-40B4-BE49-F238E27FC236}">
                <a16:creationId xmlns:a16="http://schemas.microsoft.com/office/drawing/2014/main" id="{CCC72C5F-48AD-5519-5E26-187844E83511}"/>
              </a:ext>
            </a:extLst>
          </p:cNvPr>
          <p:cNvSpPr>
            <a:spLocks noGrp="1"/>
          </p:cNvSpPr>
          <p:nvPr>
            <p:ph type="body" idx="10"/>
          </p:nvPr>
        </p:nvSpPr>
        <p:spPr/>
        <p:txBody>
          <a:bodyPr/>
          <a:lstStyle/>
          <a:p>
            <a:r>
              <a:rPr lang="en-US" dirty="0"/>
              <a:t>Third option of the FHD kernel </a:t>
            </a:r>
          </a:p>
        </p:txBody>
      </p:sp>
    </p:spTree>
    <p:extLst>
      <p:ext uri="{BB962C8B-B14F-4D97-AF65-F5344CB8AC3E}">
        <p14:creationId xmlns:p14="http://schemas.microsoft.com/office/powerpoint/2010/main" val="1970046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304800" y="1233487"/>
            <a:ext cx="8610600" cy="5319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__global__ void </a:t>
            </a:r>
            <a:r>
              <a:rPr lang="en-US" sz="1800" b="1" dirty="0" err="1">
                <a:latin typeface="Courier New" pitchFamily="49" charset="0"/>
              </a:rPr>
              <a:t>cmpFhD</a:t>
            </a:r>
            <a:r>
              <a:rPr lang="en-US" sz="1800" b="1" dirty="0">
                <a:latin typeface="Courier New" pitchFamily="49" charset="0"/>
              </a:rPr>
              <a:t>(float* </a:t>
            </a:r>
            <a:r>
              <a:rPr lang="en-US" sz="1800" b="1" dirty="0" err="1">
                <a:latin typeface="Courier New" pitchFamily="49" charset="0"/>
              </a:rPr>
              <a:t>rPhi</a:t>
            </a:r>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 </a:t>
            </a:r>
            <a:r>
              <a:rPr lang="en-US" sz="1800" b="1" dirty="0" err="1">
                <a:latin typeface="Courier New" pitchFamily="49" charset="0"/>
              </a:rPr>
              <a:t>phiMag</a:t>
            </a:r>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kx</a:t>
            </a:r>
            <a:r>
              <a:rPr lang="en-US" sz="1800" b="1" dirty="0">
                <a:latin typeface="Courier New" pitchFamily="49" charset="0"/>
              </a:rPr>
              <a:t>, </a:t>
            </a:r>
            <a:r>
              <a:rPr lang="en-US" sz="1800" b="1" dirty="0" err="1">
                <a:latin typeface="Courier New" pitchFamily="49" charset="0"/>
              </a:rPr>
              <a:t>ky</a:t>
            </a:r>
            <a:r>
              <a:rPr lang="en-US" sz="1800" b="1" dirty="0">
                <a:latin typeface="Courier New" pitchFamily="49" charset="0"/>
              </a:rPr>
              <a:t>, </a:t>
            </a:r>
            <a:r>
              <a:rPr lang="en-US" sz="1800" b="1" dirty="0" err="1">
                <a:latin typeface="Courier New" pitchFamily="49" charset="0"/>
              </a:rPr>
              <a:t>kz</a:t>
            </a:r>
            <a:r>
              <a:rPr lang="en-US" sz="1800" b="1" dirty="0">
                <a:latin typeface="Courier New" pitchFamily="49" charset="0"/>
              </a:rPr>
              <a:t>, x, y, z, </a:t>
            </a:r>
            <a:r>
              <a:rPr lang="en-US" sz="1800" b="1" dirty="0" err="1">
                <a:latin typeface="Courier New" pitchFamily="49" charset="0"/>
              </a:rPr>
              <a:t>rMu</a:t>
            </a:r>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M) {</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n = </a:t>
            </a:r>
            <a:r>
              <a:rPr lang="en-US" sz="1800" b="1" dirty="0" err="1">
                <a:latin typeface="Courier New" pitchFamily="49" charset="0"/>
              </a:rPr>
              <a:t>blockIdx.x</a:t>
            </a:r>
            <a:r>
              <a:rPr lang="en-US" sz="1800" b="1" dirty="0">
                <a:latin typeface="Courier New" pitchFamily="49" charset="0"/>
              </a:rPr>
              <a:t> * FHD_THREADS_PER_BLOCK + </a:t>
            </a:r>
            <a:r>
              <a:rPr lang="en-US" sz="1800" b="1" dirty="0" err="1">
                <a:latin typeface="Courier New" pitchFamily="49" charset="0"/>
              </a:rPr>
              <a:t>threadIdx.x</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float </a:t>
            </a:r>
            <a:r>
              <a:rPr lang="en-US" sz="1800" b="1" dirty="0" err="1">
                <a:latin typeface="Courier New" pitchFamily="49" charset="0"/>
              </a:rPr>
              <a:t>xn_r</a:t>
            </a:r>
            <a:r>
              <a:rPr lang="en-US" sz="1800" b="1" dirty="0">
                <a:latin typeface="Courier New" pitchFamily="49" charset="0"/>
              </a:rPr>
              <a:t> = x[n]; float </a:t>
            </a:r>
            <a:r>
              <a:rPr lang="en-US" sz="1800" b="1" dirty="0" err="1">
                <a:latin typeface="Courier New" pitchFamily="49" charset="0"/>
              </a:rPr>
              <a:t>yn_r</a:t>
            </a:r>
            <a:r>
              <a:rPr lang="en-US" sz="1800" b="1" dirty="0">
                <a:latin typeface="Courier New" pitchFamily="49" charset="0"/>
              </a:rPr>
              <a:t> = y[n]; float </a:t>
            </a:r>
            <a:r>
              <a:rPr lang="en-US" sz="1800" b="1" dirty="0" err="1">
                <a:latin typeface="Courier New" pitchFamily="49" charset="0"/>
              </a:rPr>
              <a:t>zn_r</a:t>
            </a:r>
            <a:r>
              <a:rPr lang="en-US" sz="1800" b="1" dirty="0">
                <a:latin typeface="Courier New" pitchFamily="49" charset="0"/>
              </a:rPr>
              <a:t> = z[n];</a:t>
            </a:r>
          </a:p>
          <a:p>
            <a:pPr eaLnBrk="1" hangingPunct="1"/>
            <a:r>
              <a:rPr lang="en-US" sz="1800" b="1" dirty="0">
                <a:latin typeface="Courier New" pitchFamily="49" charset="0"/>
              </a:rPr>
              <a:t>  float </a:t>
            </a:r>
            <a:r>
              <a:rPr lang="en-US" sz="1800" b="1" dirty="0" err="1">
                <a:latin typeface="Courier New" pitchFamily="49" charset="0"/>
              </a:rPr>
              <a:t>rFhDn_r</a:t>
            </a:r>
            <a:r>
              <a:rPr lang="en-US" sz="1800" b="1" dirty="0">
                <a:latin typeface="Courier New" pitchFamily="49" charset="0"/>
              </a:rPr>
              <a:t> = </a:t>
            </a:r>
            <a:r>
              <a:rPr lang="en-US" sz="1800" b="1" dirty="0" err="1">
                <a:latin typeface="Courier New" pitchFamily="49" charset="0"/>
              </a:rPr>
              <a:t>rFhD</a:t>
            </a:r>
            <a:r>
              <a:rPr lang="en-US" sz="1800" b="1" dirty="0">
                <a:latin typeface="Courier New" pitchFamily="49" charset="0"/>
              </a:rPr>
              <a:t>[n]; float </a:t>
            </a:r>
            <a:r>
              <a:rPr lang="en-US" sz="1800" b="1" dirty="0" err="1">
                <a:latin typeface="Courier New" pitchFamily="49" charset="0"/>
              </a:rPr>
              <a:t>iFhDn_r</a:t>
            </a:r>
            <a:r>
              <a:rPr lang="en-US" sz="1800" b="1" dirty="0">
                <a:latin typeface="Courier New" pitchFamily="49" charset="0"/>
              </a:rPr>
              <a:t> = </a:t>
            </a:r>
            <a:r>
              <a:rPr lang="en-US" sz="1800" b="1" dirty="0" err="1">
                <a:latin typeface="Courier New" pitchFamily="49" charset="0"/>
              </a:rPr>
              <a:t>iFhD</a:t>
            </a:r>
            <a:r>
              <a:rPr lang="en-US" sz="1800" b="1" dirty="0">
                <a:latin typeface="Courier New" pitchFamily="49" charset="0"/>
              </a:rPr>
              <a:t>[n];</a:t>
            </a:r>
          </a:p>
          <a:p>
            <a:pPr eaLnBrk="1" hangingPunct="1"/>
            <a:endParaRPr lang="en-US" sz="1800" b="1" dirty="0">
              <a:latin typeface="Courier New" pitchFamily="49" charset="0"/>
            </a:endParaRPr>
          </a:p>
          <a:p>
            <a:pPr eaLnBrk="1" hangingPunct="1"/>
            <a:r>
              <a:rPr lang="en-US" sz="1800" b="1" dirty="0">
                <a:latin typeface="Courier New" pitchFamily="49" charset="0"/>
              </a:rPr>
              <a:t>  for (m = 0; m &lt; M; m++) {</a:t>
            </a:r>
          </a:p>
          <a:p>
            <a:pPr eaLnBrk="1" hangingPunct="1"/>
            <a:r>
              <a:rPr lang="en-US" sz="1800" b="1" dirty="0">
                <a:latin typeface="Courier New" pitchFamily="49" charset="0"/>
              </a:rPr>
              <a:t>    float </a:t>
            </a:r>
            <a:r>
              <a:rPr lang="en-US" sz="1800" b="1" dirty="0" err="1">
                <a:latin typeface="Courier New" pitchFamily="49" charset="0"/>
              </a:rPr>
              <a:t>expFhD</a:t>
            </a:r>
            <a:r>
              <a:rPr lang="en-US" sz="1800" b="1" dirty="0">
                <a:latin typeface="Courier New" pitchFamily="49" charset="0"/>
              </a:rPr>
              <a:t> = 2*PI*(</a:t>
            </a:r>
            <a:r>
              <a:rPr lang="en-US" sz="1800" b="1" dirty="0" err="1">
                <a:latin typeface="Courier New" pitchFamily="49" charset="0"/>
              </a:rPr>
              <a:t>kx</a:t>
            </a:r>
            <a:r>
              <a:rPr lang="en-US" sz="1800" b="1" dirty="0">
                <a:latin typeface="Courier New" pitchFamily="49" charset="0"/>
              </a:rPr>
              <a:t>[m]*</a:t>
            </a:r>
            <a:r>
              <a:rPr lang="en-US" sz="1800" b="1" dirty="0" err="1">
                <a:latin typeface="Courier New" pitchFamily="49" charset="0"/>
              </a:rPr>
              <a:t>xn_r+ky</a:t>
            </a:r>
            <a:r>
              <a:rPr lang="en-US" sz="1800" b="1" dirty="0">
                <a:latin typeface="Courier New" pitchFamily="49" charset="0"/>
              </a:rPr>
              <a:t>[m]*</a:t>
            </a:r>
            <a:r>
              <a:rPr lang="en-US" sz="1800" b="1" dirty="0" err="1">
                <a:latin typeface="Courier New" pitchFamily="49" charset="0"/>
              </a:rPr>
              <a:t>yn_r+kz</a:t>
            </a:r>
            <a:r>
              <a:rPr lang="en-US" sz="1800" b="1" dirty="0">
                <a:latin typeface="Courier New" pitchFamily="49" charset="0"/>
              </a:rPr>
              <a:t>[m]*</a:t>
            </a:r>
            <a:r>
              <a:rPr lang="en-US" sz="1800" b="1" dirty="0" err="1">
                <a:latin typeface="Courier New" pitchFamily="49" charset="0"/>
              </a:rPr>
              <a:t>zn_r</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float </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cos</a:t>
            </a:r>
            <a:r>
              <a:rPr lang="en-US" sz="1800" b="1" dirty="0">
                <a:latin typeface="Courier New" pitchFamily="49" charset="0"/>
              </a:rPr>
              <a:t>(</a:t>
            </a:r>
            <a:r>
              <a:rPr lang="en-US" sz="1800" b="1" dirty="0" err="1">
                <a:latin typeface="Courier New" pitchFamily="49" charset="0"/>
              </a:rPr>
              <a:t>expFhD</a:t>
            </a:r>
            <a:r>
              <a:rPr lang="en-US" sz="1800" b="1" dirty="0">
                <a:latin typeface="Courier New" pitchFamily="49" charset="0"/>
              </a:rPr>
              <a:t>);  </a:t>
            </a:r>
          </a:p>
          <a:p>
            <a:pPr eaLnBrk="1" hangingPunct="1"/>
            <a:r>
              <a:rPr lang="en-US" sz="1800" b="1" dirty="0">
                <a:latin typeface="Courier New" pitchFamily="49" charset="0"/>
              </a:rPr>
              <a:t>    float </a:t>
            </a:r>
            <a:r>
              <a:rPr lang="en-US" sz="1800" b="1" dirty="0" err="1">
                <a:latin typeface="Courier New" pitchFamily="49" charset="0"/>
              </a:rPr>
              <a:t>sArg</a:t>
            </a:r>
            <a:r>
              <a:rPr lang="en-US" sz="1800" b="1" dirty="0">
                <a:latin typeface="Courier New" pitchFamily="49" charset="0"/>
              </a:rPr>
              <a:t> = sin(</a:t>
            </a:r>
            <a:r>
              <a:rPr lang="en-US" sz="1800" b="1" dirty="0" err="1">
                <a:latin typeface="Courier New" pitchFamily="49" charset="0"/>
              </a:rPr>
              <a:t>expFhD</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rFhDn_r</a:t>
            </a:r>
            <a:r>
              <a:rPr lang="en-US" sz="1800" b="1" dirty="0">
                <a:latin typeface="Courier New" pitchFamily="49" charset="0"/>
              </a:rPr>
              <a:t>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iFhDn_r</a:t>
            </a:r>
            <a:r>
              <a:rPr lang="en-US" sz="1800" b="1" dirty="0">
                <a:latin typeface="Courier New" pitchFamily="49" charset="0"/>
              </a:rPr>
              <a:t>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rFhD</a:t>
            </a:r>
            <a:r>
              <a:rPr lang="en-US" sz="1800" b="1" dirty="0">
                <a:latin typeface="Courier New" pitchFamily="49" charset="0"/>
              </a:rPr>
              <a:t>[n] = </a:t>
            </a:r>
            <a:r>
              <a:rPr lang="en-US" sz="1800" b="1" dirty="0" err="1">
                <a:latin typeface="Courier New" pitchFamily="49" charset="0"/>
              </a:rPr>
              <a:t>rFhD_r</a:t>
            </a:r>
            <a:r>
              <a:rPr lang="en-US" sz="1800" b="1" dirty="0">
                <a:latin typeface="Courier New" pitchFamily="49" charset="0"/>
              </a:rPr>
              <a:t>; </a:t>
            </a:r>
            <a:r>
              <a:rPr lang="en-US" sz="1800" b="1" dirty="0" err="1">
                <a:latin typeface="Courier New" pitchFamily="49" charset="0"/>
              </a:rPr>
              <a:t>iFhD</a:t>
            </a:r>
            <a:r>
              <a:rPr lang="en-US" sz="1800" b="1" dirty="0">
                <a:latin typeface="Courier New" pitchFamily="49" charset="0"/>
              </a:rPr>
              <a:t>[n] = </a:t>
            </a:r>
            <a:r>
              <a:rPr lang="en-US" sz="1800" b="1" dirty="0" err="1">
                <a:latin typeface="Courier New" pitchFamily="49" charset="0"/>
              </a:rPr>
              <a:t>iFhD_r</a:t>
            </a:r>
            <a:r>
              <a:rPr lang="en-US" sz="1800" b="1" dirty="0">
                <a:latin typeface="Courier New" pitchFamily="49" charset="0"/>
              </a:rPr>
              <a:t>;</a:t>
            </a:r>
          </a:p>
          <a:p>
            <a:pPr eaLnBrk="1" hangingPunct="1"/>
            <a:r>
              <a:rPr lang="en-US" sz="1800" b="1" dirty="0">
                <a:latin typeface="Courier New" pitchFamily="49" charset="0"/>
              </a:rPr>
              <a:t>}</a:t>
            </a:r>
          </a:p>
        </p:txBody>
      </p:sp>
      <p:sp>
        <p:nvSpPr>
          <p:cNvPr id="12291" name="Text Box 3"/>
          <p:cNvSpPr txBox="1">
            <a:spLocks noChangeArrowheads="1"/>
          </p:cNvSpPr>
          <p:nvPr/>
        </p:nvSpPr>
        <p:spPr bwMode="auto">
          <a:xfrm>
            <a:off x="8610600" y="62484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200">
                <a:latin typeface="Arial Narrow" pitchFamily="34" charset="0"/>
              </a:rPr>
              <a:t>6</a:t>
            </a:r>
          </a:p>
        </p:txBody>
      </p:sp>
      <p:sp>
        <p:nvSpPr>
          <p:cNvPr id="3" name="Text Placeholder 2">
            <a:extLst>
              <a:ext uri="{FF2B5EF4-FFF2-40B4-BE49-F238E27FC236}">
                <a16:creationId xmlns:a16="http://schemas.microsoft.com/office/drawing/2014/main" id="{6138E322-CFAF-E9D3-436B-632BFF034763}"/>
              </a:ext>
            </a:extLst>
          </p:cNvPr>
          <p:cNvSpPr>
            <a:spLocks noGrp="1"/>
          </p:cNvSpPr>
          <p:nvPr>
            <p:ph type="body" idx="10"/>
          </p:nvPr>
        </p:nvSpPr>
        <p:spPr/>
        <p:txBody>
          <a:bodyPr/>
          <a:lstStyle/>
          <a:p>
            <a:r>
              <a:rPr lang="en-US" dirty="0"/>
              <a:t>Using registers to reduce memory accesses in the F</a:t>
            </a:r>
            <a:r>
              <a:rPr lang="en-US" baseline="30000" dirty="0"/>
              <a:t>H</a:t>
            </a:r>
            <a:r>
              <a:rPr lang="en-US" dirty="0"/>
              <a:t>D kernel</a:t>
            </a:r>
          </a:p>
        </p:txBody>
      </p:sp>
      <p:sp>
        <p:nvSpPr>
          <p:cNvPr id="2" name="Title 1"/>
          <p:cNvSpPr>
            <a:spLocks noGrp="1"/>
          </p:cNvSpPr>
          <p:nvPr>
            <p:ph type="title" idx="4294967295"/>
          </p:nvPr>
        </p:nvSpPr>
        <p:spPr>
          <a:xfrm>
            <a:off x="1220788" y="304800"/>
            <a:ext cx="7923212" cy="1141413"/>
          </a:xfrm>
        </p:spPr>
        <p:txBody>
          <a:bodyPr/>
          <a:lstStyle/>
          <a:p>
            <a:br>
              <a:rPr lang="en-US" dirty="0"/>
            </a:br>
            <a:endParaRPr lang="en-US" dirty="0"/>
          </a:p>
        </p:txBody>
      </p:sp>
    </p:spTree>
    <p:extLst>
      <p:ext uri="{BB962C8B-B14F-4D97-AF65-F5344CB8AC3E}">
        <p14:creationId xmlns:p14="http://schemas.microsoft.com/office/powerpoint/2010/main" val="2191068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152400" y="1263650"/>
            <a:ext cx="8991600" cy="563231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__constant__ float 	</a:t>
            </a:r>
            <a:r>
              <a:rPr lang="en-US" sz="1800" b="1" dirty="0" err="1">
                <a:latin typeface="Courier New" pitchFamily="49" charset="0"/>
              </a:rPr>
              <a:t>kx_c</a:t>
            </a:r>
            <a:r>
              <a:rPr lang="en-US" sz="1800" b="1" dirty="0">
                <a:latin typeface="Courier New" pitchFamily="49" charset="0"/>
              </a:rPr>
              <a:t>[CHUNK_SIZE],</a:t>
            </a:r>
          </a:p>
          <a:p>
            <a:pPr eaLnBrk="1" hangingPunct="1"/>
            <a:r>
              <a:rPr lang="en-US" sz="1800" b="1" dirty="0">
                <a:latin typeface="Courier New" pitchFamily="49" charset="0"/>
              </a:rPr>
              <a:t>			</a:t>
            </a:r>
            <a:r>
              <a:rPr lang="en-US" sz="1800" b="1" dirty="0" err="1">
                <a:latin typeface="Courier New" pitchFamily="49" charset="0"/>
              </a:rPr>
              <a:t>ky_c</a:t>
            </a:r>
            <a:r>
              <a:rPr lang="en-US" sz="1800" b="1" dirty="0">
                <a:latin typeface="Courier New" pitchFamily="49" charset="0"/>
              </a:rPr>
              <a:t>[CHUNK_SIZE], </a:t>
            </a:r>
            <a:r>
              <a:rPr lang="en-US" sz="1800" b="1" dirty="0" err="1">
                <a:latin typeface="Courier New" pitchFamily="49" charset="0"/>
              </a:rPr>
              <a:t>kz_c</a:t>
            </a:r>
            <a:r>
              <a:rPr lang="en-US" sz="1800" b="1" dirty="0">
                <a:latin typeface="Courier New" pitchFamily="49" charset="0"/>
              </a:rPr>
              <a:t>[CHUNK_SIZE];</a:t>
            </a:r>
          </a:p>
          <a:p>
            <a:pPr eaLnBrk="1" hangingPunct="1"/>
            <a:r>
              <a:rPr lang="en-US" sz="1800" b="1" dirty="0">
                <a:latin typeface="Courier New" pitchFamily="49" charset="0"/>
              </a:rPr>
              <a:t>…</a:t>
            </a:r>
          </a:p>
          <a:p>
            <a:pPr eaLnBrk="1" hangingPunct="1"/>
            <a:r>
              <a:rPr lang="en-US" sz="1800" b="1" dirty="0">
                <a:latin typeface="Courier New" pitchFamily="49" charset="0"/>
              </a:rPr>
              <a:t>__ void main() {</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a:t>
            </a:r>
            <a:r>
              <a:rPr lang="en-US" sz="1800" b="1" dirty="0" err="1">
                <a:latin typeface="Courier New" pitchFamily="49" charset="0"/>
              </a:rPr>
              <a:t>i</a:t>
            </a:r>
            <a:r>
              <a:rPr lang="en-US" sz="1800" b="1" dirty="0">
                <a:latin typeface="Courier New" pitchFamily="49" charset="0"/>
              </a:rPr>
              <a:t>;</a:t>
            </a:r>
          </a:p>
          <a:p>
            <a:pPr eaLnBrk="1" hangingPunct="1"/>
            <a:r>
              <a:rPr lang="en-US" sz="1800" b="1" dirty="0">
                <a:latin typeface="Courier New" pitchFamily="49" charset="0"/>
              </a:rPr>
              <a:t>  for (</a:t>
            </a:r>
            <a:r>
              <a:rPr lang="en-US" sz="1800" b="1" dirty="0" err="1">
                <a:latin typeface="Courier New" pitchFamily="49" charset="0"/>
              </a:rPr>
              <a:t>i</a:t>
            </a:r>
            <a:r>
              <a:rPr lang="en-US" sz="1800" b="1" dirty="0">
                <a:latin typeface="Courier New" pitchFamily="49" charset="0"/>
              </a:rPr>
              <a:t> = 0; </a:t>
            </a:r>
            <a:r>
              <a:rPr lang="en-US" sz="1800" b="1" dirty="0" err="1">
                <a:latin typeface="Courier New" pitchFamily="49" charset="0"/>
              </a:rPr>
              <a:t>i</a:t>
            </a:r>
            <a:r>
              <a:rPr lang="en-US" sz="1800" b="1" dirty="0">
                <a:latin typeface="Courier New" pitchFamily="49" charset="0"/>
              </a:rPr>
              <a:t> &lt; M/CHUNK_SIZE; </a:t>
            </a:r>
            <a:r>
              <a:rPr lang="en-US" sz="1800" b="1" dirty="0" err="1">
                <a:latin typeface="Courier New" pitchFamily="49" charset="0"/>
              </a:rPr>
              <a:t>i</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cudaMemcpyToSymbol</a:t>
            </a:r>
            <a:r>
              <a:rPr lang="en-US" sz="1800" b="1" dirty="0">
                <a:latin typeface="Courier New" pitchFamily="49" charset="0"/>
              </a:rPr>
              <a:t>(kx_c,&amp;</a:t>
            </a:r>
            <a:r>
              <a:rPr lang="en-US" sz="1800" b="1" dirty="0" err="1">
                <a:latin typeface="Courier New" pitchFamily="49" charset="0"/>
              </a:rPr>
              <a:t>kx</a:t>
            </a:r>
            <a:r>
              <a:rPr lang="en-US" sz="1800" b="1" dirty="0">
                <a:latin typeface="Courier New" pitchFamily="49" charset="0"/>
              </a:rPr>
              <a:t>[</a:t>
            </a:r>
            <a:r>
              <a:rPr lang="en-US" sz="1800" b="1" dirty="0" err="1">
                <a:latin typeface="Courier New" pitchFamily="49" charset="0"/>
              </a:rPr>
              <a:t>i</a:t>
            </a:r>
            <a:r>
              <a:rPr lang="en-US" sz="1800" b="1" dirty="0">
                <a:latin typeface="Courier New" pitchFamily="49" charset="0"/>
              </a:rPr>
              <a:t>*CHUNK_SIZE],4*CHUNK_SIZE, 				 </a:t>
            </a:r>
            <a:r>
              <a:rPr lang="en-US" sz="1800" b="1" dirty="0" err="1">
                <a:latin typeface="Courier New" pitchFamily="49" charset="0"/>
              </a:rPr>
              <a:t>cudaMemCpyHostToDevice</a:t>
            </a:r>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cudaMemcpyToSymbol</a:t>
            </a:r>
            <a:r>
              <a:rPr lang="en-US" sz="1800" b="1" dirty="0">
                <a:latin typeface="Courier New" pitchFamily="49" charset="0"/>
              </a:rPr>
              <a:t>(ky_c,&amp;</a:t>
            </a:r>
            <a:r>
              <a:rPr lang="en-US" sz="1800" b="1" dirty="0" err="1">
                <a:latin typeface="Courier New" pitchFamily="49" charset="0"/>
              </a:rPr>
              <a:t>ky</a:t>
            </a:r>
            <a:r>
              <a:rPr lang="en-US" sz="1800" b="1" dirty="0">
                <a:latin typeface="Courier New" pitchFamily="49" charset="0"/>
              </a:rPr>
              <a:t>[</a:t>
            </a:r>
            <a:r>
              <a:rPr lang="en-US" sz="1800" b="1" dirty="0" err="1">
                <a:latin typeface="Courier New" pitchFamily="49" charset="0"/>
              </a:rPr>
              <a:t>i</a:t>
            </a:r>
            <a:r>
              <a:rPr lang="en-US" sz="1800" b="1" dirty="0">
                <a:latin typeface="Courier New" pitchFamily="49" charset="0"/>
              </a:rPr>
              <a:t>*CHUNK_SIZE],4*CHUNK_SIZE, 				 </a:t>
            </a:r>
            <a:r>
              <a:rPr lang="en-US" sz="1800" b="1" dirty="0" err="1">
                <a:latin typeface="Courier New" pitchFamily="49" charset="0"/>
              </a:rPr>
              <a:t>cudaMemCpyHostToDevice</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cudaMemcpyToSymbol</a:t>
            </a:r>
            <a:r>
              <a:rPr lang="en-US" sz="1800" b="1" dirty="0">
                <a:latin typeface="Courier New" pitchFamily="49" charset="0"/>
              </a:rPr>
              <a:t>(ky_c,&amp;</a:t>
            </a:r>
            <a:r>
              <a:rPr lang="en-US" sz="1800" b="1" dirty="0" err="1">
                <a:latin typeface="Courier New" pitchFamily="49" charset="0"/>
              </a:rPr>
              <a:t>ky</a:t>
            </a:r>
            <a:r>
              <a:rPr lang="en-US" sz="1800" b="1" dirty="0">
                <a:latin typeface="Courier New" pitchFamily="49" charset="0"/>
              </a:rPr>
              <a:t>[</a:t>
            </a:r>
            <a:r>
              <a:rPr lang="en-US" sz="1800" b="1" dirty="0" err="1">
                <a:latin typeface="Courier New" pitchFamily="49" charset="0"/>
              </a:rPr>
              <a:t>i</a:t>
            </a:r>
            <a:r>
              <a:rPr lang="en-US" sz="1800" b="1" dirty="0">
                <a:latin typeface="Courier New" pitchFamily="49" charset="0"/>
              </a:rPr>
              <a:t>*CHUNK_SIZE],4*CHUNK_SIZE, 				 </a:t>
            </a:r>
            <a:r>
              <a:rPr lang="en-US" sz="1800" b="1" dirty="0" err="1">
                <a:latin typeface="Courier New" pitchFamily="49" charset="0"/>
              </a:rPr>
              <a:t>cudaMemCpyHostToDevice</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cmpFhD</a:t>
            </a:r>
            <a:r>
              <a:rPr lang="en-US" sz="1800" b="1" dirty="0">
                <a:latin typeface="Courier New" pitchFamily="49" charset="0"/>
              </a:rPr>
              <a:t>&lt;&lt;&lt;FHD_THREADS_PER_BLOCK, N/FHD_THREADS_PER_BLOCK&gt;&gt;&gt; 	(</a:t>
            </a:r>
            <a:r>
              <a:rPr lang="en-US" sz="1800" b="1" dirty="0" err="1">
                <a:latin typeface="Courier New" pitchFamily="49" charset="0"/>
              </a:rPr>
              <a:t>rPhi</a:t>
            </a:r>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 </a:t>
            </a:r>
            <a:r>
              <a:rPr lang="en-US" sz="1800" b="1" dirty="0" err="1">
                <a:latin typeface="Courier New" pitchFamily="49" charset="0"/>
              </a:rPr>
              <a:t>phiMag</a:t>
            </a:r>
            <a:r>
              <a:rPr lang="en-US" sz="1800" b="1" dirty="0">
                <a:latin typeface="Courier New" pitchFamily="49" charset="0"/>
              </a:rPr>
              <a:t>, x, y, z, </a:t>
            </a:r>
            <a:r>
              <a:rPr lang="en-US" sz="1800" b="1" dirty="0" err="1">
                <a:latin typeface="Courier New" pitchFamily="49" charset="0"/>
              </a:rPr>
              <a:t>rMu</a:t>
            </a:r>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 CHUNK_SIZE);</a:t>
            </a:r>
          </a:p>
          <a:p>
            <a:pPr eaLnBrk="1" hangingPunct="1"/>
            <a:r>
              <a:rPr lang="en-US" sz="1800" b="1" dirty="0">
                <a:latin typeface="Courier New" pitchFamily="49" charset="0"/>
              </a:rPr>
              <a:t>  }</a:t>
            </a:r>
          </a:p>
          <a:p>
            <a:pPr eaLnBrk="1" hangingPunct="1"/>
            <a:r>
              <a:rPr lang="en-US" sz="1800" b="1" dirty="0">
                <a:latin typeface="Courier New" pitchFamily="49" charset="0"/>
              </a:rPr>
              <a:t>  /* Need to call kernel one more time if M is not */</a:t>
            </a:r>
          </a:p>
          <a:p>
            <a:pPr eaLnBrk="1" hangingPunct="1"/>
            <a:r>
              <a:rPr lang="en-US" sz="1800" b="1" dirty="0">
                <a:latin typeface="Courier New" pitchFamily="49" charset="0"/>
              </a:rPr>
              <a:t>  /* perfect multiple of CHUNK SIZE */</a:t>
            </a:r>
          </a:p>
          <a:p>
            <a:pPr eaLnBrk="1" hangingPunct="1"/>
            <a:r>
              <a:rPr lang="en-US" sz="1800" b="1" dirty="0">
                <a:latin typeface="Courier New" pitchFamily="49" charset="0"/>
              </a:rPr>
              <a:t>}</a:t>
            </a:r>
          </a:p>
        </p:txBody>
      </p:sp>
      <p:sp>
        <p:nvSpPr>
          <p:cNvPr id="13315" name="Text Box 3"/>
          <p:cNvSpPr txBox="1">
            <a:spLocks noChangeArrowheads="1"/>
          </p:cNvSpPr>
          <p:nvPr/>
        </p:nvSpPr>
        <p:spPr bwMode="auto">
          <a:xfrm>
            <a:off x="8610600" y="62484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200">
                <a:latin typeface="Arial Narrow" pitchFamily="34" charset="0"/>
              </a:rPr>
              <a:t>6</a:t>
            </a:r>
          </a:p>
        </p:txBody>
      </p:sp>
      <p:sp>
        <p:nvSpPr>
          <p:cNvPr id="3" name="Text Placeholder 2">
            <a:extLst>
              <a:ext uri="{FF2B5EF4-FFF2-40B4-BE49-F238E27FC236}">
                <a16:creationId xmlns:a16="http://schemas.microsoft.com/office/drawing/2014/main" id="{57FAB380-208B-9E06-9BB1-6026C3C8E45F}"/>
              </a:ext>
            </a:extLst>
          </p:cNvPr>
          <p:cNvSpPr>
            <a:spLocks noGrp="1"/>
          </p:cNvSpPr>
          <p:nvPr>
            <p:ph type="body" idx="10"/>
          </p:nvPr>
        </p:nvSpPr>
        <p:spPr/>
        <p:txBody>
          <a:bodyPr/>
          <a:lstStyle/>
          <a:p>
            <a:r>
              <a:rPr lang="en-US" sz="2400" dirty="0"/>
              <a:t>Chunking k-space data to fit into constant memory</a:t>
            </a:r>
            <a:endParaRPr lang="en-US" dirty="0"/>
          </a:p>
        </p:txBody>
      </p:sp>
    </p:spTree>
    <p:extLst>
      <p:ext uri="{BB962C8B-B14F-4D97-AF65-F5344CB8AC3E}">
        <p14:creationId xmlns:p14="http://schemas.microsoft.com/office/powerpoint/2010/main" val="1354993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304800" y="805543"/>
            <a:ext cx="8991600" cy="55943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__global__ void </a:t>
            </a:r>
            <a:r>
              <a:rPr lang="en-US" sz="1800" b="1" dirty="0" err="1">
                <a:latin typeface="Courier New" pitchFamily="49" charset="0"/>
              </a:rPr>
              <a:t>cmpFhD</a:t>
            </a:r>
            <a:r>
              <a:rPr lang="en-US" sz="1800" b="1" dirty="0">
                <a:latin typeface="Courier New" pitchFamily="49" charset="0"/>
              </a:rPr>
              <a:t>(float* </a:t>
            </a:r>
            <a:r>
              <a:rPr lang="en-US" sz="1800" b="1" dirty="0" err="1">
                <a:latin typeface="Courier New" pitchFamily="49" charset="0"/>
              </a:rPr>
              <a:t>rPhi</a:t>
            </a:r>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 </a:t>
            </a:r>
            <a:r>
              <a:rPr lang="en-US" sz="1800" b="1" dirty="0" err="1">
                <a:latin typeface="Courier New" pitchFamily="49" charset="0"/>
              </a:rPr>
              <a:t>phiMag</a:t>
            </a:r>
            <a:r>
              <a:rPr lang="en-US" sz="1800" b="1" dirty="0">
                <a:latin typeface="Courier New" pitchFamily="49" charset="0"/>
              </a:rPr>
              <a:t>, </a:t>
            </a:r>
          </a:p>
          <a:p>
            <a:pPr eaLnBrk="1" hangingPunct="1"/>
            <a:r>
              <a:rPr lang="en-US" sz="1800" b="1" dirty="0">
                <a:latin typeface="Courier New" pitchFamily="49" charset="0"/>
              </a:rPr>
              <a:t>	x, y, z, </a:t>
            </a:r>
            <a:r>
              <a:rPr lang="en-US" sz="1800" b="1" dirty="0" err="1">
                <a:latin typeface="Courier New" pitchFamily="49" charset="0"/>
              </a:rPr>
              <a:t>rMu</a:t>
            </a:r>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M) {</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n = </a:t>
            </a:r>
            <a:r>
              <a:rPr lang="en-US" sz="1800" b="1" dirty="0" err="1">
                <a:latin typeface="Courier New" pitchFamily="49" charset="0"/>
              </a:rPr>
              <a:t>blockIdx.x</a:t>
            </a:r>
            <a:r>
              <a:rPr lang="en-US" sz="1800" b="1" dirty="0">
                <a:latin typeface="Courier New" pitchFamily="49" charset="0"/>
              </a:rPr>
              <a:t> * FHD_THREADS_PER_BLOCK + </a:t>
            </a:r>
            <a:r>
              <a:rPr lang="en-US" sz="1800" b="1" dirty="0" err="1">
                <a:latin typeface="Courier New" pitchFamily="49" charset="0"/>
              </a:rPr>
              <a:t>threadIdx.x</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float </a:t>
            </a:r>
            <a:r>
              <a:rPr lang="en-US" sz="1800" b="1" dirty="0" err="1">
                <a:latin typeface="Courier New" pitchFamily="49" charset="0"/>
              </a:rPr>
              <a:t>xn_r</a:t>
            </a:r>
            <a:r>
              <a:rPr lang="en-US" sz="1800" b="1" dirty="0">
                <a:latin typeface="Courier New" pitchFamily="49" charset="0"/>
              </a:rPr>
              <a:t> = x[n]; float </a:t>
            </a:r>
            <a:r>
              <a:rPr lang="en-US" sz="1800" b="1" dirty="0" err="1">
                <a:latin typeface="Courier New" pitchFamily="49" charset="0"/>
              </a:rPr>
              <a:t>yn_r</a:t>
            </a:r>
            <a:r>
              <a:rPr lang="en-US" sz="1800" b="1" dirty="0">
                <a:latin typeface="Courier New" pitchFamily="49" charset="0"/>
              </a:rPr>
              <a:t> = y[n]; float </a:t>
            </a:r>
            <a:r>
              <a:rPr lang="en-US" sz="1800" b="1" dirty="0" err="1">
                <a:latin typeface="Courier New" pitchFamily="49" charset="0"/>
              </a:rPr>
              <a:t>zn_r</a:t>
            </a:r>
            <a:r>
              <a:rPr lang="en-US" sz="1800" b="1" dirty="0">
                <a:latin typeface="Courier New" pitchFamily="49" charset="0"/>
              </a:rPr>
              <a:t> = z[n];</a:t>
            </a:r>
          </a:p>
          <a:p>
            <a:pPr eaLnBrk="1" hangingPunct="1"/>
            <a:r>
              <a:rPr lang="en-US" sz="1800" b="1" dirty="0">
                <a:latin typeface="Courier New" pitchFamily="49" charset="0"/>
              </a:rPr>
              <a:t>  float </a:t>
            </a:r>
            <a:r>
              <a:rPr lang="en-US" sz="1800" b="1" dirty="0" err="1">
                <a:latin typeface="Courier New" pitchFamily="49" charset="0"/>
              </a:rPr>
              <a:t>rFhDn_r</a:t>
            </a:r>
            <a:r>
              <a:rPr lang="en-US" sz="1800" b="1" dirty="0">
                <a:latin typeface="Courier New" pitchFamily="49" charset="0"/>
              </a:rPr>
              <a:t> = </a:t>
            </a:r>
            <a:r>
              <a:rPr lang="en-US" sz="1800" b="1" dirty="0" err="1">
                <a:latin typeface="Courier New" pitchFamily="49" charset="0"/>
              </a:rPr>
              <a:t>rFhD</a:t>
            </a:r>
            <a:r>
              <a:rPr lang="en-US" sz="1800" b="1" dirty="0">
                <a:latin typeface="Courier New" pitchFamily="49" charset="0"/>
              </a:rPr>
              <a:t>[n]; float </a:t>
            </a:r>
            <a:r>
              <a:rPr lang="en-US" sz="1800" b="1" dirty="0" err="1">
                <a:latin typeface="Courier New" pitchFamily="49" charset="0"/>
              </a:rPr>
              <a:t>iFhDn_r</a:t>
            </a:r>
            <a:r>
              <a:rPr lang="en-US" sz="1800" b="1" dirty="0">
                <a:latin typeface="Courier New" pitchFamily="49" charset="0"/>
              </a:rPr>
              <a:t> = </a:t>
            </a:r>
            <a:r>
              <a:rPr lang="en-US" sz="1800" b="1" dirty="0" err="1">
                <a:latin typeface="Courier New" pitchFamily="49" charset="0"/>
              </a:rPr>
              <a:t>iFhD</a:t>
            </a:r>
            <a:r>
              <a:rPr lang="en-US" sz="1800" b="1" dirty="0">
                <a:latin typeface="Courier New" pitchFamily="49" charset="0"/>
              </a:rPr>
              <a:t>[n];</a:t>
            </a:r>
          </a:p>
          <a:p>
            <a:pPr eaLnBrk="1" hangingPunct="1"/>
            <a:endParaRPr lang="en-US" sz="1800" b="1" dirty="0">
              <a:latin typeface="Courier New" pitchFamily="49" charset="0"/>
            </a:endParaRPr>
          </a:p>
          <a:p>
            <a:pPr eaLnBrk="1" hangingPunct="1"/>
            <a:r>
              <a:rPr lang="en-US" sz="1800" b="1" dirty="0">
                <a:latin typeface="Courier New" pitchFamily="49" charset="0"/>
              </a:rPr>
              <a:t>  for (m = 0; m &lt; M; m++) {</a:t>
            </a:r>
          </a:p>
          <a:p>
            <a:pPr eaLnBrk="1" hangingPunct="1"/>
            <a:r>
              <a:rPr lang="en-US" sz="1800" b="1" dirty="0">
                <a:latin typeface="Courier New" pitchFamily="49" charset="0"/>
              </a:rPr>
              <a:t>    float </a:t>
            </a:r>
            <a:r>
              <a:rPr lang="en-US" sz="1800" b="1" dirty="0" err="1">
                <a:latin typeface="Courier New" pitchFamily="49" charset="0"/>
              </a:rPr>
              <a:t>expFhD</a:t>
            </a:r>
            <a:r>
              <a:rPr lang="en-US" sz="1800" b="1" dirty="0">
                <a:latin typeface="Courier New" pitchFamily="49" charset="0"/>
              </a:rPr>
              <a:t> = 		   		 	2*PI*(</a:t>
            </a:r>
            <a:r>
              <a:rPr lang="en-US" sz="1800" b="1" dirty="0" err="1">
                <a:latin typeface="Courier New" pitchFamily="49" charset="0"/>
              </a:rPr>
              <a:t>kx_c</a:t>
            </a:r>
            <a:r>
              <a:rPr lang="en-US" sz="1800" b="1" dirty="0">
                <a:latin typeface="Courier New" pitchFamily="49" charset="0"/>
              </a:rPr>
              <a:t>[m]*</a:t>
            </a:r>
            <a:r>
              <a:rPr lang="en-US" sz="1800" b="1" dirty="0" err="1">
                <a:latin typeface="Courier New" pitchFamily="49" charset="0"/>
              </a:rPr>
              <a:t>xn_r+ky_c</a:t>
            </a:r>
            <a:r>
              <a:rPr lang="en-US" sz="1800" b="1" dirty="0">
                <a:latin typeface="Courier New" pitchFamily="49" charset="0"/>
              </a:rPr>
              <a:t>[m]*</a:t>
            </a:r>
            <a:r>
              <a:rPr lang="en-US" sz="1800" b="1" dirty="0" err="1">
                <a:latin typeface="Courier New" pitchFamily="49" charset="0"/>
              </a:rPr>
              <a:t>yn_r+kz_c</a:t>
            </a:r>
            <a:r>
              <a:rPr lang="en-US" sz="1800" b="1" dirty="0">
                <a:latin typeface="Courier New" pitchFamily="49" charset="0"/>
              </a:rPr>
              <a:t>[m]*</a:t>
            </a:r>
            <a:r>
              <a:rPr lang="en-US" sz="1800" b="1" dirty="0" err="1">
                <a:latin typeface="Courier New" pitchFamily="49" charset="0"/>
              </a:rPr>
              <a:t>zn_r</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float </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cos</a:t>
            </a:r>
            <a:r>
              <a:rPr lang="en-US" sz="1800" b="1" dirty="0">
                <a:latin typeface="Courier New" pitchFamily="49" charset="0"/>
              </a:rPr>
              <a:t>(</a:t>
            </a:r>
            <a:r>
              <a:rPr lang="en-US" sz="1800" b="1" dirty="0" err="1">
                <a:latin typeface="Courier New" pitchFamily="49" charset="0"/>
              </a:rPr>
              <a:t>expFhD</a:t>
            </a:r>
            <a:r>
              <a:rPr lang="en-US" sz="1800" b="1" dirty="0">
                <a:latin typeface="Courier New" pitchFamily="49" charset="0"/>
              </a:rPr>
              <a:t>);  </a:t>
            </a:r>
          </a:p>
          <a:p>
            <a:pPr eaLnBrk="1" hangingPunct="1"/>
            <a:r>
              <a:rPr lang="en-US" sz="1800" b="1" dirty="0">
                <a:latin typeface="Courier New" pitchFamily="49" charset="0"/>
              </a:rPr>
              <a:t>    float </a:t>
            </a:r>
            <a:r>
              <a:rPr lang="en-US" sz="1800" b="1" dirty="0" err="1">
                <a:latin typeface="Courier New" pitchFamily="49" charset="0"/>
              </a:rPr>
              <a:t>sArg</a:t>
            </a:r>
            <a:r>
              <a:rPr lang="en-US" sz="1800" b="1" dirty="0">
                <a:latin typeface="Courier New" pitchFamily="49" charset="0"/>
              </a:rPr>
              <a:t> = sin(</a:t>
            </a:r>
            <a:r>
              <a:rPr lang="en-US" sz="1800" b="1" dirty="0" err="1">
                <a:latin typeface="Courier New" pitchFamily="49" charset="0"/>
              </a:rPr>
              <a:t>expFhD</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rFhDn_r</a:t>
            </a:r>
            <a:r>
              <a:rPr lang="en-US" sz="1800" b="1" dirty="0">
                <a:latin typeface="Courier New" pitchFamily="49" charset="0"/>
              </a:rPr>
              <a:t>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iFhDn_r</a:t>
            </a:r>
            <a:r>
              <a:rPr lang="en-US" sz="1800" b="1" dirty="0">
                <a:latin typeface="Courier New" pitchFamily="49" charset="0"/>
              </a:rPr>
              <a:t>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rFhD</a:t>
            </a:r>
            <a:r>
              <a:rPr lang="en-US" sz="1800" b="1" dirty="0">
                <a:latin typeface="Courier New" pitchFamily="49" charset="0"/>
              </a:rPr>
              <a:t>[n] = </a:t>
            </a:r>
            <a:r>
              <a:rPr lang="en-US" sz="1800" b="1" dirty="0" err="1">
                <a:latin typeface="Courier New" pitchFamily="49" charset="0"/>
              </a:rPr>
              <a:t>rFhD_r</a:t>
            </a:r>
            <a:r>
              <a:rPr lang="en-US" sz="1800" b="1" dirty="0">
                <a:latin typeface="Courier New" pitchFamily="49" charset="0"/>
              </a:rPr>
              <a:t>; </a:t>
            </a:r>
            <a:r>
              <a:rPr lang="en-US" sz="1800" b="1" dirty="0" err="1">
                <a:latin typeface="Courier New" pitchFamily="49" charset="0"/>
              </a:rPr>
              <a:t>iFhD</a:t>
            </a:r>
            <a:r>
              <a:rPr lang="en-US" sz="1800" b="1" dirty="0">
                <a:latin typeface="Courier New" pitchFamily="49" charset="0"/>
              </a:rPr>
              <a:t>[n] = </a:t>
            </a:r>
            <a:r>
              <a:rPr lang="en-US" sz="1800" b="1" dirty="0" err="1">
                <a:latin typeface="Courier New" pitchFamily="49" charset="0"/>
              </a:rPr>
              <a:t>iFhD_r</a:t>
            </a:r>
            <a:r>
              <a:rPr lang="en-US" sz="1800" b="1" dirty="0">
                <a:latin typeface="Courier New" pitchFamily="49" charset="0"/>
              </a:rPr>
              <a:t>;</a:t>
            </a:r>
          </a:p>
          <a:p>
            <a:pPr eaLnBrk="1" hangingPunct="1"/>
            <a:r>
              <a:rPr lang="en-US" sz="1800" b="1" dirty="0">
                <a:latin typeface="Courier New" pitchFamily="49" charset="0"/>
              </a:rPr>
              <a:t>}</a:t>
            </a:r>
          </a:p>
        </p:txBody>
      </p:sp>
      <p:sp>
        <p:nvSpPr>
          <p:cNvPr id="14339" name="Text Box 3"/>
          <p:cNvSpPr txBox="1">
            <a:spLocks noChangeArrowheads="1"/>
          </p:cNvSpPr>
          <p:nvPr/>
        </p:nvSpPr>
        <p:spPr bwMode="auto">
          <a:xfrm>
            <a:off x="8610600" y="62484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200">
                <a:latin typeface="Arial Narrow" pitchFamily="34" charset="0"/>
              </a:rPr>
              <a:t>6</a:t>
            </a:r>
          </a:p>
        </p:txBody>
      </p:sp>
      <p:sp>
        <p:nvSpPr>
          <p:cNvPr id="3" name="Text Placeholder 2">
            <a:extLst>
              <a:ext uri="{FF2B5EF4-FFF2-40B4-BE49-F238E27FC236}">
                <a16:creationId xmlns:a16="http://schemas.microsoft.com/office/drawing/2014/main" id="{26F5BDA2-9206-FCA1-2E54-87D8B4A7B666}"/>
              </a:ext>
            </a:extLst>
          </p:cNvPr>
          <p:cNvSpPr>
            <a:spLocks noGrp="1"/>
          </p:cNvSpPr>
          <p:nvPr>
            <p:ph type="body" idx="10"/>
          </p:nvPr>
        </p:nvSpPr>
        <p:spPr/>
        <p:txBody>
          <a:bodyPr/>
          <a:lstStyle/>
          <a:p>
            <a:r>
              <a:rPr lang="en-US" sz="2400" dirty="0"/>
              <a:t>Revised F</a:t>
            </a:r>
            <a:r>
              <a:rPr lang="en-US" sz="2400" baseline="30000" dirty="0"/>
              <a:t>H</a:t>
            </a:r>
            <a:r>
              <a:rPr lang="en-US" sz="2400" dirty="0"/>
              <a:t>D Kernel – Constant Memory</a:t>
            </a:r>
            <a:endParaRPr lang="en-US" dirty="0"/>
          </a:p>
        </p:txBody>
      </p:sp>
    </p:spTree>
    <p:extLst>
      <p:ext uri="{BB962C8B-B14F-4D97-AF65-F5344CB8AC3E}">
        <p14:creationId xmlns:p14="http://schemas.microsoft.com/office/powerpoint/2010/main" val="2554237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4"/>
          <p:cNvSpPr txBox="1">
            <a:spLocks noChangeArrowheads="1"/>
          </p:cNvSpPr>
          <p:nvPr/>
        </p:nvSpPr>
        <p:spPr bwMode="auto">
          <a:xfrm>
            <a:off x="8610600" y="62484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200">
                <a:latin typeface="Arial Narrow" pitchFamily="34" charset="0"/>
              </a:rPr>
              <a:t>25</a:t>
            </a:r>
          </a:p>
        </p:txBody>
      </p:sp>
      <p:pic>
        <p:nvPicPr>
          <p:cNvPr id="1536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8920" y="1528660"/>
            <a:ext cx="3997325" cy="196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120" y="1528660"/>
            <a:ext cx="3962400" cy="194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65" name="Text Box 8"/>
          <p:cNvSpPr txBox="1">
            <a:spLocks noChangeArrowheads="1"/>
          </p:cNvSpPr>
          <p:nvPr/>
        </p:nvSpPr>
        <p:spPr bwMode="auto">
          <a:xfrm>
            <a:off x="268320" y="3586060"/>
            <a:ext cx="46474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dirty="0"/>
              <a:t>(a) </a:t>
            </a:r>
            <a:r>
              <a:rPr lang="en-US" sz="1800" dirty="0"/>
              <a:t>k-space data stored in separate arrays.</a:t>
            </a:r>
          </a:p>
        </p:txBody>
      </p:sp>
      <p:sp>
        <p:nvSpPr>
          <p:cNvPr id="15366" name="Text Box 9"/>
          <p:cNvSpPr txBox="1">
            <a:spLocks noChangeArrowheads="1"/>
          </p:cNvSpPr>
          <p:nvPr/>
        </p:nvSpPr>
        <p:spPr bwMode="auto">
          <a:xfrm>
            <a:off x="4992720" y="3622573"/>
            <a:ext cx="4038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dirty="0"/>
              <a:t>(b) k-space data stored in an array whose elements are </a:t>
            </a:r>
            <a:r>
              <a:rPr lang="en-US" sz="1800" dirty="0" err="1"/>
              <a:t>structs</a:t>
            </a:r>
            <a:r>
              <a:rPr lang="en-US" sz="1800" dirty="0"/>
              <a:t>.</a:t>
            </a:r>
          </a:p>
        </p:txBody>
      </p:sp>
      <p:sp>
        <p:nvSpPr>
          <p:cNvPr id="5" name="Text Placeholder 4">
            <a:extLst>
              <a:ext uri="{FF2B5EF4-FFF2-40B4-BE49-F238E27FC236}">
                <a16:creationId xmlns:a16="http://schemas.microsoft.com/office/drawing/2014/main" id="{2925950B-5F63-44A3-7A61-5BBCFBFDE22B}"/>
              </a:ext>
            </a:extLst>
          </p:cNvPr>
          <p:cNvSpPr>
            <a:spLocks noGrp="1"/>
          </p:cNvSpPr>
          <p:nvPr>
            <p:ph type="body" idx="10"/>
          </p:nvPr>
        </p:nvSpPr>
        <p:spPr/>
        <p:txBody>
          <a:bodyPr/>
          <a:lstStyle/>
          <a:p>
            <a:r>
              <a:rPr lang="en-US" sz="2400" dirty="0"/>
              <a:t>Constant Memory Layout Consideration</a:t>
            </a:r>
            <a:endParaRPr lang="en-US" dirty="0"/>
          </a:p>
          <a:p>
            <a:endParaRPr lang="en-US" dirty="0"/>
          </a:p>
        </p:txBody>
      </p:sp>
      <p:sp>
        <p:nvSpPr>
          <p:cNvPr id="8" name="Content Placeholder 7">
            <a:extLst>
              <a:ext uri="{FF2B5EF4-FFF2-40B4-BE49-F238E27FC236}">
                <a16:creationId xmlns:a16="http://schemas.microsoft.com/office/drawing/2014/main" id="{18C0C5FB-EBF9-A3E5-60C9-423A76CBDDB0}"/>
              </a:ext>
            </a:extLst>
          </p:cNvPr>
          <p:cNvSpPr>
            <a:spLocks noGrp="1"/>
          </p:cNvSpPr>
          <p:nvPr>
            <p:ph sz="half" idx="1"/>
          </p:nvPr>
        </p:nvSpPr>
        <p:spPr>
          <a:xfrm>
            <a:off x="350672" y="4523623"/>
            <a:ext cx="8464802" cy="1899078"/>
          </a:xfrm>
        </p:spPr>
        <p:txBody>
          <a:bodyPr/>
          <a:lstStyle/>
          <a:p>
            <a:r>
              <a:rPr lang="en-US" dirty="0"/>
              <a:t>Storing k-space samples in three separate arrays requires 3 cache lines for each warp</a:t>
            </a:r>
          </a:p>
          <a:p>
            <a:pPr lvl="1"/>
            <a:r>
              <a:rPr lang="en-US" dirty="0"/>
              <a:t>Interleaving x, y, z values of the same sample in the same array reduces the cache line requirement to 1 per warp</a:t>
            </a:r>
          </a:p>
          <a:p>
            <a:endParaRPr lang="en-US" dirty="0"/>
          </a:p>
        </p:txBody>
      </p:sp>
    </p:spTree>
    <p:extLst>
      <p:ext uri="{BB962C8B-B14F-4D97-AF65-F5344CB8AC3E}">
        <p14:creationId xmlns:p14="http://schemas.microsoft.com/office/powerpoint/2010/main" val="303366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419878" y="1105555"/>
            <a:ext cx="8839200" cy="544764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err="1">
                <a:latin typeface="Courier New" pitchFamily="49" charset="0"/>
              </a:rPr>
              <a:t>struct</a:t>
            </a:r>
            <a:r>
              <a:rPr lang="en-US" sz="1800" b="1" dirty="0">
                <a:latin typeface="Courier New" pitchFamily="49" charset="0"/>
              </a:rPr>
              <a:t> </a:t>
            </a:r>
            <a:r>
              <a:rPr lang="en-US" sz="1800" b="1" dirty="0" err="1">
                <a:latin typeface="Courier New" pitchFamily="49" charset="0"/>
              </a:rPr>
              <a:t>kdata</a:t>
            </a:r>
            <a:r>
              <a:rPr lang="en-US" sz="1800" b="1" dirty="0">
                <a:latin typeface="Courier New" pitchFamily="49" charset="0"/>
              </a:rPr>
              <a:t> {</a:t>
            </a:r>
          </a:p>
          <a:p>
            <a:pPr eaLnBrk="1" hangingPunct="1"/>
            <a:r>
              <a:rPr lang="en-US" sz="1800" b="1" dirty="0">
                <a:latin typeface="Courier New" pitchFamily="49" charset="0"/>
              </a:rPr>
              <a:t>   float x, float y, float z;</a:t>
            </a:r>
          </a:p>
          <a:p>
            <a:pPr eaLnBrk="1" hangingPunct="1"/>
            <a:r>
              <a:rPr lang="en-US" sz="1800" b="1" dirty="0">
                <a:latin typeface="Courier New" pitchFamily="49" charset="0"/>
              </a:rPr>
              <a:t>} k;</a:t>
            </a:r>
          </a:p>
          <a:p>
            <a:pPr eaLnBrk="1" hangingPunct="1"/>
            <a:endParaRPr lang="en-US" sz="1800" b="1" dirty="0">
              <a:latin typeface="Courier New" pitchFamily="49" charset="0"/>
            </a:endParaRPr>
          </a:p>
          <a:p>
            <a:pPr eaLnBrk="1" hangingPunct="1"/>
            <a:r>
              <a:rPr lang="en-US" sz="1800" b="1" dirty="0">
                <a:latin typeface="Courier New" pitchFamily="49" charset="0"/>
              </a:rPr>
              <a:t>__constant__ </a:t>
            </a:r>
            <a:r>
              <a:rPr lang="en-US" sz="1800" b="1" dirty="0" err="1">
                <a:latin typeface="Courier New" pitchFamily="49" charset="0"/>
              </a:rPr>
              <a:t>struct</a:t>
            </a:r>
            <a:r>
              <a:rPr lang="en-US" sz="1800" b="1" dirty="0">
                <a:latin typeface="Courier New" pitchFamily="49" charset="0"/>
              </a:rPr>
              <a:t> </a:t>
            </a:r>
            <a:r>
              <a:rPr lang="en-US" sz="1800" b="1" dirty="0" err="1">
                <a:latin typeface="Courier New" pitchFamily="49" charset="0"/>
              </a:rPr>
              <a:t>kdata</a:t>
            </a:r>
            <a:r>
              <a:rPr lang="en-US" sz="1800" b="1" dirty="0">
                <a:latin typeface="Courier New" pitchFamily="49" charset="0"/>
              </a:rPr>
              <a:t> </a:t>
            </a:r>
            <a:r>
              <a:rPr lang="en-US" sz="1800" b="1" dirty="0" err="1">
                <a:latin typeface="Courier New" pitchFamily="49" charset="0"/>
              </a:rPr>
              <a:t>k_c</a:t>
            </a:r>
            <a:r>
              <a:rPr lang="en-US" sz="1800" b="1" dirty="0">
                <a:latin typeface="Courier New" pitchFamily="49" charset="0"/>
              </a:rPr>
              <a:t>[CHUNK_SIZE];</a:t>
            </a:r>
          </a:p>
          <a:p>
            <a:pPr eaLnBrk="1" hangingPunct="1"/>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__ void main() {</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a:t>
            </a:r>
            <a:r>
              <a:rPr lang="en-US" sz="1800" b="1" dirty="0" err="1">
                <a:latin typeface="Courier New" pitchFamily="49" charset="0"/>
              </a:rPr>
              <a:t>i</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for (</a:t>
            </a:r>
            <a:r>
              <a:rPr lang="en-US" sz="1800" b="1" dirty="0" err="1">
                <a:latin typeface="Courier New" pitchFamily="49" charset="0"/>
              </a:rPr>
              <a:t>i</a:t>
            </a:r>
            <a:r>
              <a:rPr lang="en-US" sz="1800" b="1" dirty="0">
                <a:latin typeface="Courier New" pitchFamily="49" charset="0"/>
              </a:rPr>
              <a:t> = 0; </a:t>
            </a:r>
            <a:r>
              <a:rPr lang="en-US" sz="1800" b="1" dirty="0" err="1">
                <a:latin typeface="Courier New" pitchFamily="49" charset="0"/>
              </a:rPr>
              <a:t>i</a:t>
            </a:r>
            <a:r>
              <a:rPr lang="en-US" sz="1800" b="1" dirty="0">
                <a:latin typeface="Courier New" pitchFamily="49" charset="0"/>
              </a:rPr>
              <a:t> &lt; M/CHUNK_SIZE; </a:t>
            </a:r>
            <a:r>
              <a:rPr lang="en-US" sz="1800" b="1" dirty="0" err="1">
                <a:latin typeface="Courier New" pitchFamily="49" charset="0"/>
              </a:rPr>
              <a:t>i</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cudaMemcpyToSymbol</a:t>
            </a:r>
            <a:r>
              <a:rPr lang="en-US" sz="1800" b="1" dirty="0">
                <a:latin typeface="Courier New" pitchFamily="49" charset="0"/>
              </a:rPr>
              <a:t>(k_c,k,12*CHUNK_SIZE, 				</a:t>
            </a:r>
            <a:r>
              <a:rPr lang="en-US" sz="1800" b="1" dirty="0" err="1">
                <a:latin typeface="Courier New" pitchFamily="49" charset="0"/>
              </a:rPr>
              <a:t>cudaMemCpyHostToDevice</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cmpFhD</a:t>
            </a:r>
            <a:r>
              <a:rPr lang="en-US" sz="1800" b="1" dirty="0">
                <a:latin typeface="Courier New" pitchFamily="49" charset="0"/>
              </a:rPr>
              <a:t>&lt;&lt;&lt;FHD_THREADS_PER_BLOCK, N/FHD_THREADS_PER_BLOCK&gt;&gt;&gt; 		(…);</a:t>
            </a:r>
          </a:p>
          <a:p>
            <a:pPr eaLnBrk="1" hangingPunct="1"/>
            <a:r>
              <a:rPr lang="en-US" b="1" dirty="0">
                <a:latin typeface="Courier New" pitchFamily="49" charset="0"/>
              </a:rPr>
              <a:t>  </a:t>
            </a:r>
            <a:r>
              <a:rPr lang="en-US" sz="1800" b="1" dirty="0">
                <a:latin typeface="Courier New" pitchFamily="49" charset="0"/>
              </a:rPr>
              <a:t>}</a:t>
            </a:r>
          </a:p>
          <a:p>
            <a:pPr eaLnBrk="1" hangingPunct="1"/>
            <a:r>
              <a:rPr lang="en-US" sz="1800" b="1" dirty="0">
                <a:latin typeface="Courier New" pitchFamily="49" charset="0"/>
              </a:rPr>
              <a:t>}</a:t>
            </a:r>
          </a:p>
        </p:txBody>
      </p:sp>
      <p:sp>
        <p:nvSpPr>
          <p:cNvPr id="16387" name="Text Box 3"/>
          <p:cNvSpPr txBox="1">
            <a:spLocks noChangeArrowheads="1"/>
          </p:cNvSpPr>
          <p:nvPr/>
        </p:nvSpPr>
        <p:spPr bwMode="auto">
          <a:xfrm>
            <a:off x="8610600" y="62484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200">
                <a:latin typeface="Arial Narrow" pitchFamily="34" charset="0"/>
              </a:rPr>
              <a:t>6</a:t>
            </a:r>
          </a:p>
        </p:txBody>
      </p:sp>
      <p:sp>
        <p:nvSpPr>
          <p:cNvPr id="3" name="Text Placeholder 2">
            <a:extLst>
              <a:ext uri="{FF2B5EF4-FFF2-40B4-BE49-F238E27FC236}">
                <a16:creationId xmlns:a16="http://schemas.microsoft.com/office/drawing/2014/main" id="{9057ED2A-982E-CAAD-1A19-EEAB18C8B84A}"/>
              </a:ext>
            </a:extLst>
          </p:cNvPr>
          <p:cNvSpPr>
            <a:spLocks noGrp="1"/>
          </p:cNvSpPr>
          <p:nvPr>
            <p:ph type="body" idx="10"/>
          </p:nvPr>
        </p:nvSpPr>
        <p:spPr/>
        <p:txBody>
          <a:bodyPr/>
          <a:lstStyle/>
          <a:p>
            <a:r>
              <a:rPr lang="en-US" sz="2400" dirty="0"/>
              <a:t>Host Code with Adjusted Constant Memory Layout</a:t>
            </a:r>
            <a:endParaRPr lang="en-US" dirty="0"/>
          </a:p>
        </p:txBody>
      </p:sp>
    </p:spTree>
    <p:extLst>
      <p:ext uri="{BB962C8B-B14F-4D97-AF65-F5344CB8AC3E}">
        <p14:creationId xmlns:p14="http://schemas.microsoft.com/office/powerpoint/2010/main" val="1399107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304800" y="1241263"/>
            <a:ext cx="8839200" cy="5319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__global__ void </a:t>
            </a:r>
            <a:r>
              <a:rPr lang="en-US" sz="1800" b="1" dirty="0" err="1">
                <a:latin typeface="Courier New" pitchFamily="49" charset="0"/>
              </a:rPr>
              <a:t>cmpFhD</a:t>
            </a:r>
            <a:r>
              <a:rPr lang="en-US" sz="1800" b="1" dirty="0">
                <a:latin typeface="Courier New" pitchFamily="49" charset="0"/>
              </a:rPr>
              <a:t>(float* </a:t>
            </a:r>
            <a:r>
              <a:rPr lang="en-US" sz="1800" b="1" dirty="0" err="1">
                <a:latin typeface="Courier New" pitchFamily="49" charset="0"/>
              </a:rPr>
              <a:t>rPhi</a:t>
            </a:r>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 </a:t>
            </a:r>
            <a:r>
              <a:rPr lang="en-US" sz="1800" b="1" dirty="0" err="1">
                <a:latin typeface="Courier New" pitchFamily="49" charset="0"/>
              </a:rPr>
              <a:t>phiMag</a:t>
            </a:r>
            <a:r>
              <a:rPr lang="en-US" sz="1800" b="1" dirty="0">
                <a:latin typeface="Courier New" pitchFamily="49" charset="0"/>
              </a:rPr>
              <a:t>, </a:t>
            </a:r>
          </a:p>
          <a:p>
            <a:pPr eaLnBrk="1" hangingPunct="1"/>
            <a:r>
              <a:rPr lang="en-US" sz="1800" b="1" dirty="0">
                <a:latin typeface="Courier New" pitchFamily="49" charset="0"/>
              </a:rPr>
              <a:t>	x, y, z, </a:t>
            </a:r>
            <a:r>
              <a:rPr lang="en-US" sz="1800" b="1" dirty="0" err="1">
                <a:latin typeface="Courier New" pitchFamily="49" charset="0"/>
              </a:rPr>
              <a:t>rMu</a:t>
            </a:r>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M) {</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n = </a:t>
            </a:r>
            <a:r>
              <a:rPr lang="en-US" sz="1800" b="1" dirty="0" err="1">
                <a:latin typeface="Courier New" pitchFamily="49" charset="0"/>
              </a:rPr>
              <a:t>blockIdx.x</a:t>
            </a:r>
            <a:r>
              <a:rPr lang="en-US" sz="1800" b="1" dirty="0">
                <a:latin typeface="Courier New" pitchFamily="49" charset="0"/>
              </a:rPr>
              <a:t> * FHD_THREADS_PER_BLOCK + </a:t>
            </a:r>
            <a:r>
              <a:rPr lang="en-US" sz="1800" b="1" dirty="0" err="1">
                <a:latin typeface="Courier New" pitchFamily="49" charset="0"/>
              </a:rPr>
              <a:t>threadIdx.x</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float </a:t>
            </a:r>
            <a:r>
              <a:rPr lang="en-US" sz="1800" b="1" dirty="0" err="1">
                <a:latin typeface="Courier New" pitchFamily="49" charset="0"/>
              </a:rPr>
              <a:t>xn_r</a:t>
            </a:r>
            <a:r>
              <a:rPr lang="en-US" sz="1800" b="1" dirty="0">
                <a:latin typeface="Courier New" pitchFamily="49" charset="0"/>
              </a:rPr>
              <a:t> = x[n]; float </a:t>
            </a:r>
            <a:r>
              <a:rPr lang="en-US" sz="1800" b="1" dirty="0" err="1">
                <a:latin typeface="Courier New" pitchFamily="49" charset="0"/>
              </a:rPr>
              <a:t>yn_r</a:t>
            </a:r>
            <a:r>
              <a:rPr lang="en-US" sz="1800" b="1" dirty="0">
                <a:latin typeface="Courier New" pitchFamily="49" charset="0"/>
              </a:rPr>
              <a:t> = y[n]; float </a:t>
            </a:r>
            <a:r>
              <a:rPr lang="en-US" sz="1800" b="1" dirty="0" err="1">
                <a:latin typeface="Courier New" pitchFamily="49" charset="0"/>
              </a:rPr>
              <a:t>zn_r</a:t>
            </a:r>
            <a:r>
              <a:rPr lang="en-US" sz="1800" b="1" dirty="0">
                <a:latin typeface="Courier New" pitchFamily="49" charset="0"/>
              </a:rPr>
              <a:t> = z[n];</a:t>
            </a:r>
          </a:p>
          <a:p>
            <a:pPr eaLnBrk="1" hangingPunct="1"/>
            <a:r>
              <a:rPr lang="en-US" sz="1800" b="1" dirty="0">
                <a:latin typeface="Courier New" pitchFamily="49" charset="0"/>
              </a:rPr>
              <a:t>  float </a:t>
            </a:r>
            <a:r>
              <a:rPr lang="en-US" sz="1800" b="1" dirty="0" err="1">
                <a:latin typeface="Courier New" pitchFamily="49" charset="0"/>
              </a:rPr>
              <a:t>rFhDn_r</a:t>
            </a:r>
            <a:r>
              <a:rPr lang="en-US" sz="1800" b="1" dirty="0">
                <a:latin typeface="Courier New" pitchFamily="49" charset="0"/>
              </a:rPr>
              <a:t> = </a:t>
            </a:r>
            <a:r>
              <a:rPr lang="en-US" sz="1800" b="1" dirty="0" err="1">
                <a:latin typeface="Courier New" pitchFamily="49" charset="0"/>
              </a:rPr>
              <a:t>rFhD</a:t>
            </a:r>
            <a:r>
              <a:rPr lang="en-US" sz="1800" b="1" dirty="0">
                <a:latin typeface="Courier New" pitchFamily="49" charset="0"/>
              </a:rPr>
              <a:t>[n]; float </a:t>
            </a:r>
            <a:r>
              <a:rPr lang="en-US" sz="1800" b="1" dirty="0" err="1">
                <a:latin typeface="Courier New" pitchFamily="49" charset="0"/>
              </a:rPr>
              <a:t>iFhDn_r</a:t>
            </a:r>
            <a:r>
              <a:rPr lang="en-US" sz="1800" b="1" dirty="0">
                <a:latin typeface="Courier New" pitchFamily="49" charset="0"/>
              </a:rPr>
              <a:t> = </a:t>
            </a:r>
            <a:r>
              <a:rPr lang="en-US" sz="1800" b="1" dirty="0" err="1">
                <a:latin typeface="Courier New" pitchFamily="49" charset="0"/>
              </a:rPr>
              <a:t>iFhD</a:t>
            </a:r>
            <a:r>
              <a:rPr lang="en-US" sz="1800" b="1" dirty="0">
                <a:latin typeface="Courier New" pitchFamily="49" charset="0"/>
              </a:rPr>
              <a:t>[n];</a:t>
            </a:r>
          </a:p>
          <a:p>
            <a:pPr eaLnBrk="1" hangingPunct="1"/>
            <a:endParaRPr lang="en-US" sz="1800" b="1" dirty="0">
              <a:latin typeface="Courier New" pitchFamily="49" charset="0"/>
            </a:endParaRPr>
          </a:p>
          <a:p>
            <a:pPr eaLnBrk="1" hangingPunct="1"/>
            <a:r>
              <a:rPr lang="en-US" sz="1800" b="1" dirty="0">
                <a:latin typeface="Courier New" pitchFamily="49" charset="0"/>
              </a:rPr>
              <a:t>  for (m = 0; m &lt; M; m++) {</a:t>
            </a:r>
          </a:p>
          <a:p>
            <a:pPr eaLnBrk="1" hangingPunct="1"/>
            <a:r>
              <a:rPr lang="en-US" sz="1800" b="1" dirty="0">
                <a:latin typeface="Courier New" pitchFamily="49" charset="0"/>
              </a:rPr>
              <a:t>    float </a:t>
            </a:r>
            <a:r>
              <a:rPr lang="en-US" sz="1800" b="1" dirty="0" err="1">
                <a:latin typeface="Courier New" pitchFamily="49" charset="0"/>
              </a:rPr>
              <a:t>expFhD</a:t>
            </a:r>
            <a:r>
              <a:rPr lang="en-US" sz="1800" b="1" dirty="0">
                <a:latin typeface="Courier New" pitchFamily="49" charset="0"/>
              </a:rPr>
              <a:t> = 2*PI*(</a:t>
            </a:r>
            <a:r>
              <a:rPr lang="en-US" sz="1800" b="1" dirty="0">
                <a:solidFill>
                  <a:srgbClr val="FF0000"/>
                </a:solidFill>
                <a:latin typeface="Courier New" pitchFamily="49" charset="0"/>
              </a:rPr>
              <a:t>k[m].x</a:t>
            </a:r>
            <a:r>
              <a:rPr lang="en-US" sz="1800" b="1" dirty="0">
                <a:latin typeface="Courier New" pitchFamily="49" charset="0"/>
              </a:rPr>
              <a:t>*</a:t>
            </a:r>
            <a:r>
              <a:rPr lang="en-US" sz="1800" b="1" dirty="0" err="1">
                <a:latin typeface="Courier New" pitchFamily="49" charset="0"/>
              </a:rPr>
              <a:t>xn_r+</a:t>
            </a:r>
            <a:r>
              <a:rPr lang="en-US" sz="1800" b="1" dirty="0" err="1">
                <a:solidFill>
                  <a:srgbClr val="FF0000"/>
                </a:solidFill>
                <a:latin typeface="Courier New" pitchFamily="49" charset="0"/>
              </a:rPr>
              <a:t>k</a:t>
            </a:r>
            <a:r>
              <a:rPr lang="en-US" sz="1800" b="1" dirty="0">
                <a:solidFill>
                  <a:srgbClr val="FF0000"/>
                </a:solidFill>
                <a:latin typeface="Courier New" pitchFamily="49" charset="0"/>
              </a:rPr>
              <a:t>[m].y</a:t>
            </a:r>
            <a:r>
              <a:rPr lang="en-US" sz="1800" b="1" dirty="0">
                <a:latin typeface="Courier New" pitchFamily="49" charset="0"/>
              </a:rPr>
              <a:t>*</a:t>
            </a:r>
            <a:r>
              <a:rPr lang="en-US" sz="1800" b="1" dirty="0" err="1">
                <a:latin typeface="Courier New" pitchFamily="49" charset="0"/>
              </a:rPr>
              <a:t>yn_r+</a:t>
            </a:r>
            <a:r>
              <a:rPr lang="en-US" sz="1800" b="1" dirty="0" err="1">
                <a:solidFill>
                  <a:srgbClr val="FF0000"/>
                </a:solidFill>
                <a:latin typeface="Courier New" pitchFamily="49" charset="0"/>
              </a:rPr>
              <a:t>k</a:t>
            </a:r>
            <a:r>
              <a:rPr lang="en-US" sz="1800" b="1" dirty="0">
                <a:solidFill>
                  <a:srgbClr val="FF0000"/>
                </a:solidFill>
                <a:latin typeface="Courier New" pitchFamily="49" charset="0"/>
              </a:rPr>
              <a:t>[m].z</a:t>
            </a:r>
            <a:r>
              <a:rPr lang="en-US" sz="1800" b="1" dirty="0">
                <a:latin typeface="Courier New" pitchFamily="49" charset="0"/>
              </a:rPr>
              <a:t>*</a:t>
            </a:r>
            <a:r>
              <a:rPr lang="en-US" sz="1800" b="1" dirty="0" err="1">
                <a:latin typeface="Courier New" pitchFamily="49" charset="0"/>
              </a:rPr>
              <a:t>zn_r</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float </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cos</a:t>
            </a:r>
            <a:r>
              <a:rPr lang="en-US" sz="1800" b="1" dirty="0">
                <a:latin typeface="Courier New" pitchFamily="49" charset="0"/>
              </a:rPr>
              <a:t>(</a:t>
            </a:r>
            <a:r>
              <a:rPr lang="en-US" sz="1800" b="1" dirty="0" err="1">
                <a:latin typeface="Courier New" pitchFamily="49" charset="0"/>
              </a:rPr>
              <a:t>expFhD</a:t>
            </a:r>
            <a:r>
              <a:rPr lang="en-US" sz="1800" b="1" dirty="0">
                <a:latin typeface="Courier New" pitchFamily="49" charset="0"/>
              </a:rPr>
              <a:t>);  </a:t>
            </a:r>
          </a:p>
          <a:p>
            <a:pPr eaLnBrk="1" hangingPunct="1"/>
            <a:r>
              <a:rPr lang="en-US" sz="1800" b="1" dirty="0">
                <a:latin typeface="Courier New" pitchFamily="49" charset="0"/>
              </a:rPr>
              <a:t>    float </a:t>
            </a:r>
            <a:r>
              <a:rPr lang="en-US" sz="1800" b="1" dirty="0" err="1">
                <a:latin typeface="Courier New" pitchFamily="49" charset="0"/>
              </a:rPr>
              <a:t>sArg</a:t>
            </a:r>
            <a:r>
              <a:rPr lang="en-US" sz="1800" b="1" dirty="0">
                <a:latin typeface="Courier New" pitchFamily="49" charset="0"/>
              </a:rPr>
              <a:t> = sin(</a:t>
            </a:r>
            <a:r>
              <a:rPr lang="en-US" sz="1800" b="1" dirty="0" err="1">
                <a:latin typeface="Courier New" pitchFamily="49" charset="0"/>
              </a:rPr>
              <a:t>expFhD</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rFhDn_r</a:t>
            </a:r>
            <a:r>
              <a:rPr lang="en-US" sz="1800" b="1" dirty="0">
                <a:latin typeface="Courier New" pitchFamily="49" charset="0"/>
              </a:rPr>
              <a:t>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iFhDn_r</a:t>
            </a:r>
            <a:r>
              <a:rPr lang="en-US" sz="1800" b="1" dirty="0">
                <a:latin typeface="Courier New" pitchFamily="49" charset="0"/>
              </a:rPr>
              <a:t>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rFhD</a:t>
            </a:r>
            <a:r>
              <a:rPr lang="en-US" sz="1800" b="1" dirty="0">
                <a:latin typeface="Courier New" pitchFamily="49" charset="0"/>
              </a:rPr>
              <a:t>[n] = </a:t>
            </a:r>
            <a:r>
              <a:rPr lang="en-US" sz="1800" b="1" dirty="0" err="1">
                <a:latin typeface="Courier New" pitchFamily="49" charset="0"/>
              </a:rPr>
              <a:t>rFhD_r</a:t>
            </a:r>
            <a:r>
              <a:rPr lang="en-US" sz="1800" b="1" dirty="0">
                <a:latin typeface="Courier New" pitchFamily="49" charset="0"/>
              </a:rPr>
              <a:t>; </a:t>
            </a:r>
            <a:r>
              <a:rPr lang="en-US" sz="1800" b="1" dirty="0" err="1">
                <a:latin typeface="Courier New" pitchFamily="49" charset="0"/>
              </a:rPr>
              <a:t>iFhD</a:t>
            </a:r>
            <a:r>
              <a:rPr lang="en-US" sz="1800" b="1" dirty="0">
                <a:latin typeface="Courier New" pitchFamily="49" charset="0"/>
              </a:rPr>
              <a:t>[n] = </a:t>
            </a:r>
            <a:r>
              <a:rPr lang="en-US" sz="1800" b="1" dirty="0" err="1">
                <a:latin typeface="Courier New" pitchFamily="49" charset="0"/>
              </a:rPr>
              <a:t>iFhD_r</a:t>
            </a:r>
            <a:r>
              <a:rPr lang="en-US" sz="1800" b="1" dirty="0">
                <a:latin typeface="Courier New" pitchFamily="49" charset="0"/>
              </a:rPr>
              <a:t>;</a:t>
            </a:r>
          </a:p>
          <a:p>
            <a:pPr eaLnBrk="1" hangingPunct="1"/>
            <a:r>
              <a:rPr lang="en-US" sz="1800" b="1" dirty="0">
                <a:latin typeface="Courier New" pitchFamily="49" charset="0"/>
              </a:rPr>
              <a:t>}</a:t>
            </a:r>
          </a:p>
        </p:txBody>
      </p:sp>
      <p:sp>
        <p:nvSpPr>
          <p:cNvPr id="17411" name="Text Box 3"/>
          <p:cNvSpPr txBox="1">
            <a:spLocks noChangeArrowheads="1"/>
          </p:cNvSpPr>
          <p:nvPr/>
        </p:nvSpPr>
        <p:spPr bwMode="auto">
          <a:xfrm>
            <a:off x="8610600" y="62484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200">
                <a:latin typeface="Arial Narrow" pitchFamily="34" charset="0"/>
              </a:rPr>
              <a:t>6</a:t>
            </a:r>
          </a:p>
        </p:txBody>
      </p:sp>
      <p:sp>
        <p:nvSpPr>
          <p:cNvPr id="3" name="Text Placeholder 2">
            <a:extLst>
              <a:ext uri="{FF2B5EF4-FFF2-40B4-BE49-F238E27FC236}">
                <a16:creationId xmlns:a16="http://schemas.microsoft.com/office/drawing/2014/main" id="{E5AD01D5-F1EA-35C2-67B8-0DD4E189A7D3}"/>
              </a:ext>
            </a:extLst>
          </p:cNvPr>
          <p:cNvSpPr>
            <a:spLocks noGrp="1"/>
          </p:cNvSpPr>
          <p:nvPr>
            <p:ph type="body" idx="10"/>
          </p:nvPr>
        </p:nvSpPr>
        <p:spPr/>
        <p:txBody>
          <a:bodyPr/>
          <a:lstStyle/>
          <a:p>
            <a:r>
              <a:rPr lang="en-US" sz="2400" dirty="0"/>
              <a:t>Adjusted k-space data constant memory layout in the F</a:t>
            </a:r>
            <a:r>
              <a:rPr lang="en-US" sz="2400" baseline="30000" dirty="0"/>
              <a:t>H</a:t>
            </a:r>
            <a:r>
              <a:rPr lang="en-US" sz="2400" dirty="0"/>
              <a:t>D kernel</a:t>
            </a:r>
            <a:endParaRPr lang="en-US" dirty="0"/>
          </a:p>
        </p:txBody>
      </p:sp>
    </p:spTree>
    <p:extLst>
      <p:ext uri="{BB962C8B-B14F-4D97-AF65-F5344CB8AC3E}">
        <p14:creationId xmlns:p14="http://schemas.microsoft.com/office/powerpoint/2010/main" val="3259753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304800" y="1081087"/>
            <a:ext cx="8839200" cy="5319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800" b="1" dirty="0">
                <a:latin typeface="Courier New" pitchFamily="49" charset="0"/>
              </a:rPr>
              <a:t>__global__ void </a:t>
            </a:r>
            <a:r>
              <a:rPr lang="en-US" sz="1800" b="1" dirty="0" err="1">
                <a:latin typeface="Courier New" pitchFamily="49" charset="0"/>
              </a:rPr>
              <a:t>cmpFhD</a:t>
            </a:r>
            <a:r>
              <a:rPr lang="en-US" sz="1800" b="1" dirty="0">
                <a:latin typeface="Courier New" pitchFamily="49" charset="0"/>
              </a:rPr>
              <a:t>(float* </a:t>
            </a:r>
            <a:r>
              <a:rPr lang="en-US" sz="1800" b="1" dirty="0" err="1">
                <a:latin typeface="Courier New" pitchFamily="49" charset="0"/>
              </a:rPr>
              <a:t>rPhi</a:t>
            </a:r>
            <a:r>
              <a:rPr lang="en-US" sz="1800" b="1" dirty="0">
                <a:latin typeface="Courier New" pitchFamily="49" charset="0"/>
              </a:rPr>
              <a:t>, </a:t>
            </a:r>
            <a:r>
              <a:rPr lang="en-US" sz="1800" b="1" dirty="0" err="1">
                <a:latin typeface="Courier New" pitchFamily="49" charset="0"/>
              </a:rPr>
              <a:t>iPhi</a:t>
            </a:r>
            <a:r>
              <a:rPr lang="en-US" sz="1800" b="1" dirty="0">
                <a:latin typeface="Courier New" pitchFamily="49" charset="0"/>
              </a:rPr>
              <a:t>, </a:t>
            </a:r>
            <a:r>
              <a:rPr lang="en-US" sz="1800" b="1" dirty="0" err="1">
                <a:latin typeface="Courier New" pitchFamily="49" charset="0"/>
              </a:rPr>
              <a:t>phiMag</a:t>
            </a:r>
            <a:r>
              <a:rPr lang="en-US" sz="1800" b="1" dirty="0">
                <a:latin typeface="Courier New" pitchFamily="49" charset="0"/>
              </a:rPr>
              <a:t>, </a:t>
            </a:r>
          </a:p>
          <a:p>
            <a:pPr eaLnBrk="1" hangingPunct="1"/>
            <a:r>
              <a:rPr lang="en-US" sz="1800" b="1" dirty="0">
                <a:latin typeface="Courier New" pitchFamily="49" charset="0"/>
              </a:rPr>
              <a:t>	x, y, z, </a:t>
            </a:r>
            <a:r>
              <a:rPr lang="en-US" sz="1800" b="1" dirty="0" err="1">
                <a:latin typeface="Courier New" pitchFamily="49" charset="0"/>
              </a:rPr>
              <a:t>rMu</a:t>
            </a:r>
            <a:r>
              <a:rPr lang="en-US" sz="1800" b="1" dirty="0">
                <a:latin typeface="Courier New" pitchFamily="49" charset="0"/>
              </a:rPr>
              <a:t>, </a:t>
            </a:r>
            <a:r>
              <a:rPr lang="en-US" sz="1800" b="1" dirty="0" err="1">
                <a:latin typeface="Courier New" pitchFamily="49" charset="0"/>
              </a:rPr>
              <a:t>iMu</a:t>
            </a:r>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M) {</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int</a:t>
            </a:r>
            <a:r>
              <a:rPr lang="en-US" sz="1800" b="1" dirty="0">
                <a:latin typeface="Courier New" pitchFamily="49" charset="0"/>
              </a:rPr>
              <a:t> n = </a:t>
            </a:r>
            <a:r>
              <a:rPr lang="en-US" sz="1800" b="1" dirty="0" err="1">
                <a:latin typeface="Courier New" pitchFamily="49" charset="0"/>
              </a:rPr>
              <a:t>blockIdx.x</a:t>
            </a:r>
            <a:r>
              <a:rPr lang="en-US" sz="1800" b="1" dirty="0">
                <a:latin typeface="Courier New" pitchFamily="49" charset="0"/>
              </a:rPr>
              <a:t> * FHD_THREADS_PER_BLOCK + </a:t>
            </a:r>
            <a:r>
              <a:rPr lang="en-US" sz="1800" b="1" dirty="0" err="1">
                <a:latin typeface="Courier New" pitchFamily="49" charset="0"/>
              </a:rPr>
              <a:t>threadIdx.x</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float </a:t>
            </a:r>
            <a:r>
              <a:rPr lang="en-US" sz="1800" b="1" dirty="0" err="1">
                <a:latin typeface="Courier New" pitchFamily="49" charset="0"/>
              </a:rPr>
              <a:t>xn_r</a:t>
            </a:r>
            <a:r>
              <a:rPr lang="en-US" sz="1800" b="1" dirty="0">
                <a:latin typeface="Courier New" pitchFamily="49" charset="0"/>
              </a:rPr>
              <a:t> = x[n]; float </a:t>
            </a:r>
            <a:r>
              <a:rPr lang="en-US" sz="1800" b="1" dirty="0" err="1">
                <a:latin typeface="Courier New" pitchFamily="49" charset="0"/>
              </a:rPr>
              <a:t>yn_r</a:t>
            </a:r>
            <a:r>
              <a:rPr lang="en-US" sz="1800" b="1" dirty="0">
                <a:latin typeface="Courier New" pitchFamily="49" charset="0"/>
              </a:rPr>
              <a:t> = y[n]; float </a:t>
            </a:r>
            <a:r>
              <a:rPr lang="en-US" sz="1800" b="1" dirty="0" err="1">
                <a:latin typeface="Courier New" pitchFamily="49" charset="0"/>
              </a:rPr>
              <a:t>zn_r</a:t>
            </a:r>
            <a:r>
              <a:rPr lang="en-US" sz="1800" b="1" dirty="0">
                <a:latin typeface="Courier New" pitchFamily="49" charset="0"/>
              </a:rPr>
              <a:t> = z[n];</a:t>
            </a:r>
          </a:p>
          <a:p>
            <a:pPr eaLnBrk="1" hangingPunct="1"/>
            <a:r>
              <a:rPr lang="en-US" sz="1800" b="1" dirty="0">
                <a:latin typeface="Courier New" pitchFamily="49" charset="0"/>
              </a:rPr>
              <a:t>  float </a:t>
            </a:r>
            <a:r>
              <a:rPr lang="en-US" sz="1800" b="1" dirty="0" err="1">
                <a:latin typeface="Courier New" pitchFamily="49" charset="0"/>
              </a:rPr>
              <a:t>rFhDn_r</a:t>
            </a:r>
            <a:r>
              <a:rPr lang="en-US" sz="1800" b="1" dirty="0">
                <a:latin typeface="Courier New" pitchFamily="49" charset="0"/>
              </a:rPr>
              <a:t> = </a:t>
            </a:r>
            <a:r>
              <a:rPr lang="en-US" sz="1800" b="1" dirty="0" err="1">
                <a:latin typeface="Courier New" pitchFamily="49" charset="0"/>
              </a:rPr>
              <a:t>rFhD</a:t>
            </a:r>
            <a:r>
              <a:rPr lang="en-US" sz="1800" b="1" dirty="0">
                <a:latin typeface="Courier New" pitchFamily="49" charset="0"/>
              </a:rPr>
              <a:t>[n]; float </a:t>
            </a:r>
            <a:r>
              <a:rPr lang="en-US" sz="1800" b="1" dirty="0" err="1">
                <a:latin typeface="Courier New" pitchFamily="49" charset="0"/>
              </a:rPr>
              <a:t>iFhDn_r</a:t>
            </a:r>
            <a:r>
              <a:rPr lang="en-US" sz="1800" b="1" dirty="0">
                <a:latin typeface="Courier New" pitchFamily="49" charset="0"/>
              </a:rPr>
              <a:t> = </a:t>
            </a:r>
            <a:r>
              <a:rPr lang="en-US" sz="1800" b="1" dirty="0" err="1">
                <a:latin typeface="Courier New" pitchFamily="49" charset="0"/>
              </a:rPr>
              <a:t>iFhD</a:t>
            </a:r>
            <a:r>
              <a:rPr lang="en-US" sz="1800" b="1" dirty="0">
                <a:latin typeface="Courier New" pitchFamily="49" charset="0"/>
              </a:rPr>
              <a:t>[n];</a:t>
            </a:r>
          </a:p>
          <a:p>
            <a:pPr eaLnBrk="1" hangingPunct="1"/>
            <a:endParaRPr lang="en-US" sz="1800" b="1" dirty="0">
              <a:latin typeface="Courier New" pitchFamily="49" charset="0"/>
            </a:endParaRPr>
          </a:p>
          <a:p>
            <a:pPr eaLnBrk="1" hangingPunct="1"/>
            <a:r>
              <a:rPr lang="en-US" sz="1800" b="1" dirty="0">
                <a:latin typeface="Courier New" pitchFamily="49" charset="0"/>
              </a:rPr>
              <a:t>  for (m = 0; m &lt; M; m++) {</a:t>
            </a:r>
          </a:p>
          <a:p>
            <a:pPr eaLnBrk="1" hangingPunct="1"/>
            <a:r>
              <a:rPr lang="en-US" sz="1800" b="1" dirty="0">
                <a:latin typeface="Courier New" pitchFamily="49" charset="0"/>
              </a:rPr>
              <a:t>    float </a:t>
            </a:r>
            <a:r>
              <a:rPr lang="en-US" sz="1800" b="1" dirty="0" err="1">
                <a:latin typeface="Courier New" pitchFamily="49" charset="0"/>
              </a:rPr>
              <a:t>expFhD</a:t>
            </a:r>
            <a:r>
              <a:rPr lang="en-US" sz="1800" b="1" dirty="0">
                <a:latin typeface="Courier New" pitchFamily="49" charset="0"/>
              </a:rPr>
              <a:t> = 2*PI*(k[m].x*</a:t>
            </a:r>
            <a:r>
              <a:rPr lang="en-US" sz="1800" b="1" dirty="0" err="1">
                <a:latin typeface="Courier New" pitchFamily="49" charset="0"/>
              </a:rPr>
              <a:t>xn_r+k</a:t>
            </a:r>
            <a:r>
              <a:rPr lang="en-US" sz="1800" b="1" dirty="0">
                <a:latin typeface="Courier New" pitchFamily="49" charset="0"/>
              </a:rPr>
              <a:t>[m].y*</a:t>
            </a:r>
            <a:r>
              <a:rPr lang="en-US" sz="1800" b="1" dirty="0" err="1">
                <a:latin typeface="Courier New" pitchFamily="49" charset="0"/>
              </a:rPr>
              <a:t>yn_r+k</a:t>
            </a:r>
            <a:r>
              <a:rPr lang="en-US" sz="1800" b="1" dirty="0">
                <a:latin typeface="Courier New" pitchFamily="49" charset="0"/>
              </a:rPr>
              <a:t>[m].z*</a:t>
            </a:r>
            <a:r>
              <a:rPr lang="en-US" sz="1800" b="1" dirty="0" err="1">
                <a:latin typeface="Courier New" pitchFamily="49" charset="0"/>
              </a:rPr>
              <a:t>zn_r</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float </a:t>
            </a:r>
            <a:r>
              <a:rPr lang="en-US" sz="1800" b="1" dirty="0" err="1">
                <a:latin typeface="Courier New" pitchFamily="49" charset="0"/>
              </a:rPr>
              <a:t>cArg</a:t>
            </a:r>
            <a:r>
              <a:rPr lang="en-US" sz="1800" b="1" dirty="0">
                <a:latin typeface="Courier New" pitchFamily="49" charset="0"/>
              </a:rPr>
              <a:t> = </a:t>
            </a:r>
            <a:r>
              <a:rPr lang="en-US" sz="1800" b="1" dirty="0">
                <a:solidFill>
                  <a:srgbClr val="FF0000"/>
                </a:solidFill>
                <a:latin typeface="Courier New" pitchFamily="49" charset="0"/>
              </a:rPr>
              <a:t>__</a:t>
            </a:r>
            <a:r>
              <a:rPr lang="en-US" sz="1800" b="1" dirty="0" err="1">
                <a:solidFill>
                  <a:srgbClr val="FF0000"/>
                </a:solidFill>
                <a:latin typeface="Courier New" pitchFamily="49" charset="0"/>
              </a:rPr>
              <a:t>cos</a:t>
            </a:r>
            <a:r>
              <a:rPr lang="en-US" sz="1800" b="1" dirty="0">
                <a:solidFill>
                  <a:srgbClr val="FF0000"/>
                </a:solidFill>
                <a:latin typeface="Courier New" pitchFamily="49" charset="0"/>
              </a:rPr>
              <a:t>(</a:t>
            </a:r>
            <a:r>
              <a:rPr lang="en-US" sz="1800" b="1" dirty="0" err="1">
                <a:solidFill>
                  <a:srgbClr val="FF0000"/>
                </a:solidFill>
                <a:latin typeface="Courier New" pitchFamily="49" charset="0"/>
              </a:rPr>
              <a:t>expFhD</a:t>
            </a:r>
            <a:r>
              <a:rPr lang="en-US" sz="1800" b="1" dirty="0">
                <a:solidFill>
                  <a:srgbClr val="FF0000"/>
                </a:solidFill>
                <a:latin typeface="Courier New" pitchFamily="49" charset="0"/>
              </a:rPr>
              <a:t>)</a:t>
            </a:r>
            <a:r>
              <a:rPr lang="en-US" sz="1800" b="1" dirty="0">
                <a:latin typeface="Courier New" pitchFamily="49" charset="0"/>
              </a:rPr>
              <a:t>;  </a:t>
            </a:r>
          </a:p>
          <a:p>
            <a:pPr eaLnBrk="1" hangingPunct="1"/>
            <a:r>
              <a:rPr lang="en-US" sz="1800" b="1" dirty="0">
                <a:latin typeface="Courier New" pitchFamily="49" charset="0"/>
              </a:rPr>
              <a:t>    float </a:t>
            </a:r>
            <a:r>
              <a:rPr lang="en-US" sz="1800" b="1" dirty="0" err="1">
                <a:latin typeface="Courier New" pitchFamily="49" charset="0"/>
              </a:rPr>
              <a:t>sArg</a:t>
            </a:r>
            <a:r>
              <a:rPr lang="en-US" sz="1800" b="1" dirty="0">
                <a:latin typeface="Courier New" pitchFamily="49" charset="0"/>
              </a:rPr>
              <a:t> = </a:t>
            </a:r>
            <a:r>
              <a:rPr lang="en-US" sz="1800" b="1" dirty="0">
                <a:solidFill>
                  <a:srgbClr val="FF0000"/>
                </a:solidFill>
                <a:latin typeface="Courier New" pitchFamily="49" charset="0"/>
              </a:rPr>
              <a:t>__sin(</a:t>
            </a:r>
            <a:r>
              <a:rPr lang="en-US" sz="1800" b="1" dirty="0" err="1">
                <a:solidFill>
                  <a:srgbClr val="FF0000"/>
                </a:solidFill>
                <a:latin typeface="Courier New" pitchFamily="49" charset="0"/>
              </a:rPr>
              <a:t>expFhD</a:t>
            </a:r>
            <a:r>
              <a:rPr lang="en-US" sz="1800" b="1" dirty="0">
                <a:solidFill>
                  <a:srgbClr val="FF0000"/>
                </a:solidFill>
                <a:latin typeface="Courier New" pitchFamily="49" charset="0"/>
              </a:rPr>
              <a:t>)</a:t>
            </a:r>
            <a:r>
              <a:rPr lang="en-US" sz="1800" b="1" dirty="0">
                <a:latin typeface="Courier New" pitchFamily="49" charset="0"/>
              </a:rPr>
              <a:t>;</a:t>
            </a:r>
          </a:p>
          <a:p>
            <a:pPr eaLnBrk="1" hangingPunct="1"/>
            <a:endParaRPr lang="en-US" sz="1800" b="1" dirty="0">
              <a:latin typeface="Courier New" pitchFamily="49" charset="0"/>
            </a:endParaRPr>
          </a:p>
          <a:p>
            <a:pPr eaLnBrk="1" hangingPunct="1"/>
            <a:r>
              <a:rPr lang="en-US" sz="1800" b="1" dirty="0">
                <a:latin typeface="Courier New" pitchFamily="49" charset="0"/>
              </a:rPr>
              <a:t>    </a:t>
            </a:r>
            <a:r>
              <a:rPr lang="en-US" sz="1800" b="1" dirty="0" err="1">
                <a:latin typeface="Courier New" pitchFamily="49" charset="0"/>
              </a:rPr>
              <a:t>rFhDn_r</a:t>
            </a:r>
            <a:r>
              <a:rPr lang="en-US" sz="1800" b="1" dirty="0">
                <a:latin typeface="Courier New" pitchFamily="49" charset="0"/>
              </a:rPr>
              <a:t>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r>
              <a:rPr lang="en-US" sz="1800" b="1" dirty="0" err="1">
                <a:latin typeface="Courier New" pitchFamily="49" charset="0"/>
              </a:rPr>
              <a:t>iFhDn_r</a:t>
            </a:r>
            <a:r>
              <a:rPr lang="en-US" sz="1800" b="1" dirty="0">
                <a:latin typeface="Courier New" pitchFamily="49" charset="0"/>
              </a:rPr>
              <a:t> +=  </a:t>
            </a:r>
            <a:r>
              <a:rPr lang="en-US" sz="1800" b="1" dirty="0" err="1">
                <a:latin typeface="Courier New" pitchFamily="49" charset="0"/>
              </a:rPr>
              <a:t>iMu</a:t>
            </a:r>
            <a:r>
              <a:rPr lang="en-US" sz="1800" b="1" dirty="0">
                <a:latin typeface="Courier New" pitchFamily="49" charset="0"/>
              </a:rPr>
              <a:t>[m]*</a:t>
            </a:r>
            <a:r>
              <a:rPr lang="en-US" sz="1800" b="1" dirty="0" err="1">
                <a:latin typeface="Courier New" pitchFamily="49" charset="0"/>
              </a:rPr>
              <a:t>cArg</a:t>
            </a:r>
            <a:r>
              <a:rPr lang="en-US" sz="1800" b="1" dirty="0">
                <a:latin typeface="Courier New" pitchFamily="49" charset="0"/>
              </a:rPr>
              <a:t> + </a:t>
            </a:r>
            <a:r>
              <a:rPr lang="en-US" sz="1800" b="1" dirty="0" err="1">
                <a:latin typeface="Courier New" pitchFamily="49" charset="0"/>
              </a:rPr>
              <a:t>rMu</a:t>
            </a:r>
            <a:r>
              <a:rPr lang="en-US" sz="1800" b="1" dirty="0">
                <a:latin typeface="Courier New" pitchFamily="49" charset="0"/>
              </a:rPr>
              <a:t>[m]*</a:t>
            </a:r>
            <a:r>
              <a:rPr lang="en-US" sz="1800" b="1" dirty="0" err="1">
                <a:latin typeface="Courier New" pitchFamily="49" charset="0"/>
              </a:rPr>
              <a:t>sArg</a:t>
            </a:r>
            <a:r>
              <a:rPr lang="en-US" sz="1800" b="1" dirty="0">
                <a:latin typeface="Courier New" pitchFamily="49" charset="0"/>
              </a:rPr>
              <a:t>;</a:t>
            </a:r>
          </a:p>
          <a:p>
            <a:pPr eaLnBrk="1" hangingPunct="1"/>
            <a:r>
              <a:rPr lang="en-US" sz="1800" b="1" dirty="0">
                <a:latin typeface="Courier New" pitchFamily="49" charset="0"/>
              </a:rPr>
              <a:t>  }</a:t>
            </a:r>
          </a:p>
          <a:p>
            <a:pPr eaLnBrk="1" hangingPunct="1"/>
            <a:r>
              <a:rPr lang="en-US" sz="1800" b="1" dirty="0">
                <a:latin typeface="Courier New" pitchFamily="49" charset="0"/>
              </a:rPr>
              <a:t>  </a:t>
            </a:r>
            <a:r>
              <a:rPr lang="en-US" sz="1800" b="1" dirty="0" err="1">
                <a:latin typeface="Courier New" pitchFamily="49" charset="0"/>
              </a:rPr>
              <a:t>rFhD</a:t>
            </a:r>
            <a:r>
              <a:rPr lang="en-US" sz="1800" b="1" dirty="0">
                <a:latin typeface="Courier New" pitchFamily="49" charset="0"/>
              </a:rPr>
              <a:t>[n] = </a:t>
            </a:r>
            <a:r>
              <a:rPr lang="en-US" sz="1800" b="1" dirty="0" err="1">
                <a:latin typeface="Courier New" pitchFamily="49" charset="0"/>
              </a:rPr>
              <a:t>rFhD_r</a:t>
            </a:r>
            <a:r>
              <a:rPr lang="en-US" sz="1800" b="1" dirty="0">
                <a:latin typeface="Courier New" pitchFamily="49" charset="0"/>
              </a:rPr>
              <a:t>; </a:t>
            </a:r>
            <a:r>
              <a:rPr lang="en-US" sz="1800" b="1" dirty="0" err="1">
                <a:latin typeface="Courier New" pitchFamily="49" charset="0"/>
              </a:rPr>
              <a:t>iFhD</a:t>
            </a:r>
            <a:r>
              <a:rPr lang="en-US" sz="1800" b="1" dirty="0">
                <a:latin typeface="Courier New" pitchFamily="49" charset="0"/>
              </a:rPr>
              <a:t>[n] = </a:t>
            </a:r>
            <a:r>
              <a:rPr lang="en-US" sz="1800" b="1" dirty="0" err="1">
                <a:latin typeface="Courier New" pitchFamily="49" charset="0"/>
              </a:rPr>
              <a:t>iFhD_r</a:t>
            </a:r>
            <a:r>
              <a:rPr lang="en-US" sz="1800" b="1" dirty="0">
                <a:latin typeface="Courier New" pitchFamily="49" charset="0"/>
              </a:rPr>
              <a:t>;</a:t>
            </a:r>
          </a:p>
          <a:p>
            <a:pPr eaLnBrk="1" hangingPunct="1"/>
            <a:r>
              <a:rPr lang="en-US" sz="1800" b="1" dirty="0">
                <a:latin typeface="Courier New" pitchFamily="49" charset="0"/>
              </a:rPr>
              <a:t>}</a:t>
            </a:r>
          </a:p>
        </p:txBody>
      </p:sp>
      <p:sp>
        <p:nvSpPr>
          <p:cNvPr id="18435" name="Text Box 3"/>
          <p:cNvSpPr txBox="1">
            <a:spLocks noChangeArrowheads="1"/>
          </p:cNvSpPr>
          <p:nvPr/>
        </p:nvSpPr>
        <p:spPr bwMode="auto">
          <a:xfrm>
            <a:off x="8610600" y="62484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200">
                <a:latin typeface="Arial Narrow" pitchFamily="34" charset="0"/>
              </a:rPr>
              <a:t>6</a:t>
            </a:r>
          </a:p>
        </p:txBody>
      </p:sp>
      <p:sp>
        <p:nvSpPr>
          <p:cNvPr id="3" name="Text Placeholder 2">
            <a:extLst>
              <a:ext uri="{FF2B5EF4-FFF2-40B4-BE49-F238E27FC236}">
                <a16:creationId xmlns:a16="http://schemas.microsoft.com/office/drawing/2014/main" id="{691A9BB2-2EC8-52A1-2D34-6054BCCAA9B2}"/>
              </a:ext>
            </a:extLst>
          </p:cNvPr>
          <p:cNvSpPr>
            <a:spLocks noGrp="1"/>
          </p:cNvSpPr>
          <p:nvPr>
            <p:ph type="body" idx="10"/>
          </p:nvPr>
        </p:nvSpPr>
        <p:spPr/>
        <p:txBody>
          <a:bodyPr/>
          <a:lstStyle/>
          <a:p>
            <a:r>
              <a:rPr lang="en-US" sz="2400" dirty="0"/>
              <a:t>Using Hardware __sin() and __cos()</a:t>
            </a:r>
            <a:endParaRPr lang="en-US" dirty="0"/>
          </a:p>
        </p:txBody>
      </p:sp>
    </p:spTree>
    <p:extLst>
      <p:ext uri="{BB962C8B-B14F-4D97-AF65-F5344CB8AC3E}">
        <p14:creationId xmlns:p14="http://schemas.microsoft.com/office/powerpoint/2010/main" val="1164291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4"/>
          <p:cNvSpPr txBox="1">
            <a:spLocks noChangeArrowheads="1"/>
          </p:cNvSpPr>
          <p:nvPr/>
        </p:nvSpPr>
        <p:spPr bwMode="auto">
          <a:xfrm>
            <a:off x="8610600" y="62484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200">
                <a:latin typeface="Arial Narrow" pitchFamily="34" charset="0"/>
              </a:rPr>
              <a:t>20</a:t>
            </a:r>
          </a:p>
        </p:txBody>
      </p:sp>
      <p:sp>
        <p:nvSpPr>
          <p:cNvPr id="19459" name="Rectangle 5"/>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9460" name="Object 6"/>
          <p:cNvGraphicFramePr>
            <a:graphicFrameLocks noChangeAspect="1"/>
          </p:cNvGraphicFramePr>
          <p:nvPr/>
        </p:nvGraphicFramePr>
        <p:xfrm>
          <a:off x="533400" y="3240088"/>
          <a:ext cx="3886200" cy="754063"/>
        </p:xfrm>
        <a:graphic>
          <a:graphicData uri="http://schemas.openxmlformats.org/presentationml/2006/ole">
            <mc:AlternateContent xmlns:mc="http://schemas.openxmlformats.org/markup-compatibility/2006">
              <mc:Choice xmlns:v="urn:schemas-microsoft-com:vml" Requires="v">
                <p:oleObj spid="_x0000_s2052" name="Equation" r:id="rId4" imgW="2209800" imgH="431800" progId="Equation.3">
                  <p:embed/>
                </p:oleObj>
              </mc:Choice>
              <mc:Fallback>
                <p:oleObj name="Equation" r:id="rId4" imgW="2209800" imgH="431800" progId="Equation.3">
                  <p:embed/>
                  <p:pic>
                    <p:nvPicPr>
                      <p:cNvPr id="1946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3240088"/>
                        <a:ext cx="3886200"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1" name="Rectangle 7"/>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9462" name="Object 8"/>
          <p:cNvGraphicFramePr>
            <a:graphicFrameLocks noChangeAspect="1"/>
          </p:cNvGraphicFramePr>
          <p:nvPr/>
        </p:nvGraphicFramePr>
        <p:xfrm>
          <a:off x="4830763" y="3240088"/>
          <a:ext cx="3886200" cy="841375"/>
        </p:xfrm>
        <a:graphic>
          <a:graphicData uri="http://schemas.openxmlformats.org/presentationml/2006/ole">
            <mc:AlternateContent xmlns:mc="http://schemas.openxmlformats.org/markup-compatibility/2006">
              <mc:Choice xmlns:v="urn:schemas-microsoft-com:vml" Requires="v">
                <p:oleObj spid="_x0000_s2053" name="Equation" r:id="rId6" imgW="1981200" imgH="431800" progId="Equation.3">
                  <p:embed/>
                </p:oleObj>
              </mc:Choice>
              <mc:Fallback>
                <p:oleObj name="Equation" r:id="rId6" imgW="1981200" imgH="431800" progId="Equation.3">
                  <p:embed/>
                  <p:pic>
                    <p:nvPicPr>
                      <p:cNvPr id="19462"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30763" y="3240088"/>
                        <a:ext cx="3886200"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3" name="Rectangle 9"/>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9464" name="Rectangle 11"/>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9465" name="Text Box 13"/>
          <p:cNvSpPr txBox="1">
            <a:spLocks noChangeArrowheads="1"/>
          </p:cNvSpPr>
          <p:nvPr/>
        </p:nvSpPr>
        <p:spPr bwMode="auto">
          <a:xfrm>
            <a:off x="65315" y="2286001"/>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r" eaLnBrk="1" hangingPunct="1">
              <a:spcBef>
                <a:spcPct val="50000"/>
              </a:spcBef>
            </a:pPr>
            <a:r>
              <a:rPr lang="en-US" sz="1200" dirty="0">
                <a:latin typeface="Times New Roman" pitchFamily="18" charset="0"/>
              </a:rPr>
              <a:t>A.N. Netravali and B.G. Haskell, Digital Pictures: Representation, Compression, and Standards (2nd Ed), Plenum Press, New York, NY (1995).</a:t>
            </a:r>
          </a:p>
        </p:txBody>
      </p:sp>
      <p:sp>
        <p:nvSpPr>
          <p:cNvPr id="3" name="TextBox 2"/>
          <p:cNvSpPr txBox="1"/>
          <p:nvPr/>
        </p:nvSpPr>
        <p:spPr>
          <a:xfrm>
            <a:off x="685801" y="4648200"/>
            <a:ext cx="8305800" cy="1200329"/>
          </a:xfrm>
          <a:prstGeom prst="rect">
            <a:avLst/>
          </a:prstGeom>
          <a:noFill/>
        </p:spPr>
        <p:txBody>
          <a:bodyPr wrap="square" rtlCol="0">
            <a:spAutoFit/>
          </a:bodyPr>
          <a:lstStyle/>
          <a:p>
            <a:r>
              <a:rPr lang="en-US" dirty="0">
                <a:solidFill>
                  <a:schemeClr val="tx1"/>
                </a:solidFill>
              </a:rPr>
              <a:t>I</a:t>
            </a:r>
            <a:r>
              <a:rPr lang="en-US" baseline="-25000" dirty="0">
                <a:solidFill>
                  <a:schemeClr val="tx1"/>
                </a:solidFill>
              </a:rPr>
              <a:t>0 </a:t>
            </a:r>
            <a:r>
              <a:rPr lang="en-US" dirty="0">
                <a:solidFill>
                  <a:schemeClr val="tx1"/>
                </a:solidFill>
              </a:rPr>
              <a:t>is a known, “perfect” answer. This is typically done by creating k-space samples for a known image, producing a reconstructed image, and compare the two.</a:t>
            </a:r>
          </a:p>
        </p:txBody>
      </p:sp>
      <p:sp>
        <p:nvSpPr>
          <p:cNvPr id="4" name="Text Placeholder 3">
            <a:extLst>
              <a:ext uri="{FF2B5EF4-FFF2-40B4-BE49-F238E27FC236}">
                <a16:creationId xmlns:a16="http://schemas.microsoft.com/office/drawing/2014/main" id="{D170FC56-4F26-58B9-C6B2-6D8A6E5EB6C8}"/>
              </a:ext>
            </a:extLst>
          </p:cNvPr>
          <p:cNvSpPr>
            <a:spLocks noGrp="1"/>
          </p:cNvSpPr>
          <p:nvPr>
            <p:ph type="body" idx="10"/>
          </p:nvPr>
        </p:nvSpPr>
        <p:spPr/>
        <p:txBody>
          <a:bodyPr/>
          <a:lstStyle/>
          <a:p>
            <a:r>
              <a:rPr lang="en-US" sz="2400" dirty="0"/>
              <a:t>Validating Reconstructed Image Using Signal-to-Noise Ratio</a:t>
            </a:r>
            <a:endParaRPr lang="en-US" dirty="0"/>
          </a:p>
        </p:txBody>
      </p:sp>
    </p:spTree>
    <p:extLst>
      <p:ext uri="{BB962C8B-B14F-4D97-AF65-F5344CB8AC3E}">
        <p14:creationId xmlns:p14="http://schemas.microsoft.com/office/powerpoint/2010/main" val="4257213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5"/>
          <p:cNvPicPr>
            <a:picLocks noChangeAspect="1" noChangeArrowheads="1"/>
          </p:cNvPicPr>
          <p:nvPr/>
        </p:nvPicPr>
        <p:blipFill>
          <a:blip r:embed="rId2">
            <a:extLst>
              <a:ext uri="{28A0092B-C50C-407E-A947-70E740481C1C}">
                <a14:useLocalDpi xmlns:a14="http://schemas.microsoft.com/office/drawing/2010/main" val="0"/>
              </a:ext>
            </a:extLst>
          </a:blip>
          <a:srcRect l="24670" t="10666" r="44005" b="19197"/>
          <a:stretch>
            <a:fillRect/>
          </a:stretch>
        </p:blipFill>
        <p:spPr bwMode="auto">
          <a:xfrm>
            <a:off x="76199" y="537755"/>
            <a:ext cx="4297363" cy="601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3" name="Text Box 7"/>
          <p:cNvSpPr txBox="1">
            <a:spLocks noChangeArrowheads="1"/>
          </p:cNvSpPr>
          <p:nvPr/>
        </p:nvSpPr>
        <p:spPr bwMode="auto">
          <a:xfrm>
            <a:off x="4572000" y="1690062"/>
            <a:ext cx="45720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a:t>Validation of floating-point</a:t>
            </a:r>
          </a:p>
          <a:p>
            <a:pPr eaLnBrk="1" hangingPunct="1"/>
            <a:r>
              <a:rPr lang="en-US" sz="2000" dirty="0"/>
              <a:t>  precision and accuracy of the different </a:t>
            </a:r>
          </a:p>
          <a:p>
            <a:pPr eaLnBrk="1" hangingPunct="1"/>
            <a:r>
              <a:rPr lang="en-US" sz="2000" dirty="0"/>
              <a:t>  F</a:t>
            </a:r>
            <a:r>
              <a:rPr lang="en-US" sz="2000" baseline="30000" dirty="0"/>
              <a:t>H</a:t>
            </a:r>
            <a:r>
              <a:rPr lang="en-US" sz="2000" dirty="0"/>
              <a:t>D implementations.</a:t>
            </a:r>
          </a:p>
          <a:p>
            <a:pPr eaLnBrk="1" hangingPunct="1"/>
            <a:endParaRPr lang="en-US" sz="2000" dirty="0"/>
          </a:p>
          <a:p>
            <a:pPr marL="457200" indent="-457200" eaLnBrk="1" hangingPunct="1">
              <a:buAutoNum type="arabicParenBoth"/>
            </a:pPr>
            <a:r>
              <a:rPr lang="en-US" sz="2000" dirty="0"/>
              <a:t>Is the known image answer </a:t>
            </a:r>
          </a:p>
          <a:p>
            <a:pPr eaLnBrk="1" hangingPunct="1"/>
            <a:r>
              <a:rPr lang="en-US" sz="2000" dirty="0"/>
              <a:t>(sometimes called a phantom image)</a:t>
            </a:r>
          </a:p>
          <a:p>
            <a:pPr eaLnBrk="1" hangingPunct="1"/>
            <a:endParaRPr lang="en-US" sz="2000" dirty="0"/>
          </a:p>
          <a:p>
            <a:pPr eaLnBrk="1" hangingPunct="1"/>
            <a:r>
              <a:rPr lang="en-US" sz="2000" dirty="0"/>
              <a:t>Note that all GPU optimized versions have comparable PSNR as (3) the CPU double-precision version</a:t>
            </a:r>
          </a:p>
        </p:txBody>
      </p:sp>
    </p:spTree>
    <p:extLst>
      <p:ext uri="{BB962C8B-B14F-4D97-AF65-F5344CB8AC3E}">
        <p14:creationId xmlns:p14="http://schemas.microsoft.com/office/powerpoint/2010/main" val="3387447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3"/>
          <p:cNvSpPr txBox="1">
            <a:spLocks noChangeArrowheads="1"/>
          </p:cNvSpPr>
          <p:nvPr/>
        </p:nvSpPr>
        <p:spPr bwMode="auto">
          <a:xfrm>
            <a:off x="8613710" y="5718449"/>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1200">
                <a:latin typeface="Arial Narrow" pitchFamily="34" charset="0"/>
              </a:rPr>
              <a:t>30</a:t>
            </a:r>
          </a:p>
        </p:txBody>
      </p:sp>
      <p:sp>
        <p:nvSpPr>
          <p:cNvPr id="3" name="Text Placeholder 2">
            <a:extLst>
              <a:ext uri="{FF2B5EF4-FFF2-40B4-BE49-F238E27FC236}">
                <a16:creationId xmlns:a16="http://schemas.microsoft.com/office/drawing/2014/main" id="{716A2C76-2077-0396-528C-7DE844F4759C}"/>
              </a:ext>
            </a:extLst>
          </p:cNvPr>
          <p:cNvSpPr>
            <a:spLocks noGrp="1"/>
          </p:cNvSpPr>
          <p:nvPr>
            <p:ph type="body" idx="10"/>
          </p:nvPr>
        </p:nvSpPr>
        <p:spPr/>
        <p:txBody>
          <a:bodyPr/>
          <a:lstStyle/>
          <a:p>
            <a:r>
              <a:rPr lang="en-US" sz="2400" dirty="0"/>
              <a:t>Component and Whole-Application Speedup</a:t>
            </a:r>
            <a:endParaRPr lang="en-US" dirty="0"/>
          </a:p>
        </p:txBody>
      </p:sp>
      <p:graphicFrame>
        <p:nvGraphicFramePr>
          <p:cNvPr id="37985" name="Group 97"/>
          <p:cNvGraphicFramePr>
            <a:graphicFrameLocks noGrp="1"/>
          </p:cNvGraphicFramePr>
          <p:nvPr>
            <p:ph idx="4294967295"/>
            <p:extLst>
              <p:ext uri="{D42A27DB-BD31-4B8C-83A1-F6EECF244321}">
                <p14:modId xmlns:p14="http://schemas.microsoft.com/office/powerpoint/2010/main" val="3350792590"/>
              </p:ext>
            </p:extLst>
          </p:nvPr>
        </p:nvGraphicFramePr>
        <p:xfrm>
          <a:off x="152400" y="1357811"/>
          <a:ext cx="8839200" cy="4573589"/>
        </p:xfrm>
        <a:graphic>
          <a:graphicData uri="http://schemas.openxmlformats.org/drawingml/2006/table">
            <a:tbl>
              <a:tblPr/>
              <a:tblGrid>
                <a:gridCol w="20574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842963">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gridCol w="973137">
                  <a:extLst>
                    <a:ext uri="{9D8B030D-6E8A-4147-A177-3AD203B41FA5}">
                      <a16:colId xmlns:a16="http://schemas.microsoft.com/office/drawing/2014/main" val="20004"/>
                    </a:ext>
                  </a:extLst>
                </a:gridCol>
                <a:gridCol w="1196975">
                  <a:extLst>
                    <a:ext uri="{9D8B030D-6E8A-4147-A177-3AD203B41FA5}">
                      <a16:colId xmlns:a16="http://schemas.microsoft.com/office/drawing/2014/main" val="20005"/>
                    </a:ext>
                  </a:extLst>
                </a:gridCol>
                <a:gridCol w="1273175">
                  <a:extLst>
                    <a:ext uri="{9D8B030D-6E8A-4147-A177-3AD203B41FA5}">
                      <a16:colId xmlns:a16="http://schemas.microsoft.com/office/drawing/2014/main" val="20006"/>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F</a:t>
                      </a:r>
                      <a:r>
                        <a:rPr kumimoji="0" lang="en-US" sz="2400" b="0" i="0" u="none" strike="noStrike" cap="none" normalizeH="0" baseline="45000" dirty="0">
                          <a:ln>
                            <a:noFill/>
                          </a:ln>
                          <a:solidFill>
                            <a:schemeClr val="tx1"/>
                          </a:solidFill>
                          <a:effectLst/>
                          <a:latin typeface="Arial" charset="0"/>
                        </a:rPr>
                        <a:t>H</a:t>
                      </a:r>
                      <a:r>
                        <a:rPr kumimoji="0" lang="en-US" sz="2400" b="0" i="0" u="none" strike="noStrike" cap="none" normalizeH="0" baseline="0" dirty="0">
                          <a:ln>
                            <a:noFill/>
                          </a:ln>
                          <a:solidFill>
                            <a:schemeClr val="tx1"/>
                          </a:solidFill>
                          <a:effectLst/>
                          <a:latin typeface="Arial" charset="0"/>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Total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extLst>
                  <a:ext uri="{0D108BD9-81ED-4DB2-BD59-A6C34878D82A}">
                    <a16:rowId xmlns:a16="http://schemas.microsoft.com/office/drawing/2014/main" val="10000"/>
                  </a:ext>
                </a:extLst>
              </a:tr>
              <a:tr h="914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Reconstruction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Run  Time (m)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GFLOP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Run Time (m)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GFLOP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Linear Solver (m)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Recon. Time (m)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8175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Gridding + FFT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(CPU, DP)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N/A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N/A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N/A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N/A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N/A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0.39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00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LS (CPU, DP)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4009.0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518.0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1.59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519.59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016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LS (CPU, SP)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2678.7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342.3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1.61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343.91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016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LS (GPU, Naïve)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260.2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5.1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41.0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5.4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1.65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42.65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000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LS (GPU, CMem)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72.0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18.6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9.8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22.8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1.57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11.37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7810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LS (GPU, CMem,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Arial" charset="0"/>
                        </a:rPr>
                        <a:t>SFU, Exp)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178.9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144.5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rPr>
                        <a:t>1.69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rPr>
                        <a:t>3.19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
        <p:nvSpPr>
          <p:cNvPr id="21578" name="Oval 83"/>
          <p:cNvSpPr>
            <a:spLocks noChangeArrowheads="1"/>
          </p:cNvSpPr>
          <p:nvPr/>
        </p:nvSpPr>
        <p:spPr bwMode="auto">
          <a:xfrm>
            <a:off x="2670110" y="3872184"/>
            <a:ext cx="1066800" cy="457200"/>
          </a:xfrm>
          <a:prstGeom prst="ellipse">
            <a:avLst/>
          </a:prstGeom>
          <a:noFill/>
          <a:ln w="31750">
            <a:solidFill>
              <a:srgbClr val="FF6600"/>
            </a:solidFill>
            <a:round/>
            <a:headEnd/>
            <a:tailEnd/>
          </a:ln>
          <a:effectLst/>
          <a:extLst>
            <a:ext uri="{909E8E84-426E-40DD-AFC4-6F175D3DCCD1}">
              <a14:hiddenFill xmlns:a14="http://schemas.microsoft.com/office/drawing/2010/main">
                <a:solidFill>
                  <a:srgbClr val="C0C0C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79" name="Oval 84"/>
          <p:cNvSpPr>
            <a:spLocks noChangeArrowheads="1"/>
          </p:cNvSpPr>
          <p:nvPr/>
        </p:nvSpPr>
        <p:spPr bwMode="auto">
          <a:xfrm>
            <a:off x="2670110" y="5167584"/>
            <a:ext cx="1066800" cy="457200"/>
          </a:xfrm>
          <a:prstGeom prst="ellipse">
            <a:avLst/>
          </a:prstGeom>
          <a:noFill/>
          <a:ln w="31750">
            <a:solidFill>
              <a:srgbClr val="FF6600"/>
            </a:solidFill>
            <a:round/>
            <a:headEnd/>
            <a:tailEnd/>
          </a:ln>
          <a:effectLst/>
          <a:extLst>
            <a:ext uri="{909E8E84-426E-40DD-AFC4-6F175D3DCCD1}">
              <a14:hiddenFill xmlns:a14="http://schemas.microsoft.com/office/drawing/2010/main">
                <a:solidFill>
                  <a:srgbClr val="C0C0C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80" name="Oval 85"/>
          <p:cNvSpPr>
            <a:spLocks noChangeArrowheads="1"/>
          </p:cNvSpPr>
          <p:nvPr/>
        </p:nvSpPr>
        <p:spPr bwMode="auto">
          <a:xfrm>
            <a:off x="4651310" y="3872184"/>
            <a:ext cx="1066800" cy="457200"/>
          </a:xfrm>
          <a:prstGeom prst="ellipse">
            <a:avLst/>
          </a:prstGeom>
          <a:noFill/>
          <a:ln w="31750">
            <a:solidFill>
              <a:srgbClr val="00FF00"/>
            </a:solidFill>
            <a:round/>
            <a:headEnd/>
            <a:tailEnd/>
          </a:ln>
          <a:effectLst/>
          <a:extLst>
            <a:ext uri="{909E8E84-426E-40DD-AFC4-6F175D3DCCD1}">
              <a14:hiddenFill xmlns:a14="http://schemas.microsoft.com/office/drawing/2010/main">
                <a:solidFill>
                  <a:srgbClr val="C0C0C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81" name="Oval 86"/>
          <p:cNvSpPr>
            <a:spLocks noChangeArrowheads="1"/>
          </p:cNvSpPr>
          <p:nvPr/>
        </p:nvSpPr>
        <p:spPr bwMode="auto">
          <a:xfrm>
            <a:off x="4575110" y="5167584"/>
            <a:ext cx="1066800" cy="457200"/>
          </a:xfrm>
          <a:prstGeom prst="ellipse">
            <a:avLst/>
          </a:prstGeom>
          <a:noFill/>
          <a:ln w="31750">
            <a:solidFill>
              <a:srgbClr val="00FF00"/>
            </a:solidFill>
            <a:round/>
            <a:headEnd/>
            <a:tailEnd/>
          </a:ln>
          <a:effectLst/>
          <a:extLst>
            <a:ext uri="{909E8E84-426E-40DD-AFC4-6F175D3DCCD1}">
              <a14:hiddenFill xmlns:a14="http://schemas.microsoft.com/office/drawing/2010/main">
                <a:solidFill>
                  <a:srgbClr val="C0C0C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82" name="Oval 87"/>
          <p:cNvSpPr>
            <a:spLocks noChangeArrowheads="1"/>
          </p:cNvSpPr>
          <p:nvPr/>
        </p:nvSpPr>
        <p:spPr bwMode="auto">
          <a:xfrm>
            <a:off x="7927910" y="3948384"/>
            <a:ext cx="1066800" cy="457200"/>
          </a:xfrm>
          <a:prstGeom prst="ellipse">
            <a:avLst/>
          </a:prstGeom>
          <a:noFill/>
          <a:ln w="31750">
            <a:solidFill>
              <a:srgbClr val="000099"/>
            </a:solidFill>
            <a:round/>
            <a:headEnd/>
            <a:tailEnd/>
          </a:ln>
          <a:effectLst/>
          <a:extLst>
            <a:ext uri="{909E8E84-426E-40DD-AFC4-6F175D3DCCD1}">
              <a14:hiddenFill xmlns:a14="http://schemas.microsoft.com/office/drawing/2010/main">
                <a:solidFill>
                  <a:srgbClr val="C0C0C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83" name="Oval 88"/>
          <p:cNvSpPr>
            <a:spLocks noChangeArrowheads="1"/>
          </p:cNvSpPr>
          <p:nvPr/>
        </p:nvSpPr>
        <p:spPr bwMode="auto">
          <a:xfrm>
            <a:off x="7927910" y="5167584"/>
            <a:ext cx="1066800" cy="457200"/>
          </a:xfrm>
          <a:prstGeom prst="ellipse">
            <a:avLst/>
          </a:prstGeom>
          <a:noFill/>
          <a:ln w="31750">
            <a:solidFill>
              <a:srgbClr val="000099"/>
            </a:solidFill>
            <a:round/>
            <a:headEnd/>
            <a:tailEnd/>
          </a:ln>
          <a:effectLst/>
          <a:extLst>
            <a:ext uri="{909E8E84-426E-40DD-AFC4-6F175D3DCCD1}">
              <a14:hiddenFill xmlns:a14="http://schemas.microsoft.com/office/drawing/2010/main">
                <a:solidFill>
                  <a:srgbClr val="C0C0C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84" name="Text Box 89"/>
          <p:cNvSpPr txBox="1">
            <a:spLocks noChangeArrowheads="1"/>
          </p:cNvSpPr>
          <p:nvPr/>
        </p:nvSpPr>
        <p:spPr bwMode="auto">
          <a:xfrm>
            <a:off x="7851710" y="5472384"/>
            <a:ext cx="9144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800">
                <a:solidFill>
                  <a:srgbClr val="000099"/>
                </a:solidFill>
                <a:latin typeface="Arial Narrow" pitchFamily="34" charset="0"/>
              </a:rPr>
              <a:t>108X</a:t>
            </a:r>
          </a:p>
        </p:txBody>
      </p:sp>
      <p:sp>
        <p:nvSpPr>
          <p:cNvPr id="21585" name="Text Box 90"/>
          <p:cNvSpPr txBox="1">
            <a:spLocks noChangeArrowheads="1"/>
          </p:cNvSpPr>
          <p:nvPr/>
        </p:nvSpPr>
        <p:spPr bwMode="auto">
          <a:xfrm>
            <a:off x="4498910" y="5548584"/>
            <a:ext cx="9144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800">
                <a:solidFill>
                  <a:srgbClr val="00FF00"/>
                </a:solidFill>
                <a:latin typeface="Arial Narrow" pitchFamily="34" charset="0"/>
              </a:rPr>
              <a:t>228X</a:t>
            </a:r>
          </a:p>
        </p:txBody>
      </p:sp>
      <p:sp>
        <p:nvSpPr>
          <p:cNvPr id="21586" name="Text Box 91"/>
          <p:cNvSpPr txBox="1">
            <a:spLocks noChangeArrowheads="1"/>
          </p:cNvSpPr>
          <p:nvPr/>
        </p:nvSpPr>
        <p:spPr bwMode="auto">
          <a:xfrm>
            <a:off x="2365310" y="5548584"/>
            <a:ext cx="9144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pPr>
            <a:r>
              <a:rPr lang="en-US" sz="2800">
                <a:solidFill>
                  <a:srgbClr val="FF6600"/>
                </a:solidFill>
                <a:latin typeface="Arial Narrow" pitchFamily="34" charset="0"/>
              </a:rPr>
              <a:t>357X</a:t>
            </a:r>
          </a:p>
        </p:txBody>
      </p:sp>
    </p:spTree>
    <p:extLst>
      <p:ext uri="{BB962C8B-B14F-4D97-AF65-F5344CB8AC3E}">
        <p14:creationId xmlns:p14="http://schemas.microsoft.com/office/powerpoint/2010/main" val="1345227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References</a:t>
            </a:r>
          </a:p>
        </p:txBody>
      </p:sp>
      <p:sp>
        <p:nvSpPr>
          <p:cNvPr id="6" name="Content Placeholder 5"/>
          <p:cNvSpPr>
            <a:spLocks noGrp="1"/>
          </p:cNvSpPr>
          <p:nvPr>
            <p:ph sz="half" idx="1"/>
          </p:nvPr>
        </p:nvSpPr>
        <p:spPr/>
        <p:txBody>
          <a:bodyPr/>
          <a:lstStyle/>
          <a:p>
            <a:r>
              <a:rPr lang="en-US" dirty="0"/>
              <a:t>Wen-</a:t>
            </a:r>
            <a:r>
              <a:rPr lang="en-US" dirty="0" err="1"/>
              <a:t>mei</a:t>
            </a:r>
            <a:r>
              <a:rPr lang="en-US" dirty="0"/>
              <a:t> W. </a:t>
            </a:r>
            <a:r>
              <a:rPr lang="en-US" dirty="0" err="1"/>
              <a:t>Hwu</a:t>
            </a:r>
            <a:r>
              <a:rPr lang="en-US" dirty="0"/>
              <a:t>, David B. Kirk, and Izzat El Hajj. </a:t>
            </a:r>
            <a:r>
              <a:rPr lang="en-US" i="1" dirty="0"/>
              <a:t>Programming Massively Parallel Processors: A Hands-on Approach</a:t>
            </a:r>
            <a:r>
              <a:rPr lang="en-US" dirty="0"/>
              <a:t>. Morgan Kaufmann, 2022.</a:t>
            </a:r>
          </a:p>
        </p:txBody>
      </p:sp>
    </p:spTree>
    <p:extLst>
      <p:ext uri="{BB962C8B-B14F-4D97-AF65-F5344CB8AC3E}">
        <p14:creationId xmlns:p14="http://schemas.microsoft.com/office/powerpoint/2010/main" val="2928556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673</TotalTime>
  <Words>5710</Words>
  <Application>Microsoft Office PowerPoint</Application>
  <PresentationFormat>On-screen Show (4:3)</PresentationFormat>
  <Paragraphs>505</Paragraphs>
  <Slides>22</Slides>
  <Notes>14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0" baseType="lpstr">
      <vt:lpstr>Arial</vt:lpstr>
      <vt:lpstr>Arial Narrow</vt:lpstr>
      <vt:lpstr>Calibri</vt:lpstr>
      <vt:lpstr>Calibri Light</vt:lpstr>
      <vt:lpstr>Courier New</vt:lpstr>
      <vt:lpstr>Times New Roman</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Tejasvi Waghmare (IL-IN)</dc:creator>
  <cp:lastModifiedBy>Izzat El Hajj</cp:lastModifiedBy>
  <cp:revision>64</cp:revision>
  <dcterms:created xsi:type="dcterms:W3CDTF">2022-03-30T06:33:52Z</dcterms:created>
  <dcterms:modified xsi:type="dcterms:W3CDTF">2022-10-18T05:55:00Z</dcterms:modified>
</cp:coreProperties>
</file>