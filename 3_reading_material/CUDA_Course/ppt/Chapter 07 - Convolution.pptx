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25"/>
  </p:handout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0" r:id="rId22"/>
    <p:sldId id="291" r:id="rId23"/>
    <p:sldId id="29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4C4C"/>
    <a:srgbClr val="E08E2F"/>
    <a:srgbClr val="E09135"/>
    <a:srgbClr val="FFFFFF"/>
    <a:srgbClr val="DC8623"/>
    <a:srgbClr val="DB8522"/>
    <a:srgbClr val="4D4D4D"/>
    <a:srgbClr val="EB6500"/>
    <a:srgbClr val="53565A"/>
    <a:srgbClr val="FF98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08EC16-7612-48F2-BD7E-AB7620736A0A}" v="99" dt="2022-03-30T08:57:44.2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79" d="100"/>
          <a:sy n="79" d="100"/>
        </p:scale>
        <p:origin x="77" y="36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357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6C9F2AD-ACD9-4F52-8557-48C099C603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15BD4B-9B5A-4159-B729-CBA6AE207B3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7D2E7-9FC7-4207-9062-A3303B783802}" type="datetimeFigureOut">
              <a:rPr lang="en-IN" smtClean="0"/>
              <a:t>21-09-2022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4C69D-016E-496D-B1AA-E9EE96139D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5A0A3E-29D3-4009-A482-439DDE028B7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4528DA-F324-4659-A143-8781AC34D3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53570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5614FD1-D902-4A59-BCAB-4AA8AF3D9081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 descr="A picture containing shape&#10;&#10;Description automatically generated">
            <a:extLst>
              <a:ext uri="{FF2B5EF4-FFF2-40B4-BE49-F238E27FC236}">
                <a16:creationId xmlns:a16="http://schemas.microsoft.com/office/drawing/2014/main" id="{BA4AD1CF-AA6C-4924-8675-811F23CE0D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4"/>
            <a:ext cx="9144000" cy="68506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2E2EB6C-4AC4-41A2-8F72-A329B2E1580B}"/>
              </a:ext>
            </a:extLst>
          </p:cNvPr>
          <p:cNvSpPr/>
          <p:nvPr userDrawn="1"/>
        </p:nvSpPr>
        <p:spPr>
          <a:xfrm>
            <a:off x="-2300" y="6812281"/>
            <a:ext cx="9144000" cy="457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DB9DDB9-4BD9-4BCF-86A4-772414CF0629}"/>
              </a:ext>
            </a:extLst>
          </p:cNvPr>
          <p:cNvGrpSpPr/>
          <p:nvPr userDrawn="1"/>
        </p:nvGrpSpPr>
        <p:grpSpPr>
          <a:xfrm>
            <a:off x="-72699" y="-3125"/>
            <a:ext cx="1374756" cy="1441923"/>
            <a:chOff x="-113156" y="25300"/>
            <a:chExt cx="1332205" cy="1441923"/>
          </a:xfrm>
        </p:grpSpPr>
        <p:sp>
          <p:nvSpPr>
            <p:cNvPr id="7" name="Rectangle: Rounded Corners 35">
              <a:extLst>
                <a:ext uri="{FF2B5EF4-FFF2-40B4-BE49-F238E27FC236}">
                  <a16:creationId xmlns:a16="http://schemas.microsoft.com/office/drawing/2014/main" id="{7957AE27-1DC8-4907-8AB1-2560A90A543A}"/>
                </a:ext>
              </a:extLst>
            </p:cNvPr>
            <p:cNvSpPr/>
            <p:nvPr/>
          </p:nvSpPr>
          <p:spPr>
            <a:xfrm>
              <a:off x="-43557" y="25300"/>
              <a:ext cx="1262606" cy="1441923"/>
            </a:xfrm>
            <a:prstGeom prst="roundRect">
              <a:avLst>
                <a:gd name="adj" fmla="val 0"/>
              </a:avLst>
            </a:prstGeom>
            <a:solidFill>
              <a:srgbClr val="4D4D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8" name="Picture 2" descr="Data Mining. Concepts and Techniques, 3rd Edition (The Morgan Kaufmann  Series in Data Management Systems)">
              <a:extLst>
                <a:ext uri="{FF2B5EF4-FFF2-40B4-BE49-F238E27FC236}">
                  <a16:creationId xmlns:a16="http://schemas.microsoft.com/office/drawing/2014/main" id="{9E395FDB-906D-4C55-85C3-0A95428EBDB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2187" r="-1"/>
            <a:stretch/>
          </p:blipFill>
          <p:spPr bwMode="auto">
            <a:xfrm>
              <a:off x="-113156" y="357913"/>
              <a:ext cx="1317458" cy="7700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2C3EE6A-8657-4A6B-87F7-02627342A27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636487" y="1788690"/>
            <a:ext cx="3731741" cy="261610"/>
          </a:xfrm>
          <a:prstGeom prst="roundRect">
            <a:avLst>
              <a:gd name="adj" fmla="val 0"/>
            </a:avLst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1100" i="1" dirty="0">
                <a:solidFill>
                  <a:srgbClr val="53565A"/>
                </a:solidFill>
                <a:latin typeface="+mj-lt"/>
              </a:rPr>
              <a:t>Wen-</a:t>
            </a:r>
            <a:r>
              <a:rPr lang="en-GB" sz="1100" i="1" dirty="0" err="1">
                <a:solidFill>
                  <a:srgbClr val="53565A"/>
                </a:solidFill>
                <a:latin typeface="+mj-lt"/>
              </a:rPr>
              <a:t>mei</a:t>
            </a:r>
            <a:r>
              <a:rPr lang="en-GB" sz="1100" i="1" dirty="0">
                <a:solidFill>
                  <a:srgbClr val="53565A"/>
                </a:solidFill>
                <a:latin typeface="+mj-lt"/>
              </a:rPr>
              <a:t> </a:t>
            </a:r>
            <a:r>
              <a:rPr lang="en-GB" sz="1100" i="1" dirty="0" err="1">
                <a:solidFill>
                  <a:srgbClr val="53565A"/>
                </a:solidFill>
                <a:latin typeface="+mj-lt"/>
              </a:rPr>
              <a:t>Hwu</a:t>
            </a:r>
            <a:r>
              <a:rPr lang="en-GB" sz="1100" i="1" dirty="0">
                <a:solidFill>
                  <a:srgbClr val="53565A"/>
                </a:solidFill>
                <a:latin typeface="+mj-lt"/>
              </a:rPr>
              <a:t>, David Kirk, Izzat El Hajj</a:t>
            </a:r>
            <a:endParaRPr lang="en-US" sz="1100" i="1" dirty="0">
              <a:solidFill>
                <a:srgbClr val="53565A"/>
              </a:solidFill>
              <a:latin typeface="+mj-lt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43523CE-3289-4AA1-A7D0-4D0378C02A45}"/>
              </a:ext>
            </a:extLst>
          </p:cNvPr>
          <p:cNvCxnSpPr/>
          <p:nvPr userDrawn="1"/>
        </p:nvCxnSpPr>
        <p:spPr>
          <a:xfrm>
            <a:off x="2360588" y="1928406"/>
            <a:ext cx="275899" cy="0"/>
          </a:xfrm>
          <a:prstGeom prst="line">
            <a:avLst/>
          </a:prstGeom>
          <a:ln w="19050">
            <a:solidFill>
              <a:srgbClr val="5356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2B1CFD73-162D-4195-B0FC-38DEE10693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303"/>
          <a:stretch/>
        </p:blipFill>
        <p:spPr>
          <a:xfrm>
            <a:off x="1299246" y="1441973"/>
            <a:ext cx="7844400" cy="15773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F7728A-41A1-445F-A9FF-56DF9F9BB7F1}"/>
              </a:ext>
            </a:extLst>
          </p:cNvPr>
          <p:cNvSpPr txBox="1"/>
          <p:nvPr userDrawn="1"/>
        </p:nvSpPr>
        <p:spPr bwMode="auto">
          <a:xfrm>
            <a:off x="1567422" y="1743145"/>
            <a:ext cx="567969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b="1" dirty="0">
                <a:solidFill>
                  <a:schemeClr val="bg1"/>
                </a:solidFill>
              </a:rPr>
              <a:t>Programming Massively Parallel Processors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215409-9B9B-4DB6-906D-C53B1CDED403}"/>
              </a:ext>
            </a:extLst>
          </p:cNvPr>
          <p:cNvSpPr txBox="1"/>
          <p:nvPr userDrawn="1"/>
        </p:nvSpPr>
        <p:spPr>
          <a:xfrm>
            <a:off x="1567421" y="2143201"/>
            <a:ext cx="22063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dirty="0">
                <a:solidFill>
                  <a:schemeClr val="bg1"/>
                </a:solidFill>
                <a:latin typeface="+mj-lt"/>
              </a:rPr>
              <a:t>A Hands-on Approach</a:t>
            </a:r>
            <a:endParaRPr lang="en-US" sz="1800" dirty="0">
              <a:solidFill>
                <a:schemeClr val="bg1"/>
              </a:solidFill>
              <a:latin typeface="+mj-lt"/>
            </a:endParaRPr>
          </a:p>
          <a:p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64E5FD-D2A2-4A68-8897-43FA77D6453D}"/>
              </a:ext>
            </a:extLst>
          </p:cNvPr>
          <p:cNvSpPr/>
          <p:nvPr userDrawn="1"/>
        </p:nvSpPr>
        <p:spPr>
          <a:xfrm>
            <a:off x="1299245" y="3024958"/>
            <a:ext cx="7836105" cy="6006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z</a:t>
            </a:r>
          </a:p>
        </p:txBody>
      </p:sp>
      <p:pic>
        <p:nvPicPr>
          <p:cNvPr id="17" name="Picture 1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CB3A55CF-D158-4A58-A4DE-DEEA1CF1071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3773" y="4445883"/>
            <a:ext cx="4410075" cy="1952625"/>
          </a:xfrm>
          <a:prstGeom prst="rect">
            <a:avLst/>
          </a:prstGeom>
        </p:spPr>
      </p:pic>
      <p:sp>
        <p:nvSpPr>
          <p:cNvPr id="18" name="L-Shape 17">
            <a:extLst>
              <a:ext uri="{FF2B5EF4-FFF2-40B4-BE49-F238E27FC236}">
                <a16:creationId xmlns:a16="http://schemas.microsoft.com/office/drawing/2014/main" id="{715CF1CF-E105-4089-BA77-56B70A742ECB}"/>
              </a:ext>
            </a:extLst>
          </p:cNvPr>
          <p:cNvSpPr/>
          <p:nvPr userDrawn="1"/>
        </p:nvSpPr>
        <p:spPr>
          <a:xfrm rot="13500000">
            <a:off x="2939485" y="3242288"/>
            <a:ext cx="140020" cy="140020"/>
          </a:xfrm>
          <a:prstGeom prst="corner">
            <a:avLst>
              <a:gd name="adj1" fmla="val 27650"/>
              <a:gd name="adj2" fmla="val 25788"/>
            </a:avLst>
          </a:prstGeom>
          <a:solidFill>
            <a:srgbClr val="DB85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E928E1F-54E8-4389-82DD-5CF4C77F4AB0}"/>
              </a:ext>
            </a:extLst>
          </p:cNvPr>
          <p:cNvSpPr/>
          <p:nvPr userDrawn="1"/>
        </p:nvSpPr>
        <p:spPr>
          <a:xfrm>
            <a:off x="7884826" y="6812281"/>
            <a:ext cx="1259174" cy="45719"/>
          </a:xfrm>
          <a:prstGeom prst="rect">
            <a:avLst/>
          </a:prstGeom>
          <a:solidFill>
            <a:srgbClr val="DC86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" name="Picture 19" descr="Chart&#10;&#10;Description automatically generated">
            <a:extLst>
              <a:ext uri="{FF2B5EF4-FFF2-40B4-BE49-F238E27FC236}">
                <a16:creationId xmlns:a16="http://schemas.microsoft.com/office/drawing/2014/main" id="{083DB60B-7D3C-470B-9BE6-C4062D6A1D49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0372" y="3636069"/>
            <a:ext cx="2232972" cy="2762439"/>
          </a:xfrm>
          <a:prstGeom prst="rect">
            <a:avLst/>
          </a:prstGeom>
        </p:spPr>
      </p:pic>
      <p:sp>
        <p:nvSpPr>
          <p:cNvPr id="21" name="Rectangle 7">
            <a:extLst>
              <a:ext uri="{FF2B5EF4-FFF2-40B4-BE49-F238E27FC236}">
                <a16:creationId xmlns:a16="http://schemas.microsoft.com/office/drawing/2014/main" id="{21B15398-A182-4C0B-854E-654EA8B5B28D}"/>
              </a:ext>
            </a:extLst>
          </p:cNvPr>
          <p:cNvSpPr>
            <a:spLocks/>
          </p:cNvSpPr>
          <p:nvPr userDrawn="1"/>
        </p:nvSpPr>
        <p:spPr bwMode="auto">
          <a:xfrm>
            <a:off x="59677" y="6603329"/>
            <a:ext cx="1579154" cy="185454"/>
          </a:xfrm>
          <a:prstGeom prst="rect">
            <a:avLst/>
          </a:prstGeom>
          <a:noFill/>
          <a:ln>
            <a:noFill/>
          </a:ln>
        </p:spPr>
        <p:txBody>
          <a:bodyPr lIns="0" tIns="0" rIns="40639" bIns="0" anchor="ctr"/>
          <a:lstStyle>
            <a:lvl1pPr marL="39688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Copyright © 2022 Elsevier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1298575" y="3011550"/>
            <a:ext cx="1611556" cy="60614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000" b="1" cap="all" baseline="0">
                <a:latin typeface="+mn-lt"/>
              </a:defRPr>
            </a:lvl1pPr>
          </a:lstStyle>
          <a:p>
            <a:pPr lvl="0"/>
            <a:r>
              <a:rPr lang="en-US" dirty="0"/>
              <a:t>Chapter #</a:t>
            </a:r>
          </a:p>
        </p:txBody>
      </p:sp>
      <p:sp>
        <p:nvSpPr>
          <p:cNvPr id="27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3146829" y="3011550"/>
            <a:ext cx="5898609" cy="60614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000" b="1" cap="none" baseline="0">
                <a:latin typeface="+mj-lt"/>
              </a:defRPr>
            </a:lvl1pPr>
          </a:lstStyle>
          <a:p>
            <a:pPr lvl="0"/>
            <a:r>
              <a:rPr lang="en-US" dirty="0"/>
              <a:t>Chapter Title</a:t>
            </a:r>
          </a:p>
        </p:txBody>
      </p:sp>
    </p:spTree>
    <p:extLst>
      <p:ext uri="{BB962C8B-B14F-4D97-AF65-F5344CB8AC3E}">
        <p14:creationId xmlns:p14="http://schemas.microsoft.com/office/powerpoint/2010/main" val="2487965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1011D6E-2CED-4BBC-A66B-38F7B0BDDCF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018908" y="43891"/>
            <a:ext cx="7886700" cy="4535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70D1EB3-9074-4E31-9DCF-ADFD596A7E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0672" y="838072"/>
            <a:ext cx="8464802" cy="558463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21174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1011D6E-2CED-4BBC-A66B-38F7B0BDDCF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018908" y="43891"/>
            <a:ext cx="7886700" cy="4535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54453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514897"/>
            <a:ext cx="3868340" cy="645898"/>
          </a:xfrm>
        </p:spPr>
        <p:txBody>
          <a:bodyPr anchor="b"/>
          <a:lstStyle>
            <a:lvl1pPr marL="0" indent="0" algn="ctr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248402"/>
            <a:ext cx="3868340" cy="526190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514897"/>
            <a:ext cx="3887391" cy="645898"/>
          </a:xfrm>
        </p:spPr>
        <p:txBody>
          <a:bodyPr anchor="b"/>
          <a:lstStyle>
            <a:lvl1pPr marL="0" indent="0" algn="ctr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248402"/>
            <a:ext cx="3887391" cy="526190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1011D6E-2CED-4BBC-A66B-38F7B0BDDCF4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018908" y="43891"/>
            <a:ext cx="7886700" cy="4535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68914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1018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451918C-3068-494B-B756-EB2CEF6603DC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" y="5538866"/>
            <a:ext cx="3013881" cy="1334439"/>
          </a:xfrm>
          <a:prstGeom prst="rect">
            <a:avLst/>
          </a:prstGeom>
        </p:spPr>
      </p:pic>
      <p:sp>
        <p:nvSpPr>
          <p:cNvPr id="13" name="Rectangle 5">
            <a:extLst>
              <a:ext uri="{FF2B5EF4-FFF2-40B4-BE49-F238E27FC236}">
                <a16:creationId xmlns:a16="http://schemas.microsoft.com/office/drawing/2014/main" id="{31DF901C-E89A-4945-9091-D20419752365}"/>
              </a:ext>
            </a:extLst>
          </p:cNvPr>
          <p:cNvSpPr/>
          <p:nvPr userDrawn="1"/>
        </p:nvSpPr>
        <p:spPr>
          <a:xfrm>
            <a:off x="6914848" y="4280108"/>
            <a:ext cx="2226852" cy="2533254"/>
          </a:xfrm>
          <a:custGeom>
            <a:avLst/>
            <a:gdLst>
              <a:gd name="connsiteX0" fmla="*/ 0 w 4572000"/>
              <a:gd name="connsiteY0" fmla="*/ 0 h 3429000"/>
              <a:gd name="connsiteX1" fmla="*/ 4572000 w 4572000"/>
              <a:gd name="connsiteY1" fmla="*/ 0 h 3429000"/>
              <a:gd name="connsiteX2" fmla="*/ 4572000 w 4572000"/>
              <a:gd name="connsiteY2" fmla="*/ 3429000 h 3429000"/>
              <a:gd name="connsiteX3" fmla="*/ 0 w 4572000"/>
              <a:gd name="connsiteY3" fmla="*/ 3429000 h 3429000"/>
              <a:gd name="connsiteX4" fmla="*/ 0 w 4572000"/>
              <a:gd name="connsiteY4" fmla="*/ 0 h 3429000"/>
              <a:gd name="connsiteX0" fmla="*/ 0 w 4572000"/>
              <a:gd name="connsiteY0" fmla="*/ 3429000 h 3429000"/>
              <a:gd name="connsiteX1" fmla="*/ 4572000 w 4572000"/>
              <a:gd name="connsiteY1" fmla="*/ 0 h 3429000"/>
              <a:gd name="connsiteX2" fmla="*/ 4572000 w 4572000"/>
              <a:gd name="connsiteY2" fmla="*/ 3429000 h 3429000"/>
              <a:gd name="connsiteX3" fmla="*/ 0 w 457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0" h="3429000">
                <a:moveTo>
                  <a:pt x="0" y="3429000"/>
                </a:moveTo>
                <a:lnTo>
                  <a:pt x="4572000" y="0"/>
                </a:lnTo>
                <a:lnTo>
                  <a:pt x="457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bg1">
              <a:lumMod val="95000"/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7E801F-3FA2-4ED1-804F-E330EBA748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1" t="4554" r="77" b="59326"/>
          <a:stretch/>
        </p:blipFill>
        <p:spPr>
          <a:xfrm>
            <a:off x="930683" y="-1553"/>
            <a:ext cx="8211017" cy="511200"/>
          </a:xfrm>
          <a:prstGeom prst="rect">
            <a:avLst/>
          </a:prstGeom>
        </p:spPr>
      </p:pic>
      <p:pic>
        <p:nvPicPr>
          <p:cNvPr id="8" name="Picture 2" descr="Data Mining. Concepts and Techniques, 3rd Edition (The Morgan Kaufmann  Series in Data Management Systems)">
            <a:extLst>
              <a:ext uri="{FF2B5EF4-FFF2-40B4-BE49-F238E27FC236}">
                <a16:creationId xmlns:a16="http://schemas.microsoft.com/office/drawing/2014/main" id="{A52DA9B2-CDDD-4030-BA37-75FEC690AB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30682" cy="509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E92C0D8-7584-4BDC-BE7D-11D53629CF58}"/>
              </a:ext>
            </a:extLst>
          </p:cNvPr>
          <p:cNvSpPr/>
          <p:nvPr userDrawn="1"/>
        </p:nvSpPr>
        <p:spPr>
          <a:xfrm>
            <a:off x="-2300" y="6812281"/>
            <a:ext cx="9144000" cy="457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80D6273C-93F4-4ED4-A1B6-1578A4766C97}"/>
              </a:ext>
            </a:extLst>
          </p:cNvPr>
          <p:cNvSpPr>
            <a:spLocks/>
          </p:cNvSpPr>
          <p:nvPr userDrawn="1"/>
        </p:nvSpPr>
        <p:spPr bwMode="auto">
          <a:xfrm>
            <a:off x="59677" y="6603329"/>
            <a:ext cx="1579154" cy="185454"/>
          </a:xfrm>
          <a:prstGeom prst="rect">
            <a:avLst/>
          </a:prstGeom>
          <a:noFill/>
          <a:ln>
            <a:noFill/>
          </a:ln>
        </p:spPr>
        <p:txBody>
          <a:bodyPr lIns="0" tIns="0" rIns="40639" bIns="0" anchor="ctr"/>
          <a:lstStyle>
            <a:lvl1pPr marL="39688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Copyright © 2022 Elsevier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6B0C97-5D7F-45E4-B756-6265FC57D53E}"/>
              </a:ext>
            </a:extLst>
          </p:cNvPr>
          <p:cNvSpPr/>
          <p:nvPr userDrawn="1"/>
        </p:nvSpPr>
        <p:spPr>
          <a:xfrm>
            <a:off x="7884826" y="6812281"/>
            <a:ext cx="1259174" cy="45719"/>
          </a:xfrm>
          <a:prstGeom prst="rect">
            <a:avLst/>
          </a:prstGeom>
          <a:solidFill>
            <a:srgbClr val="DC86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6460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2" r:id="rId2"/>
    <p:sldLayoutId id="2147483664" r:id="rId3"/>
    <p:sldLayoutId id="2147483667" r:id="rId4"/>
    <p:sldLayoutId id="2147483665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Chapter 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Convolution</a:t>
            </a:r>
          </a:p>
        </p:txBody>
      </p:sp>
    </p:spTree>
    <p:extLst>
      <p:ext uri="{BB962C8B-B14F-4D97-AF65-F5344CB8AC3E}">
        <p14:creationId xmlns:p14="http://schemas.microsoft.com/office/powerpoint/2010/main" val="3831425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Convolution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312910"/>
              </p:ext>
            </p:extLst>
          </p:nvPr>
        </p:nvGraphicFramePr>
        <p:xfrm>
          <a:off x="5430945" y="1381213"/>
          <a:ext cx="2926080" cy="292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9689331"/>
              </p:ext>
            </p:extLst>
          </p:nvPr>
        </p:nvGraphicFramePr>
        <p:xfrm>
          <a:off x="4113870" y="2656541"/>
          <a:ext cx="91440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90070" y="3570941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filter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60585" y="4316282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output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2521463"/>
              </p:ext>
            </p:extLst>
          </p:nvPr>
        </p:nvGraphicFramePr>
        <p:xfrm>
          <a:off x="831220" y="1381213"/>
          <a:ext cx="2926080" cy="292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760860" y="4316282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1886" y="4786825"/>
            <a:ext cx="8360228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Every </a:t>
            </a:r>
            <a:r>
              <a:rPr lang="en-US" sz="2000" b="1" dirty="0">
                <a:solidFill>
                  <a:schemeClr val="accent6"/>
                </a:solidFill>
              </a:rPr>
              <a:t>output element</a:t>
            </a:r>
            <a:r>
              <a:rPr lang="en-US" sz="2000" dirty="0"/>
              <a:t> is a weighted sum of the neighboring </a:t>
            </a:r>
            <a:r>
              <a:rPr lang="en-US" sz="2000" b="1" dirty="0">
                <a:solidFill>
                  <a:schemeClr val="accent5"/>
                </a:solidFill>
              </a:rPr>
              <a:t>input elements</a:t>
            </a:r>
          </a:p>
          <a:p>
            <a:pPr algn="ctr"/>
            <a:endParaRPr lang="en-US" sz="1400" dirty="0"/>
          </a:p>
          <a:p>
            <a:pPr algn="ctr"/>
            <a:r>
              <a:rPr lang="en-US" sz="2000" dirty="0"/>
              <a:t>Image blur seen before was a special case where all weights are the same</a:t>
            </a:r>
          </a:p>
          <a:p>
            <a:pPr algn="ctr"/>
            <a:endParaRPr lang="en-US" sz="1400" dirty="0"/>
          </a:p>
          <a:p>
            <a:pPr algn="ctr"/>
            <a:r>
              <a:rPr lang="en-US" sz="2000" dirty="0"/>
              <a:t>In general, weights are determined by a convolution </a:t>
            </a:r>
            <a:r>
              <a:rPr lang="en-US" sz="2000" b="1" dirty="0">
                <a:solidFill>
                  <a:schemeClr val="accent2"/>
                </a:solidFill>
              </a:rPr>
              <a:t>filter</a:t>
            </a:r>
          </a:p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(commonly called convolution </a:t>
            </a:r>
            <a:r>
              <a:rPr lang="en-US" sz="1600" i="1" dirty="0">
                <a:solidFill>
                  <a:schemeClr val="bg1">
                    <a:lumMod val="50000"/>
                  </a:schemeClr>
                </a:solidFill>
              </a:rPr>
              <a:t>kernel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, but we will use </a:t>
            </a:r>
            <a:r>
              <a:rPr lang="en-US" sz="1600" i="1" dirty="0">
                <a:solidFill>
                  <a:schemeClr val="bg1">
                    <a:lumMod val="50000"/>
                  </a:schemeClr>
                </a:solidFill>
              </a:rPr>
              <a:t>filter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to avoid confusion with CUDA kernels)</a:t>
            </a:r>
          </a:p>
        </p:txBody>
      </p:sp>
    </p:spTree>
    <p:extLst>
      <p:ext uri="{BB962C8B-B14F-4D97-AF65-F5344CB8AC3E}">
        <p14:creationId xmlns:p14="http://schemas.microsoft.com/office/powerpoint/2010/main" val="2371348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Applications of Convolution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Commonly used in signal processing, image processing, video processing, etc.</a:t>
            </a:r>
          </a:p>
          <a:p>
            <a:endParaRPr lang="en-US" dirty="0"/>
          </a:p>
          <a:p>
            <a:r>
              <a:rPr lang="en-US" dirty="0"/>
              <a:t>Usually used to transform signals or pixels to more desirable values</a:t>
            </a:r>
          </a:p>
          <a:p>
            <a:pPr lvl="1"/>
            <a:r>
              <a:rPr lang="en-US" dirty="0"/>
              <a:t>e.g., Gaussian blur, sharpen, edge detection, etc.</a:t>
            </a:r>
          </a:p>
          <a:p>
            <a:pPr lvl="1"/>
            <a:r>
              <a:rPr lang="en-US" dirty="0"/>
              <a:t>Transformation depends on the weights in the filter</a:t>
            </a:r>
          </a:p>
          <a:p>
            <a:endParaRPr lang="en-US" dirty="0"/>
          </a:p>
          <a:p>
            <a:r>
              <a:rPr lang="en-US" dirty="0"/>
              <a:t>Using 2D as an example, but can also be 1D or 3D</a:t>
            </a:r>
          </a:p>
        </p:txBody>
      </p:sp>
    </p:spTree>
    <p:extLst>
      <p:ext uri="{BB962C8B-B14F-4D97-AF65-F5344CB8AC3E}">
        <p14:creationId xmlns:p14="http://schemas.microsoft.com/office/powerpoint/2010/main" val="33531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Parallelizing Convolution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4109159"/>
              </p:ext>
            </p:extLst>
          </p:nvPr>
        </p:nvGraphicFramePr>
        <p:xfrm>
          <a:off x="5430945" y="1381213"/>
          <a:ext cx="2926080" cy="292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795932"/>
              </p:ext>
            </p:extLst>
          </p:nvPr>
        </p:nvGraphicFramePr>
        <p:xfrm>
          <a:off x="4113870" y="2656541"/>
          <a:ext cx="91440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90070" y="3570941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filter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60585" y="4316282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output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6023177"/>
              </p:ext>
            </p:extLst>
          </p:nvPr>
        </p:nvGraphicFramePr>
        <p:xfrm>
          <a:off x="831220" y="1381213"/>
          <a:ext cx="2926080" cy="292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760860" y="4316282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1886" y="4825245"/>
            <a:ext cx="83602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Parallelization approach:</a:t>
            </a:r>
            <a:r>
              <a:rPr lang="en-US" sz="2000" dirty="0"/>
              <a:t> Assign one thread to compute each </a:t>
            </a:r>
            <a:r>
              <a:rPr lang="en-US" sz="2000" b="1" dirty="0">
                <a:solidFill>
                  <a:schemeClr val="accent6"/>
                </a:solidFill>
              </a:rPr>
              <a:t>output element</a:t>
            </a:r>
            <a:r>
              <a:rPr lang="en-US" sz="1400" dirty="0"/>
              <a:t> </a:t>
            </a:r>
            <a:r>
              <a:rPr lang="en-US" sz="2000" dirty="0"/>
              <a:t>by looping over </a:t>
            </a:r>
            <a:r>
              <a:rPr lang="en-US" sz="2000" b="1" dirty="0">
                <a:solidFill>
                  <a:schemeClr val="accent5"/>
                </a:solidFill>
              </a:rPr>
              <a:t>input elements</a:t>
            </a:r>
            <a:r>
              <a:rPr lang="en-US" sz="2000" dirty="0"/>
              <a:t> and </a:t>
            </a:r>
            <a:r>
              <a:rPr lang="en-US" sz="2000" b="1" dirty="0">
                <a:solidFill>
                  <a:schemeClr val="accent2"/>
                </a:solidFill>
              </a:rPr>
              <a:t>filter</a:t>
            </a:r>
            <a:r>
              <a:rPr lang="en-US" sz="2000" dirty="0"/>
              <a:t> weights</a:t>
            </a: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3949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Storing the Filter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Observations:</a:t>
            </a:r>
          </a:p>
          <a:p>
            <a:pPr lvl="1"/>
            <a:r>
              <a:rPr lang="en-US" dirty="0"/>
              <a:t>The filter is typically small</a:t>
            </a:r>
          </a:p>
          <a:p>
            <a:pPr lvl="1"/>
            <a:r>
              <a:rPr lang="en-US" dirty="0"/>
              <a:t>The filter is constant (weights do not change)</a:t>
            </a:r>
          </a:p>
          <a:p>
            <a:pPr lvl="1"/>
            <a:r>
              <a:rPr lang="en-US" dirty="0"/>
              <a:t>The filter is accessed by all threads in the grid</a:t>
            </a:r>
          </a:p>
          <a:p>
            <a:endParaRPr lang="en-US" dirty="0"/>
          </a:p>
          <a:p>
            <a:r>
              <a:rPr lang="en-US" dirty="0"/>
              <a:t>Optimization: store the filter in </a:t>
            </a:r>
            <a:r>
              <a:rPr lang="en-US" b="1" dirty="0">
                <a:solidFill>
                  <a:schemeClr val="accent5"/>
                </a:solidFill>
              </a:rPr>
              <a:t>constant memory</a:t>
            </a:r>
            <a:r>
              <a:rPr lang="en-US" dirty="0"/>
              <a:t> for quicker access</a:t>
            </a:r>
            <a:endParaRPr lang="en-US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7922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Recall: Memory in the CUDA Programming Model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10788" y="4448682"/>
            <a:ext cx="8522423" cy="45937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2">
                    <a:lumMod val="50000"/>
                  </a:schemeClr>
                </a:solidFill>
              </a:rPr>
              <a:t>Global Memory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9619" y="2233784"/>
            <a:ext cx="548640" cy="31318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>
                <a:solidFill>
                  <a:schemeClr val="accent2">
                    <a:lumMod val="50000"/>
                  </a:schemeClr>
                </a:solidFill>
              </a:rPr>
              <a:t>Regs</a:t>
            </a:r>
            <a:endParaRPr lang="en-US" sz="12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24160" y="1813263"/>
            <a:ext cx="2389458" cy="37442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2">
                    <a:lumMod val="50000"/>
                  </a:schemeClr>
                </a:solidFill>
              </a:rPr>
              <a:t>Shared Memory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33225" y="2233784"/>
            <a:ext cx="548640" cy="31318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>
                <a:solidFill>
                  <a:schemeClr val="accent2">
                    <a:lumMod val="50000"/>
                  </a:schemeClr>
                </a:solidFill>
              </a:rPr>
              <a:t>Regs</a:t>
            </a:r>
            <a:endParaRPr lang="en-US" sz="12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1646831" y="2233784"/>
            <a:ext cx="548640" cy="31318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>
                <a:solidFill>
                  <a:schemeClr val="accent2">
                    <a:lumMod val="50000"/>
                  </a:schemeClr>
                </a:solidFill>
              </a:rPr>
              <a:t>Regs</a:t>
            </a:r>
            <a:endParaRPr lang="en-US" sz="12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2260437" y="2233784"/>
            <a:ext cx="548640" cy="31318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>
                <a:solidFill>
                  <a:schemeClr val="accent2">
                    <a:lumMod val="50000"/>
                  </a:schemeClr>
                </a:solidFill>
              </a:rPr>
              <a:t>Regs</a:t>
            </a:r>
            <a:endParaRPr lang="en-US" sz="12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3173210" y="2233784"/>
            <a:ext cx="548640" cy="31318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>
                <a:solidFill>
                  <a:schemeClr val="accent2">
                    <a:lumMod val="50000"/>
                  </a:schemeClr>
                </a:solidFill>
              </a:rPr>
              <a:t>Regs</a:t>
            </a:r>
            <a:endParaRPr lang="en-US" sz="12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3177751" y="1813263"/>
            <a:ext cx="2389458" cy="37442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2">
                    <a:lumMod val="50000"/>
                  </a:schemeClr>
                </a:solidFill>
              </a:rPr>
              <a:t>Shared Memory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786816" y="2233784"/>
            <a:ext cx="548640" cy="31318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>
                <a:solidFill>
                  <a:schemeClr val="accent2">
                    <a:lumMod val="50000"/>
                  </a:schemeClr>
                </a:solidFill>
              </a:rPr>
              <a:t>Regs</a:t>
            </a:r>
            <a:endParaRPr lang="en-US" sz="12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4400422" y="2233784"/>
            <a:ext cx="548640" cy="31318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>
                <a:solidFill>
                  <a:schemeClr val="accent2">
                    <a:lumMod val="50000"/>
                  </a:schemeClr>
                </a:solidFill>
              </a:rPr>
              <a:t>Regs</a:t>
            </a:r>
            <a:endParaRPr lang="en-US" sz="12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30" name="Rectangle 129"/>
          <p:cNvSpPr/>
          <p:nvPr/>
        </p:nvSpPr>
        <p:spPr>
          <a:xfrm>
            <a:off x="5014028" y="2233784"/>
            <a:ext cx="548640" cy="31318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>
                <a:solidFill>
                  <a:schemeClr val="accent2">
                    <a:lumMod val="50000"/>
                  </a:schemeClr>
                </a:solidFill>
              </a:rPr>
              <a:t>Regs</a:t>
            </a:r>
            <a:endParaRPr lang="en-US" sz="12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33" name="Rectangle 132"/>
          <p:cNvSpPr/>
          <p:nvPr/>
        </p:nvSpPr>
        <p:spPr>
          <a:xfrm>
            <a:off x="6325842" y="2233784"/>
            <a:ext cx="548640" cy="31318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>
                <a:solidFill>
                  <a:schemeClr val="accent2">
                    <a:lumMod val="50000"/>
                  </a:schemeClr>
                </a:solidFill>
              </a:rPr>
              <a:t>Regs</a:t>
            </a:r>
            <a:endParaRPr lang="en-US" sz="12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34" name="Rectangle 133"/>
          <p:cNvSpPr/>
          <p:nvPr/>
        </p:nvSpPr>
        <p:spPr>
          <a:xfrm>
            <a:off x="6330383" y="1813263"/>
            <a:ext cx="2389458" cy="37442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2">
                    <a:lumMod val="50000"/>
                  </a:schemeClr>
                </a:solidFill>
              </a:rPr>
              <a:t>Shared Memory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6939448" y="2233784"/>
            <a:ext cx="548640" cy="31318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>
                <a:solidFill>
                  <a:schemeClr val="accent2">
                    <a:lumMod val="50000"/>
                  </a:schemeClr>
                </a:solidFill>
              </a:rPr>
              <a:t>Regs</a:t>
            </a:r>
            <a:endParaRPr lang="en-US" sz="12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39" name="Rectangle 138"/>
          <p:cNvSpPr/>
          <p:nvPr/>
        </p:nvSpPr>
        <p:spPr>
          <a:xfrm>
            <a:off x="7553054" y="2233784"/>
            <a:ext cx="548640" cy="31318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>
                <a:solidFill>
                  <a:schemeClr val="accent2">
                    <a:lumMod val="50000"/>
                  </a:schemeClr>
                </a:solidFill>
              </a:rPr>
              <a:t>Regs</a:t>
            </a:r>
            <a:endParaRPr lang="en-US" sz="12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8166660" y="2233784"/>
            <a:ext cx="548640" cy="31318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>
                <a:solidFill>
                  <a:schemeClr val="accent2">
                    <a:lumMod val="50000"/>
                  </a:schemeClr>
                </a:solidFill>
              </a:rPr>
              <a:t>Regs</a:t>
            </a:r>
            <a:endParaRPr lang="en-US" sz="12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310789" y="1673563"/>
            <a:ext cx="8522423" cy="2615184"/>
            <a:chOff x="310789" y="2057763"/>
            <a:chExt cx="8522423" cy="2615184"/>
          </a:xfrm>
        </p:grpSpPr>
        <p:sp>
          <p:nvSpPr>
            <p:cNvPr id="58" name="Rectangle 57"/>
            <p:cNvSpPr/>
            <p:nvPr/>
          </p:nvSpPr>
          <p:spPr>
            <a:xfrm>
              <a:off x="310789" y="2057763"/>
              <a:ext cx="2616200" cy="2615184"/>
            </a:xfrm>
            <a:prstGeom prst="rect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>
              <a:off x="603716" y="3008573"/>
              <a:ext cx="180446" cy="15544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80" name="Freeform 79"/>
            <p:cNvSpPr/>
            <p:nvPr/>
          </p:nvSpPr>
          <p:spPr>
            <a:xfrm>
              <a:off x="1217322" y="3008573"/>
              <a:ext cx="180446" cy="15544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82" name="Freeform 81"/>
            <p:cNvSpPr/>
            <p:nvPr/>
          </p:nvSpPr>
          <p:spPr>
            <a:xfrm>
              <a:off x="1830928" y="3008573"/>
              <a:ext cx="180446" cy="15544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84" name="Freeform 83"/>
            <p:cNvSpPr/>
            <p:nvPr/>
          </p:nvSpPr>
          <p:spPr>
            <a:xfrm>
              <a:off x="2444534" y="3008573"/>
              <a:ext cx="180446" cy="15544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88" name="Rectangle 87"/>
            <p:cNvSpPr/>
            <p:nvPr/>
          </p:nvSpPr>
          <p:spPr>
            <a:xfrm>
              <a:off x="3064380" y="2057763"/>
              <a:ext cx="2616200" cy="2615184"/>
            </a:xfrm>
            <a:prstGeom prst="rect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Freeform 124"/>
            <p:cNvSpPr/>
            <p:nvPr/>
          </p:nvSpPr>
          <p:spPr>
            <a:xfrm>
              <a:off x="3357307" y="3008573"/>
              <a:ext cx="180446" cy="15544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27" name="Freeform 126"/>
            <p:cNvSpPr/>
            <p:nvPr/>
          </p:nvSpPr>
          <p:spPr>
            <a:xfrm>
              <a:off x="3970913" y="3008573"/>
              <a:ext cx="180446" cy="15544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29" name="Freeform 128"/>
            <p:cNvSpPr/>
            <p:nvPr/>
          </p:nvSpPr>
          <p:spPr>
            <a:xfrm>
              <a:off x="4584519" y="3008573"/>
              <a:ext cx="180446" cy="15544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31" name="Freeform 130"/>
            <p:cNvSpPr/>
            <p:nvPr/>
          </p:nvSpPr>
          <p:spPr>
            <a:xfrm>
              <a:off x="5198125" y="3008573"/>
              <a:ext cx="180446" cy="15544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35" name="Rectangle 134"/>
            <p:cNvSpPr/>
            <p:nvPr/>
          </p:nvSpPr>
          <p:spPr>
            <a:xfrm>
              <a:off x="6217012" y="2057763"/>
              <a:ext cx="2616200" cy="2615184"/>
            </a:xfrm>
            <a:prstGeom prst="rect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Freeform 135"/>
            <p:cNvSpPr/>
            <p:nvPr/>
          </p:nvSpPr>
          <p:spPr>
            <a:xfrm>
              <a:off x="6509939" y="3008573"/>
              <a:ext cx="180446" cy="15544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38" name="Freeform 137"/>
            <p:cNvSpPr/>
            <p:nvPr/>
          </p:nvSpPr>
          <p:spPr>
            <a:xfrm>
              <a:off x="7123545" y="3008573"/>
              <a:ext cx="180446" cy="15544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40" name="Freeform 139"/>
            <p:cNvSpPr/>
            <p:nvPr/>
          </p:nvSpPr>
          <p:spPr>
            <a:xfrm>
              <a:off x="7737151" y="3008573"/>
              <a:ext cx="180446" cy="15544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42" name="Freeform 141"/>
            <p:cNvSpPr/>
            <p:nvPr/>
          </p:nvSpPr>
          <p:spPr>
            <a:xfrm>
              <a:off x="8350757" y="3008573"/>
              <a:ext cx="180446" cy="15544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5732230" y="3103745"/>
              <a:ext cx="43313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accent5">
                      <a:lumMod val="75000"/>
                    </a:schemeClr>
                  </a:solidFill>
                </a:rPr>
                <a:t>…</a:t>
              </a:r>
            </a:p>
          </p:txBody>
        </p:sp>
      </p:grpSp>
      <p:sp>
        <p:nvSpPr>
          <p:cNvPr id="144" name="Rectangle 143"/>
          <p:cNvSpPr/>
          <p:nvPr/>
        </p:nvSpPr>
        <p:spPr>
          <a:xfrm>
            <a:off x="323307" y="5035292"/>
            <a:ext cx="8522423" cy="45937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2">
                    <a:lumMod val="50000"/>
                  </a:schemeClr>
                </a:solidFill>
              </a:rPr>
              <a:t>Constant Memory</a:t>
            </a:r>
          </a:p>
        </p:txBody>
      </p:sp>
      <p:sp>
        <p:nvSpPr>
          <p:cNvPr id="3" name="Right Arrow 2"/>
          <p:cNvSpPr/>
          <p:nvPr/>
        </p:nvSpPr>
        <p:spPr>
          <a:xfrm rot="13214908">
            <a:off x="5073800" y="5424078"/>
            <a:ext cx="977739" cy="461042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654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Using Constant Memory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Declare constant memory array as global variable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dirty="0"/>
              <a:t>Must initialize constant memory from the host:</a:t>
            </a:r>
          </a:p>
          <a:p>
            <a:pPr lvl="1"/>
            <a:r>
              <a:rPr lang="en-US" dirty="0"/>
              <a:t>Cannot modify during execution</a:t>
            </a:r>
          </a:p>
          <a:p>
            <a:endParaRPr lang="en-US" sz="2000" dirty="0"/>
          </a:p>
          <a:p>
            <a:endParaRPr lang="en-US" sz="1600" dirty="0"/>
          </a:p>
          <a:p>
            <a:r>
              <a:rPr lang="en-US" dirty="0"/>
              <a:t>Can only allocate up to 64KB</a:t>
            </a:r>
          </a:p>
          <a:p>
            <a:pPr lvl="1"/>
            <a:r>
              <a:rPr lang="en-US" dirty="0"/>
              <a:t>Otherwise, input is also constant, but it is too large to put in constant memory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1160287" y="1246307"/>
            <a:ext cx="648874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__constant__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filter_c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[FILTER_DIM][FILTER_DIM];</a:t>
            </a:r>
            <a:endParaRPr lang="en-US" sz="1200" dirty="0"/>
          </a:p>
        </p:txBody>
      </p:sp>
      <p:sp>
        <p:nvSpPr>
          <p:cNvPr id="6" name="Rectangle 5"/>
          <p:cNvSpPr/>
          <p:nvPr/>
        </p:nvSpPr>
        <p:spPr>
          <a:xfrm>
            <a:off x="1160288" y="2741118"/>
            <a:ext cx="770379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cudaMemcpyToSymbol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filter_c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, filter, FILTER_DIM*FILTER_DIM*</a:t>
            </a:r>
            <a:r>
              <a:rPr lang="en-US" sz="1200" dirty="0" err="1">
                <a:solidFill>
                  <a:srgbClr val="BFBF00"/>
                </a:solidFill>
                <a:latin typeface="Lucida Console" panose="020B0609040504020204" pitchFamily="49" charset="0"/>
              </a:rPr>
              <a:t>sizeof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));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272978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Motivation for Constant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Constant data: easier to build an efficient cache</a:t>
            </a:r>
          </a:p>
          <a:p>
            <a:pPr lvl="1"/>
            <a:r>
              <a:rPr lang="en-US" dirty="0"/>
              <a:t>No need to support write back</a:t>
            </a:r>
          </a:p>
          <a:p>
            <a:pPr lvl="1"/>
            <a:r>
              <a:rPr lang="en-US" dirty="0"/>
              <a:t>No need to support coherence</a:t>
            </a:r>
          </a:p>
          <a:p>
            <a:endParaRPr lang="en-US" dirty="0"/>
          </a:p>
          <a:p>
            <a:r>
              <a:rPr lang="en-US" dirty="0"/>
              <a:t>Small size: minimize evictions</a:t>
            </a:r>
          </a:p>
          <a:p>
            <a:pPr lvl="1"/>
            <a:r>
              <a:rPr lang="en-US" dirty="0"/>
              <a:t>Cache for constant memory has low miss rate</a:t>
            </a:r>
          </a:p>
        </p:txBody>
      </p:sp>
    </p:spTree>
    <p:extLst>
      <p:ext uri="{BB962C8B-B14F-4D97-AF65-F5344CB8AC3E}">
        <p14:creationId xmlns:p14="http://schemas.microsoft.com/office/powerpoint/2010/main" val="483524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roup 125"/>
          <p:cNvGrpSpPr/>
          <p:nvPr/>
        </p:nvGrpSpPr>
        <p:grpSpPr>
          <a:xfrm>
            <a:off x="950727" y="1375004"/>
            <a:ext cx="7242546" cy="3149329"/>
            <a:chOff x="950727" y="1690048"/>
            <a:chExt cx="7242546" cy="3149329"/>
          </a:xfrm>
        </p:grpSpPr>
        <p:sp>
          <p:nvSpPr>
            <p:cNvPr id="9" name="TextBox 8"/>
            <p:cNvSpPr txBox="1"/>
            <p:nvPr/>
          </p:nvSpPr>
          <p:spPr>
            <a:xfrm>
              <a:off x="5516499" y="2759047"/>
              <a:ext cx="426364" cy="5150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accent5">
                      <a:lumMod val="50000"/>
                    </a:schemeClr>
                  </a:solidFill>
                </a:rPr>
                <a:t>…</a:t>
              </a: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950727" y="1690689"/>
              <a:ext cx="1979133" cy="3148688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sz="1600" b="1" dirty="0">
                  <a:solidFill>
                    <a:schemeClr val="accent5">
                      <a:lumMod val="50000"/>
                    </a:schemeClr>
                  </a:solidFill>
                </a:rPr>
                <a:t>SM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1033577" y="2787425"/>
              <a:ext cx="392637" cy="39263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200" b="1" dirty="0">
                  <a:solidFill>
                    <a:schemeClr val="accent6">
                      <a:lumMod val="50000"/>
                    </a:schemeClr>
                  </a:solidFill>
                </a:rPr>
                <a:t>Core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1033576" y="1984867"/>
              <a:ext cx="1784276" cy="313189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accent4">
                      <a:lumMod val="50000"/>
                    </a:schemeClr>
                  </a:solidFill>
                </a:rPr>
                <a:t>Control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1491653" y="2787425"/>
              <a:ext cx="392637" cy="39263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200" b="1" dirty="0">
                  <a:solidFill>
                    <a:schemeClr val="accent6">
                      <a:lumMod val="50000"/>
                    </a:schemeClr>
                  </a:solidFill>
                </a:rPr>
                <a:t>Core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1033577" y="3264392"/>
              <a:ext cx="392637" cy="39263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200" b="1" dirty="0">
                  <a:solidFill>
                    <a:schemeClr val="accent6">
                      <a:lumMod val="50000"/>
                    </a:schemeClr>
                  </a:solidFill>
                </a:rPr>
                <a:t>Core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1491653" y="3264392"/>
              <a:ext cx="392637" cy="39263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200" b="1" dirty="0">
                  <a:solidFill>
                    <a:schemeClr val="accent6">
                      <a:lumMod val="50000"/>
                    </a:schemeClr>
                  </a:solidFill>
                </a:rPr>
                <a:t>Core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1967140" y="2787425"/>
              <a:ext cx="392637" cy="39263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200" b="1" dirty="0">
                  <a:solidFill>
                    <a:schemeClr val="accent6">
                      <a:lumMod val="50000"/>
                    </a:schemeClr>
                  </a:solidFill>
                </a:rPr>
                <a:t>Core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2425216" y="2787425"/>
              <a:ext cx="392637" cy="39263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200" b="1" dirty="0">
                  <a:solidFill>
                    <a:schemeClr val="accent6">
                      <a:lumMod val="50000"/>
                    </a:schemeClr>
                  </a:solidFill>
                </a:rPr>
                <a:t>Core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1967140" y="3264392"/>
              <a:ext cx="392637" cy="39263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200" b="1" dirty="0">
                  <a:solidFill>
                    <a:schemeClr val="accent6">
                      <a:lumMod val="50000"/>
                    </a:schemeClr>
                  </a:solidFill>
                </a:rPr>
                <a:t>Core</a:t>
              </a: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2425216" y="3264392"/>
              <a:ext cx="392637" cy="39263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200" b="1" dirty="0">
                  <a:solidFill>
                    <a:schemeClr val="accent6">
                      <a:lumMod val="50000"/>
                    </a:schemeClr>
                  </a:solidFill>
                </a:rPr>
                <a:t>Core</a:t>
              </a:r>
            </a:p>
          </p:txBody>
        </p:sp>
        <p:sp>
          <p:nvSpPr>
            <p:cNvPr id="94" name="Rectangle 93"/>
            <p:cNvSpPr/>
            <p:nvPr/>
          </p:nvSpPr>
          <p:spPr>
            <a:xfrm>
              <a:off x="3266089" y="1690689"/>
              <a:ext cx="1979133" cy="3148688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sz="1600" b="1" dirty="0">
                  <a:solidFill>
                    <a:schemeClr val="accent5">
                      <a:lumMod val="50000"/>
                    </a:schemeClr>
                  </a:solidFill>
                </a:rPr>
                <a:t>SM</a:t>
              </a:r>
            </a:p>
          </p:txBody>
        </p:sp>
        <p:sp>
          <p:nvSpPr>
            <p:cNvPr id="95" name="Rectangle 94"/>
            <p:cNvSpPr/>
            <p:nvPr/>
          </p:nvSpPr>
          <p:spPr>
            <a:xfrm>
              <a:off x="3348939" y="2787425"/>
              <a:ext cx="392637" cy="39263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200" b="1" dirty="0">
                  <a:solidFill>
                    <a:schemeClr val="accent6">
                      <a:lumMod val="50000"/>
                    </a:schemeClr>
                  </a:solidFill>
                </a:rPr>
                <a:t>Core</a:t>
              </a:r>
            </a:p>
          </p:txBody>
        </p:sp>
        <p:sp>
          <p:nvSpPr>
            <p:cNvPr id="96" name="Rectangle 95"/>
            <p:cNvSpPr/>
            <p:nvPr/>
          </p:nvSpPr>
          <p:spPr>
            <a:xfrm>
              <a:off x="3348938" y="1984867"/>
              <a:ext cx="1784276" cy="313189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accent4">
                      <a:lumMod val="50000"/>
                    </a:schemeClr>
                  </a:solidFill>
                </a:rPr>
                <a:t>Control</a:t>
              </a:r>
            </a:p>
          </p:txBody>
        </p:sp>
        <p:sp>
          <p:nvSpPr>
            <p:cNvPr id="97" name="Rectangle 96"/>
            <p:cNvSpPr/>
            <p:nvPr/>
          </p:nvSpPr>
          <p:spPr>
            <a:xfrm>
              <a:off x="3807015" y="2787425"/>
              <a:ext cx="392637" cy="39263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200" b="1" dirty="0">
                  <a:solidFill>
                    <a:schemeClr val="accent6">
                      <a:lumMod val="50000"/>
                    </a:schemeClr>
                  </a:solidFill>
                </a:rPr>
                <a:t>Core</a:t>
              </a:r>
            </a:p>
          </p:txBody>
        </p:sp>
        <p:sp>
          <p:nvSpPr>
            <p:cNvPr id="98" name="Rectangle 97"/>
            <p:cNvSpPr/>
            <p:nvPr/>
          </p:nvSpPr>
          <p:spPr>
            <a:xfrm>
              <a:off x="3348939" y="3264392"/>
              <a:ext cx="392637" cy="39263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200" b="1" dirty="0">
                  <a:solidFill>
                    <a:schemeClr val="accent6">
                      <a:lumMod val="50000"/>
                    </a:schemeClr>
                  </a:solidFill>
                </a:rPr>
                <a:t>Core</a:t>
              </a:r>
            </a:p>
          </p:txBody>
        </p:sp>
        <p:sp>
          <p:nvSpPr>
            <p:cNvPr id="99" name="Rectangle 98"/>
            <p:cNvSpPr/>
            <p:nvPr/>
          </p:nvSpPr>
          <p:spPr>
            <a:xfrm>
              <a:off x="3807015" y="3264392"/>
              <a:ext cx="392637" cy="39263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200" b="1" dirty="0">
                  <a:solidFill>
                    <a:schemeClr val="accent6">
                      <a:lumMod val="50000"/>
                    </a:schemeClr>
                  </a:solidFill>
                </a:rPr>
                <a:t>Core</a:t>
              </a:r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4282502" y="2787425"/>
              <a:ext cx="392637" cy="39263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200" b="1" dirty="0">
                  <a:solidFill>
                    <a:schemeClr val="accent6">
                      <a:lumMod val="50000"/>
                    </a:schemeClr>
                  </a:solidFill>
                </a:rPr>
                <a:t>Core</a:t>
              </a:r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4740578" y="2787425"/>
              <a:ext cx="392637" cy="39263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200" b="1" dirty="0">
                  <a:solidFill>
                    <a:schemeClr val="accent6">
                      <a:lumMod val="50000"/>
                    </a:schemeClr>
                  </a:solidFill>
                </a:rPr>
                <a:t>Core</a:t>
              </a:r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4282502" y="3264392"/>
              <a:ext cx="392637" cy="39263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200" b="1" dirty="0">
                  <a:solidFill>
                    <a:schemeClr val="accent6">
                      <a:lumMod val="50000"/>
                    </a:schemeClr>
                  </a:solidFill>
                </a:rPr>
                <a:t>Core</a:t>
              </a:r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4740578" y="3264392"/>
              <a:ext cx="392637" cy="39263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200" b="1" dirty="0">
                  <a:solidFill>
                    <a:schemeClr val="accent6">
                      <a:lumMod val="50000"/>
                    </a:schemeClr>
                  </a:solidFill>
                </a:rPr>
                <a:t>Core</a:t>
              </a:r>
            </a:p>
          </p:txBody>
        </p:sp>
        <p:sp>
          <p:nvSpPr>
            <p:cNvPr id="110" name="Rectangle 109"/>
            <p:cNvSpPr/>
            <p:nvPr/>
          </p:nvSpPr>
          <p:spPr>
            <a:xfrm>
              <a:off x="6214140" y="1690048"/>
              <a:ext cx="1979133" cy="3148688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sz="1600" b="1" dirty="0">
                  <a:solidFill>
                    <a:schemeClr val="accent5">
                      <a:lumMod val="50000"/>
                    </a:schemeClr>
                  </a:solidFill>
                </a:rPr>
                <a:t>SM</a:t>
              </a:r>
            </a:p>
          </p:txBody>
        </p:sp>
        <p:sp>
          <p:nvSpPr>
            <p:cNvPr id="111" name="Rectangle 110"/>
            <p:cNvSpPr/>
            <p:nvPr/>
          </p:nvSpPr>
          <p:spPr>
            <a:xfrm>
              <a:off x="6296990" y="2786784"/>
              <a:ext cx="392637" cy="39263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200" b="1" dirty="0">
                  <a:solidFill>
                    <a:schemeClr val="accent6">
                      <a:lumMod val="50000"/>
                    </a:schemeClr>
                  </a:solidFill>
                </a:rPr>
                <a:t>Core</a:t>
              </a:r>
            </a:p>
          </p:txBody>
        </p:sp>
        <p:sp>
          <p:nvSpPr>
            <p:cNvPr id="112" name="Rectangle 111"/>
            <p:cNvSpPr/>
            <p:nvPr/>
          </p:nvSpPr>
          <p:spPr>
            <a:xfrm>
              <a:off x="6296989" y="1984226"/>
              <a:ext cx="1784276" cy="313189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accent4">
                      <a:lumMod val="50000"/>
                    </a:schemeClr>
                  </a:solidFill>
                </a:rPr>
                <a:t>Control</a:t>
              </a:r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6755066" y="2786784"/>
              <a:ext cx="392637" cy="39263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200" b="1" dirty="0">
                  <a:solidFill>
                    <a:schemeClr val="accent6">
                      <a:lumMod val="50000"/>
                    </a:schemeClr>
                  </a:solidFill>
                </a:rPr>
                <a:t>Core</a:t>
              </a:r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6296990" y="3263751"/>
              <a:ext cx="392637" cy="39263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200" b="1" dirty="0">
                  <a:solidFill>
                    <a:schemeClr val="accent6">
                      <a:lumMod val="50000"/>
                    </a:schemeClr>
                  </a:solidFill>
                </a:rPr>
                <a:t>Core</a:t>
              </a:r>
            </a:p>
          </p:txBody>
        </p:sp>
        <p:sp>
          <p:nvSpPr>
            <p:cNvPr id="115" name="Rectangle 114"/>
            <p:cNvSpPr/>
            <p:nvPr/>
          </p:nvSpPr>
          <p:spPr>
            <a:xfrm>
              <a:off x="6755066" y="3263751"/>
              <a:ext cx="392637" cy="39263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200" b="1" dirty="0">
                  <a:solidFill>
                    <a:schemeClr val="accent6">
                      <a:lumMod val="50000"/>
                    </a:schemeClr>
                  </a:solidFill>
                </a:rPr>
                <a:t>Core</a:t>
              </a:r>
            </a:p>
          </p:txBody>
        </p:sp>
        <p:sp>
          <p:nvSpPr>
            <p:cNvPr id="116" name="Rectangle 115"/>
            <p:cNvSpPr/>
            <p:nvPr/>
          </p:nvSpPr>
          <p:spPr>
            <a:xfrm>
              <a:off x="7230553" y="2786784"/>
              <a:ext cx="392637" cy="39263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200" b="1" dirty="0">
                  <a:solidFill>
                    <a:schemeClr val="accent6">
                      <a:lumMod val="50000"/>
                    </a:schemeClr>
                  </a:solidFill>
                </a:rPr>
                <a:t>Core</a:t>
              </a:r>
            </a:p>
          </p:txBody>
        </p:sp>
        <p:sp>
          <p:nvSpPr>
            <p:cNvPr id="117" name="Rectangle 116"/>
            <p:cNvSpPr/>
            <p:nvPr/>
          </p:nvSpPr>
          <p:spPr>
            <a:xfrm>
              <a:off x="7688629" y="2786784"/>
              <a:ext cx="392637" cy="39263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200" b="1" dirty="0">
                  <a:solidFill>
                    <a:schemeClr val="accent6">
                      <a:lumMod val="50000"/>
                    </a:schemeClr>
                  </a:solidFill>
                </a:rPr>
                <a:t>Core</a:t>
              </a:r>
            </a:p>
          </p:txBody>
        </p:sp>
        <p:sp>
          <p:nvSpPr>
            <p:cNvPr id="118" name="Rectangle 117"/>
            <p:cNvSpPr/>
            <p:nvPr/>
          </p:nvSpPr>
          <p:spPr>
            <a:xfrm>
              <a:off x="7230553" y="3263751"/>
              <a:ext cx="392637" cy="39263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200" b="1" dirty="0">
                  <a:solidFill>
                    <a:schemeClr val="accent6">
                      <a:lumMod val="50000"/>
                    </a:schemeClr>
                  </a:solidFill>
                </a:rPr>
                <a:t>Core</a:t>
              </a:r>
            </a:p>
          </p:txBody>
        </p:sp>
        <p:sp>
          <p:nvSpPr>
            <p:cNvPr id="119" name="Rectangle 118"/>
            <p:cNvSpPr/>
            <p:nvPr/>
          </p:nvSpPr>
          <p:spPr>
            <a:xfrm>
              <a:off x="7688629" y="3263751"/>
              <a:ext cx="392637" cy="39263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200" b="1" dirty="0">
                  <a:solidFill>
                    <a:schemeClr val="accent6">
                      <a:lumMod val="50000"/>
                    </a:schemeClr>
                  </a:solidFill>
                </a:rPr>
                <a:t>Core</a:t>
              </a:r>
            </a:p>
          </p:txBody>
        </p:sp>
      </p:grpSp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Recall: Memory in the GPU Architecture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0727" y="4745805"/>
            <a:ext cx="7242546" cy="45937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2">
                    <a:lumMod val="50000"/>
                  </a:schemeClr>
                </a:solidFill>
              </a:rPr>
              <a:t>L2 Cache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50727" y="5394584"/>
            <a:ext cx="7242546" cy="45937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2">
                    <a:lumMod val="50000"/>
                  </a:schemeClr>
                </a:solidFill>
              </a:rPr>
              <a:t>Global Memory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33576" y="2071348"/>
            <a:ext cx="1784276" cy="31318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2">
                    <a:lumMod val="50000"/>
                  </a:schemeClr>
                </a:solidFill>
              </a:rPr>
              <a:t>Registers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33576" y="3823836"/>
            <a:ext cx="892138" cy="5599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2">
                    <a:lumMod val="50000"/>
                  </a:schemeClr>
                </a:solidFill>
              </a:rPr>
              <a:t>Shared Memory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925714" y="3823836"/>
            <a:ext cx="892138" cy="5599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2">
                    <a:lumMod val="50000"/>
                  </a:schemeClr>
                </a:solidFill>
              </a:rPr>
              <a:t>L1 Cache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33576" y="3426315"/>
            <a:ext cx="1784276" cy="31318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2">
                    <a:lumMod val="50000"/>
                  </a:schemeClr>
                </a:solidFill>
              </a:rPr>
              <a:t>Constant Cache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348938" y="2071348"/>
            <a:ext cx="1784276" cy="31318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2">
                    <a:lumMod val="50000"/>
                  </a:schemeClr>
                </a:solidFill>
              </a:rPr>
              <a:t>Registers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348938" y="3823836"/>
            <a:ext cx="892138" cy="5599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2">
                    <a:lumMod val="50000"/>
                  </a:schemeClr>
                </a:solidFill>
              </a:rPr>
              <a:t>Shared Memory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241076" y="3823836"/>
            <a:ext cx="892138" cy="5599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2">
                    <a:lumMod val="50000"/>
                  </a:schemeClr>
                </a:solidFill>
              </a:rPr>
              <a:t>L1 Cache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348938" y="3426315"/>
            <a:ext cx="1784276" cy="31318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2">
                    <a:lumMod val="50000"/>
                  </a:schemeClr>
                </a:solidFill>
              </a:rPr>
              <a:t>Constant Cache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296989" y="2070707"/>
            <a:ext cx="1784276" cy="31318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2">
                    <a:lumMod val="50000"/>
                  </a:schemeClr>
                </a:solidFill>
              </a:rPr>
              <a:t>Registers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296989" y="3823195"/>
            <a:ext cx="892138" cy="5599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2">
                    <a:lumMod val="50000"/>
                  </a:schemeClr>
                </a:solidFill>
              </a:rPr>
              <a:t>Shared Memory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7189127" y="3823195"/>
            <a:ext cx="892138" cy="5599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2">
                    <a:lumMod val="50000"/>
                  </a:schemeClr>
                </a:solidFill>
              </a:rPr>
              <a:t>L1 Cache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296989" y="3425674"/>
            <a:ext cx="1784276" cy="31318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2">
                    <a:lumMod val="50000"/>
                  </a:schemeClr>
                </a:solidFill>
              </a:rPr>
              <a:t>Constant Cache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2764" y="2090654"/>
            <a:ext cx="6860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accent2">
                    <a:lumMod val="50000"/>
                  </a:schemeClr>
                </a:solidFill>
              </a:rPr>
              <a:t>≈1 cycle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2307" y="3443768"/>
            <a:ext cx="746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accent2">
                    <a:lumMod val="50000"/>
                  </a:schemeClr>
                </a:solidFill>
              </a:rPr>
              <a:t>≈5 cycles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2307" y="3964657"/>
            <a:ext cx="746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accent2">
                    <a:lumMod val="50000"/>
                  </a:schemeClr>
                </a:solidFill>
              </a:rPr>
              <a:t>≈5 cycles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759" y="5485770"/>
            <a:ext cx="9040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accent2">
                    <a:lumMod val="50000"/>
                  </a:schemeClr>
                </a:solidFill>
              </a:rPr>
              <a:t>≈500 cycles</a:t>
            </a:r>
          </a:p>
        </p:txBody>
      </p:sp>
      <p:sp>
        <p:nvSpPr>
          <p:cNvPr id="57" name="Right Arrow 56"/>
          <p:cNvSpPr/>
          <p:nvPr/>
        </p:nvSpPr>
        <p:spPr>
          <a:xfrm rot="13214908">
            <a:off x="4891992" y="3660793"/>
            <a:ext cx="977739" cy="461042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937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Parallelizing Convolution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5688481"/>
              </p:ext>
            </p:extLst>
          </p:nvPr>
        </p:nvGraphicFramePr>
        <p:xfrm>
          <a:off x="5430945" y="1381213"/>
          <a:ext cx="2926080" cy="292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9560567"/>
              </p:ext>
            </p:extLst>
          </p:nvPr>
        </p:nvGraphicFramePr>
        <p:xfrm>
          <a:off x="4113870" y="2656541"/>
          <a:ext cx="91440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360585" y="4316282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output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949579"/>
              </p:ext>
            </p:extLst>
          </p:nvPr>
        </p:nvGraphicFramePr>
        <p:xfrm>
          <a:off x="831220" y="1381213"/>
          <a:ext cx="2926080" cy="292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91886" y="5209873"/>
            <a:ext cx="83602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Parallelization approach:</a:t>
            </a:r>
            <a:r>
              <a:rPr lang="en-US" sz="2000" dirty="0"/>
              <a:t> Assign one thread to compute each </a:t>
            </a:r>
            <a:r>
              <a:rPr lang="en-US" sz="2000" b="1" dirty="0">
                <a:solidFill>
                  <a:schemeClr val="accent6"/>
                </a:solidFill>
              </a:rPr>
              <a:t>output element</a:t>
            </a:r>
            <a:r>
              <a:rPr lang="en-US" sz="1400" dirty="0"/>
              <a:t> </a:t>
            </a:r>
            <a:r>
              <a:rPr lang="en-US" sz="2000" dirty="0"/>
              <a:t>by looping over </a:t>
            </a:r>
            <a:r>
              <a:rPr lang="en-US" sz="2000" b="1" dirty="0">
                <a:solidFill>
                  <a:schemeClr val="accent5"/>
                </a:solidFill>
              </a:rPr>
              <a:t>input elements</a:t>
            </a:r>
            <a:r>
              <a:rPr lang="en-US" sz="2000" dirty="0"/>
              <a:t> and </a:t>
            </a:r>
            <a:r>
              <a:rPr lang="en-US" sz="2000" b="1" dirty="0">
                <a:solidFill>
                  <a:schemeClr val="accent2"/>
                </a:solidFill>
              </a:rPr>
              <a:t>filter</a:t>
            </a:r>
            <a:r>
              <a:rPr lang="en-US" sz="2000" dirty="0"/>
              <a:t> weights</a:t>
            </a: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976325" y="3570941"/>
            <a:ext cx="118949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filter</a:t>
            </a:r>
          </a:p>
          <a:p>
            <a:pPr algn="ctr"/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(in constant memory)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0860" y="4316282"/>
            <a:ext cx="10668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input</a:t>
            </a:r>
          </a:p>
          <a:p>
            <a:pPr algn="ctr"/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(in global memory)</a:t>
            </a:r>
          </a:p>
        </p:txBody>
      </p:sp>
    </p:spTree>
    <p:extLst>
      <p:ext uri="{BB962C8B-B14F-4D97-AF65-F5344CB8AC3E}">
        <p14:creationId xmlns:p14="http://schemas.microsoft.com/office/powerpoint/2010/main" val="2278420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Convolution Kernel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-18144" y="1605060"/>
            <a:ext cx="922383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BF00"/>
                </a:solidFill>
                <a:latin typeface="Lucida Console" panose="020B0609040504020204" pitchFamily="49" charset="0"/>
              </a:rPr>
              <a:t>__global__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400" dirty="0">
                <a:solidFill>
                  <a:srgbClr val="00BF00"/>
                </a:solidFill>
                <a:latin typeface="Lucida Console" panose="020B0609040504020204" pitchFamily="49" charset="0"/>
              </a:rPr>
              <a:t>void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convolution_kernel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4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* input, </a:t>
            </a:r>
            <a:r>
              <a:rPr lang="en-US" sz="14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* output, </a:t>
            </a:r>
            <a:r>
              <a:rPr lang="en-US" sz="14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width,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                                                  </a:t>
            </a:r>
            <a:r>
              <a:rPr lang="en-US" sz="14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height) {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4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outRow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14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blockIdx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.y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*</a:t>
            </a:r>
            <a:r>
              <a:rPr lang="en-US" sz="14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blockDim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.y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+ </a:t>
            </a:r>
            <a:r>
              <a:rPr lang="en-US" sz="14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.y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4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outCol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14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blockIdx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*</a:t>
            </a:r>
            <a:r>
              <a:rPr lang="en-US" sz="14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blockDim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+ </a:t>
            </a:r>
            <a:r>
              <a:rPr lang="en-US" sz="14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400" dirty="0">
                <a:solidFill>
                  <a:srgbClr val="BFBF00"/>
                </a:solidFill>
                <a:latin typeface="Lucida Console" panose="020B0609040504020204" pitchFamily="49" charset="0"/>
              </a:rPr>
              <a:t>if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(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outRow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&lt; height &amp;&amp;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outCol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&lt; width) {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4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sum = </a:t>
            </a:r>
            <a:r>
              <a:rPr lang="en-US" sz="1400" dirty="0">
                <a:solidFill>
                  <a:srgbClr val="BF0000"/>
                </a:solidFill>
                <a:latin typeface="Lucida Console" panose="020B0609040504020204" pitchFamily="49" charset="0"/>
              </a:rPr>
              <a:t>0.0f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400" dirty="0">
                <a:solidFill>
                  <a:srgbClr val="BFBF00"/>
                </a:solidFill>
                <a:latin typeface="Lucida Console" panose="020B0609040504020204" pitchFamily="49" charset="0"/>
              </a:rPr>
              <a:t>for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4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filterRow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1400" dirty="0">
                <a:solidFill>
                  <a:srgbClr val="BF0000"/>
                </a:solidFill>
                <a:latin typeface="Lucida Console" panose="020B0609040504020204" pitchFamily="49" charset="0"/>
              </a:rPr>
              <a:t>0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;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filterRow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&lt; FILTER_DIM; ++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filterRow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</a:t>
            </a:r>
            <a:r>
              <a:rPr lang="en-US" sz="1400" dirty="0">
                <a:solidFill>
                  <a:srgbClr val="BFBF00"/>
                </a:solidFill>
                <a:latin typeface="Lucida Console" panose="020B0609040504020204" pitchFamily="49" charset="0"/>
              </a:rPr>
              <a:t>for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4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filterCol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1400" dirty="0">
                <a:solidFill>
                  <a:srgbClr val="BF0000"/>
                </a:solidFill>
                <a:latin typeface="Lucida Console" panose="020B0609040504020204" pitchFamily="49" charset="0"/>
              </a:rPr>
              <a:t>0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;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filterCol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&lt; FILTER_DIM; ++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filterCol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    </a:t>
            </a:r>
            <a:r>
              <a:rPr lang="en-US" sz="14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inRow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outRow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- FILTER_RADIUS +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filterRow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    </a:t>
            </a:r>
            <a:r>
              <a:rPr lang="en-US" sz="14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inCol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outCol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- FILTER_RADIUS +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filterCol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    </a:t>
            </a:r>
            <a:r>
              <a:rPr lang="en-US" sz="1400" dirty="0">
                <a:solidFill>
                  <a:srgbClr val="BFBF00"/>
                </a:solidFill>
                <a:latin typeface="Lucida Console" panose="020B0609040504020204" pitchFamily="49" charset="0"/>
              </a:rPr>
              <a:t>if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inRow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&gt;= </a:t>
            </a:r>
            <a:r>
              <a:rPr lang="en-US" sz="1400" dirty="0">
                <a:solidFill>
                  <a:srgbClr val="BF0000"/>
                </a:solidFill>
                <a:latin typeface="Lucida Console" panose="020B0609040504020204" pitchFamily="49" charset="0"/>
              </a:rPr>
              <a:t>0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&amp;&amp;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inRow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&lt; height &amp;&amp;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inCol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&gt;= </a:t>
            </a:r>
            <a:r>
              <a:rPr lang="en-US" sz="1400" dirty="0">
                <a:solidFill>
                  <a:srgbClr val="BF0000"/>
                </a:solidFill>
                <a:latin typeface="Lucida Console" panose="020B0609040504020204" pitchFamily="49" charset="0"/>
              </a:rPr>
              <a:t>0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&amp;&amp;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inCol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&lt; width) {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        sum +=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filter_c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filterRow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][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filterCol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]*input[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inRow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*width +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inCol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];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    }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}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}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output[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outRow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*width +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outCol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] = sum;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}</a:t>
            </a:r>
          </a:p>
          <a:p>
            <a:endParaRPr lang="en-US" sz="14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}</a:t>
            </a:r>
          </a:p>
          <a:p>
            <a:endParaRPr lang="en-US" sz="140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2689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Data Reuse in Convolution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3714820"/>
              </p:ext>
            </p:extLst>
          </p:nvPr>
        </p:nvGraphicFramePr>
        <p:xfrm>
          <a:off x="5430945" y="1381213"/>
          <a:ext cx="2926080" cy="292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5380422"/>
              </p:ext>
            </p:extLst>
          </p:nvPr>
        </p:nvGraphicFramePr>
        <p:xfrm>
          <a:off x="4113870" y="2656541"/>
          <a:ext cx="91440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976325" y="3570941"/>
            <a:ext cx="118949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filter</a:t>
            </a:r>
          </a:p>
          <a:p>
            <a:pPr algn="ctr"/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(in constant memory)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60585" y="4316282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output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955076"/>
              </p:ext>
            </p:extLst>
          </p:nvPr>
        </p:nvGraphicFramePr>
        <p:xfrm>
          <a:off x="831220" y="1381213"/>
          <a:ext cx="2926080" cy="292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760860" y="4316282"/>
            <a:ext cx="10668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input</a:t>
            </a:r>
          </a:p>
          <a:p>
            <a:pPr algn="ctr"/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(in global memory)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1886" y="5124921"/>
            <a:ext cx="83602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Observation:</a:t>
            </a:r>
            <a:r>
              <a:rPr lang="en-US" sz="2000" dirty="0"/>
              <a:t> Threads in the same block load some of the same input elements</a:t>
            </a: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0376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Data Reuse in Convolution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5241975"/>
              </p:ext>
            </p:extLst>
          </p:nvPr>
        </p:nvGraphicFramePr>
        <p:xfrm>
          <a:off x="5430945" y="1381213"/>
          <a:ext cx="2926080" cy="292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3298222"/>
              </p:ext>
            </p:extLst>
          </p:nvPr>
        </p:nvGraphicFramePr>
        <p:xfrm>
          <a:off x="4113870" y="2656541"/>
          <a:ext cx="91440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360585" y="4316282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output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955905"/>
              </p:ext>
            </p:extLst>
          </p:nvPr>
        </p:nvGraphicFramePr>
        <p:xfrm>
          <a:off x="831220" y="1381213"/>
          <a:ext cx="2926080" cy="292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91886" y="5124921"/>
            <a:ext cx="83602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Observation:</a:t>
            </a:r>
            <a:r>
              <a:rPr lang="en-US" sz="2000" dirty="0"/>
              <a:t> Threads in the same block load some of the same input elements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6325" y="3570941"/>
            <a:ext cx="118949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filter</a:t>
            </a:r>
          </a:p>
          <a:p>
            <a:pPr algn="ctr"/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(in constant memory)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0860" y="4316282"/>
            <a:ext cx="10668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input</a:t>
            </a:r>
          </a:p>
          <a:p>
            <a:pPr algn="ctr"/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(in global memory)</a:t>
            </a:r>
          </a:p>
        </p:txBody>
      </p:sp>
    </p:spTree>
    <p:extLst>
      <p:ext uri="{BB962C8B-B14F-4D97-AF65-F5344CB8AC3E}">
        <p14:creationId xmlns:p14="http://schemas.microsoft.com/office/powerpoint/2010/main" val="1128252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Data Reuse in Convolution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332286"/>
              </p:ext>
            </p:extLst>
          </p:nvPr>
        </p:nvGraphicFramePr>
        <p:xfrm>
          <a:off x="5430945" y="1381213"/>
          <a:ext cx="2926080" cy="292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5004834"/>
              </p:ext>
            </p:extLst>
          </p:nvPr>
        </p:nvGraphicFramePr>
        <p:xfrm>
          <a:off x="4113870" y="2656541"/>
          <a:ext cx="91440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360585" y="4316282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output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6249828"/>
              </p:ext>
            </p:extLst>
          </p:nvPr>
        </p:nvGraphicFramePr>
        <p:xfrm>
          <a:off x="831220" y="1381213"/>
          <a:ext cx="2926080" cy="292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91886" y="5124921"/>
            <a:ext cx="83602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Observation:</a:t>
            </a:r>
            <a:r>
              <a:rPr lang="en-US" sz="2000" dirty="0"/>
              <a:t> Threads in the same block load some of the same input elements</a:t>
            </a:r>
          </a:p>
          <a:p>
            <a:pPr algn="ctr"/>
            <a:endParaRPr lang="en-US" sz="2000" dirty="0"/>
          </a:p>
          <a:p>
            <a:pPr algn="ctr"/>
            <a:r>
              <a:rPr lang="en-US" sz="2000" b="1" u="sng" dirty="0"/>
              <a:t>Optimization:</a:t>
            </a:r>
            <a:r>
              <a:rPr lang="en-US" sz="2000" dirty="0"/>
              <a:t> Each thread loads one input element to shared memory and other threads access the element from shared memory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6325" y="3570941"/>
            <a:ext cx="118949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filter</a:t>
            </a:r>
          </a:p>
          <a:p>
            <a:pPr algn="ctr"/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(in constant memory)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0860" y="4316282"/>
            <a:ext cx="10668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input</a:t>
            </a:r>
          </a:p>
          <a:p>
            <a:pPr algn="ctr"/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(in global memory)</a:t>
            </a:r>
          </a:p>
        </p:txBody>
      </p:sp>
    </p:spTree>
    <p:extLst>
      <p:ext uri="{BB962C8B-B14F-4D97-AF65-F5344CB8AC3E}">
        <p14:creationId xmlns:p14="http://schemas.microsoft.com/office/powerpoint/2010/main" val="3506870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Convolution with Tiling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1595953"/>
              </p:ext>
            </p:extLst>
          </p:nvPr>
        </p:nvGraphicFramePr>
        <p:xfrm>
          <a:off x="5430945" y="1381213"/>
          <a:ext cx="2926080" cy="292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5042448"/>
              </p:ext>
            </p:extLst>
          </p:nvPr>
        </p:nvGraphicFramePr>
        <p:xfrm>
          <a:off x="4113870" y="2656541"/>
          <a:ext cx="91440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360585" y="4316282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1886" y="5124921"/>
            <a:ext cx="83602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000" dirty="0"/>
          </a:p>
          <a:p>
            <a:pPr algn="ctr"/>
            <a:endParaRPr lang="en-US" sz="2000" dirty="0"/>
          </a:p>
          <a:p>
            <a:pPr algn="ctr"/>
            <a:r>
              <a:rPr lang="en-US" sz="2000" b="1" u="sng" dirty="0"/>
              <a:t>Optimization:</a:t>
            </a:r>
            <a:r>
              <a:rPr lang="en-US" sz="2000" dirty="0"/>
              <a:t> Each thread loads one input element to shared memory and other threads access the element from shared memory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6325" y="3570941"/>
            <a:ext cx="118949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filter</a:t>
            </a:r>
          </a:p>
          <a:p>
            <a:pPr algn="ctr"/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(in constant memory)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6857632"/>
              </p:ext>
            </p:extLst>
          </p:nvPr>
        </p:nvGraphicFramePr>
        <p:xfrm>
          <a:off x="831220" y="1381213"/>
          <a:ext cx="2926080" cy="292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197804" y="3179099"/>
            <a:ext cx="146649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input</a:t>
            </a:r>
            <a:r>
              <a:rPr lang="en-US" baseline="-25000" dirty="0" err="1"/>
              <a:t>tile</a:t>
            </a:r>
            <a:endParaRPr lang="en-US" baseline="-25000" dirty="0"/>
          </a:p>
          <a:p>
            <a:pPr algn="ctr"/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(in shared memory)</a:t>
            </a:r>
          </a:p>
        </p:txBody>
      </p:sp>
    </p:spTree>
    <p:extLst>
      <p:ext uri="{BB962C8B-B14F-4D97-AF65-F5344CB8AC3E}">
        <p14:creationId xmlns:p14="http://schemas.microsoft.com/office/powerpoint/2010/main" val="1090865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Difference in Tile Sizes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8713500"/>
              </p:ext>
            </p:extLst>
          </p:nvPr>
        </p:nvGraphicFramePr>
        <p:xfrm>
          <a:off x="5430945" y="1381213"/>
          <a:ext cx="2926080" cy="292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1796335"/>
              </p:ext>
            </p:extLst>
          </p:nvPr>
        </p:nvGraphicFramePr>
        <p:xfrm>
          <a:off x="4113870" y="2656541"/>
          <a:ext cx="91440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360585" y="4316282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" y="4847922"/>
            <a:ext cx="78867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Challenge:</a:t>
            </a:r>
            <a:r>
              <a:rPr lang="en-US" sz="2000" dirty="0"/>
              <a:t> Input and output tiles have different dimensions</a:t>
            </a:r>
          </a:p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( input tile dimension = output tile dimension + 2 × filter radius )</a:t>
            </a:r>
          </a:p>
          <a:p>
            <a:pPr algn="ctr"/>
            <a:endParaRPr lang="en-US" sz="2000" dirty="0"/>
          </a:p>
          <a:p>
            <a:pPr algn="ctr"/>
            <a:r>
              <a:rPr lang="en-US" sz="2000" b="1" u="sng" dirty="0"/>
              <a:t>Solution:</a:t>
            </a:r>
            <a:r>
              <a:rPr lang="en-US" sz="2000" dirty="0"/>
              <a:t> Launch enough threads per block to load the input tile to shared memory, then use a subset of them to compute and store the output tile</a:t>
            </a:r>
            <a:endParaRPr 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976325" y="3570941"/>
            <a:ext cx="118949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filter</a:t>
            </a:r>
          </a:p>
          <a:p>
            <a:pPr algn="ctr"/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(in constant memory)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6164628" y="1309521"/>
            <a:ext cx="73766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643327" y="1003643"/>
            <a:ext cx="17636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output tile dimension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4113870" y="2593869"/>
            <a:ext cx="9144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885332" y="2287991"/>
            <a:ext cx="13708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filter dimension</a:t>
            </a:r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4113870" y="3117626"/>
            <a:ext cx="365760" cy="189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078075" y="2953409"/>
            <a:ext cx="10530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filter radius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8983300"/>
              </p:ext>
            </p:extLst>
          </p:nvPr>
        </p:nvGraphicFramePr>
        <p:xfrm>
          <a:off x="831220" y="1381213"/>
          <a:ext cx="2926080" cy="292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197804" y="3179099"/>
            <a:ext cx="146649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input</a:t>
            </a:r>
            <a:r>
              <a:rPr lang="en-US" baseline="-25000" dirty="0" err="1"/>
              <a:t>tile</a:t>
            </a:r>
            <a:endParaRPr lang="en-US" baseline="-25000" dirty="0"/>
          </a:p>
          <a:p>
            <a:pPr algn="ctr"/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(in shared memory)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1197804" y="1672168"/>
            <a:ext cx="146649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99619" y="1366290"/>
            <a:ext cx="16498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input tile dimension</a:t>
            </a:r>
          </a:p>
        </p:txBody>
      </p:sp>
    </p:spTree>
    <p:extLst>
      <p:ext uri="{BB962C8B-B14F-4D97-AF65-F5344CB8AC3E}">
        <p14:creationId xmlns:p14="http://schemas.microsoft.com/office/powerpoint/2010/main" val="1606266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8237790"/>
              </p:ext>
            </p:extLst>
          </p:nvPr>
        </p:nvGraphicFramePr>
        <p:xfrm>
          <a:off x="831220" y="1381213"/>
          <a:ext cx="2926080" cy="292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197804" y="3179099"/>
            <a:ext cx="146649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input</a:t>
            </a:r>
            <a:r>
              <a:rPr lang="en-US" baseline="-25000" dirty="0" err="1"/>
              <a:t>tile</a:t>
            </a:r>
            <a:endParaRPr lang="en-US" baseline="-25000" dirty="0"/>
          </a:p>
          <a:p>
            <a:pPr algn="ctr"/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(in shared memory)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1197804" y="1672168"/>
            <a:ext cx="146649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99619" y="1366290"/>
            <a:ext cx="16498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input tile dimension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Difference in Tile Sizes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0414060"/>
              </p:ext>
            </p:extLst>
          </p:nvPr>
        </p:nvGraphicFramePr>
        <p:xfrm>
          <a:off x="5430945" y="1381213"/>
          <a:ext cx="2926080" cy="292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873525"/>
              </p:ext>
            </p:extLst>
          </p:nvPr>
        </p:nvGraphicFramePr>
        <p:xfrm>
          <a:off x="4113870" y="2656541"/>
          <a:ext cx="91440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360585" y="4316282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6325" y="3570941"/>
            <a:ext cx="118949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filter</a:t>
            </a:r>
          </a:p>
          <a:p>
            <a:pPr algn="ctr"/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(in constant memory)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6164628" y="1309521"/>
            <a:ext cx="73766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643327" y="1003643"/>
            <a:ext cx="17636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output tile dimension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4113870" y="2593869"/>
            <a:ext cx="9144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885332" y="2287991"/>
            <a:ext cx="13708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filter dimension</a:t>
            </a:r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4113870" y="3117626"/>
            <a:ext cx="365760" cy="189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078075" y="2953409"/>
            <a:ext cx="10530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filter radius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21512" y="6176488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thread block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9030167"/>
              </p:ext>
            </p:extLst>
          </p:nvPr>
        </p:nvGraphicFramePr>
        <p:xfrm>
          <a:off x="2552248" y="4757038"/>
          <a:ext cx="1463040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22" name="Straight Arrow Connector 21"/>
          <p:cNvCxnSpPr/>
          <p:nvPr/>
        </p:nvCxnSpPr>
        <p:spPr>
          <a:xfrm>
            <a:off x="2552248" y="4355797"/>
            <a:ext cx="146649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454063" y="4049919"/>
            <a:ext cx="16498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input tile dimension</a:t>
            </a:r>
          </a:p>
        </p:txBody>
      </p:sp>
    </p:spTree>
    <p:extLst>
      <p:ext uri="{BB962C8B-B14F-4D97-AF65-F5344CB8AC3E}">
        <p14:creationId xmlns:p14="http://schemas.microsoft.com/office/powerpoint/2010/main" val="234745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3957732"/>
              </p:ext>
            </p:extLst>
          </p:nvPr>
        </p:nvGraphicFramePr>
        <p:xfrm>
          <a:off x="831220" y="1381213"/>
          <a:ext cx="2926080" cy="292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1197804" y="3179099"/>
            <a:ext cx="146649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input</a:t>
            </a:r>
            <a:r>
              <a:rPr lang="en-US" baseline="-25000" dirty="0" err="1"/>
              <a:t>tile</a:t>
            </a:r>
            <a:endParaRPr lang="en-US" baseline="-25000" dirty="0"/>
          </a:p>
          <a:p>
            <a:pPr algn="ctr"/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(in shared memory)</a:t>
            </a: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1197804" y="1672168"/>
            <a:ext cx="146649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099619" y="1366290"/>
            <a:ext cx="16498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input tile dimension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Difference in Tile Sizes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372469"/>
              </p:ext>
            </p:extLst>
          </p:nvPr>
        </p:nvGraphicFramePr>
        <p:xfrm>
          <a:off x="5430945" y="1381213"/>
          <a:ext cx="2926080" cy="292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0545056"/>
              </p:ext>
            </p:extLst>
          </p:nvPr>
        </p:nvGraphicFramePr>
        <p:xfrm>
          <a:off x="4113870" y="2656541"/>
          <a:ext cx="91440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360585" y="4316282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6325" y="3570941"/>
            <a:ext cx="118949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filter</a:t>
            </a:r>
          </a:p>
          <a:p>
            <a:pPr algn="ctr"/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(in constant memory)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6164628" y="1309521"/>
            <a:ext cx="73766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643327" y="1003643"/>
            <a:ext cx="17636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output tile dimension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4113870" y="2593869"/>
            <a:ext cx="9144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885332" y="2287991"/>
            <a:ext cx="13708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filter dimension</a:t>
            </a:r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4113870" y="3117626"/>
            <a:ext cx="365760" cy="189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078075" y="2953409"/>
            <a:ext cx="10530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filter radius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21512" y="6176488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thread block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9754380"/>
              </p:ext>
            </p:extLst>
          </p:nvPr>
        </p:nvGraphicFramePr>
        <p:xfrm>
          <a:off x="2552248" y="4757038"/>
          <a:ext cx="1463040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22" name="Straight Arrow Connector 21"/>
          <p:cNvCxnSpPr/>
          <p:nvPr/>
        </p:nvCxnSpPr>
        <p:spPr>
          <a:xfrm>
            <a:off x="2552248" y="4355797"/>
            <a:ext cx="146649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454063" y="4049919"/>
            <a:ext cx="16498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input tile dimension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982" y="5128917"/>
            <a:ext cx="21312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5"/>
                </a:solidFill>
              </a:rPr>
              <a:t>threads active when loading input tile</a:t>
            </a:r>
          </a:p>
        </p:txBody>
      </p:sp>
    </p:spTree>
    <p:extLst>
      <p:ext uri="{BB962C8B-B14F-4D97-AF65-F5344CB8AC3E}">
        <p14:creationId xmlns:p14="http://schemas.microsoft.com/office/powerpoint/2010/main" val="2532093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9150234"/>
              </p:ext>
            </p:extLst>
          </p:nvPr>
        </p:nvGraphicFramePr>
        <p:xfrm>
          <a:off x="831220" y="1381213"/>
          <a:ext cx="2926080" cy="292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Difference in Tile Sizes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8688566"/>
              </p:ext>
            </p:extLst>
          </p:nvPr>
        </p:nvGraphicFramePr>
        <p:xfrm>
          <a:off x="5430945" y="1381213"/>
          <a:ext cx="2926080" cy="292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5676640"/>
              </p:ext>
            </p:extLst>
          </p:nvPr>
        </p:nvGraphicFramePr>
        <p:xfrm>
          <a:off x="4113870" y="2656541"/>
          <a:ext cx="91440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360585" y="4316282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7804" y="3179099"/>
            <a:ext cx="146649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input</a:t>
            </a:r>
            <a:r>
              <a:rPr lang="en-US" baseline="-25000" dirty="0" err="1"/>
              <a:t>tile</a:t>
            </a:r>
            <a:endParaRPr lang="en-US" baseline="-25000" dirty="0"/>
          </a:p>
          <a:p>
            <a:pPr algn="ctr"/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(in shared memory)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6325" y="3570941"/>
            <a:ext cx="118949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filter</a:t>
            </a:r>
          </a:p>
          <a:p>
            <a:pPr algn="ctr"/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(in constant memory)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6164628" y="1309521"/>
            <a:ext cx="73766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643327" y="1003643"/>
            <a:ext cx="17636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output tile dimension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1197804" y="1672168"/>
            <a:ext cx="146649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99619" y="1366290"/>
            <a:ext cx="16498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input tile dimension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4113870" y="2593869"/>
            <a:ext cx="9144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885332" y="2287991"/>
            <a:ext cx="13708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filter dimension</a:t>
            </a:r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4113870" y="3117626"/>
            <a:ext cx="365760" cy="189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078075" y="2953409"/>
            <a:ext cx="10530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filter radius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21512" y="6176488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thread block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4216060"/>
              </p:ext>
            </p:extLst>
          </p:nvPr>
        </p:nvGraphicFramePr>
        <p:xfrm>
          <a:off x="2552248" y="4757038"/>
          <a:ext cx="1463040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22" name="Straight Arrow Connector 21"/>
          <p:cNvCxnSpPr/>
          <p:nvPr/>
        </p:nvCxnSpPr>
        <p:spPr>
          <a:xfrm>
            <a:off x="2552248" y="4355797"/>
            <a:ext cx="146649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454063" y="4049919"/>
            <a:ext cx="16498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input tile dimension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2913971" y="4679558"/>
            <a:ext cx="73766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392670" y="4373680"/>
            <a:ext cx="17636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output tile dimension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7937" y="5028497"/>
            <a:ext cx="23359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threads active when computing and storing the output tile</a:t>
            </a:r>
          </a:p>
        </p:txBody>
      </p:sp>
    </p:spTree>
    <p:extLst>
      <p:ext uri="{BB962C8B-B14F-4D97-AF65-F5344CB8AC3E}">
        <p14:creationId xmlns:p14="http://schemas.microsoft.com/office/powerpoint/2010/main" val="3259639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Arithmetic to Global Memory Access Ratio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Considering an M×M filter</a:t>
            </a:r>
          </a:p>
          <a:p>
            <a:r>
              <a:rPr lang="en-US" dirty="0"/>
              <a:t>Without tiling:</a:t>
            </a:r>
          </a:p>
          <a:p>
            <a:pPr lvl="1"/>
            <a:r>
              <a:rPr lang="en-US" dirty="0"/>
              <a:t>Operations per thread: M</a:t>
            </a:r>
            <a:r>
              <a:rPr lang="en-US" baseline="30000" dirty="0"/>
              <a:t>2</a:t>
            </a:r>
            <a:r>
              <a:rPr lang="en-US" dirty="0"/>
              <a:t> adds + M</a:t>
            </a:r>
            <a:r>
              <a:rPr lang="en-US" baseline="30000" dirty="0"/>
              <a:t>2</a:t>
            </a:r>
            <a:r>
              <a:rPr lang="en-US" dirty="0"/>
              <a:t> </a:t>
            </a:r>
            <a:r>
              <a:rPr lang="en-US" dirty="0" err="1"/>
              <a:t>muls</a:t>
            </a:r>
            <a:r>
              <a:rPr lang="en-US" dirty="0"/>
              <a:t> = 2M</a:t>
            </a:r>
            <a:r>
              <a:rPr lang="en-US" baseline="30000" dirty="0"/>
              <a:t>2</a:t>
            </a:r>
            <a:r>
              <a:rPr lang="en-US" dirty="0"/>
              <a:t> OP</a:t>
            </a:r>
          </a:p>
          <a:p>
            <a:pPr lvl="1"/>
            <a:r>
              <a:rPr lang="en-US" dirty="0"/>
              <a:t>Global loads per thread: M</a:t>
            </a:r>
            <a:r>
              <a:rPr lang="en-US" baseline="30000" dirty="0"/>
              <a:t>2</a:t>
            </a:r>
            <a:r>
              <a:rPr lang="en-US" dirty="0"/>
              <a:t> × 4 B = 4M</a:t>
            </a:r>
            <a:r>
              <a:rPr lang="en-US" baseline="30000" dirty="0"/>
              <a:t>2</a:t>
            </a:r>
            <a:r>
              <a:rPr lang="en-US" dirty="0"/>
              <a:t> B</a:t>
            </a:r>
          </a:p>
          <a:p>
            <a:pPr lvl="1"/>
            <a:r>
              <a:rPr lang="en-US" dirty="0"/>
              <a:t>Ratio: (2M</a:t>
            </a:r>
            <a:r>
              <a:rPr lang="en-US" baseline="30000" dirty="0"/>
              <a:t>2</a:t>
            </a:r>
            <a:r>
              <a:rPr lang="en-US" dirty="0"/>
              <a:t> OP)/(4M</a:t>
            </a:r>
            <a:r>
              <a:rPr lang="en-US" baseline="30000" dirty="0"/>
              <a:t>2</a:t>
            </a:r>
            <a:r>
              <a:rPr lang="en-US" dirty="0"/>
              <a:t> B) = 0.5 OP/B</a:t>
            </a:r>
          </a:p>
          <a:p>
            <a:r>
              <a:rPr lang="en-US" dirty="0"/>
              <a:t>With tiling:</a:t>
            </a:r>
          </a:p>
          <a:p>
            <a:pPr lvl="1"/>
            <a:r>
              <a:rPr lang="en-US" dirty="0"/>
              <a:t>Considering tile dimensions: input = T, output = T-M+1</a:t>
            </a:r>
          </a:p>
          <a:p>
            <a:pPr lvl="1"/>
            <a:r>
              <a:rPr lang="en-US" dirty="0"/>
              <a:t>Operations per block: (T-M+1)</a:t>
            </a:r>
            <a:r>
              <a:rPr lang="en-US" baseline="30000" dirty="0"/>
              <a:t>2</a:t>
            </a:r>
            <a:r>
              <a:rPr lang="en-US" dirty="0"/>
              <a:t>×2M</a:t>
            </a:r>
            <a:r>
              <a:rPr lang="en-US" baseline="30000" dirty="0"/>
              <a:t>2</a:t>
            </a:r>
            <a:r>
              <a:rPr lang="en-US" dirty="0"/>
              <a:t> OP</a:t>
            </a:r>
          </a:p>
          <a:p>
            <a:pPr lvl="1"/>
            <a:r>
              <a:rPr lang="en-US" dirty="0"/>
              <a:t>Global loads per block: T</a:t>
            </a:r>
            <a:r>
              <a:rPr lang="en-US" baseline="30000" dirty="0"/>
              <a:t>2</a:t>
            </a:r>
            <a:r>
              <a:rPr lang="en-US" dirty="0"/>
              <a:t>×4 B</a:t>
            </a:r>
          </a:p>
          <a:p>
            <a:pPr lvl="1"/>
            <a:r>
              <a:rPr lang="en-US" dirty="0"/>
              <a:t>Ratio: ((T-M+1)</a:t>
            </a:r>
            <a:r>
              <a:rPr lang="en-US" baseline="30000" dirty="0"/>
              <a:t>2</a:t>
            </a:r>
            <a:r>
              <a:rPr lang="en-US" dirty="0"/>
              <a:t>×2M</a:t>
            </a:r>
            <a:r>
              <a:rPr lang="en-US" baseline="30000" dirty="0"/>
              <a:t>2</a:t>
            </a:r>
            <a:r>
              <a:rPr lang="en-US" dirty="0"/>
              <a:t> OP)/(T</a:t>
            </a:r>
            <a:r>
              <a:rPr lang="en-US" baseline="30000" dirty="0"/>
              <a:t>2</a:t>
            </a:r>
            <a:r>
              <a:rPr lang="en-US" dirty="0"/>
              <a:t>×4 B) = 0.5M</a:t>
            </a:r>
            <a:r>
              <a:rPr lang="en-US" baseline="30000" dirty="0"/>
              <a:t>2</a:t>
            </a:r>
            <a:r>
              <a:rPr lang="en-US" dirty="0"/>
              <a:t>(1 – (M-1)/T)</a:t>
            </a:r>
            <a:r>
              <a:rPr lang="en-US" baseline="30000" dirty="0"/>
              <a:t>2</a:t>
            </a:r>
          </a:p>
          <a:p>
            <a:pPr lvl="2"/>
            <a:r>
              <a:rPr lang="en-US" dirty="0"/>
              <a:t>For M=5 and T=32: 9.57 OP/B (≈19× improvement!)</a:t>
            </a:r>
          </a:p>
        </p:txBody>
      </p:sp>
    </p:spTree>
    <p:extLst>
      <p:ext uri="{BB962C8B-B14F-4D97-AF65-F5344CB8AC3E}">
        <p14:creationId xmlns:p14="http://schemas.microsoft.com/office/powerpoint/2010/main" val="140946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0067544"/>
              </p:ext>
            </p:extLst>
          </p:nvPr>
        </p:nvGraphicFramePr>
        <p:xfrm>
          <a:off x="465122" y="1015950"/>
          <a:ext cx="1463040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3062696997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3698126716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846888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184319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89874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55539"/>
                  </a:ext>
                </a:extLst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Boundary Conditions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2151701"/>
              </p:ext>
            </p:extLst>
          </p:nvPr>
        </p:nvGraphicFramePr>
        <p:xfrm>
          <a:off x="5430945" y="1381213"/>
          <a:ext cx="2926080" cy="292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6056633"/>
              </p:ext>
            </p:extLst>
          </p:nvPr>
        </p:nvGraphicFramePr>
        <p:xfrm>
          <a:off x="4113870" y="2656541"/>
          <a:ext cx="91440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360585" y="4316282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output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0345801"/>
              </p:ext>
            </p:extLst>
          </p:nvPr>
        </p:nvGraphicFramePr>
        <p:xfrm>
          <a:off x="831220" y="1381213"/>
          <a:ext cx="2926080" cy="292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99462" y="5124921"/>
            <a:ext cx="81450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Threads computing output elements at the boundary access input elements that are out of bounds (also called </a:t>
            </a:r>
            <a:r>
              <a:rPr lang="en-US" sz="2000" i="1" dirty="0"/>
              <a:t>ghost</a:t>
            </a:r>
            <a:r>
              <a:rPr lang="en-US" sz="2000" dirty="0"/>
              <a:t> elements)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6325" y="3570941"/>
            <a:ext cx="118949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filter</a:t>
            </a:r>
          </a:p>
          <a:p>
            <a:pPr algn="ctr"/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(in constant memory)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0860" y="4316282"/>
            <a:ext cx="10668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input</a:t>
            </a:r>
          </a:p>
          <a:p>
            <a:pPr algn="ctr"/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(in global memory)</a:t>
            </a:r>
          </a:p>
        </p:txBody>
      </p:sp>
    </p:spTree>
    <p:extLst>
      <p:ext uri="{BB962C8B-B14F-4D97-AF65-F5344CB8AC3E}">
        <p14:creationId xmlns:p14="http://schemas.microsoft.com/office/powerpoint/2010/main" val="3758197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0339468"/>
              </p:ext>
            </p:extLst>
          </p:nvPr>
        </p:nvGraphicFramePr>
        <p:xfrm>
          <a:off x="465122" y="1015950"/>
          <a:ext cx="1463040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3062696997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3698126716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846888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0</a:t>
                      </a:r>
                    </a:p>
                  </a:txBody>
                  <a:tcPr marL="43307" marR="43307" marT="21654" marB="21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0</a:t>
                      </a:r>
                    </a:p>
                  </a:txBody>
                  <a:tcPr marL="43307" marR="43307" marT="21654" marB="21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0</a:t>
                      </a:r>
                    </a:p>
                  </a:txBody>
                  <a:tcPr marL="43307" marR="43307" marT="21654" marB="21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0</a:t>
                      </a:r>
                    </a:p>
                  </a:txBody>
                  <a:tcPr marL="43307" marR="43307" marT="21654" marB="21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0</a:t>
                      </a:r>
                    </a:p>
                  </a:txBody>
                  <a:tcPr marL="43307" marR="43307" marT="21654" marB="21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0</a:t>
                      </a:r>
                    </a:p>
                  </a:txBody>
                  <a:tcPr marL="43307" marR="43307" marT="21654" marB="21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0</a:t>
                      </a:r>
                    </a:p>
                  </a:txBody>
                  <a:tcPr marL="43307" marR="43307" marT="21654" marB="21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0</a:t>
                      </a:r>
                    </a:p>
                  </a:txBody>
                  <a:tcPr marL="43307" marR="43307" marT="21654" marB="21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0</a:t>
                      </a:r>
                    </a:p>
                  </a:txBody>
                  <a:tcPr marL="43307" marR="43307" marT="21654" marB="21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0</a:t>
                      </a:r>
                    </a:p>
                  </a:txBody>
                  <a:tcPr marL="43307" marR="43307" marT="21654" marB="21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0</a:t>
                      </a:r>
                    </a:p>
                  </a:txBody>
                  <a:tcPr marL="43307" marR="43307" marT="21654" marB="21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0</a:t>
                      </a:r>
                    </a:p>
                  </a:txBody>
                  <a:tcPr marL="43307" marR="43307" marT="21654" marB="21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0</a:t>
                      </a:r>
                    </a:p>
                  </a:txBody>
                  <a:tcPr marL="43307" marR="43307" marT="21654" marB="21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0</a:t>
                      </a:r>
                    </a:p>
                  </a:txBody>
                  <a:tcPr marL="43307" marR="43307" marT="21654" marB="21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0</a:t>
                      </a:r>
                    </a:p>
                  </a:txBody>
                  <a:tcPr marL="43307" marR="43307" marT="21654" marB="21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0</a:t>
                      </a:r>
                    </a:p>
                  </a:txBody>
                  <a:tcPr marL="43307" marR="43307" marT="21654" marB="21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0</a:t>
                      </a:r>
                    </a:p>
                  </a:txBody>
                  <a:tcPr marL="43307" marR="43307" marT="21654" marB="21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0</a:t>
                      </a:r>
                    </a:p>
                  </a:txBody>
                  <a:tcPr marL="43307" marR="43307" marT="21654" marB="21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43307" marR="43307" marT="21654" marB="21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43307" marR="43307" marT="21654" marB="21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43307" marR="43307" marT="21654" marB="21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43307" marR="43307" marT="21654" marB="21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43307" marR="43307" marT="21654" marB="21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43307" marR="43307" marT="21654" marB="21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0</a:t>
                      </a:r>
                    </a:p>
                  </a:txBody>
                  <a:tcPr marL="43307" marR="43307" marT="21654" marB="21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0</a:t>
                      </a:r>
                    </a:p>
                  </a:txBody>
                  <a:tcPr marL="43307" marR="43307" marT="21654" marB="21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43307" marR="43307" marT="21654" marB="21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43307" marR="43307" marT="21654" marB="21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43307" marR="43307" marT="21654" marB="21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43307" marR="43307" marT="21654" marB="21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43307" marR="43307" marT="21654" marB="21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43307" marR="43307" marT="21654" marB="21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0</a:t>
                      </a:r>
                    </a:p>
                  </a:txBody>
                  <a:tcPr marL="43307" marR="43307" marT="21654" marB="21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0</a:t>
                      </a:r>
                    </a:p>
                  </a:txBody>
                  <a:tcPr marL="43307" marR="43307" marT="21654" marB="21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43307" marR="43307" marT="21654" marB="21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43307" marR="43307" marT="21654" marB="21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43307" marR="43307" marT="21654" marB="21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43307" marR="43307" marT="21654" marB="21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43307" marR="43307" marT="21654" marB="21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43307" marR="43307" marT="21654" marB="21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0</a:t>
                      </a:r>
                    </a:p>
                  </a:txBody>
                  <a:tcPr marL="43307" marR="43307" marT="21654" marB="21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0</a:t>
                      </a:r>
                    </a:p>
                  </a:txBody>
                  <a:tcPr marL="43307" marR="43307" marT="21654" marB="21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43307" marR="43307" marT="21654" marB="21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43307" marR="43307" marT="21654" marB="21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43307" marR="43307" marT="21654" marB="21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43307" marR="43307" marT="21654" marB="21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43307" marR="43307" marT="21654" marB="21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43307" marR="43307" marT="21654" marB="21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184319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0</a:t>
                      </a:r>
                    </a:p>
                  </a:txBody>
                  <a:tcPr marL="43307" marR="43307" marT="21654" marB="21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0</a:t>
                      </a:r>
                    </a:p>
                  </a:txBody>
                  <a:tcPr marL="43307" marR="43307" marT="21654" marB="21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43307" marR="43307" marT="21654" marB="21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43307" marR="43307" marT="21654" marB="21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43307" marR="43307" marT="21654" marB="21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43307" marR="43307" marT="21654" marB="21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43307" marR="43307" marT="21654" marB="21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43307" marR="43307" marT="21654" marB="21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89874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0</a:t>
                      </a:r>
                    </a:p>
                  </a:txBody>
                  <a:tcPr marL="43307" marR="43307" marT="21654" marB="21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0</a:t>
                      </a:r>
                    </a:p>
                  </a:txBody>
                  <a:tcPr marL="43307" marR="43307" marT="21654" marB="21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43307" marR="43307" marT="21654" marB="21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43307" marR="43307" marT="21654" marB="21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43307" marR="43307" marT="21654" marB="21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43307" marR="43307" marT="21654" marB="21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43307" marR="43307" marT="21654" marB="21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43307" marR="43307" marT="21654" marB="21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55539"/>
                  </a:ext>
                </a:extLst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Boundary Conditions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1688829"/>
              </p:ext>
            </p:extLst>
          </p:nvPr>
        </p:nvGraphicFramePr>
        <p:xfrm>
          <a:off x="5430945" y="1381213"/>
          <a:ext cx="2926080" cy="292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6650193"/>
              </p:ext>
            </p:extLst>
          </p:nvPr>
        </p:nvGraphicFramePr>
        <p:xfrm>
          <a:off x="4113870" y="2656541"/>
          <a:ext cx="91440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43307" marR="43307" marT="21654" marB="2165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360585" y="4316282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9462" y="5124921"/>
            <a:ext cx="814507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Threads computing output elements at the boundary access input elements that are out of bounds (also called </a:t>
            </a:r>
            <a:r>
              <a:rPr lang="en-US" sz="2000" i="1" dirty="0"/>
              <a:t>ghost</a:t>
            </a:r>
            <a:r>
              <a:rPr lang="en-US" sz="2000" dirty="0"/>
              <a:t> elements)</a:t>
            </a:r>
          </a:p>
          <a:p>
            <a:pPr algn="ctr"/>
            <a:endParaRPr lang="en-US" sz="2000" dirty="0"/>
          </a:p>
          <a:p>
            <a:pPr algn="ctr"/>
            <a:r>
              <a:rPr lang="en-US" sz="2000" b="1" u="sng" dirty="0"/>
              <a:t>Solution:</a:t>
            </a:r>
            <a:r>
              <a:rPr lang="en-US" sz="2000" dirty="0"/>
              <a:t> Store zero to shared memory tile for our of bounds input elements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6325" y="3570941"/>
            <a:ext cx="118949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filter</a:t>
            </a:r>
          </a:p>
          <a:p>
            <a:pPr algn="ctr"/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(in constant memory)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666" y="2450295"/>
            <a:ext cx="146649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input</a:t>
            </a:r>
            <a:r>
              <a:rPr lang="en-US" baseline="-25000" dirty="0" err="1"/>
              <a:t>tile</a:t>
            </a:r>
            <a:endParaRPr lang="en-US" baseline="-25000" dirty="0"/>
          </a:p>
          <a:p>
            <a:pPr algn="ctr"/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(in shared memory)</a:t>
            </a:r>
          </a:p>
        </p:txBody>
      </p:sp>
    </p:spTree>
    <p:extLst>
      <p:ext uri="{BB962C8B-B14F-4D97-AF65-F5344CB8AC3E}">
        <p14:creationId xmlns:p14="http://schemas.microsoft.com/office/powerpoint/2010/main" val="2657405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Wen-</a:t>
            </a:r>
            <a:r>
              <a:rPr lang="en-US" dirty="0" err="1"/>
              <a:t>mei</a:t>
            </a:r>
            <a:r>
              <a:rPr lang="en-US" dirty="0"/>
              <a:t> W. </a:t>
            </a:r>
            <a:r>
              <a:rPr lang="en-US" dirty="0" err="1"/>
              <a:t>Hwu</a:t>
            </a:r>
            <a:r>
              <a:rPr lang="en-US" dirty="0"/>
              <a:t>, David B. Kirk, and Izzat El Hajj. </a:t>
            </a:r>
            <a:r>
              <a:rPr lang="en-US" i="1" dirty="0"/>
              <a:t>Programming Massively Parallel Processors: A Hands-on Approach</a:t>
            </a:r>
            <a:r>
              <a:rPr lang="en-US" dirty="0"/>
              <a:t>. Morgan Kaufmann, 2022.</a:t>
            </a:r>
          </a:p>
        </p:txBody>
      </p:sp>
    </p:spTree>
    <p:extLst>
      <p:ext uri="{BB962C8B-B14F-4D97-AF65-F5344CB8AC3E}">
        <p14:creationId xmlns:p14="http://schemas.microsoft.com/office/powerpoint/2010/main" val="367548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398</TotalTime>
  <Words>1256</Words>
  <Application>Microsoft Office PowerPoint</Application>
  <PresentationFormat>On-screen Show (4:3)</PresentationFormat>
  <Paragraphs>290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Lucida Console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Tejasvi Waghmare (IL-IN)</dc:creator>
  <cp:lastModifiedBy>Izzat El Hajj</cp:lastModifiedBy>
  <cp:revision>75</cp:revision>
  <dcterms:created xsi:type="dcterms:W3CDTF">2022-03-30T06:33:52Z</dcterms:created>
  <dcterms:modified xsi:type="dcterms:W3CDTF">2022-09-21T12:01:05Z</dcterms:modified>
</cp:coreProperties>
</file>