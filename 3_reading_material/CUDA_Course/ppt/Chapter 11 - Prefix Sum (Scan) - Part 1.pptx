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1"/>
  </p:handoutMasterIdLst>
  <p:sldIdLst>
    <p:sldId id="270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87" r:id="rId18"/>
    <p:sldId id="288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4C4C"/>
    <a:srgbClr val="E08E2F"/>
    <a:srgbClr val="E09135"/>
    <a:srgbClr val="FFFFFF"/>
    <a:srgbClr val="DC8623"/>
    <a:srgbClr val="DB8522"/>
    <a:srgbClr val="4D4D4D"/>
    <a:srgbClr val="EB6500"/>
    <a:srgbClr val="53565A"/>
    <a:srgbClr val="FF98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8EC16-7612-48F2-BD7E-AB7620736A0A}" v="99" dt="2022-03-30T08:57:44.2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04" y="3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6C9F2AD-ACD9-4F52-8557-48C099C603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15BD4B-9B5A-4159-B729-CBA6AE207B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7D2E7-9FC7-4207-9062-A3303B783802}" type="datetimeFigureOut">
              <a:rPr lang="en-IN" smtClean="0"/>
              <a:t>05-10-2022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4C69D-016E-496D-B1AA-E9EE96139D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5A0A3E-29D3-4009-A482-439DDE028B7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4528DA-F324-4659-A143-8781AC34D3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357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5614FD1-D902-4A59-BCAB-4AA8AF3D9081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 descr="A picture containing shape&#10;&#10;Description automatically generated">
            <a:extLst>
              <a:ext uri="{FF2B5EF4-FFF2-40B4-BE49-F238E27FC236}">
                <a16:creationId xmlns:a16="http://schemas.microsoft.com/office/drawing/2014/main" id="{BA4AD1CF-AA6C-4924-8675-811F23CE0D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24"/>
            <a:ext cx="9144000" cy="685062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2E2EB6C-4AC4-41A2-8F72-A329B2E1580B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B9DDB9-4BD9-4BCF-86A4-772414CF0629}"/>
              </a:ext>
            </a:extLst>
          </p:cNvPr>
          <p:cNvGrpSpPr/>
          <p:nvPr userDrawn="1"/>
        </p:nvGrpSpPr>
        <p:grpSpPr>
          <a:xfrm>
            <a:off x="-72699" y="-3125"/>
            <a:ext cx="1374756" cy="1441923"/>
            <a:chOff x="-113156" y="25300"/>
            <a:chExt cx="1332205" cy="1441923"/>
          </a:xfrm>
        </p:grpSpPr>
        <p:sp>
          <p:nvSpPr>
            <p:cNvPr id="7" name="Rectangle: Rounded Corners 35">
              <a:extLst>
                <a:ext uri="{FF2B5EF4-FFF2-40B4-BE49-F238E27FC236}">
                  <a16:creationId xmlns:a16="http://schemas.microsoft.com/office/drawing/2014/main" id="{7957AE27-1DC8-4907-8AB1-2560A90A543A}"/>
                </a:ext>
              </a:extLst>
            </p:cNvPr>
            <p:cNvSpPr/>
            <p:nvPr/>
          </p:nvSpPr>
          <p:spPr>
            <a:xfrm>
              <a:off x="-43557" y="25300"/>
              <a:ext cx="1262606" cy="1441923"/>
            </a:xfrm>
            <a:prstGeom prst="roundRect">
              <a:avLst>
                <a:gd name="adj" fmla="val 0"/>
              </a:avLst>
            </a:prstGeom>
            <a:solidFill>
              <a:srgbClr val="4D4D4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Data Mining. Concepts and Techniques, 3rd Edition (The Morgan Kaufmann  Series in Data Management Systems)">
              <a:extLst>
                <a:ext uri="{FF2B5EF4-FFF2-40B4-BE49-F238E27FC236}">
                  <a16:creationId xmlns:a16="http://schemas.microsoft.com/office/drawing/2014/main" id="{9E395FDB-906D-4C55-85C3-0A95428EBDB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40000"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87" r="-1"/>
            <a:stretch/>
          </p:blipFill>
          <p:spPr bwMode="auto">
            <a:xfrm>
              <a:off x="-113156" y="357913"/>
              <a:ext cx="1317458" cy="7700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2C3EE6A-8657-4A6B-87F7-02627342A2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636487" y="1788690"/>
            <a:ext cx="3731741" cy="261610"/>
          </a:xfrm>
          <a:prstGeom prst="roundRect">
            <a:avLst>
              <a:gd name="adj" fmla="val 0"/>
            </a:avLst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1100" i="1" dirty="0">
                <a:solidFill>
                  <a:srgbClr val="53565A"/>
                </a:solidFill>
                <a:latin typeface="+mj-lt"/>
              </a:rPr>
              <a:t>Wen-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mei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 </a:t>
            </a:r>
            <a:r>
              <a:rPr lang="en-GB" sz="1100" i="1" dirty="0" err="1">
                <a:solidFill>
                  <a:srgbClr val="53565A"/>
                </a:solidFill>
                <a:latin typeface="+mj-lt"/>
              </a:rPr>
              <a:t>Hwu</a:t>
            </a:r>
            <a:r>
              <a:rPr lang="en-GB" sz="1100" i="1" dirty="0">
                <a:solidFill>
                  <a:srgbClr val="53565A"/>
                </a:solidFill>
                <a:latin typeface="+mj-lt"/>
              </a:rPr>
              <a:t>, David Kirk, Izzat El Hajj</a:t>
            </a:r>
            <a:endParaRPr lang="en-US" sz="1100" i="1" dirty="0">
              <a:solidFill>
                <a:srgbClr val="53565A"/>
              </a:solidFill>
              <a:latin typeface="+mj-lt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43523CE-3289-4AA1-A7D0-4D0378C02A45}"/>
              </a:ext>
            </a:extLst>
          </p:cNvPr>
          <p:cNvCxnSpPr/>
          <p:nvPr userDrawn="1"/>
        </p:nvCxnSpPr>
        <p:spPr>
          <a:xfrm>
            <a:off x="2360588" y="1928406"/>
            <a:ext cx="275899" cy="0"/>
          </a:xfrm>
          <a:prstGeom prst="line">
            <a:avLst/>
          </a:prstGeom>
          <a:ln w="19050">
            <a:solidFill>
              <a:srgbClr val="5356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2B1CFD73-162D-4195-B0FC-38DEE10693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303"/>
          <a:stretch/>
        </p:blipFill>
        <p:spPr>
          <a:xfrm>
            <a:off x="1299246" y="1441973"/>
            <a:ext cx="7844400" cy="15773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F7728A-41A1-445F-A9FF-56DF9F9BB7F1}"/>
              </a:ext>
            </a:extLst>
          </p:cNvPr>
          <p:cNvSpPr txBox="1"/>
          <p:nvPr userDrawn="1"/>
        </p:nvSpPr>
        <p:spPr bwMode="auto">
          <a:xfrm>
            <a:off x="1567422" y="1743145"/>
            <a:ext cx="567969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sz="2400" b="1" dirty="0">
                <a:solidFill>
                  <a:schemeClr val="bg1"/>
                </a:solidFill>
              </a:rPr>
              <a:t>Programming Massively Parallel Processors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15409-9B9B-4DB6-906D-C53B1CDED403}"/>
              </a:ext>
            </a:extLst>
          </p:cNvPr>
          <p:cNvSpPr txBox="1"/>
          <p:nvPr userDrawn="1"/>
        </p:nvSpPr>
        <p:spPr>
          <a:xfrm>
            <a:off x="1567421" y="2143201"/>
            <a:ext cx="2206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800" dirty="0">
                <a:solidFill>
                  <a:schemeClr val="bg1"/>
                </a:solidFill>
                <a:latin typeface="+mj-lt"/>
              </a:rPr>
              <a:t>A Hands-on Approach</a:t>
            </a:r>
            <a:endParaRPr lang="en-US" sz="1800" dirty="0">
              <a:solidFill>
                <a:schemeClr val="bg1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64E5FD-D2A2-4A68-8897-43FA77D6453D}"/>
              </a:ext>
            </a:extLst>
          </p:cNvPr>
          <p:cNvSpPr/>
          <p:nvPr userDrawn="1"/>
        </p:nvSpPr>
        <p:spPr>
          <a:xfrm>
            <a:off x="1299245" y="3024958"/>
            <a:ext cx="7836105" cy="600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/>
              <a:t>z</a:t>
            </a:r>
          </a:p>
        </p:txBody>
      </p:sp>
      <p:pic>
        <p:nvPicPr>
          <p:cNvPr id="17" name="Picture 16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CB3A55CF-D158-4A58-A4DE-DEEA1CF1071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3773" y="4445883"/>
            <a:ext cx="4410075" cy="1952625"/>
          </a:xfrm>
          <a:prstGeom prst="rect">
            <a:avLst/>
          </a:prstGeom>
        </p:spPr>
      </p:pic>
      <p:sp>
        <p:nvSpPr>
          <p:cNvPr id="18" name="L-Shape 17">
            <a:extLst>
              <a:ext uri="{FF2B5EF4-FFF2-40B4-BE49-F238E27FC236}">
                <a16:creationId xmlns:a16="http://schemas.microsoft.com/office/drawing/2014/main" id="{715CF1CF-E105-4089-BA77-56B70A742ECB}"/>
              </a:ext>
            </a:extLst>
          </p:cNvPr>
          <p:cNvSpPr/>
          <p:nvPr userDrawn="1"/>
        </p:nvSpPr>
        <p:spPr>
          <a:xfrm rot="13500000">
            <a:off x="2939485" y="3242288"/>
            <a:ext cx="140020" cy="140020"/>
          </a:xfrm>
          <a:prstGeom prst="corner">
            <a:avLst>
              <a:gd name="adj1" fmla="val 27650"/>
              <a:gd name="adj2" fmla="val 25788"/>
            </a:avLst>
          </a:prstGeom>
          <a:solidFill>
            <a:srgbClr val="DB85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928E1F-54E8-4389-82DD-5CF4C77F4AB0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Chart&#10;&#10;Description automatically generated">
            <a:extLst>
              <a:ext uri="{FF2B5EF4-FFF2-40B4-BE49-F238E27FC236}">
                <a16:creationId xmlns:a16="http://schemas.microsoft.com/office/drawing/2014/main" id="{083DB60B-7D3C-470B-9BE6-C4062D6A1D4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0372" y="3636069"/>
            <a:ext cx="2232972" cy="2762439"/>
          </a:xfrm>
          <a:prstGeom prst="rect">
            <a:avLst/>
          </a:prstGeom>
        </p:spPr>
      </p:pic>
      <p:sp>
        <p:nvSpPr>
          <p:cNvPr id="21" name="Rectangle 7">
            <a:extLst>
              <a:ext uri="{FF2B5EF4-FFF2-40B4-BE49-F238E27FC236}">
                <a16:creationId xmlns:a16="http://schemas.microsoft.com/office/drawing/2014/main" id="{21B15398-A182-4C0B-854E-654EA8B5B28D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0" hasCustomPrompt="1"/>
          </p:nvPr>
        </p:nvSpPr>
        <p:spPr>
          <a:xfrm>
            <a:off x="1298575" y="3011550"/>
            <a:ext cx="1611556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all" baseline="0">
                <a:latin typeface="+mn-lt"/>
              </a:defRPr>
            </a:lvl1pPr>
          </a:lstStyle>
          <a:p>
            <a:pPr lvl="0"/>
            <a:r>
              <a:rPr lang="en-US" dirty="0"/>
              <a:t>Chapter #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11" hasCustomPrompt="1"/>
          </p:nvPr>
        </p:nvSpPr>
        <p:spPr>
          <a:xfrm>
            <a:off x="3146829" y="3011550"/>
            <a:ext cx="5898609" cy="606145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2000" b="1" cap="none" baseline="0">
                <a:latin typeface="+mj-lt"/>
              </a:defRPr>
            </a:lvl1pPr>
          </a:lstStyle>
          <a:p>
            <a:pPr lvl="0"/>
            <a:r>
              <a:rPr lang="en-US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2487965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70D1EB3-9074-4E31-9DCF-ADFD596A7E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0672" y="838072"/>
            <a:ext cx="8464802" cy="558463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21174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54453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514897"/>
            <a:ext cx="3868340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248402"/>
            <a:ext cx="3868340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514897"/>
            <a:ext cx="3887391" cy="645898"/>
          </a:xfrm>
        </p:spPr>
        <p:txBody>
          <a:bodyPr anchor="b"/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248402"/>
            <a:ext cx="3887391" cy="526190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1011D6E-2CED-4BBC-A66B-38F7B0BDDCF4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18908" y="43891"/>
            <a:ext cx="7886700" cy="45354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8914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101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night sky&#10;&#10;Description automatically generated">
            <a:extLst>
              <a:ext uri="{FF2B5EF4-FFF2-40B4-BE49-F238E27FC236}">
                <a16:creationId xmlns:a16="http://schemas.microsoft.com/office/drawing/2014/main" id="{0451918C-3068-494B-B756-EB2CEF6603D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" y="5538866"/>
            <a:ext cx="3013881" cy="1334439"/>
          </a:xfrm>
          <a:prstGeom prst="rect">
            <a:avLst/>
          </a:prstGeom>
        </p:spPr>
      </p:pic>
      <p:sp>
        <p:nvSpPr>
          <p:cNvPr id="13" name="Rectangle 5">
            <a:extLst>
              <a:ext uri="{FF2B5EF4-FFF2-40B4-BE49-F238E27FC236}">
                <a16:creationId xmlns:a16="http://schemas.microsoft.com/office/drawing/2014/main" id="{31DF901C-E89A-4945-9091-D20419752365}"/>
              </a:ext>
            </a:extLst>
          </p:cNvPr>
          <p:cNvSpPr/>
          <p:nvPr userDrawn="1"/>
        </p:nvSpPr>
        <p:spPr>
          <a:xfrm>
            <a:off x="6914848" y="4280108"/>
            <a:ext cx="2226852" cy="2533254"/>
          </a:xfrm>
          <a:custGeom>
            <a:avLst/>
            <a:gdLst>
              <a:gd name="connsiteX0" fmla="*/ 0 w 4572000"/>
              <a:gd name="connsiteY0" fmla="*/ 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  <a:gd name="connsiteX4" fmla="*/ 0 w 4572000"/>
              <a:gd name="connsiteY4" fmla="*/ 0 h 3429000"/>
              <a:gd name="connsiteX0" fmla="*/ 0 w 4572000"/>
              <a:gd name="connsiteY0" fmla="*/ 3429000 h 3429000"/>
              <a:gd name="connsiteX1" fmla="*/ 4572000 w 4572000"/>
              <a:gd name="connsiteY1" fmla="*/ 0 h 3429000"/>
              <a:gd name="connsiteX2" fmla="*/ 4572000 w 4572000"/>
              <a:gd name="connsiteY2" fmla="*/ 3429000 h 3429000"/>
              <a:gd name="connsiteX3" fmla="*/ 0 w 457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0" h="3429000">
                <a:moveTo>
                  <a:pt x="0" y="3429000"/>
                </a:moveTo>
                <a:lnTo>
                  <a:pt x="4572000" y="0"/>
                </a:lnTo>
                <a:lnTo>
                  <a:pt x="457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bg1">
              <a:lumMod val="95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7E801F-3FA2-4ED1-804F-E330EBA748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1" t="4554" r="77" b="59326"/>
          <a:stretch/>
        </p:blipFill>
        <p:spPr>
          <a:xfrm>
            <a:off x="930683" y="-1553"/>
            <a:ext cx="8211017" cy="511200"/>
          </a:xfrm>
          <a:prstGeom prst="rect">
            <a:avLst/>
          </a:prstGeom>
        </p:spPr>
      </p:pic>
      <p:pic>
        <p:nvPicPr>
          <p:cNvPr id="8" name="Picture 2" descr="Data Mining. Concepts and Techniques, 3rd Edition (The Morgan Kaufmann  Series in Data Management Systems)">
            <a:extLst>
              <a:ext uri="{FF2B5EF4-FFF2-40B4-BE49-F238E27FC236}">
                <a16:creationId xmlns:a16="http://schemas.microsoft.com/office/drawing/2014/main" id="{A52DA9B2-CDDD-4030-BA37-75FEC690AB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30682" cy="50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E92C0D8-7584-4BDC-BE7D-11D53629CF58}"/>
              </a:ext>
            </a:extLst>
          </p:cNvPr>
          <p:cNvSpPr/>
          <p:nvPr userDrawn="1"/>
        </p:nvSpPr>
        <p:spPr>
          <a:xfrm>
            <a:off x="-2300" y="6812281"/>
            <a:ext cx="9144000" cy="4571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80D6273C-93F4-4ED4-A1B6-1578A4766C97}"/>
              </a:ext>
            </a:extLst>
          </p:cNvPr>
          <p:cNvSpPr>
            <a:spLocks/>
          </p:cNvSpPr>
          <p:nvPr userDrawn="1"/>
        </p:nvSpPr>
        <p:spPr bwMode="auto">
          <a:xfrm>
            <a:off x="59677" y="6603329"/>
            <a:ext cx="1579154" cy="185454"/>
          </a:xfrm>
          <a:prstGeom prst="rect">
            <a:avLst/>
          </a:prstGeom>
          <a:noFill/>
          <a:ln>
            <a:noFill/>
          </a:ln>
        </p:spPr>
        <p:txBody>
          <a:bodyPr lIns="0" tIns="0" rIns="40639" bIns="0" anchor="ctr"/>
          <a:lstStyle>
            <a:lvl1pPr marL="39688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Copyright © 2022 Elsevier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6B0C97-5D7F-45E4-B756-6265FC57D53E}"/>
              </a:ext>
            </a:extLst>
          </p:cNvPr>
          <p:cNvSpPr/>
          <p:nvPr userDrawn="1"/>
        </p:nvSpPr>
        <p:spPr>
          <a:xfrm>
            <a:off x="7884826" y="6812281"/>
            <a:ext cx="1259174" cy="45719"/>
          </a:xfrm>
          <a:prstGeom prst="rect">
            <a:avLst/>
          </a:prstGeom>
          <a:solidFill>
            <a:srgbClr val="DC8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460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  <p:sldLayoutId id="2147483664" r:id="rId3"/>
    <p:sldLayoutId id="2147483667" r:id="rId4"/>
    <p:sldLayoutId id="2147483665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Chapter 11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Prefix Sum (Scan)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915C40F5-57A1-4675-9CCC-A88CC3ED0DC9}"/>
              </a:ext>
            </a:extLst>
          </p:cNvPr>
          <p:cNvSpPr txBox="1">
            <a:spLocks/>
          </p:cNvSpPr>
          <p:nvPr/>
        </p:nvSpPr>
        <p:spPr>
          <a:xfrm>
            <a:off x="1291201" y="3204012"/>
            <a:ext cx="1496244" cy="606145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0" dirty="0"/>
              <a:t>(part 1)</a:t>
            </a:r>
          </a:p>
        </p:txBody>
      </p:sp>
    </p:spTree>
    <p:extLst>
      <p:ext uri="{BB962C8B-B14F-4D97-AF65-F5344CB8AC3E}">
        <p14:creationId xmlns:p14="http://schemas.microsoft.com/office/powerpoint/2010/main" val="383142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 </a:t>
            </a:r>
            <a:r>
              <a:rPr lang="en-US" b="1" dirty="0">
                <a:solidFill>
                  <a:schemeClr val="accent5"/>
                </a:solidFill>
              </a:rPr>
              <a:t>scan</a:t>
            </a:r>
            <a:r>
              <a:rPr lang="en-US" dirty="0"/>
              <a:t> operation: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Takes:</a:t>
            </a:r>
          </a:p>
          <a:p>
            <a:pPr lvl="2"/>
            <a:r>
              <a:rPr lang="en-US" dirty="0"/>
              <a:t>An input array [</a:t>
            </a:r>
            <a:r>
              <a:rPr lang="en-US" i="1" dirty="0"/>
              <a:t>x</a:t>
            </a:r>
            <a:r>
              <a:rPr lang="en-US" baseline="-25000" dirty="0"/>
              <a:t>0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i="1" dirty="0"/>
              <a:t>x</a:t>
            </a:r>
            <a:r>
              <a:rPr lang="en-US" baseline="-25000" dirty="0"/>
              <a:t>n-1</a:t>
            </a:r>
            <a:r>
              <a:rPr lang="en-US" dirty="0"/>
              <a:t>] </a:t>
            </a:r>
          </a:p>
          <a:p>
            <a:pPr lvl="2"/>
            <a:r>
              <a:rPr lang="en-US" dirty="0"/>
              <a:t>An associative operator </a:t>
            </a:r>
            <a:r>
              <a:rPr lang="pt-BR" dirty="0"/>
              <a:t>⊕</a:t>
            </a:r>
          </a:p>
          <a:p>
            <a:pPr lvl="3"/>
            <a:r>
              <a:rPr lang="en-US" dirty="0"/>
              <a:t>e.g., sum, product, min, max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Returns:</a:t>
            </a:r>
          </a:p>
          <a:p>
            <a:pPr lvl="2"/>
            <a:r>
              <a:rPr lang="en-US" dirty="0"/>
              <a:t>An output array [</a:t>
            </a:r>
            <a:r>
              <a:rPr lang="en-US" i="1" dirty="0"/>
              <a:t>y</a:t>
            </a:r>
            <a:r>
              <a:rPr lang="en-US" baseline="-25000" dirty="0"/>
              <a:t>0</a:t>
            </a:r>
            <a:r>
              <a:rPr lang="en-US" dirty="0"/>
              <a:t>, </a:t>
            </a:r>
            <a:r>
              <a:rPr lang="en-US" i="1" dirty="0"/>
              <a:t>y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i="1" dirty="0"/>
              <a:t>y</a:t>
            </a:r>
            <a:r>
              <a:rPr lang="en-US" baseline="-25000" dirty="0"/>
              <a:t>n-1</a:t>
            </a:r>
            <a:r>
              <a:rPr lang="en-US" dirty="0"/>
              <a:t>] where</a:t>
            </a:r>
          </a:p>
          <a:p>
            <a:pPr lvl="3">
              <a:buClr>
                <a:schemeClr val="tx1"/>
              </a:buClr>
            </a:pPr>
            <a:r>
              <a:rPr lang="en-US" b="1" dirty="0">
                <a:solidFill>
                  <a:schemeClr val="accent5"/>
                </a:solidFill>
              </a:rPr>
              <a:t>Inclusive scan</a:t>
            </a:r>
            <a:r>
              <a:rPr lang="en-US" dirty="0"/>
              <a:t>: </a:t>
            </a:r>
            <a:r>
              <a:rPr lang="en-US" i="1" dirty="0" err="1"/>
              <a:t>y</a:t>
            </a:r>
            <a:r>
              <a:rPr lang="en-US" i="1" baseline="-25000" dirty="0" err="1"/>
              <a:t>i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 </a:t>
            </a:r>
            <a:r>
              <a:rPr lang="pt-BR" dirty="0"/>
              <a:t>⊕ 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pt-BR" dirty="0"/>
              <a:t>⊕ ... ⊕ </a:t>
            </a:r>
            <a:r>
              <a:rPr lang="en-US" dirty="0"/>
              <a:t>x</a:t>
            </a:r>
            <a:r>
              <a:rPr lang="en-US" baseline="-25000" dirty="0"/>
              <a:t>i</a:t>
            </a:r>
          </a:p>
          <a:p>
            <a:pPr lvl="3">
              <a:buClr>
                <a:schemeClr val="tx1"/>
              </a:buClr>
            </a:pPr>
            <a:r>
              <a:rPr lang="en-US" b="1" dirty="0">
                <a:solidFill>
                  <a:schemeClr val="accent5"/>
                </a:solidFill>
              </a:rPr>
              <a:t>Exclusive scan</a:t>
            </a:r>
            <a:r>
              <a:rPr lang="en-US" dirty="0"/>
              <a:t>: </a:t>
            </a:r>
            <a:r>
              <a:rPr lang="en-US" i="1" dirty="0" err="1"/>
              <a:t>y</a:t>
            </a:r>
            <a:r>
              <a:rPr lang="en-US" i="1" baseline="-25000" dirty="0" err="1"/>
              <a:t>i</a:t>
            </a:r>
            <a:r>
              <a:rPr lang="en-US" dirty="0"/>
              <a:t> = x</a:t>
            </a:r>
            <a:r>
              <a:rPr lang="en-US" baseline="-25000" dirty="0"/>
              <a:t>0</a:t>
            </a:r>
            <a:r>
              <a:rPr lang="en-US" dirty="0"/>
              <a:t> </a:t>
            </a:r>
            <a:r>
              <a:rPr lang="pt-BR" dirty="0"/>
              <a:t>⊕ </a:t>
            </a:r>
            <a:r>
              <a:rPr lang="en-US" dirty="0"/>
              <a:t>x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pt-BR" dirty="0"/>
              <a:t>⊕ ... ⊕ </a:t>
            </a:r>
            <a:r>
              <a:rPr lang="en-US" dirty="0"/>
              <a:t>x</a:t>
            </a:r>
            <a:r>
              <a:rPr lang="en-US" baseline="-25000" dirty="0"/>
              <a:t>i-1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20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Scan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Addition example: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dirty="0"/>
              <a:t>In general: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8998779"/>
              </p:ext>
            </p:extLst>
          </p:nvPr>
        </p:nvGraphicFramePr>
        <p:xfrm>
          <a:off x="1114193" y="3994797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330616"/>
              </p:ext>
            </p:extLst>
          </p:nvPr>
        </p:nvGraphicFramePr>
        <p:xfrm>
          <a:off x="1114193" y="4854457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 flipH="1">
            <a:off x="2939151" y="4516067"/>
            <a:ext cx="0" cy="274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992777"/>
              </p:ext>
            </p:extLst>
          </p:nvPr>
        </p:nvGraphicFramePr>
        <p:xfrm>
          <a:off x="1114193" y="1275847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8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9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647083"/>
              </p:ext>
            </p:extLst>
          </p:nvPr>
        </p:nvGraphicFramePr>
        <p:xfrm>
          <a:off x="1114193" y="2135507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28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0" name="Straight Arrow Connector 9"/>
          <p:cNvCxnSpPr/>
          <p:nvPr/>
        </p:nvCxnSpPr>
        <p:spPr>
          <a:xfrm flipH="1">
            <a:off x="2939151" y="1797117"/>
            <a:ext cx="0" cy="274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2197281" y="5319325"/>
            <a:ext cx="1483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Inclusive Scan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7281" y="2607167"/>
            <a:ext cx="14837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Inclusive Scan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955179"/>
              </p:ext>
            </p:extLst>
          </p:nvPr>
        </p:nvGraphicFramePr>
        <p:xfrm>
          <a:off x="5063786" y="3994797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1490358"/>
              </p:ext>
            </p:extLst>
          </p:nvPr>
        </p:nvGraphicFramePr>
        <p:xfrm>
          <a:off x="5063786" y="4854457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ID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7" name="Straight Arrow Connector 16"/>
          <p:cNvCxnSpPr/>
          <p:nvPr/>
        </p:nvCxnSpPr>
        <p:spPr>
          <a:xfrm flipH="1">
            <a:off x="6888744" y="4516067"/>
            <a:ext cx="0" cy="274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250771"/>
              </p:ext>
            </p:extLst>
          </p:nvPr>
        </p:nvGraphicFramePr>
        <p:xfrm>
          <a:off x="5063786" y="1275847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8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9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892713"/>
              </p:ext>
            </p:extLst>
          </p:nvPr>
        </p:nvGraphicFramePr>
        <p:xfrm>
          <a:off x="5063786" y="2135507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9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28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30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31</a:t>
                      </a: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20" name="Straight Arrow Connector 19"/>
          <p:cNvCxnSpPr/>
          <p:nvPr/>
        </p:nvCxnSpPr>
        <p:spPr>
          <a:xfrm flipH="1">
            <a:off x="6888744" y="1797117"/>
            <a:ext cx="0" cy="2743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133441" y="5319325"/>
            <a:ext cx="1510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Exclusive Scan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33442" y="2607167"/>
            <a:ext cx="15106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Exclusive Scan</a:t>
            </a:r>
          </a:p>
        </p:txBody>
      </p:sp>
    </p:spTree>
    <p:extLst>
      <p:ext uri="{BB962C8B-B14F-4D97-AF65-F5344CB8AC3E}">
        <p14:creationId xmlns:p14="http://schemas.microsoft.com/office/powerpoint/2010/main" val="186798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/>
      <p:bldP spid="14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Sequential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Sequential scan for sum: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general:</a:t>
            </a:r>
          </a:p>
        </p:txBody>
      </p:sp>
      <p:sp>
        <p:nvSpPr>
          <p:cNvPr id="5" name="Rectangle 4"/>
          <p:cNvSpPr/>
          <p:nvPr/>
        </p:nvSpPr>
        <p:spPr>
          <a:xfrm>
            <a:off x="906712" y="1346057"/>
            <a:ext cx="41724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output[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input[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&lt; N; ++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output[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output[i-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+ input[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  <a:p>
            <a:pPr algn="ctr"/>
            <a:r>
              <a:rPr lang="en-US" sz="2000" dirty="0"/>
              <a:t>Inclusive Scan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02413" y="1346057"/>
            <a:ext cx="41724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output[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0.0f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&lt; N; ++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output[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output[i-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+ input[i-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200" dirty="0"/>
          </a:p>
          <a:p>
            <a:pPr algn="ctr"/>
            <a:r>
              <a:rPr lang="en-US" sz="2000" dirty="0"/>
              <a:t>Exclusive Scan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6712" y="3373353"/>
            <a:ext cx="41724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output[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input[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&lt; N; ++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output[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f(output[i-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], input[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]);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</a:p>
          <a:p>
            <a:pPr algn="ctr"/>
            <a:r>
              <a:rPr lang="en-US" sz="2000" dirty="0"/>
              <a:t>Inclusive Scan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02413" y="3373353"/>
            <a:ext cx="41724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output[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IDENTITY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&lt; N; ++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output[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f(output[i-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], input[i-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]);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}</a:t>
            </a:r>
            <a:endParaRPr lang="en-US" sz="1200" dirty="0"/>
          </a:p>
          <a:p>
            <a:pPr algn="ctr"/>
            <a:r>
              <a:rPr lang="en-US" sz="2000" dirty="0"/>
              <a:t>Exclusive Scan</a:t>
            </a:r>
          </a:p>
        </p:txBody>
      </p:sp>
    </p:spTree>
    <p:extLst>
      <p:ext uri="{BB962C8B-B14F-4D97-AF65-F5344CB8AC3E}">
        <p14:creationId xmlns:p14="http://schemas.microsoft.com/office/powerpoint/2010/main" val="3832938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7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Segmented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Similar to reduction, threads must synchronize to perform scan</a:t>
            </a:r>
          </a:p>
          <a:p>
            <a:pPr lvl="1"/>
            <a:r>
              <a:rPr lang="en-US" dirty="0"/>
              <a:t>Cannot synchronize across threads in different blocks</a:t>
            </a:r>
          </a:p>
          <a:p>
            <a:endParaRPr lang="en-US" dirty="0"/>
          </a:p>
          <a:p>
            <a:r>
              <a:rPr lang="en-US" dirty="0"/>
              <a:t>Solution: </a:t>
            </a:r>
            <a:r>
              <a:rPr lang="en-US" b="1" dirty="0">
                <a:solidFill>
                  <a:schemeClr val="accent5"/>
                </a:solidFill>
              </a:rPr>
              <a:t>segmented scan</a:t>
            </a:r>
            <a:r>
              <a:rPr lang="en-US" dirty="0"/>
              <a:t> (or </a:t>
            </a:r>
            <a:r>
              <a:rPr lang="en-US" b="1" dirty="0">
                <a:solidFill>
                  <a:schemeClr val="accent5"/>
                </a:solidFill>
              </a:rPr>
              <a:t>hierarchical scan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Every thread block scans a segment</a:t>
            </a:r>
          </a:p>
          <a:p>
            <a:pPr lvl="1"/>
            <a:r>
              <a:rPr lang="en-US" dirty="0"/>
              <a:t>Scan the partial sums</a:t>
            </a:r>
          </a:p>
          <a:p>
            <a:pPr lvl="1"/>
            <a:r>
              <a:rPr lang="en-US" dirty="0"/>
              <a:t>Update segments based on partial sums</a:t>
            </a:r>
          </a:p>
        </p:txBody>
      </p:sp>
    </p:spTree>
    <p:extLst>
      <p:ext uri="{BB962C8B-B14F-4D97-AF65-F5344CB8AC3E}">
        <p14:creationId xmlns:p14="http://schemas.microsoft.com/office/powerpoint/2010/main" val="156520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4826003" y="3078844"/>
            <a:ext cx="1538748" cy="1005840"/>
            <a:chOff x="5029200" y="3094212"/>
            <a:chExt cx="1538748" cy="1005840"/>
          </a:xfrm>
        </p:grpSpPr>
        <p:cxnSp>
          <p:nvCxnSpPr>
            <p:cNvPr id="47" name="Straight Connector 46"/>
            <p:cNvCxnSpPr/>
            <p:nvPr/>
          </p:nvCxnSpPr>
          <p:spPr>
            <a:xfrm flipH="1">
              <a:off x="5029200" y="3094212"/>
              <a:ext cx="0" cy="100584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6567948" y="3094212"/>
              <a:ext cx="0" cy="1005840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1" name="Group 40"/>
          <p:cNvGrpSpPr/>
          <p:nvPr/>
        </p:nvGrpSpPr>
        <p:grpSpPr>
          <a:xfrm>
            <a:off x="762000" y="4601400"/>
            <a:ext cx="7757653" cy="1174432"/>
            <a:chOff x="764050" y="1385888"/>
            <a:chExt cx="1705937" cy="3262312"/>
          </a:xfrm>
        </p:grpSpPr>
        <p:cxnSp>
          <p:nvCxnSpPr>
            <p:cNvPr id="42" name="Straight Connector 41"/>
            <p:cNvCxnSpPr/>
            <p:nvPr/>
          </p:nvCxnSpPr>
          <p:spPr>
            <a:xfrm flipH="1">
              <a:off x="76405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H="1">
              <a:off x="1191345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flipH="1">
              <a:off x="161864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H="1">
              <a:off x="2045935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flipH="1">
              <a:off x="2469987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9" name="Group 8"/>
          <p:cNvGrpSpPr/>
          <p:nvPr/>
        </p:nvGrpSpPr>
        <p:grpSpPr>
          <a:xfrm>
            <a:off x="764049" y="1370520"/>
            <a:ext cx="7772400" cy="1174432"/>
            <a:chOff x="764050" y="1385888"/>
            <a:chExt cx="1709180" cy="3262312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76405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flipH="1">
              <a:off x="1191345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H="1">
              <a:off x="161864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2045935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H="1">
              <a:off x="2473230" y="1385888"/>
              <a:ext cx="0" cy="326231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0" name="Text Placeholder 49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Segmented Scan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62000" y="1356232"/>
            <a:ext cx="7772400" cy="381000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/>
          <p:cNvGrpSpPr/>
          <p:nvPr/>
        </p:nvGrpSpPr>
        <p:grpSpPr>
          <a:xfrm>
            <a:off x="762000" y="2163952"/>
            <a:ext cx="7772400" cy="381000"/>
            <a:chOff x="747252" y="2590800"/>
            <a:chExt cx="7772400" cy="381000"/>
          </a:xfrm>
        </p:grpSpPr>
        <p:sp>
          <p:nvSpPr>
            <p:cNvPr id="13" name="Rectangle 12"/>
            <p:cNvSpPr/>
            <p:nvPr/>
          </p:nvSpPr>
          <p:spPr>
            <a:xfrm>
              <a:off x="6562429" y="2590800"/>
              <a:ext cx="1957223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70896" y="2590800"/>
              <a:ext cx="1957223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747252" y="2590800"/>
              <a:ext cx="1957223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4036" y="2590800"/>
              <a:ext cx="1957223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4828559" y="2971672"/>
            <a:ext cx="1536192" cy="381000"/>
            <a:chOff x="899652" y="3657600"/>
            <a:chExt cx="7772400" cy="381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4" name="Rectangle 13"/>
            <p:cNvSpPr/>
            <p:nvPr/>
          </p:nvSpPr>
          <p:spPr>
            <a:xfrm>
              <a:off x="6714829" y="3657600"/>
              <a:ext cx="1957223" cy="381000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823296" y="3657600"/>
              <a:ext cx="1957223" cy="381000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899652" y="3657600"/>
              <a:ext cx="1957223" cy="381000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776436" y="3657600"/>
              <a:ext cx="1957223" cy="381000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828559" y="3779392"/>
            <a:ext cx="1536192" cy="381000"/>
            <a:chOff x="899652" y="3657600"/>
            <a:chExt cx="7772400" cy="3810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20" name="Rectangle 19"/>
            <p:cNvSpPr/>
            <p:nvPr/>
          </p:nvSpPr>
          <p:spPr>
            <a:xfrm>
              <a:off x="6714829" y="3657600"/>
              <a:ext cx="1957223" cy="3810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2823296" y="3657600"/>
              <a:ext cx="1957223" cy="381000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899652" y="3657600"/>
              <a:ext cx="1957223" cy="381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776436" y="3657600"/>
              <a:ext cx="1957223" cy="381000"/>
            </a:xfrm>
            <a:prstGeom prst="rect">
              <a:avLst/>
            </a:prstGeom>
            <a:solidFill>
              <a:schemeClr val="accent1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762000" y="4587112"/>
            <a:ext cx="7762849" cy="381000"/>
            <a:chOff x="762000" y="4876800"/>
            <a:chExt cx="7762849" cy="381000"/>
          </a:xfrm>
        </p:grpSpPr>
        <p:sp>
          <p:nvSpPr>
            <p:cNvPr id="24" name="Rectangle 23"/>
            <p:cNvSpPr/>
            <p:nvPr/>
          </p:nvSpPr>
          <p:spPr>
            <a:xfrm>
              <a:off x="6577177" y="4876800"/>
              <a:ext cx="1947672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2700392" y="4876800"/>
              <a:ext cx="1947672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`</a:t>
              </a: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62000" y="4876800"/>
              <a:ext cx="1938528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4638784" y="4876800"/>
              <a:ext cx="1947672" cy="381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70000"/>
                    <a:lumOff val="30000"/>
                  </a:schemeClr>
                </a:gs>
                <a:gs pos="100000">
                  <a:schemeClr val="bg1"/>
                </a:gs>
              </a:gsLst>
              <a:lin ang="10800000" scaled="1"/>
              <a:tileRect/>
            </a:gra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/>
          <p:cNvSpPr/>
          <p:nvPr/>
        </p:nvSpPr>
        <p:spPr>
          <a:xfrm>
            <a:off x="762000" y="5394832"/>
            <a:ext cx="7772400" cy="381000"/>
          </a:xfrm>
          <a:prstGeom prst="rect">
            <a:avLst/>
          </a:prstGeom>
          <a:gradFill>
            <a:gsLst>
              <a:gs pos="75000">
                <a:schemeClr val="accent1">
                  <a:lumMod val="60000"/>
                  <a:lumOff val="40000"/>
                </a:schemeClr>
              </a:gs>
              <a:gs pos="50000">
                <a:schemeClr val="accent1"/>
              </a:gs>
              <a:gs pos="25000">
                <a:schemeClr val="accent1">
                  <a:lumMod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bg1"/>
              </a:gs>
            </a:gsLst>
            <a:lin ang="10800000" scaled="1"/>
          </a:gra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981912" y="1780856"/>
            <a:ext cx="7319824" cy="369332"/>
            <a:chOff x="981912" y="1796224"/>
            <a:chExt cx="7319824" cy="369332"/>
          </a:xfrm>
        </p:grpSpPr>
        <p:sp>
          <p:nvSpPr>
            <p:cNvPr id="31" name="TextBox 30"/>
            <p:cNvSpPr txBox="1"/>
            <p:nvPr/>
          </p:nvSpPr>
          <p:spPr>
            <a:xfrm>
              <a:off x="981912" y="1796224"/>
              <a:ext cx="1484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0 (Scan)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2927058" y="1796224"/>
              <a:ext cx="1484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1 (Scan)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872206" y="1796224"/>
              <a:ext cx="1484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2 (Scan)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6817354" y="1796224"/>
              <a:ext cx="1484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3 (Scan)</a:t>
              </a: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4767588" y="3381676"/>
            <a:ext cx="16388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Scan Partial Sums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2719223" y="2544952"/>
            <a:ext cx="5817226" cy="601460"/>
            <a:chOff x="2719223" y="2560320"/>
            <a:chExt cx="5817226" cy="426720"/>
          </a:xfrm>
        </p:grpSpPr>
        <p:cxnSp>
          <p:nvCxnSpPr>
            <p:cNvPr id="51" name="Straight Arrow Connector 50"/>
            <p:cNvCxnSpPr/>
            <p:nvPr/>
          </p:nvCxnSpPr>
          <p:spPr>
            <a:xfrm>
              <a:off x="2719223" y="2560320"/>
              <a:ext cx="2286000" cy="426720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/>
            <p:nvPr/>
          </p:nvCxnSpPr>
          <p:spPr>
            <a:xfrm>
              <a:off x="4650249" y="2560320"/>
              <a:ext cx="731520" cy="426720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Straight Arrow Connector 52"/>
            <p:cNvCxnSpPr/>
            <p:nvPr/>
          </p:nvCxnSpPr>
          <p:spPr>
            <a:xfrm flipH="1">
              <a:off x="5788214" y="2560320"/>
              <a:ext cx="807793" cy="426720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Straight Arrow Connector 53"/>
            <p:cNvCxnSpPr/>
            <p:nvPr/>
          </p:nvCxnSpPr>
          <p:spPr>
            <a:xfrm flipH="1">
              <a:off x="6171332" y="2560320"/>
              <a:ext cx="2365117" cy="426720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3674228" y="4204671"/>
            <a:ext cx="3867407" cy="330816"/>
            <a:chOff x="3674228" y="3789587"/>
            <a:chExt cx="3867407" cy="812921"/>
          </a:xfrm>
        </p:grpSpPr>
        <p:cxnSp>
          <p:nvCxnSpPr>
            <p:cNvPr id="68" name="Straight Arrow Connector 67"/>
            <p:cNvCxnSpPr>
              <a:endCxn id="25" idx="0"/>
            </p:cNvCxnSpPr>
            <p:nvPr/>
          </p:nvCxnSpPr>
          <p:spPr>
            <a:xfrm flipH="1">
              <a:off x="3674228" y="4222264"/>
              <a:ext cx="0" cy="380244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>
              <a:stCxn id="21" idx="2"/>
              <a:endCxn id="27" idx="0"/>
            </p:cNvCxnSpPr>
            <p:nvPr/>
          </p:nvCxnSpPr>
          <p:spPr>
            <a:xfrm>
              <a:off x="5605379" y="4175760"/>
              <a:ext cx="0" cy="426721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>
              <a:off x="7541635" y="4175760"/>
              <a:ext cx="0" cy="426721"/>
            </a:xfrm>
            <a:prstGeom prst="straightConnector1">
              <a:avLst/>
            </a:prstGeom>
            <a:ln>
              <a:prstDash val="dash"/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5605279" y="3789587"/>
              <a:ext cx="0" cy="390984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 flipV="1">
              <a:off x="3674228" y="4175760"/>
              <a:ext cx="3867407" cy="0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Group 38"/>
          <p:cNvGrpSpPr/>
          <p:nvPr/>
        </p:nvGrpSpPr>
        <p:grpSpPr>
          <a:xfrm>
            <a:off x="2955754" y="5010752"/>
            <a:ext cx="5317289" cy="369332"/>
            <a:chOff x="2955754" y="5026120"/>
            <a:chExt cx="5317289" cy="369332"/>
          </a:xfrm>
        </p:grpSpPr>
        <p:sp>
          <p:nvSpPr>
            <p:cNvPr id="82" name="TextBox 81"/>
            <p:cNvSpPr txBox="1"/>
            <p:nvPr/>
          </p:nvSpPr>
          <p:spPr>
            <a:xfrm>
              <a:off x="2955754" y="5026120"/>
              <a:ext cx="1426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1 (Add)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900901" y="5026120"/>
              <a:ext cx="1426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Block 2 (Add)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846049" y="5026120"/>
              <a:ext cx="14269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/>
                <a:t>Block 3 </a:t>
              </a:r>
              <a:r>
                <a:rPr lang="en-US" dirty="0"/>
                <a:t>(Add)</a:t>
              </a: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2288907" y="5947444"/>
            <a:ext cx="4566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Still need to implement a parallel in each block</a:t>
            </a:r>
          </a:p>
        </p:txBody>
      </p:sp>
    </p:spTree>
    <p:extLst>
      <p:ext uri="{BB962C8B-B14F-4D97-AF65-F5344CB8AC3E}">
        <p14:creationId xmlns:p14="http://schemas.microsoft.com/office/powerpoint/2010/main" val="225496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9" grpId="0"/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Kogge</a:t>
            </a:r>
            <a:r>
              <a:rPr lang="en-US" dirty="0"/>
              <a:t>-Stone Parallel (Inclusive) Scan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93014"/>
              </p:ext>
            </p:extLst>
          </p:nvPr>
        </p:nvGraphicFramePr>
        <p:xfrm>
          <a:off x="2804673" y="22197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3859750"/>
              </p:ext>
            </p:extLst>
          </p:nvPr>
        </p:nvGraphicFramePr>
        <p:xfrm>
          <a:off x="2804673" y="31722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367944"/>
              </p:ext>
            </p:extLst>
          </p:nvPr>
        </p:nvGraphicFramePr>
        <p:xfrm>
          <a:off x="2804673" y="41247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167930"/>
              </p:ext>
            </p:extLst>
          </p:nvPr>
        </p:nvGraphicFramePr>
        <p:xfrm>
          <a:off x="2804673" y="50772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6" name="Group 75"/>
          <p:cNvGrpSpPr/>
          <p:nvPr/>
        </p:nvGrpSpPr>
        <p:grpSpPr>
          <a:xfrm>
            <a:off x="2952347" y="1437117"/>
            <a:ext cx="3346461" cy="640080"/>
            <a:chOff x="2952347" y="1821317"/>
            <a:chExt cx="3346461" cy="640080"/>
          </a:xfrm>
        </p:grpSpPr>
        <p:sp>
          <p:nvSpPr>
            <p:cNvPr id="45" name="Freeform 44"/>
            <p:cNvSpPr/>
            <p:nvPr/>
          </p:nvSpPr>
          <p:spPr>
            <a:xfrm>
              <a:off x="2952347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6" name="Freeform 45"/>
            <p:cNvSpPr/>
            <p:nvPr/>
          </p:nvSpPr>
          <p:spPr>
            <a:xfrm>
              <a:off x="3408892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7" name="Freeform 46"/>
            <p:cNvSpPr/>
            <p:nvPr/>
          </p:nvSpPr>
          <p:spPr>
            <a:xfrm>
              <a:off x="3865437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4321982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4778527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5235072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5691617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6148163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033273" y="3629493"/>
            <a:ext cx="3185652" cy="495300"/>
            <a:chOff x="3033273" y="3706333"/>
            <a:chExt cx="3185652" cy="495300"/>
          </a:xfrm>
        </p:grpSpPr>
        <p:cxnSp>
          <p:nvCxnSpPr>
            <p:cNvPr id="28" name="Straight Arrow Connector 27"/>
            <p:cNvCxnSpPr/>
            <p:nvPr/>
          </p:nvCxnSpPr>
          <p:spPr>
            <a:xfrm flipH="1">
              <a:off x="57617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48620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3932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3033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>
              <a:off x="6218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5319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H="1">
              <a:off x="43901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34904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>
              <a:off x="4842803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3943151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5300003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4400351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3033273" y="4581993"/>
            <a:ext cx="3181130" cy="495300"/>
            <a:chOff x="3033273" y="4658833"/>
            <a:chExt cx="3181130" cy="495300"/>
          </a:xfrm>
        </p:grpSpPr>
        <p:cxnSp>
          <p:nvCxnSpPr>
            <p:cNvPr id="37" name="Straight Arrow Connector 36"/>
            <p:cNvCxnSpPr/>
            <p:nvPr/>
          </p:nvCxnSpPr>
          <p:spPr>
            <a:xfrm flipH="1">
              <a:off x="486207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303327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H="1">
              <a:off x="5320388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3491588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H="1">
              <a:off x="577761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394881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H="1">
              <a:off x="621440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438560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3033273" y="2676993"/>
            <a:ext cx="3200400" cy="495300"/>
            <a:chOff x="3033273" y="3061193"/>
            <a:chExt cx="3200400" cy="495300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62336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57764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>
              <a:off x="533402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487682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4390125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3932925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34904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30332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flipH="1">
              <a:off x="5786699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>
              <a:off x="5329499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 flipH="1">
              <a:off x="484280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>
            <a:xfrm>
              <a:off x="438560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 flipH="1">
              <a:off x="394315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>
              <a:off x="348595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113600" y="5867311"/>
            <a:ext cx="8916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Intuition: equivalent to having a reduction tree for each element, with overlap between trees</a:t>
            </a:r>
          </a:p>
        </p:txBody>
      </p:sp>
    </p:spTree>
    <p:extLst>
      <p:ext uri="{BB962C8B-B14F-4D97-AF65-F5344CB8AC3E}">
        <p14:creationId xmlns:p14="http://schemas.microsoft.com/office/powerpoint/2010/main" val="3659697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Kogge</a:t>
            </a:r>
            <a:r>
              <a:rPr lang="en-US" dirty="0"/>
              <a:t>-Stone Parallel (Inclusive) Scan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299" y="1370558"/>
            <a:ext cx="769940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output[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= input[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stride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&lt;= BLOCK_DIM/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*=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&gt;= stride)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output[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+= output[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- stride];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== BLOCK_DIM -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partialSums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= output[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5" name="Line Callout 1 (No Border) 4"/>
          <p:cNvSpPr/>
          <p:nvPr/>
        </p:nvSpPr>
        <p:spPr>
          <a:xfrm>
            <a:off x="5993546" y="4372215"/>
            <a:ext cx="2735516" cy="612648"/>
          </a:xfrm>
          <a:prstGeom prst="callout1">
            <a:avLst>
              <a:gd name="adj1" fmla="val -61520"/>
              <a:gd name="adj2" fmla="val 27622"/>
              <a:gd name="adj3" fmla="val -148381"/>
              <a:gd name="adj4" fmla="val -15861"/>
            </a:avLst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Incorrect!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Different threads are reading and writing the same data location without synchronizing</a:t>
            </a:r>
          </a:p>
        </p:txBody>
      </p:sp>
    </p:spTree>
    <p:extLst>
      <p:ext uri="{BB962C8B-B14F-4D97-AF65-F5344CB8AC3E}">
        <p14:creationId xmlns:p14="http://schemas.microsoft.com/office/powerpoint/2010/main" val="224290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Kogge</a:t>
            </a:r>
            <a:r>
              <a:rPr lang="en-US" dirty="0"/>
              <a:t>-Stone Parallel (Inclusive) Scan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8712984"/>
              </p:ext>
            </p:extLst>
          </p:nvPr>
        </p:nvGraphicFramePr>
        <p:xfrm>
          <a:off x="2804673" y="22197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002695"/>
              </p:ext>
            </p:extLst>
          </p:nvPr>
        </p:nvGraphicFramePr>
        <p:xfrm>
          <a:off x="2804673" y="31722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782221"/>
              </p:ext>
            </p:extLst>
          </p:nvPr>
        </p:nvGraphicFramePr>
        <p:xfrm>
          <a:off x="2804673" y="41247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354963"/>
              </p:ext>
            </p:extLst>
          </p:nvPr>
        </p:nvGraphicFramePr>
        <p:xfrm>
          <a:off x="2804673" y="50772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Freeform 44"/>
          <p:cNvSpPr/>
          <p:nvPr/>
        </p:nvSpPr>
        <p:spPr>
          <a:xfrm>
            <a:off x="2952347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3408892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3865437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solidFill>
              <a:schemeClr val="accent6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4321982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4778527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50" name="Freeform 49"/>
          <p:cNvSpPr/>
          <p:nvPr/>
        </p:nvSpPr>
        <p:spPr>
          <a:xfrm>
            <a:off x="5235072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51" name="Freeform 50"/>
          <p:cNvSpPr/>
          <p:nvPr/>
        </p:nvSpPr>
        <p:spPr>
          <a:xfrm>
            <a:off x="5691617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52" name="Freeform 51"/>
          <p:cNvSpPr/>
          <p:nvPr/>
        </p:nvSpPr>
        <p:spPr>
          <a:xfrm>
            <a:off x="6148163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3033273" y="3629493"/>
            <a:ext cx="3185652" cy="495300"/>
            <a:chOff x="3033273" y="3706333"/>
            <a:chExt cx="3185652" cy="495300"/>
          </a:xfrm>
        </p:grpSpPr>
        <p:cxnSp>
          <p:nvCxnSpPr>
            <p:cNvPr id="28" name="Straight Arrow Connector 27"/>
            <p:cNvCxnSpPr/>
            <p:nvPr/>
          </p:nvCxnSpPr>
          <p:spPr>
            <a:xfrm flipH="1">
              <a:off x="5761725" y="3706333"/>
              <a:ext cx="0" cy="4953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4862073" y="3706333"/>
              <a:ext cx="899652" cy="4953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3932925" y="3706333"/>
              <a:ext cx="0" cy="4953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3033273" y="3706333"/>
              <a:ext cx="899652" cy="4953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>
              <a:off x="6218925" y="3706333"/>
              <a:ext cx="0" cy="4953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5319273" y="3706333"/>
              <a:ext cx="899652" cy="4953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H="1">
              <a:off x="4390125" y="3706333"/>
              <a:ext cx="0" cy="4953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3490473" y="3706333"/>
              <a:ext cx="899652" cy="4953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>
              <a:off x="4842803" y="3706333"/>
              <a:ext cx="0" cy="4953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3943151" y="3706333"/>
              <a:ext cx="899652" cy="4953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5300003" y="3706333"/>
              <a:ext cx="0" cy="4953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4400351" y="3706333"/>
              <a:ext cx="899652" cy="49530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3033273" y="4581993"/>
            <a:ext cx="3181130" cy="495300"/>
            <a:chOff x="3033273" y="4658833"/>
            <a:chExt cx="3181130" cy="495300"/>
          </a:xfrm>
        </p:grpSpPr>
        <p:cxnSp>
          <p:nvCxnSpPr>
            <p:cNvPr id="37" name="Straight Arrow Connector 36"/>
            <p:cNvCxnSpPr/>
            <p:nvPr/>
          </p:nvCxnSpPr>
          <p:spPr>
            <a:xfrm flipH="1">
              <a:off x="486207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303327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H="1">
              <a:off x="5320388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3491588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H="1">
              <a:off x="577761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394881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H="1">
              <a:off x="621440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438560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441775" y="2375539"/>
            <a:ext cx="20555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2"/>
                </a:solidFill>
              </a:rPr>
              <a:t>Thread 1</a:t>
            </a:r>
            <a:r>
              <a:rPr lang="en-US" dirty="0"/>
              <a:t> may </a:t>
            </a:r>
            <a:r>
              <a:rPr lang="en-US" b="1" dirty="0">
                <a:solidFill>
                  <a:schemeClr val="accent2"/>
                </a:solidFill>
              </a:rPr>
              <a:t>update value at index 1</a:t>
            </a:r>
            <a:r>
              <a:rPr lang="en-US" dirty="0"/>
              <a:t> before </a:t>
            </a:r>
            <a:r>
              <a:rPr lang="en-US" b="1" dirty="0">
                <a:solidFill>
                  <a:schemeClr val="accent6"/>
                </a:solidFill>
              </a:rPr>
              <a:t>thread 2 reads it</a:t>
            </a:r>
          </a:p>
          <a:p>
            <a:pPr algn="ctr"/>
            <a:endParaRPr lang="en-US" dirty="0"/>
          </a:p>
          <a:p>
            <a:pPr algn="ctr"/>
            <a:r>
              <a:rPr lang="en-US" b="1" u="sng" dirty="0"/>
              <a:t>Solution:</a:t>
            </a:r>
            <a:r>
              <a:rPr lang="en-US" dirty="0"/>
              <a:t> wait for everyone to read before updating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3033273" y="2676993"/>
            <a:ext cx="3200400" cy="495300"/>
            <a:chOff x="3033273" y="3061193"/>
            <a:chExt cx="3200400" cy="495300"/>
          </a:xfrm>
        </p:grpSpPr>
        <p:cxnSp>
          <p:nvCxnSpPr>
            <p:cNvPr id="59" name="Straight Arrow Connector 58"/>
            <p:cNvCxnSpPr/>
            <p:nvPr/>
          </p:nvCxnSpPr>
          <p:spPr>
            <a:xfrm flipH="1">
              <a:off x="62336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57764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H="1">
              <a:off x="533402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487682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H="1">
              <a:off x="4390125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3932925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 flipH="1">
              <a:off x="3490473" y="3061193"/>
              <a:ext cx="0" cy="495300"/>
            </a:xfrm>
            <a:prstGeom prst="straightConnector1">
              <a:avLst/>
            </a:prstGeom>
            <a:ln>
              <a:solidFill>
                <a:schemeClr val="accent2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>
              <a:off x="30332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flipH="1">
              <a:off x="5786699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>
              <a:off x="5329499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 flipH="1">
              <a:off x="484280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>
            <a:xfrm>
              <a:off x="438560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 flipH="1">
              <a:off x="394315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>
              <a:off x="3485951" y="3061193"/>
              <a:ext cx="457200" cy="495300"/>
            </a:xfrm>
            <a:prstGeom prst="straightConnector1">
              <a:avLst/>
            </a:prstGeom>
            <a:ln>
              <a:solidFill>
                <a:schemeClr val="accent6"/>
              </a:solidFill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61337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Kogge</a:t>
            </a:r>
            <a:r>
              <a:rPr lang="en-US" dirty="0"/>
              <a:t>-Stone Parallel (Inclusive) Scan Code</a:t>
            </a:r>
          </a:p>
        </p:txBody>
      </p:sp>
      <p:sp>
        <p:nvSpPr>
          <p:cNvPr id="3" name="Rectangle 2"/>
          <p:cNvSpPr/>
          <p:nvPr/>
        </p:nvSpPr>
        <p:spPr>
          <a:xfrm>
            <a:off x="722299" y="1001726"/>
            <a:ext cx="7699402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output[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= input[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stride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&lt;= BLOCK_DIM/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*=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v;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&gt;= stride)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v = output[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- stride];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&gt;= stride)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output[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+= v;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== BLOCK_DIM -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partialSums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= output[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</p:txBody>
      </p:sp>
      <p:sp>
        <p:nvSpPr>
          <p:cNvPr id="4" name="Line Callout 1 (No Border) 3"/>
          <p:cNvSpPr/>
          <p:nvPr/>
        </p:nvSpPr>
        <p:spPr>
          <a:xfrm>
            <a:off x="5194407" y="3365612"/>
            <a:ext cx="2735516" cy="612648"/>
          </a:xfrm>
          <a:prstGeom prst="callout1">
            <a:avLst>
              <a:gd name="adj1" fmla="val 53869"/>
              <a:gd name="adj2" fmla="val 4026"/>
              <a:gd name="adj3" fmla="val 62330"/>
              <a:gd name="adj4" fmla="val -63052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Wait for everyone to read before updating</a:t>
            </a:r>
          </a:p>
        </p:txBody>
      </p:sp>
    </p:spTree>
    <p:extLst>
      <p:ext uri="{BB962C8B-B14F-4D97-AF65-F5344CB8AC3E}">
        <p14:creationId xmlns:p14="http://schemas.microsoft.com/office/powerpoint/2010/main" val="735781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 err="1"/>
              <a:t>Kogge</a:t>
            </a:r>
            <a:r>
              <a:rPr lang="en-US" dirty="0"/>
              <a:t>-Stone Parallel (Inclusive) Scan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8761971"/>
              </p:ext>
            </p:extLst>
          </p:nvPr>
        </p:nvGraphicFramePr>
        <p:xfrm>
          <a:off x="2804673" y="22197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992945"/>
              </p:ext>
            </p:extLst>
          </p:nvPr>
        </p:nvGraphicFramePr>
        <p:xfrm>
          <a:off x="2804673" y="31722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236003"/>
              </p:ext>
            </p:extLst>
          </p:nvPr>
        </p:nvGraphicFramePr>
        <p:xfrm>
          <a:off x="2804673" y="41247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438848"/>
              </p:ext>
            </p:extLst>
          </p:nvPr>
        </p:nvGraphicFramePr>
        <p:xfrm>
          <a:off x="2804673" y="50772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6" name="Group 75"/>
          <p:cNvGrpSpPr/>
          <p:nvPr/>
        </p:nvGrpSpPr>
        <p:grpSpPr>
          <a:xfrm>
            <a:off x="2952347" y="1437117"/>
            <a:ext cx="3346461" cy="640080"/>
            <a:chOff x="2952347" y="1821317"/>
            <a:chExt cx="3346461" cy="640080"/>
          </a:xfrm>
        </p:grpSpPr>
        <p:sp>
          <p:nvSpPr>
            <p:cNvPr id="45" name="Freeform 44"/>
            <p:cNvSpPr/>
            <p:nvPr/>
          </p:nvSpPr>
          <p:spPr>
            <a:xfrm>
              <a:off x="2952347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6" name="Freeform 45"/>
            <p:cNvSpPr/>
            <p:nvPr/>
          </p:nvSpPr>
          <p:spPr>
            <a:xfrm>
              <a:off x="3408892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7" name="Freeform 46"/>
            <p:cNvSpPr/>
            <p:nvPr/>
          </p:nvSpPr>
          <p:spPr>
            <a:xfrm>
              <a:off x="3865437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4321982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4778527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5235072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5691617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6148163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033273" y="3629493"/>
            <a:ext cx="3185652" cy="495300"/>
            <a:chOff x="3033273" y="3706333"/>
            <a:chExt cx="3185652" cy="495300"/>
          </a:xfrm>
        </p:grpSpPr>
        <p:cxnSp>
          <p:nvCxnSpPr>
            <p:cNvPr id="28" name="Straight Arrow Connector 27"/>
            <p:cNvCxnSpPr/>
            <p:nvPr/>
          </p:nvCxnSpPr>
          <p:spPr>
            <a:xfrm flipH="1">
              <a:off x="57617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48620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3932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3033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>
              <a:off x="6218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5319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H="1">
              <a:off x="43901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34904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>
              <a:off x="4842803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3943151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5300003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4400351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3033273" y="4581993"/>
            <a:ext cx="3181130" cy="495300"/>
            <a:chOff x="3033273" y="4658833"/>
            <a:chExt cx="3181130" cy="495300"/>
          </a:xfrm>
        </p:grpSpPr>
        <p:cxnSp>
          <p:nvCxnSpPr>
            <p:cNvPr id="37" name="Straight Arrow Connector 36"/>
            <p:cNvCxnSpPr/>
            <p:nvPr/>
          </p:nvCxnSpPr>
          <p:spPr>
            <a:xfrm flipH="1">
              <a:off x="486207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303327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H="1">
              <a:off x="5320388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3491588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H="1">
              <a:off x="577761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394881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H="1">
              <a:off x="621440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438560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3033273" y="2676993"/>
            <a:ext cx="3200400" cy="495300"/>
            <a:chOff x="3033273" y="3061193"/>
            <a:chExt cx="3200400" cy="495300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62336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57764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 flipH="1">
              <a:off x="533402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487682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>
              <a:off x="4390125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3932925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H="1">
              <a:off x="34904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>
              <a:off x="30332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flipH="1">
              <a:off x="5786699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>
              <a:off x="5329499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 flipH="1">
              <a:off x="484280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>
            <a:xfrm>
              <a:off x="438560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 flipH="1">
              <a:off x="394315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>
              <a:off x="348595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3" name="Left Brace 52"/>
          <p:cNvSpPr/>
          <p:nvPr/>
        </p:nvSpPr>
        <p:spPr>
          <a:xfrm>
            <a:off x="2494033" y="2077197"/>
            <a:ext cx="156959" cy="3555201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109412" y="3531256"/>
            <a:ext cx="23403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Observation:</a:t>
            </a:r>
            <a:r>
              <a:rPr lang="en-US" dirty="0"/>
              <a:t> memory locations are reused</a:t>
            </a:r>
          </a:p>
        </p:txBody>
      </p:sp>
    </p:spTree>
    <p:extLst>
      <p:ext uri="{BB962C8B-B14F-4D97-AF65-F5344CB8AC3E}">
        <p14:creationId xmlns:p14="http://schemas.microsoft.com/office/powerpoint/2010/main" val="296680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Using Shared Memory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586857"/>
              </p:ext>
            </p:extLst>
          </p:nvPr>
        </p:nvGraphicFramePr>
        <p:xfrm>
          <a:off x="2804673" y="22197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881795"/>
              </p:ext>
            </p:extLst>
          </p:nvPr>
        </p:nvGraphicFramePr>
        <p:xfrm>
          <a:off x="2804673" y="31722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342643"/>
              </p:ext>
            </p:extLst>
          </p:nvPr>
        </p:nvGraphicFramePr>
        <p:xfrm>
          <a:off x="2804673" y="41247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848978"/>
              </p:ext>
            </p:extLst>
          </p:nvPr>
        </p:nvGraphicFramePr>
        <p:xfrm>
          <a:off x="2804673" y="50772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Freeform 44"/>
          <p:cNvSpPr/>
          <p:nvPr/>
        </p:nvSpPr>
        <p:spPr>
          <a:xfrm>
            <a:off x="2952347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3408892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3865437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4321982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4778527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50" name="Freeform 49"/>
          <p:cNvSpPr/>
          <p:nvPr/>
        </p:nvSpPr>
        <p:spPr>
          <a:xfrm>
            <a:off x="5235072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51" name="Freeform 50"/>
          <p:cNvSpPr/>
          <p:nvPr/>
        </p:nvSpPr>
        <p:spPr>
          <a:xfrm>
            <a:off x="5691617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52" name="Freeform 51"/>
          <p:cNvSpPr/>
          <p:nvPr/>
        </p:nvSpPr>
        <p:spPr>
          <a:xfrm>
            <a:off x="6148163" y="1437117"/>
            <a:ext cx="150645" cy="640080"/>
          </a:xfrm>
          <a:custGeom>
            <a:avLst/>
            <a:gdLst>
              <a:gd name="connsiteX0" fmla="*/ 127000 w 196850"/>
              <a:gd name="connsiteY0" fmla="*/ 0 h 1625600"/>
              <a:gd name="connsiteX1" fmla="*/ 82550 w 196850"/>
              <a:gd name="connsiteY1" fmla="*/ 38100 h 1625600"/>
              <a:gd name="connsiteX2" fmla="*/ 50800 w 196850"/>
              <a:gd name="connsiteY2" fmla="*/ 76200 h 1625600"/>
              <a:gd name="connsiteX3" fmla="*/ 19050 w 196850"/>
              <a:gd name="connsiteY3" fmla="*/ 133350 h 1625600"/>
              <a:gd name="connsiteX4" fmla="*/ 0 w 196850"/>
              <a:gd name="connsiteY4" fmla="*/ 196850 h 1625600"/>
              <a:gd name="connsiteX5" fmla="*/ 25400 w 196850"/>
              <a:gd name="connsiteY5" fmla="*/ 323850 h 1625600"/>
              <a:gd name="connsiteX6" fmla="*/ 50800 w 196850"/>
              <a:gd name="connsiteY6" fmla="*/ 361950 h 1625600"/>
              <a:gd name="connsiteX7" fmla="*/ 82550 w 196850"/>
              <a:gd name="connsiteY7" fmla="*/ 393700 h 1625600"/>
              <a:gd name="connsiteX8" fmla="*/ 101600 w 196850"/>
              <a:gd name="connsiteY8" fmla="*/ 400050 h 1625600"/>
              <a:gd name="connsiteX9" fmla="*/ 165100 w 196850"/>
              <a:gd name="connsiteY9" fmla="*/ 476250 h 1625600"/>
              <a:gd name="connsiteX10" fmla="*/ 177800 w 196850"/>
              <a:gd name="connsiteY10" fmla="*/ 495300 h 1625600"/>
              <a:gd name="connsiteX11" fmla="*/ 184150 w 196850"/>
              <a:gd name="connsiteY11" fmla="*/ 514350 h 1625600"/>
              <a:gd name="connsiteX12" fmla="*/ 190500 w 196850"/>
              <a:gd name="connsiteY12" fmla="*/ 552450 h 1625600"/>
              <a:gd name="connsiteX13" fmla="*/ 196850 w 196850"/>
              <a:gd name="connsiteY13" fmla="*/ 577850 h 1625600"/>
              <a:gd name="connsiteX14" fmla="*/ 190500 w 196850"/>
              <a:gd name="connsiteY14" fmla="*/ 660400 h 1625600"/>
              <a:gd name="connsiteX15" fmla="*/ 158750 w 196850"/>
              <a:gd name="connsiteY15" fmla="*/ 717550 h 1625600"/>
              <a:gd name="connsiteX16" fmla="*/ 139700 w 196850"/>
              <a:gd name="connsiteY16" fmla="*/ 736600 h 1625600"/>
              <a:gd name="connsiteX17" fmla="*/ 107950 w 196850"/>
              <a:gd name="connsiteY17" fmla="*/ 768350 h 1625600"/>
              <a:gd name="connsiteX18" fmla="*/ 95250 w 196850"/>
              <a:gd name="connsiteY18" fmla="*/ 787400 h 1625600"/>
              <a:gd name="connsiteX19" fmla="*/ 88900 w 196850"/>
              <a:gd name="connsiteY19" fmla="*/ 806450 h 1625600"/>
              <a:gd name="connsiteX20" fmla="*/ 69850 w 196850"/>
              <a:gd name="connsiteY20" fmla="*/ 819150 h 1625600"/>
              <a:gd name="connsiteX21" fmla="*/ 44450 w 196850"/>
              <a:gd name="connsiteY21" fmla="*/ 863600 h 1625600"/>
              <a:gd name="connsiteX22" fmla="*/ 31750 w 196850"/>
              <a:gd name="connsiteY22" fmla="*/ 882650 h 1625600"/>
              <a:gd name="connsiteX23" fmla="*/ 19050 w 196850"/>
              <a:gd name="connsiteY23" fmla="*/ 927100 h 1625600"/>
              <a:gd name="connsiteX24" fmla="*/ 31750 w 196850"/>
              <a:gd name="connsiteY24" fmla="*/ 1060450 h 1625600"/>
              <a:gd name="connsiteX25" fmla="*/ 63500 w 196850"/>
              <a:gd name="connsiteY25" fmla="*/ 1092200 h 1625600"/>
              <a:gd name="connsiteX26" fmla="*/ 76200 w 196850"/>
              <a:gd name="connsiteY26" fmla="*/ 1111250 h 1625600"/>
              <a:gd name="connsiteX27" fmla="*/ 114300 w 196850"/>
              <a:gd name="connsiteY27" fmla="*/ 1136650 h 1625600"/>
              <a:gd name="connsiteX28" fmla="*/ 120650 w 196850"/>
              <a:gd name="connsiteY28" fmla="*/ 1155700 h 1625600"/>
              <a:gd name="connsiteX29" fmla="*/ 139700 w 196850"/>
              <a:gd name="connsiteY29" fmla="*/ 1168400 h 1625600"/>
              <a:gd name="connsiteX30" fmla="*/ 165100 w 196850"/>
              <a:gd name="connsiteY30" fmla="*/ 1187450 h 1625600"/>
              <a:gd name="connsiteX31" fmla="*/ 190500 w 196850"/>
              <a:gd name="connsiteY31" fmla="*/ 1225550 h 1625600"/>
              <a:gd name="connsiteX32" fmla="*/ 196850 w 196850"/>
              <a:gd name="connsiteY32" fmla="*/ 1250950 h 1625600"/>
              <a:gd name="connsiteX33" fmla="*/ 190500 w 196850"/>
              <a:gd name="connsiteY33" fmla="*/ 1339850 h 1625600"/>
              <a:gd name="connsiteX34" fmla="*/ 171450 w 196850"/>
              <a:gd name="connsiteY34" fmla="*/ 1403350 h 1625600"/>
              <a:gd name="connsiteX35" fmla="*/ 158750 w 196850"/>
              <a:gd name="connsiteY35" fmla="*/ 1422400 h 1625600"/>
              <a:gd name="connsiteX36" fmla="*/ 152400 w 196850"/>
              <a:gd name="connsiteY36" fmla="*/ 1441450 h 1625600"/>
              <a:gd name="connsiteX37" fmla="*/ 127000 w 196850"/>
              <a:gd name="connsiteY37" fmla="*/ 1498600 h 1625600"/>
              <a:gd name="connsiteX38" fmla="*/ 95250 w 196850"/>
              <a:gd name="connsiteY38" fmla="*/ 1555750 h 1625600"/>
              <a:gd name="connsiteX39" fmla="*/ 95250 w 196850"/>
              <a:gd name="connsiteY39" fmla="*/ 1625600 h 162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96850" h="1625600">
                <a:moveTo>
                  <a:pt x="127000" y="0"/>
                </a:moveTo>
                <a:cubicBezTo>
                  <a:pt x="72901" y="32460"/>
                  <a:pt x="111869" y="2917"/>
                  <a:pt x="82550" y="38100"/>
                </a:cubicBezTo>
                <a:cubicBezTo>
                  <a:pt x="68308" y="55190"/>
                  <a:pt x="59809" y="55930"/>
                  <a:pt x="50800" y="76200"/>
                </a:cubicBezTo>
                <a:cubicBezTo>
                  <a:pt x="25936" y="132143"/>
                  <a:pt x="53821" y="98579"/>
                  <a:pt x="19050" y="133350"/>
                </a:cubicBezTo>
                <a:cubicBezTo>
                  <a:pt x="3590" y="179729"/>
                  <a:pt x="9597" y="158463"/>
                  <a:pt x="0" y="196850"/>
                </a:cubicBezTo>
                <a:cubicBezTo>
                  <a:pt x="14593" y="299002"/>
                  <a:pt x="3234" y="257352"/>
                  <a:pt x="25400" y="323850"/>
                </a:cubicBezTo>
                <a:cubicBezTo>
                  <a:pt x="30227" y="338330"/>
                  <a:pt x="42333" y="349250"/>
                  <a:pt x="50800" y="361950"/>
                </a:cubicBezTo>
                <a:cubicBezTo>
                  <a:pt x="63500" y="381000"/>
                  <a:pt x="61383" y="383117"/>
                  <a:pt x="82550" y="393700"/>
                </a:cubicBezTo>
                <a:cubicBezTo>
                  <a:pt x="88537" y="396693"/>
                  <a:pt x="95250" y="397933"/>
                  <a:pt x="101600" y="400050"/>
                </a:cubicBezTo>
                <a:cubicBezTo>
                  <a:pt x="150493" y="448943"/>
                  <a:pt x="129737" y="423206"/>
                  <a:pt x="165100" y="476250"/>
                </a:cubicBezTo>
                <a:cubicBezTo>
                  <a:pt x="169333" y="482600"/>
                  <a:pt x="175387" y="488060"/>
                  <a:pt x="177800" y="495300"/>
                </a:cubicBezTo>
                <a:cubicBezTo>
                  <a:pt x="179917" y="501650"/>
                  <a:pt x="182698" y="507816"/>
                  <a:pt x="184150" y="514350"/>
                </a:cubicBezTo>
                <a:cubicBezTo>
                  <a:pt x="186943" y="526919"/>
                  <a:pt x="187975" y="539825"/>
                  <a:pt x="190500" y="552450"/>
                </a:cubicBezTo>
                <a:cubicBezTo>
                  <a:pt x="192212" y="561008"/>
                  <a:pt x="194733" y="569383"/>
                  <a:pt x="196850" y="577850"/>
                </a:cubicBezTo>
                <a:cubicBezTo>
                  <a:pt x="194733" y="605367"/>
                  <a:pt x="193923" y="633015"/>
                  <a:pt x="190500" y="660400"/>
                </a:cubicBezTo>
                <a:cubicBezTo>
                  <a:pt x="188219" y="678652"/>
                  <a:pt x="167578" y="708722"/>
                  <a:pt x="158750" y="717550"/>
                </a:cubicBezTo>
                <a:cubicBezTo>
                  <a:pt x="152400" y="723900"/>
                  <a:pt x="145449" y="729701"/>
                  <a:pt x="139700" y="736600"/>
                </a:cubicBezTo>
                <a:cubicBezTo>
                  <a:pt x="113242" y="768350"/>
                  <a:pt x="142875" y="745067"/>
                  <a:pt x="107950" y="768350"/>
                </a:cubicBezTo>
                <a:cubicBezTo>
                  <a:pt x="103717" y="774700"/>
                  <a:pt x="98663" y="780574"/>
                  <a:pt x="95250" y="787400"/>
                </a:cubicBezTo>
                <a:cubicBezTo>
                  <a:pt x="92257" y="793387"/>
                  <a:pt x="93081" y="801223"/>
                  <a:pt x="88900" y="806450"/>
                </a:cubicBezTo>
                <a:cubicBezTo>
                  <a:pt x="84132" y="812409"/>
                  <a:pt x="76200" y="814917"/>
                  <a:pt x="69850" y="819150"/>
                </a:cubicBezTo>
                <a:cubicBezTo>
                  <a:pt x="38908" y="865562"/>
                  <a:pt x="76676" y="807204"/>
                  <a:pt x="44450" y="863600"/>
                </a:cubicBezTo>
                <a:cubicBezTo>
                  <a:pt x="40664" y="870226"/>
                  <a:pt x="35163" y="875824"/>
                  <a:pt x="31750" y="882650"/>
                </a:cubicBezTo>
                <a:cubicBezTo>
                  <a:pt x="27195" y="891760"/>
                  <a:pt x="21085" y="918962"/>
                  <a:pt x="19050" y="927100"/>
                </a:cubicBezTo>
                <a:cubicBezTo>
                  <a:pt x="19267" y="930136"/>
                  <a:pt x="24826" y="1037369"/>
                  <a:pt x="31750" y="1060450"/>
                </a:cubicBezTo>
                <a:cubicBezTo>
                  <a:pt x="37042" y="1078089"/>
                  <a:pt x="49742" y="1083028"/>
                  <a:pt x="63500" y="1092200"/>
                </a:cubicBezTo>
                <a:cubicBezTo>
                  <a:pt x="67733" y="1098550"/>
                  <a:pt x="70457" y="1106224"/>
                  <a:pt x="76200" y="1111250"/>
                </a:cubicBezTo>
                <a:cubicBezTo>
                  <a:pt x="87687" y="1121301"/>
                  <a:pt x="114300" y="1136650"/>
                  <a:pt x="114300" y="1136650"/>
                </a:cubicBezTo>
                <a:cubicBezTo>
                  <a:pt x="116417" y="1143000"/>
                  <a:pt x="116469" y="1150473"/>
                  <a:pt x="120650" y="1155700"/>
                </a:cubicBezTo>
                <a:cubicBezTo>
                  <a:pt x="125418" y="1161659"/>
                  <a:pt x="133490" y="1163964"/>
                  <a:pt x="139700" y="1168400"/>
                </a:cubicBezTo>
                <a:cubicBezTo>
                  <a:pt x="148312" y="1174551"/>
                  <a:pt x="158069" y="1179540"/>
                  <a:pt x="165100" y="1187450"/>
                </a:cubicBezTo>
                <a:cubicBezTo>
                  <a:pt x="175241" y="1198858"/>
                  <a:pt x="190500" y="1225550"/>
                  <a:pt x="190500" y="1225550"/>
                </a:cubicBezTo>
                <a:cubicBezTo>
                  <a:pt x="192617" y="1234017"/>
                  <a:pt x="196850" y="1242223"/>
                  <a:pt x="196850" y="1250950"/>
                </a:cubicBezTo>
                <a:cubicBezTo>
                  <a:pt x="196850" y="1280659"/>
                  <a:pt x="193781" y="1310323"/>
                  <a:pt x="190500" y="1339850"/>
                </a:cubicBezTo>
                <a:cubicBezTo>
                  <a:pt x="188901" y="1354245"/>
                  <a:pt x="174642" y="1393773"/>
                  <a:pt x="171450" y="1403350"/>
                </a:cubicBezTo>
                <a:cubicBezTo>
                  <a:pt x="169037" y="1410590"/>
                  <a:pt x="162163" y="1415574"/>
                  <a:pt x="158750" y="1422400"/>
                </a:cubicBezTo>
                <a:cubicBezTo>
                  <a:pt x="155757" y="1428387"/>
                  <a:pt x="155393" y="1435463"/>
                  <a:pt x="152400" y="1441450"/>
                </a:cubicBezTo>
                <a:cubicBezTo>
                  <a:pt x="122211" y="1501827"/>
                  <a:pt x="159765" y="1400306"/>
                  <a:pt x="127000" y="1498600"/>
                </a:cubicBezTo>
                <a:cubicBezTo>
                  <a:pt x="119404" y="1521388"/>
                  <a:pt x="96991" y="1531377"/>
                  <a:pt x="95250" y="1555750"/>
                </a:cubicBezTo>
                <a:cubicBezTo>
                  <a:pt x="93591" y="1578974"/>
                  <a:pt x="95250" y="1602317"/>
                  <a:pt x="95250" y="1625600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n w="12700">
                <a:solidFill>
                  <a:schemeClr val="tx1"/>
                </a:solidFill>
              </a:ln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3033273" y="3629493"/>
            <a:ext cx="3185652" cy="495300"/>
            <a:chOff x="3033273" y="3706333"/>
            <a:chExt cx="3185652" cy="495300"/>
          </a:xfrm>
        </p:grpSpPr>
        <p:cxnSp>
          <p:nvCxnSpPr>
            <p:cNvPr id="28" name="Straight Arrow Connector 27"/>
            <p:cNvCxnSpPr/>
            <p:nvPr/>
          </p:nvCxnSpPr>
          <p:spPr>
            <a:xfrm flipH="1">
              <a:off x="57617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48620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3932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3033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>
              <a:off x="6218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5319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H="1">
              <a:off x="43901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34904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>
              <a:off x="4842803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3943151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5300003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4400351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3033273" y="4581993"/>
            <a:ext cx="3181130" cy="495300"/>
            <a:chOff x="3033273" y="4658833"/>
            <a:chExt cx="3181130" cy="495300"/>
          </a:xfrm>
        </p:grpSpPr>
        <p:cxnSp>
          <p:nvCxnSpPr>
            <p:cNvPr id="37" name="Straight Arrow Connector 36"/>
            <p:cNvCxnSpPr/>
            <p:nvPr/>
          </p:nvCxnSpPr>
          <p:spPr>
            <a:xfrm flipH="1">
              <a:off x="486207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303327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H="1">
              <a:off x="5320388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3491588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H="1">
              <a:off x="577761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394881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H="1">
              <a:off x="621440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438560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Left Brace 1"/>
          <p:cNvSpPr/>
          <p:nvPr/>
        </p:nvSpPr>
        <p:spPr>
          <a:xfrm>
            <a:off x="2494033" y="2077197"/>
            <a:ext cx="156959" cy="3555201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9412" y="3254632"/>
            <a:ext cx="23403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Optimization:</a:t>
            </a:r>
            <a:r>
              <a:rPr lang="en-US" dirty="0"/>
              <a:t> load once to a </a:t>
            </a:r>
            <a:r>
              <a:rPr lang="en-US" b="1" dirty="0">
                <a:solidFill>
                  <a:schemeClr val="accent6"/>
                </a:solidFill>
              </a:rPr>
              <a:t>shared memory </a:t>
            </a:r>
            <a:r>
              <a:rPr lang="en-US" dirty="0"/>
              <a:t>buffer and perform successive reads and writes to the same array can be done in shared memory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3033273" y="2676993"/>
            <a:ext cx="3200400" cy="495300"/>
            <a:chOff x="3033273" y="3061193"/>
            <a:chExt cx="3200400" cy="495300"/>
          </a:xfrm>
        </p:grpSpPr>
        <p:cxnSp>
          <p:nvCxnSpPr>
            <p:cNvPr id="59" name="Straight Arrow Connector 58"/>
            <p:cNvCxnSpPr/>
            <p:nvPr/>
          </p:nvCxnSpPr>
          <p:spPr>
            <a:xfrm flipH="1">
              <a:off x="62336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Arrow Connector 59"/>
            <p:cNvCxnSpPr/>
            <p:nvPr/>
          </p:nvCxnSpPr>
          <p:spPr>
            <a:xfrm>
              <a:off x="57764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H="1">
              <a:off x="533402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487682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 flipH="1">
              <a:off x="4390125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/>
            <p:cNvCxnSpPr/>
            <p:nvPr/>
          </p:nvCxnSpPr>
          <p:spPr>
            <a:xfrm>
              <a:off x="3932925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7" name="Straight Arrow Connector 76"/>
            <p:cNvCxnSpPr/>
            <p:nvPr/>
          </p:nvCxnSpPr>
          <p:spPr>
            <a:xfrm flipH="1">
              <a:off x="34904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/>
            <p:nvPr/>
          </p:nvCxnSpPr>
          <p:spPr>
            <a:xfrm>
              <a:off x="30332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flipH="1">
              <a:off x="5786699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>
              <a:off x="5329499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 flipH="1">
              <a:off x="484280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>
            <a:xfrm>
              <a:off x="438560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 flipH="1">
              <a:off x="394315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>
              <a:off x="348595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6381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Using Shared Memory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22299" y="1059350"/>
            <a:ext cx="7684034" cy="50475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[BLOCK_DIM];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= input[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4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stride 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&lt;= BLOCK_DIM/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*=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v;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&gt;= stride)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v =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- stride];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&gt;= stride)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+= v;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__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    if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== BLOCK_DIM - </a:t>
            </a:r>
            <a:r>
              <a:rPr lang="en-US" sz="14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partialSums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4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    output[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buffer_s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4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4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4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2743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Double Buffering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4926530"/>
              </p:ext>
            </p:extLst>
          </p:nvPr>
        </p:nvGraphicFramePr>
        <p:xfrm>
          <a:off x="2804673" y="22197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aseline="0" dirty="0"/>
                        <a:t>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000614"/>
              </p:ext>
            </p:extLst>
          </p:nvPr>
        </p:nvGraphicFramePr>
        <p:xfrm>
          <a:off x="2804673" y="31722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5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6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609167"/>
              </p:ext>
            </p:extLst>
          </p:nvPr>
        </p:nvGraphicFramePr>
        <p:xfrm>
          <a:off x="2804673" y="41247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1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2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3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4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607783"/>
              </p:ext>
            </p:extLst>
          </p:nvPr>
        </p:nvGraphicFramePr>
        <p:xfrm>
          <a:off x="2804673" y="5077293"/>
          <a:ext cx="36576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1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2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3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4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5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6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x</a:t>
                      </a:r>
                      <a:r>
                        <a:rPr lang="en-US" sz="1400" baseline="-25000" dirty="0"/>
                        <a:t>0</a:t>
                      </a:r>
                      <a:r>
                        <a:rPr lang="en-US" sz="1400" baseline="0" dirty="0"/>
                        <a:t>..x</a:t>
                      </a:r>
                      <a:r>
                        <a:rPr lang="en-US" sz="1400" baseline="-25000" dirty="0"/>
                        <a:t>7</a:t>
                      </a:r>
                      <a:endParaRPr lang="en-US" sz="14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" name="Group 9"/>
          <p:cNvGrpSpPr/>
          <p:nvPr/>
        </p:nvGrpSpPr>
        <p:grpSpPr>
          <a:xfrm>
            <a:off x="2952347" y="1437117"/>
            <a:ext cx="3346461" cy="640080"/>
            <a:chOff x="2952347" y="1821317"/>
            <a:chExt cx="3346461" cy="640080"/>
          </a:xfrm>
        </p:grpSpPr>
        <p:sp>
          <p:nvSpPr>
            <p:cNvPr id="45" name="Freeform 44"/>
            <p:cNvSpPr/>
            <p:nvPr/>
          </p:nvSpPr>
          <p:spPr>
            <a:xfrm>
              <a:off x="2952347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6" name="Freeform 45"/>
            <p:cNvSpPr/>
            <p:nvPr/>
          </p:nvSpPr>
          <p:spPr>
            <a:xfrm>
              <a:off x="3408892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7" name="Freeform 46"/>
            <p:cNvSpPr/>
            <p:nvPr/>
          </p:nvSpPr>
          <p:spPr>
            <a:xfrm>
              <a:off x="3865437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8" name="Freeform 47"/>
            <p:cNvSpPr/>
            <p:nvPr/>
          </p:nvSpPr>
          <p:spPr>
            <a:xfrm>
              <a:off x="4321982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49" name="Freeform 48"/>
            <p:cNvSpPr/>
            <p:nvPr/>
          </p:nvSpPr>
          <p:spPr>
            <a:xfrm>
              <a:off x="4778527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0" name="Freeform 49"/>
            <p:cNvSpPr/>
            <p:nvPr/>
          </p:nvSpPr>
          <p:spPr>
            <a:xfrm>
              <a:off x="5235072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1" name="Freeform 50"/>
            <p:cNvSpPr/>
            <p:nvPr/>
          </p:nvSpPr>
          <p:spPr>
            <a:xfrm>
              <a:off x="5691617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2" name="Freeform 51"/>
            <p:cNvSpPr/>
            <p:nvPr/>
          </p:nvSpPr>
          <p:spPr>
            <a:xfrm>
              <a:off x="6148163" y="1821317"/>
              <a:ext cx="150645" cy="640080"/>
            </a:xfrm>
            <a:custGeom>
              <a:avLst/>
              <a:gdLst>
                <a:gd name="connsiteX0" fmla="*/ 127000 w 196850"/>
                <a:gd name="connsiteY0" fmla="*/ 0 h 1625600"/>
                <a:gd name="connsiteX1" fmla="*/ 82550 w 196850"/>
                <a:gd name="connsiteY1" fmla="*/ 38100 h 1625600"/>
                <a:gd name="connsiteX2" fmla="*/ 50800 w 196850"/>
                <a:gd name="connsiteY2" fmla="*/ 76200 h 1625600"/>
                <a:gd name="connsiteX3" fmla="*/ 19050 w 196850"/>
                <a:gd name="connsiteY3" fmla="*/ 133350 h 1625600"/>
                <a:gd name="connsiteX4" fmla="*/ 0 w 196850"/>
                <a:gd name="connsiteY4" fmla="*/ 196850 h 1625600"/>
                <a:gd name="connsiteX5" fmla="*/ 25400 w 196850"/>
                <a:gd name="connsiteY5" fmla="*/ 323850 h 1625600"/>
                <a:gd name="connsiteX6" fmla="*/ 50800 w 196850"/>
                <a:gd name="connsiteY6" fmla="*/ 361950 h 1625600"/>
                <a:gd name="connsiteX7" fmla="*/ 82550 w 196850"/>
                <a:gd name="connsiteY7" fmla="*/ 393700 h 1625600"/>
                <a:gd name="connsiteX8" fmla="*/ 101600 w 196850"/>
                <a:gd name="connsiteY8" fmla="*/ 400050 h 1625600"/>
                <a:gd name="connsiteX9" fmla="*/ 165100 w 196850"/>
                <a:gd name="connsiteY9" fmla="*/ 476250 h 1625600"/>
                <a:gd name="connsiteX10" fmla="*/ 177800 w 196850"/>
                <a:gd name="connsiteY10" fmla="*/ 495300 h 1625600"/>
                <a:gd name="connsiteX11" fmla="*/ 184150 w 196850"/>
                <a:gd name="connsiteY11" fmla="*/ 514350 h 1625600"/>
                <a:gd name="connsiteX12" fmla="*/ 190500 w 196850"/>
                <a:gd name="connsiteY12" fmla="*/ 552450 h 1625600"/>
                <a:gd name="connsiteX13" fmla="*/ 196850 w 196850"/>
                <a:gd name="connsiteY13" fmla="*/ 577850 h 1625600"/>
                <a:gd name="connsiteX14" fmla="*/ 190500 w 196850"/>
                <a:gd name="connsiteY14" fmla="*/ 660400 h 1625600"/>
                <a:gd name="connsiteX15" fmla="*/ 158750 w 196850"/>
                <a:gd name="connsiteY15" fmla="*/ 717550 h 1625600"/>
                <a:gd name="connsiteX16" fmla="*/ 139700 w 196850"/>
                <a:gd name="connsiteY16" fmla="*/ 736600 h 1625600"/>
                <a:gd name="connsiteX17" fmla="*/ 107950 w 196850"/>
                <a:gd name="connsiteY17" fmla="*/ 768350 h 1625600"/>
                <a:gd name="connsiteX18" fmla="*/ 95250 w 196850"/>
                <a:gd name="connsiteY18" fmla="*/ 787400 h 1625600"/>
                <a:gd name="connsiteX19" fmla="*/ 88900 w 196850"/>
                <a:gd name="connsiteY19" fmla="*/ 806450 h 1625600"/>
                <a:gd name="connsiteX20" fmla="*/ 69850 w 196850"/>
                <a:gd name="connsiteY20" fmla="*/ 819150 h 1625600"/>
                <a:gd name="connsiteX21" fmla="*/ 44450 w 196850"/>
                <a:gd name="connsiteY21" fmla="*/ 863600 h 1625600"/>
                <a:gd name="connsiteX22" fmla="*/ 31750 w 196850"/>
                <a:gd name="connsiteY22" fmla="*/ 882650 h 1625600"/>
                <a:gd name="connsiteX23" fmla="*/ 19050 w 196850"/>
                <a:gd name="connsiteY23" fmla="*/ 927100 h 1625600"/>
                <a:gd name="connsiteX24" fmla="*/ 31750 w 196850"/>
                <a:gd name="connsiteY24" fmla="*/ 1060450 h 1625600"/>
                <a:gd name="connsiteX25" fmla="*/ 63500 w 196850"/>
                <a:gd name="connsiteY25" fmla="*/ 1092200 h 1625600"/>
                <a:gd name="connsiteX26" fmla="*/ 76200 w 196850"/>
                <a:gd name="connsiteY26" fmla="*/ 1111250 h 1625600"/>
                <a:gd name="connsiteX27" fmla="*/ 114300 w 196850"/>
                <a:gd name="connsiteY27" fmla="*/ 1136650 h 1625600"/>
                <a:gd name="connsiteX28" fmla="*/ 120650 w 196850"/>
                <a:gd name="connsiteY28" fmla="*/ 1155700 h 1625600"/>
                <a:gd name="connsiteX29" fmla="*/ 139700 w 196850"/>
                <a:gd name="connsiteY29" fmla="*/ 1168400 h 1625600"/>
                <a:gd name="connsiteX30" fmla="*/ 165100 w 196850"/>
                <a:gd name="connsiteY30" fmla="*/ 1187450 h 1625600"/>
                <a:gd name="connsiteX31" fmla="*/ 190500 w 196850"/>
                <a:gd name="connsiteY31" fmla="*/ 1225550 h 1625600"/>
                <a:gd name="connsiteX32" fmla="*/ 196850 w 196850"/>
                <a:gd name="connsiteY32" fmla="*/ 1250950 h 1625600"/>
                <a:gd name="connsiteX33" fmla="*/ 190500 w 196850"/>
                <a:gd name="connsiteY33" fmla="*/ 1339850 h 1625600"/>
                <a:gd name="connsiteX34" fmla="*/ 171450 w 196850"/>
                <a:gd name="connsiteY34" fmla="*/ 1403350 h 1625600"/>
                <a:gd name="connsiteX35" fmla="*/ 158750 w 196850"/>
                <a:gd name="connsiteY35" fmla="*/ 1422400 h 1625600"/>
                <a:gd name="connsiteX36" fmla="*/ 152400 w 196850"/>
                <a:gd name="connsiteY36" fmla="*/ 1441450 h 1625600"/>
                <a:gd name="connsiteX37" fmla="*/ 127000 w 196850"/>
                <a:gd name="connsiteY37" fmla="*/ 1498600 h 1625600"/>
                <a:gd name="connsiteX38" fmla="*/ 95250 w 196850"/>
                <a:gd name="connsiteY38" fmla="*/ 1555750 h 1625600"/>
                <a:gd name="connsiteX39" fmla="*/ 95250 w 196850"/>
                <a:gd name="connsiteY39" fmla="*/ 16256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6850" h="1625600">
                  <a:moveTo>
                    <a:pt x="127000" y="0"/>
                  </a:moveTo>
                  <a:cubicBezTo>
                    <a:pt x="72901" y="32460"/>
                    <a:pt x="111869" y="2917"/>
                    <a:pt x="82550" y="38100"/>
                  </a:cubicBezTo>
                  <a:cubicBezTo>
                    <a:pt x="68308" y="55190"/>
                    <a:pt x="59809" y="55930"/>
                    <a:pt x="50800" y="76200"/>
                  </a:cubicBezTo>
                  <a:cubicBezTo>
                    <a:pt x="25936" y="132143"/>
                    <a:pt x="53821" y="98579"/>
                    <a:pt x="19050" y="133350"/>
                  </a:cubicBezTo>
                  <a:cubicBezTo>
                    <a:pt x="3590" y="179729"/>
                    <a:pt x="9597" y="158463"/>
                    <a:pt x="0" y="196850"/>
                  </a:cubicBezTo>
                  <a:cubicBezTo>
                    <a:pt x="14593" y="299002"/>
                    <a:pt x="3234" y="257352"/>
                    <a:pt x="25400" y="323850"/>
                  </a:cubicBezTo>
                  <a:cubicBezTo>
                    <a:pt x="30227" y="338330"/>
                    <a:pt x="42333" y="349250"/>
                    <a:pt x="50800" y="361950"/>
                  </a:cubicBezTo>
                  <a:cubicBezTo>
                    <a:pt x="63500" y="381000"/>
                    <a:pt x="61383" y="383117"/>
                    <a:pt x="82550" y="393700"/>
                  </a:cubicBezTo>
                  <a:cubicBezTo>
                    <a:pt x="88537" y="396693"/>
                    <a:pt x="95250" y="397933"/>
                    <a:pt x="101600" y="400050"/>
                  </a:cubicBezTo>
                  <a:cubicBezTo>
                    <a:pt x="150493" y="448943"/>
                    <a:pt x="129737" y="423206"/>
                    <a:pt x="165100" y="476250"/>
                  </a:cubicBezTo>
                  <a:cubicBezTo>
                    <a:pt x="169333" y="482600"/>
                    <a:pt x="175387" y="488060"/>
                    <a:pt x="177800" y="495300"/>
                  </a:cubicBezTo>
                  <a:cubicBezTo>
                    <a:pt x="179917" y="501650"/>
                    <a:pt x="182698" y="507816"/>
                    <a:pt x="184150" y="514350"/>
                  </a:cubicBezTo>
                  <a:cubicBezTo>
                    <a:pt x="186943" y="526919"/>
                    <a:pt x="187975" y="539825"/>
                    <a:pt x="190500" y="552450"/>
                  </a:cubicBezTo>
                  <a:cubicBezTo>
                    <a:pt x="192212" y="561008"/>
                    <a:pt x="194733" y="569383"/>
                    <a:pt x="196850" y="577850"/>
                  </a:cubicBezTo>
                  <a:cubicBezTo>
                    <a:pt x="194733" y="605367"/>
                    <a:pt x="193923" y="633015"/>
                    <a:pt x="190500" y="660400"/>
                  </a:cubicBezTo>
                  <a:cubicBezTo>
                    <a:pt x="188219" y="678652"/>
                    <a:pt x="167578" y="708722"/>
                    <a:pt x="158750" y="717550"/>
                  </a:cubicBezTo>
                  <a:cubicBezTo>
                    <a:pt x="152400" y="723900"/>
                    <a:pt x="145449" y="729701"/>
                    <a:pt x="139700" y="736600"/>
                  </a:cubicBezTo>
                  <a:cubicBezTo>
                    <a:pt x="113242" y="768350"/>
                    <a:pt x="142875" y="745067"/>
                    <a:pt x="107950" y="768350"/>
                  </a:cubicBezTo>
                  <a:cubicBezTo>
                    <a:pt x="103717" y="774700"/>
                    <a:pt x="98663" y="780574"/>
                    <a:pt x="95250" y="787400"/>
                  </a:cubicBezTo>
                  <a:cubicBezTo>
                    <a:pt x="92257" y="793387"/>
                    <a:pt x="93081" y="801223"/>
                    <a:pt x="88900" y="806450"/>
                  </a:cubicBezTo>
                  <a:cubicBezTo>
                    <a:pt x="84132" y="812409"/>
                    <a:pt x="76200" y="814917"/>
                    <a:pt x="69850" y="819150"/>
                  </a:cubicBezTo>
                  <a:cubicBezTo>
                    <a:pt x="38908" y="865562"/>
                    <a:pt x="76676" y="807204"/>
                    <a:pt x="44450" y="863600"/>
                  </a:cubicBezTo>
                  <a:cubicBezTo>
                    <a:pt x="40664" y="870226"/>
                    <a:pt x="35163" y="875824"/>
                    <a:pt x="31750" y="882650"/>
                  </a:cubicBezTo>
                  <a:cubicBezTo>
                    <a:pt x="27195" y="891760"/>
                    <a:pt x="21085" y="918962"/>
                    <a:pt x="19050" y="927100"/>
                  </a:cubicBezTo>
                  <a:cubicBezTo>
                    <a:pt x="19267" y="930136"/>
                    <a:pt x="24826" y="1037369"/>
                    <a:pt x="31750" y="1060450"/>
                  </a:cubicBezTo>
                  <a:cubicBezTo>
                    <a:pt x="37042" y="1078089"/>
                    <a:pt x="49742" y="1083028"/>
                    <a:pt x="63500" y="1092200"/>
                  </a:cubicBezTo>
                  <a:cubicBezTo>
                    <a:pt x="67733" y="1098550"/>
                    <a:pt x="70457" y="1106224"/>
                    <a:pt x="76200" y="1111250"/>
                  </a:cubicBezTo>
                  <a:cubicBezTo>
                    <a:pt x="87687" y="1121301"/>
                    <a:pt x="114300" y="1136650"/>
                    <a:pt x="114300" y="1136650"/>
                  </a:cubicBezTo>
                  <a:cubicBezTo>
                    <a:pt x="116417" y="1143000"/>
                    <a:pt x="116469" y="1150473"/>
                    <a:pt x="120650" y="1155700"/>
                  </a:cubicBezTo>
                  <a:cubicBezTo>
                    <a:pt x="125418" y="1161659"/>
                    <a:pt x="133490" y="1163964"/>
                    <a:pt x="139700" y="1168400"/>
                  </a:cubicBezTo>
                  <a:cubicBezTo>
                    <a:pt x="148312" y="1174551"/>
                    <a:pt x="158069" y="1179540"/>
                    <a:pt x="165100" y="1187450"/>
                  </a:cubicBezTo>
                  <a:cubicBezTo>
                    <a:pt x="175241" y="1198858"/>
                    <a:pt x="190500" y="1225550"/>
                    <a:pt x="190500" y="1225550"/>
                  </a:cubicBezTo>
                  <a:cubicBezTo>
                    <a:pt x="192617" y="1234017"/>
                    <a:pt x="196850" y="1242223"/>
                    <a:pt x="196850" y="1250950"/>
                  </a:cubicBezTo>
                  <a:cubicBezTo>
                    <a:pt x="196850" y="1280659"/>
                    <a:pt x="193781" y="1310323"/>
                    <a:pt x="190500" y="1339850"/>
                  </a:cubicBezTo>
                  <a:cubicBezTo>
                    <a:pt x="188901" y="1354245"/>
                    <a:pt x="174642" y="1393773"/>
                    <a:pt x="171450" y="1403350"/>
                  </a:cubicBezTo>
                  <a:cubicBezTo>
                    <a:pt x="169037" y="1410590"/>
                    <a:pt x="162163" y="1415574"/>
                    <a:pt x="158750" y="1422400"/>
                  </a:cubicBezTo>
                  <a:cubicBezTo>
                    <a:pt x="155757" y="1428387"/>
                    <a:pt x="155393" y="1435463"/>
                    <a:pt x="152400" y="1441450"/>
                  </a:cubicBezTo>
                  <a:cubicBezTo>
                    <a:pt x="122211" y="1501827"/>
                    <a:pt x="159765" y="1400306"/>
                    <a:pt x="127000" y="1498600"/>
                  </a:cubicBezTo>
                  <a:cubicBezTo>
                    <a:pt x="119404" y="1521388"/>
                    <a:pt x="96991" y="1531377"/>
                    <a:pt x="95250" y="1555750"/>
                  </a:cubicBezTo>
                  <a:cubicBezTo>
                    <a:pt x="93591" y="1578974"/>
                    <a:pt x="95250" y="1602317"/>
                    <a:pt x="95250" y="1625600"/>
                  </a:cubicBezTo>
                </a:path>
              </a:pathLst>
            </a:custGeom>
            <a:ln w="28575"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n w="1270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74" name="Group 73"/>
          <p:cNvGrpSpPr/>
          <p:nvPr/>
        </p:nvGrpSpPr>
        <p:grpSpPr>
          <a:xfrm>
            <a:off x="3033273" y="3629493"/>
            <a:ext cx="3185652" cy="495300"/>
            <a:chOff x="3033273" y="3706333"/>
            <a:chExt cx="3185652" cy="495300"/>
          </a:xfrm>
        </p:grpSpPr>
        <p:cxnSp>
          <p:nvCxnSpPr>
            <p:cNvPr id="28" name="Straight Arrow Connector 27"/>
            <p:cNvCxnSpPr/>
            <p:nvPr/>
          </p:nvCxnSpPr>
          <p:spPr>
            <a:xfrm flipH="1">
              <a:off x="57617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48620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flipH="1">
              <a:off x="3932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3033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/>
            <p:nvPr/>
          </p:nvCxnSpPr>
          <p:spPr>
            <a:xfrm flipH="1">
              <a:off x="62189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/>
            <p:nvPr/>
          </p:nvCxnSpPr>
          <p:spPr>
            <a:xfrm>
              <a:off x="53192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H="1">
              <a:off x="4390125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/>
            <p:nvPr/>
          </p:nvCxnSpPr>
          <p:spPr>
            <a:xfrm>
              <a:off x="3490473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/>
            <p:cNvCxnSpPr/>
            <p:nvPr/>
          </p:nvCxnSpPr>
          <p:spPr>
            <a:xfrm flipH="1">
              <a:off x="4842803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3943151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 flipH="1">
              <a:off x="5300003" y="37063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4400351" y="3706333"/>
              <a:ext cx="899652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5" name="Group 74"/>
          <p:cNvGrpSpPr/>
          <p:nvPr/>
        </p:nvGrpSpPr>
        <p:grpSpPr>
          <a:xfrm>
            <a:off x="3033273" y="4581993"/>
            <a:ext cx="3181130" cy="495300"/>
            <a:chOff x="3033273" y="4658833"/>
            <a:chExt cx="3181130" cy="495300"/>
          </a:xfrm>
        </p:grpSpPr>
        <p:cxnSp>
          <p:nvCxnSpPr>
            <p:cNvPr id="37" name="Straight Arrow Connector 36"/>
            <p:cNvCxnSpPr/>
            <p:nvPr/>
          </p:nvCxnSpPr>
          <p:spPr>
            <a:xfrm flipH="1">
              <a:off x="486207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303327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/>
            <p:nvPr/>
          </p:nvCxnSpPr>
          <p:spPr>
            <a:xfrm flipH="1">
              <a:off x="5320388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Arrow Connector 68"/>
            <p:cNvCxnSpPr/>
            <p:nvPr/>
          </p:nvCxnSpPr>
          <p:spPr>
            <a:xfrm>
              <a:off x="3491588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Arrow Connector 69"/>
            <p:cNvCxnSpPr/>
            <p:nvPr/>
          </p:nvCxnSpPr>
          <p:spPr>
            <a:xfrm flipH="1">
              <a:off x="577761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>
              <a:off x="394881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H="1">
              <a:off x="6214403" y="465883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>
              <a:off x="4385603" y="4658833"/>
              <a:ext cx="18288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1816416" y="2263727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buffer1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16416" y="3216227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buffer2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16416" y="4154173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buffer1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16416" y="5106673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buffer2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40848" y="5727577"/>
            <a:ext cx="68890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Optimization:</a:t>
            </a:r>
            <a:r>
              <a:rPr lang="en-US" dirty="0"/>
              <a:t> eliminate one synchronization by using two buffers and alternating them as the input/output buffer (called </a:t>
            </a:r>
            <a:r>
              <a:rPr lang="en-US" b="1" dirty="0">
                <a:solidFill>
                  <a:schemeClr val="accent5"/>
                </a:solidFill>
              </a:rPr>
              <a:t>double buffering</a:t>
            </a:r>
            <a:r>
              <a:rPr lang="en-US" dirty="0"/>
              <a:t>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62273" y="2730781"/>
            <a:ext cx="2593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= </a:t>
            </a:r>
            <a:r>
              <a:rPr lang="en-US" dirty="0">
                <a:solidFill>
                  <a:schemeClr val="accent6"/>
                </a:solidFill>
              </a:rPr>
              <a:t>buffer1</a:t>
            </a:r>
            <a:r>
              <a:rPr lang="en-US" dirty="0"/>
              <a:t>, out = </a:t>
            </a:r>
            <a:r>
              <a:rPr lang="en-US" dirty="0">
                <a:solidFill>
                  <a:schemeClr val="accent2"/>
                </a:solidFill>
              </a:rPr>
              <a:t>buffer2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62273" y="3683281"/>
            <a:ext cx="2593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= </a:t>
            </a:r>
            <a:r>
              <a:rPr lang="en-US" dirty="0">
                <a:solidFill>
                  <a:schemeClr val="accent2"/>
                </a:solidFill>
              </a:rPr>
              <a:t>buffer2</a:t>
            </a:r>
            <a:r>
              <a:rPr lang="en-US" dirty="0"/>
              <a:t>, out = </a:t>
            </a:r>
            <a:r>
              <a:rPr lang="en-US" dirty="0">
                <a:solidFill>
                  <a:schemeClr val="accent6"/>
                </a:solidFill>
              </a:rPr>
              <a:t>buffer1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81662" y="4635781"/>
            <a:ext cx="2593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= </a:t>
            </a:r>
            <a:r>
              <a:rPr lang="en-US" dirty="0">
                <a:solidFill>
                  <a:schemeClr val="accent6"/>
                </a:solidFill>
              </a:rPr>
              <a:t>buffer1</a:t>
            </a:r>
            <a:r>
              <a:rPr lang="en-US" dirty="0"/>
              <a:t>, out = </a:t>
            </a:r>
            <a:r>
              <a:rPr lang="en-US" dirty="0">
                <a:solidFill>
                  <a:schemeClr val="accent2"/>
                </a:solidFill>
              </a:rPr>
              <a:t>buffer2</a:t>
            </a:r>
          </a:p>
        </p:txBody>
      </p:sp>
      <p:grpSp>
        <p:nvGrpSpPr>
          <p:cNvPr id="78" name="Group 77"/>
          <p:cNvGrpSpPr/>
          <p:nvPr/>
        </p:nvGrpSpPr>
        <p:grpSpPr>
          <a:xfrm>
            <a:off x="3033273" y="2676993"/>
            <a:ext cx="3200400" cy="495300"/>
            <a:chOff x="3033273" y="3061193"/>
            <a:chExt cx="3200400" cy="495300"/>
          </a:xfrm>
        </p:grpSpPr>
        <p:cxnSp>
          <p:nvCxnSpPr>
            <p:cNvPr id="79" name="Straight Arrow Connector 78"/>
            <p:cNvCxnSpPr/>
            <p:nvPr/>
          </p:nvCxnSpPr>
          <p:spPr>
            <a:xfrm flipH="1">
              <a:off x="62336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>
              <a:off x="57764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 flipH="1">
              <a:off x="533402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>
            <a:xfrm>
              <a:off x="487682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 flipH="1">
              <a:off x="4390125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>
              <a:off x="3932925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/>
            <p:nvPr/>
          </p:nvCxnSpPr>
          <p:spPr>
            <a:xfrm flipH="1">
              <a:off x="349047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Arrow Connector 85"/>
            <p:cNvCxnSpPr/>
            <p:nvPr/>
          </p:nvCxnSpPr>
          <p:spPr>
            <a:xfrm>
              <a:off x="303327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 flipH="1">
              <a:off x="5786699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>
              <a:off x="5329499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 flipH="1">
              <a:off x="4842803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/>
            <p:nvPr/>
          </p:nvCxnSpPr>
          <p:spPr>
            <a:xfrm>
              <a:off x="4385603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Arrow Connector 90"/>
            <p:cNvCxnSpPr/>
            <p:nvPr/>
          </p:nvCxnSpPr>
          <p:spPr>
            <a:xfrm flipH="1">
              <a:off x="3943151" y="3061193"/>
              <a:ext cx="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>
              <a:off x="3485951" y="3061193"/>
              <a:ext cx="457200" cy="495300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93" name="Straight Arrow Connector 92"/>
          <p:cNvCxnSpPr/>
          <p:nvPr/>
        </p:nvCxnSpPr>
        <p:spPr>
          <a:xfrm flipH="1">
            <a:off x="3033273" y="2676993"/>
            <a:ext cx="0" cy="495300"/>
          </a:xfrm>
          <a:prstGeom prst="straightConnector1">
            <a:avLst/>
          </a:prstGeom>
          <a:ln>
            <a:solidFill>
              <a:srgbClr val="FF9999"/>
            </a:solidFill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" name="Group 18"/>
          <p:cNvGrpSpPr/>
          <p:nvPr/>
        </p:nvGrpSpPr>
        <p:grpSpPr>
          <a:xfrm>
            <a:off x="3033273" y="3623165"/>
            <a:ext cx="452678" cy="501628"/>
            <a:chOff x="3033273" y="4007365"/>
            <a:chExt cx="452678" cy="501628"/>
          </a:xfrm>
        </p:grpSpPr>
        <p:cxnSp>
          <p:nvCxnSpPr>
            <p:cNvPr id="94" name="Straight Arrow Connector 93"/>
            <p:cNvCxnSpPr/>
            <p:nvPr/>
          </p:nvCxnSpPr>
          <p:spPr>
            <a:xfrm flipH="1">
              <a:off x="3033273" y="4013693"/>
              <a:ext cx="0" cy="495300"/>
            </a:xfrm>
            <a:prstGeom prst="straightConnector1">
              <a:avLst/>
            </a:prstGeom>
            <a:ln>
              <a:solidFill>
                <a:srgbClr val="FF9999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 flipH="1">
              <a:off x="3485951" y="4007365"/>
              <a:ext cx="0" cy="495300"/>
            </a:xfrm>
            <a:prstGeom prst="straightConnector1">
              <a:avLst/>
            </a:prstGeom>
            <a:ln>
              <a:solidFill>
                <a:srgbClr val="FF9999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0" name="Group 19"/>
          <p:cNvGrpSpPr/>
          <p:nvPr/>
        </p:nvGrpSpPr>
        <p:grpSpPr>
          <a:xfrm>
            <a:off x="3033273" y="4581993"/>
            <a:ext cx="1359458" cy="501628"/>
            <a:chOff x="3033273" y="4966193"/>
            <a:chExt cx="1359458" cy="501628"/>
          </a:xfrm>
        </p:grpSpPr>
        <p:cxnSp>
          <p:nvCxnSpPr>
            <p:cNvPr id="95" name="Straight Arrow Connector 94"/>
            <p:cNvCxnSpPr/>
            <p:nvPr/>
          </p:nvCxnSpPr>
          <p:spPr>
            <a:xfrm flipH="1">
              <a:off x="3033273" y="4972521"/>
              <a:ext cx="0" cy="495300"/>
            </a:xfrm>
            <a:prstGeom prst="straightConnector1">
              <a:avLst/>
            </a:prstGeom>
            <a:ln>
              <a:solidFill>
                <a:srgbClr val="FF9999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 flipH="1">
              <a:off x="3485951" y="4966193"/>
              <a:ext cx="0" cy="495300"/>
            </a:xfrm>
            <a:prstGeom prst="straightConnector1">
              <a:avLst/>
            </a:prstGeom>
            <a:ln>
              <a:solidFill>
                <a:srgbClr val="FF9999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Straight Arrow Connector 97"/>
            <p:cNvCxnSpPr/>
            <p:nvPr/>
          </p:nvCxnSpPr>
          <p:spPr>
            <a:xfrm flipH="1">
              <a:off x="3947673" y="4972521"/>
              <a:ext cx="0" cy="495300"/>
            </a:xfrm>
            <a:prstGeom prst="straightConnector1">
              <a:avLst/>
            </a:prstGeom>
            <a:ln>
              <a:solidFill>
                <a:srgbClr val="FF9999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Arrow Connector 98"/>
            <p:cNvCxnSpPr/>
            <p:nvPr/>
          </p:nvCxnSpPr>
          <p:spPr>
            <a:xfrm flipH="1">
              <a:off x="4392731" y="4966193"/>
              <a:ext cx="0" cy="495300"/>
            </a:xfrm>
            <a:prstGeom prst="straightConnector1">
              <a:avLst/>
            </a:prstGeom>
            <a:ln>
              <a:solidFill>
                <a:srgbClr val="FF9999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TextBox 20"/>
          <p:cNvSpPr txBox="1"/>
          <p:nvPr/>
        </p:nvSpPr>
        <p:spPr>
          <a:xfrm>
            <a:off x="1223921" y="2652783"/>
            <a:ext cx="18105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9999"/>
                </a:solidFill>
              </a:rPr>
              <a:t>Threads not adding must copy their values</a:t>
            </a:r>
          </a:p>
        </p:txBody>
      </p:sp>
    </p:spTree>
    <p:extLst>
      <p:ext uri="{BB962C8B-B14F-4D97-AF65-F5344CB8AC3E}">
        <p14:creationId xmlns:p14="http://schemas.microsoft.com/office/powerpoint/2010/main" val="506339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9" grpId="0"/>
      <p:bldP spid="60" grpId="0"/>
      <p:bldP spid="64" grpId="0"/>
      <p:bldP spid="67" grpId="0"/>
      <p:bldP spid="76" grpId="0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Double Buffering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68512" y="1066857"/>
            <a:ext cx="8237096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buffer1_s[BLOCK_DIM];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buffer2_s[BLOCK_DIM];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buffer1_s;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buffer2_s;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input[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stride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&lt;= BLOCK_DIM/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*=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&gt;= stride)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+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- stride];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else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__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tmp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tmp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== BLOCK_DIM -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partialSums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output[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92526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Exclusive Scan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Formulate as inclusive scan: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Shift elements by one when loading them from shared memory (skips the last element)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Fetch last element when computing partial sum</a:t>
            </a:r>
          </a:p>
        </p:txBody>
      </p:sp>
    </p:spTree>
    <p:extLst>
      <p:ext uri="{BB962C8B-B14F-4D97-AF65-F5344CB8AC3E}">
        <p14:creationId xmlns:p14="http://schemas.microsoft.com/office/powerpoint/2010/main" val="2612372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Exclusive Scan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68512" y="702928"/>
            <a:ext cx="785308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blockDim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+ 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buffer1_s[BLOCK_DIM];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__shared__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buffer2_s[BLOCK_DIM];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buffer1_s;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buffer2_s;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0.0f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}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else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input[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-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__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for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unsigned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</a:t>
            </a:r>
            <a:r>
              <a:rPr lang="en-US" sz="1200" dirty="0" err="1">
                <a:solidFill>
                  <a:srgbClr val="00BF00"/>
                </a:solidFill>
                <a:latin typeface="Lucida Console" panose="020B0609040504020204" pitchFamily="49" charset="0"/>
              </a:rPr>
              <a:t>int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stride 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&lt;= BLOCK_DIM/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 stride *=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2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&gt;= stride)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+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- stride];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else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}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__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syncthreads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();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>
                <a:solidFill>
                  <a:srgbClr val="00BF00"/>
                </a:solidFill>
                <a:latin typeface="Lucida Console" panose="020B0609040504020204" pitchFamily="49" charset="0"/>
              </a:rPr>
              <a:t>float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*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tmp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outBuffer_s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tmp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if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(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== BLOCK_DIM - </a:t>
            </a:r>
            <a:r>
              <a:rPr lang="en-US" sz="1200" dirty="0">
                <a:solidFill>
                  <a:srgbClr val="BFBF00"/>
                </a:solidFill>
                <a:latin typeface="Lucida Console" panose="020B0609040504020204" pitchFamily="49" charset="0"/>
              </a:rPr>
              <a:t>1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) {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   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partialSums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blockIdx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+ input[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}</a:t>
            </a:r>
          </a:p>
          <a:p>
            <a:endParaRPr lang="en-US" sz="1200" dirty="0">
              <a:solidFill>
                <a:prstClr val="black"/>
              </a:solidFill>
              <a:latin typeface="Lucida Console" panose="020B0609040504020204" pitchFamily="49" charset="0"/>
            </a:endParaRPr>
          </a:p>
          <a:p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    output[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 = 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inBuffer_s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[</a:t>
            </a:r>
            <a:r>
              <a:rPr lang="en-US" sz="1200" dirty="0" err="1">
                <a:solidFill>
                  <a:srgbClr val="00BFBF"/>
                </a:solidFill>
                <a:latin typeface="Lucida Console" panose="020B0609040504020204" pitchFamily="49" charset="0"/>
              </a:rPr>
              <a:t>threadIdx</a:t>
            </a:r>
            <a:r>
              <a:rPr lang="en-US" sz="1200" dirty="0" err="1">
                <a:solidFill>
                  <a:prstClr val="black"/>
                </a:solidFill>
                <a:latin typeface="Lucida Console" panose="020B0609040504020204" pitchFamily="49" charset="0"/>
              </a:rPr>
              <a:t>.x</a:t>
            </a:r>
            <a:r>
              <a:rPr lang="en-US" sz="1200" dirty="0">
                <a:solidFill>
                  <a:prstClr val="black"/>
                </a:solidFill>
                <a:latin typeface="Lucida Console" panose="020B0609040504020204" pitchFamily="49" charset="0"/>
              </a:rPr>
              <a:t>];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76882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Work Efficiency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 parallel algorithm is </a:t>
            </a:r>
            <a:r>
              <a:rPr lang="en-US" b="1" dirty="0">
                <a:solidFill>
                  <a:schemeClr val="accent5"/>
                </a:solidFill>
              </a:rPr>
              <a:t>work-efficient</a:t>
            </a:r>
            <a:r>
              <a:rPr lang="en-US" dirty="0"/>
              <a:t> if it performs the same amount of work as the corresponding sequential algorithm</a:t>
            </a:r>
          </a:p>
          <a:p>
            <a:r>
              <a:rPr lang="en-US" dirty="0"/>
              <a:t>Scan work efficiency</a:t>
            </a:r>
          </a:p>
          <a:p>
            <a:pPr lvl="1"/>
            <a:r>
              <a:rPr lang="en-US" dirty="0"/>
              <a:t>Sequential scan performs </a:t>
            </a:r>
            <a:r>
              <a:rPr lang="en-US" i="1" dirty="0"/>
              <a:t>N</a:t>
            </a:r>
            <a:r>
              <a:rPr lang="en-US" dirty="0"/>
              <a:t> additions</a:t>
            </a:r>
          </a:p>
          <a:p>
            <a:pPr lvl="1"/>
            <a:r>
              <a:rPr lang="en-US" dirty="0" err="1"/>
              <a:t>Kogge</a:t>
            </a:r>
            <a:r>
              <a:rPr lang="en-US" dirty="0"/>
              <a:t>-Stone parallel scan performs:</a:t>
            </a:r>
          </a:p>
          <a:p>
            <a:pPr lvl="2"/>
            <a:r>
              <a:rPr lang="en-US" dirty="0"/>
              <a:t>log(N) steps, N - 2</a:t>
            </a:r>
            <a:r>
              <a:rPr lang="en-US" baseline="30000" dirty="0"/>
              <a:t>step</a:t>
            </a:r>
            <a:r>
              <a:rPr lang="en-US" dirty="0"/>
              <a:t> operations per step</a:t>
            </a:r>
          </a:p>
          <a:p>
            <a:pPr lvl="2"/>
            <a:r>
              <a:rPr lang="en-US" dirty="0"/>
              <a:t>Total: (N-1) + (N-2) + (N-4) + … + (N-N/2) </a:t>
            </a:r>
          </a:p>
          <a:p>
            <a:pPr marL="914400" lvl="2" indent="0">
              <a:buNone/>
            </a:pPr>
            <a:r>
              <a:rPr lang="en-US" dirty="0"/>
              <a:t>                          = N*log(N) - (N-1) = O(N*log(N)) operations</a:t>
            </a:r>
          </a:p>
          <a:p>
            <a:pPr lvl="2"/>
            <a:r>
              <a:rPr lang="en-US" dirty="0"/>
              <a:t>Algorithm is not work efficient</a:t>
            </a:r>
          </a:p>
          <a:p>
            <a:r>
              <a:rPr lang="en-US" dirty="0"/>
              <a:t>If resources are limited, parallel algorithm will be slow because of low work efficiency</a:t>
            </a:r>
          </a:p>
        </p:txBody>
      </p:sp>
    </p:spTree>
    <p:extLst>
      <p:ext uri="{BB962C8B-B14F-4D97-AF65-F5344CB8AC3E}">
        <p14:creationId xmlns:p14="http://schemas.microsoft.com/office/powerpoint/2010/main" val="605900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Wen-</a:t>
            </a:r>
            <a:r>
              <a:rPr lang="en-US" dirty="0" err="1"/>
              <a:t>mei</a:t>
            </a:r>
            <a:r>
              <a:rPr lang="en-US" dirty="0"/>
              <a:t> W. </a:t>
            </a:r>
            <a:r>
              <a:rPr lang="en-US" dirty="0" err="1"/>
              <a:t>Hwu</a:t>
            </a:r>
            <a:r>
              <a:rPr lang="en-US" dirty="0"/>
              <a:t>, David B. Kirk, and Izzat El Hajj. </a:t>
            </a:r>
            <a:r>
              <a:rPr lang="en-US" i="1" dirty="0"/>
              <a:t>Programming Massively Parallel Processors: A Hands-on Approach</a:t>
            </a:r>
            <a:r>
              <a:rPr lang="en-US" dirty="0"/>
              <a:t>. Morgan Kaufmann, 2022.</a:t>
            </a:r>
          </a:p>
        </p:txBody>
      </p:sp>
    </p:spTree>
    <p:extLst>
      <p:ext uri="{BB962C8B-B14F-4D97-AF65-F5344CB8AC3E}">
        <p14:creationId xmlns:p14="http://schemas.microsoft.com/office/powerpoint/2010/main" val="31659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513</TotalTime>
  <Words>2136</Words>
  <Application>Microsoft Office PowerPoint</Application>
  <PresentationFormat>On-screen Show (4:3)</PresentationFormat>
  <Paragraphs>463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Lucida Console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Tejasvi Waghmare (IL-IN)</dc:creator>
  <cp:lastModifiedBy>Izzat El Hajj</cp:lastModifiedBy>
  <cp:revision>80</cp:revision>
  <dcterms:created xsi:type="dcterms:W3CDTF">2022-03-30T06:33:52Z</dcterms:created>
  <dcterms:modified xsi:type="dcterms:W3CDTF">2022-10-05T14:01:56Z</dcterms:modified>
</cp:coreProperties>
</file>