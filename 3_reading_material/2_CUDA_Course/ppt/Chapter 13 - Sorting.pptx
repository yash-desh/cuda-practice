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44"/>
  </p:handoutMasterIdLst>
  <p:sldIdLst>
    <p:sldId id="270" r:id="rId2"/>
    <p:sldId id="314" r:id="rId3"/>
    <p:sldId id="316" r:id="rId4"/>
    <p:sldId id="317" r:id="rId5"/>
    <p:sldId id="315" r:id="rId6"/>
    <p:sldId id="312" r:id="rId7"/>
    <p:sldId id="313" r:id="rId8"/>
    <p:sldId id="311"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8" r:id="rId30"/>
    <p:sldId id="299" r:id="rId31"/>
    <p:sldId id="300" r:id="rId32"/>
    <p:sldId id="301" r:id="rId33"/>
    <p:sldId id="302" r:id="rId34"/>
    <p:sldId id="303" r:id="rId35"/>
    <p:sldId id="304" r:id="rId36"/>
    <p:sldId id="305" r:id="rId37"/>
    <p:sldId id="306" r:id="rId38"/>
    <p:sldId id="307" r:id="rId39"/>
    <p:sldId id="308" r:id="rId40"/>
    <p:sldId id="309" r:id="rId41"/>
    <p:sldId id="310" r:id="rId42"/>
    <p:sldId id="271"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4C4C"/>
    <a:srgbClr val="E08E2F"/>
    <a:srgbClr val="E09135"/>
    <a:srgbClr val="FFFFFF"/>
    <a:srgbClr val="DC8623"/>
    <a:srgbClr val="DB8522"/>
    <a:srgbClr val="4D4D4D"/>
    <a:srgbClr val="EB6500"/>
    <a:srgbClr val="53565A"/>
    <a:srgbClr val="FF98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08EC16-7612-48F2-BD7E-AB7620736A0A}" v="99" dt="2022-03-30T08:57:44.2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97" d="100"/>
          <a:sy n="97" d="100"/>
        </p:scale>
        <p:origin x="91" y="328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C9F2AD-ACD9-4F52-8557-48C099C603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315BD4B-9B5A-4159-B729-CBA6AE207B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7D2E7-9FC7-4207-9062-A3303B783802}" type="datetimeFigureOut">
              <a:rPr lang="en-IN" smtClean="0"/>
              <a:t>14-11-2022</a:t>
            </a:fld>
            <a:endParaRPr lang="en-IN"/>
          </a:p>
        </p:txBody>
      </p:sp>
      <p:sp>
        <p:nvSpPr>
          <p:cNvPr id="4" name="Footer Placeholder 3">
            <a:extLst>
              <a:ext uri="{FF2B5EF4-FFF2-40B4-BE49-F238E27FC236}">
                <a16:creationId xmlns:a16="http://schemas.microsoft.com/office/drawing/2014/main" id="{D794C69D-016E-496D-B1AA-E9EE96139D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A5A0A3E-29D3-4009-A482-439DDE028B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4528DA-F324-4659-A143-8781AC34D3E0}" type="slidenum">
              <a:rPr lang="en-IN" smtClean="0"/>
              <a:t>‹#›</a:t>
            </a:fld>
            <a:endParaRPr lang="en-IN"/>
          </a:p>
        </p:txBody>
      </p:sp>
    </p:spTree>
    <p:extLst>
      <p:ext uri="{BB962C8B-B14F-4D97-AF65-F5344CB8AC3E}">
        <p14:creationId xmlns:p14="http://schemas.microsoft.com/office/powerpoint/2010/main" val="279535706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614FD1-D902-4A59-BCAB-4AA8AF3D9081}"/>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A picture containing shape&#10;&#10;Description automatically generated">
            <a:extLst>
              <a:ext uri="{FF2B5EF4-FFF2-40B4-BE49-F238E27FC236}">
                <a16:creationId xmlns:a16="http://schemas.microsoft.com/office/drawing/2014/main" id="{BA4AD1CF-AA6C-4924-8675-811F23CE0D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24"/>
            <a:ext cx="9144000" cy="6850625"/>
          </a:xfrm>
          <a:prstGeom prst="rect">
            <a:avLst/>
          </a:prstGeom>
        </p:spPr>
      </p:pic>
      <p:sp>
        <p:nvSpPr>
          <p:cNvPr id="5" name="Rectangle 4">
            <a:extLst>
              <a:ext uri="{FF2B5EF4-FFF2-40B4-BE49-F238E27FC236}">
                <a16:creationId xmlns:a16="http://schemas.microsoft.com/office/drawing/2014/main" id="{F2E2EB6C-4AC4-41A2-8F72-A329B2E1580B}"/>
              </a:ext>
            </a:extLst>
          </p:cNvPr>
          <p:cNvSpPr/>
          <p:nvPr userDrawn="1"/>
        </p:nvSpPr>
        <p:spPr>
          <a:xfrm>
            <a:off x="-2300" y="6812281"/>
            <a:ext cx="9144000" cy="4571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5">
            <a:extLst>
              <a:ext uri="{FF2B5EF4-FFF2-40B4-BE49-F238E27FC236}">
                <a16:creationId xmlns:a16="http://schemas.microsoft.com/office/drawing/2014/main" id="{CDB9DDB9-4BD9-4BCF-86A4-772414CF0629}"/>
              </a:ext>
            </a:extLst>
          </p:cNvPr>
          <p:cNvGrpSpPr/>
          <p:nvPr userDrawn="1"/>
        </p:nvGrpSpPr>
        <p:grpSpPr>
          <a:xfrm>
            <a:off x="-72699" y="-3125"/>
            <a:ext cx="1374756" cy="1441923"/>
            <a:chOff x="-113156" y="25300"/>
            <a:chExt cx="1332205" cy="1441923"/>
          </a:xfrm>
        </p:grpSpPr>
        <p:sp>
          <p:nvSpPr>
            <p:cNvPr id="7" name="Rectangle: Rounded Corners 35">
              <a:extLst>
                <a:ext uri="{FF2B5EF4-FFF2-40B4-BE49-F238E27FC236}">
                  <a16:creationId xmlns:a16="http://schemas.microsoft.com/office/drawing/2014/main" id="{7957AE27-1DC8-4907-8AB1-2560A90A543A}"/>
                </a:ext>
              </a:extLst>
            </p:cNvPr>
            <p:cNvSpPr/>
            <p:nvPr/>
          </p:nvSpPr>
          <p:spPr>
            <a:xfrm>
              <a:off x="-43557" y="25300"/>
              <a:ext cx="1262606" cy="1441923"/>
            </a:xfrm>
            <a:prstGeom prst="roundRect">
              <a:avLst>
                <a:gd name="adj" fmla="val 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Picture 2" descr="Data Mining. Concepts and Techniques, 3rd Edition (The Morgan Kaufmann  Series in Data Management Systems)">
              <a:extLst>
                <a:ext uri="{FF2B5EF4-FFF2-40B4-BE49-F238E27FC236}">
                  <a16:creationId xmlns:a16="http://schemas.microsoft.com/office/drawing/2014/main" id="{9E395FDB-906D-4C55-85C3-0A95428EBDB4}"/>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12187" r="-1"/>
            <a:stretch/>
          </p:blipFill>
          <p:spPr bwMode="auto">
            <a:xfrm>
              <a:off x="-113156" y="357913"/>
              <a:ext cx="1317458" cy="770070"/>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TextBox 8">
            <a:extLst>
              <a:ext uri="{FF2B5EF4-FFF2-40B4-BE49-F238E27FC236}">
                <a16:creationId xmlns:a16="http://schemas.microsoft.com/office/drawing/2014/main" id="{A2C3EE6A-8657-4A6B-87F7-02627342A27B}"/>
              </a:ext>
            </a:extLst>
          </p:cNvPr>
          <p:cNvSpPr txBox="1">
            <a:spLocks noChangeArrowheads="1"/>
          </p:cNvSpPr>
          <p:nvPr userDrawn="1"/>
        </p:nvSpPr>
        <p:spPr bwMode="auto">
          <a:xfrm>
            <a:off x="2636487" y="1788690"/>
            <a:ext cx="3731741" cy="261610"/>
          </a:xfrm>
          <a:prstGeom prst="roundRect">
            <a:avLst>
              <a:gd name="adj" fmla="val 0"/>
            </a:avLst>
          </a:prstGeom>
          <a:noFill/>
          <a:ln w="9525">
            <a:noFill/>
            <a:miter lim="800000"/>
            <a:headEnd/>
            <a:tailEnd/>
          </a:ln>
        </p:spPr>
        <p:txBody>
          <a:bodyPr wrap="square">
            <a:spAutoFit/>
          </a:bodyPr>
          <a:lstStyle/>
          <a:p>
            <a:pPr>
              <a:defRPr/>
            </a:pPr>
            <a:r>
              <a:rPr lang="en-GB" sz="1100" i="1" dirty="0">
                <a:solidFill>
                  <a:srgbClr val="53565A"/>
                </a:solidFill>
                <a:latin typeface="+mj-lt"/>
              </a:rPr>
              <a:t>Wen-</a:t>
            </a:r>
            <a:r>
              <a:rPr lang="en-GB" sz="1100" i="1" dirty="0" err="1">
                <a:solidFill>
                  <a:srgbClr val="53565A"/>
                </a:solidFill>
                <a:latin typeface="+mj-lt"/>
              </a:rPr>
              <a:t>mei</a:t>
            </a:r>
            <a:r>
              <a:rPr lang="en-GB" sz="1100" i="1" dirty="0">
                <a:solidFill>
                  <a:srgbClr val="53565A"/>
                </a:solidFill>
                <a:latin typeface="+mj-lt"/>
              </a:rPr>
              <a:t> </a:t>
            </a:r>
            <a:r>
              <a:rPr lang="en-GB" sz="1100" i="1" dirty="0" err="1">
                <a:solidFill>
                  <a:srgbClr val="53565A"/>
                </a:solidFill>
                <a:latin typeface="+mj-lt"/>
              </a:rPr>
              <a:t>Hwu</a:t>
            </a:r>
            <a:r>
              <a:rPr lang="en-GB" sz="1100" i="1" dirty="0">
                <a:solidFill>
                  <a:srgbClr val="53565A"/>
                </a:solidFill>
                <a:latin typeface="+mj-lt"/>
              </a:rPr>
              <a:t>, David Kirk, Izzat El Hajj</a:t>
            </a:r>
            <a:endParaRPr lang="en-US" sz="1100" i="1" dirty="0">
              <a:solidFill>
                <a:srgbClr val="53565A"/>
              </a:solidFill>
              <a:latin typeface="+mj-lt"/>
            </a:endParaRPr>
          </a:p>
        </p:txBody>
      </p:sp>
      <p:cxnSp>
        <p:nvCxnSpPr>
          <p:cNvPr id="10" name="Straight Connector 9">
            <a:extLst>
              <a:ext uri="{FF2B5EF4-FFF2-40B4-BE49-F238E27FC236}">
                <a16:creationId xmlns:a16="http://schemas.microsoft.com/office/drawing/2014/main" id="{243523CE-3289-4AA1-A7D0-4D0378C02A45}"/>
              </a:ext>
            </a:extLst>
          </p:cNvPr>
          <p:cNvCxnSpPr/>
          <p:nvPr userDrawn="1"/>
        </p:nvCxnSpPr>
        <p:spPr>
          <a:xfrm>
            <a:off x="2360588" y="1928406"/>
            <a:ext cx="275899" cy="0"/>
          </a:xfrm>
          <a:prstGeom prst="line">
            <a:avLst/>
          </a:prstGeom>
          <a:ln w="19050">
            <a:solidFill>
              <a:srgbClr val="53565A"/>
            </a:solidFill>
          </a:ln>
        </p:spPr>
        <p:style>
          <a:lnRef idx="1">
            <a:schemeClr val="accent1"/>
          </a:lnRef>
          <a:fillRef idx="0">
            <a:schemeClr val="accent1"/>
          </a:fillRef>
          <a:effectRef idx="0">
            <a:schemeClr val="accent1"/>
          </a:effectRef>
          <a:fontRef idx="minor">
            <a:schemeClr val="tx1"/>
          </a:fontRef>
        </p:style>
      </p:cxnSp>
      <p:pic>
        <p:nvPicPr>
          <p:cNvPr id="11" name="Picture 10" descr="Background pattern&#10;&#10;Description automatically generated">
            <a:extLst>
              <a:ext uri="{FF2B5EF4-FFF2-40B4-BE49-F238E27FC236}">
                <a16:creationId xmlns:a16="http://schemas.microsoft.com/office/drawing/2014/main" id="{2B1CFD73-162D-4195-B0FC-38DEE10693F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r="14303"/>
          <a:stretch/>
        </p:blipFill>
        <p:spPr>
          <a:xfrm>
            <a:off x="1299246" y="1441973"/>
            <a:ext cx="7844400" cy="1577329"/>
          </a:xfrm>
          <a:prstGeom prst="rect">
            <a:avLst/>
          </a:prstGeom>
        </p:spPr>
      </p:pic>
      <p:sp>
        <p:nvSpPr>
          <p:cNvPr id="12" name="TextBox 11">
            <a:extLst>
              <a:ext uri="{FF2B5EF4-FFF2-40B4-BE49-F238E27FC236}">
                <a16:creationId xmlns:a16="http://schemas.microsoft.com/office/drawing/2014/main" id="{2BF7728A-41A1-445F-A9FF-56DF9F9BB7F1}"/>
              </a:ext>
            </a:extLst>
          </p:cNvPr>
          <p:cNvSpPr txBox="1"/>
          <p:nvPr userDrawn="1"/>
        </p:nvSpPr>
        <p:spPr bwMode="auto">
          <a:xfrm>
            <a:off x="1567422" y="1743145"/>
            <a:ext cx="5679695" cy="461665"/>
          </a:xfrm>
          <a:prstGeom prst="rect">
            <a:avLst/>
          </a:prstGeom>
          <a:noFill/>
        </p:spPr>
        <p:txBody>
          <a:bodyPr wrap="none">
            <a:spAutoFit/>
          </a:bodyPr>
          <a:lstStyle/>
          <a:p>
            <a:pPr>
              <a:defRPr/>
            </a:pPr>
            <a:r>
              <a:rPr lang="en-GB" sz="2400" b="1" dirty="0">
                <a:solidFill>
                  <a:schemeClr val="bg1"/>
                </a:solidFill>
              </a:rPr>
              <a:t>Programming Massively Parallel Processors</a:t>
            </a:r>
            <a:endParaRPr lang="en-US" sz="2400" b="1" dirty="0">
              <a:solidFill>
                <a:schemeClr val="bg1"/>
              </a:solidFill>
            </a:endParaRPr>
          </a:p>
        </p:txBody>
      </p:sp>
      <p:sp>
        <p:nvSpPr>
          <p:cNvPr id="13" name="TextBox 12">
            <a:extLst>
              <a:ext uri="{FF2B5EF4-FFF2-40B4-BE49-F238E27FC236}">
                <a16:creationId xmlns:a16="http://schemas.microsoft.com/office/drawing/2014/main" id="{0B215409-9B9B-4DB6-906D-C53B1CDED403}"/>
              </a:ext>
            </a:extLst>
          </p:cNvPr>
          <p:cNvSpPr txBox="1"/>
          <p:nvPr userDrawn="1"/>
        </p:nvSpPr>
        <p:spPr>
          <a:xfrm>
            <a:off x="1567421" y="2143201"/>
            <a:ext cx="2206373" cy="646331"/>
          </a:xfrm>
          <a:prstGeom prst="rect">
            <a:avLst/>
          </a:prstGeom>
          <a:noFill/>
        </p:spPr>
        <p:txBody>
          <a:bodyPr wrap="none" rtlCol="0">
            <a:spAutoFit/>
          </a:bodyPr>
          <a:lstStyle/>
          <a:p>
            <a:r>
              <a:rPr lang="en-GB" sz="1800" dirty="0">
                <a:solidFill>
                  <a:schemeClr val="bg1"/>
                </a:solidFill>
                <a:latin typeface="+mj-lt"/>
              </a:rPr>
              <a:t>A Hands-on Approach</a:t>
            </a:r>
            <a:endParaRPr lang="en-US" sz="1800" dirty="0">
              <a:solidFill>
                <a:schemeClr val="bg1"/>
              </a:solidFill>
              <a:latin typeface="+mj-lt"/>
            </a:endParaRPr>
          </a:p>
          <a:p>
            <a:endParaRPr lang="en-IN" dirty="0"/>
          </a:p>
        </p:txBody>
      </p:sp>
      <p:sp>
        <p:nvSpPr>
          <p:cNvPr id="14" name="Rectangle 13">
            <a:extLst>
              <a:ext uri="{FF2B5EF4-FFF2-40B4-BE49-F238E27FC236}">
                <a16:creationId xmlns:a16="http://schemas.microsoft.com/office/drawing/2014/main" id="{C364E5FD-D2A2-4A68-8897-43FA77D6453D}"/>
              </a:ext>
            </a:extLst>
          </p:cNvPr>
          <p:cNvSpPr/>
          <p:nvPr userDrawn="1"/>
        </p:nvSpPr>
        <p:spPr>
          <a:xfrm>
            <a:off x="1299245" y="3024958"/>
            <a:ext cx="7836105" cy="6006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pic>
        <p:nvPicPr>
          <p:cNvPr id="17" name="Picture 16" descr="A picture containing night sky&#10;&#10;Description automatically generated">
            <a:extLst>
              <a:ext uri="{FF2B5EF4-FFF2-40B4-BE49-F238E27FC236}">
                <a16:creationId xmlns:a16="http://schemas.microsoft.com/office/drawing/2014/main" id="{CB3A55CF-D158-4A58-A4DE-DEEA1CF1071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93773" y="4445883"/>
            <a:ext cx="4410075" cy="1952625"/>
          </a:xfrm>
          <a:prstGeom prst="rect">
            <a:avLst/>
          </a:prstGeom>
        </p:spPr>
      </p:pic>
      <p:sp>
        <p:nvSpPr>
          <p:cNvPr id="18" name="L-Shape 17">
            <a:extLst>
              <a:ext uri="{FF2B5EF4-FFF2-40B4-BE49-F238E27FC236}">
                <a16:creationId xmlns:a16="http://schemas.microsoft.com/office/drawing/2014/main" id="{715CF1CF-E105-4089-BA77-56B70A742ECB}"/>
              </a:ext>
            </a:extLst>
          </p:cNvPr>
          <p:cNvSpPr/>
          <p:nvPr userDrawn="1"/>
        </p:nvSpPr>
        <p:spPr>
          <a:xfrm rot="13500000">
            <a:off x="2939485" y="3242288"/>
            <a:ext cx="140020" cy="140020"/>
          </a:xfrm>
          <a:prstGeom prst="corner">
            <a:avLst>
              <a:gd name="adj1" fmla="val 27650"/>
              <a:gd name="adj2" fmla="val 25788"/>
            </a:avLst>
          </a:prstGeom>
          <a:solidFill>
            <a:srgbClr val="DB8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0E928E1F-54E8-4389-82DD-5CF4C77F4AB0}"/>
              </a:ext>
            </a:extLst>
          </p:cNvPr>
          <p:cNvSpPr/>
          <p:nvPr userDrawn="1"/>
        </p:nvSpPr>
        <p:spPr>
          <a:xfrm>
            <a:off x="7884826" y="6812281"/>
            <a:ext cx="1259174" cy="45719"/>
          </a:xfrm>
          <a:prstGeom prst="rect">
            <a:avLst/>
          </a:prstGeom>
          <a:solidFill>
            <a:srgbClr val="DC8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Chart&#10;&#10;Description automatically generated">
            <a:extLst>
              <a:ext uri="{FF2B5EF4-FFF2-40B4-BE49-F238E27FC236}">
                <a16:creationId xmlns:a16="http://schemas.microsoft.com/office/drawing/2014/main" id="{083DB60B-7D3C-470B-9BE6-C4062D6A1D4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690372" y="3636069"/>
            <a:ext cx="2232972" cy="2762439"/>
          </a:xfrm>
          <a:prstGeom prst="rect">
            <a:avLst/>
          </a:prstGeom>
        </p:spPr>
      </p:pic>
      <p:sp>
        <p:nvSpPr>
          <p:cNvPr id="21" name="Rectangle 7">
            <a:extLst>
              <a:ext uri="{FF2B5EF4-FFF2-40B4-BE49-F238E27FC236}">
                <a16:creationId xmlns:a16="http://schemas.microsoft.com/office/drawing/2014/main" id="{21B15398-A182-4C0B-854E-654EA8B5B28D}"/>
              </a:ext>
            </a:extLst>
          </p:cNvPr>
          <p:cNvSpPr>
            <a:spLocks/>
          </p:cNvSpPr>
          <p:nvPr userDrawn="1"/>
        </p:nvSpPr>
        <p:spPr bwMode="auto">
          <a:xfrm>
            <a:off x="59677" y="6603329"/>
            <a:ext cx="1579154" cy="185454"/>
          </a:xfrm>
          <a:prstGeom prst="rect">
            <a:avLst/>
          </a:prstGeom>
          <a:noFill/>
          <a:ln>
            <a:noFill/>
          </a:ln>
        </p:spPr>
        <p:txBody>
          <a:bodyPr lIns="0" tIns="0" rIns="40639" bIns="0" anchor="ctr"/>
          <a:lstStyle>
            <a:lvl1pPr marL="39688" eaLnBrk="0" hangingPunct="0">
              <a:defRPr sz="2400">
                <a:solidFill>
                  <a:srgbClr val="000000"/>
                </a:solidFill>
                <a:latin typeface="Times New Roman" panose="02020603050405020304" pitchFamily="18" charset="0"/>
                <a:sym typeface="Times New Roman" panose="02020603050405020304" pitchFamily="18" charset="0"/>
              </a:defRPr>
            </a:lvl1pPr>
            <a:lvl2pPr marL="742950" indent="-285750" eaLnBrk="0" hangingPunct="0">
              <a:defRPr sz="2400">
                <a:solidFill>
                  <a:srgbClr val="000000"/>
                </a:solidFill>
                <a:latin typeface="Times New Roman" panose="02020603050405020304" pitchFamily="18" charset="0"/>
                <a:sym typeface="Times New Roman" panose="02020603050405020304" pitchFamily="18" charset="0"/>
              </a:defRPr>
            </a:lvl2pPr>
            <a:lvl3pPr marL="1143000" indent="-228600" eaLnBrk="0" hangingPunct="0">
              <a:defRPr sz="2400">
                <a:solidFill>
                  <a:srgbClr val="000000"/>
                </a:solidFill>
                <a:latin typeface="Times New Roman" panose="02020603050405020304" pitchFamily="18" charset="0"/>
                <a:sym typeface="Times New Roman" panose="02020603050405020304" pitchFamily="18" charset="0"/>
              </a:defRPr>
            </a:lvl3pPr>
            <a:lvl4pPr marL="1600200" indent="-228600" eaLnBrk="0" hangingPunct="0">
              <a:defRPr sz="2400">
                <a:solidFill>
                  <a:srgbClr val="000000"/>
                </a:solidFill>
                <a:latin typeface="Times New Roman" panose="02020603050405020304" pitchFamily="18" charset="0"/>
                <a:sym typeface="Times New Roman" panose="02020603050405020304" pitchFamily="18" charset="0"/>
              </a:defRPr>
            </a:lvl4pPr>
            <a:lvl5pPr marL="2057400" indent="-228600" eaLnBrk="0" hangingPunct="0">
              <a:defRPr sz="2400">
                <a:solidFill>
                  <a:srgbClr val="000000"/>
                </a:solidFill>
                <a:latin typeface="Times New Roman" panose="02020603050405020304" pitchFamily="18" charset="0"/>
                <a:sym typeface="Times New Roman" panose="02020603050405020304" pitchFamily="18" charset="0"/>
              </a:defRPr>
            </a:lvl5pPr>
            <a:lvl6pPr marL="25146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6pPr>
            <a:lvl7pPr marL="29718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7pPr>
            <a:lvl8pPr marL="34290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8pPr>
            <a:lvl9pPr marL="38862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9pPr>
          </a:lstStyle>
          <a:p>
            <a:pPr eaLnBrk="1" hangingPunct="1"/>
            <a:r>
              <a:rPr lang="en-US" altLang="en-US" sz="800" dirty="0">
                <a:solidFill>
                  <a:schemeClr val="tx1">
                    <a:lumMod val="50000"/>
                    <a:lumOff val="50000"/>
                  </a:schemeClr>
                </a:solidFill>
                <a:latin typeface="Arial" panose="020B0604020202020204" pitchFamily="34" charset="0"/>
                <a:cs typeface="Arial" panose="020B0604020202020204" pitchFamily="34" charset="0"/>
                <a:sym typeface="Arial" panose="020B0604020202020204" pitchFamily="34" charset="0"/>
              </a:rPr>
              <a:t>Copyright © 2022 Elsevier</a:t>
            </a:r>
          </a:p>
        </p:txBody>
      </p:sp>
      <p:sp>
        <p:nvSpPr>
          <p:cNvPr id="23" name="Text Placeholder 22"/>
          <p:cNvSpPr>
            <a:spLocks noGrp="1"/>
          </p:cNvSpPr>
          <p:nvPr>
            <p:ph type="body" sz="quarter" idx="10" hasCustomPrompt="1"/>
          </p:nvPr>
        </p:nvSpPr>
        <p:spPr>
          <a:xfrm>
            <a:off x="1298575" y="3011550"/>
            <a:ext cx="1611556" cy="606145"/>
          </a:xfrm>
          <a:prstGeom prst="rect">
            <a:avLst/>
          </a:prstGeom>
        </p:spPr>
        <p:txBody>
          <a:bodyPr anchor="ctr" anchorCtr="0"/>
          <a:lstStyle>
            <a:lvl1pPr marL="0" indent="0">
              <a:buNone/>
              <a:defRPr sz="2000" b="1" cap="all" baseline="0">
                <a:latin typeface="+mn-lt"/>
              </a:defRPr>
            </a:lvl1pPr>
          </a:lstStyle>
          <a:p>
            <a:pPr lvl="0"/>
            <a:r>
              <a:rPr lang="en-US" dirty="0"/>
              <a:t>Chapter #</a:t>
            </a:r>
          </a:p>
        </p:txBody>
      </p:sp>
      <p:sp>
        <p:nvSpPr>
          <p:cNvPr id="27" name="Text Placeholder 22"/>
          <p:cNvSpPr>
            <a:spLocks noGrp="1"/>
          </p:cNvSpPr>
          <p:nvPr>
            <p:ph type="body" sz="quarter" idx="11" hasCustomPrompt="1"/>
          </p:nvPr>
        </p:nvSpPr>
        <p:spPr>
          <a:xfrm>
            <a:off x="3146829" y="3011550"/>
            <a:ext cx="5898609" cy="606145"/>
          </a:xfrm>
          <a:prstGeom prst="rect">
            <a:avLst/>
          </a:prstGeom>
        </p:spPr>
        <p:txBody>
          <a:bodyPr anchor="ctr" anchorCtr="0"/>
          <a:lstStyle>
            <a:lvl1pPr marL="0" indent="0">
              <a:buNone/>
              <a:defRPr sz="2000" b="1" cap="none" baseline="0">
                <a:latin typeface="+mj-lt"/>
              </a:defRPr>
            </a:lvl1pPr>
          </a:lstStyle>
          <a:p>
            <a:pPr lvl="0"/>
            <a:r>
              <a:rPr lang="en-US" dirty="0"/>
              <a:t>Chapter Title</a:t>
            </a:r>
          </a:p>
        </p:txBody>
      </p:sp>
    </p:spTree>
    <p:extLst>
      <p:ext uri="{BB962C8B-B14F-4D97-AF65-F5344CB8AC3E}">
        <p14:creationId xmlns:p14="http://schemas.microsoft.com/office/powerpoint/2010/main" val="2487965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1011D6E-2CED-4BBC-A66B-38F7B0BDDCF4}"/>
              </a:ext>
            </a:extLst>
          </p:cNvPr>
          <p:cNvSpPr>
            <a:spLocks noGrp="1"/>
          </p:cNvSpPr>
          <p:nvPr>
            <p:ph type="body" idx="10"/>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8" name="Content Placeholder 2">
            <a:extLst>
              <a:ext uri="{FF2B5EF4-FFF2-40B4-BE49-F238E27FC236}">
                <a16:creationId xmlns:a16="http://schemas.microsoft.com/office/drawing/2014/main" id="{370D1EB3-9074-4E31-9DCF-ADFD596A7E89}"/>
              </a:ext>
            </a:extLst>
          </p:cNvPr>
          <p:cNvSpPr>
            <a:spLocks noGrp="1"/>
          </p:cNvSpPr>
          <p:nvPr>
            <p:ph sz="half" idx="1"/>
          </p:nvPr>
        </p:nvSpPr>
        <p:spPr>
          <a:xfrm>
            <a:off x="350672" y="838072"/>
            <a:ext cx="8464802" cy="558463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21174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1011D6E-2CED-4BBC-A66B-38F7B0BDDCF4}"/>
              </a:ext>
            </a:extLst>
          </p:cNvPr>
          <p:cNvSpPr>
            <a:spLocks noGrp="1"/>
          </p:cNvSpPr>
          <p:nvPr>
            <p:ph type="body" idx="10"/>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654453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514897"/>
            <a:ext cx="3868340" cy="645898"/>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629842" y="1248402"/>
            <a:ext cx="3868340" cy="5261907"/>
          </a:xfrm>
        </p:spPr>
        <p:txBody>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514897"/>
            <a:ext cx="3887391" cy="645898"/>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1248402"/>
            <a:ext cx="3887391" cy="5261907"/>
          </a:xfrm>
        </p:spPr>
        <p:txBody>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a:extLst>
              <a:ext uri="{FF2B5EF4-FFF2-40B4-BE49-F238E27FC236}">
                <a16:creationId xmlns:a16="http://schemas.microsoft.com/office/drawing/2014/main" id="{71011D6E-2CED-4BBC-A66B-38F7B0BDDCF4}"/>
              </a:ext>
            </a:extLst>
          </p:cNvPr>
          <p:cNvSpPr>
            <a:spLocks noGrp="1"/>
          </p:cNvSpPr>
          <p:nvPr>
            <p:ph type="body" idx="13"/>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36891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1018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A picture containing night sky&#10;&#10;Description automatically generated">
            <a:extLst>
              <a:ext uri="{FF2B5EF4-FFF2-40B4-BE49-F238E27FC236}">
                <a16:creationId xmlns:a16="http://schemas.microsoft.com/office/drawing/2014/main" id="{0451918C-3068-494B-B756-EB2CEF6603D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flipH="1">
            <a:off x="-1" y="5538866"/>
            <a:ext cx="3013881" cy="1334439"/>
          </a:xfrm>
          <a:prstGeom prst="rect">
            <a:avLst/>
          </a:prstGeom>
        </p:spPr>
      </p:pic>
      <p:sp>
        <p:nvSpPr>
          <p:cNvPr id="13" name="Rectangle 5">
            <a:extLst>
              <a:ext uri="{FF2B5EF4-FFF2-40B4-BE49-F238E27FC236}">
                <a16:creationId xmlns:a16="http://schemas.microsoft.com/office/drawing/2014/main" id="{31DF901C-E89A-4945-9091-D20419752365}"/>
              </a:ext>
            </a:extLst>
          </p:cNvPr>
          <p:cNvSpPr/>
          <p:nvPr userDrawn="1"/>
        </p:nvSpPr>
        <p:spPr>
          <a:xfrm>
            <a:off x="6914848" y="4280108"/>
            <a:ext cx="2226852" cy="2533254"/>
          </a:xfrm>
          <a:custGeom>
            <a:avLst/>
            <a:gdLst>
              <a:gd name="connsiteX0" fmla="*/ 0 w 4572000"/>
              <a:gd name="connsiteY0" fmla="*/ 0 h 3429000"/>
              <a:gd name="connsiteX1" fmla="*/ 4572000 w 4572000"/>
              <a:gd name="connsiteY1" fmla="*/ 0 h 3429000"/>
              <a:gd name="connsiteX2" fmla="*/ 4572000 w 4572000"/>
              <a:gd name="connsiteY2" fmla="*/ 3429000 h 3429000"/>
              <a:gd name="connsiteX3" fmla="*/ 0 w 4572000"/>
              <a:gd name="connsiteY3" fmla="*/ 3429000 h 3429000"/>
              <a:gd name="connsiteX4" fmla="*/ 0 w 4572000"/>
              <a:gd name="connsiteY4" fmla="*/ 0 h 3429000"/>
              <a:gd name="connsiteX0" fmla="*/ 0 w 4572000"/>
              <a:gd name="connsiteY0" fmla="*/ 3429000 h 3429000"/>
              <a:gd name="connsiteX1" fmla="*/ 4572000 w 4572000"/>
              <a:gd name="connsiteY1" fmla="*/ 0 h 3429000"/>
              <a:gd name="connsiteX2" fmla="*/ 4572000 w 4572000"/>
              <a:gd name="connsiteY2" fmla="*/ 3429000 h 3429000"/>
              <a:gd name="connsiteX3" fmla="*/ 0 w 457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572000" h="3429000">
                <a:moveTo>
                  <a:pt x="0" y="3429000"/>
                </a:moveTo>
                <a:lnTo>
                  <a:pt x="4572000" y="0"/>
                </a:lnTo>
                <a:lnTo>
                  <a:pt x="4572000" y="3429000"/>
                </a:lnTo>
                <a:lnTo>
                  <a:pt x="0" y="3429000"/>
                </a:lnTo>
                <a:close/>
              </a:path>
            </a:pathLst>
          </a:custGeom>
          <a:solidFill>
            <a:schemeClr val="bg1">
              <a:lumMod val="95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967E801F-3FA2-4ED1-804F-E330EBA748E7}"/>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991" t="4554" r="77" b="59326"/>
          <a:stretch/>
        </p:blipFill>
        <p:spPr>
          <a:xfrm>
            <a:off x="930683" y="-1553"/>
            <a:ext cx="8211017" cy="511200"/>
          </a:xfrm>
          <a:prstGeom prst="rect">
            <a:avLst/>
          </a:prstGeom>
        </p:spPr>
      </p:pic>
      <p:pic>
        <p:nvPicPr>
          <p:cNvPr id="8" name="Picture 2" descr="Data Mining. Concepts and Techniques, 3rd Edition (The Morgan Kaufmann  Series in Data Management Systems)">
            <a:extLst>
              <a:ext uri="{FF2B5EF4-FFF2-40B4-BE49-F238E27FC236}">
                <a16:creationId xmlns:a16="http://schemas.microsoft.com/office/drawing/2014/main" id="{A52DA9B2-CDDD-4030-BA37-75FEC690ABAD}"/>
              </a:ext>
            </a:extLst>
          </p:cNvPr>
          <p:cNvPicPr>
            <a:picLocks noChangeAspect="1" noChangeArrowheads="1"/>
          </p:cNvPicPr>
          <p:nvPr userDrawn="1"/>
        </p:nvPicPr>
        <p:blipFill>
          <a:blip r:embed="rId9">
            <a:extLst>
              <a:ext uri="{BEBA8EAE-BF5A-486C-A8C5-ECC9F3942E4B}">
                <a14:imgProps xmlns:a14="http://schemas.microsoft.com/office/drawing/2010/main">
                  <a14:imgLayer r:embed="rId10">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0" y="0"/>
            <a:ext cx="930682" cy="50987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6E92C0D8-7584-4BDC-BE7D-11D53629CF58}"/>
              </a:ext>
            </a:extLst>
          </p:cNvPr>
          <p:cNvSpPr/>
          <p:nvPr userDrawn="1"/>
        </p:nvSpPr>
        <p:spPr>
          <a:xfrm>
            <a:off x="-2300" y="6812281"/>
            <a:ext cx="9144000" cy="4571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7">
            <a:extLst>
              <a:ext uri="{FF2B5EF4-FFF2-40B4-BE49-F238E27FC236}">
                <a16:creationId xmlns:a16="http://schemas.microsoft.com/office/drawing/2014/main" id="{80D6273C-93F4-4ED4-A1B6-1578A4766C97}"/>
              </a:ext>
            </a:extLst>
          </p:cNvPr>
          <p:cNvSpPr>
            <a:spLocks/>
          </p:cNvSpPr>
          <p:nvPr userDrawn="1"/>
        </p:nvSpPr>
        <p:spPr bwMode="auto">
          <a:xfrm>
            <a:off x="59677" y="6603329"/>
            <a:ext cx="1579154" cy="185454"/>
          </a:xfrm>
          <a:prstGeom prst="rect">
            <a:avLst/>
          </a:prstGeom>
          <a:noFill/>
          <a:ln>
            <a:noFill/>
          </a:ln>
        </p:spPr>
        <p:txBody>
          <a:bodyPr lIns="0" tIns="0" rIns="40639" bIns="0" anchor="ctr"/>
          <a:lstStyle>
            <a:lvl1pPr marL="39688" eaLnBrk="0" hangingPunct="0">
              <a:defRPr sz="2400">
                <a:solidFill>
                  <a:srgbClr val="000000"/>
                </a:solidFill>
                <a:latin typeface="Times New Roman" panose="02020603050405020304" pitchFamily="18" charset="0"/>
                <a:sym typeface="Times New Roman" panose="02020603050405020304" pitchFamily="18" charset="0"/>
              </a:defRPr>
            </a:lvl1pPr>
            <a:lvl2pPr marL="742950" indent="-285750" eaLnBrk="0" hangingPunct="0">
              <a:defRPr sz="2400">
                <a:solidFill>
                  <a:srgbClr val="000000"/>
                </a:solidFill>
                <a:latin typeface="Times New Roman" panose="02020603050405020304" pitchFamily="18" charset="0"/>
                <a:sym typeface="Times New Roman" panose="02020603050405020304" pitchFamily="18" charset="0"/>
              </a:defRPr>
            </a:lvl2pPr>
            <a:lvl3pPr marL="1143000" indent="-228600" eaLnBrk="0" hangingPunct="0">
              <a:defRPr sz="2400">
                <a:solidFill>
                  <a:srgbClr val="000000"/>
                </a:solidFill>
                <a:latin typeface="Times New Roman" panose="02020603050405020304" pitchFamily="18" charset="0"/>
                <a:sym typeface="Times New Roman" panose="02020603050405020304" pitchFamily="18" charset="0"/>
              </a:defRPr>
            </a:lvl3pPr>
            <a:lvl4pPr marL="1600200" indent="-228600" eaLnBrk="0" hangingPunct="0">
              <a:defRPr sz="2400">
                <a:solidFill>
                  <a:srgbClr val="000000"/>
                </a:solidFill>
                <a:latin typeface="Times New Roman" panose="02020603050405020304" pitchFamily="18" charset="0"/>
                <a:sym typeface="Times New Roman" panose="02020603050405020304" pitchFamily="18" charset="0"/>
              </a:defRPr>
            </a:lvl4pPr>
            <a:lvl5pPr marL="2057400" indent="-228600" eaLnBrk="0" hangingPunct="0">
              <a:defRPr sz="2400">
                <a:solidFill>
                  <a:srgbClr val="000000"/>
                </a:solidFill>
                <a:latin typeface="Times New Roman" panose="02020603050405020304" pitchFamily="18" charset="0"/>
                <a:sym typeface="Times New Roman" panose="02020603050405020304" pitchFamily="18" charset="0"/>
              </a:defRPr>
            </a:lvl5pPr>
            <a:lvl6pPr marL="25146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6pPr>
            <a:lvl7pPr marL="29718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7pPr>
            <a:lvl8pPr marL="34290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8pPr>
            <a:lvl9pPr marL="38862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9pPr>
          </a:lstStyle>
          <a:p>
            <a:pPr eaLnBrk="1" hangingPunct="1"/>
            <a:r>
              <a:rPr lang="en-US" altLang="en-US" sz="800" dirty="0">
                <a:solidFill>
                  <a:schemeClr val="tx1">
                    <a:lumMod val="50000"/>
                    <a:lumOff val="50000"/>
                  </a:schemeClr>
                </a:solidFill>
                <a:latin typeface="Arial" panose="020B0604020202020204" pitchFamily="34" charset="0"/>
                <a:cs typeface="Arial" panose="020B0604020202020204" pitchFamily="34" charset="0"/>
                <a:sym typeface="Arial" panose="020B0604020202020204" pitchFamily="34" charset="0"/>
              </a:rPr>
              <a:t>Copyright © 2022 Elsevier</a:t>
            </a:r>
          </a:p>
        </p:txBody>
      </p:sp>
      <p:sp>
        <p:nvSpPr>
          <p:cNvPr id="14" name="Rectangle 13">
            <a:extLst>
              <a:ext uri="{FF2B5EF4-FFF2-40B4-BE49-F238E27FC236}">
                <a16:creationId xmlns:a16="http://schemas.microsoft.com/office/drawing/2014/main" id="{D26B0C97-5D7F-45E4-B756-6265FC57D53E}"/>
              </a:ext>
            </a:extLst>
          </p:cNvPr>
          <p:cNvSpPr/>
          <p:nvPr userDrawn="1"/>
        </p:nvSpPr>
        <p:spPr>
          <a:xfrm>
            <a:off x="7884826" y="6812281"/>
            <a:ext cx="1259174" cy="45719"/>
          </a:xfrm>
          <a:prstGeom prst="rect">
            <a:avLst/>
          </a:prstGeom>
          <a:solidFill>
            <a:srgbClr val="DC8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36460033"/>
      </p:ext>
    </p:extLst>
  </p:cSld>
  <p:clrMap bg1="lt1" tx1="dk1" bg2="lt2" tx2="dk2" accent1="accent1" accent2="accent2" accent3="accent3" accent4="accent4" accent5="accent5" accent6="accent6" hlink="hlink" folHlink="folHlink"/>
  <p:sldLayoutIdLst>
    <p:sldLayoutId id="2147483663" r:id="rId1"/>
    <p:sldLayoutId id="2147483662" r:id="rId2"/>
    <p:sldLayoutId id="2147483664" r:id="rId3"/>
    <p:sldLayoutId id="2147483667" r:id="rId4"/>
    <p:sldLayoutId id="2147483665"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dirty="0"/>
              <a:t>Chapter 13</a:t>
            </a:r>
          </a:p>
        </p:txBody>
      </p:sp>
      <p:sp>
        <p:nvSpPr>
          <p:cNvPr id="5" name="Text Placeholder 4"/>
          <p:cNvSpPr>
            <a:spLocks noGrp="1"/>
          </p:cNvSpPr>
          <p:nvPr>
            <p:ph type="body" sz="quarter" idx="11"/>
          </p:nvPr>
        </p:nvSpPr>
        <p:spPr/>
        <p:txBody>
          <a:bodyPr/>
          <a:lstStyle/>
          <a:p>
            <a:r>
              <a:rPr lang="en-US" dirty="0"/>
              <a:t>Sorting</a:t>
            </a:r>
          </a:p>
        </p:txBody>
      </p:sp>
    </p:spTree>
    <p:extLst>
      <p:ext uri="{BB962C8B-B14F-4D97-AF65-F5344CB8AC3E}">
        <p14:creationId xmlns:p14="http://schemas.microsoft.com/office/powerpoint/2010/main" val="383142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Odd-Even Sort</a:t>
            </a:r>
          </a:p>
        </p:txBody>
      </p:sp>
      <p:sp>
        <p:nvSpPr>
          <p:cNvPr id="4" name="Content Placeholder 3"/>
          <p:cNvSpPr>
            <a:spLocks noGrp="1"/>
          </p:cNvSpPr>
          <p:nvPr>
            <p:ph sz="half" idx="1"/>
          </p:nvPr>
        </p:nvSpPr>
        <p:spPr/>
        <p:txBody>
          <a:bodyPr/>
          <a:lstStyle/>
          <a:p>
            <a:pPr>
              <a:buClr>
                <a:schemeClr val="tx1"/>
              </a:buClr>
            </a:pPr>
            <a:r>
              <a:rPr lang="en-US" b="1" dirty="0">
                <a:solidFill>
                  <a:schemeClr val="accent5"/>
                </a:solidFill>
              </a:rPr>
              <a:t>Odd-even</a:t>
            </a:r>
            <a:r>
              <a:rPr lang="en-US" dirty="0"/>
              <a:t> sort is similar to bubble sort in that it repeatedly compares and orders adjacent pairs of elements until the entire list is sorted</a:t>
            </a:r>
          </a:p>
          <a:p>
            <a:pPr>
              <a:buClr>
                <a:schemeClr val="tx1"/>
              </a:buClr>
            </a:pPr>
            <a:endParaRPr lang="en-US" dirty="0"/>
          </a:p>
          <a:p>
            <a:pPr>
              <a:buClr>
                <a:schemeClr val="tx1"/>
              </a:buClr>
            </a:pPr>
            <a:r>
              <a:rPr lang="en-US" dirty="0"/>
              <a:t>Parallelization approach: each thread is responsible for ordering one pair of elements in each iteration</a:t>
            </a:r>
          </a:p>
          <a:p>
            <a:pPr>
              <a:buClr>
                <a:schemeClr val="tx1"/>
              </a:buClr>
            </a:pPr>
            <a:endParaRPr lang="en-US" dirty="0"/>
          </a:p>
          <a:p>
            <a:pPr>
              <a:buClr>
                <a:schemeClr val="tx1"/>
              </a:buClr>
            </a:pPr>
            <a:r>
              <a:rPr lang="en-US" dirty="0"/>
              <a:t>To avoid race conditions, iterations alternate between processing only odd pairs (pairs where the first element is odd) or only even pairs (pairs where the first element is even) such that each element is accessed by only one thread</a:t>
            </a:r>
          </a:p>
        </p:txBody>
      </p:sp>
    </p:spTree>
    <p:extLst>
      <p:ext uri="{BB962C8B-B14F-4D97-AF65-F5344CB8AC3E}">
        <p14:creationId xmlns:p14="http://schemas.microsoft.com/office/powerpoint/2010/main" val="2180969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a:xfrm>
            <a:off x="1018908" y="43891"/>
            <a:ext cx="7886700" cy="453544"/>
          </a:xfrm>
        </p:spPr>
        <p:txBody>
          <a:bodyPr/>
          <a:lstStyle/>
          <a:p>
            <a:r>
              <a:rPr lang="en-US" dirty="0"/>
              <a:t>Odd-Even Sort Example</a:t>
            </a:r>
          </a:p>
        </p:txBody>
      </p:sp>
      <p:grpSp>
        <p:nvGrpSpPr>
          <p:cNvPr id="40" name="Group 39">
            <a:extLst>
              <a:ext uri="{FF2B5EF4-FFF2-40B4-BE49-F238E27FC236}">
                <a16:creationId xmlns:a16="http://schemas.microsoft.com/office/drawing/2014/main" id="{7A2FE670-878B-4744-8ADA-8640B5C774A9}"/>
              </a:ext>
            </a:extLst>
          </p:cNvPr>
          <p:cNvGrpSpPr/>
          <p:nvPr/>
        </p:nvGrpSpPr>
        <p:grpSpPr>
          <a:xfrm>
            <a:off x="3088078" y="627323"/>
            <a:ext cx="4986433" cy="395805"/>
            <a:chOff x="1327599" y="1464569"/>
            <a:chExt cx="6719887" cy="533400"/>
          </a:xfrm>
          <a:solidFill>
            <a:schemeClr val="accent5">
              <a:lumMod val="20000"/>
              <a:lumOff val="80000"/>
            </a:schemeClr>
          </a:solidFill>
        </p:grpSpPr>
        <p:sp>
          <p:nvSpPr>
            <p:cNvPr id="41" name="Rectangle 40">
              <a:extLst>
                <a:ext uri="{FF2B5EF4-FFF2-40B4-BE49-F238E27FC236}">
                  <a16:creationId xmlns:a16="http://schemas.microsoft.com/office/drawing/2014/main" id="{4DD09F98-2A7F-497E-BC6E-E15F85129841}"/>
                </a:ext>
              </a:extLst>
            </p:cNvPr>
            <p:cNvSpPr/>
            <p:nvPr/>
          </p:nvSpPr>
          <p:spPr>
            <a:xfrm>
              <a:off x="132759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4</a:t>
              </a:r>
            </a:p>
          </p:txBody>
        </p:sp>
        <p:sp>
          <p:nvSpPr>
            <p:cNvPr id="42" name="Rectangle 41">
              <a:extLst>
                <a:ext uri="{FF2B5EF4-FFF2-40B4-BE49-F238E27FC236}">
                  <a16:creationId xmlns:a16="http://schemas.microsoft.com/office/drawing/2014/main" id="{1BEDD34E-157D-4F9B-ABC2-791A91CE2348}"/>
                </a:ext>
              </a:extLst>
            </p:cNvPr>
            <p:cNvSpPr/>
            <p:nvPr/>
          </p:nvSpPr>
          <p:spPr>
            <a:xfrm>
              <a:off x="221138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7</a:t>
              </a:r>
            </a:p>
          </p:txBody>
        </p:sp>
        <p:sp>
          <p:nvSpPr>
            <p:cNvPr id="43" name="Rectangle 42">
              <a:extLst>
                <a:ext uri="{FF2B5EF4-FFF2-40B4-BE49-F238E27FC236}">
                  <a16:creationId xmlns:a16="http://schemas.microsoft.com/office/drawing/2014/main" id="{066A719C-00B1-42EC-B5A7-9C0EA59305A8}"/>
                </a:ext>
              </a:extLst>
            </p:cNvPr>
            <p:cNvSpPr/>
            <p:nvPr/>
          </p:nvSpPr>
          <p:spPr>
            <a:xfrm>
              <a:off x="3095167"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2</a:t>
              </a:r>
            </a:p>
          </p:txBody>
        </p:sp>
        <p:sp>
          <p:nvSpPr>
            <p:cNvPr id="44" name="Rectangle 43">
              <a:extLst>
                <a:ext uri="{FF2B5EF4-FFF2-40B4-BE49-F238E27FC236}">
                  <a16:creationId xmlns:a16="http://schemas.microsoft.com/office/drawing/2014/main" id="{FAC7EB10-ED71-495B-8223-3FD2138703C1}"/>
                </a:ext>
              </a:extLst>
            </p:cNvPr>
            <p:cNvSpPr/>
            <p:nvPr/>
          </p:nvSpPr>
          <p:spPr>
            <a:xfrm>
              <a:off x="3978951"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3</a:t>
              </a:r>
            </a:p>
          </p:txBody>
        </p:sp>
        <p:sp>
          <p:nvSpPr>
            <p:cNvPr id="45" name="Rectangle 44">
              <a:extLst>
                <a:ext uri="{FF2B5EF4-FFF2-40B4-BE49-F238E27FC236}">
                  <a16:creationId xmlns:a16="http://schemas.microsoft.com/office/drawing/2014/main" id="{C93CCEFF-D75B-422D-B9B1-AF750AD3B0ED}"/>
                </a:ext>
              </a:extLst>
            </p:cNvPr>
            <p:cNvSpPr/>
            <p:nvPr/>
          </p:nvSpPr>
          <p:spPr>
            <a:xfrm>
              <a:off x="4862735"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8</a:t>
              </a:r>
            </a:p>
          </p:txBody>
        </p:sp>
        <p:sp>
          <p:nvSpPr>
            <p:cNvPr id="46" name="Rectangle 45">
              <a:extLst>
                <a:ext uri="{FF2B5EF4-FFF2-40B4-BE49-F238E27FC236}">
                  <a16:creationId xmlns:a16="http://schemas.microsoft.com/office/drawing/2014/main" id="{5520EFE5-F096-4870-95C8-7C13AF8D5651}"/>
                </a:ext>
              </a:extLst>
            </p:cNvPr>
            <p:cNvSpPr/>
            <p:nvPr/>
          </p:nvSpPr>
          <p:spPr>
            <a:xfrm>
              <a:off x="574651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5</a:t>
              </a:r>
            </a:p>
          </p:txBody>
        </p:sp>
        <p:sp>
          <p:nvSpPr>
            <p:cNvPr id="47" name="Rectangle 46">
              <a:extLst>
                <a:ext uri="{FF2B5EF4-FFF2-40B4-BE49-F238E27FC236}">
                  <a16:creationId xmlns:a16="http://schemas.microsoft.com/office/drawing/2014/main" id="{33EAD54A-2E0C-4097-B9C5-D05C6B34DC33}"/>
                </a:ext>
              </a:extLst>
            </p:cNvPr>
            <p:cNvSpPr/>
            <p:nvPr/>
          </p:nvSpPr>
          <p:spPr>
            <a:xfrm>
              <a:off x="663030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9</a:t>
              </a:r>
            </a:p>
          </p:txBody>
        </p:sp>
        <p:sp>
          <p:nvSpPr>
            <p:cNvPr id="48" name="Rectangle 47">
              <a:extLst>
                <a:ext uri="{FF2B5EF4-FFF2-40B4-BE49-F238E27FC236}">
                  <a16:creationId xmlns:a16="http://schemas.microsoft.com/office/drawing/2014/main" id="{ED953CAE-4F0C-4B84-9A44-B029A9C74D35}"/>
                </a:ext>
              </a:extLst>
            </p:cNvPr>
            <p:cNvSpPr/>
            <p:nvPr/>
          </p:nvSpPr>
          <p:spPr>
            <a:xfrm>
              <a:off x="7514086"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6</a:t>
              </a:r>
            </a:p>
          </p:txBody>
        </p:sp>
      </p:grpSp>
      <p:grpSp>
        <p:nvGrpSpPr>
          <p:cNvPr id="298" name="Group 297">
            <a:extLst>
              <a:ext uri="{FF2B5EF4-FFF2-40B4-BE49-F238E27FC236}">
                <a16:creationId xmlns:a16="http://schemas.microsoft.com/office/drawing/2014/main" id="{7E48F717-BC1D-4841-B71F-F682D20DB1F8}"/>
              </a:ext>
            </a:extLst>
          </p:cNvPr>
          <p:cNvGrpSpPr/>
          <p:nvPr/>
        </p:nvGrpSpPr>
        <p:grpSpPr>
          <a:xfrm>
            <a:off x="3285877" y="1099754"/>
            <a:ext cx="4590835" cy="391910"/>
            <a:chOff x="2276878" y="1114757"/>
            <a:chExt cx="4590835" cy="391910"/>
          </a:xfrm>
        </p:grpSpPr>
        <p:sp>
          <p:nvSpPr>
            <p:cNvPr id="63" name="Freeform 28">
              <a:extLst>
                <a:ext uri="{FF2B5EF4-FFF2-40B4-BE49-F238E27FC236}">
                  <a16:creationId xmlns:a16="http://schemas.microsoft.com/office/drawing/2014/main" id="{CE0896AA-1426-4512-8382-0A0F981D7A7F}"/>
                </a:ext>
              </a:extLst>
            </p:cNvPr>
            <p:cNvSpPr/>
            <p:nvPr/>
          </p:nvSpPr>
          <p:spPr>
            <a:xfrm>
              <a:off x="2598441" y="1232347"/>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64" name="Left Bracket 63">
              <a:extLst>
                <a:ext uri="{FF2B5EF4-FFF2-40B4-BE49-F238E27FC236}">
                  <a16:creationId xmlns:a16="http://schemas.microsoft.com/office/drawing/2014/main" id="{E5FC700E-FAB8-4AF6-A114-1E4B16C606E7}"/>
                </a:ext>
              </a:extLst>
            </p:cNvPr>
            <p:cNvSpPr/>
            <p:nvPr/>
          </p:nvSpPr>
          <p:spPr>
            <a:xfrm rot="16200000">
              <a:off x="2567961" y="823674"/>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65" name="Left Bracket 64">
              <a:extLst>
                <a:ext uri="{FF2B5EF4-FFF2-40B4-BE49-F238E27FC236}">
                  <a16:creationId xmlns:a16="http://schemas.microsoft.com/office/drawing/2014/main" id="{9669061E-BDAF-43B9-84E8-694CA964FD98}"/>
                </a:ext>
              </a:extLst>
            </p:cNvPr>
            <p:cNvSpPr/>
            <p:nvPr/>
          </p:nvSpPr>
          <p:spPr>
            <a:xfrm rot="16200000">
              <a:off x="3880262" y="823675"/>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66" name="Left Bracket 65">
              <a:extLst>
                <a:ext uri="{FF2B5EF4-FFF2-40B4-BE49-F238E27FC236}">
                  <a16:creationId xmlns:a16="http://schemas.microsoft.com/office/drawing/2014/main" id="{B0249A8B-6728-4500-AF30-B143104E6B23}"/>
                </a:ext>
              </a:extLst>
            </p:cNvPr>
            <p:cNvSpPr/>
            <p:nvPr/>
          </p:nvSpPr>
          <p:spPr>
            <a:xfrm rot="16200000">
              <a:off x="5191385" y="823674"/>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67" name="Left Bracket 66">
              <a:extLst>
                <a:ext uri="{FF2B5EF4-FFF2-40B4-BE49-F238E27FC236}">
                  <a16:creationId xmlns:a16="http://schemas.microsoft.com/office/drawing/2014/main" id="{BF318D21-5A07-48F8-8303-DE689B268FEA}"/>
                </a:ext>
              </a:extLst>
            </p:cNvPr>
            <p:cNvSpPr/>
            <p:nvPr/>
          </p:nvSpPr>
          <p:spPr>
            <a:xfrm rot="16200000">
              <a:off x="6503478" y="823674"/>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68" name="Freeform 28">
              <a:extLst>
                <a:ext uri="{FF2B5EF4-FFF2-40B4-BE49-F238E27FC236}">
                  <a16:creationId xmlns:a16="http://schemas.microsoft.com/office/drawing/2014/main" id="{BE7371C2-B005-4D43-A731-FEF91A4CDC9E}"/>
                </a:ext>
              </a:extLst>
            </p:cNvPr>
            <p:cNvSpPr/>
            <p:nvPr/>
          </p:nvSpPr>
          <p:spPr>
            <a:xfrm>
              <a:off x="3916838" y="1232347"/>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69" name="Freeform 28">
              <a:extLst>
                <a:ext uri="{FF2B5EF4-FFF2-40B4-BE49-F238E27FC236}">
                  <a16:creationId xmlns:a16="http://schemas.microsoft.com/office/drawing/2014/main" id="{B213F47A-D924-4AC8-8B29-EF96C8AABEFF}"/>
                </a:ext>
              </a:extLst>
            </p:cNvPr>
            <p:cNvSpPr/>
            <p:nvPr/>
          </p:nvSpPr>
          <p:spPr>
            <a:xfrm>
              <a:off x="5204128" y="1232347"/>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 name="Freeform 28">
              <a:extLst>
                <a:ext uri="{FF2B5EF4-FFF2-40B4-BE49-F238E27FC236}">
                  <a16:creationId xmlns:a16="http://schemas.microsoft.com/office/drawing/2014/main" id="{1AAE02F4-57A8-42EC-A8C6-B92509A20D3C}"/>
                </a:ext>
              </a:extLst>
            </p:cNvPr>
            <p:cNvSpPr/>
            <p:nvPr/>
          </p:nvSpPr>
          <p:spPr>
            <a:xfrm>
              <a:off x="6517194" y="1232347"/>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98" name="Group 197">
            <a:extLst>
              <a:ext uri="{FF2B5EF4-FFF2-40B4-BE49-F238E27FC236}">
                <a16:creationId xmlns:a16="http://schemas.microsoft.com/office/drawing/2014/main" id="{8922A573-6277-4DFC-A0AD-ADD7FEC8637D}"/>
              </a:ext>
            </a:extLst>
          </p:cNvPr>
          <p:cNvGrpSpPr/>
          <p:nvPr/>
        </p:nvGrpSpPr>
        <p:grpSpPr>
          <a:xfrm>
            <a:off x="3088078" y="1568290"/>
            <a:ext cx="4986433" cy="395805"/>
            <a:chOff x="1327599" y="1464569"/>
            <a:chExt cx="6719887" cy="533400"/>
          </a:xfrm>
          <a:solidFill>
            <a:schemeClr val="accent5">
              <a:lumMod val="20000"/>
              <a:lumOff val="80000"/>
            </a:schemeClr>
          </a:solidFill>
        </p:grpSpPr>
        <p:sp>
          <p:nvSpPr>
            <p:cNvPr id="199" name="Rectangle 198">
              <a:extLst>
                <a:ext uri="{FF2B5EF4-FFF2-40B4-BE49-F238E27FC236}">
                  <a16:creationId xmlns:a16="http://schemas.microsoft.com/office/drawing/2014/main" id="{527C975E-A112-4D8F-B529-B84310DD1BEB}"/>
                </a:ext>
              </a:extLst>
            </p:cNvPr>
            <p:cNvSpPr/>
            <p:nvPr/>
          </p:nvSpPr>
          <p:spPr>
            <a:xfrm>
              <a:off x="132759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4</a:t>
              </a:r>
            </a:p>
          </p:txBody>
        </p:sp>
        <p:sp>
          <p:nvSpPr>
            <p:cNvPr id="200" name="Rectangle 199">
              <a:extLst>
                <a:ext uri="{FF2B5EF4-FFF2-40B4-BE49-F238E27FC236}">
                  <a16:creationId xmlns:a16="http://schemas.microsoft.com/office/drawing/2014/main" id="{95E753E5-DBB2-455B-BC71-0E7995A72B34}"/>
                </a:ext>
              </a:extLst>
            </p:cNvPr>
            <p:cNvSpPr/>
            <p:nvPr/>
          </p:nvSpPr>
          <p:spPr>
            <a:xfrm>
              <a:off x="221138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7</a:t>
              </a:r>
            </a:p>
          </p:txBody>
        </p:sp>
        <p:sp>
          <p:nvSpPr>
            <p:cNvPr id="201" name="Rectangle 200">
              <a:extLst>
                <a:ext uri="{FF2B5EF4-FFF2-40B4-BE49-F238E27FC236}">
                  <a16:creationId xmlns:a16="http://schemas.microsoft.com/office/drawing/2014/main" id="{2E06C9E7-150C-4D82-85B6-59AD54B2DE18}"/>
                </a:ext>
              </a:extLst>
            </p:cNvPr>
            <p:cNvSpPr/>
            <p:nvPr/>
          </p:nvSpPr>
          <p:spPr>
            <a:xfrm>
              <a:off x="3095167"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2</a:t>
              </a:r>
            </a:p>
          </p:txBody>
        </p:sp>
        <p:sp>
          <p:nvSpPr>
            <p:cNvPr id="202" name="Rectangle 201">
              <a:extLst>
                <a:ext uri="{FF2B5EF4-FFF2-40B4-BE49-F238E27FC236}">
                  <a16:creationId xmlns:a16="http://schemas.microsoft.com/office/drawing/2014/main" id="{F97EFE99-20A2-4E02-AA43-4EF2FB36B240}"/>
                </a:ext>
              </a:extLst>
            </p:cNvPr>
            <p:cNvSpPr/>
            <p:nvPr/>
          </p:nvSpPr>
          <p:spPr>
            <a:xfrm>
              <a:off x="3978951"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3</a:t>
              </a:r>
            </a:p>
          </p:txBody>
        </p:sp>
        <p:sp>
          <p:nvSpPr>
            <p:cNvPr id="203" name="Rectangle 202">
              <a:extLst>
                <a:ext uri="{FF2B5EF4-FFF2-40B4-BE49-F238E27FC236}">
                  <a16:creationId xmlns:a16="http://schemas.microsoft.com/office/drawing/2014/main" id="{549E94F9-9531-4B1D-92D1-C9C41F7358AB}"/>
                </a:ext>
              </a:extLst>
            </p:cNvPr>
            <p:cNvSpPr/>
            <p:nvPr/>
          </p:nvSpPr>
          <p:spPr>
            <a:xfrm>
              <a:off x="4862735"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5</a:t>
              </a:r>
            </a:p>
          </p:txBody>
        </p:sp>
        <p:sp>
          <p:nvSpPr>
            <p:cNvPr id="204" name="Rectangle 203">
              <a:extLst>
                <a:ext uri="{FF2B5EF4-FFF2-40B4-BE49-F238E27FC236}">
                  <a16:creationId xmlns:a16="http://schemas.microsoft.com/office/drawing/2014/main" id="{2D504920-8D62-47B3-AD53-EDD5D2B9B9A1}"/>
                </a:ext>
              </a:extLst>
            </p:cNvPr>
            <p:cNvSpPr/>
            <p:nvPr/>
          </p:nvSpPr>
          <p:spPr>
            <a:xfrm>
              <a:off x="574651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8</a:t>
              </a:r>
            </a:p>
          </p:txBody>
        </p:sp>
        <p:sp>
          <p:nvSpPr>
            <p:cNvPr id="205" name="Rectangle 204">
              <a:extLst>
                <a:ext uri="{FF2B5EF4-FFF2-40B4-BE49-F238E27FC236}">
                  <a16:creationId xmlns:a16="http://schemas.microsoft.com/office/drawing/2014/main" id="{8AA4E809-E852-4099-989F-6CCBA3CB9FC5}"/>
                </a:ext>
              </a:extLst>
            </p:cNvPr>
            <p:cNvSpPr/>
            <p:nvPr/>
          </p:nvSpPr>
          <p:spPr>
            <a:xfrm>
              <a:off x="663030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6</a:t>
              </a:r>
            </a:p>
          </p:txBody>
        </p:sp>
        <p:sp>
          <p:nvSpPr>
            <p:cNvPr id="206" name="Rectangle 205">
              <a:extLst>
                <a:ext uri="{FF2B5EF4-FFF2-40B4-BE49-F238E27FC236}">
                  <a16:creationId xmlns:a16="http://schemas.microsoft.com/office/drawing/2014/main" id="{33A797F9-E29C-44F3-BAB0-0BD9448E136A}"/>
                </a:ext>
              </a:extLst>
            </p:cNvPr>
            <p:cNvSpPr/>
            <p:nvPr/>
          </p:nvSpPr>
          <p:spPr>
            <a:xfrm>
              <a:off x="7514086"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9</a:t>
              </a:r>
            </a:p>
          </p:txBody>
        </p:sp>
      </p:grpSp>
      <p:grpSp>
        <p:nvGrpSpPr>
          <p:cNvPr id="299" name="Group 298">
            <a:extLst>
              <a:ext uri="{FF2B5EF4-FFF2-40B4-BE49-F238E27FC236}">
                <a16:creationId xmlns:a16="http://schemas.microsoft.com/office/drawing/2014/main" id="{80C032BC-4E84-4FF7-A89A-7F38B6826718}"/>
              </a:ext>
            </a:extLst>
          </p:cNvPr>
          <p:cNvGrpSpPr/>
          <p:nvPr/>
        </p:nvGrpSpPr>
        <p:grpSpPr>
          <a:xfrm>
            <a:off x="3941923" y="2040721"/>
            <a:ext cx="3278742" cy="391910"/>
            <a:chOff x="2932924" y="2120018"/>
            <a:chExt cx="3278742" cy="391910"/>
          </a:xfrm>
        </p:grpSpPr>
        <p:sp>
          <p:nvSpPr>
            <p:cNvPr id="208" name="Freeform 28">
              <a:extLst>
                <a:ext uri="{FF2B5EF4-FFF2-40B4-BE49-F238E27FC236}">
                  <a16:creationId xmlns:a16="http://schemas.microsoft.com/office/drawing/2014/main" id="{A713E8B5-6E50-40E1-BC6A-39DE5B06920B}"/>
                </a:ext>
              </a:extLst>
            </p:cNvPr>
            <p:cNvSpPr/>
            <p:nvPr/>
          </p:nvSpPr>
          <p:spPr>
            <a:xfrm>
              <a:off x="3254487" y="2237608"/>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09" name="Left Bracket 208">
              <a:extLst>
                <a:ext uri="{FF2B5EF4-FFF2-40B4-BE49-F238E27FC236}">
                  <a16:creationId xmlns:a16="http://schemas.microsoft.com/office/drawing/2014/main" id="{E2535FA4-D106-4ACF-BFFB-3F7B767E7BB0}"/>
                </a:ext>
              </a:extLst>
            </p:cNvPr>
            <p:cNvSpPr/>
            <p:nvPr/>
          </p:nvSpPr>
          <p:spPr>
            <a:xfrm rot="16200000">
              <a:off x="3224007" y="1828935"/>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10" name="Left Bracket 209">
              <a:extLst>
                <a:ext uri="{FF2B5EF4-FFF2-40B4-BE49-F238E27FC236}">
                  <a16:creationId xmlns:a16="http://schemas.microsoft.com/office/drawing/2014/main" id="{98D17ACE-5885-47E6-93C1-40F695C96925}"/>
                </a:ext>
              </a:extLst>
            </p:cNvPr>
            <p:cNvSpPr/>
            <p:nvPr/>
          </p:nvSpPr>
          <p:spPr>
            <a:xfrm rot="16200000">
              <a:off x="4536308" y="1828936"/>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11" name="Left Bracket 210">
              <a:extLst>
                <a:ext uri="{FF2B5EF4-FFF2-40B4-BE49-F238E27FC236}">
                  <a16:creationId xmlns:a16="http://schemas.microsoft.com/office/drawing/2014/main" id="{52D9865C-C5C7-47D2-BDDD-D039883DD371}"/>
                </a:ext>
              </a:extLst>
            </p:cNvPr>
            <p:cNvSpPr/>
            <p:nvPr/>
          </p:nvSpPr>
          <p:spPr>
            <a:xfrm rot="16200000">
              <a:off x="5847431" y="1828935"/>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13" name="Freeform 28">
              <a:extLst>
                <a:ext uri="{FF2B5EF4-FFF2-40B4-BE49-F238E27FC236}">
                  <a16:creationId xmlns:a16="http://schemas.microsoft.com/office/drawing/2014/main" id="{A8D3AE53-3A36-4573-9EA8-00F2F42ACE57}"/>
                </a:ext>
              </a:extLst>
            </p:cNvPr>
            <p:cNvSpPr/>
            <p:nvPr/>
          </p:nvSpPr>
          <p:spPr>
            <a:xfrm>
              <a:off x="4572884" y="2237608"/>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4" name="Freeform 28">
              <a:extLst>
                <a:ext uri="{FF2B5EF4-FFF2-40B4-BE49-F238E27FC236}">
                  <a16:creationId xmlns:a16="http://schemas.microsoft.com/office/drawing/2014/main" id="{CE1FF8B1-B3EF-4B23-9336-F859A9096BC5}"/>
                </a:ext>
              </a:extLst>
            </p:cNvPr>
            <p:cNvSpPr/>
            <p:nvPr/>
          </p:nvSpPr>
          <p:spPr>
            <a:xfrm>
              <a:off x="5860174" y="2237608"/>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16" name="Group 215">
            <a:extLst>
              <a:ext uri="{FF2B5EF4-FFF2-40B4-BE49-F238E27FC236}">
                <a16:creationId xmlns:a16="http://schemas.microsoft.com/office/drawing/2014/main" id="{75EF83E0-8402-40BC-9268-036D8760AD66}"/>
              </a:ext>
            </a:extLst>
          </p:cNvPr>
          <p:cNvGrpSpPr/>
          <p:nvPr/>
        </p:nvGrpSpPr>
        <p:grpSpPr>
          <a:xfrm>
            <a:off x="3088078" y="2509257"/>
            <a:ext cx="4986433" cy="395805"/>
            <a:chOff x="1327599" y="1464569"/>
            <a:chExt cx="6719887" cy="533400"/>
          </a:xfrm>
          <a:solidFill>
            <a:schemeClr val="accent5">
              <a:lumMod val="20000"/>
              <a:lumOff val="80000"/>
            </a:schemeClr>
          </a:solidFill>
        </p:grpSpPr>
        <p:sp>
          <p:nvSpPr>
            <p:cNvPr id="217" name="Rectangle 216">
              <a:extLst>
                <a:ext uri="{FF2B5EF4-FFF2-40B4-BE49-F238E27FC236}">
                  <a16:creationId xmlns:a16="http://schemas.microsoft.com/office/drawing/2014/main" id="{1FA552ED-922C-4501-A4A8-89282885740C}"/>
                </a:ext>
              </a:extLst>
            </p:cNvPr>
            <p:cNvSpPr/>
            <p:nvPr/>
          </p:nvSpPr>
          <p:spPr>
            <a:xfrm>
              <a:off x="132759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4</a:t>
              </a:r>
            </a:p>
          </p:txBody>
        </p:sp>
        <p:sp>
          <p:nvSpPr>
            <p:cNvPr id="218" name="Rectangle 217">
              <a:extLst>
                <a:ext uri="{FF2B5EF4-FFF2-40B4-BE49-F238E27FC236}">
                  <a16:creationId xmlns:a16="http://schemas.microsoft.com/office/drawing/2014/main" id="{274DB090-6E9D-4711-AF4D-D30B5308C07C}"/>
                </a:ext>
              </a:extLst>
            </p:cNvPr>
            <p:cNvSpPr/>
            <p:nvPr/>
          </p:nvSpPr>
          <p:spPr>
            <a:xfrm>
              <a:off x="221138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2</a:t>
              </a:r>
            </a:p>
          </p:txBody>
        </p:sp>
        <p:sp>
          <p:nvSpPr>
            <p:cNvPr id="219" name="Rectangle 218">
              <a:extLst>
                <a:ext uri="{FF2B5EF4-FFF2-40B4-BE49-F238E27FC236}">
                  <a16:creationId xmlns:a16="http://schemas.microsoft.com/office/drawing/2014/main" id="{0B984D8C-183A-496A-8224-0562FFB6A711}"/>
                </a:ext>
              </a:extLst>
            </p:cNvPr>
            <p:cNvSpPr/>
            <p:nvPr/>
          </p:nvSpPr>
          <p:spPr>
            <a:xfrm>
              <a:off x="3095167"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7</a:t>
              </a:r>
            </a:p>
          </p:txBody>
        </p:sp>
        <p:sp>
          <p:nvSpPr>
            <p:cNvPr id="220" name="Rectangle 219">
              <a:extLst>
                <a:ext uri="{FF2B5EF4-FFF2-40B4-BE49-F238E27FC236}">
                  <a16:creationId xmlns:a16="http://schemas.microsoft.com/office/drawing/2014/main" id="{0A8091EC-49D3-4451-B49A-2D8070667328}"/>
                </a:ext>
              </a:extLst>
            </p:cNvPr>
            <p:cNvSpPr/>
            <p:nvPr/>
          </p:nvSpPr>
          <p:spPr>
            <a:xfrm>
              <a:off x="3978951"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3</a:t>
              </a:r>
            </a:p>
          </p:txBody>
        </p:sp>
        <p:sp>
          <p:nvSpPr>
            <p:cNvPr id="221" name="Rectangle 220">
              <a:extLst>
                <a:ext uri="{FF2B5EF4-FFF2-40B4-BE49-F238E27FC236}">
                  <a16:creationId xmlns:a16="http://schemas.microsoft.com/office/drawing/2014/main" id="{9A16B0D2-34A4-4CE5-B3EE-AA2D3F9F49FD}"/>
                </a:ext>
              </a:extLst>
            </p:cNvPr>
            <p:cNvSpPr/>
            <p:nvPr/>
          </p:nvSpPr>
          <p:spPr>
            <a:xfrm>
              <a:off x="4862735"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5</a:t>
              </a:r>
            </a:p>
          </p:txBody>
        </p:sp>
        <p:sp>
          <p:nvSpPr>
            <p:cNvPr id="222" name="Rectangle 221">
              <a:extLst>
                <a:ext uri="{FF2B5EF4-FFF2-40B4-BE49-F238E27FC236}">
                  <a16:creationId xmlns:a16="http://schemas.microsoft.com/office/drawing/2014/main" id="{EFF40324-A192-438F-AF32-84A95F167A9E}"/>
                </a:ext>
              </a:extLst>
            </p:cNvPr>
            <p:cNvSpPr/>
            <p:nvPr/>
          </p:nvSpPr>
          <p:spPr>
            <a:xfrm>
              <a:off x="574651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6</a:t>
              </a:r>
            </a:p>
          </p:txBody>
        </p:sp>
        <p:sp>
          <p:nvSpPr>
            <p:cNvPr id="223" name="Rectangle 222">
              <a:extLst>
                <a:ext uri="{FF2B5EF4-FFF2-40B4-BE49-F238E27FC236}">
                  <a16:creationId xmlns:a16="http://schemas.microsoft.com/office/drawing/2014/main" id="{255457E8-4303-46D5-80C8-F6C7FA429F40}"/>
                </a:ext>
              </a:extLst>
            </p:cNvPr>
            <p:cNvSpPr/>
            <p:nvPr/>
          </p:nvSpPr>
          <p:spPr>
            <a:xfrm>
              <a:off x="663030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8</a:t>
              </a:r>
            </a:p>
          </p:txBody>
        </p:sp>
        <p:sp>
          <p:nvSpPr>
            <p:cNvPr id="224" name="Rectangle 223">
              <a:extLst>
                <a:ext uri="{FF2B5EF4-FFF2-40B4-BE49-F238E27FC236}">
                  <a16:creationId xmlns:a16="http://schemas.microsoft.com/office/drawing/2014/main" id="{6002789B-EFBE-4508-8ECD-992178A16DEF}"/>
                </a:ext>
              </a:extLst>
            </p:cNvPr>
            <p:cNvSpPr/>
            <p:nvPr/>
          </p:nvSpPr>
          <p:spPr>
            <a:xfrm>
              <a:off x="7514086"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a:solidFill>
                    <a:schemeClr val="accent5">
                      <a:lumMod val="50000"/>
                    </a:schemeClr>
                  </a:solidFill>
                </a:rPr>
                <a:t>9</a:t>
              </a:r>
              <a:endParaRPr lang="en-US" dirty="0">
                <a:solidFill>
                  <a:schemeClr val="accent5">
                    <a:lumMod val="50000"/>
                  </a:schemeClr>
                </a:solidFill>
              </a:endParaRPr>
            </a:p>
          </p:txBody>
        </p:sp>
      </p:grpSp>
      <p:grpSp>
        <p:nvGrpSpPr>
          <p:cNvPr id="300" name="Group 299">
            <a:extLst>
              <a:ext uri="{FF2B5EF4-FFF2-40B4-BE49-F238E27FC236}">
                <a16:creationId xmlns:a16="http://schemas.microsoft.com/office/drawing/2014/main" id="{658DCD42-6472-4C52-B616-211893F59EA6}"/>
              </a:ext>
            </a:extLst>
          </p:cNvPr>
          <p:cNvGrpSpPr/>
          <p:nvPr/>
        </p:nvGrpSpPr>
        <p:grpSpPr>
          <a:xfrm>
            <a:off x="3285877" y="2981688"/>
            <a:ext cx="4590835" cy="391910"/>
            <a:chOff x="2276878" y="3125279"/>
            <a:chExt cx="4590835" cy="391910"/>
          </a:xfrm>
        </p:grpSpPr>
        <p:sp>
          <p:nvSpPr>
            <p:cNvPr id="226" name="Freeform 28">
              <a:extLst>
                <a:ext uri="{FF2B5EF4-FFF2-40B4-BE49-F238E27FC236}">
                  <a16:creationId xmlns:a16="http://schemas.microsoft.com/office/drawing/2014/main" id="{98C6D806-A9CD-4369-8488-2B6BFE4F2BEE}"/>
                </a:ext>
              </a:extLst>
            </p:cNvPr>
            <p:cNvSpPr/>
            <p:nvPr/>
          </p:nvSpPr>
          <p:spPr>
            <a:xfrm>
              <a:off x="2598441" y="3242869"/>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7" name="Left Bracket 226">
              <a:extLst>
                <a:ext uri="{FF2B5EF4-FFF2-40B4-BE49-F238E27FC236}">
                  <a16:creationId xmlns:a16="http://schemas.microsoft.com/office/drawing/2014/main" id="{8B4EF18F-4364-4D65-B544-29E60E2D7146}"/>
                </a:ext>
              </a:extLst>
            </p:cNvPr>
            <p:cNvSpPr/>
            <p:nvPr/>
          </p:nvSpPr>
          <p:spPr>
            <a:xfrm rot="16200000">
              <a:off x="2567961" y="2834196"/>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28" name="Left Bracket 227">
              <a:extLst>
                <a:ext uri="{FF2B5EF4-FFF2-40B4-BE49-F238E27FC236}">
                  <a16:creationId xmlns:a16="http://schemas.microsoft.com/office/drawing/2014/main" id="{406953E7-FDDD-454E-9661-BBBD9B13C77A}"/>
                </a:ext>
              </a:extLst>
            </p:cNvPr>
            <p:cNvSpPr/>
            <p:nvPr/>
          </p:nvSpPr>
          <p:spPr>
            <a:xfrm rot="16200000">
              <a:off x="3880262" y="2834197"/>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29" name="Left Bracket 228">
              <a:extLst>
                <a:ext uri="{FF2B5EF4-FFF2-40B4-BE49-F238E27FC236}">
                  <a16:creationId xmlns:a16="http://schemas.microsoft.com/office/drawing/2014/main" id="{6F8D6DE2-2A77-406C-91F1-5E6116B77FD5}"/>
                </a:ext>
              </a:extLst>
            </p:cNvPr>
            <p:cNvSpPr/>
            <p:nvPr/>
          </p:nvSpPr>
          <p:spPr>
            <a:xfrm rot="16200000">
              <a:off x="5191385" y="2834196"/>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30" name="Left Bracket 229">
              <a:extLst>
                <a:ext uri="{FF2B5EF4-FFF2-40B4-BE49-F238E27FC236}">
                  <a16:creationId xmlns:a16="http://schemas.microsoft.com/office/drawing/2014/main" id="{D05CA24C-6391-4EDB-B2CA-07FA06649066}"/>
                </a:ext>
              </a:extLst>
            </p:cNvPr>
            <p:cNvSpPr/>
            <p:nvPr/>
          </p:nvSpPr>
          <p:spPr>
            <a:xfrm rot="16200000">
              <a:off x="6503478" y="2834196"/>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31" name="Freeform 28">
              <a:extLst>
                <a:ext uri="{FF2B5EF4-FFF2-40B4-BE49-F238E27FC236}">
                  <a16:creationId xmlns:a16="http://schemas.microsoft.com/office/drawing/2014/main" id="{E4EECF81-237E-471C-8BD5-AB8378D5CC61}"/>
                </a:ext>
              </a:extLst>
            </p:cNvPr>
            <p:cNvSpPr/>
            <p:nvPr/>
          </p:nvSpPr>
          <p:spPr>
            <a:xfrm>
              <a:off x="3916838" y="3242869"/>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2" name="Freeform 28">
              <a:extLst>
                <a:ext uri="{FF2B5EF4-FFF2-40B4-BE49-F238E27FC236}">
                  <a16:creationId xmlns:a16="http://schemas.microsoft.com/office/drawing/2014/main" id="{3B465797-3324-420A-AC31-769E19E2AEFB}"/>
                </a:ext>
              </a:extLst>
            </p:cNvPr>
            <p:cNvSpPr/>
            <p:nvPr/>
          </p:nvSpPr>
          <p:spPr>
            <a:xfrm>
              <a:off x="5204128" y="3242869"/>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3" name="Freeform 28">
              <a:extLst>
                <a:ext uri="{FF2B5EF4-FFF2-40B4-BE49-F238E27FC236}">
                  <a16:creationId xmlns:a16="http://schemas.microsoft.com/office/drawing/2014/main" id="{645988E5-7FBB-4596-A0C2-F6B919F0A00D}"/>
                </a:ext>
              </a:extLst>
            </p:cNvPr>
            <p:cNvSpPr/>
            <p:nvPr/>
          </p:nvSpPr>
          <p:spPr>
            <a:xfrm>
              <a:off x="6517194" y="3242869"/>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34" name="Group 233">
            <a:extLst>
              <a:ext uri="{FF2B5EF4-FFF2-40B4-BE49-F238E27FC236}">
                <a16:creationId xmlns:a16="http://schemas.microsoft.com/office/drawing/2014/main" id="{C500B5D7-F5CC-4DBC-8272-08C05E53918C}"/>
              </a:ext>
            </a:extLst>
          </p:cNvPr>
          <p:cNvGrpSpPr/>
          <p:nvPr/>
        </p:nvGrpSpPr>
        <p:grpSpPr>
          <a:xfrm>
            <a:off x="3088078" y="3450224"/>
            <a:ext cx="4986433" cy="395805"/>
            <a:chOff x="1327599" y="1464569"/>
            <a:chExt cx="6719887" cy="533400"/>
          </a:xfrm>
          <a:solidFill>
            <a:schemeClr val="accent5">
              <a:lumMod val="20000"/>
              <a:lumOff val="80000"/>
            </a:schemeClr>
          </a:solidFill>
        </p:grpSpPr>
        <p:sp>
          <p:nvSpPr>
            <p:cNvPr id="235" name="Rectangle 234">
              <a:extLst>
                <a:ext uri="{FF2B5EF4-FFF2-40B4-BE49-F238E27FC236}">
                  <a16:creationId xmlns:a16="http://schemas.microsoft.com/office/drawing/2014/main" id="{6E12EAC2-4B2E-4801-ADA8-4A8EA071EB5E}"/>
                </a:ext>
              </a:extLst>
            </p:cNvPr>
            <p:cNvSpPr/>
            <p:nvPr/>
          </p:nvSpPr>
          <p:spPr>
            <a:xfrm>
              <a:off x="132759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2</a:t>
              </a:r>
            </a:p>
          </p:txBody>
        </p:sp>
        <p:sp>
          <p:nvSpPr>
            <p:cNvPr id="236" name="Rectangle 235">
              <a:extLst>
                <a:ext uri="{FF2B5EF4-FFF2-40B4-BE49-F238E27FC236}">
                  <a16:creationId xmlns:a16="http://schemas.microsoft.com/office/drawing/2014/main" id="{572248B1-6B29-415A-8AE6-D23A3C5C1901}"/>
                </a:ext>
              </a:extLst>
            </p:cNvPr>
            <p:cNvSpPr/>
            <p:nvPr/>
          </p:nvSpPr>
          <p:spPr>
            <a:xfrm>
              <a:off x="221138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4</a:t>
              </a:r>
            </a:p>
          </p:txBody>
        </p:sp>
        <p:sp>
          <p:nvSpPr>
            <p:cNvPr id="237" name="Rectangle 236">
              <a:extLst>
                <a:ext uri="{FF2B5EF4-FFF2-40B4-BE49-F238E27FC236}">
                  <a16:creationId xmlns:a16="http://schemas.microsoft.com/office/drawing/2014/main" id="{7EC7A2B4-8C68-4939-8098-F9464ACA0A3A}"/>
                </a:ext>
              </a:extLst>
            </p:cNvPr>
            <p:cNvSpPr/>
            <p:nvPr/>
          </p:nvSpPr>
          <p:spPr>
            <a:xfrm>
              <a:off x="3095167"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3</a:t>
              </a:r>
            </a:p>
          </p:txBody>
        </p:sp>
        <p:sp>
          <p:nvSpPr>
            <p:cNvPr id="238" name="Rectangle 237">
              <a:extLst>
                <a:ext uri="{FF2B5EF4-FFF2-40B4-BE49-F238E27FC236}">
                  <a16:creationId xmlns:a16="http://schemas.microsoft.com/office/drawing/2014/main" id="{7FB41EAB-F1F9-4C6E-AD5C-559811D6D950}"/>
                </a:ext>
              </a:extLst>
            </p:cNvPr>
            <p:cNvSpPr/>
            <p:nvPr/>
          </p:nvSpPr>
          <p:spPr>
            <a:xfrm>
              <a:off x="3978951"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7</a:t>
              </a:r>
            </a:p>
          </p:txBody>
        </p:sp>
        <p:sp>
          <p:nvSpPr>
            <p:cNvPr id="239" name="Rectangle 238">
              <a:extLst>
                <a:ext uri="{FF2B5EF4-FFF2-40B4-BE49-F238E27FC236}">
                  <a16:creationId xmlns:a16="http://schemas.microsoft.com/office/drawing/2014/main" id="{5B59F970-E65E-4A95-8726-A56EBD4D9070}"/>
                </a:ext>
              </a:extLst>
            </p:cNvPr>
            <p:cNvSpPr/>
            <p:nvPr/>
          </p:nvSpPr>
          <p:spPr>
            <a:xfrm>
              <a:off x="4862735"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5</a:t>
              </a:r>
            </a:p>
          </p:txBody>
        </p:sp>
        <p:sp>
          <p:nvSpPr>
            <p:cNvPr id="240" name="Rectangle 239">
              <a:extLst>
                <a:ext uri="{FF2B5EF4-FFF2-40B4-BE49-F238E27FC236}">
                  <a16:creationId xmlns:a16="http://schemas.microsoft.com/office/drawing/2014/main" id="{981F4F04-86D4-4DFE-990C-C92FA5B5F297}"/>
                </a:ext>
              </a:extLst>
            </p:cNvPr>
            <p:cNvSpPr/>
            <p:nvPr/>
          </p:nvSpPr>
          <p:spPr>
            <a:xfrm>
              <a:off x="574651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6</a:t>
              </a:r>
            </a:p>
          </p:txBody>
        </p:sp>
        <p:sp>
          <p:nvSpPr>
            <p:cNvPr id="241" name="Rectangle 240">
              <a:extLst>
                <a:ext uri="{FF2B5EF4-FFF2-40B4-BE49-F238E27FC236}">
                  <a16:creationId xmlns:a16="http://schemas.microsoft.com/office/drawing/2014/main" id="{389A53DF-622B-4253-A360-1812C14D5FCE}"/>
                </a:ext>
              </a:extLst>
            </p:cNvPr>
            <p:cNvSpPr/>
            <p:nvPr/>
          </p:nvSpPr>
          <p:spPr>
            <a:xfrm>
              <a:off x="663030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8</a:t>
              </a:r>
            </a:p>
          </p:txBody>
        </p:sp>
        <p:sp>
          <p:nvSpPr>
            <p:cNvPr id="242" name="Rectangle 241">
              <a:extLst>
                <a:ext uri="{FF2B5EF4-FFF2-40B4-BE49-F238E27FC236}">
                  <a16:creationId xmlns:a16="http://schemas.microsoft.com/office/drawing/2014/main" id="{CBF18BB7-1098-4BF2-BFA4-A4AA3DA659A1}"/>
                </a:ext>
              </a:extLst>
            </p:cNvPr>
            <p:cNvSpPr/>
            <p:nvPr/>
          </p:nvSpPr>
          <p:spPr>
            <a:xfrm>
              <a:off x="7514086"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9</a:t>
              </a:r>
            </a:p>
          </p:txBody>
        </p:sp>
      </p:grpSp>
      <p:grpSp>
        <p:nvGrpSpPr>
          <p:cNvPr id="301" name="Group 300">
            <a:extLst>
              <a:ext uri="{FF2B5EF4-FFF2-40B4-BE49-F238E27FC236}">
                <a16:creationId xmlns:a16="http://schemas.microsoft.com/office/drawing/2014/main" id="{1AD18CC0-1BB0-4807-BAE1-C3D92A6A650B}"/>
              </a:ext>
            </a:extLst>
          </p:cNvPr>
          <p:cNvGrpSpPr/>
          <p:nvPr/>
        </p:nvGrpSpPr>
        <p:grpSpPr>
          <a:xfrm>
            <a:off x="3941923" y="3922655"/>
            <a:ext cx="3278742" cy="391910"/>
            <a:chOff x="2932924" y="4130540"/>
            <a:chExt cx="3278742" cy="391910"/>
          </a:xfrm>
        </p:grpSpPr>
        <p:sp>
          <p:nvSpPr>
            <p:cNvPr id="244" name="Freeform 28">
              <a:extLst>
                <a:ext uri="{FF2B5EF4-FFF2-40B4-BE49-F238E27FC236}">
                  <a16:creationId xmlns:a16="http://schemas.microsoft.com/office/drawing/2014/main" id="{888972F7-078C-40B0-BFC5-D48E976DED2E}"/>
                </a:ext>
              </a:extLst>
            </p:cNvPr>
            <p:cNvSpPr/>
            <p:nvPr/>
          </p:nvSpPr>
          <p:spPr>
            <a:xfrm>
              <a:off x="3254487" y="4248130"/>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45" name="Left Bracket 244">
              <a:extLst>
                <a:ext uri="{FF2B5EF4-FFF2-40B4-BE49-F238E27FC236}">
                  <a16:creationId xmlns:a16="http://schemas.microsoft.com/office/drawing/2014/main" id="{04F4EF86-A316-493D-AA74-79EFC6E20B45}"/>
                </a:ext>
              </a:extLst>
            </p:cNvPr>
            <p:cNvSpPr/>
            <p:nvPr/>
          </p:nvSpPr>
          <p:spPr>
            <a:xfrm rot="16200000">
              <a:off x="3224007" y="3839457"/>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46" name="Left Bracket 245">
              <a:extLst>
                <a:ext uri="{FF2B5EF4-FFF2-40B4-BE49-F238E27FC236}">
                  <a16:creationId xmlns:a16="http://schemas.microsoft.com/office/drawing/2014/main" id="{49D23CAB-64FF-41D4-AABC-2CA31CFF9BED}"/>
                </a:ext>
              </a:extLst>
            </p:cNvPr>
            <p:cNvSpPr/>
            <p:nvPr/>
          </p:nvSpPr>
          <p:spPr>
            <a:xfrm rot="16200000">
              <a:off x="4536308" y="3839458"/>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47" name="Left Bracket 246">
              <a:extLst>
                <a:ext uri="{FF2B5EF4-FFF2-40B4-BE49-F238E27FC236}">
                  <a16:creationId xmlns:a16="http://schemas.microsoft.com/office/drawing/2014/main" id="{22F50A93-18DB-43A7-B7EA-36E5829C51BD}"/>
                </a:ext>
              </a:extLst>
            </p:cNvPr>
            <p:cNvSpPr/>
            <p:nvPr/>
          </p:nvSpPr>
          <p:spPr>
            <a:xfrm rot="16200000">
              <a:off x="5847431" y="3839457"/>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49" name="Freeform 28">
              <a:extLst>
                <a:ext uri="{FF2B5EF4-FFF2-40B4-BE49-F238E27FC236}">
                  <a16:creationId xmlns:a16="http://schemas.microsoft.com/office/drawing/2014/main" id="{50F2FA9D-86D8-4729-8F97-5A1CFCCC8704}"/>
                </a:ext>
              </a:extLst>
            </p:cNvPr>
            <p:cNvSpPr/>
            <p:nvPr/>
          </p:nvSpPr>
          <p:spPr>
            <a:xfrm>
              <a:off x="4572884" y="4248130"/>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50" name="Freeform 28">
              <a:extLst>
                <a:ext uri="{FF2B5EF4-FFF2-40B4-BE49-F238E27FC236}">
                  <a16:creationId xmlns:a16="http://schemas.microsoft.com/office/drawing/2014/main" id="{BF150E1B-CCE2-4BFF-93AA-F2E906A476A1}"/>
                </a:ext>
              </a:extLst>
            </p:cNvPr>
            <p:cNvSpPr/>
            <p:nvPr/>
          </p:nvSpPr>
          <p:spPr>
            <a:xfrm>
              <a:off x="5860174" y="4248130"/>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52" name="Group 251">
            <a:extLst>
              <a:ext uri="{FF2B5EF4-FFF2-40B4-BE49-F238E27FC236}">
                <a16:creationId xmlns:a16="http://schemas.microsoft.com/office/drawing/2014/main" id="{5DE1523A-4D70-4567-B510-8CE2F04A2CA4}"/>
              </a:ext>
            </a:extLst>
          </p:cNvPr>
          <p:cNvGrpSpPr/>
          <p:nvPr/>
        </p:nvGrpSpPr>
        <p:grpSpPr>
          <a:xfrm>
            <a:off x="3088078" y="4391191"/>
            <a:ext cx="4986433" cy="395805"/>
            <a:chOff x="1327599" y="1464569"/>
            <a:chExt cx="6719887" cy="533400"/>
          </a:xfrm>
          <a:solidFill>
            <a:schemeClr val="accent5">
              <a:lumMod val="20000"/>
              <a:lumOff val="80000"/>
            </a:schemeClr>
          </a:solidFill>
        </p:grpSpPr>
        <p:sp>
          <p:nvSpPr>
            <p:cNvPr id="253" name="Rectangle 252">
              <a:extLst>
                <a:ext uri="{FF2B5EF4-FFF2-40B4-BE49-F238E27FC236}">
                  <a16:creationId xmlns:a16="http://schemas.microsoft.com/office/drawing/2014/main" id="{647AA4D0-A323-4E9B-B2E3-E7AAC9F5CA4E}"/>
                </a:ext>
              </a:extLst>
            </p:cNvPr>
            <p:cNvSpPr/>
            <p:nvPr/>
          </p:nvSpPr>
          <p:spPr>
            <a:xfrm>
              <a:off x="132759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2</a:t>
              </a:r>
            </a:p>
          </p:txBody>
        </p:sp>
        <p:sp>
          <p:nvSpPr>
            <p:cNvPr id="254" name="Rectangle 253">
              <a:extLst>
                <a:ext uri="{FF2B5EF4-FFF2-40B4-BE49-F238E27FC236}">
                  <a16:creationId xmlns:a16="http://schemas.microsoft.com/office/drawing/2014/main" id="{393B0BA0-1DA2-468F-A535-1F17564FBD14}"/>
                </a:ext>
              </a:extLst>
            </p:cNvPr>
            <p:cNvSpPr/>
            <p:nvPr/>
          </p:nvSpPr>
          <p:spPr>
            <a:xfrm>
              <a:off x="221138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3</a:t>
              </a:r>
            </a:p>
          </p:txBody>
        </p:sp>
        <p:sp>
          <p:nvSpPr>
            <p:cNvPr id="255" name="Rectangle 254">
              <a:extLst>
                <a:ext uri="{FF2B5EF4-FFF2-40B4-BE49-F238E27FC236}">
                  <a16:creationId xmlns:a16="http://schemas.microsoft.com/office/drawing/2014/main" id="{871A4872-0D34-45B0-B87C-1F394CBC62FE}"/>
                </a:ext>
              </a:extLst>
            </p:cNvPr>
            <p:cNvSpPr/>
            <p:nvPr/>
          </p:nvSpPr>
          <p:spPr>
            <a:xfrm>
              <a:off x="3095167"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4</a:t>
              </a:r>
            </a:p>
          </p:txBody>
        </p:sp>
        <p:sp>
          <p:nvSpPr>
            <p:cNvPr id="256" name="Rectangle 255">
              <a:extLst>
                <a:ext uri="{FF2B5EF4-FFF2-40B4-BE49-F238E27FC236}">
                  <a16:creationId xmlns:a16="http://schemas.microsoft.com/office/drawing/2014/main" id="{F691F53B-11BB-459E-94D2-D2DF5F2749FE}"/>
                </a:ext>
              </a:extLst>
            </p:cNvPr>
            <p:cNvSpPr/>
            <p:nvPr/>
          </p:nvSpPr>
          <p:spPr>
            <a:xfrm>
              <a:off x="3978951"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5</a:t>
              </a:r>
            </a:p>
          </p:txBody>
        </p:sp>
        <p:sp>
          <p:nvSpPr>
            <p:cNvPr id="257" name="Rectangle 256">
              <a:extLst>
                <a:ext uri="{FF2B5EF4-FFF2-40B4-BE49-F238E27FC236}">
                  <a16:creationId xmlns:a16="http://schemas.microsoft.com/office/drawing/2014/main" id="{84C450E2-975D-45F2-BC91-1832BF261C13}"/>
                </a:ext>
              </a:extLst>
            </p:cNvPr>
            <p:cNvSpPr/>
            <p:nvPr/>
          </p:nvSpPr>
          <p:spPr>
            <a:xfrm>
              <a:off x="4862735"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7</a:t>
              </a:r>
            </a:p>
          </p:txBody>
        </p:sp>
        <p:sp>
          <p:nvSpPr>
            <p:cNvPr id="258" name="Rectangle 257">
              <a:extLst>
                <a:ext uri="{FF2B5EF4-FFF2-40B4-BE49-F238E27FC236}">
                  <a16:creationId xmlns:a16="http://schemas.microsoft.com/office/drawing/2014/main" id="{A56A7F78-3BE4-44EE-A4E4-258D7A187F4D}"/>
                </a:ext>
              </a:extLst>
            </p:cNvPr>
            <p:cNvSpPr/>
            <p:nvPr/>
          </p:nvSpPr>
          <p:spPr>
            <a:xfrm>
              <a:off x="574651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6</a:t>
              </a:r>
            </a:p>
          </p:txBody>
        </p:sp>
        <p:sp>
          <p:nvSpPr>
            <p:cNvPr id="259" name="Rectangle 258">
              <a:extLst>
                <a:ext uri="{FF2B5EF4-FFF2-40B4-BE49-F238E27FC236}">
                  <a16:creationId xmlns:a16="http://schemas.microsoft.com/office/drawing/2014/main" id="{7013CF52-A4A0-48B4-8151-AC701C08D47B}"/>
                </a:ext>
              </a:extLst>
            </p:cNvPr>
            <p:cNvSpPr/>
            <p:nvPr/>
          </p:nvSpPr>
          <p:spPr>
            <a:xfrm>
              <a:off x="663030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8</a:t>
              </a:r>
            </a:p>
          </p:txBody>
        </p:sp>
        <p:sp>
          <p:nvSpPr>
            <p:cNvPr id="260" name="Rectangle 259">
              <a:extLst>
                <a:ext uri="{FF2B5EF4-FFF2-40B4-BE49-F238E27FC236}">
                  <a16:creationId xmlns:a16="http://schemas.microsoft.com/office/drawing/2014/main" id="{1CAA050A-88EA-402B-B058-CBFBD0EB66E4}"/>
                </a:ext>
              </a:extLst>
            </p:cNvPr>
            <p:cNvSpPr/>
            <p:nvPr/>
          </p:nvSpPr>
          <p:spPr>
            <a:xfrm>
              <a:off x="7514086"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9</a:t>
              </a:r>
            </a:p>
          </p:txBody>
        </p:sp>
      </p:grpSp>
      <p:grpSp>
        <p:nvGrpSpPr>
          <p:cNvPr id="302" name="Group 301">
            <a:extLst>
              <a:ext uri="{FF2B5EF4-FFF2-40B4-BE49-F238E27FC236}">
                <a16:creationId xmlns:a16="http://schemas.microsoft.com/office/drawing/2014/main" id="{5EABD023-92AC-4B91-A685-918EFE588AC6}"/>
              </a:ext>
            </a:extLst>
          </p:cNvPr>
          <p:cNvGrpSpPr/>
          <p:nvPr/>
        </p:nvGrpSpPr>
        <p:grpSpPr>
          <a:xfrm>
            <a:off x="3285877" y="4863622"/>
            <a:ext cx="4590835" cy="391910"/>
            <a:chOff x="2276878" y="5135801"/>
            <a:chExt cx="4590835" cy="391910"/>
          </a:xfrm>
        </p:grpSpPr>
        <p:sp>
          <p:nvSpPr>
            <p:cNvPr id="262" name="Freeform 28">
              <a:extLst>
                <a:ext uri="{FF2B5EF4-FFF2-40B4-BE49-F238E27FC236}">
                  <a16:creationId xmlns:a16="http://schemas.microsoft.com/office/drawing/2014/main" id="{32BAEDB8-4357-4D04-AA0D-030F28A4E7D8}"/>
                </a:ext>
              </a:extLst>
            </p:cNvPr>
            <p:cNvSpPr/>
            <p:nvPr/>
          </p:nvSpPr>
          <p:spPr>
            <a:xfrm>
              <a:off x="2598441" y="5253391"/>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63" name="Left Bracket 262">
              <a:extLst>
                <a:ext uri="{FF2B5EF4-FFF2-40B4-BE49-F238E27FC236}">
                  <a16:creationId xmlns:a16="http://schemas.microsoft.com/office/drawing/2014/main" id="{40F7A0CE-7FD0-4E0B-816C-22F870BA1E96}"/>
                </a:ext>
              </a:extLst>
            </p:cNvPr>
            <p:cNvSpPr/>
            <p:nvPr/>
          </p:nvSpPr>
          <p:spPr>
            <a:xfrm rot="16200000">
              <a:off x="2567961" y="4844718"/>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64" name="Left Bracket 263">
              <a:extLst>
                <a:ext uri="{FF2B5EF4-FFF2-40B4-BE49-F238E27FC236}">
                  <a16:creationId xmlns:a16="http://schemas.microsoft.com/office/drawing/2014/main" id="{21CDFCDF-D89A-43B6-B519-94BB25ED8B07}"/>
                </a:ext>
              </a:extLst>
            </p:cNvPr>
            <p:cNvSpPr/>
            <p:nvPr/>
          </p:nvSpPr>
          <p:spPr>
            <a:xfrm rot="16200000">
              <a:off x="3880262" y="4844719"/>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65" name="Left Bracket 264">
              <a:extLst>
                <a:ext uri="{FF2B5EF4-FFF2-40B4-BE49-F238E27FC236}">
                  <a16:creationId xmlns:a16="http://schemas.microsoft.com/office/drawing/2014/main" id="{B33C421D-A689-425A-AE28-D3376BF177DB}"/>
                </a:ext>
              </a:extLst>
            </p:cNvPr>
            <p:cNvSpPr/>
            <p:nvPr/>
          </p:nvSpPr>
          <p:spPr>
            <a:xfrm rot="16200000">
              <a:off x="5191385" y="4844718"/>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66" name="Left Bracket 265">
              <a:extLst>
                <a:ext uri="{FF2B5EF4-FFF2-40B4-BE49-F238E27FC236}">
                  <a16:creationId xmlns:a16="http://schemas.microsoft.com/office/drawing/2014/main" id="{E22DBA93-6BC6-4887-A968-C5282FD3FA11}"/>
                </a:ext>
              </a:extLst>
            </p:cNvPr>
            <p:cNvSpPr/>
            <p:nvPr/>
          </p:nvSpPr>
          <p:spPr>
            <a:xfrm rot="16200000">
              <a:off x="6503478" y="4844718"/>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67" name="Freeform 28">
              <a:extLst>
                <a:ext uri="{FF2B5EF4-FFF2-40B4-BE49-F238E27FC236}">
                  <a16:creationId xmlns:a16="http://schemas.microsoft.com/office/drawing/2014/main" id="{B1CD671A-E6E5-4782-81A6-A518ADD3EE25}"/>
                </a:ext>
              </a:extLst>
            </p:cNvPr>
            <p:cNvSpPr/>
            <p:nvPr/>
          </p:nvSpPr>
          <p:spPr>
            <a:xfrm>
              <a:off x="3916838" y="5253391"/>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68" name="Freeform 28">
              <a:extLst>
                <a:ext uri="{FF2B5EF4-FFF2-40B4-BE49-F238E27FC236}">
                  <a16:creationId xmlns:a16="http://schemas.microsoft.com/office/drawing/2014/main" id="{C230DB54-9949-43A1-B583-5717BDD2AAA1}"/>
                </a:ext>
              </a:extLst>
            </p:cNvPr>
            <p:cNvSpPr/>
            <p:nvPr/>
          </p:nvSpPr>
          <p:spPr>
            <a:xfrm>
              <a:off x="5204128" y="5253391"/>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69" name="Freeform 28">
              <a:extLst>
                <a:ext uri="{FF2B5EF4-FFF2-40B4-BE49-F238E27FC236}">
                  <a16:creationId xmlns:a16="http://schemas.microsoft.com/office/drawing/2014/main" id="{CF50F8C8-7457-47E4-9BCA-681638451D72}"/>
                </a:ext>
              </a:extLst>
            </p:cNvPr>
            <p:cNvSpPr/>
            <p:nvPr/>
          </p:nvSpPr>
          <p:spPr>
            <a:xfrm>
              <a:off x="6517194" y="5253391"/>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70" name="Group 269">
            <a:extLst>
              <a:ext uri="{FF2B5EF4-FFF2-40B4-BE49-F238E27FC236}">
                <a16:creationId xmlns:a16="http://schemas.microsoft.com/office/drawing/2014/main" id="{A26C9497-DA5D-4F5D-A3E9-03E9CAE68259}"/>
              </a:ext>
            </a:extLst>
          </p:cNvPr>
          <p:cNvGrpSpPr/>
          <p:nvPr/>
        </p:nvGrpSpPr>
        <p:grpSpPr>
          <a:xfrm>
            <a:off x="3088078" y="5332158"/>
            <a:ext cx="4986433" cy="395805"/>
            <a:chOff x="1327599" y="1464569"/>
            <a:chExt cx="6719887" cy="533400"/>
          </a:xfrm>
          <a:solidFill>
            <a:schemeClr val="accent5">
              <a:lumMod val="20000"/>
              <a:lumOff val="80000"/>
            </a:schemeClr>
          </a:solidFill>
        </p:grpSpPr>
        <p:sp>
          <p:nvSpPr>
            <p:cNvPr id="271" name="Rectangle 270">
              <a:extLst>
                <a:ext uri="{FF2B5EF4-FFF2-40B4-BE49-F238E27FC236}">
                  <a16:creationId xmlns:a16="http://schemas.microsoft.com/office/drawing/2014/main" id="{3ABCB0B7-72D2-43DE-BEFE-9E91F17D4CDA}"/>
                </a:ext>
              </a:extLst>
            </p:cNvPr>
            <p:cNvSpPr/>
            <p:nvPr/>
          </p:nvSpPr>
          <p:spPr>
            <a:xfrm>
              <a:off x="132759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2</a:t>
              </a:r>
            </a:p>
          </p:txBody>
        </p:sp>
        <p:sp>
          <p:nvSpPr>
            <p:cNvPr id="272" name="Rectangle 271">
              <a:extLst>
                <a:ext uri="{FF2B5EF4-FFF2-40B4-BE49-F238E27FC236}">
                  <a16:creationId xmlns:a16="http://schemas.microsoft.com/office/drawing/2014/main" id="{F36AD853-0204-4C0B-854E-0F4EC38FAA5E}"/>
                </a:ext>
              </a:extLst>
            </p:cNvPr>
            <p:cNvSpPr/>
            <p:nvPr/>
          </p:nvSpPr>
          <p:spPr>
            <a:xfrm>
              <a:off x="221138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3</a:t>
              </a:r>
            </a:p>
          </p:txBody>
        </p:sp>
        <p:sp>
          <p:nvSpPr>
            <p:cNvPr id="273" name="Rectangle 272">
              <a:extLst>
                <a:ext uri="{FF2B5EF4-FFF2-40B4-BE49-F238E27FC236}">
                  <a16:creationId xmlns:a16="http://schemas.microsoft.com/office/drawing/2014/main" id="{C03B347B-AA0A-41A7-968C-D6204B6B860A}"/>
                </a:ext>
              </a:extLst>
            </p:cNvPr>
            <p:cNvSpPr/>
            <p:nvPr/>
          </p:nvSpPr>
          <p:spPr>
            <a:xfrm>
              <a:off x="3095167"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4</a:t>
              </a:r>
            </a:p>
          </p:txBody>
        </p:sp>
        <p:sp>
          <p:nvSpPr>
            <p:cNvPr id="274" name="Rectangle 273">
              <a:extLst>
                <a:ext uri="{FF2B5EF4-FFF2-40B4-BE49-F238E27FC236}">
                  <a16:creationId xmlns:a16="http://schemas.microsoft.com/office/drawing/2014/main" id="{7A11BBCE-00F1-4142-8615-21CED054B97F}"/>
                </a:ext>
              </a:extLst>
            </p:cNvPr>
            <p:cNvSpPr/>
            <p:nvPr/>
          </p:nvSpPr>
          <p:spPr>
            <a:xfrm>
              <a:off x="3978951"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5</a:t>
              </a:r>
            </a:p>
          </p:txBody>
        </p:sp>
        <p:sp>
          <p:nvSpPr>
            <p:cNvPr id="275" name="Rectangle 274">
              <a:extLst>
                <a:ext uri="{FF2B5EF4-FFF2-40B4-BE49-F238E27FC236}">
                  <a16:creationId xmlns:a16="http://schemas.microsoft.com/office/drawing/2014/main" id="{6F46AE57-F7C7-4309-9C2F-0AFDCF740A83}"/>
                </a:ext>
              </a:extLst>
            </p:cNvPr>
            <p:cNvSpPr/>
            <p:nvPr/>
          </p:nvSpPr>
          <p:spPr>
            <a:xfrm>
              <a:off x="4862735"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6</a:t>
              </a:r>
            </a:p>
          </p:txBody>
        </p:sp>
        <p:sp>
          <p:nvSpPr>
            <p:cNvPr id="276" name="Rectangle 275">
              <a:extLst>
                <a:ext uri="{FF2B5EF4-FFF2-40B4-BE49-F238E27FC236}">
                  <a16:creationId xmlns:a16="http://schemas.microsoft.com/office/drawing/2014/main" id="{5C856F17-3211-4C94-8D16-A7C28784B2B9}"/>
                </a:ext>
              </a:extLst>
            </p:cNvPr>
            <p:cNvSpPr/>
            <p:nvPr/>
          </p:nvSpPr>
          <p:spPr>
            <a:xfrm>
              <a:off x="574651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7</a:t>
              </a:r>
            </a:p>
          </p:txBody>
        </p:sp>
        <p:sp>
          <p:nvSpPr>
            <p:cNvPr id="277" name="Rectangle 276">
              <a:extLst>
                <a:ext uri="{FF2B5EF4-FFF2-40B4-BE49-F238E27FC236}">
                  <a16:creationId xmlns:a16="http://schemas.microsoft.com/office/drawing/2014/main" id="{EF06B9CA-1BCA-450A-828F-9B4904E9B40B}"/>
                </a:ext>
              </a:extLst>
            </p:cNvPr>
            <p:cNvSpPr/>
            <p:nvPr/>
          </p:nvSpPr>
          <p:spPr>
            <a:xfrm>
              <a:off x="663030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8</a:t>
              </a:r>
            </a:p>
          </p:txBody>
        </p:sp>
        <p:sp>
          <p:nvSpPr>
            <p:cNvPr id="278" name="Rectangle 277">
              <a:extLst>
                <a:ext uri="{FF2B5EF4-FFF2-40B4-BE49-F238E27FC236}">
                  <a16:creationId xmlns:a16="http://schemas.microsoft.com/office/drawing/2014/main" id="{C0C447CF-6951-4B69-8DC6-5281BF54F880}"/>
                </a:ext>
              </a:extLst>
            </p:cNvPr>
            <p:cNvSpPr/>
            <p:nvPr/>
          </p:nvSpPr>
          <p:spPr>
            <a:xfrm>
              <a:off x="7514086"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9</a:t>
              </a:r>
            </a:p>
          </p:txBody>
        </p:sp>
      </p:grpSp>
      <p:grpSp>
        <p:nvGrpSpPr>
          <p:cNvPr id="303" name="Group 302">
            <a:extLst>
              <a:ext uri="{FF2B5EF4-FFF2-40B4-BE49-F238E27FC236}">
                <a16:creationId xmlns:a16="http://schemas.microsoft.com/office/drawing/2014/main" id="{D5505348-C612-4644-9DAF-E66A63CD9986}"/>
              </a:ext>
            </a:extLst>
          </p:cNvPr>
          <p:cNvGrpSpPr/>
          <p:nvPr/>
        </p:nvGrpSpPr>
        <p:grpSpPr>
          <a:xfrm>
            <a:off x="3941923" y="5804589"/>
            <a:ext cx="3278742" cy="391910"/>
            <a:chOff x="2932924" y="6141062"/>
            <a:chExt cx="3278742" cy="391910"/>
          </a:xfrm>
        </p:grpSpPr>
        <p:sp>
          <p:nvSpPr>
            <p:cNvPr id="281" name="Freeform 28">
              <a:extLst>
                <a:ext uri="{FF2B5EF4-FFF2-40B4-BE49-F238E27FC236}">
                  <a16:creationId xmlns:a16="http://schemas.microsoft.com/office/drawing/2014/main" id="{1C049F41-1F9E-44DF-9CD0-865900EE3147}"/>
                </a:ext>
              </a:extLst>
            </p:cNvPr>
            <p:cNvSpPr/>
            <p:nvPr/>
          </p:nvSpPr>
          <p:spPr>
            <a:xfrm>
              <a:off x="3254487" y="6258652"/>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82" name="Left Bracket 281">
              <a:extLst>
                <a:ext uri="{FF2B5EF4-FFF2-40B4-BE49-F238E27FC236}">
                  <a16:creationId xmlns:a16="http://schemas.microsoft.com/office/drawing/2014/main" id="{921521AD-7DDB-46D7-B160-D6F3666092E9}"/>
                </a:ext>
              </a:extLst>
            </p:cNvPr>
            <p:cNvSpPr/>
            <p:nvPr/>
          </p:nvSpPr>
          <p:spPr>
            <a:xfrm rot="16200000">
              <a:off x="3224007" y="5849979"/>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83" name="Left Bracket 282">
              <a:extLst>
                <a:ext uri="{FF2B5EF4-FFF2-40B4-BE49-F238E27FC236}">
                  <a16:creationId xmlns:a16="http://schemas.microsoft.com/office/drawing/2014/main" id="{28453AE4-A130-40E3-B1C1-8A8BFE0B4282}"/>
                </a:ext>
              </a:extLst>
            </p:cNvPr>
            <p:cNvSpPr/>
            <p:nvPr/>
          </p:nvSpPr>
          <p:spPr>
            <a:xfrm rot="16200000">
              <a:off x="4536308" y="5849980"/>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84" name="Left Bracket 283">
              <a:extLst>
                <a:ext uri="{FF2B5EF4-FFF2-40B4-BE49-F238E27FC236}">
                  <a16:creationId xmlns:a16="http://schemas.microsoft.com/office/drawing/2014/main" id="{4FEA6318-334C-4CF2-992B-FFCB683C2345}"/>
                </a:ext>
              </a:extLst>
            </p:cNvPr>
            <p:cNvSpPr/>
            <p:nvPr/>
          </p:nvSpPr>
          <p:spPr>
            <a:xfrm rot="16200000">
              <a:off x="5847431" y="5849979"/>
              <a:ext cx="73152" cy="655318"/>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285" name="Freeform 28">
              <a:extLst>
                <a:ext uri="{FF2B5EF4-FFF2-40B4-BE49-F238E27FC236}">
                  <a16:creationId xmlns:a16="http://schemas.microsoft.com/office/drawing/2014/main" id="{9F120A78-C115-4113-99C8-4C43FB87ACC3}"/>
                </a:ext>
              </a:extLst>
            </p:cNvPr>
            <p:cNvSpPr/>
            <p:nvPr/>
          </p:nvSpPr>
          <p:spPr>
            <a:xfrm>
              <a:off x="4572884" y="6258652"/>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86" name="Freeform 28">
              <a:extLst>
                <a:ext uri="{FF2B5EF4-FFF2-40B4-BE49-F238E27FC236}">
                  <a16:creationId xmlns:a16="http://schemas.microsoft.com/office/drawing/2014/main" id="{24D1AFAF-F0C1-4C6B-939C-A37A8F4464F8}"/>
                </a:ext>
              </a:extLst>
            </p:cNvPr>
            <p:cNvSpPr/>
            <p:nvPr/>
          </p:nvSpPr>
          <p:spPr>
            <a:xfrm>
              <a:off x="5860174" y="6258652"/>
              <a:ext cx="45720"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19050">
              <a:headEnd type="none" w="med" len="med"/>
              <a:tailEnd type="triangle" w="med" len="sm"/>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87" name="Group 286">
            <a:extLst>
              <a:ext uri="{FF2B5EF4-FFF2-40B4-BE49-F238E27FC236}">
                <a16:creationId xmlns:a16="http://schemas.microsoft.com/office/drawing/2014/main" id="{1246F26D-F05E-4EF8-A747-7A9AF81F197E}"/>
              </a:ext>
            </a:extLst>
          </p:cNvPr>
          <p:cNvGrpSpPr/>
          <p:nvPr/>
        </p:nvGrpSpPr>
        <p:grpSpPr>
          <a:xfrm>
            <a:off x="3088078" y="6273124"/>
            <a:ext cx="4986433" cy="395805"/>
            <a:chOff x="1327599" y="1464569"/>
            <a:chExt cx="6719887" cy="533400"/>
          </a:xfrm>
          <a:solidFill>
            <a:schemeClr val="accent5">
              <a:lumMod val="20000"/>
              <a:lumOff val="80000"/>
            </a:schemeClr>
          </a:solidFill>
        </p:grpSpPr>
        <p:sp>
          <p:nvSpPr>
            <p:cNvPr id="288" name="Rectangle 287">
              <a:extLst>
                <a:ext uri="{FF2B5EF4-FFF2-40B4-BE49-F238E27FC236}">
                  <a16:creationId xmlns:a16="http://schemas.microsoft.com/office/drawing/2014/main" id="{FCBB3B42-3D36-4C5F-8525-3DD7F7374FCB}"/>
                </a:ext>
              </a:extLst>
            </p:cNvPr>
            <p:cNvSpPr/>
            <p:nvPr/>
          </p:nvSpPr>
          <p:spPr>
            <a:xfrm>
              <a:off x="132759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2</a:t>
              </a:r>
            </a:p>
          </p:txBody>
        </p:sp>
        <p:sp>
          <p:nvSpPr>
            <p:cNvPr id="289" name="Rectangle 288">
              <a:extLst>
                <a:ext uri="{FF2B5EF4-FFF2-40B4-BE49-F238E27FC236}">
                  <a16:creationId xmlns:a16="http://schemas.microsoft.com/office/drawing/2014/main" id="{D383952D-344F-4F32-8AEE-EEAE240ABA9B}"/>
                </a:ext>
              </a:extLst>
            </p:cNvPr>
            <p:cNvSpPr/>
            <p:nvPr/>
          </p:nvSpPr>
          <p:spPr>
            <a:xfrm>
              <a:off x="221138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3</a:t>
              </a:r>
            </a:p>
          </p:txBody>
        </p:sp>
        <p:sp>
          <p:nvSpPr>
            <p:cNvPr id="290" name="Rectangle 289">
              <a:extLst>
                <a:ext uri="{FF2B5EF4-FFF2-40B4-BE49-F238E27FC236}">
                  <a16:creationId xmlns:a16="http://schemas.microsoft.com/office/drawing/2014/main" id="{0F4EC5B8-7B5F-4D7E-B44D-6D2CDEE27B18}"/>
                </a:ext>
              </a:extLst>
            </p:cNvPr>
            <p:cNvSpPr/>
            <p:nvPr/>
          </p:nvSpPr>
          <p:spPr>
            <a:xfrm>
              <a:off x="3095167"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4</a:t>
              </a:r>
            </a:p>
          </p:txBody>
        </p:sp>
        <p:sp>
          <p:nvSpPr>
            <p:cNvPr id="291" name="Rectangle 290">
              <a:extLst>
                <a:ext uri="{FF2B5EF4-FFF2-40B4-BE49-F238E27FC236}">
                  <a16:creationId xmlns:a16="http://schemas.microsoft.com/office/drawing/2014/main" id="{64AE0560-608B-48E5-AC06-DAE7F9479146}"/>
                </a:ext>
              </a:extLst>
            </p:cNvPr>
            <p:cNvSpPr/>
            <p:nvPr/>
          </p:nvSpPr>
          <p:spPr>
            <a:xfrm>
              <a:off x="3978951"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5</a:t>
              </a:r>
            </a:p>
          </p:txBody>
        </p:sp>
        <p:sp>
          <p:nvSpPr>
            <p:cNvPr id="292" name="Rectangle 291">
              <a:extLst>
                <a:ext uri="{FF2B5EF4-FFF2-40B4-BE49-F238E27FC236}">
                  <a16:creationId xmlns:a16="http://schemas.microsoft.com/office/drawing/2014/main" id="{FBDD040F-F0EA-48D4-8421-5F61FE896E32}"/>
                </a:ext>
              </a:extLst>
            </p:cNvPr>
            <p:cNvSpPr/>
            <p:nvPr/>
          </p:nvSpPr>
          <p:spPr>
            <a:xfrm>
              <a:off x="4862735"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6</a:t>
              </a:r>
            </a:p>
          </p:txBody>
        </p:sp>
        <p:sp>
          <p:nvSpPr>
            <p:cNvPr id="293" name="Rectangle 292">
              <a:extLst>
                <a:ext uri="{FF2B5EF4-FFF2-40B4-BE49-F238E27FC236}">
                  <a16:creationId xmlns:a16="http://schemas.microsoft.com/office/drawing/2014/main" id="{28BF96CD-A7FB-4BC5-BB2C-A9039E9D9392}"/>
                </a:ext>
              </a:extLst>
            </p:cNvPr>
            <p:cNvSpPr/>
            <p:nvPr/>
          </p:nvSpPr>
          <p:spPr>
            <a:xfrm>
              <a:off x="5746519"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7</a:t>
              </a:r>
            </a:p>
          </p:txBody>
        </p:sp>
        <p:sp>
          <p:nvSpPr>
            <p:cNvPr id="294" name="Rectangle 293">
              <a:extLst>
                <a:ext uri="{FF2B5EF4-FFF2-40B4-BE49-F238E27FC236}">
                  <a16:creationId xmlns:a16="http://schemas.microsoft.com/office/drawing/2014/main" id="{7C2C2441-AE26-4259-B759-E20704A77B23}"/>
                </a:ext>
              </a:extLst>
            </p:cNvPr>
            <p:cNvSpPr/>
            <p:nvPr/>
          </p:nvSpPr>
          <p:spPr>
            <a:xfrm>
              <a:off x="6630303"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8</a:t>
              </a:r>
            </a:p>
          </p:txBody>
        </p:sp>
        <p:sp>
          <p:nvSpPr>
            <p:cNvPr id="295" name="Rectangle 294">
              <a:extLst>
                <a:ext uri="{FF2B5EF4-FFF2-40B4-BE49-F238E27FC236}">
                  <a16:creationId xmlns:a16="http://schemas.microsoft.com/office/drawing/2014/main" id="{48FBBF3E-4F2E-4857-9EBF-54C975B9BB48}"/>
                </a:ext>
              </a:extLst>
            </p:cNvPr>
            <p:cNvSpPr/>
            <p:nvPr/>
          </p:nvSpPr>
          <p:spPr>
            <a:xfrm>
              <a:off x="7514086" y="1464569"/>
              <a:ext cx="533400" cy="533400"/>
            </a:xfrm>
            <a:prstGeom prst="rect">
              <a:avLst/>
            </a:prstGeom>
            <a:grp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lIns="0" tIns="0" rIns="0" bIns="0" anchor="ctr"/>
            <a:lstStyle/>
            <a:p>
              <a:pPr algn="ctr">
                <a:defRPr/>
              </a:pPr>
              <a:r>
                <a:rPr lang="en-US" dirty="0">
                  <a:solidFill>
                    <a:schemeClr val="accent5">
                      <a:lumMod val="50000"/>
                    </a:schemeClr>
                  </a:solidFill>
                </a:rPr>
                <a:t>9</a:t>
              </a:r>
            </a:p>
          </p:txBody>
        </p:sp>
      </p:grpSp>
      <p:sp>
        <p:nvSpPr>
          <p:cNvPr id="304" name="TextBox 303">
            <a:extLst>
              <a:ext uri="{FF2B5EF4-FFF2-40B4-BE49-F238E27FC236}">
                <a16:creationId xmlns:a16="http://schemas.microsoft.com/office/drawing/2014/main" id="{EC8BD6C7-09DC-4E2C-B2E7-7BF1E75BBCCE}"/>
              </a:ext>
            </a:extLst>
          </p:cNvPr>
          <p:cNvSpPr txBox="1"/>
          <p:nvPr/>
        </p:nvSpPr>
        <p:spPr>
          <a:xfrm>
            <a:off x="943311" y="1111043"/>
            <a:ext cx="1741887" cy="369332"/>
          </a:xfrm>
          <a:prstGeom prst="rect">
            <a:avLst/>
          </a:prstGeom>
          <a:noFill/>
        </p:spPr>
        <p:txBody>
          <a:bodyPr wrap="none" rtlCol="0">
            <a:spAutoFit/>
          </a:bodyPr>
          <a:lstStyle/>
          <a:p>
            <a:pPr algn="ctr"/>
            <a:r>
              <a:rPr lang="en-US" dirty="0"/>
              <a:t>Order even pairs</a:t>
            </a:r>
          </a:p>
        </p:txBody>
      </p:sp>
      <p:sp>
        <p:nvSpPr>
          <p:cNvPr id="305" name="TextBox 304">
            <a:extLst>
              <a:ext uri="{FF2B5EF4-FFF2-40B4-BE49-F238E27FC236}">
                <a16:creationId xmlns:a16="http://schemas.microsoft.com/office/drawing/2014/main" id="{9AD86283-AD1E-4FDE-A431-5149594C2ADE}"/>
              </a:ext>
            </a:extLst>
          </p:cNvPr>
          <p:cNvSpPr txBox="1"/>
          <p:nvPr/>
        </p:nvSpPr>
        <p:spPr>
          <a:xfrm>
            <a:off x="987297" y="2052010"/>
            <a:ext cx="1653914" cy="369332"/>
          </a:xfrm>
          <a:prstGeom prst="rect">
            <a:avLst/>
          </a:prstGeom>
          <a:noFill/>
        </p:spPr>
        <p:txBody>
          <a:bodyPr wrap="none" rtlCol="0">
            <a:spAutoFit/>
          </a:bodyPr>
          <a:lstStyle/>
          <a:p>
            <a:pPr algn="ctr"/>
            <a:r>
              <a:rPr lang="en-US" dirty="0"/>
              <a:t>Order odd pairs</a:t>
            </a:r>
          </a:p>
        </p:txBody>
      </p:sp>
      <p:sp>
        <p:nvSpPr>
          <p:cNvPr id="306" name="TextBox 305">
            <a:extLst>
              <a:ext uri="{FF2B5EF4-FFF2-40B4-BE49-F238E27FC236}">
                <a16:creationId xmlns:a16="http://schemas.microsoft.com/office/drawing/2014/main" id="{1AA8CB8A-663A-4BA6-93DF-6942520F373A}"/>
              </a:ext>
            </a:extLst>
          </p:cNvPr>
          <p:cNvSpPr txBox="1"/>
          <p:nvPr/>
        </p:nvSpPr>
        <p:spPr>
          <a:xfrm>
            <a:off x="943311" y="2992977"/>
            <a:ext cx="1741887" cy="369332"/>
          </a:xfrm>
          <a:prstGeom prst="rect">
            <a:avLst/>
          </a:prstGeom>
          <a:noFill/>
        </p:spPr>
        <p:txBody>
          <a:bodyPr wrap="none" rtlCol="0">
            <a:spAutoFit/>
          </a:bodyPr>
          <a:lstStyle/>
          <a:p>
            <a:pPr algn="ctr"/>
            <a:r>
              <a:rPr lang="en-US" dirty="0"/>
              <a:t>Order even pairs</a:t>
            </a:r>
          </a:p>
        </p:txBody>
      </p:sp>
      <p:sp>
        <p:nvSpPr>
          <p:cNvPr id="307" name="TextBox 306">
            <a:extLst>
              <a:ext uri="{FF2B5EF4-FFF2-40B4-BE49-F238E27FC236}">
                <a16:creationId xmlns:a16="http://schemas.microsoft.com/office/drawing/2014/main" id="{9E4706C2-835C-480B-87B7-82AF8479682E}"/>
              </a:ext>
            </a:extLst>
          </p:cNvPr>
          <p:cNvSpPr txBox="1"/>
          <p:nvPr/>
        </p:nvSpPr>
        <p:spPr>
          <a:xfrm>
            <a:off x="987297" y="3933944"/>
            <a:ext cx="1653914" cy="369332"/>
          </a:xfrm>
          <a:prstGeom prst="rect">
            <a:avLst/>
          </a:prstGeom>
          <a:noFill/>
        </p:spPr>
        <p:txBody>
          <a:bodyPr wrap="none" rtlCol="0">
            <a:spAutoFit/>
          </a:bodyPr>
          <a:lstStyle/>
          <a:p>
            <a:pPr algn="ctr"/>
            <a:r>
              <a:rPr lang="en-US" dirty="0"/>
              <a:t>Order odd pairs</a:t>
            </a:r>
          </a:p>
        </p:txBody>
      </p:sp>
      <p:sp>
        <p:nvSpPr>
          <p:cNvPr id="308" name="TextBox 307">
            <a:extLst>
              <a:ext uri="{FF2B5EF4-FFF2-40B4-BE49-F238E27FC236}">
                <a16:creationId xmlns:a16="http://schemas.microsoft.com/office/drawing/2014/main" id="{81B7E479-B058-4E58-A41B-9628BB4290E1}"/>
              </a:ext>
            </a:extLst>
          </p:cNvPr>
          <p:cNvSpPr txBox="1"/>
          <p:nvPr/>
        </p:nvSpPr>
        <p:spPr>
          <a:xfrm>
            <a:off x="943311" y="4874911"/>
            <a:ext cx="1741887" cy="369332"/>
          </a:xfrm>
          <a:prstGeom prst="rect">
            <a:avLst/>
          </a:prstGeom>
          <a:noFill/>
        </p:spPr>
        <p:txBody>
          <a:bodyPr wrap="none" rtlCol="0">
            <a:spAutoFit/>
          </a:bodyPr>
          <a:lstStyle/>
          <a:p>
            <a:pPr algn="ctr"/>
            <a:r>
              <a:rPr lang="en-US" dirty="0"/>
              <a:t>Order even pairs</a:t>
            </a:r>
          </a:p>
        </p:txBody>
      </p:sp>
      <p:sp>
        <p:nvSpPr>
          <p:cNvPr id="309" name="TextBox 308">
            <a:extLst>
              <a:ext uri="{FF2B5EF4-FFF2-40B4-BE49-F238E27FC236}">
                <a16:creationId xmlns:a16="http://schemas.microsoft.com/office/drawing/2014/main" id="{DFFC42E4-DB4A-460A-AB14-149303C13575}"/>
              </a:ext>
            </a:extLst>
          </p:cNvPr>
          <p:cNvSpPr txBox="1"/>
          <p:nvPr/>
        </p:nvSpPr>
        <p:spPr>
          <a:xfrm>
            <a:off x="987297" y="5815877"/>
            <a:ext cx="1653914" cy="369332"/>
          </a:xfrm>
          <a:prstGeom prst="rect">
            <a:avLst/>
          </a:prstGeom>
          <a:noFill/>
        </p:spPr>
        <p:txBody>
          <a:bodyPr wrap="none" rtlCol="0">
            <a:spAutoFit/>
          </a:bodyPr>
          <a:lstStyle/>
          <a:p>
            <a:pPr algn="ctr"/>
            <a:r>
              <a:rPr lang="en-US" dirty="0"/>
              <a:t>Order odd pairs</a:t>
            </a:r>
          </a:p>
        </p:txBody>
      </p:sp>
    </p:spTree>
    <p:extLst>
      <p:ext uri="{BB962C8B-B14F-4D97-AF65-F5344CB8AC3E}">
        <p14:creationId xmlns:p14="http://schemas.microsoft.com/office/powerpoint/2010/main" val="3670052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4"/>
                                        </p:tgtEl>
                                        <p:attrNameLst>
                                          <p:attrName>style.visibility</p:attrName>
                                        </p:attrNameLst>
                                      </p:cBhvr>
                                      <p:to>
                                        <p:strVal val="visible"/>
                                      </p:to>
                                    </p:set>
                                    <p:animEffect transition="in" filter="fade">
                                      <p:cBhvr>
                                        <p:cTn id="12" dur="500"/>
                                        <p:tgtEl>
                                          <p:spTgt spid="304"/>
                                        </p:tgtEl>
                                      </p:cBhvr>
                                    </p:animEffect>
                                  </p:childTnLst>
                                </p:cTn>
                              </p:par>
                              <p:par>
                                <p:cTn id="13" presetID="10" presetClass="entr" presetSubtype="0" fill="hold" nodeType="withEffect">
                                  <p:stCondLst>
                                    <p:cond delay="0"/>
                                  </p:stCondLst>
                                  <p:childTnLst>
                                    <p:set>
                                      <p:cBhvr>
                                        <p:cTn id="14" dur="1" fill="hold">
                                          <p:stCondLst>
                                            <p:cond delay="0"/>
                                          </p:stCondLst>
                                        </p:cTn>
                                        <p:tgtEl>
                                          <p:spTgt spid="298"/>
                                        </p:tgtEl>
                                        <p:attrNameLst>
                                          <p:attrName>style.visibility</p:attrName>
                                        </p:attrNameLst>
                                      </p:cBhvr>
                                      <p:to>
                                        <p:strVal val="visible"/>
                                      </p:to>
                                    </p:set>
                                    <p:animEffect transition="in" filter="fade">
                                      <p:cBhvr>
                                        <p:cTn id="15" dur="500"/>
                                        <p:tgtEl>
                                          <p:spTgt spid="29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8"/>
                                        </p:tgtEl>
                                        <p:attrNameLst>
                                          <p:attrName>style.visibility</p:attrName>
                                        </p:attrNameLst>
                                      </p:cBhvr>
                                      <p:to>
                                        <p:strVal val="visible"/>
                                      </p:to>
                                    </p:set>
                                    <p:animEffect transition="in" filter="fade">
                                      <p:cBhvr>
                                        <p:cTn id="20" dur="500"/>
                                        <p:tgtEl>
                                          <p:spTgt spid="19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99"/>
                                        </p:tgtEl>
                                        <p:attrNameLst>
                                          <p:attrName>style.visibility</p:attrName>
                                        </p:attrNameLst>
                                      </p:cBhvr>
                                      <p:to>
                                        <p:strVal val="visible"/>
                                      </p:to>
                                    </p:set>
                                    <p:animEffect transition="in" filter="fade">
                                      <p:cBhvr>
                                        <p:cTn id="25" dur="500"/>
                                        <p:tgtEl>
                                          <p:spTgt spid="29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05"/>
                                        </p:tgtEl>
                                        <p:attrNameLst>
                                          <p:attrName>style.visibility</p:attrName>
                                        </p:attrNameLst>
                                      </p:cBhvr>
                                      <p:to>
                                        <p:strVal val="visible"/>
                                      </p:to>
                                    </p:set>
                                    <p:animEffect transition="in" filter="fade">
                                      <p:cBhvr>
                                        <p:cTn id="28" dur="500"/>
                                        <p:tgtEl>
                                          <p:spTgt spid="30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6"/>
                                        </p:tgtEl>
                                        <p:attrNameLst>
                                          <p:attrName>style.visibility</p:attrName>
                                        </p:attrNameLst>
                                      </p:cBhvr>
                                      <p:to>
                                        <p:strVal val="visible"/>
                                      </p:to>
                                    </p:set>
                                    <p:animEffect transition="in" filter="fade">
                                      <p:cBhvr>
                                        <p:cTn id="33" dur="500"/>
                                        <p:tgtEl>
                                          <p:spTgt spid="2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00"/>
                                        </p:tgtEl>
                                        <p:attrNameLst>
                                          <p:attrName>style.visibility</p:attrName>
                                        </p:attrNameLst>
                                      </p:cBhvr>
                                      <p:to>
                                        <p:strVal val="visible"/>
                                      </p:to>
                                    </p:set>
                                    <p:animEffect transition="in" filter="fade">
                                      <p:cBhvr>
                                        <p:cTn id="38" dur="500"/>
                                        <p:tgtEl>
                                          <p:spTgt spid="30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06"/>
                                        </p:tgtEl>
                                        <p:attrNameLst>
                                          <p:attrName>style.visibility</p:attrName>
                                        </p:attrNameLst>
                                      </p:cBhvr>
                                      <p:to>
                                        <p:strVal val="visible"/>
                                      </p:to>
                                    </p:set>
                                    <p:animEffect transition="in" filter="fade">
                                      <p:cBhvr>
                                        <p:cTn id="41" dur="500"/>
                                        <p:tgtEl>
                                          <p:spTgt spid="30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34"/>
                                        </p:tgtEl>
                                        <p:attrNameLst>
                                          <p:attrName>style.visibility</p:attrName>
                                        </p:attrNameLst>
                                      </p:cBhvr>
                                      <p:to>
                                        <p:strVal val="visible"/>
                                      </p:to>
                                    </p:set>
                                    <p:animEffect transition="in" filter="fade">
                                      <p:cBhvr>
                                        <p:cTn id="46" dur="500"/>
                                        <p:tgtEl>
                                          <p:spTgt spid="23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07"/>
                                        </p:tgtEl>
                                        <p:attrNameLst>
                                          <p:attrName>style.visibility</p:attrName>
                                        </p:attrNameLst>
                                      </p:cBhvr>
                                      <p:to>
                                        <p:strVal val="visible"/>
                                      </p:to>
                                    </p:set>
                                    <p:animEffect transition="in" filter="fade">
                                      <p:cBhvr>
                                        <p:cTn id="51" dur="500"/>
                                        <p:tgtEl>
                                          <p:spTgt spid="307"/>
                                        </p:tgtEl>
                                      </p:cBhvr>
                                    </p:animEffect>
                                  </p:childTnLst>
                                </p:cTn>
                              </p:par>
                              <p:par>
                                <p:cTn id="52" presetID="10" presetClass="entr" presetSubtype="0" fill="hold" nodeType="withEffect">
                                  <p:stCondLst>
                                    <p:cond delay="0"/>
                                  </p:stCondLst>
                                  <p:childTnLst>
                                    <p:set>
                                      <p:cBhvr>
                                        <p:cTn id="53" dur="1" fill="hold">
                                          <p:stCondLst>
                                            <p:cond delay="0"/>
                                          </p:stCondLst>
                                        </p:cTn>
                                        <p:tgtEl>
                                          <p:spTgt spid="301"/>
                                        </p:tgtEl>
                                        <p:attrNameLst>
                                          <p:attrName>style.visibility</p:attrName>
                                        </p:attrNameLst>
                                      </p:cBhvr>
                                      <p:to>
                                        <p:strVal val="visible"/>
                                      </p:to>
                                    </p:set>
                                    <p:animEffect transition="in" filter="fade">
                                      <p:cBhvr>
                                        <p:cTn id="54" dur="500"/>
                                        <p:tgtEl>
                                          <p:spTgt spid="30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52"/>
                                        </p:tgtEl>
                                        <p:attrNameLst>
                                          <p:attrName>style.visibility</p:attrName>
                                        </p:attrNameLst>
                                      </p:cBhvr>
                                      <p:to>
                                        <p:strVal val="visible"/>
                                      </p:to>
                                    </p:set>
                                    <p:animEffect transition="in" filter="fade">
                                      <p:cBhvr>
                                        <p:cTn id="59" dur="500"/>
                                        <p:tgtEl>
                                          <p:spTgt spid="25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02"/>
                                        </p:tgtEl>
                                        <p:attrNameLst>
                                          <p:attrName>style.visibility</p:attrName>
                                        </p:attrNameLst>
                                      </p:cBhvr>
                                      <p:to>
                                        <p:strVal val="visible"/>
                                      </p:to>
                                    </p:set>
                                    <p:animEffect transition="in" filter="fade">
                                      <p:cBhvr>
                                        <p:cTn id="64" dur="500"/>
                                        <p:tgtEl>
                                          <p:spTgt spid="30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8"/>
                                        </p:tgtEl>
                                        <p:attrNameLst>
                                          <p:attrName>style.visibility</p:attrName>
                                        </p:attrNameLst>
                                      </p:cBhvr>
                                      <p:to>
                                        <p:strVal val="visible"/>
                                      </p:to>
                                    </p:set>
                                    <p:animEffect transition="in" filter="fade">
                                      <p:cBhvr>
                                        <p:cTn id="67" dur="500"/>
                                        <p:tgtEl>
                                          <p:spTgt spid="30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70"/>
                                        </p:tgtEl>
                                        <p:attrNameLst>
                                          <p:attrName>style.visibility</p:attrName>
                                        </p:attrNameLst>
                                      </p:cBhvr>
                                      <p:to>
                                        <p:strVal val="visible"/>
                                      </p:to>
                                    </p:set>
                                    <p:animEffect transition="in" filter="fade">
                                      <p:cBhvr>
                                        <p:cTn id="72" dur="500"/>
                                        <p:tgtEl>
                                          <p:spTgt spid="27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03"/>
                                        </p:tgtEl>
                                        <p:attrNameLst>
                                          <p:attrName>style.visibility</p:attrName>
                                        </p:attrNameLst>
                                      </p:cBhvr>
                                      <p:to>
                                        <p:strVal val="visible"/>
                                      </p:to>
                                    </p:set>
                                    <p:animEffect transition="in" filter="fade">
                                      <p:cBhvr>
                                        <p:cTn id="77" dur="500"/>
                                        <p:tgtEl>
                                          <p:spTgt spid="30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9"/>
                                        </p:tgtEl>
                                        <p:attrNameLst>
                                          <p:attrName>style.visibility</p:attrName>
                                        </p:attrNameLst>
                                      </p:cBhvr>
                                      <p:to>
                                        <p:strVal val="visible"/>
                                      </p:to>
                                    </p:set>
                                    <p:animEffect transition="in" filter="fade">
                                      <p:cBhvr>
                                        <p:cTn id="80" dur="500"/>
                                        <p:tgtEl>
                                          <p:spTgt spid="309"/>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287"/>
                                        </p:tgtEl>
                                        <p:attrNameLst>
                                          <p:attrName>style.visibility</p:attrName>
                                        </p:attrNameLst>
                                      </p:cBhvr>
                                      <p:to>
                                        <p:strVal val="visible"/>
                                      </p:to>
                                    </p:set>
                                    <p:animEffect transition="in" filter="fade">
                                      <p:cBhvr>
                                        <p:cTn id="85" dur="500"/>
                                        <p:tgtEl>
                                          <p:spTgt spid="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 grpId="0"/>
      <p:bldP spid="305" grpId="0"/>
      <p:bldP spid="306" grpId="0"/>
      <p:bldP spid="307" grpId="0"/>
      <p:bldP spid="308" grpId="0"/>
      <p:bldP spid="30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a:xfrm>
            <a:off x="1018908" y="43891"/>
            <a:ext cx="7886700" cy="453544"/>
          </a:xfrm>
        </p:spPr>
        <p:txBody>
          <a:bodyPr/>
          <a:lstStyle/>
          <a:p>
            <a:r>
              <a:rPr lang="en-US" dirty="0"/>
              <a:t>Odd-Even Sort Code</a:t>
            </a:r>
          </a:p>
        </p:txBody>
      </p:sp>
      <p:sp>
        <p:nvSpPr>
          <p:cNvPr id="4" name="Rectangle 3">
            <a:extLst>
              <a:ext uri="{FF2B5EF4-FFF2-40B4-BE49-F238E27FC236}">
                <a16:creationId xmlns:a16="http://schemas.microsoft.com/office/drawing/2014/main" id="{504707C7-9628-410C-9843-FC06E2C4BDF4}"/>
              </a:ext>
            </a:extLst>
          </p:cNvPr>
          <p:cNvSpPr/>
          <p:nvPr/>
        </p:nvSpPr>
        <p:spPr>
          <a:xfrm>
            <a:off x="232541" y="750237"/>
            <a:ext cx="8678918" cy="2769989"/>
          </a:xfrm>
          <a:prstGeom prst="rect">
            <a:avLst/>
          </a:prstGeom>
        </p:spPr>
        <p:txBody>
          <a:bodyPr wrap="square">
            <a:spAutoFit/>
          </a:bodyPr>
          <a:lstStyle/>
          <a:p>
            <a:r>
              <a:rPr lang="en-US" dirty="0"/>
              <a:t>Kernel code:</a:t>
            </a:r>
          </a:p>
          <a:p>
            <a:endParaRPr lang="en-US" sz="1200" dirty="0">
              <a:solidFill>
                <a:srgbClr val="1CA800"/>
              </a:solidFill>
              <a:latin typeface="Lucida Console" panose="020B0609040504020204" pitchFamily="49" charset="0"/>
            </a:endParaRPr>
          </a:p>
          <a:p>
            <a:r>
              <a:rPr lang="en-US" sz="1200" dirty="0">
                <a:solidFill>
                  <a:srgbClr val="1CA800"/>
                </a:solidFill>
                <a:latin typeface="Lucida Console" panose="020B0609040504020204" pitchFamily="49" charset="0"/>
              </a:rPr>
              <a:t>__global__</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void</a:t>
            </a:r>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sort_kernel</a:t>
            </a:r>
            <a:r>
              <a:rPr lang="en-US" sz="1200" dirty="0">
                <a:solidFill>
                  <a:prstClr val="black"/>
                </a:solidFill>
                <a:latin typeface="Lucida Console" panose="020B0609040504020204" pitchFamily="49" charset="0"/>
              </a:rPr>
              <a:t>(</a:t>
            </a:r>
            <a:r>
              <a:rPr lang="en-US" sz="1200" dirty="0">
                <a:solidFill>
                  <a:srgbClr val="1CA800"/>
                </a:solidFill>
                <a:latin typeface="Lucida Console" panose="020B0609040504020204" pitchFamily="49" charset="0"/>
              </a:rPr>
              <a:t>unsigned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int</a:t>
            </a:r>
            <a:r>
              <a:rPr lang="en-US" sz="1200" dirty="0">
                <a:solidFill>
                  <a:prstClr val="black"/>
                </a:solidFill>
                <a:latin typeface="Lucida Console" panose="020B0609040504020204" pitchFamily="49" charset="0"/>
              </a:rPr>
              <a:t>* data, </a:t>
            </a:r>
            <a:r>
              <a:rPr lang="en-US" sz="1200" dirty="0">
                <a:solidFill>
                  <a:srgbClr val="1CA800"/>
                </a:solidFill>
                <a:latin typeface="Lucida Console" panose="020B0609040504020204" pitchFamily="49" charset="0"/>
              </a:rPr>
              <a:t>unsigned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int</a:t>
            </a:r>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hasChanged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unsigned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int</a:t>
            </a:r>
            <a:r>
              <a:rPr lang="en-US" sz="1200" dirty="0">
                <a:solidFill>
                  <a:prstClr val="black"/>
                </a:solidFill>
                <a:latin typeface="Lucida Console" panose="020B0609040504020204" pitchFamily="49" charset="0"/>
              </a:rPr>
              <a:t> N, </a:t>
            </a:r>
            <a:r>
              <a:rPr lang="en-US" sz="1200" dirty="0">
                <a:solidFill>
                  <a:srgbClr val="1CA800"/>
                </a:solidFill>
                <a:latin typeface="Lucida Console" panose="020B0609040504020204" pitchFamily="49" charset="0"/>
              </a:rPr>
              <a:t>unsigned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int</a:t>
            </a:r>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isOddStep</a:t>
            </a:r>
            <a:r>
              <a:rPr lang="en-US" sz="1200" dirty="0">
                <a:solidFill>
                  <a:prstClr val="black"/>
                </a:solidFill>
                <a:latin typeface="Lucida Console" panose="020B0609040504020204" pitchFamily="49" charset="0"/>
              </a:rPr>
              <a:t>) {</a:t>
            </a:r>
          </a:p>
          <a:p>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unsigned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int</a:t>
            </a:r>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i</a:t>
            </a:r>
            <a:r>
              <a:rPr lang="en-US" sz="1200" dirty="0">
                <a:solidFill>
                  <a:prstClr val="black"/>
                </a:solidFill>
                <a:latin typeface="Lucida Console" panose="020B0609040504020204" pitchFamily="49" charset="0"/>
              </a:rPr>
              <a:t> = </a:t>
            </a:r>
            <a:r>
              <a:rPr lang="en-US" sz="1200" dirty="0">
                <a:solidFill>
                  <a:srgbClr val="C0A000"/>
                </a:solidFill>
                <a:latin typeface="Lucida Console" panose="020B0609040504020204" pitchFamily="49" charset="0"/>
              </a:rPr>
              <a:t>2</a:t>
            </a:r>
            <a:r>
              <a:rPr lang="en-US" sz="1200" dirty="0">
                <a:solidFill>
                  <a:prstClr val="black"/>
                </a:solidFill>
                <a:latin typeface="Lucida Console" panose="020B0609040504020204" pitchFamily="49" charset="0"/>
              </a:rPr>
              <a:t>*(</a:t>
            </a:r>
            <a:r>
              <a:rPr lang="en-US" sz="1200" dirty="0" err="1">
                <a:solidFill>
                  <a:srgbClr val="00A89A"/>
                </a:solidFill>
                <a:latin typeface="Lucida Console" panose="020B0609040504020204" pitchFamily="49" charset="0"/>
              </a:rPr>
              <a:t>blockIdx</a:t>
            </a:r>
            <a:r>
              <a:rPr lang="en-US" sz="1200" dirty="0" err="1">
                <a:solidFill>
                  <a:prstClr val="black"/>
                </a:solidFill>
                <a:latin typeface="Lucida Console" panose="020B0609040504020204" pitchFamily="49" charset="0"/>
              </a:rPr>
              <a:t>.x</a:t>
            </a:r>
            <a:r>
              <a:rPr lang="en-US" sz="1200" dirty="0">
                <a:solidFill>
                  <a:prstClr val="black"/>
                </a:solidFill>
                <a:latin typeface="Lucida Console" panose="020B0609040504020204" pitchFamily="49" charset="0"/>
              </a:rPr>
              <a:t>*</a:t>
            </a:r>
            <a:r>
              <a:rPr lang="en-US" sz="1200" dirty="0" err="1">
                <a:solidFill>
                  <a:srgbClr val="00A89A"/>
                </a:solidFill>
                <a:latin typeface="Lucida Console" panose="020B0609040504020204" pitchFamily="49" charset="0"/>
              </a:rPr>
              <a:t>blockDim</a:t>
            </a:r>
            <a:r>
              <a:rPr lang="en-US" sz="1200" dirty="0" err="1">
                <a:solidFill>
                  <a:prstClr val="black"/>
                </a:solidFill>
                <a:latin typeface="Lucida Console" panose="020B0609040504020204" pitchFamily="49" charset="0"/>
              </a:rPr>
              <a:t>.x</a:t>
            </a:r>
            <a:r>
              <a:rPr lang="en-US" sz="1200" dirty="0">
                <a:solidFill>
                  <a:prstClr val="black"/>
                </a:solidFill>
                <a:latin typeface="Lucida Console" panose="020B0609040504020204" pitchFamily="49" charset="0"/>
              </a:rPr>
              <a:t> + </a:t>
            </a:r>
            <a:r>
              <a:rPr lang="en-US" sz="1200" dirty="0" err="1">
                <a:solidFill>
                  <a:srgbClr val="00A89A"/>
                </a:solidFill>
                <a:latin typeface="Lucida Console" panose="020B0609040504020204" pitchFamily="49" charset="0"/>
              </a:rPr>
              <a:t>threadIdx</a:t>
            </a:r>
            <a:r>
              <a:rPr lang="en-US" sz="1200" dirty="0" err="1">
                <a:solidFill>
                  <a:prstClr val="black"/>
                </a:solidFill>
                <a:latin typeface="Lucida Console" panose="020B0609040504020204" pitchFamily="49" charset="0"/>
              </a:rPr>
              <a:t>.x</a:t>
            </a:r>
            <a:r>
              <a:rPr lang="en-US" sz="1200" dirty="0">
                <a:solidFill>
                  <a:prstClr val="black"/>
                </a:solidFill>
                <a:latin typeface="Lucida Console" panose="020B0609040504020204" pitchFamily="49" charset="0"/>
              </a:rPr>
              <a:t>) + (</a:t>
            </a:r>
            <a:r>
              <a:rPr lang="en-US" sz="1200" dirty="0" err="1">
                <a:solidFill>
                  <a:prstClr val="black"/>
                </a:solidFill>
                <a:latin typeface="Lucida Console" panose="020B0609040504020204" pitchFamily="49" charset="0"/>
              </a:rPr>
              <a:t>isOddStep</a:t>
            </a:r>
            <a:r>
              <a:rPr lang="en-US" sz="1200" dirty="0">
                <a:solidFill>
                  <a:prstClr val="black"/>
                </a:solidFill>
                <a:latin typeface="Lucida Console" panose="020B0609040504020204" pitchFamily="49" charset="0"/>
              </a:rPr>
              <a:t> ? </a:t>
            </a:r>
            <a:r>
              <a:rPr lang="en-US" sz="1200" dirty="0">
                <a:solidFill>
                  <a:srgbClr val="C0A000"/>
                </a:solidFill>
                <a:latin typeface="Lucida Console" panose="020B0609040504020204" pitchFamily="49" charset="0"/>
              </a:rPr>
              <a:t>1</a:t>
            </a:r>
            <a:r>
              <a:rPr lang="en-US" sz="1200" dirty="0">
                <a:solidFill>
                  <a:prstClr val="black"/>
                </a:solidFill>
                <a:latin typeface="Lucida Console" panose="020B0609040504020204" pitchFamily="49" charset="0"/>
              </a:rPr>
              <a:t> : </a:t>
            </a:r>
            <a:r>
              <a:rPr lang="en-US" sz="1200" dirty="0">
                <a:solidFill>
                  <a:srgbClr val="C0A000"/>
                </a:solidFill>
                <a:latin typeface="Lucida Console" panose="020B0609040504020204" pitchFamily="49" charset="0"/>
              </a:rPr>
              <a:t>0</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a:t>
            </a:r>
            <a:r>
              <a:rPr lang="en-US" sz="1200" dirty="0">
                <a:solidFill>
                  <a:srgbClr val="C0A000"/>
                </a:solidFill>
                <a:latin typeface="Lucida Console" panose="020B0609040504020204" pitchFamily="49" charset="0"/>
              </a:rPr>
              <a:t>if</a:t>
            </a:r>
            <a:r>
              <a:rPr lang="en-US" sz="1200" dirty="0">
                <a:solidFill>
                  <a:prstClr val="black"/>
                </a:solidFill>
                <a:latin typeface="Lucida Console" panose="020B0609040504020204" pitchFamily="49" charset="0"/>
              </a:rPr>
              <a:t>(</a:t>
            </a:r>
            <a:r>
              <a:rPr lang="en-US" sz="1200" dirty="0" err="1">
                <a:solidFill>
                  <a:prstClr val="black"/>
                </a:solidFill>
                <a:latin typeface="Lucida Console" panose="020B0609040504020204" pitchFamily="49" charset="0"/>
              </a:rPr>
              <a:t>i</a:t>
            </a:r>
            <a:r>
              <a:rPr lang="en-US" sz="1200" dirty="0">
                <a:solidFill>
                  <a:prstClr val="black"/>
                </a:solidFill>
                <a:latin typeface="Lucida Console" panose="020B0609040504020204" pitchFamily="49" charset="0"/>
              </a:rPr>
              <a:t> &lt; N - </a:t>
            </a:r>
            <a:r>
              <a:rPr lang="en-US" sz="1200" dirty="0">
                <a:solidFill>
                  <a:srgbClr val="C0A000"/>
                </a:solidFill>
                <a:latin typeface="Lucida Console" panose="020B0609040504020204" pitchFamily="49" charset="0"/>
              </a:rPr>
              <a:t>1</a:t>
            </a:r>
            <a:r>
              <a:rPr lang="en-US" sz="1200" dirty="0">
                <a:solidFill>
                  <a:prstClr val="black"/>
                </a:solidFill>
                <a:latin typeface="Lucida Console" panose="020B0609040504020204" pitchFamily="49" charset="0"/>
              </a:rPr>
              <a:t>) {</a:t>
            </a:r>
          </a:p>
          <a:p>
            <a:r>
              <a:rPr lang="en-US" sz="1200" dirty="0">
                <a:solidFill>
                  <a:prstClr val="black"/>
                </a:solidFill>
                <a:latin typeface="Lucida Console" panose="020B0609040504020204" pitchFamily="49" charset="0"/>
              </a:rPr>
              <a:t>        </a:t>
            </a:r>
            <a:r>
              <a:rPr lang="en-US" sz="1200" dirty="0">
                <a:solidFill>
                  <a:srgbClr val="C0A000"/>
                </a:solidFill>
                <a:latin typeface="Lucida Console" panose="020B0609040504020204" pitchFamily="49" charset="0"/>
              </a:rPr>
              <a:t>if</a:t>
            </a:r>
            <a:r>
              <a:rPr lang="en-US" sz="1200" dirty="0">
                <a:solidFill>
                  <a:prstClr val="black"/>
                </a:solidFill>
                <a:latin typeface="Lucida Console" panose="020B0609040504020204" pitchFamily="49" charset="0"/>
              </a:rPr>
              <a:t>(data[</a:t>
            </a:r>
            <a:r>
              <a:rPr lang="en-US" sz="1200" dirty="0" err="1">
                <a:solidFill>
                  <a:prstClr val="black"/>
                </a:solidFill>
                <a:latin typeface="Lucida Console" panose="020B0609040504020204" pitchFamily="49" charset="0"/>
              </a:rPr>
              <a:t>i</a:t>
            </a:r>
            <a:r>
              <a:rPr lang="en-US" sz="1200" dirty="0">
                <a:solidFill>
                  <a:prstClr val="black"/>
                </a:solidFill>
                <a:latin typeface="Lucida Console" panose="020B0609040504020204" pitchFamily="49" charset="0"/>
              </a:rPr>
              <a:t>] &gt; data[</a:t>
            </a:r>
            <a:r>
              <a:rPr lang="en-US" sz="1200" dirty="0" err="1">
                <a:solidFill>
                  <a:prstClr val="black"/>
                </a:solidFill>
                <a:latin typeface="Lucida Console" panose="020B0609040504020204" pitchFamily="49" charset="0"/>
              </a:rPr>
              <a:t>i</a:t>
            </a:r>
            <a:r>
              <a:rPr lang="en-US" sz="1200" dirty="0">
                <a:solidFill>
                  <a:prstClr val="black"/>
                </a:solidFill>
                <a:latin typeface="Lucida Console" panose="020B0609040504020204" pitchFamily="49" charset="0"/>
              </a:rPr>
              <a:t> + </a:t>
            </a:r>
            <a:r>
              <a:rPr lang="en-US" sz="1200" dirty="0">
                <a:solidFill>
                  <a:srgbClr val="C0A000"/>
                </a:solidFill>
                <a:latin typeface="Lucida Console" panose="020B0609040504020204" pitchFamily="49" charset="0"/>
              </a:rPr>
              <a:t>1</a:t>
            </a:r>
            <a:r>
              <a:rPr lang="en-US" sz="1200" dirty="0">
                <a:solidFill>
                  <a:prstClr val="black"/>
                </a:solidFill>
                <a:latin typeface="Lucida Console" panose="020B0609040504020204" pitchFamily="49" charset="0"/>
              </a:rPr>
              <a:t>]) {</a:t>
            </a:r>
          </a:p>
          <a:p>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unsigned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int</a:t>
            </a:r>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tmp</a:t>
            </a:r>
            <a:r>
              <a:rPr lang="en-US" sz="1200" dirty="0">
                <a:solidFill>
                  <a:prstClr val="black"/>
                </a:solidFill>
                <a:latin typeface="Lucida Console" panose="020B0609040504020204" pitchFamily="49" charset="0"/>
              </a:rPr>
              <a:t> = data[</a:t>
            </a:r>
            <a:r>
              <a:rPr lang="en-US" sz="1200" dirty="0" err="1">
                <a:solidFill>
                  <a:prstClr val="black"/>
                </a:solidFill>
                <a:latin typeface="Lucida Console" panose="020B0609040504020204" pitchFamily="49" charset="0"/>
              </a:rPr>
              <a:t>i</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data[</a:t>
            </a:r>
            <a:r>
              <a:rPr lang="en-US" sz="1200" dirty="0" err="1">
                <a:solidFill>
                  <a:prstClr val="black"/>
                </a:solidFill>
                <a:latin typeface="Lucida Console" panose="020B0609040504020204" pitchFamily="49" charset="0"/>
              </a:rPr>
              <a:t>i</a:t>
            </a:r>
            <a:r>
              <a:rPr lang="en-US" sz="1200" dirty="0">
                <a:solidFill>
                  <a:prstClr val="black"/>
                </a:solidFill>
                <a:latin typeface="Lucida Console" panose="020B0609040504020204" pitchFamily="49" charset="0"/>
              </a:rPr>
              <a:t>] = data[</a:t>
            </a:r>
            <a:r>
              <a:rPr lang="en-US" sz="1200" dirty="0" err="1">
                <a:solidFill>
                  <a:prstClr val="black"/>
                </a:solidFill>
                <a:latin typeface="Lucida Console" panose="020B0609040504020204" pitchFamily="49" charset="0"/>
              </a:rPr>
              <a:t>i</a:t>
            </a:r>
            <a:r>
              <a:rPr lang="en-US" sz="1200" dirty="0">
                <a:solidFill>
                  <a:prstClr val="black"/>
                </a:solidFill>
                <a:latin typeface="Lucida Console" panose="020B0609040504020204" pitchFamily="49" charset="0"/>
              </a:rPr>
              <a:t> + </a:t>
            </a:r>
            <a:r>
              <a:rPr lang="en-US" sz="1200" dirty="0">
                <a:solidFill>
                  <a:srgbClr val="C0A000"/>
                </a:solidFill>
                <a:latin typeface="Lucida Console" panose="020B0609040504020204" pitchFamily="49" charset="0"/>
              </a:rPr>
              <a:t>1</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data[</a:t>
            </a:r>
            <a:r>
              <a:rPr lang="en-US" sz="1200" dirty="0" err="1">
                <a:solidFill>
                  <a:prstClr val="black"/>
                </a:solidFill>
                <a:latin typeface="Lucida Console" panose="020B0609040504020204" pitchFamily="49" charset="0"/>
              </a:rPr>
              <a:t>i</a:t>
            </a:r>
            <a:r>
              <a:rPr lang="en-US" sz="1200" dirty="0">
                <a:solidFill>
                  <a:prstClr val="black"/>
                </a:solidFill>
                <a:latin typeface="Lucida Console" panose="020B0609040504020204" pitchFamily="49" charset="0"/>
              </a:rPr>
              <a:t> + </a:t>
            </a:r>
            <a:r>
              <a:rPr lang="en-US" sz="1200" dirty="0">
                <a:solidFill>
                  <a:srgbClr val="C0A000"/>
                </a:solidFill>
                <a:latin typeface="Lucida Console" panose="020B0609040504020204" pitchFamily="49" charset="0"/>
              </a:rPr>
              <a:t>1</a:t>
            </a:r>
            <a:r>
              <a:rPr lang="en-US" sz="1200" dirty="0">
                <a:solidFill>
                  <a:prstClr val="black"/>
                </a:solidFill>
                <a:latin typeface="Lucida Console" panose="020B0609040504020204" pitchFamily="49" charset="0"/>
              </a:rPr>
              <a:t>] = </a:t>
            </a:r>
            <a:r>
              <a:rPr lang="en-US" sz="1200" dirty="0" err="1">
                <a:solidFill>
                  <a:prstClr val="black"/>
                </a:solidFill>
                <a:latin typeface="Lucida Console" panose="020B0609040504020204" pitchFamily="49" charset="0"/>
              </a:rPr>
              <a:t>tmp</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hasChanged</a:t>
            </a:r>
            <a:r>
              <a:rPr lang="en-US" sz="1200" dirty="0">
                <a:solidFill>
                  <a:prstClr val="black"/>
                </a:solidFill>
                <a:latin typeface="Lucida Console" panose="020B0609040504020204" pitchFamily="49" charset="0"/>
              </a:rPr>
              <a:t> = </a:t>
            </a:r>
            <a:r>
              <a:rPr lang="en-US" sz="1200" dirty="0">
                <a:solidFill>
                  <a:srgbClr val="C0A000"/>
                </a:solidFill>
                <a:latin typeface="Lucida Console" panose="020B0609040504020204" pitchFamily="49" charset="0"/>
              </a:rPr>
              <a:t>1</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a:t>
            </a:r>
          </a:p>
          <a:p>
            <a:r>
              <a:rPr lang="en-US" sz="1200" dirty="0">
                <a:solidFill>
                  <a:prstClr val="black"/>
                </a:solidFill>
                <a:latin typeface="Lucida Console" panose="020B0609040504020204" pitchFamily="49" charset="0"/>
              </a:rPr>
              <a:t>    }</a:t>
            </a:r>
          </a:p>
          <a:p>
            <a:r>
              <a:rPr lang="en-US" sz="1200" dirty="0">
                <a:solidFill>
                  <a:prstClr val="black"/>
                </a:solidFill>
                <a:latin typeface="Lucida Console" panose="020B0609040504020204" pitchFamily="49" charset="0"/>
              </a:rPr>
              <a:t>}</a:t>
            </a:r>
          </a:p>
        </p:txBody>
      </p:sp>
      <p:sp>
        <p:nvSpPr>
          <p:cNvPr id="6" name="Rectangle 5">
            <a:extLst>
              <a:ext uri="{FF2B5EF4-FFF2-40B4-BE49-F238E27FC236}">
                <a16:creationId xmlns:a16="http://schemas.microsoft.com/office/drawing/2014/main" id="{9FB84E5B-D979-4403-B18A-02F8821C031A}"/>
              </a:ext>
            </a:extLst>
          </p:cNvPr>
          <p:cNvSpPr/>
          <p:nvPr/>
        </p:nvSpPr>
        <p:spPr>
          <a:xfrm>
            <a:off x="232541" y="3838363"/>
            <a:ext cx="8678918" cy="2400657"/>
          </a:xfrm>
          <a:prstGeom prst="rect">
            <a:avLst/>
          </a:prstGeom>
        </p:spPr>
        <p:txBody>
          <a:bodyPr wrap="square">
            <a:spAutoFit/>
          </a:bodyPr>
          <a:lstStyle/>
          <a:p>
            <a:r>
              <a:rPr lang="en-US" dirty="0"/>
              <a:t>Host code:</a:t>
            </a:r>
          </a:p>
          <a:p>
            <a:endParaRPr lang="en-US" sz="1200" dirty="0">
              <a:solidFill>
                <a:prstClr val="black"/>
              </a:solidFill>
              <a:latin typeface="Lucida Console" panose="020B0609040504020204" pitchFamily="49" charset="0"/>
            </a:endParaRPr>
          </a:p>
          <a:p>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unsigned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int</a:t>
            </a:r>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hasChanged_d</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cudaMalloc</a:t>
            </a:r>
            <a:r>
              <a:rPr lang="en-US" sz="1200" dirty="0">
                <a:solidFill>
                  <a:prstClr val="black"/>
                </a:solidFill>
                <a:latin typeface="Lucida Console" panose="020B0609040504020204" pitchFamily="49" charset="0"/>
              </a:rPr>
              <a:t>((</a:t>
            </a:r>
            <a:r>
              <a:rPr lang="en-US" sz="1200" dirty="0">
                <a:solidFill>
                  <a:srgbClr val="1CA800"/>
                </a:solidFill>
                <a:latin typeface="Lucida Console" panose="020B0609040504020204" pitchFamily="49" charset="0"/>
              </a:rPr>
              <a:t>void</a:t>
            </a:r>
            <a:r>
              <a:rPr lang="en-US" sz="1200" dirty="0">
                <a:solidFill>
                  <a:prstClr val="black"/>
                </a:solidFill>
                <a:latin typeface="Lucida Console" panose="020B0609040504020204" pitchFamily="49" charset="0"/>
              </a:rPr>
              <a:t>**) &amp;</a:t>
            </a:r>
            <a:r>
              <a:rPr lang="en-US" sz="1200" dirty="0" err="1">
                <a:solidFill>
                  <a:prstClr val="black"/>
                </a:solidFill>
                <a:latin typeface="Lucida Console" panose="020B0609040504020204" pitchFamily="49" charset="0"/>
              </a:rPr>
              <a:t>hasChanged_d</a:t>
            </a:r>
            <a:r>
              <a:rPr lang="en-US" sz="1200" dirty="0">
                <a:solidFill>
                  <a:prstClr val="black"/>
                </a:solidFill>
                <a:latin typeface="Lucida Console" panose="020B0609040504020204" pitchFamily="49" charset="0"/>
              </a:rPr>
              <a:t>, </a:t>
            </a:r>
            <a:r>
              <a:rPr lang="en-US" sz="1200" dirty="0" err="1">
                <a:solidFill>
                  <a:srgbClr val="C0A000"/>
                </a:solidFill>
                <a:latin typeface="Lucida Console" panose="020B0609040504020204" pitchFamily="49" charset="0"/>
              </a:rPr>
              <a:t>sizeof</a:t>
            </a:r>
            <a:r>
              <a:rPr lang="en-US" sz="1200" dirty="0">
                <a:solidFill>
                  <a:prstClr val="black"/>
                </a:solidFill>
                <a:latin typeface="Lucida Console" panose="020B0609040504020204" pitchFamily="49" charset="0"/>
              </a:rPr>
              <a:t>(</a:t>
            </a:r>
            <a:r>
              <a:rPr lang="en-US" sz="1200" dirty="0">
                <a:solidFill>
                  <a:srgbClr val="1CA800"/>
                </a:solidFill>
                <a:latin typeface="Lucida Console" panose="020B0609040504020204" pitchFamily="49" charset="0"/>
              </a:rPr>
              <a:t>unsigned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int</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unsigned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int</a:t>
            </a:r>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hasChanged</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a:t>
            </a:r>
            <a:r>
              <a:rPr lang="en-US" sz="1200" dirty="0">
                <a:solidFill>
                  <a:srgbClr val="C0A000"/>
                </a:solidFill>
                <a:latin typeface="Lucida Console" panose="020B0609040504020204" pitchFamily="49" charset="0"/>
              </a:rPr>
              <a:t>do</a:t>
            </a:r>
            <a:r>
              <a:rPr lang="en-US" sz="1200" dirty="0">
                <a:solidFill>
                  <a:prstClr val="black"/>
                </a:solidFill>
                <a:latin typeface="Lucida Console" panose="020B0609040504020204" pitchFamily="49" charset="0"/>
              </a:rPr>
              <a:t> {</a:t>
            </a:r>
          </a:p>
          <a:p>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cudaMemset</a:t>
            </a:r>
            <a:r>
              <a:rPr lang="en-US" sz="1200" dirty="0">
                <a:solidFill>
                  <a:prstClr val="black"/>
                </a:solidFill>
                <a:latin typeface="Lucida Console" panose="020B0609040504020204" pitchFamily="49" charset="0"/>
              </a:rPr>
              <a:t>(</a:t>
            </a:r>
            <a:r>
              <a:rPr lang="en-US" sz="1200" dirty="0" err="1">
                <a:solidFill>
                  <a:prstClr val="black"/>
                </a:solidFill>
                <a:latin typeface="Lucida Console" panose="020B0609040504020204" pitchFamily="49" charset="0"/>
              </a:rPr>
              <a:t>hasChanged_d</a:t>
            </a:r>
            <a:r>
              <a:rPr lang="en-US" sz="1200" dirty="0">
                <a:solidFill>
                  <a:prstClr val="black"/>
                </a:solidFill>
                <a:latin typeface="Lucida Console" panose="020B0609040504020204" pitchFamily="49" charset="0"/>
              </a:rPr>
              <a:t>, </a:t>
            </a:r>
            <a:r>
              <a:rPr lang="en-US" sz="1200" dirty="0">
                <a:solidFill>
                  <a:srgbClr val="C0A000"/>
                </a:solidFill>
                <a:latin typeface="Lucida Console" panose="020B0609040504020204" pitchFamily="49" charset="0"/>
              </a:rPr>
              <a:t>0</a:t>
            </a:r>
            <a:r>
              <a:rPr lang="en-US" sz="1200" dirty="0">
                <a:solidFill>
                  <a:prstClr val="black"/>
                </a:solidFill>
                <a:latin typeface="Lucida Console" panose="020B0609040504020204" pitchFamily="49" charset="0"/>
              </a:rPr>
              <a:t>, </a:t>
            </a:r>
            <a:r>
              <a:rPr lang="en-US" sz="1200" dirty="0" err="1">
                <a:solidFill>
                  <a:srgbClr val="C0A000"/>
                </a:solidFill>
                <a:latin typeface="Lucida Console" panose="020B0609040504020204" pitchFamily="49" charset="0"/>
              </a:rPr>
              <a:t>sizeof</a:t>
            </a:r>
            <a:r>
              <a:rPr lang="en-US" sz="1200" dirty="0">
                <a:solidFill>
                  <a:prstClr val="black"/>
                </a:solidFill>
                <a:latin typeface="Lucida Console" panose="020B0609040504020204" pitchFamily="49" charset="0"/>
              </a:rPr>
              <a:t>(</a:t>
            </a:r>
            <a:r>
              <a:rPr lang="en-US" sz="1200" dirty="0">
                <a:solidFill>
                  <a:srgbClr val="1CA800"/>
                </a:solidFill>
                <a:latin typeface="Lucida Console" panose="020B0609040504020204" pitchFamily="49" charset="0"/>
              </a:rPr>
              <a:t>unsigned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int</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sort_kernel</a:t>
            </a:r>
            <a:r>
              <a:rPr lang="en-US" sz="1200" dirty="0">
                <a:solidFill>
                  <a:prstClr val="black"/>
                </a:solidFill>
                <a:latin typeface="Lucida Console" panose="020B0609040504020204" pitchFamily="49" charset="0"/>
              </a:rPr>
              <a:t> &lt;&lt;&lt; (N + </a:t>
            </a:r>
            <a:r>
              <a:rPr lang="en-US" sz="1200" dirty="0">
                <a:solidFill>
                  <a:srgbClr val="C0A000"/>
                </a:solidFill>
                <a:latin typeface="Lucida Console" panose="020B0609040504020204" pitchFamily="49" charset="0"/>
              </a:rPr>
              <a:t>2048</a:t>
            </a:r>
            <a:r>
              <a:rPr lang="en-US" sz="1200" dirty="0">
                <a:solidFill>
                  <a:prstClr val="black"/>
                </a:solidFill>
                <a:latin typeface="Lucida Console" panose="020B0609040504020204" pitchFamily="49" charset="0"/>
              </a:rPr>
              <a:t> - 1)/</a:t>
            </a:r>
            <a:r>
              <a:rPr lang="en-US" sz="1200" dirty="0">
                <a:solidFill>
                  <a:srgbClr val="C0A000"/>
                </a:solidFill>
                <a:latin typeface="Lucida Console" panose="020B0609040504020204" pitchFamily="49" charset="0"/>
              </a:rPr>
              <a:t>2048</a:t>
            </a:r>
            <a:r>
              <a:rPr lang="en-US" sz="1200" dirty="0">
                <a:solidFill>
                  <a:prstClr val="black"/>
                </a:solidFill>
                <a:latin typeface="Lucida Console" panose="020B0609040504020204" pitchFamily="49" charset="0"/>
              </a:rPr>
              <a:t> + 1, </a:t>
            </a:r>
            <a:r>
              <a:rPr lang="en-US" sz="1200" dirty="0">
                <a:solidFill>
                  <a:srgbClr val="C0A000"/>
                </a:solidFill>
                <a:latin typeface="Lucida Console" panose="020B0609040504020204" pitchFamily="49" charset="0"/>
              </a:rPr>
              <a:t>1024</a:t>
            </a:r>
            <a:r>
              <a:rPr lang="en-US" sz="1200" dirty="0">
                <a:solidFill>
                  <a:prstClr val="black"/>
                </a:solidFill>
                <a:latin typeface="Lucida Console" panose="020B0609040504020204" pitchFamily="49" charset="0"/>
              </a:rPr>
              <a:t> &gt;&gt;&gt; (</a:t>
            </a:r>
            <a:r>
              <a:rPr lang="en-US" sz="1200" dirty="0" err="1">
                <a:solidFill>
                  <a:prstClr val="black"/>
                </a:solidFill>
                <a:latin typeface="Lucida Console" panose="020B0609040504020204" pitchFamily="49" charset="0"/>
              </a:rPr>
              <a:t>data_d</a:t>
            </a:r>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hasChanged_d</a:t>
            </a:r>
            <a:r>
              <a:rPr lang="en-US" sz="1200" dirty="0">
                <a:solidFill>
                  <a:prstClr val="black"/>
                </a:solidFill>
                <a:latin typeface="Lucida Console" panose="020B0609040504020204" pitchFamily="49" charset="0"/>
              </a:rPr>
              <a:t>, N, </a:t>
            </a:r>
            <a:r>
              <a:rPr lang="en-US" sz="1200" dirty="0">
                <a:solidFill>
                  <a:srgbClr val="C0A000"/>
                </a:solidFill>
                <a:latin typeface="Lucida Console" panose="020B0609040504020204" pitchFamily="49" charset="0"/>
              </a:rPr>
              <a:t>0</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sort_kernel</a:t>
            </a:r>
            <a:r>
              <a:rPr lang="en-US" sz="1200" dirty="0">
                <a:solidFill>
                  <a:prstClr val="black"/>
                </a:solidFill>
                <a:latin typeface="Lucida Console" panose="020B0609040504020204" pitchFamily="49" charset="0"/>
              </a:rPr>
              <a:t> &lt;&lt;&lt; (N + </a:t>
            </a:r>
            <a:r>
              <a:rPr lang="en-US" sz="1200" dirty="0">
                <a:solidFill>
                  <a:srgbClr val="C0A000"/>
                </a:solidFill>
                <a:latin typeface="Lucida Console" panose="020B0609040504020204" pitchFamily="49" charset="0"/>
              </a:rPr>
              <a:t>2048</a:t>
            </a:r>
            <a:r>
              <a:rPr lang="en-US" sz="1200" dirty="0">
                <a:solidFill>
                  <a:prstClr val="black"/>
                </a:solidFill>
                <a:latin typeface="Lucida Console" panose="020B0609040504020204" pitchFamily="49" charset="0"/>
              </a:rPr>
              <a:t> - 1)/</a:t>
            </a:r>
            <a:r>
              <a:rPr lang="en-US" sz="1200" dirty="0">
                <a:solidFill>
                  <a:srgbClr val="C0A000"/>
                </a:solidFill>
                <a:latin typeface="Lucida Console" panose="020B0609040504020204" pitchFamily="49" charset="0"/>
              </a:rPr>
              <a:t>2048</a:t>
            </a:r>
            <a:r>
              <a:rPr lang="en-US" sz="1200" dirty="0">
                <a:solidFill>
                  <a:prstClr val="black"/>
                </a:solidFill>
                <a:latin typeface="Lucida Console" panose="020B0609040504020204" pitchFamily="49" charset="0"/>
              </a:rPr>
              <a:t> + 1, </a:t>
            </a:r>
            <a:r>
              <a:rPr lang="en-US" sz="1200" dirty="0">
                <a:solidFill>
                  <a:srgbClr val="C0A000"/>
                </a:solidFill>
                <a:latin typeface="Lucida Console" panose="020B0609040504020204" pitchFamily="49" charset="0"/>
              </a:rPr>
              <a:t>1024</a:t>
            </a:r>
            <a:r>
              <a:rPr lang="en-US" sz="1200" dirty="0">
                <a:solidFill>
                  <a:prstClr val="black"/>
                </a:solidFill>
                <a:latin typeface="Lucida Console" panose="020B0609040504020204" pitchFamily="49" charset="0"/>
              </a:rPr>
              <a:t> &gt;&gt;&gt; (</a:t>
            </a:r>
            <a:r>
              <a:rPr lang="en-US" sz="1200" dirty="0" err="1">
                <a:solidFill>
                  <a:prstClr val="black"/>
                </a:solidFill>
                <a:latin typeface="Lucida Console" panose="020B0609040504020204" pitchFamily="49" charset="0"/>
              </a:rPr>
              <a:t>data_d</a:t>
            </a:r>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hasChanged_d</a:t>
            </a:r>
            <a:r>
              <a:rPr lang="en-US" sz="1200" dirty="0">
                <a:solidFill>
                  <a:prstClr val="black"/>
                </a:solidFill>
                <a:latin typeface="Lucida Console" panose="020B0609040504020204" pitchFamily="49" charset="0"/>
              </a:rPr>
              <a:t>, N, </a:t>
            </a:r>
            <a:r>
              <a:rPr lang="en-US" sz="1200" dirty="0">
                <a:solidFill>
                  <a:srgbClr val="C0A000"/>
                </a:solidFill>
                <a:latin typeface="Lucida Console" panose="020B0609040504020204" pitchFamily="49" charset="0"/>
              </a:rPr>
              <a:t>1</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cudaMemcpy</a:t>
            </a:r>
            <a:r>
              <a:rPr lang="en-US" sz="1200" dirty="0">
                <a:solidFill>
                  <a:prstClr val="black"/>
                </a:solidFill>
                <a:latin typeface="Lucida Console" panose="020B0609040504020204" pitchFamily="49" charset="0"/>
              </a:rPr>
              <a:t>(&amp;</a:t>
            </a:r>
            <a:r>
              <a:rPr lang="en-US" sz="1200" dirty="0" err="1">
                <a:solidFill>
                  <a:prstClr val="black"/>
                </a:solidFill>
                <a:latin typeface="Lucida Console" panose="020B0609040504020204" pitchFamily="49" charset="0"/>
              </a:rPr>
              <a:t>hasChanged</a:t>
            </a:r>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hasChanged_d</a:t>
            </a:r>
            <a:r>
              <a:rPr lang="en-US" sz="1200" dirty="0">
                <a:solidFill>
                  <a:prstClr val="black"/>
                </a:solidFill>
                <a:latin typeface="Lucida Console" panose="020B0609040504020204" pitchFamily="49" charset="0"/>
              </a:rPr>
              <a:t>, </a:t>
            </a:r>
            <a:r>
              <a:rPr lang="en-US" sz="1200" dirty="0" err="1">
                <a:solidFill>
                  <a:srgbClr val="C0A000"/>
                </a:solidFill>
                <a:latin typeface="Lucida Console" panose="020B0609040504020204" pitchFamily="49" charset="0"/>
              </a:rPr>
              <a:t>sizeof</a:t>
            </a:r>
            <a:r>
              <a:rPr lang="en-US" sz="1200" dirty="0">
                <a:solidFill>
                  <a:prstClr val="black"/>
                </a:solidFill>
                <a:latin typeface="Lucida Console" panose="020B0609040504020204" pitchFamily="49" charset="0"/>
              </a:rPr>
              <a:t>(</a:t>
            </a:r>
            <a:r>
              <a:rPr lang="en-US" sz="1200" dirty="0">
                <a:solidFill>
                  <a:srgbClr val="1CA800"/>
                </a:solidFill>
                <a:latin typeface="Lucida Console" panose="020B0609040504020204" pitchFamily="49" charset="0"/>
              </a:rPr>
              <a:t>unsigned</a:t>
            </a:r>
            <a:r>
              <a:rPr lang="en-US" sz="1200" dirty="0">
                <a:solidFill>
                  <a:prstClr val="black"/>
                </a:solidFill>
                <a:latin typeface="Lucida Console" panose="020B0609040504020204" pitchFamily="49" charset="0"/>
              </a:rPr>
              <a:t> </a:t>
            </a:r>
            <a:r>
              <a:rPr lang="en-US" sz="1200" dirty="0">
                <a:solidFill>
                  <a:srgbClr val="1CA800"/>
                </a:solidFill>
                <a:latin typeface="Lucida Console" panose="020B0609040504020204" pitchFamily="49" charset="0"/>
              </a:rPr>
              <a:t>int</a:t>
            </a:r>
            <a:r>
              <a:rPr lang="en-US" sz="1200" dirty="0">
                <a:solidFill>
                  <a:prstClr val="black"/>
                </a:solidFill>
                <a:latin typeface="Lucida Console" panose="020B0609040504020204" pitchFamily="49" charset="0"/>
              </a:rPr>
              <a:t>), </a:t>
            </a:r>
            <a:r>
              <a:rPr lang="en-US" sz="1200" dirty="0" err="1">
                <a:solidFill>
                  <a:srgbClr val="C0A000"/>
                </a:solidFill>
                <a:latin typeface="Lucida Console" panose="020B0609040504020204" pitchFamily="49" charset="0"/>
              </a:rPr>
              <a:t>cudaMemcpyDeviceToHost</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 </a:t>
            </a:r>
            <a:r>
              <a:rPr lang="en-US" sz="1200" dirty="0">
                <a:solidFill>
                  <a:srgbClr val="C0A000"/>
                </a:solidFill>
                <a:latin typeface="Lucida Console" panose="020B0609040504020204" pitchFamily="49" charset="0"/>
              </a:rPr>
              <a:t>while</a:t>
            </a:r>
            <a:r>
              <a:rPr lang="en-US" sz="1200" dirty="0">
                <a:solidFill>
                  <a:prstClr val="black"/>
                </a:solidFill>
                <a:latin typeface="Lucida Console" panose="020B0609040504020204" pitchFamily="49" charset="0"/>
              </a:rPr>
              <a:t>(</a:t>
            </a:r>
            <a:r>
              <a:rPr lang="en-US" sz="1200" dirty="0" err="1">
                <a:solidFill>
                  <a:prstClr val="black"/>
                </a:solidFill>
                <a:latin typeface="Lucida Console" panose="020B0609040504020204" pitchFamily="49" charset="0"/>
              </a:rPr>
              <a:t>hasChanged</a:t>
            </a:r>
            <a:r>
              <a:rPr lang="en-US" sz="1200" dirty="0">
                <a:solidFill>
                  <a:prstClr val="black"/>
                </a:solidFill>
                <a:latin typeface="Lucida Console" panose="020B0609040504020204" pitchFamily="49" charset="0"/>
              </a:rPr>
              <a:t>);</a:t>
            </a:r>
          </a:p>
          <a:p>
            <a:r>
              <a:rPr lang="en-US" sz="1200" dirty="0">
                <a:solidFill>
                  <a:prstClr val="black"/>
                </a:solidFill>
                <a:latin typeface="Lucida Console" panose="020B0609040504020204" pitchFamily="49" charset="0"/>
              </a:rPr>
              <a:t>    </a:t>
            </a:r>
            <a:r>
              <a:rPr lang="en-US" sz="1200" dirty="0" err="1">
                <a:solidFill>
                  <a:prstClr val="black"/>
                </a:solidFill>
                <a:latin typeface="Lucida Console" panose="020B0609040504020204" pitchFamily="49" charset="0"/>
              </a:rPr>
              <a:t>cudaFree</a:t>
            </a:r>
            <a:r>
              <a:rPr lang="en-US" sz="1200" dirty="0">
                <a:solidFill>
                  <a:prstClr val="black"/>
                </a:solidFill>
                <a:latin typeface="Lucida Console" panose="020B0609040504020204" pitchFamily="49" charset="0"/>
              </a:rPr>
              <a:t>(</a:t>
            </a:r>
            <a:r>
              <a:rPr lang="en-US" sz="1200" dirty="0" err="1">
                <a:solidFill>
                  <a:prstClr val="black"/>
                </a:solidFill>
                <a:latin typeface="Lucida Console" panose="020B0609040504020204" pitchFamily="49" charset="0"/>
              </a:rPr>
              <a:t>hasChanged_d</a:t>
            </a:r>
            <a:r>
              <a:rPr lang="en-US" sz="1200" dirty="0">
                <a:solidFill>
                  <a:prstClr val="black"/>
                </a:solidFill>
                <a:latin typeface="Lucida Console" panose="020B0609040504020204" pitchFamily="49" charset="0"/>
              </a:rPr>
              <a:t>);</a:t>
            </a:r>
            <a:endParaRPr lang="en-US" sz="1200" dirty="0"/>
          </a:p>
        </p:txBody>
      </p:sp>
    </p:spTree>
    <p:extLst>
      <p:ext uri="{BB962C8B-B14F-4D97-AF65-F5344CB8AC3E}">
        <p14:creationId xmlns:p14="http://schemas.microsoft.com/office/powerpoint/2010/main" val="3731977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Odd-Even Sort Complexity</a:t>
            </a:r>
          </a:p>
        </p:txBody>
      </p:sp>
      <mc:AlternateContent xmlns:mc="http://schemas.openxmlformats.org/markup-compatibility/2006" xmlns:a14="http://schemas.microsoft.com/office/drawing/2010/main">
        <mc:Choice Requires="a14">
          <p:sp>
            <p:nvSpPr>
              <p:cNvPr id="4" name="Content Placeholder 3"/>
              <p:cNvSpPr>
                <a:spLocks noGrp="1"/>
              </p:cNvSpPr>
              <p:nvPr>
                <p:ph sz="half" idx="1"/>
              </p:nvPr>
            </p:nvSpPr>
            <p:spPr/>
            <p:txBody>
              <a:bodyPr/>
              <a:lstStyle/>
              <a:p>
                <a:r>
                  <a:rPr lang="en-US" dirty="0"/>
                  <a:t>Odd-even sort has a complexity of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𝑛</m:t>
                        </m:r>
                      </m:e>
                      <m:sup>
                        <m:r>
                          <a:rPr lang="en-US" b="0" i="1" dirty="0" smtClean="0">
                            <a:latin typeface="Cambria Math" panose="02040503050406030204" pitchFamily="18" charset="0"/>
                          </a:rPr>
                          <m:t>2</m:t>
                        </m:r>
                      </m:sup>
                    </m:sSup>
                    <m:r>
                      <a:rPr lang="en-US" i="1" dirty="0" smtClean="0">
                        <a:latin typeface="Cambria Math" panose="02040503050406030204" pitchFamily="18" charset="0"/>
                      </a:rPr>
                      <m:t>)</m:t>
                    </m:r>
                  </m:oMath>
                </a14:m>
                <a:endParaRPr lang="en-US" b="1" dirty="0">
                  <a:solidFill>
                    <a:schemeClr val="accent5"/>
                  </a:solidFill>
                </a:endParaRPr>
              </a:p>
              <a:p>
                <a:pPr lvl="1"/>
                <a:r>
                  <a:rPr lang="en-US" dirty="0"/>
                  <a:t>Similar to bubble sort</a:t>
                </a:r>
              </a:p>
              <a:p>
                <a:endParaRPr lang="en-US" dirty="0"/>
              </a:p>
              <a:p>
                <a:r>
                  <a:rPr lang="en-US" dirty="0"/>
                  <a:t>Better complexity can be achieved by merge sort</a:t>
                </a:r>
              </a:p>
            </p:txBody>
          </p:sp>
        </mc:Choice>
        <mc:Fallback xmlns="">
          <p:sp>
            <p:nvSpPr>
              <p:cNvPr id="4" name="Content Placeholder 3"/>
              <p:cNvSpPr>
                <a:spLocks noGrp="1" noRot="1" noChangeAspect="1" noMove="1" noResize="1" noEditPoints="1" noAdjustHandles="1" noChangeArrowheads="1" noChangeShapeType="1" noTextEdit="1"/>
              </p:cNvSpPr>
              <p:nvPr>
                <p:ph sz="half" idx="1"/>
              </p:nvPr>
            </p:nvSpPr>
            <p:spPr>
              <a:blipFill>
                <a:blip r:embed="rId2"/>
                <a:stretch>
                  <a:fillRect l="-648" t="-1091"/>
                </a:stretch>
              </a:blipFill>
            </p:spPr>
            <p:txBody>
              <a:bodyPr/>
              <a:lstStyle/>
              <a:p>
                <a:r>
                  <a:rPr lang="en-US">
                    <a:noFill/>
                  </a:rPr>
                  <a:t> </a:t>
                </a:r>
              </a:p>
            </p:txBody>
          </p:sp>
        </mc:Fallback>
      </mc:AlternateContent>
    </p:spTree>
    <p:extLst>
      <p:ext uri="{BB962C8B-B14F-4D97-AF65-F5344CB8AC3E}">
        <p14:creationId xmlns:p14="http://schemas.microsoft.com/office/powerpoint/2010/main" val="3865902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idx="10"/>
          </p:nvPr>
        </p:nvSpPr>
        <p:spPr/>
        <p:txBody>
          <a:bodyPr/>
          <a:lstStyle/>
          <a:p>
            <a:r>
              <a:rPr lang="en-US" dirty="0"/>
              <a:t>Merge Sort</a:t>
            </a:r>
          </a:p>
        </p:txBody>
      </p:sp>
      <p:sp>
        <p:nvSpPr>
          <p:cNvPr id="2" name="Content Placeholder 1">
            <a:extLst>
              <a:ext uri="{FF2B5EF4-FFF2-40B4-BE49-F238E27FC236}">
                <a16:creationId xmlns:a16="http://schemas.microsoft.com/office/drawing/2014/main" id="{8B5B300F-3C4D-42A8-A7F2-CE25AEA6B77F}"/>
              </a:ext>
            </a:extLst>
          </p:cNvPr>
          <p:cNvSpPr>
            <a:spLocks noGrp="1"/>
          </p:cNvSpPr>
          <p:nvPr>
            <p:ph sz="half" idx="1"/>
          </p:nvPr>
        </p:nvSpPr>
        <p:spPr/>
        <p:txBody>
          <a:bodyPr/>
          <a:lstStyle/>
          <a:p>
            <a:pPr>
              <a:buClr>
                <a:schemeClr val="tx1"/>
              </a:buClr>
            </a:pPr>
            <a:r>
              <a:rPr lang="en-US" b="1" dirty="0">
                <a:solidFill>
                  <a:schemeClr val="accent5"/>
                </a:solidFill>
              </a:rPr>
              <a:t>Merge sort</a:t>
            </a:r>
            <a:r>
              <a:rPr lang="en-US" dirty="0"/>
              <a:t> divides a list into sub-lists, sorts them, and then repeatedly performs an ordered merge on pairs of sorted sub-lists to get the final list</a:t>
            </a:r>
          </a:p>
        </p:txBody>
      </p:sp>
      <p:grpSp>
        <p:nvGrpSpPr>
          <p:cNvPr id="75" name="Group 74"/>
          <p:cNvGrpSpPr/>
          <p:nvPr/>
        </p:nvGrpSpPr>
        <p:grpSpPr>
          <a:xfrm>
            <a:off x="1583147" y="1801503"/>
            <a:ext cx="6400798" cy="346841"/>
            <a:chOff x="1583147" y="2254306"/>
            <a:chExt cx="6400798" cy="346841"/>
          </a:xfrm>
        </p:grpSpPr>
        <p:sp>
          <p:nvSpPr>
            <p:cNvPr id="18" name="Rectangle 17"/>
            <p:cNvSpPr/>
            <p:nvPr/>
          </p:nvSpPr>
          <p:spPr>
            <a:xfrm>
              <a:off x="1583147"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ctangle 18"/>
            <p:cNvSpPr/>
            <p:nvPr/>
          </p:nvSpPr>
          <p:spPr>
            <a:xfrm>
              <a:off x="3182041"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ectangle 19"/>
            <p:cNvSpPr/>
            <p:nvPr/>
          </p:nvSpPr>
          <p:spPr>
            <a:xfrm>
              <a:off x="4780935"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p:cNvSpPr/>
            <p:nvPr/>
          </p:nvSpPr>
          <p:spPr>
            <a:xfrm>
              <a:off x="6379829"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p:cNvSpPr/>
            <p:nvPr/>
          </p:nvSpPr>
          <p:spPr>
            <a:xfrm>
              <a:off x="2382594"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Rectangle 22"/>
            <p:cNvSpPr/>
            <p:nvPr/>
          </p:nvSpPr>
          <p:spPr>
            <a:xfrm>
              <a:off x="3981488"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Rectangle 23"/>
            <p:cNvSpPr/>
            <p:nvPr/>
          </p:nvSpPr>
          <p:spPr>
            <a:xfrm>
              <a:off x="5580382"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p:cNvSpPr/>
            <p:nvPr/>
          </p:nvSpPr>
          <p:spPr>
            <a:xfrm>
              <a:off x="7179273"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6" name="Group 25"/>
          <p:cNvGrpSpPr/>
          <p:nvPr/>
        </p:nvGrpSpPr>
        <p:grpSpPr>
          <a:xfrm>
            <a:off x="1588375" y="2175774"/>
            <a:ext cx="6410202" cy="702057"/>
            <a:chOff x="1588375" y="2647124"/>
            <a:chExt cx="6410202" cy="702057"/>
          </a:xfrm>
        </p:grpSpPr>
        <p:grpSp>
          <p:nvGrpSpPr>
            <p:cNvPr id="76" name="Group 75"/>
            <p:cNvGrpSpPr/>
            <p:nvPr/>
          </p:nvGrpSpPr>
          <p:grpSpPr>
            <a:xfrm>
              <a:off x="1588375" y="3002340"/>
              <a:ext cx="6400798" cy="346841"/>
              <a:chOff x="1588375" y="2703785"/>
              <a:chExt cx="6400798" cy="346841"/>
            </a:xfrm>
          </p:grpSpPr>
          <p:sp>
            <p:nvSpPr>
              <p:cNvPr id="10" name="Rectangle 9"/>
              <p:cNvSpPr/>
              <p:nvPr/>
            </p:nvSpPr>
            <p:spPr>
              <a:xfrm>
                <a:off x="1588375"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p:cNvSpPr/>
              <p:nvPr/>
            </p:nvSpPr>
            <p:spPr>
              <a:xfrm>
                <a:off x="3187269"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p:cNvSpPr/>
              <p:nvPr/>
            </p:nvSpPr>
            <p:spPr>
              <a:xfrm>
                <a:off x="4786163"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p:cNvSpPr/>
              <p:nvPr/>
            </p:nvSpPr>
            <p:spPr>
              <a:xfrm>
                <a:off x="6385057"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p:cNvSpPr/>
              <p:nvPr/>
            </p:nvSpPr>
            <p:spPr>
              <a:xfrm>
                <a:off x="2387822"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p:cNvSpPr/>
              <p:nvPr/>
            </p:nvSpPr>
            <p:spPr>
              <a:xfrm>
                <a:off x="3986716"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p:cNvSpPr/>
              <p:nvPr/>
            </p:nvSpPr>
            <p:spPr>
              <a:xfrm>
                <a:off x="5585610"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p:cNvSpPr/>
              <p:nvPr/>
            </p:nvSpPr>
            <p:spPr>
              <a:xfrm>
                <a:off x="7184501"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79" name="Group 78"/>
            <p:cNvGrpSpPr/>
            <p:nvPr/>
          </p:nvGrpSpPr>
          <p:grpSpPr>
            <a:xfrm>
              <a:off x="1992431" y="2647124"/>
              <a:ext cx="409086" cy="323981"/>
              <a:chOff x="4777299" y="3826295"/>
              <a:chExt cx="409086" cy="323981"/>
            </a:xfrm>
          </p:grpSpPr>
          <p:cxnSp>
            <p:nvCxnSpPr>
              <p:cNvPr id="80" name="Straight Arrow Connector 79"/>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1" name="TextBox 80"/>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82" name="Group 81"/>
            <p:cNvGrpSpPr/>
            <p:nvPr/>
          </p:nvGrpSpPr>
          <p:grpSpPr>
            <a:xfrm>
              <a:off x="2792011" y="2647124"/>
              <a:ext cx="409086" cy="323981"/>
              <a:chOff x="4777299" y="3826295"/>
              <a:chExt cx="409086" cy="323981"/>
            </a:xfrm>
          </p:grpSpPr>
          <p:cxnSp>
            <p:nvCxnSpPr>
              <p:cNvPr id="83" name="Straight Arrow Connector 82"/>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4" name="TextBox 83"/>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85" name="Group 84"/>
            <p:cNvGrpSpPr/>
            <p:nvPr/>
          </p:nvGrpSpPr>
          <p:grpSpPr>
            <a:xfrm>
              <a:off x="3591591" y="2647124"/>
              <a:ext cx="409086" cy="323981"/>
              <a:chOff x="4777299" y="3826295"/>
              <a:chExt cx="409086" cy="323981"/>
            </a:xfrm>
          </p:grpSpPr>
          <p:cxnSp>
            <p:nvCxnSpPr>
              <p:cNvPr id="86" name="Straight Arrow Connector 85"/>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7" name="TextBox 86"/>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88" name="Group 87"/>
            <p:cNvGrpSpPr/>
            <p:nvPr/>
          </p:nvGrpSpPr>
          <p:grpSpPr>
            <a:xfrm>
              <a:off x="4391171" y="2647124"/>
              <a:ext cx="409086" cy="323981"/>
              <a:chOff x="4777299" y="3826295"/>
              <a:chExt cx="409086" cy="323981"/>
            </a:xfrm>
          </p:grpSpPr>
          <p:cxnSp>
            <p:nvCxnSpPr>
              <p:cNvPr id="89" name="Straight Arrow Connector 88"/>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0" name="TextBox 89"/>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91" name="Group 90"/>
            <p:cNvGrpSpPr/>
            <p:nvPr/>
          </p:nvGrpSpPr>
          <p:grpSpPr>
            <a:xfrm>
              <a:off x="5190751" y="2647124"/>
              <a:ext cx="409086" cy="323981"/>
              <a:chOff x="4777299" y="3826295"/>
              <a:chExt cx="409086" cy="323981"/>
            </a:xfrm>
          </p:grpSpPr>
          <p:cxnSp>
            <p:nvCxnSpPr>
              <p:cNvPr id="92" name="Straight Arrow Connector 91"/>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3" name="TextBox 92"/>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94" name="Group 93"/>
            <p:cNvGrpSpPr/>
            <p:nvPr/>
          </p:nvGrpSpPr>
          <p:grpSpPr>
            <a:xfrm>
              <a:off x="5990331" y="2647124"/>
              <a:ext cx="409086" cy="323981"/>
              <a:chOff x="4777299" y="3826295"/>
              <a:chExt cx="409086" cy="323981"/>
            </a:xfrm>
          </p:grpSpPr>
          <p:cxnSp>
            <p:nvCxnSpPr>
              <p:cNvPr id="95" name="Straight Arrow Connector 94"/>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6" name="TextBox 95"/>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97" name="Group 96"/>
            <p:cNvGrpSpPr/>
            <p:nvPr/>
          </p:nvGrpSpPr>
          <p:grpSpPr>
            <a:xfrm>
              <a:off x="6789911" y="2647124"/>
              <a:ext cx="409086" cy="323981"/>
              <a:chOff x="4777299" y="3826295"/>
              <a:chExt cx="409086" cy="323981"/>
            </a:xfrm>
          </p:grpSpPr>
          <p:cxnSp>
            <p:nvCxnSpPr>
              <p:cNvPr id="98" name="Straight Arrow Connector 97"/>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9" name="TextBox 98"/>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100" name="Group 99"/>
            <p:cNvGrpSpPr/>
            <p:nvPr/>
          </p:nvGrpSpPr>
          <p:grpSpPr>
            <a:xfrm>
              <a:off x="7589491" y="2647124"/>
              <a:ext cx="409086" cy="323981"/>
              <a:chOff x="4777299" y="3826295"/>
              <a:chExt cx="409086" cy="323981"/>
            </a:xfrm>
          </p:grpSpPr>
          <p:cxnSp>
            <p:nvCxnSpPr>
              <p:cNvPr id="101" name="Straight Arrow Connector 100"/>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2" name="TextBox 101"/>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grpSp>
        <p:nvGrpSpPr>
          <p:cNvPr id="27" name="Group 26"/>
          <p:cNvGrpSpPr/>
          <p:nvPr/>
        </p:nvGrpSpPr>
        <p:grpSpPr>
          <a:xfrm>
            <a:off x="1588376" y="2911082"/>
            <a:ext cx="6400799" cy="696236"/>
            <a:chOff x="1588376" y="3382432"/>
            <a:chExt cx="6400799" cy="696236"/>
          </a:xfrm>
        </p:grpSpPr>
        <p:grpSp>
          <p:nvGrpSpPr>
            <p:cNvPr id="77" name="Group 76"/>
            <p:cNvGrpSpPr/>
            <p:nvPr/>
          </p:nvGrpSpPr>
          <p:grpSpPr>
            <a:xfrm>
              <a:off x="1588376" y="3731827"/>
              <a:ext cx="6400799" cy="346841"/>
              <a:chOff x="1588376" y="3799490"/>
              <a:chExt cx="6400799" cy="346841"/>
            </a:xfrm>
          </p:grpSpPr>
          <p:sp>
            <p:nvSpPr>
              <p:cNvPr id="6" name="Rectangle 5"/>
              <p:cNvSpPr/>
              <p:nvPr/>
            </p:nvSpPr>
            <p:spPr>
              <a:xfrm>
                <a:off x="1588376" y="3799490"/>
                <a:ext cx="16002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p:cNvSpPr/>
              <p:nvPr/>
            </p:nvSpPr>
            <p:spPr>
              <a:xfrm>
                <a:off x="3188576" y="3799490"/>
                <a:ext cx="16002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p:cNvSpPr/>
              <p:nvPr/>
            </p:nvSpPr>
            <p:spPr>
              <a:xfrm>
                <a:off x="4788775" y="3799490"/>
                <a:ext cx="16002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p:cNvSpPr/>
              <p:nvPr/>
            </p:nvSpPr>
            <p:spPr>
              <a:xfrm>
                <a:off x="6388975" y="3799490"/>
                <a:ext cx="16002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cxnSp>
          <p:nvCxnSpPr>
            <p:cNvPr id="104" name="Straight Arrow Connector 103"/>
            <p:cNvCxnSpPr/>
            <p:nvPr/>
          </p:nvCxnSpPr>
          <p:spPr>
            <a:xfrm>
              <a:off x="1994912" y="339898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5" name="TextBox 104"/>
            <p:cNvSpPr txBox="1"/>
            <p:nvPr/>
          </p:nvSpPr>
          <p:spPr>
            <a:xfrm>
              <a:off x="2112836" y="3382432"/>
              <a:ext cx="553358" cy="261610"/>
            </a:xfrm>
            <a:prstGeom prst="rect">
              <a:avLst/>
            </a:prstGeom>
            <a:noFill/>
          </p:spPr>
          <p:txBody>
            <a:bodyPr wrap="none" rtlCol="0" anchor="ctr" anchorCtr="0">
              <a:spAutoFit/>
            </a:bodyPr>
            <a:lstStyle/>
            <a:p>
              <a:pPr algn="ctr"/>
              <a:r>
                <a:rPr lang="en-US" sz="1100" dirty="0"/>
                <a:t>merge</a:t>
              </a:r>
            </a:p>
          </p:txBody>
        </p:sp>
        <p:cxnSp>
          <p:nvCxnSpPr>
            <p:cNvPr id="107" name="Straight Arrow Connector 106"/>
            <p:cNvCxnSpPr/>
            <p:nvPr/>
          </p:nvCxnSpPr>
          <p:spPr>
            <a:xfrm flipH="1">
              <a:off x="2530422" y="339898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p:cNvCxnSpPr/>
            <p:nvPr/>
          </p:nvCxnSpPr>
          <p:spPr>
            <a:xfrm>
              <a:off x="3594072" y="339898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1" name="TextBox 110"/>
            <p:cNvSpPr txBox="1"/>
            <p:nvPr/>
          </p:nvSpPr>
          <p:spPr>
            <a:xfrm>
              <a:off x="3715937" y="3382432"/>
              <a:ext cx="553358" cy="261610"/>
            </a:xfrm>
            <a:prstGeom prst="rect">
              <a:avLst/>
            </a:prstGeom>
            <a:noFill/>
          </p:spPr>
          <p:txBody>
            <a:bodyPr wrap="none" rtlCol="0" anchor="ctr" anchorCtr="0">
              <a:spAutoFit/>
            </a:bodyPr>
            <a:lstStyle/>
            <a:p>
              <a:pPr algn="ctr"/>
              <a:r>
                <a:rPr lang="en-US" sz="1100" dirty="0"/>
                <a:t>merge</a:t>
              </a:r>
            </a:p>
          </p:txBody>
        </p:sp>
        <p:cxnSp>
          <p:nvCxnSpPr>
            <p:cNvPr id="113" name="Straight Arrow Connector 112"/>
            <p:cNvCxnSpPr/>
            <p:nvPr/>
          </p:nvCxnSpPr>
          <p:spPr>
            <a:xfrm flipH="1">
              <a:off x="4129582" y="339898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p:cNvCxnSpPr/>
            <p:nvPr/>
          </p:nvCxnSpPr>
          <p:spPr>
            <a:xfrm>
              <a:off x="5193232" y="339898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7" name="TextBox 116"/>
            <p:cNvSpPr txBox="1"/>
            <p:nvPr/>
          </p:nvSpPr>
          <p:spPr>
            <a:xfrm>
              <a:off x="5315097" y="3382432"/>
              <a:ext cx="553358" cy="261610"/>
            </a:xfrm>
            <a:prstGeom prst="rect">
              <a:avLst/>
            </a:prstGeom>
            <a:noFill/>
          </p:spPr>
          <p:txBody>
            <a:bodyPr wrap="none" rtlCol="0" anchor="ctr" anchorCtr="0">
              <a:spAutoFit/>
            </a:bodyPr>
            <a:lstStyle/>
            <a:p>
              <a:pPr algn="ctr"/>
              <a:r>
                <a:rPr lang="en-US" sz="1100" dirty="0"/>
                <a:t>merge</a:t>
              </a:r>
            </a:p>
          </p:txBody>
        </p:sp>
        <p:cxnSp>
          <p:nvCxnSpPr>
            <p:cNvPr id="119" name="Straight Arrow Connector 118"/>
            <p:cNvCxnSpPr/>
            <p:nvPr/>
          </p:nvCxnSpPr>
          <p:spPr>
            <a:xfrm flipH="1">
              <a:off x="5728742" y="339898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1"/>
            <p:cNvCxnSpPr/>
            <p:nvPr/>
          </p:nvCxnSpPr>
          <p:spPr>
            <a:xfrm>
              <a:off x="6792392" y="339898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3" name="TextBox 122"/>
            <p:cNvSpPr txBox="1"/>
            <p:nvPr/>
          </p:nvSpPr>
          <p:spPr>
            <a:xfrm>
              <a:off x="6914257" y="3382432"/>
              <a:ext cx="553358" cy="261610"/>
            </a:xfrm>
            <a:prstGeom prst="rect">
              <a:avLst/>
            </a:prstGeom>
            <a:noFill/>
          </p:spPr>
          <p:txBody>
            <a:bodyPr wrap="none" rtlCol="0" anchor="ctr" anchorCtr="0">
              <a:spAutoFit/>
            </a:bodyPr>
            <a:lstStyle/>
            <a:p>
              <a:pPr algn="ctr"/>
              <a:r>
                <a:rPr lang="en-US" sz="1100" dirty="0"/>
                <a:t>merge</a:t>
              </a:r>
            </a:p>
          </p:txBody>
        </p:sp>
        <p:cxnSp>
          <p:nvCxnSpPr>
            <p:cNvPr id="125" name="Straight Arrow Connector 124"/>
            <p:cNvCxnSpPr/>
            <p:nvPr/>
          </p:nvCxnSpPr>
          <p:spPr>
            <a:xfrm flipH="1">
              <a:off x="7327902" y="339898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8" name="Group 27"/>
          <p:cNvGrpSpPr/>
          <p:nvPr/>
        </p:nvGrpSpPr>
        <p:grpSpPr>
          <a:xfrm>
            <a:off x="1588376" y="3634939"/>
            <a:ext cx="6400799" cy="701866"/>
            <a:chOff x="1588376" y="4106289"/>
            <a:chExt cx="6400799" cy="701866"/>
          </a:xfrm>
        </p:grpSpPr>
        <p:grpSp>
          <p:nvGrpSpPr>
            <p:cNvPr id="78" name="Group 77"/>
            <p:cNvGrpSpPr/>
            <p:nvPr/>
          </p:nvGrpSpPr>
          <p:grpSpPr>
            <a:xfrm>
              <a:off x="1588376" y="4461314"/>
              <a:ext cx="6400799" cy="346841"/>
              <a:chOff x="1588376" y="4658710"/>
              <a:chExt cx="6400799" cy="346841"/>
            </a:xfrm>
          </p:grpSpPr>
          <p:sp>
            <p:nvSpPr>
              <p:cNvPr id="4" name="Rectangle 3"/>
              <p:cNvSpPr/>
              <p:nvPr/>
            </p:nvSpPr>
            <p:spPr>
              <a:xfrm>
                <a:off x="1588376" y="4658710"/>
                <a:ext cx="32004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p:cNvSpPr/>
              <p:nvPr/>
            </p:nvSpPr>
            <p:spPr>
              <a:xfrm>
                <a:off x="4788775" y="4658710"/>
                <a:ext cx="32004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cxnSp>
          <p:nvCxnSpPr>
            <p:cNvPr id="130" name="Straight Arrow Connector 129"/>
            <p:cNvCxnSpPr/>
            <p:nvPr/>
          </p:nvCxnSpPr>
          <p:spPr>
            <a:xfrm>
              <a:off x="2800368" y="4122843"/>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1" name="TextBox 130"/>
            <p:cNvSpPr txBox="1"/>
            <p:nvPr/>
          </p:nvSpPr>
          <p:spPr>
            <a:xfrm>
              <a:off x="2918292" y="4106289"/>
              <a:ext cx="553358" cy="261610"/>
            </a:xfrm>
            <a:prstGeom prst="rect">
              <a:avLst/>
            </a:prstGeom>
            <a:noFill/>
          </p:spPr>
          <p:txBody>
            <a:bodyPr wrap="none" rtlCol="0" anchor="ctr" anchorCtr="0">
              <a:spAutoFit/>
            </a:bodyPr>
            <a:lstStyle/>
            <a:p>
              <a:pPr algn="ctr"/>
              <a:r>
                <a:rPr lang="en-US" sz="1100" dirty="0"/>
                <a:t>merge</a:t>
              </a:r>
            </a:p>
          </p:txBody>
        </p:sp>
        <p:cxnSp>
          <p:nvCxnSpPr>
            <p:cNvPr id="132" name="Straight Arrow Connector 131"/>
            <p:cNvCxnSpPr/>
            <p:nvPr/>
          </p:nvCxnSpPr>
          <p:spPr>
            <a:xfrm flipH="1">
              <a:off x="3335878" y="4122843"/>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3" name="Straight Arrow Connector 132"/>
            <p:cNvCxnSpPr/>
            <p:nvPr/>
          </p:nvCxnSpPr>
          <p:spPr>
            <a:xfrm>
              <a:off x="5994747" y="4122843"/>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4" name="TextBox 133"/>
            <p:cNvSpPr txBox="1"/>
            <p:nvPr/>
          </p:nvSpPr>
          <p:spPr>
            <a:xfrm>
              <a:off x="6116612" y="4106289"/>
              <a:ext cx="553358" cy="261610"/>
            </a:xfrm>
            <a:prstGeom prst="rect">
              <a:avLst/>
            </a:prstGeom>
            <a:noFill/>
          </p:spPr>
          <p:txBody>
            <a:bodyPr wrap="none" rtlCol="0" anchor="ctr" anchorCtr="0">
              <a:spAutoFit/>
            </a:bodyPr>
            <a:lstStyle/>
            <a:p>
              <a:pPr algn="ctr"/>
              <a:r>
                <a:rPr lang="en-US" sz="1100" dirty="0"/>
                <a:t>merge</a:t>
              </a:r>
            </a:p>
          </p:txBody>
        </p:sp>
        <p:cxnSp>
          <p:nvCxnSpPr>
            <p:cNvPr id="135" name="Straight Arrow Connector 134"/>
            <p:cNvCxnSpPr/>
            <p:nvPr/>
          </p:nvCxnSpPr>
          <p:spPr>
            <a:xfrm flipH="1">
              <a:off x="6530257" y="4122843"/>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9" name="Group 28"/>
          <p:cNvGrpSpPr/>
          <p:nvPr/>
        </p:nvGrpSpPr>
        <p:grpSpPr>
          <a:xfrm>
            <a:off x="1588375" y="4376176"/>
            <a:ext cx="6400800" cy="690115"/>
            <a:chOff x="1588375" y="4847526"/>
            <a:chExt cx="6400800" cy="690115"/>
          </a:xfrm>
        </p:grpSpPr>
        <p:sp>
          <p:nvSpPr>
            <p:cNvPr id="3" name="Rectangle 2"/>
            <p:cNvSpPr/>
            <p:nvPr/>
          </p:nvSpPr>
          <p:spPr>
            <a:xfrm>
              <a:off x="1588375" y="5190800"/>
              <a:ext cx="64008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36" name="Straight Arrow Connector 135"/>
            <p:cNvCxnSpPr/>
            <p:nvPr/>
          </p:nvCxnSpPr>
          <p:spPr>
            <a:xfrm>
              <a:off x="4397199" y="4864080"/>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7" name="TextBox 136"/>
            <p:cNvSpPr txBox="1"/>
            <p:nvPr/>
          </p:nvSpPr>
          <p:spPr>
            <a:xfrm>
              <a:off x="4515123" y="4847526"/>
              <a:ext cx="553358" cy="261610"/>
            </a:xfrm>
            <a:prstGeom prst="rect">
              <a:avLst/>
            </a:prstGeom>
            <a:noFill/>
          </p:spPr>
          <p:txBody>
            <a:bodyPr wrap="none" rtlCol="0" anchor="ctr" anchorCtr="0">
              <a:spAutoFit/>
            </a:bodyPr>
            <a:lstStyle/>
            <a:p>
              <a:pPr algn="ctr"/>
              <a:r>
                <a:rPr lang="en-US" sz="1100" dirty="0"/>
                <a:t>merge</a:t>
              </a:r>
            </a:p>
          </p:txBody>
        </p:sp>
        <p:cxnSp>
          <p:nvCxnSpPr>
            <p:cNvPr id="138" name="Straight Arrow Connector 137"/>
            <p:cNvCxnSpPr/>
            <p:nvPr/>
          </p:nvCxnSpPr>
          <p:spPr>
            <a:xfrm flipH="1">
              <a:off x="4932709" y="4864080"/>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04838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 Placeholder 102"/>
          <p:cNvSpPr>
            <a:spLocks noGrp="1"/>
          </p:cNvSpPr>
          <p:nvPr>
            <p:ph type="body" idx="10"/>
          </p:nvPr>
        </p:nvSpPr>
        <p:spPr/>
        <p:txBody>
          <a:bodyPr/>
          <a:lstStyle/>
          <a:p>
            <a:r>
              <a:rPr lang="en-US" dirty="0"/>
              <a:t>Parallel Merge Sort</a:t>
            </a:r>
          </a:p>
        </p:txBody>
      </p:sp>
      <p:sp>
        <p:nvSpPr>
          <p:cNvPr id="3" name="Rectangle 2"/>
          <p:cNvSpPr/>
          <p:nvPr/>
        </p:nvSpPr>
        <p:spPr>
          <a:xfrm>
            <a:off x="1588375" y="4719450"/>
            <a:ext cx="64008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78" name="Group 77"/>
          <p:cNvGrpSpPr/>
          <p:nvPr/>
        </p:nvGrpSpPr>
        <p:grpSpPr>
          <a:xfrm>
            <a:off x="1588376" y="3989964"/>
            <a:ext cx="6400799" cy="346841"/>
            <a:chOff x="1588376" y="4658710"/>
            <a:chExt cx="6400799" cy="346841"/>
          </a:xfrm>
        </p:grpSpPr>
        <p:sp>
          <p:nvSpPr>
            <p:cNvPr id="4" name="Rectangle 3"/>
            <p:cNvSpPr/>
            <p:nvPr/>
          </p:nvSpPr>
          <p:spPr>
            <a:xfrm>
              <a:off x="1588376" y="4658710"/>
              <a:ext cx="32004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p:cNvSpPr/>
            <p:nvPr/>
          </p:nvSpPr>
          <p:spPr>
            <a:xfrm>
              <a:off x="4788775" y="4658710"/>
              <a:ext cx="32004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77" name="Group 76"/>
          <p:cNvGrpSpPr/>
          <p:nvPr/>
        </p:nvGrpSpPr>
        <p:grpSpPr>
          <a:xfrm>
            <a:off x="1588376" y="3260477"/>
            <a:ext cx="6400799" cy="346841"/>
            <a:chOff x="1588376" y="3799490"/>
            <a:chExt cx="6400799" cy="346841"/>
          </a:xfrm>
        </p:grpSpPr>
        <p:sp>
          <p:nvSpPr>
            <p:cNvPr id="6" name="Rectangle 5"/>
            <p:cNvSpPr/>
            <p:nvPr/>
          </p:nvSpPr>
          <p:spPr>
            <a:xfrm>
              <a:off x="1588376" y="3799490"/>
              <a:ext cx="16002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p:cNvSpPr/>
            <p:nvPr/>
          </p:nvSpPr>
          <p:spPr>
            <a:xfrm>
              <a:off x="3188576" y="3799490"/>
              <a:ext cx="16002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p:cNvSpPr/>
            <p:nvPr/>
          </p:nvSpPr>
          <p:spPr>
            <a:xfrm>
              <a:off x="4788775" y="3799490"/>
              <a:ext cx="16002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p:cNvSpPr/>
            <p:nvPr/>
          </p:nvSpPr>
          <p:spPr>
            <a:xfrm>
              <a:off x="6388975" y="3799490"/>
              <a:ext cx="1600200"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76" name="Group 75"/>
          <p:cNvGrpSpPr/>
          <p:nvPr/>
        </p:nvGrpSpPr>
        <p:grpSpPr>
          <a:xfrm>
            <a:off x="1588375" y="2530990"/>
            <a:ext cx="6400798" cy="346841"/>
            <a:chOff x="1588375" y="2703785"/>
            <a:chExt cx="6400798" cy="346841"/>
          </a:xfrm>
        </p:grpSpPr>
        <p:sp>
          <p:nvSpPr>
            <p:cNvPr id="10" name="Rectangle 9"/>
            <p:cNvSpPr/>
            <p:nvPr/>
          </p:nvSpPr>
          <p:spPr>
            <a:xfrm>
              <a:off x="1588375"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p:cNvSpPr/>
            <p:nvPr/>
          </p:nvSpPr>
          <p:spPr>
            <a:xfrm>
              <a:off x="3187269"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p:cNvSpPr/>
            <p:nvPr/>
          </p:nvSpPr>
          <p:spPr>
            <a:xfrm>
              <a:off x="4786163"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p:cNvSpPr/>
            <p:nvPr/>
          </p:nvSpPr>
          <p:spPr>
            <a:xfrm>
              <a:off x="6385057"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p:cNvSpPr/>
            <p:nvPr/>
          </p:nvSpPr>
          <p:spPr>
            <a:xfrm>
              <a:off x="2387822"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p:cNvSpPr/>
            <p:nvPr/>
          </p:nvSpPr>
          <p:spPr>
            <a:xfrm>
              <a:off x="3986716"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p:cNvSpPr/>
            <p:nvPr/>
          </p:nvSpPr>
          <p:spPr>
            <a:xfrm>
              <a:off x="5585610"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p:cNvSpPr/>
            <p:nvPr/>
          </p:nvSpPr>
          <p:spPr>
            <a:xfrm>
              <a:off x="7184501" y="2703785"/>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75" name="Group 74"/>
          <p:cNvGrpSpPr/>
          <p:nvPr/>
        </p:nvGrpSpPr>
        <p:grpSpPr>
          <a:xfrm>
            <a:off x="1583147" y="1801503"/>
            <a:ext cx="6400798" cy="346841"/>
            <a:chOff x="1583147" y="2254306"/>
            <a:chExt cx="6400798" cy="346841"/>
          </a:xfrm>
        </p:grpSpPr>
        <p:sp>
          <p:nvSpPr>
            <p:cNvPr id="18" name="Rectangle 17"/>
            <p:cNvSpPr/>
            <p:nvPr/>
          </p:nvSpPr>
          <p:spPr>
            <a:xfrm>
              <a:off x="1583147"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ctangle 18"/>
            <p:cNvSpPr/>
            <p:nvPr/>
          </p:nvSpPr>
          <p:spPr>
            <a:xfrm>
              <a:off x="3182041"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ectangle 19"/>
            <p:cNvSpPr/>
            <p:nvPr/>
          </p:nvSpPr>
          <p:spPr>
            <a:xfrm>
              <a:off x="4780935"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p:cNvSpPr/>
            <p:nvPr/>
          </p:nvSpPr>
          <p:spPr>
            <a:xfrm>
              <a:off x="6379829"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p:cNvSpPr/>
            <p:nvPr/>
          </p:nvSpPr>
          <p:spPr>
            <a:xfrm>
              <a:off x="2382594"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Rectangle 22"/>
            <p:cNvSpPr/>
            <p:nvPr/>
          </p:nvSpPr>
          <p:spPr>
            <a:xfrm>
              <a:off x="3981488"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Rectangle 23"/>
            <p:cNvSpPr/>
            <p:nvPr/>
          </p:nvSpPr>
          <p:spPr>
            <a:xfrm>
              <a:off x="5580382"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p:cNvSpPr/>
            <p:nvPr/>
          </p:nvSpPr>
          <p:spPr>
            <a:xfrm>
              <a:off x="7179273" y="2254306"/>
              <a:ext cx="804672" cy="346841"/>
            </a:xfrm>
            <a:prstGeom prst="rect">
              <a:avLst/>
            </a:prstGeom>
            <a:solidFill>
              <a:schemeClr val="accent5">
                <a:lumMod val="20000"/>
                <a:lumOff val="80000"/>
              </a:schemeClr>
            </a:solidFill>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74" name="Group 73"/>
          <p:cNvGrpSpPr/>
          <p:nvPr/>
        </p:nvGrpSpPr>
        <p:grpSpPr>
          <a:xfrm>
            <a:off x="1619723" y="978998"/>
            <a:ext cx="6327649" cy="731520"/>
            <a:chOff x="1619723" y="1367577"/>
            <a:chExt cx="6327649" cy="731520"/>
          </a:xfrm>
        </p:grpSpPr>
        <p:grpSp>
          <p:nvGrpSpPr>
            <p:cNvPr id="26" name="Group 25"/>
            <p:cNvGrpSpPr/>
            <p:nvPr/>
          </p:nvGrpSpPr>
          <p:grpSpPr>
            <a:xfrm>
              <a:off x="1619723" y="1367577"/>
              <a:ext cx="731520" cy="731520"/>
              <a:chOff x="2667001" y="1752599"/>
              <a:chExt cx="889511" cy="838200"/>
            </a:xfrm>
          </p:grpSpPr>
          <p:sp>
            <p:nvSpPr>
              <p:cNvPr id="27" name="Rectangle 26"/>
              <p:cNvSpPr>
                <a:spLocks noChangeAspect="1"/>
              </p:cNvSpPr>
              <p:nvPr/>
            </p:nvSpPr>
            <p:spPr>
              <a:xfrm>
                <a:off x="2667001" y="1752599"/>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8" name="Freeform 27"/>
              <p:cNvSpPr/>
              <p:nvPr/>
            </p:nvSpPr>
            <p:spPr>
              <a:xfrm>
                <a:off x="2731382"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9" name="Freeform 28"/>
              <p:cNvSpPr/>
              <p:nvPr/>
            </p:nvSpPr>
            <p:spPr>
              <a:xfrm>
                <a:off x="2953269"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30" name="Freeform 29"/>
              <p:cNvSpPr/>
              <p:nvPr/>
            </p:nvSpPr>
            <p:spPr>
              <a:xfrm>
                <a:off x="3175156"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31" name="Freeform 30"/>
              <p:cNvSpPr/>
              <p:nvPr/>
            </p:nvSpPr>
            <p:spPr>
              <a:xfrm>
                <a:off x="3397044"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32" name="Group 31"/>
            <p:cNvGrpSpPr/>
            <p:nvPr/>
          </p:nvGrpSpPr>
          <p:grpSpPr>
            <a:xfrm>
              <a:off x="2419170" y="1367577"/>
              <a:ext cx="731520" cy="731520"/>
              <a:chOff x="2667001" y="1752599"/>
              <a:chExt cx="889511" cy="838200"/>
            </a:xfrm>
          </p:grpSpPr>
          <p:sp>
            <p:nvSpPr>
              <p:cNvPr id="33" name="Rectangle 32"/>
              <p:cNvSpPr>
                <a:spLocks noChangeAspect="1"/>
              </p:cNvSpPr>
              <p:nvPr/>
            </p:nvSpPr>
            <p:spPr>
              <a:xfrm>
                <a:off x="2667001" y="1752599"/>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34" name="Freeform 33"/>
              <p:cNvSpPr/>
              <p:nvPr/>
            </p:nvSpPr>
            <p:spPr>
              <a:xfrm>
                <a:off x="2731382"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35" name="Freeform 34"/>
              <p:cNvSpPr/>
              <p:nvPr/>
            </p:nvSpPr>
            <p:spPr>
              <a:xfrm>
                <a:off x="2953269"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36" name="Freeform 35"/>
              <p:cNvSpPr/>
              <p:nvPr/>
            </p:nvSpPr>
            <p:spPr>
              <a:xfrm>
                <a:off x="3175156"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37" name="Freeform 36"/>
              <p:cNvSpPr/>
              <p:nvPr/>
            </p:nvSpPr>
            <p:spPr>
              <a:xfrm>
                <a:off x="3397044"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38" name="Group 37"/>
            <p:cNvGrpSpPr/>
            <p:nvPr/>
          </p:nvGrpSpPr>
          <p:grpSpPr>
            <a:xfrm>
              <a:off x="3218617" y="1367577"/>
              <a:ext cx="731520" cy="731520"/>
              <a:chOff x="2667001" y="1752599"/>
              <a:chExt cx="889511" cy="838200"/>
            </a:xfrm>
          </p:grpSpPr>
          <p:sp>
            <p:nvSpPr>
              <p:cNvPr id="39" name="Rectangle 38"/>
              <p:cNvSpPr>
                <a:spLocks noChangeAspect="1"/>
              </p:cNvSpPr>
              <p:nvPr/>
            </p:nvSpPr>
            <p:spPr>
              <a:xfrm>
                <a:off x="2667001" y="1752599"/>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40" name="Freeform 39"/>
              <p:cNvSpPr/>
              <p:nvPr/>
            </p:nvSpPr>
            <p:spPr>
              <a:xfrm>
                <a:off x="2731382"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41" name="Freeform 40"/>
              <p:cNvSpPr/>
              <p:nvPr/>
            </p:nvSpPr>
            <p:spPr>
              <a:xfrm>
                <a:off x="2953269"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42" name="Freeform 41"/>
              <p:cNvSpPr/>
              <p:nvPr/>
            </p:nvSpPr>
            <p:spPr>
              <a:xfrm>
                <a:off x="3175156"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43" name="Freeform 42"/>
              <p:cNvSpPr/>
              <p:nvPr/>
            </p:nvSpPr>
            <p:spPr>
              <a:xfrm>
                <a:off x="3397044"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44" name="Group 43"/>
            <p:cNvGrpSpPr/>
            <p:nvPr/>
          </p:nvGrpSpPr>
          <p:grpSpPr>
            <a:xfrm>
              <a:off x="4018064" y="1367577"/>
              <a:ext cx="731520" cy="731520"/>
              <a:chOff x="2667001" y="1752599"/>
              <a:chExt cx="889511" cy="838200"/>
            </a:xfrm>
          </p:grpSpPr>
          <p:sp>
            <p:nvSpPr>
              <p:cNvPr id="45" name="Rectangle 44"/>
              <p:cNvSpPr>
                <a:spLocks noChangeAspect="1"/>
              </p:cNvSpPr>
              <p:nvPr/>
            </p:nvSpPr>
            <p:spPr>
              <a:xfrm>
                <a:off x="2667001" y="1752599"/>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46" name="Freeform 45"/>
              <p:cNvSpPr/>
              <p:nvPr/>
            </p:nvSpPr>
            <p:spPr>
              <a:xfrm>
                <a:off x="2731382"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47" name="Freeform 46"/>
              <p:cNvSpPr/>
              <p:nvPr/>
            </p:nvSpPr>
            <p:spPr>
              <a:xfrm>
                <a:off x="2953269"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48" name="Freeform 47"/>
              <p:cNvSpPr/>
              <p:nvPr/>
            </p:nvSpPr>
            <p:spPr>
              <a:xfrm>
                <a:off x="3175156"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49" name="Freeform 48"/>
              <p:cNvSpPr/>
              <p:nvPr/>
            </p:nvSpPr>
            <p:spPr>
              <a:xfrm>
                <a:off x="3397044"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50" name="Group 49"/>
            <p:cNvGrpSpPr/>
            <p:nvPr/>
          </p:nvGrpSpPr>
          <p:grpSpPr>
            <a:xfrm>
              <a:off x="4817511" y="1367577"/>
              <a:ext cx="731520" cy="731520"/>
              <a:chOff x="2667001" y="1752599"/>
              <a:chExt cx="889511" cy="838200"/>
            </a:xfrm>
          </p:grpSpPr>
          <p:sp>
            <p:nvSpPr>
              <p:cNvPr id="51" name="Rectangle 50"/>
              <p:cNvSpPr>
                <a:spLocks noChangeAspect="1"/>
              </p:cNvSpPr>
              <p:nvPr/>
            </p:nvSpPr>
            <p:spPr>
              <a:xfrm>
                <a:off x="2667001" y="1752599"/>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2" name="Freeform 51"/>
              <p:cNvSpPr/>
              <p:nvPr/>
            </p:nvSpPr>
            <p:spPr>
              <a:xfrm>
                <a:off x="2731382"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53" name="Freeform 52"/>
              <p:cNvSpPr/>
              <p:nvPr/>
            </p:nvSpPr>
            <p:spPr>
              <a:xfrm>
                <a:off x="2953269"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54" name="Freeform 53"/>
              <p:cNvSpPr/>
              <p:nvPr/>
            </p:nvSpPr>
            <p:spPr>
              <a:xfrm>
                <a:off x="3175156"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55" name="Freeform 54"/>
              <p:cNvSpPr/>
              <p:nvPr/>
            </p:nvSpPr>
            <p:spPr>
              <a:xfrm>
                <a:off x="3397044"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56" name="Group 55"/>
            <p:cNvGrpSpPr/>
            <p:nvPr/>
          </p:nvGrpSpPr>
          <p:grpSpPr>
            <a:xfrm>
              <a:off x="5616958" y="1367577"/>
              <a:ext cx="731520" cy="731520"/>
              <a:chOff x="2667001" y="1752599"/>
              <a:chExt cx="889511" cy="838200"/>
            </a:xfrm>
          </p:grpSpPr>
          <p:sp>
            <p:nvSpPr>
              <p:cNvPr id="57" name="Rectangle 56"/>
              <p:cNvSpPr>
                <a:spLocks noChangeAspect="1"/>
              </p:cNvSpPr>
              <p:nvPr/>
            </p:nvSpPr>
            <p:spPr>
              <a:xfrm>
                <a:off x="2667001" y="1752599"/>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8" name="Freeform 57"/>
              <p:cNvSpPr/>
              <p:nvPr/>
            </p:nvSpPr>
            <p:spPr>
              <a:xfrm>
                <a:off x="2731382"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59" name="Freeform 58"/>
              <p:cNvSpPr/>
              <p:nvPr/>
            </p:nvSpPr>
            <p:spPr>
              <a:xfrm>
                <a:off x="2953269"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60" name="Freeform 59"/>
              <p:cNvSpPr/>
              <p:nvPr/>
            </p:nvSpPr>
            <p:spPr>
              <a:xfrm>
                <a:off x="3175156"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61" name="Freeform 60"/>
              <p:cNvSpPr/>
              <p:nvPr/>
            </p:nvSpPr>
            <p:spPr>
              <a:xfrm>
                <a:off x="3397044"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62" name="Group 61"/>
            <p:cNvGrpSpPr/>
            <p:nvPr/>
          </p:nvGrpSpPr>
          <p:grpSpPr>
            <a:xfrm>
              <a:off x="6416405" y="1367577"/>
              <a:ext cx="731520" cy="731520"/>
              <a:chOff x="2667001" y="1752599"/>
              <a:chExt cx="889511" cy="838200"/>
            </a:xfrm>
          </p:grpSpPr>
          <p:sp>
            <p:nvSpPr>
              <p:cNvPr id="63" name="Rectangle 62"/>
              <p:cNvSpPr>
                <a:spLocks noChangeAspect="1"/>
              </p:cNvSpPr>
              <p:nvPr/>
            </p:nvSpPr>
            <p:spPr>
              <a:xfrm>
                <a:off x="2667001" y="1752599"/>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4" name="Freeform 63"/>
              <p:cNvSpPr/>
              <p:nvPr/>
            </p:nvSpPr>
            <p:spPr>
              <a:xfrm>
                <a:off x="2731382"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65" name="Freeform 64"/>
              <p:cNvSpPr/>
              <p:nvPr/>
            </p:nvSpPr>
            <p:spPr>
              <a:xfrm>
                <a:off x="2953269"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66" name="Freeform 65"/>
              <p:cNvSpPr/>
              <p:nvPr/>
            </p:nvSpPr>
            <p:spPr>
              <a:xfrm>
                <a:off x="3175156"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67" name="Freeform 66"/>
              <p:cNvSpPr/>
              <p:nvPr/>
            </p:nvSpPr>
            <p:spPr>
              <a:xfrm>
                <a:off x="3397044"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68" name="Group 67"/>
            <p:cNvGrpSpPr/>
            <p:nvPr/>
          </p:nvGrpSpPr>
          <p:grpSpPr>
            <a:xfrm>
              <a:off x="7215852" y="1367577"/>
              <a:ext cx="731520" cy="731520"/>
              <a:chOff x="2667001" y="1752599"/>
              <a:chExt cx="889511" cy="838200"/>
            </a:xfrm>
          </p:grpSpPr>
          <p:sp>
            <p:nvSpPr>
              <p:cNvPr id="69" name="Rectangle 68"/>
              <p:cNvSpPr>
                <a:spLocks noChangeAspect="1"/>
              </p:cNvSpPr>
              <p:nvPr/>
            </p:nvSpPr>
            <p:spPr>
              <a:xfrm>
                <a:off x="2667001" y="1752599"/>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70" name="Freeform 69"/>
              <p:cNvSpPr/>
              <p:nvPr/>
            </p:nvSpPr>
            <p:spPr>
              <a:xfrm>
                <a:off x="2731382"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 name="Freeform 70"/>
              <p:cNvSpPr/>
              <p:nvPr/>
            </p:nvSpPr>
            <p:spPr>
              <a:xfrm>
                <a:off x="2953269"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2" name="Freeform 71"/>
              <p:cNvSpPr/>
              <p:nvPr/>
            </p:nvSpPr>
            <p:spPr>
              <a:xfrm>
                <a:off x="3175156"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3" name="Freeform 72"/>
              <p:cNvSpPr/>
              <p:nvPr/>
            </p:nvSpPr>
            <p:spPr>
              <a:xfrm>
                <a:off x="3397044" y="1822015"/>
                <a:ext cx="97519"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grpSp>
        <p:nvGrpSpPr>
          <p:cNvPr id="79" name="Group 78"/>
          <p:cNvGrpSpPr/>
          <p:nvPr/>
        </p:nvGrpSpPr>
        <p:grpSpPr>
          <a:xfrm>
            <a:off x="1992431" y="2175774"/>
            <a:ext cx="409086" cy="323981"/>
            <a:chOff x="4777299" y="3826295"/>
            <a:chExt cx="409086" cy="323981"/>
          </a:xfrm>
        </p:grpSpPr>
        <p:cxnSp>
          <p:nvCxnSpPr>
            <p:cNvPr id="80" name="Straight Arrow Connector 79"/>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1" name="TextBox 80"/>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82" name="Group 81"/>
          <p:cNvGrpSpPr/>
          <p:nvPr/>
        </p:nvGrpSpPr>
        <p:grpSpPr>
          <a:xfrm>
            <a:off x="2792011" y="2175774"/>
            <a:ext cx="409086" cy="323981"/>
            <a:chOff x="4777299" y="3826295"/>
            <a:chExt cx="409086" cy="323981"/>
          </a:xfrm>
        </p:grpSpPr>
        <p:cxnSp>
          <p:nvCxnSpPr>
            <p:cNvPr id="83" name="Straight Arrow Connector 82"/>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4" name="TextBox 83"/>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85" name="Group 84"/>
          <p:cNvGrpSpPr/>
          <p:nvPr/>
        </p:nvGrpSpPr>
        <p:grpSpPr>
          <a:xfrm>
            <a:off x="3591591" y="2175774"/>
            <a:ext cx="409086" cy="323981"/>
            <a:chOff x="4777299" y="3826295"/>
            <a:chExt cx="409086" cy="323981"/>
          </a:xfrm>
        </p:grpSpPr>
        <p:cxnSp>
          <p:nvCxnSpPr>
            <p:cNvPr id="86" name="Straight Arrow Connector 85"/>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7" name="TextBox 86"/>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88" name="Group 87"/>
          <p:cNvGrpSpPr/>
          <p:nvPr/>
        </p:nvGrpSpPr>
        <p:grpSpPr>
          <a:xfrm>
            <a:off x="4391171" y="2175774"/>
            <a:ext cx="409086" cy="323981"/>
            <a:chOff x="4777299" y="3826295"/>
            <a:chExt cx="409086" cy="323981"/>
          </a:xfrm>
        </p:grpSpPr>
        <p:cxnSp>
          <p:nvCxnSpPr>
            <p:cNvPr id="89" name="Straight Arrow Connector 88"/>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0" name="TextBox 89"/>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91" name="Group 90"/>
          <p:cNvGrpSpPr/>
          <p:nvPr/>
        </p:nvGrpSpPr>
        <p:grpSpPr>
          <a:xfrm>
            <a:off x="5190751" y="2175774"/>
            <a:ext cx="409086" cy="323981"/>
            <a:chOff x="4777299" y="3826295"/>
            <a:chExt cx="409086" cy="323981"/>
          </a:xfrm>
        </p:grpSpPr>
        <p:cxnSp>
          <p:nvCxnSpPr>
            <p:cNvPr id="92" name="Straight Arrow Connector 91"/>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3" name="TextBox 92"/>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94" name="Group 93"/>
          <p:cNvGrpSpPr/>
          <p:nvPr/>
        </p:nvGrpSpPr>
        <p:grpSpPr>
          <a:xfrm>
            <a:off x="5990331" y="2175774"/>
            <a:ext cx="409086" cy="323981"/>
            <a:chOff x="4777299" y="3826295"/>
            <a:chExt cx="409086" cy="323981"/>
          </a:xfrm>
        </p:grpSpPr>
        <p:cxnSp>
          <p:nvCxnSpPr>
            <p:cNvPr id="95" name="Straight Arrow Connector 94"/>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6" name="TextBox 95"/>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97" name="Group 96"/>
          <p:cNvGrpSpPr/>
          <p:nvPr/>
        </p:nvGrpSpPr>
        <p:grpSpPr>
          <a:xfrm>
            <a:off x="6789911" y="2175774"/>
            <a:ext cx="409086" cy="323981"/>
            <a:chOff x="4777299" y="3826295"/>
            <a:chExt cx="409086" cy="323981"/>
          </a:xfrm>
        </p:grpSpPr>
        <p:cxnSp>
          <p:nvCxnSpPr>
            <p:cNvPr id="98" name="Straight Arrow Connector 97"/>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9" name="TextBox 98"/>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grpSp>
        <p:nvGrpSpPr>
          <p:cNvPr id="100" name="Group 99"/>
          <p:cNvGrpSpPr/>
          <p:nvPr/>
        </p:nvGrpSpPr>
        <p:grpSpPr>
          <a:xfrm>
            <a:off x="7589491" y="2175774"/>
            <a:ext cx="409086" cy="323981"/>
            <a:chOff x="4777299" y="3826295"/>
            <a:chExt cx="409086" cy="323981"/>
          </a:xfrm>
        </p:grpSpPr>
        <p:cxnSp>
          <p:nvCxnSpPr>
            <p:cNvPr id="101" name="Straight Arrow Connector 100"/>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2" name="TextBox 101"/>
            <p:cNvSpPr txBox="1"/>
            <p:nvPr/>
          </p:nvSpPr>
          <p:spPr>
            <a:xfrm>
              <a:off x="4777299" y="3826295"/>
              <a:ext cx="409086" cy="261610"/>
            </a:xfrm>
            <a:prstGeom prst="rect">
              <a:avLst/>
            </a:prstGeom>
            <a:noFill/>
          </p:spPr>
          <p:txBody>
            <a:bodyPr wrap="none" rtlCol="0" anchor="ctr" anchorCtr="0">
              <a:spAutoFit/>
            </a:bodyPr>
            <a:lstStyle/>
            <a:p>
              <a:r>
                <a:rPr lang="en-US" sz="1100" dirty="0"/>
                <a:t>sort</a:t>
              </a:r>
            </a:p>
          </p:txBody>
        </p:sp>
      </p:grpSp>
      <p:cxnSp>
        <p:nvCxnSpPr>
          <p:cNvPr id="104" name="Straight Arrow Connector 103"/>
          <p:cNvCxnSpPr/>
          <p:nvPr/>
        </p:nvCxnSpPr>
        <p:spPr>
          <a:xfrm>
            <a:off x="1994912" y="292763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5" name="TextBox 104"/>
          <p:cNvSpPr txBox="1"/>
          <p:nvPr/>
        </p:nvSpPr>
        <p:spPr>
          <a:xfrm>
            <a:off x="2112836" y="2911082"/>
            <a:ext cx="553358" cy="261610"/>
          </a:xfrm>
          <a:prstGeom prst="rect">
            <a:avLst/>
          </a:prstGeom>
          <a:noFill/>
        </p:spPr>
        <p:txBody>
          <a:bodyPr wrap="none" rtlCol="0" anchor="ctr" anchorCtr="0">
            <a:spAutoFit/>
          </a:bodyPr>
          <a:lstStyle/>
          <a:p>
            <a:pPr algn="ctr"/>
            <a:r>
              <a:rPr lang="en-US" sz="1100" dirty="0"/>
              <a:t>merge</a:t>
            </a:r>
          </a:p>
        </p:txBody>
      </p:sp>
      <p:cxnSp>
        <p:nvCxnSpPr>
          <p:cNvPr id="107" name="Straight Arrow Connector 106"/>
          <p:cNvCxnSpPr/>
          <p:nvPr/>
        </p:nvCxnSpPr>
        <p:spPr>
          <a:xfrm flipH="1">
            <a:off x="2530422" y="292763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p:cNvCxnSpPr/>
          <p:nvPr/>
        </p:nvCxnSpPr>
        <p:spPr>
          <a:xfrm>
            <a:off x="3594072" y="292763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1" name="TextBox 110"/>
          <p:cNvSpPr txBox="1"/>
          <p:nvPr/>
        </p:nvSpPr>
        <p:spPr>
          <a:xfrm>
            <a:off x="3715937" y="2911082"/>
            <a:ext cx="553358" cy="261610"/>
          </a:xfrm>
          <a:prstGeom prst="rect">
            <a:avLst/>
          </a:prstGeom>
          <a:noFill/>
        </p:spPr>
        <p:txBody>
          <a:bodyPr wrap="none" rtlCol="0" anchor="ctr" anchorCtr="0">
            <a:spAutoFit/>
          </a:bodyPr>
          <a:lstStyle/>
          <a:p>
            <a:pPr algn="ctr"/>
            <a:r>
              <a:rPr lang="en-US" sz="1100" dirty="0"/>
              <a:t>merge</a:t>
            </a:r>
          </a:p>
        </p:txBody>
      </p:sp>
      <p:cxnSp>
        <p:nvCxnSpPr>
          <p:cNvPr id="113" name="Straight Arrow Connector 112"/>
          <p:cNvCxnSpPr/>
          <p:nvPr/>
        </p:nvCxnSpPr>
        <p:spPr>
          <a:xfrm flipH="1">
            <a:off x="4129582" y="292763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p:cNvCxnSpPr/>
          <p:nvPr/>
        </p:nvCxnSpPr>
        <p:spPr>
          <a:xfrm>
            <a:off x="5193232" y="292763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7" name="TextBox 116"/>
          <p:cNvSpPr txBox="1"/>
          <p:nvPr/>
        </p:nvSpPr>
        <p:spPr>
          <a:xfrm>
            <a:off x="5315097" y="2911082"/>
            <a:ext cx="553358" cy="261610"/>
          </a:xfrm>
          <a:prstGeom prst="rect">
            <a:avLst/>
          </a:prstGeom>
          <a:noFill/>
        </p:spPr>
        <p:txBody>
          <a:bodyPr wrap="none" rtlCol="0" anchor="ctr" anchorCtr="0">
            <a:spAutoFit/>
          </a:bodyPr>
          <a:lstStyle/>
          <a:p>
            <a:pPr algn="ctr"/>
            <a:r>
              <a:rPr lang="en-US" sz="1100" dirty="0"/>
              <a:t>merge</a:t>
            </a:r>
          </a:p>
        </p:txBody>
      </p:sp>
      <p:cxnSp>
        <p:nvCxnSpPr>
          <p:cNvPr id="119" name="Straight Arrow Connector 118"/>
          <p:cNvCxnSpPr/>
          <p:nvPr/>
        </p:nvCxnSpPr>
        <p:spPr>
          <a:xfrm flipH="1">
            <a:off x="5728742" y="292763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1"/>
          <p:cNvCxnSpPr/>
          <p:nvPr/>
        </p:nvCxnSpPr>
        <p:spPr>
          <a:xfrm>
            <a:off x="6792392" y="292763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3" name="TextBox 122"/>
          <p:cNvSpPr txBox="1"/>
          <p:nvPr/>
        </p:nvSpPr>
        <p:spPr>
          <a:xfrm>
            <a:off x="6914257" y="2911082"/>
            <a:ext cx="553358" cy="261610"/>
          </a:xfrm>
          <a:prstGeom prst="rect">
            <a:avLst/>
          </a:prstGeom>
          <a:noFill/>
        </p:spPr>
        <p:txBody>
          <a:bodyPr wrap="none" rtlCol="0" anchor="ctr" anchorCtr="0">
            <a:spAutoFit/>
          </a:bodyPr>
          <a:lstStyle/>
          <a:p>
            <a:pPr algn="ctr"/>
            <a:r>
              <a:rPr lang="en-US" sz="1100" dirty="0"/>
              <a:t>merge</a:t>
            </a:r>
          </a:p>
        </p:txBody>
      </p:sp>
      <p:cxnSp>
        <p:nvCxnSpPr>
          <p:cNvPr id="125" name="Straight Arrow Connector 124"/>
          <p:cNvCxnSpPr/>
          <p:nvPr/>
        </p:nvCxnSpPr>
        <p:spPr>
          <a:xfrm flipH="1">
            <a:off x="7327902" y="2927636"/>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0" name="Straight Arrow Connector 129"/>
          <p:cNvCxnSpPr/>
          <p:nvPr/>
        </p:nvCxnSpPr>
        <p:spPr>
          <a:xfrm>
            <a:off x="2800368" y="3651493"/>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1" name="TextBox 130"/>
          <p:cNvSpPr txBox="1"/>
          <p:nvPr/>
        </p:nvSpPr>
        <p:spPr>
          <a:xfrm>
            <a:off x="2918292" y="3634939"/>
            <a:ext cx="553358" cy="261610"/>
          </a:xfrm>
          <a:prstGeom prst="rect">
            <a:avLst/>
          </a:prstGeom>
          <a:noFill/>
        </p:spPr>
        <p:txBody>
          <a:bodyPr wrap="none" rtlCol="0" anchor="ctr" anchorCtr="0">
            <a:spAutoFit/>
          </a:bodyPr>
          <a:lstStyle/>
          <a:p>
            <a:pPr algn="ctr"/>
            <a:r>
              <a:rPr lang="en-US" sz="1100" dirty="0"/>
              <a:t>merge</a:t>
            </a:r>
          </a:p>
        </p:txBody>
      </p:sp>
      <p:cxnSp>
        <p:nvCxnSpPr>
          <p:cNvPr id="132" name="Straight Arrow Connector 131"/>
          <p:cNvCxnSpPr/>
          <p:nvPr/>
        </p:nvCxnSpPr>
        <p:spPr>
          <a:xfrm flipH="1">
            <a:off x="3335878" y="3651493"/>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3" name="Straight Arrow Connector 132"/>
          <p:cNvCxnSpPr/>
          <p:nvPr/>
        </p:nvCxnSpPr>
        <p:spPr>
          <a:xfrm>
            <a:off x="5994747" y="3651493"/>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4" name="TextBox 133"/>
          <p:cNvSpPr txBox="1"/>
          <p:nvPr/>
        </p:nvSpPr>
        <p:spPr>
          <a:xfrm>
            <a:off x="6116612" y="3634939"/>
            <a:ext cx="553358" cy="261610"/>
          </a:xfrm>
          <a:prstGeom prst="rect">
            <a:avLst/>
          </a:prstGeom>
          <a:noFill/>
        </p:spPr>
        <p:txBody>
          <a:bodyPr wrap="none" rtlCol="0" anchor="ctr" anchorCtr="0">
            <a:spAutoFit/>
          </a:bodyPr>
          <a:lstStyle/>
          <a:p>
            <a:pPr algn="ctr"/>
            <a:r>
              <a:rPr lang="en-US" sz="1100" dirty="0"/>
              <a:t>merge</a:t>
            </a:r>
          </a:p>
        </p:txBody>
      </p:sp>
      <p:cxnSp>
        <p:nvCxnSpPr>
          <p:cNvPr id="135" name="Straight Arrow Connector 134"/>
          <p:cNvCxnSpPr/>
          <p:nvPr/>
        </p:nvCxnSpPr>
        <p:spPr>
          <a:xfrm flipH="1">
            <a:off x="6530257" y="3651493"/>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Straight Arrow Connector 135"/>
          <p:cNvCxnSpPr/>
          <p:nvPr/>
        </p:nvCxnSpPr>
        <p:spPr>
          <a:xfrm>
            <a:off x="4397199" y="4392730"/>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7" name="TextBox 136"/>
          <p:cNvSpPr txBox="1"/>
          <p:nvPr/>
        </p:nvSpPr>
        <p:spPr>
          <a:xfrm>
            <a:off x="4515123" y="4376176"/>
            <a:ext cx="553358" cy="261610"/>
          </a:xfrm>
          <a:prstGeom prst="rect">
            <a:avLst/>
          </a:prstGeom>
          <a:noFill/>
        </p:spPr>
        <p:txBody>
          <a:bodyPr wrap="none" rtlCol="0" anchor="ctr" anchorCtr="0">
            <a:spAutoFit/>
          </a:bodyPr>
          <a:lstStyle/>
          <a:p>
            <a:pPr algn="ctr"/>
            <a:r>
              <a:rPr lang="en-US" sz="1100" dirty="0"/>
              <a:t>merge</a:t>
            </a:r>
          </a:p>
        </p:txBody>
      </p:sp>
      <p:cxnSp>
        <p:nvCxnSpPr>
          <p:cNvPr id="138" name="Straight Arrow Connector 137"/>
          <p:cNvCxnSpPr/>
          <p:nvPr/>
        </p:nvCxnSpPr>
        <p:spPr>
          <a:xfrm flipH="1">
            <a:off x="4932709" y="4392730"/>
            <a:ext cx="27432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4" name="TextBox 123"/>
          <p:cNvSpPr txBox="1"/>
          <p:nvPr/>
        </p:nvSpPr>
        <p:spPr>
          <a:xfrm>
            <a:off x="383736" y="5194051"/>
            <a:ext cx="8429524" cy="1384995"/>
          </a:xfrm>
          <a:prstGeom prst="rect">
            <a:avLst/>
          </a:prstGeom>
          <a:noFill/>
        </p:spPr>
        <p:txBody>
          <a:bodyPr wrap="square" rtlCol="0">
            <a:spAutoFit/>
          </a:bodyPr>
          <a:lstStyle/>
          <a:p>
            <a:pPr algn="ctr"/>
            <a:r>
              <a:rPr lang="en-US" sz="1600" b="1" u="sng" dirty="0"/>
              <a:t>Parallelization approach:</a:t>
            </a:r>
            <a:r>
              <a:rPr lang="en-US" sz="1600" dirty="0"/>
              <a:t> Each step performs different ordered merge operations in parallel, and also parallelizes each merge operation (we have already seen how to parallelize ordered merge)</a:t>
            </a:r>
          </a:p>
          <a:p>
            <a:pPr algn="ctr"/>
            <a:endParaRPr lang="en-US" sz="1000" dirty="0"/>
          </a:p>
          <a:p>
            <a:pPr algn="ctr"/>
            <a:r>
              <a:rPr lang="en-US" sz="1600" dirty="0"/>
              <a:t>Earlier steps rely more on parallelism across merge operations</a:t>
            </a:r>
          </a:p>
          <a:p>
            <a:pPr algn="ctr"/>
            <a:endParaRPr lang="en-US" sz="1000" dirty="0"/>
          </a:p>
          <a:p>
            <a:pPr algn="ctr"/>
            <a:r>
              <a:rPr lang="en-US" sz="1600" dirty="0"/>
              <a:t>Later steps rely more on parallelism within merge operations</a:t>
            </a:r>
          </a:p>
        </p:txBody>
      </p:sp>
    </p:spTree>
    <p:extLst>
      <p:ext uri="{BB962C8B-B14F-4D97-AF65-F5344CB8AC3E}">
        <p14:creationId xmlns:p14="http://schemas.microsoft.com/office/powerpoint/2010/main" val="2920738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5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4">
                                            <p:txEl>
                                              <p:pRg st="2" end="2"/>
                                            </p:txEl>
                                          </p:spTgt>
                                        </p:tgtEl>
                                        <p:attrNameLst>
                                          <p:attrName>style.visibility</p:attrName>
                                        </p:attrNameLst>
                                      </p:cBhvr>
                                      <p:to>
                                        <p:strVal val="visible"/>
                                      </p:to>
                                    </p:set>
                                    <p:animEffect transition="in" filter="fade">
                                      <p:cBhvr>
                                        <p:cTn id="12" dur="500"/>
                                        <p:tgtEl>
                                          <p:spTgt spid="12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4">
                                            <p:txEl>
                                              <p:pRg st="4" end="4"/>
                                            </p:txEl>
                                          </p:spTgt>
                                        </p:tgtEl>
                                        <p:attrNameLst>
                                          <p:attrName>style.visibility</p:attrName>
                                        </p:attrNameLst>
                                      </p:cBhvr>
                                      <p:to>
                                        <p:strVal val="visible"/>
                                      </p:to>
                                    </p:set>
                                    <p:animEffect transition="in" filter="fade">
                                      <p:cBhvr>
                                        <p:cTn id="17" dur="500"/>
                                        <p:tgtEl>
                                          <p:spTgt spid="12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Merge Sort Complexity</a:t>
            </a:r>
          </a:p>
        </p:txBody>
      </p:sp>
      <mc:AlternateContent xmlns:mc="http://schemas.openxmlformats.org/markup-compatibility/2006" xmlns:a14="http://schemas.microsoft.com/office/drawing/2010/main">
        <mc:Choice Requires="a14">
          <p:sp>
            <p:nvSpPr>
              <p:cNvPr id="4" name="Content Placeholder 3"/>
              <p:cNvSpPr>
                <a:spLocks noGrp="1"/>
              </p:cNvSpPr>
              <p:nvPr>
                <p:ph sz="half" idx="1"/>
              </p:nvPr>
            </p:nvSpPr>
            <p:spPr/>
            <p:txBody>
              <a:bodyPr/>
              <a:lstStyle/>
              <a:p>
                <a:r>
                  <a:rPr lang="en-US" dirty="0"/>
                  <a:t>Merge sort has a complexity of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ea typeface="Cambria Math" panose="02040503050406030204" pitchFamily="18" charset="0"/>
                      </a:rPr>
                      <m:t>∙</m:t>
                    </m:r>
                    <m:r>
                      <m:rPr>
                        <m:sty m:val="p"/>
                      </m:rPr>
                      <a:rPr lang="en-US" i="1" dirty="0" smtClean="0">
                        <a:latin typeface="Cambria Math" panose="02040503050406030204" pitchFamily="18" charset="0"/>
                      </a:rPr>
                      <m:t>log</m:t>
                    </m:r>
                    <m:r>
                      <a:rPr lang="en-US" b="0" i="1" dirty="0" smtClean="0">
                        <a:latin typeface="Cambria Math" panose="02040503050406030204" pitchFamily="18" charset="0"/>
                      </a:rPr>
                      <m:t> </m:t>
                    </m:r>
                    <m:r>
                      <a:rPr lang="en-US" i="1" dirty="0" smtClean="0">
                        <a:latin typeface="Cambria Math" panose="02040503050406030204" pitchFamily="18" charset="0"/>
                      </a:rPr>
                      <m:t>𝑛</m:t>
                    </m:r>
                    <m:r>
                      <a:rPr lang="en-US" i="1" dirty="0" smtClean="0">
                        <a:latin typeface="Cambria Math" panose="02040503050406030204" pitchFamily="18" charset="0"/>
                      </a:rPr>
                      <m:t>)</m:t>
                    </m:r>
                  </m:oMath>
                </a14:m>
                <a:r>
                  <a:rPr lang="en-US" dirty="0"/>
                  <a:t> which is the best that can be achieved for a </a:t>
                </a:r>
                <a:r>
                  <a:rPr lang="en-US" b="1" dirty="0">
                    <a:solidFill>
                      <a:schemeClr val="accent5"/>
                    </a:solidFill>
                  </a:rPr>
                  <a:t>comparison-based</a:t>
                </a:r>
                <a:r>
                  <a:rPr lang="en-US" dirty="0"/>
                  <a:t> sorting algorithm</a:t>
                </a:r>
                <a:endParaRPr lang="en-US" b="1" dirty="0">
                  <a:solidFill>
                    <a:schemeClr val="accent5"/>
                  </a:solidFill>
                </a:endParaRPr>
              </a:p>
              <a:p>
                <a:endParaRPr lang="en-US" dirty="0"/>
              </a:p>
              <a:p>
                <a:r>
                  <a:rPr lang="en-US" dirty="0"/>
                  <a:t>Better complexity can be achieved by a </a:t>
                </a:r>
                <a:r>
                  <a:rPr lang="en-US" b="1" dirty="0">
                    <a:solidFill>
                      <a:schemeClr val="accent5"/>
                    </a:solidFill>
                  </a:rPr>
                  <a:t>non-comparison-based</a:t>
                </a:r>
                <a:r>
                  <a:rPr lang="en-US" dirty="0"/>
                  <a:t> sorting algorithm such as radix sort</a:t>
                </a:r>
              </a:p>
            </p:txBody>
          </p:sp>
        </mc:Choice>
        <mc:Fallback xmlns="">
          <p:sp>
            <p:nvSpPr>
              <p:cNvPr id="4" name="Content Placeholder 3"/>
              <p:cNvSpPr>
                <a:spLocks noGrp="1" noRot="1" noChangeAspect="1" noMove="1" noResize="1" noEditPoints="1" noAdjustHandles="1" noChangeArrowheads="1" noChangeShapeType="1" noTextEdit="1"/>
              </p:cNvSpPr>
              <p:nvPr>
                <p:ph sz="half" idx="1"/>
              </p:nvPr>
            </p:nvSpPr>
            <p:spPr>
              <a:blipFill>
                <a:blip r:embed="rId2"/>
                <a:stretch>
                  <a:fillRect l="-648" t="-1091"/>
                </a:stretch>
              </a:blipFill>
            </p:spPr>
            <p:txBody>
              <a:bodyPr/>
              <a:lstStyle/>
              <a:p>
                <a:r>
                  <a:rPr lang="en-US">
                    <a:noFill/>
                  </a:rPr>
                  <a:t> </a:t>
                </a:r>
              </a:p>
            </p:txBody>
          </p:sp>
        </mc:Fallback>
      </mc:AlternateContent>
    </p:spTree>
    <p:extLst>
      <p:ext uri="{BB962C8B-B14F-4D97-AF65-F5344CB8AC3E}">
        <p14:creationId xmlns:p14="http://schemas.microsoft.com/office/powerpoint/2010/main" val="3277918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0"/>
          </p:nvPr>
        </p:nvSpPr>
        <p:spPr/>
        <p:txBody>
          <a:bodyPr/>
          <a:lstStyle/>
          <a:p>
            <a:r>
              <a:rPr lang="en-US" dirty="0"/>
              <a:t>Radix Sort</a:t>
            </a:r>
          </a:p>
        </p:txBody>
      </p:sp>
      <p:sp>
        <p:nvSpPr>
          <p:cNvPr id="3" name="Content Placeholder 2"/>
          <p:cNvSpPr>
            <a:spLocks noGrp="1"/>
          </p:cNvSpPr>
          <p:nvPr>
            <p:ph sz="half" idx="1"/>
          </p:nvPr>
        </p:nvSpPr>
        <p:spPr>
          <a:xfrm>
            <a:off x="350672" y="838072"/>
            <a:ext cx="8464802" cy="5584630"/>
          </a:xfrm>
        </p:spPr>
        <p:txBody>
          <a:bodyPr>
            <a:noAutofit/>
          </a:bodyPr>
          <a:lstStyle/>
          <a:p>
            <a:pPr>
              <a:buClr>
                <a:schemeClr val="tx1"/>
              </a:buClr>
            </a:pPr>
            <a:r>
              <a:rPr lang="en-US" b="1" dirty="0">
                <a:solidFill>
                  <a:schemeClr val="accent5"/>
                </a:solidFill>
              </a:rPr>
              <a:t>Radix sort</a:t>
            </a:r>
            <a:r>
              <a:rPr lang="en-US" dirty="0"/>
              <a:t> is a sorting algorithm that distributes keys into </a:t>
            </a:r>
            <a:r>
              <a:rPr lang="en-US" b="1" dirty="0">
                <a:solidFill>
                  <a:schemeClr val="accent5"/>
                </a:solidFill>
              </a:rPr>
              <a:t>buckets</a:t>
            </a:r>
            <a:r>
              <a:rPr lang="en-US" dirty="0"/>
              <a:t> based on a radix (or base)</a:t>
            </a:r>
          </a:p>
          <a:p>
            <a:pPr>
              <a:buClr>
                <a:schemeClr val="tx1"/>
              </a:buClr>
            </a:pPr>
            <a:endParaRPr lang="en-US" dirty="0"/>
          </a:p>
          <a:p>
            <a:pPr>
              <a:buClr>
                <a:schemeClr val="tx1"/>
              </a:buClr>
            </a:pPr>
            <a:r>
              <a:rPr lang="en-US" dirty="0"/>
              <a:t>Distributing keys into buckets is repeated for each digit, while preserving the order from previous iterations within each bucket</a:t>
            </a:r>
          </a:p>
          <a:p>
            <a:pPr>
              <a:buClr>
                <a:schemeClr val="tx1"/>
              </a:buClr>
            </a:pPr>
            <a:endParaRPr lang="en-US" dirty="0"/>
          </a:p>
          <a:p>
            <a:pPr>
              <a:buClr>
                <a:schemeClr val="tx1"/>
              </a:buClr>
            </a:pPr>
            <a:r>
              <a:rPr lang="en-US" dirty="0"/>
              <a:t>Using a radix that is a power of two simplifies processing binary numbers</a:t>
            </a:r>
          </a:p>
          <a:p>
            <a:pPr lvl="1">
              <a:buClr>
                <a:schemeClr val="tx1"/>
              </a:buClr>
            </a:pPr>
            <a:r>
              <a:rPr lang="en-US" dirty="0"/>
              <a:t>Each iteration handles a fixed slice of bits from the key</a:t>
            </a:r>
          </a:p>
          <a:p>
            <a:pPr lvl="1">
              <a:buClr>
                <a:schemeClr val="tx1"/>
              </a:buClr>
            </a:pPr>
            <a:r>
              <a:rPr lang="en-US" dirty="0"/>
              <a:t>We will start with a radix of two (1 bit) then extend</a:t>
            </a:r>
          </a:p>
        </p:txBody>
      </p:sp>
    </p:spTree>
    <p:extLst>
      <p:ext uri="{BB962C8B-B14F-4D97-AF65-F5344CB8AC3E}">
        <p14:creationId xmlns:p14="http://schemas.microsoft.com/office/powerpoint/2010/main" val="1251442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Radix Sort Example (1-bit Radix)</a:t>
            </a:r>
          </a:p>
        </p:txBody>
      </p:sp>
      <p:grpSp>
        <p:nvGrpSpPr>
          <p:cNvPr id="51" name="Group 50"/>
          <p:cNvGrpSpPr/>
          <p:nvPr/>
        </p:nvGrpSpPr>
        <p:grpSpPr>
          <a:xfrm>
            <a:off x="1127235" y="1121984"/>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grpSp>
    </p:spTree>
    <p:extLst>
      <p:ext uri="{BB962C8B-B14F-4D97-AF65-F5344CB8AC3E}">
        <p14:creationId xmlns:p14="http://schemas.microsoft.com/office/powerpoint/2010/main" val="858311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Radix Sort Example (1-bit Radix)</a:t>
            </a:r>
          </a:p>
        </p:txBody>
      </p:sp>
      <p:grpSp>
        <p:nvGrpSpPr>
          <p:cNvPr id="51" name="Group 50"/>
          <p:cNvGrpSpPr/>
          <p:nvPr/>
        </p:nvGrpSpPr>
        <p:grpSpPr>
          <a:xfrm>
            <a:off x="1127235" y="1121984"/>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grpSp>
      <p:grpSp>
        <p:nvGrpSpPr>
          <p:cNvPr id="52" name="Group 51"/>
          <p:cNvGrpSpPr/>
          <p:nvPr/>
        </p:nvGrpSpPr>
        <p:grpSpPr>
          <a:xfrm>
            <a:off x="1127235" y="2239365"/>
            <a:ext cx="7299435" cy="457200"/>
            <a:chOff x="941989" y="1557421"/>
            <a:chExt cx="7299435" cy="457200"/>
          </a:xfrm>
        </p:grpSpPr>
        <p:sp>
          <p:nvSpPr>
            <p:cNvPr id="53" name="Rectangle 52"/>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54" name="Rectangle 53"/>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55" name="Rectangle 54"/>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56" name="Rectangle 55"/>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57" name="Rectangle 56"/>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58" name="Rectangle 57"/>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59" name="Rectangle 58"/>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60" name="Rectangle 59"/>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61" name="Rectangle 60"/>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62" name="Rectangle 61"/>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63" name="Rectangle 62"/>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64" name="Rectangle 63"/>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65" name="Rectangle 64"/>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66" name="Rectangle 65"/>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67" name="Rectangle 66"/>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68" name="Rectangle 67"/>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grpSp>
      <p:grpSp>
        <p:nvGrpSpPr>
          <p:cNvPr id="2" name="Group 1"/>
          <p:cNvGrpSpPr/>
          <p:nvPr/>
        </p:nvGrpSpPr>
        <p:grpSpPr>
          <a:xfrm>
            <a:off x="1355835" y="1579184"/>
            <a:ext cx="6842235" cy="660181"/>
            <a:chOff x="1355835" y="1963384"/>
            <a:chExt cx="6842235" cy="660181"/>
          </a:xfrm>
        </p:grpSpPr>
        <p:cxnSp>
          <p:nvCxnSpPr>
            <p:cNvPr id="104" name="Straight Arrow Connector 103"/>
            <p:cNvCxnSpPr>
              <a:stCxn id="5" idx="2"/>
              <a:endCxn id="53" idx="0"/>
            </p:cNvCxnSpPr>
            <p:nvPr/>
          </p:nvCxnSpPr>
          <p:spPr>
            <a:xfrm>
              <a:off x="1355835" y="1963384"/>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36" idx="2"/>
              <a:endCxn id="61" idx="0"/>
            </p:cNvCxnSpPr>
            <p:nvPr/>
          </p:nvCxnSpPr>
          <p:spPr>
            <a:xfrm>
              <a:off x="1811984" y="19633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p:cNvCxnSpPr>
              <a:stCxn id="37" idx="2"/>
              <a:endCxn id="54" idx="0"/>
            </p:cNvCxnSpPr>
            <p:nvPr/>
          </p:nvCxnSpPr>
          <p:spPr>
            <a:xfrm flipH="1">
              <a:off x="1811984" y="1963384"/>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p:cNvCxnSpPr>
              <a:stCxn id="38" idx="2"/>
              <a:endCxn id="62" idx="0"/>
            </p:cNvCxnSpPr>
            <p:nvPr/>
          </p:nvCxnSpPr>
          <p:spPr>
            <a:xfrm>
              <a:off x="2724282" y="1963384"/>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p:cNvCxnSpPr>
              <a:stCxn id="39" idx="2"/>
              <a:endCxn id="63" idx="0"/>
            </p:cNvCxnSpPr>
            <p:nvPr/>
          </p:nvCxnSpPr>
          <p:spPr>
            <a:xfrm>
              <a:off x="3180431" y="1963384"/>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p:cNvCxnSpPr>
              <a:stCxn id="40" idx="2"/>
              <a:endCxn id="55" idx="0"/>
            </p:cNvCxnSpPr>
            <p:nvPr/>
          </p:nvCxnSpPr>
          <p:spPr>
            <a:xfrm flipH="1">
              <a:off x="2268133" y="19633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p:cNvCxnSpPr>
              <a:stCxn id="41" idx="2"/>
              <a:endCxn id="64" idx="0"/>
            </p:cNvCxnSpPr>
            <p:nvPr/>
          </p:nvCxnSpPr>
          <p:spPr>
            <a:xfrm>
              <a:off x="4092729" y="1963384"/>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p:cNvCxnSpPr>
              <a:stCxn id="42" idx="2"/>
              <a:endCxn id="56" idx="0"/>
            </p:cNvCxnSpPr>
            <p:nvPr/>
          </p:nvCxnSpPr>
          <p:spPr>
            <a:xfrm flipH="1">
              <a:off x="2724282" y="1963384"/>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p:cNvCxnSpPr>
              <a:stCxn id="43" idx="2"/>
              <a:endCxn id="65" idx="0"/>
            </p:cNvCxnSpPr>
            <p:nvPr/>
          </p:nvCxnSpPr>
          <p:spPr>
            <a:xfrm>
              <a:off x="5005027" y="1963384"/>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p:cNvCxnSpPr>
              <a:stCxn id="44" idx="2"/>
              <a:endCxn id="57" idx="0"/>
            </p:cNvCxnSpPr>
            <p:nvPr/>
          </p:nvCxnSpPr>
          <p:spPr>
            <a:xfrm flipH="1">
              <a:off x="3180431" y="1963384"/>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p:cNvCxnSpPr>
              <a:stCxn id="45" idx="2"/>
              <a:endCxn id="66" idx="0"/>
            </p:cNvCxnSpPr>
            <p:nvPr/>
          </p:nvCxnSpPr>
          <p:spPr>
            <a:xfrm>
              <a:off x="5917325" y="19633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p:cNvCxnSpPr>
              <a:stCxn id="46" idx="2"/>
              <a:endCxn id="67" idx="0"/>
            </p:cNvCxnSpPr>
            <p:nvPr/>
          </p:nvCxnSpPr>
          <p:spPr>
            <a:xfrm>
              <a:off x="6373474" y="19633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p:cNvCxnSpPr>
              <a:stCxn id="47" idx="2"/>
              <a:endCxn id="58" idx="0"/>
            </p:cNvCxnSpPr>
            <p:nvPr/>
          </p:nvCxnSpPr>
          <p:spPr>
            <a:xfrm flipH="1">
              <a:off x="3636580" y="19633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Straight Arrow Connector 116"/>
            <p:cNvCxnSpPr>
              <a:stCxn id="48" idx="2"/>
              <a:endCxn id="59" idx="0"/>
            </p:cNvCxnSpPr>
            <p:nvPr/>
          </p:nvCxnSpPr>
          <p:spPr>
            <a:xfrm flipH="1">
              <a:off x="4092729" y="19633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Straight Arrow Connector 117"/>
            <p:cNvCxnSpPr>
              <a:stCxn id="49" idx="2"/>
              <a:endCxn id="68" idx="0"/>
            </p:cNvCxnSpPr>
            <p:nvPr/>
          </p:nvCxnSpPr>
          <p:spPr>
            <a:xfrm>
              <a:off x="7741921" y="1963384"/>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18"/>
            <p:cNvCxnSpPr>
              <a:stCxn id="50" idx="2"/>
              <a:endCxn id="60" idx="0"/>
            </p:cNvCxnSpPr>
            <p:nvPr/>
          </p:nvCxnSpPr>
          <p:spPr>
            <a:xfrm flipH="1">
              <a:off x="4548878" y="1963384"/>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69" name="TextBox 68"/>
          <p:cNvSpPr txBox="1"/>
          <p:nvPr/>
        </p:nvSpPr>
        <p:spPr>
          <a:xfrm>
            <a:off x="1851751" y="2874025"/>
            <a:ext cx="5440528" cy="369332"/>
          </a:xfrm>
          <a:prstGeom prst="rect">
            <a:avLst/>
          </a:prstGeom>
          <a:noFill/>
        </p:spPr>
        <p:txBody>
          <a:bodyPr wrap="none" rtlCol="0">
            <a:spAutoFit/>
          </a:bodyPr>
          <a:lstStyle/>
          <a:p>
            <a:pPr algn="ctr"/>
            <a:r>
              <a:rPr lang="en-US" dirty="0"/>
              <a:t>Separate the keys into two buckets based on the first bit</a:t>
            </a:r>
          </a:p>
        </p:txBody>
      </p:sp>
    </p:spTree>
    <p:extLst>
      <p:ext uri="{BB962C8B-B14F-4D97-AF65-F5344CB8AC3E}">
        <p14:creationId xmlns:p14="http://schemas.microsoft.com/office/powerpoint/2010/main" val="2548587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Radix Sort Example (1-bit Radix)</a:t>
            </a:r>
          </a:p>
        </p:txBody>
      </p:sp>
      <p:grpSp>
        <p:nvGrpSpPr>
          <p:cNvPr id="51" name="Group 50"/>
          <p:cNvGrpSpPr/>
          <p:nvPr/>
        </p:nvGrpSpPr>
        <p:grpSpPr>
          <a:xfrm>
            <a:off x="1127235" y="1121984"/>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grpSp>
      <p:cxnSp>
        <p:nvCxnSpPr>
          <p:cNvPr id="104" name="Straight Arrow Connector 103"/>
          <p:cNvCxnSpPr>
            <a:stCxn id="5" idx="2"/>
            <a:endCxn id="53" idx="0"/>
          </p:cNvCxnSpPr>
          <p:nvPr/>
        </p:nvCxnSpPr>
        <p:spPr>
          <a:xfrm>
            <a:off x="1355835" y="1579184"/>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36" idx="2"/>
            <a:endCxn id="61" idx="0"/>
          </p:cNvCxnSpPr>
          <p:nvPr/>
        </p:nvCxnSpPr>
        <p:spPr>
          <a:xfrm>
            <a:off x="1811984"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p:cNvCxnSpPr>
            <a:stCxn id="37" idx="2"/>
            <a:endCxn id="54" idx="0"/>
          </p:cNvCxnSpPr>
          <p:nvPr/>
        </p:nvCxnSpPr>
        <p:spPr>
          <a:xfrm flipH="1">
            <a:off x="1811984" y="1579184"/>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p:cNvCxnSpPr>
            <a:stCxn id="38" idx="2"/>
            <a:endCxn id="62" idx="0"/>
          </p:cNvCxnSpPr>
          <p:nvPr/>
        </p:nvCxnSpPr>
        <p:spPr>
          <a:xfrm>
            <a:off x="2724282" y="1579184"/>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p:cNvCxnSpPr>
            <a:stCxn id="39" idx="2"/>
            <a:endCxn id="63" idx="0"/>
          </p:cNvCxnSpPr>
          <p:nvPr/>
        </p:nvCxnSpPr>
        <p:spPr>
          <a:xfrm>
            <a:off x="3180431" y="1579184"/>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p:cNvCxnSpPr>
            <a:stCxn id="40" idx="2"/>
            <a:endCxn id="55" idx="0"/>
          </p:cNvCxnSpPr>
          <p:nvPr/>
        </p:nvCxnSpPr>
        <p:spPr>
          <a:xfrm flipH="1">
            <a:off x="2268133"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p:cNvCxnSpPr>
            <a:stCxn id="41" idx="2"/>
            <a:endCxn id="64" idx="0"/>
          </p:cNvCxnSpPr>
          <p:nvPr/>
        </p:nvCxnSpPr>
        <p:spPr>
          <a:xfrm>
            <a:off x="4092729" y="1579184"/>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p:cNvCxnSpPr>
            <a:stCxn id="42" idx="2"/>
            <a:endCxn id="56" idx="0"/>
          </p:cNvCxnSpPr>
          <p:nvPr/>
        </p:nvCxnSpPr>
        <p:spPr>
          <a:xfrm flipH="1">
            <a:off x="2724282" y="1579184"/>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p:cNvCxnSpPr>
            <a:stCxn id="43" idx="2"/>
            <a:endCxn id="65" idx="0"/>
          </p:cNvCxnSpPr>
          <p:nvPr/>
        </p:nvCxnSpPr>
        <p:spPr>
          <a:xfrm>
            <a:off x="5005027" y="1579184"/>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p:cNvCxnSpPr>
            <a:stCxn id="44" idx="2"/>
            <a:endCxn id="57" idx="0"/>
          </p:cNvCxnSpPr>
          <p:nvPr/>
        </p:nvCxnSpPr>
        <p:spPr>
          <a:xfrm flipH="1">
            <a:off x="3180431" y="1579184"/>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p:cNvCxnSpPr>
            <a:stCxn id="45" idx="2"/>
            <a:endCxn id="66" idx="0"/>
          </p:cNvCxnSpPr>
          <p:nvPr/>
        </p:nvCxnSpPr>
        <p:spPr>
          <a:xfrm>
            <a:off x="5917325"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p:cNvCxnSpPr>
            <a:stCxn id="46" idx="2"/>
            <a:endCxn id="67" idx="0"/>
          </p:cNvCxnSpPr>
          <p:nvPr/>
        </p:nvCxnSpPr>
        <p:spPr>
          <a:xfrm>
            <a:off x="6373474"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p:cNvCxnSpPr>
            <a:stCxn id="47" idx="2"/>
            <a:endCxn id="58" idx="0"/>
          </p:cNvCxnSpPr>
          <p:nvPr/>
        </p:nvCxnSpPr>
        <p:spPr>
          <a:xfrm flipH="1">
            <a:off x="3636580"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Straight Arrow Connector 116"/>
          <p:cNvCxnSpPr>
            <a:stCxn id="48" idx="2"/>
            <a:endCxn id="59" idx="0"/>
          </p:cNvCxnSpPr>
          <p:nvPr/>
        </p:nvCxnSpPr>
        <p:spPr>
          <a:xfrm flipH="1">
            <a:off x="4092729"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Straight Arrow Connector 117"/>
          <p:cNvCxnSpPr>
            <a:stCxn id="49" idx="2"/>
            <a:endCxn id="68" idx="0"/>
          </p:cNvCxnSpPr>
          <p:nvPr/>
        </p:nvCxnSpPr>
        <p:spPr>
          <a:xfrm>
            <a:off x="7741921" y="1579184"/>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18"/>
          <p:cNvCxnSpPr>
            <a:stCxn id="50" idx="2"/>
            <a:endCxn id="60" idx="0"/>
          </p:cNvCxnSpPr>
          <p:nvPr/>
        </p:nvCxnSpPr>
        <p:spPr>
          <a:xfrm flipH="1">
            <a:off x="4548878" y="1579184"/>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6" name="Rectangle 255"/>
          <p:cNvSpPr/>
          <p:nvPr/>
        </p:nvSpPr>
        <p:spPr>
          <a:xfrm>
            <a:off x="1095702" y="944045"/>
            <a:ext cx="7386145" cy="1295320"/>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p:cNvGrpSpPr/>
          <p:nvPr/>
        </p:nvGrpSpPr>
        <p:grpSpPr>
          <a:xfrm>
            <a:off x="1127235" y="2239365"/>
            <a:ext cx="7299435" cy="457200"/>
            <a:chOff x="941989" y="1557421"/>
            <a:chExt cx="7299435" cy="457200"/>
          </a:xfrm>
        </p:grpSpPr>
        <p:sp>
          <p:nvSpPr>
            <p:cNvPr id="53" name="Rectangle 52"/>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a:t>
              </a:r>
              <a:r>
                <a:rPr lang="en-US" sz="1600" dirty="0">
                  <a:solidFill>
                    <a:schemeClr val="tx1"/>
                  </a:solidFill>
                </a:rPr>
                <a:t>0</a:t>
              </a:r>
            </a:p>
          </p:txBody>
        </p:sp>
        <p:sp>
          <p:nvSpPr>
            <p:cNvPr id="54" name="Rectangle 53"/>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1</a:t>
              </a:r>
              <a:r>
                <a:rPr lang="en-US" sz="1600" dirty="0">
                  <a:solidFill>
                    <a:schemeClr val="tx1"/>
                  </a:solidFill>
                </a:rPr>
                <a:t>0</a:t>
              </a:r>
            </a:p>
          </p:txBody>
        </p:sp>
        <p:sp>
          <p:nvSpPr>
            <p:cNvPr id="55" name="Rectangle 54"/>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a:t>
              </a:r>
              <a:r>
                <a:rPr lang="en-US" sz="1600" dirty="0">
                  <a:solidFill>
                    <a:schemeClr val="tx1"/>
                  </a:solidFill>
                </a:rPr>
                <a:t>0</a:t>
              </a:r>
            </a:p>
          </p:txBody>
        </p:sp>
        <p:sp>
          <p:nvSpPr>
            <p:cNvPr id="56" name="Rectangle 55"/>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1</a:t>
              </a:r>
              <a:r>
                <a:rPr lang="en-US" sz="1600" dirty="0">
                  <a:solidFill>
                    <a:schemeClr val="tx1"/>
                  </a:solidFill>
                </a:rPr>
                <a:t>0</a:t>
              </a:r>
            </a:p>
          </p:txBody>
        </p:sp>
        <p:sp>
          <p:nvSpPr>
            <p:cNvPr id="57" name="Rectangle 56"/>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1</a:t>
              </a:r>
              <a:r>
                <a:rPr lang="en-US" sz="1600" dirty="0">
                  <a:solidFill>
                    <a:schemeClr val="tx1"/>
                  </a:solidFill>
                </a:rPr>
                <a:t>0</a:t>
              </a:r>
            </a:p>
          </p:txBody>
        </p:sp>
        <p:sp>
          <p:nvSpPr>
            <p:cNvPr id="58" name="Rectangle 57"/>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a:t>
              </a:r>
              <a:r>
                <a:rPr lang="en-US" sz="1600" dirty="0">
                  <a:solidFill>
                    <a:schemeClr val="tx1"/>
                  </a:solidFill>
                </a:rPr>
                <a:t>0</a:t>
              </a:r>
            </a:p>
          </p:txBody>
        </p:sp>
        <p:sp>
          <p:nvSpPr>
            <p:cNvPr id="59" name="Rectangle 58"/>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1</a:t>
              </a:r>
              <a:r>
                <a:rPr lang="en-US" sz="1600" dirty="0">
                  <a:solidFill>
                    <a:schemeClr val="tx1"/>
                  </a:solidFill>
                </a:rPr>
                <a:t>0</a:t>
              </a:r>
            </a:p>
          </p:txBody>
        </p:sp>
        <p:sp>
          <p:nvSpPr>
            <p:cNvPr id="60" name="Rectangle 59"/>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a:t>
              </a:r>
              <a:r>
                <a:rPr lang="en-US" sz="1600" dirty="0">
                  <a:solidFill>
                    <a:schemeClr val="tx1"/>
                  </a:solidFill>
                </a:rPr>
                <a:t>0</a:t>
              </a:r>
            </a:p>
          </p:txBody>
        </p:sp>
        <p:sp>
          <p:nvSpPr>
            <p:cNvPr id="61" name="Rectangle 60"/>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6"/>
                  </a:solidFill>
                </a:rPr>
                <a:t>1</a:t>
              </a:r>
              <a:r>
                <a:rPr lang="en-US" sz="1600" dirty="0">
                  <a:solidFill>
                    <a:schemeClr val="tx1"/>
                  </a:solidFill>
                </a:rPr>
                <a:t>1</a:t>
              </a:r>
            </a:p>
          </p:txBody>
        </p:sp>
        <p:sp>
          <p:nvSpPr>
            <p:cNvPr id="62" name="Rectangle 61"/>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a:t>
              </a:r>
              <a:r>
                <a:rPr lang="en-US" sz="1600" dirty="0">
                  <a:solidFill>
                    <a:schemeClr val="tx1"/>
                  </a:solidFill>
                </a:rPr>
                <a:t>1</a:t>
              </a:r>
            </a:p>
          </p:txBody>
        </p:sp>
        <p:sp>
          <p:nvSpPr>
            <p:cNvPr id="63" name="Rectangle 62"/>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1</a:t>
              </a:r>
              <a:r>
                <a:rPr lang="en-US" sz="1600" dirty="0">
                  <a:solidFill>
                    <a:schemeClr val="tx1"/>
                  </a:solidFill>
                </a:rPr>
                <a:t>1</a:t>
              </a:r>
            </a:p>
          </p:txBody>
        </p:sp>
        <p:sp>
          <p:nvSpPr>
            <p:cNvPr id="64" name="Rectangle 63"/>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a:t>
              </a:r>
              <a:r>
                <a:rPr lang="en-US" sz="1600" dirty="0">
                  <a:solidFill>
                    <a:schemeClr val="tx1"/>
                  </a:solidFill>
                </a:rPr>
                <a:t>1</a:t>
              </a:r>
            </a:p>
          </p:txBody>
        </p:sp>
        <p:sp>
          <p:nvSpPr>
            <p:cNvPr id="65" name="Rectangle 64"/>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a:t>
              </a:r>
              <a:r>
                <a:rPr lang="en-US" sz="1600" dirty="0">
                  <a:solidFill>
                    <a:schemeClr val="tx1"/>
                  </a:solidFill>
                </a:rPr>
                <a:t>1</a:t>
              </a:r>
            </a:p>
          </p:txBody>
        </p:sp>
        <p:sp>
          <p:nvSpPr>
            <p:cNvPr id="66" name="Rectangle 65"/>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1</a:t>
              </a:r>
              <a:r>
                <a:rPr lang="en-US" sz="1600" dirty="0">
                  <a:solidFill>
                    <a:schemeClr val="tx1"/>
                  </a:solidFill>
                </a:rPr>
                <a:t>1</a:t>
              </a:r>
            </a:p>
          </p:txBody>
        </p:sp>
        <p:sp>
          <p:nvSpPr>
            <p:cNvPr id="67" name="Rectangle 66"/>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a:t>
              </a:r>
              <a:r>
                <a:rPr lang="en-US" sz="1600" dirty="0">
                  <a:solidFill>
                    <a:schemeClr val="tx1"/>
                  </a:solidFill>
                </a:rPr>
                <a:t>1</a:t>
              </a:r>
            </a:p>
          </p:txBody>
        </p:sp>
        <p:sp>
          <p:nvSpPr>
            <p:cNvPr id="68" name="Rectangle 67"/>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1</a:t>
              </a:r>
              <a:r>
                <a:rPr lang="en-US" sz="1600" dirty="0">
                  <a:solidFill>
                    <a:schemeClr val="tx1"/>
                  </a:solidFill>
                </a:rPr>
                <a:t>1</a:t>
              </a:r>
            </a:p>
          </p:txBody>
        </p:sp>
      </p:grpSp>
      <p:grpSp>
        <p:nvGrpSpPr>
          <p:cNvPr id="69" name="Group 68"/>
          <p:cNvGrpSpPr/>
          <p:nvPr/>
        </p:nvGrpSpPr>
        <p:grpSpPr>
          <a:xfrm>
            <a:off x="1127235" y="3356746"/>
            <a:ext cx="7299435" cy="457200"/>
            <a:chOff x="941989" y="1557421"/>
            <a:chExt cx="7299435" cy="457200"/>
          </a:xfrm>
        </p:grpSpPr>
        <p:sp>
          <p:nvSpPr>
            <p:cNvPr id="70" name="Rectangle 6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a:t>
              </a:r>
              <a:r>
                <a:rPr lang="en-US" sz="1600" b="1" dirty="0">
                  <a:solidFill>
                    <a:schemeClr val="accent5"/>
                  </a:solidFill>
                </a:rPr>
                <a:t>0</a:t>
              </a:r>
              <a:r>
                <a:rPr lang="en-US" sz="1600" dirty="0"/>
                <a:t>0</a:t>
              </a:r>
            </a:p>
          </p:txBody>
        </p:sp>
        <p:sp>
          <p:nvSpPr>
            <p:cNvPr id="71" name="Rectangle 7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a:t>
              </a:r>
              <a:r>
                <a:rPr lang="en-US" sz="1600" b="1" dirty="0">
                  <a:solidFill>
                    <a:schemeClr val="accent5"/>
                  </a:solidFill>
                </a:rPr>
                <a:t>0</a:t>
              </a:r>
              <a:r>
                <a:rPr lang="en-US" sz="1600" dirty="0"/>
                <a:t>0</a:t>
              </a:r>
            </a:p>
          </p:txBody>
        </p:sp>
        <p:sp>
          <p:nvSpPr>
            <p:cNvPr id="72" name="Rectangle 7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a:t>
              </a:r>
              <a:r>
                <a:rPr lang="en-US" sz="1600" b="1" dirty="0">
                  <a:solidFill>
                    <a:schemeClr val="accent5"/>
                  </a:solidFill>
                </a:rPr>
                <a:t>0</a:t>
              </a:r>
              <a:r>
                <a:rPr lang="en-US" sz="1600" dirty="0"/>
                <a:t>0</a:t>
              </a:r>
            </a:p>
          </p:txBody>
        </p:sp>
        <p:sp>
          <p:nvSpPr>
            <p:cNvPr id="73" name="Rectangle 7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a:t>
              </a:r>
              <a:r>
                <a:rPr lang="en-US" sz="1600" b="1" dirty="0">
                  <a:solidFill>
                    <a:schemeClr val="accent5"/>
                  </a:solidFill>
                </a:rPr>
                <a:t>0</a:t>
              </a:r>
              <a:r>
                <a:rPr lang="en-US" sz="1600" dirty="0"/>
                <a:t>0</a:t>
              </a:r>
            </a:p>
          </p:txBody>
        </p:sp>
        <p:sp>
          <p:nvSpPr>
            <p:cNvPr id="74" name="Rectangle 7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a:t>
              </a:r>
              <a:r>
                <a:rPr lang="en-US" sz="1600" b="1" dirty="0">
                  <a:solidFill>
                    <a:schemeClr val="accent5"/>
                  </a:solidFill>
                </a:rPr>
                <a:t>0</a:t>
              </a:r>
              <a:r>
                <a:rPr lang="en-US" sz="1600" dirty="0"/>
                <a:t>1</a:t>
              </a:r>
            </a:p>
          </p:txBody>
        </p:sp>
        <p:sp>
          <p:nvSpPr>
            <p:cNvPr id="75" name="Rectangle 7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a:t>
              </a:r>
              <a:r>
                <a:rPr lang="en-US" sz="1600" b="1" dirty="0">
                  <a:solidFill>
                    <a:schemeClr val="accent5"/>
                  </a:solidFill>
                </a:rPr>
                <a:t>0</a:t>
              </a:r>
              <a:r>
                <a:rPr lang="en-US" sz="1600" dirty="0"/>
                <a:t>1</a:t>
              </a:r>
            </a:p>
          </p:txBody>
        </p:sp>
        <p:sp>
          <p:nvSpPr>
            <p:cNvPr id="76" name="Rectangle 7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a:t>
              </a:r>
              <a:r>
                <a:rPr lang="en-US" sz="1600" b="1" dirty="0">
                  <a:solidFill>
                    <a:schemeClr val="accent5"/>
                  </a:solidFill>
                </a:rPr>
                <a:t>0</a:t>
              </a:r>
              <a:r>
                <a:rPr lang="en-US" sz="1600" dirty="0"/>
                <a:t>1</a:t>
              </a:r>
            </a:p>
          </p:txBody>
        </p:sp>
        <p:sp>
          <p:nvSpPr>
            <p:cNvPr id="77" name="Rectangle 7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a:t>
              </a:r>
              <a:r>
                <a:rPr lang="en-US" sz="1600" b="1" dirty="0">
                  <a:solidFill>
                    <a:schemeClr val="accent5"/>
                  </a:solidFill>
                </a:rPr>
                <a:t>0</a:t>
              </a:r>
              <a:r>
                <a:rPr lang="en-US" sz="1600" dirty="0"/>
                <a:t>1</a:t>
              </a:r>
            </a:p>
          </p:txBody>
        </p:sp>
        <p:sp>
          <p:nvSpPr>
            <p:cNvPr id="78" name="Rectangle 7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a:t>
              </a:r>
              <a:r>
                <a:rPr lang="en-US" sz="1600" b="1" dirty="0">
                  <a:solidFill>
                    <a:schemeClr val="accent6"/>
                  </a:solidFill>
                </a:rPr>
                <a:t>1</a:t>
              </a:r>
              <a:r>
                <a:rPr lang="en-US" sz="1600" dirty="0"/>
                <a:t>0</a:t>
              </a:r>
            </a:p>
          </p:txBody>
        </p:sp>
        <p:sp>
          <p:nvSpPr>
            <p:cNvPr id="79" name="Rectangle 7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a:t>
              </a:r>
              <a:r>
                <a:rPr lang="en-US" sz="1600" b="1" dirty="0">
                  <a:solidFill>
                    <a:schemeClr val="accent6"/>
                  </a:solidFill>
                </a:rPr>
                <a:t>1</a:t>
              </a:r>
              <a:r>
                <a:rPr lang="en-US" sz="1600" dirty="0"/>
                <a:t>0</a:t>
              </a:r>
            </a:p>
          </p:txBody>
        </p:sp>
        <p:sp>
          <p:nvSpPr>
            <p:cNvPr id="80" name="Rectangle 79"/>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a:t>
              </a:r>
              <a:r>
                <a:rPr lang="en-US" sz="1600" b="1" dirty="0">
                  <a:solidFill>
                    <a:schemeClr val="accent6"/>
                  </a:solidFill>
                </a:rPr>
                <a:t>1</a:t>
              </a:r>
              <a:r>
                <a:rPr lang="en-US" sz="1600" dirty="0"/>
                <a:t>0</a:t>
              </a:r>
            </a:p>
          </p:txBody>
        </p:sp>
        <p:sp>
          <p:nvSpPr>
            <p:cNvPr id="81" name="Rectangle 80"/>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a:t>
              </a:r>
              <a:r>
                <a:rPr lang="en-US" sz="1600" b="1" dirty="0">
                  <a:solidFill>
                    <a:schemeClr val="accent6"/>
                  </a:solidFill>
                </a:rPr>
                <a:t>1</a:t>
              </a:r>
              <a:r>
                <a:rPr lang="en-US" sz="1600" dirty="0"/>
                <a:t>0</a:t>
              </a:r>
            </a:p>
          </p:txBody>
        </p:sp>
        <p:sp>
          <p:nvSpPr>
            <p:cNvPr id="82" name="Rectangle 81"/>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a:t>
              </a:r>
              <a:r>
                <a:rPr lang="en-US" sz="1600" b="1" dirty="0">
                  <a:solidFill>
                    <a:schemeClr val="accent6"/>
                  </a:solidFill>
                </a:rPr>
                <a:t>1</a:t>
              </a:r>
              <a:r>
                <a:rPr lang="en-US" sz="1600" dirty="0"/>
                <a:t>1</a:t>
              </a:r>
            </a:p>
          </p:txBody>
        </p:sp>
        <p:sp>
          <p:nvSpPr>
            <p:cNvPr id="83" name="Rectangle 82"/>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a:t>
              </a:r>
              <a:r>
                <a:rPr lang="en-US" sz="1600" b="1" dirty="0">
                  <a:solidFill>
                    <a:schemeClr val="accent6"/>
                  </a:solidFill>
                </a:rPr>
                <a:t>1</a:t>
              </a:r>
              <a:r>
                <a:rPr lang="en-US" sz="1600" dirty="0"/>
                <a:t>1</a:t>
              </a:r>
            </a:p>
          </p:txBody>
        </p:sp>
        <p:sp>
          <p:nvSpPr>
            <p:cNvPr id="84" name="Rectangle 83"/>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a:t>
              </a:r>
              <a:r>
                <a:rPr lang="en-US" sz="1600" b="1" dirty="0">
                  <a:solidFill>
                    <a:schemeClr val="accent6"/>
                  </a:solidFill>
                </a:rPr>
                <a:t>1</a:t>
              </a:r>
              <a:r>
                <a:rPr lang="en-US" sz="1600" dirty="0"/>
                <a:t>1</a:t>
              </a:r>
            </a:p>
          </p:txBody>
        </p:sp>
        <p:sp>
          <p:nvSpPr>
            <p:cNvPr id="85" name="Rectangle 84"/>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a:t>
              </a:r>
              <a:r>
                <a:rPr lang="en-US" sz="1600" b="1" dirty="0">
                  <a:solidFill>
                    <a:schemeClr val="accent6"/>
                  </a:solidFill>
                </a:rPr>
                <a:t>1</a:t>
              </a:r>
              <a:r>
                <a:rPr lang="en-US" sz="1600" dirty="0"/>
                <a:t>1</a:t>
              </a:r>
            </a:p>
          </p:txBody>
        </p:sp>
      </p:grpSp>
      <p:grpSp>
        <p:nvGrpSpPr>
          <p:cNvPr id="2" name="Group 1"/>
          <p:cNvGrpSpPr/>
          <p:nvPr/>
        </p:nvGrpSpPr>
        <p:grpSpPr>
          <a:xfrm>
            <a:off x="1355835" y="2696565"/>
            <a:ext cx="6842235" cy="660181"/>
            <a:chOff x="1355835" y="3080765"/>
            <a:chExt cx="6842235" cy="660181"/>
          </a:xfrm>
        </p:grpSpPr>
        <p:cxnSp>
          <p:nvCxnSpPr>
            <p:cNvPr id="103" name="Straight Arrow Connector 102"/>
            <p:cNvCxnSpPr>
              <a:stCxn id="53" idx="2"/>
              <a:endCxn id="70" idx="0"/>
            </p:cNvCxnSpPr>
            <p:nvPr/>
          </p:nvCxnSpPr>
          <p:spPr>
            <a:xfrm>
              <a:off x="1355835" y="3080765"/>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Straight Arrow Connector 119"/>
            <p:cNvCxnSpPr>
              <a:stCxn id="54" idx="2"/>
              <a:endCxn id="78" idx="0"/>
            </p:cNvCxnSpPr>
            <p:nvPr/>
          </p:nvCxnSpPr>
          <p:spPr>
            <a:xfrm>
              <a:off x="1811984" y="3080765"/>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 name="Straight Arrow Connector 120"/>
            <p:cNvCxnSpPr>
              <a:stCxn id="55" idx="2"/>
              <a:endCxn id="71" idx="0"/>
            </p:cNvCxnSpPr>
            <p:nvPr/>
          </p:nvCxnSpPr>
          <p:spPr>
            <a:xfrm flipH="1">
              <a:off x="1811984" y="3080765"/>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1"/>
            <p:cNvCxnSpPr>
              <a:stCxn id="56" idx="2"/>
              <a:endCxn id="79" idx="0"/>
            </p:cNvCxnSpPr>
            <p:nvPr/>
          </p:nvCxnSpPr>
          <p:spPr>
            <a:xfrm>
              <a:off x="2724282" y="30807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Straight Arrow Connector 122"/>
            <p:cNvCxnSpPr>
              <a:stCxn id="57" idx="2"/>
              <a:endCxn id="80" idx="0"/>
            </p:cNvCxnSpPr>
            <p:nvPr/>
          </p:nvCxnSpPr>
          <p:spPr>
            <a:xfrm>
              <a:off x="3180431" y="30807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Straight Arrow Connector 123"/>
            <p:cNvCxnSpPr>
              <a:stCxn id="58" idx="2"/>
              <a:endCxn id="72" idx="0"/>
            </p:cNvCxnSpPr>
            <p:nvPr/>
          </p:nvCxnSpPr>
          <p:spPr>
            <a:xfrm flipH="1">
              <a:off x="2268133" y="3080765"/>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Straight Arrow Connector 124"/>
            <p:cNvCxnSpPr>
              <a:stCxn id="59" idx="2"/>
              <a:endCxn id="81" idx="0"/>
            </p:cNvCxnSpPr>
            <p:nvPr/>
          </p:nvCxnSpPr>
          <p:spPr>
            <a:xfrm>
              <a:off x="4092729" y="3080765"/>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p:cNvCxnSpPr>
              <a:stCxn id="60" idx="2"/>
              <a:endCxn id="73" idx="0"/>
            </p:cNvCxnSpPr>
            <p:nvPr/>
          </p:nvCxnSpPr>
          <p:spPr>
            <a:xfrm flipH="1">
              <a:off x="2724282" y="3080765"/>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7" name="Straight Arrow Connector 126"/>
            <p:cNvCxnSpPr>
              <a:stCxn id="61" idx="2"/>
              <a:endCxn id="82" idx="0"/>
            </p:cNvCxnSpPr>
            <p:nvPr/>
          </p:nvCxnSpPr>
          <p:spPr>
            <a:xfrm>
              <a:off x="5005027" y="3080765"/>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Straight Arrow Connector 127"/>
            <p:cNvCxnSpPr>
              <a:stCxn id="62" idx="2"/>
              <a:endCxn id="74" idx="0"/>
            </p:cNvCxnSpPr>
            <p:nvPr/>
          </p:nvCxnSpPr>
          <p:spPr>
            <a:xfrm flipH="1">
              <a:off x="3180431" y="3080765"/>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 name="Straight Arrow Connector 128"/>
            <p:cNvCxnSpPr>
              <a:stCxn id="63" idx="2"/>
              <a:endCxn id="83" idx="0"/>
            </p:cNvCxnSpPr>
            <p:nvPr/>
          </p:nvCxnSpPr>
          <p:spPr>
            <a:xfrm>
              <a:off x="5917325" y="3080765"/>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0" name="Straight Arrow Connector 129"/>
            <p:cNvCxnSpPr>
              <a:stCxn id="66" idx="2"/>
              <a:endCxn id="84" idx="0"/>
            </p:cNvCxnSpPr>
            <p:nvPr/>
          </p:nvCxnSpPr>
          <p:spPr>
            <a:xfrm>
              <a:off x="7285772" y="3080765"/>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1" name="Straight Arrow Connector 130"/>
            <p:cNvCxnSpPr>
              <a:stCxn id="64" idx="2"/>
              <a:endCxn id="75" idx="0"/>
            </p:cNvCxnSpPr>
            <p:nvPr/>
          </p:nvCxnSpPr>
          <p:spPr>
            <a:xfrm flipH="1">
              <a:off x="3636580" y="30807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2" name="Straight Arrow Connector 131"/>
            <p:cNvCxnSpPr>
              <a:stCxn id="65" idx="2"/>
              <a:endCxn id="76" idx="0"/>
            </p:cNvCxnSpPr>
            <p:nvPr/>
          </p:nvCxnSpPr>
          <p:spPr>
            <a:xfrm flipH="1">
              <a:off x="4092729" y="30807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3" name="Straight Arrow Connector 132"/>
            <p:cNvCxnSpPr>
              <a:stCxn id="68" idx="2"/>
              <a:endCxn id="85" idx="0"/>
            </p:cNvCxnSpPr>
            <p:nvPr/>
          </p:nvCxnSpPr>
          <p:spPr>
            <a:xfrm>
              <a:off x="8198070" y="3080765"/>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67" idx="2"/>
              <a:endCxn id="77" idx="0"/>
            </p:cNvCxnSpPr>
            <p:nvPr/>
          </p:nvCxnSpPr>
          <p:spPr>
            <a:xfrm flipH="1">
              <a:off x="4548878" y="3080765"/>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87" name="TextBox 86"/>
          <p:cNvSpPr txBox="1"/>
          <p:nvPr/>
        </p:nvSpPr>
        <p:spPr>
          <a:xfrm>
            <a:off x="1402139" y="4003573"/>
            <a:ext cx="6339782" cy="1200329"/>
          </a:xfrm>
          <a:prstGeom prst="rect">
            <a:avLst/>
          </a:prstGeom>
          <a:noFill/>
        </p:spPr>
        <p:txBody>
          <a:bodyPr wrap="square" rtlCol="0">
            <a:spAutoFit/>
          </a:bodyPr>
          <a:lstStyle/>
          <a:p>
            <a:pPr algn="ctr"/>
            <a:r>
              <a:rPr lang="en-US" dirty="0"/>
              <a:t>Next, separate the keys based on the second bit</a:t>
            </a:r>
          </a:p>
          <a:p>
            <a:pPr algn="ctr"/>
            <a:endParaRPr lang="en-US" dirty="0"/>
          </a:p>
          <a:p>
            <a:pPr algn="ctr"/>
            <a:r>
              <a:rPr lang="en-US" dirty="0"/>
              <a:t>Preserving the order from previous iterations within each bucket ensures that keys are now sorted by the lower two bits</a:t>
            </a:r>
          </a:p>
        </p:txBody>
      </p:sp>
    </p:spTree>
    <p:extLst>
      <p:ext uri="{BB962C8B-B14F-4D97-AF65-F5344CB8AC3E}">
        <p14:creationId xmlns:p14="http://schemas.microsoft.com/office/powerpoint/2010/main" val="1057193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animEffect transition="in" filter="fade">
                                      <p:cBhvr>
                                        <p:cTn id="7" dur="500"/>
                                        <p:tgtEl>
                                          <p:spTgt spid="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fade">
                                      <p:cBhvr>
                                        <p:cTn id="16" dur="500"/>
                                        <p:tgtEl>
                                          <p:spTgt spid="6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7">
                                            <p:txEl>
                                              <p:pRg st="2" end="2"/>
                                            </p:txEl>
                                          </p:spTgt>
                                        </p:tgtEl>
                                        <p:attrNameLst>
                                          <p:attrName>style.visibility</p:attrName>
                                        </p:attrNameLst>
                                      </p:cBhvr>
                                      <p:to>
                                        <p:strVal val="visible"/>
                                      </p:to>
                                    </p:set>
                                    <p:animEffect transition="in" filter="fade">
                                      <p:cBhvr>
                                        <p:cTn id="21" dur="500"/>
                                        <p:tgtEl>
                                          <p:spTgt spid="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Radix Sort Example (1-bit Radix)</a:t>
            </a:r>
          </a:p>
        </p:txBody>
      </p:sp>
      <p:grpSp>
        <p:nvGrpSpPr>
          <p:cNvPr id="51" name="Group 50"/>
          <p:cNvGrpSpPr/>
          <p:nvPr/>
        </p:nvGrpSpPr>
        <p:grpSpPr>
          <a:xfrm>
            <a:off x="1127235" y="1121984"/>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grpSp>
      <p:cxnSp>
        <p:nvCxnSpPr>
          <p:cNvPr id="104" name="Straight Arrow Connector 103"/>
          <p:cNvCxnSpPr>
            <a:stCxn id="5" idx="2"/>
            <a:endCxn id="53" idx="0"/>
          </p:cNvCxnSpPr>
          <p:nvPr/>
        </p:nvCxnSpPr>
        <p:spPr>
          <a:xfrm>
            <a:off x="1355835" y="1579184"/>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36" idx="2"/>
            <a:endCxn id="61" idx="0"/>
          </p:cNvCxnSpPr>
          <p:nvPr/>
        </p:nvCxnSpPr>
        <p:spPr>
          <a:xfrm>
            <a:off x="1811984"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p:cNvCxnSpPr>
            <a:stCxn id="37" idx="2"/>
            <a:endCxn id="54" idx="0"/>
          </p:cNvCxnSpPr>
          <p:nvPr/>
        </p:nvCxnSpPr>
        <p:spPr>
          <a:xfrm flipH="1">
            <a:off x="1811984" y="1579184"/>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p:cNvCxnSpPr>
            <a:stCxn id="38" idx="2"/>
            <a:endCxn id="62" idx="0"/>
          </p:cNvCxnSpPr>
          <p:nvPr/>
        </p:nvCxnSpPr>
        <p:spPr>
          <a:xfrm>
            <a:off x="2724282" y="1579184"/>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p:cNvCxnSpPr>
            <a:stCxn id="39" idx="2"/>
            <a:endCxn id="63" idx="0"/>
          </p:cNvCxnSpPr>
          <p:nvPr/>
        </p:nvCxnSpPr>
        <p:spPr>
          <a:xfrm>
            <a:off x="3180431" y="1579184"/>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p:cNvCxnSpPr>
            <a:stCxn id="40" idx="2"/>
            <a:endCxn id="55" idx="0"/>
          </p:cNvCxnSpPr>
          <p:nvPr/>
        </p:nvCxnSpPr>
        <p:spPr>
          <a:xfrm flipH="1">
            <a:off x="2268133"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p:cNvCxnSpPr>
            <a:stCxn id="41" idx="2"/>
            <a:endCxn id="64" idx="0"/>
          </p:cNvCxnSpPr>
          <p:nvPr/>
        </p:nvCxnSpPr>
        <p:spPr>
          <a:xfrm>
            <a:off x="4092729" y="1579184"/>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p:cNvCxnSpPr>
            <a:stCxn id="42" idx="2"/>
            <a:endCxn id="56" idx="0"/>
          </p:cNvCxnSpPr>
          <p:nvPr/>
        </p:nvCxnSpPr>
        <p:spPr>
          <a:xfrm flipH="1">
            <a:off x="2724282" y="1579184"/>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p:cNvCxnSpPr>
            <a:stCxn id="43" idx="2"/>
            <a:endCxn id="65" idx="0"/>
          </p:cNvCxnSpPr>
          <p:nvPr/>
        </p:nvCxnSpPr>
        <p:spPr>
          <a:xfrm>
            <a:off x="5005027" y="1579184"/>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p:cNvCxnSpPr>
            <a:stCxn id="44" idx="2"/>
            <a:endCxn id="57" idx="0"/>
          </p:cNvCxnSpPr>
          <p:nvPr/>
        </p:nvCxnSpPr>
        <p:spPr>
          <a:xfrm flipH="1">
            <a:off x="3180431" y="1579184"/>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p:cNvCxnSpPr>
            <a:stCxn id="45" idx="2"/>
            <a:endCxn id="66" idx="0"/>
          </p:cNvCxnSpPr>
          <p:nvPr/>
        </p:nvCxnSpPr>
        <p:spPr>
          <a:xfrm>
            <a:off x="5917325"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p:cNvCxnSpPr>
            <a:stCxn id="46" idx="2"/>
            <a:endCxn id="67" idx="0"/>
          </p:cNvCxnSpPr>
          <p:nvPr/>
        </p:nvCxnSpPr>
        <p:spPr>
          <a:xfrm>
            <a:off x="6373474"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p:cNvCxnSpPr>
            <a:stCxn id="47" idx="2"/>
            <a:endCxn id="58" idx="0"/>
          </p:cNvCxnSpPr>
          <p:nvPr/>
        </p:nvCxnSpPr>
        <p:spPr>
          <a:xfrm flipH="1">
            <a:off x="3636580"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Straight Arrow Connector 116"/>
          <p:cNvCxnSpPr>
            <a:stCxn id="48" idx="2"/>
            <a:endCxn id="59" idx="0"/>
          </p:cNvCxnSpPr>
          <p:nvPr/>
        </p:nvCxnSpPr>
        <p:spPr>
          <a:xfrm flipH="1">
            <a:off x="4092729"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Straight Arrow Connector 117"/>
          <p:cNvCxnSpPr>
            <a:stCxn id="49" idx="2"/>
            <a:endCxn id="68" idx="0"/>
          </p:cNvCxnSpPr>
          <p:nvPr/>
        </p:nvCxnSpPr>
        <p:spPr>
          <a:xfrm>
            <a:off x="7741921" y="1579184"/>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18"/>
          <p:cNvCxnSpPr>
            <a:stCxn id="50" idx="2"/>
            <a:endCxn id="60" idx="0"/>
          </p:cNvCxnSpPr>
          <p:nvPr/>
        </p:nvCxnSpPr>
        <p:spPr>
          <a:xfrm flipH="1">
            <a:off x="4548878" y="1579184"/>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2" name="Group 51"/>
          <p:cNvGrpSpPr/>
          <p:nvPr/>
        </p:nvGrpSpPr>
        <p:grpSpPr>
          <a:xfrm>
            <a:off x="1127235" y="2239365"/>
            <a:ext cx="7299435" cy="457200"/>
            <a:chOff x="941989" y="1557421"/>
            <a:chExt cx="7299435" cy="457200"/>
          </a:xfrm>
        </p:grpSpPr>
        <p:sp>
          <p:nvSpPr>
            <p:cNvPr id="53" name="Rectangle 52"/>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54" name="Rectangle 53"/>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55" name="Rectangle 54"/>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56" name="Rectangle 55"/>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57" name="Rectangle 56"/>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58" name="Rectangle 57"/>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59" name="Rectangle 58"/>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60" name="Rectangle 59"/>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sp>
          <p:nvSpPr>
            <p:cNvPr id="61" name="Rectangle 60"/>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62" name="Rectangle 61"/>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63" name="Rectangle 62"/>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sp>
          <p:nvSpPr>
            <p:cNvPr id="64" name="Rectangle 63"/>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65" name="Rectangle 64"/>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66" name="Rectangle 65"/>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67" name="Rectangle 66"/>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68" name="Rectangle 67"/>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grpSp>
      <p:cxnSp>
        <p:nvCxnSpPr>
          <p:cNvPr id="103" name="Straight Arrow Connector 102"/>
          <p:cNvCxnSpPr>
            <a:stCxn id="53" idx="2"/>
            <a:endCxn id="70" idx="0"/>
          </p:cNvCxnSpPr>
          <p:nvPr/>
        </p:nvCxnSpPr>
        <p:spPr>
          <a:xfrm>
            <a:off x="1355835" y="2696565"/>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Straight Arrow Connector 119"/>
          <p:cNvCxnSpPr>
            <a:stCxn id="54" idx="2"/>
            <a:endCxn id="78" idx="0"/>
          </p:cNvCxnSpPr>
          <p:nvPr/>
        </p:nvCxnSpPr>
        <p:spPr>
          <a:xfrm>
            <a:off x="1811984" y="2696565"/>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 name="Straight Arrow Connector 120"/>
          <p:cNvCxnSpPr>
            <a:stCxn id="55" idx="2"/>
            <a:endCxn id="71" idx="0"/>
          </p:cNvCxnSpPr>
          <p:nvPr/>
        </p:nvCxnSpPr>
        <p:spPr>
          <a:xfrm flipH="1">
            <a:off x="1811984" y="2696565"/>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1"/>
          <p:cNvCxnSpPr>
            <a:stCxn id="56" idx="2"/>
            <a:endCxn id="79" idx="0"/>
          </p:cNvCxnSpPr>
          <p:nvPr/>
        </p:nvCxnSpPr>
        <p:spPr>
          <a:xfrm>
            <a:off x="2724282"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Straight Arrow Connector 122"/>
          <p:cNvCxnSpPr>
            <a:stCxn id="57" idx="2"/>
            <a:endCxn id="80" idx="0"/>
          </p:cNvCxnSpPr>
          <p:nvPr/>
        </p:nvCxnSpPr>
        <p:spPr>
          <a:xfrm>
            <a:off x="3180431"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Straight Arrow Connector 123"/>
          <p:cNvCxnSpPr>
            <a:stCxn id="58" idx="2"/>
            <a:endCxn id="72" idx="0"/>
          </p:cNvCxnSpPr>
          <p:nvPr/>
        </p:nvCxnSpPr>
        <p:spPr>
          <a:xfrm flipH="1">
            <a:off x="2268133" y="2696565"/>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Straight Arrow Connector 124"/>
          <p:cNvCxnSpPr>
            <a:stCxn id="59" idx="2"/>
            <a:endCxn id="81" idx="0"/>
          </p:cNvCxnSpPr>
          <p:nvPr/>
        </p:nvCxnSpPr>
        <p:spPr>
          <a:xfrm>
            <a:off x="4092729" y="2696565"/>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p:cNvCxnSpPr>
            <a:stCxn id="60" idx="2"/>
            <a:endCxn id="73" idx="0"/>
          </p:cNvCxnSpPr>
          <p:nvPr/>
        </p:nvCxnSpPr>
        <p:spPr>
          <a:xfrm flipH="1">
            <a:off x="2724282" y="2696565"/>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7" name="Straight Arrow Connector 126"/>
          <p:cNvCxnSpPr>
            <a:stCxn id="61" idx="2"/>
            <a:endCxn id="82" idx="0"/>
          </p:cNvCxnSpPr>
          <p:nvPr/>
        </p:nvCxnSpPr>
        <p:spPr>
          <a:xfrm>
            <a:off x="5005027" y="2696565"/>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Straight Arrow Connector 127"/>
          <p:cNvCxnSpPr>
            <a:stCxn id="62" idx="2"/>
            <a:endCxn id="74" idx="0"/>
          </p:cNvCxnSpPr>
          <p:nvPr/>
        </p:nvCxnSpPr>
        <p:spPr>
          <a:xfrm flipH="1">
            <a:off x="3180431" y="2696565"/>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 name="Straight Arrow Connector 128"/>
          <p:cNvCxnSpPr>
            <a:stCxn id="63" idx="2"/>
            <a:endCxn id="83" idx="0"/>
          </p:cNvCxnSpPr>
          <p:nvPr/>
        </p:nvCxnSpPr>
        <p:spPr>
          <a:xfrm>
            <a:off x="5917325" y="2696565"/>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0" name="Straight Arrow Connector 129"/>
          <p:cNvCxnSpPr>
            <a:stCxn id="66" idx="2"/>
            <a:endCxn id="84" idx="0"/>
          </p:cNvCxnSpPr>
          <p:nvPr/>
        </p:nvCxnSpPr>
        <p:spPr>
          <a:xfrm>
            <a:off x="7285772" y="2696565"/>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1" name="Straight Arrow Connector 130"/>
          <p:cNvCxnSpPr>
            <a:stCxn id="64" idx="2"/>
            <a:endCxn id="75" idx="0"/>
          </p:cNvCxnSpPr>
          <p:nvPr/>
        </p:nvCxnSpPr>
        <p:spPr>
          <a:xfrm flipH="1">
            <a:off x="3636580"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2" name="Straight Arrow Connector 131"/>
          <p:cNvCxnSpPr>
            <a:stCxn id="65" idx="2"/>
            <a:endCxn id="76" idx="0"/>
          </p:cNvCxnSpPr>
          <p:nvPr/>
        </p:nvCxnSpPr>
        <p:spPr>
          <a:xfrm flipH="1">
            <a:off x="4092729"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3" name="Straight Arrow Connector 132"/>
          <p:cNvCxnSpPr>
            <a:stCxn id="68" idx="2"/>
            <a:endCxn id="85" idx="0"/>
          </p:cNvCxnSpPr>
          <p:nvPr/>
        </p:nvCxnSpPr>
        <p:spPr>
          <a:xfrm>
            <a:off x="8198070" y="2696565"/>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67" idx="2"/>
            <a:endCxn id="77" idx="0"/>
          </p:cNvCxnSpPr>
          <p:nvPr/>
        </p:nvCxnSpPr>
        <p:spPr>
          <a:xfrm flipH="1">
            <a:off x="4548878" y="2696565"/>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8" name="Rectangle 167"/>
          <p:cNvSpPr/>
          <p:nvPr/>
        </p:nvSpPr>
        <p:spPr>
          <a:xfrm>
            <a:off x="1095702" y="944044"/>
            <a:ext cx="7386145" cy="2412701"/>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68"/>
          <p:cNvGrpSpPr/>
          <p:nvPr/>
        </p:nvGrpSpPr>
        <p:grpSpPr>
          <a:xfrm>
            <a:off x="1127235" y="3356746"/>
            <a:ext cx="7299435" cy="457200"/>
            <a:chOff x="941989" y="1557421"/>
            <a:chExt cx="7299435" cy="457200"/>
          </a:xfrm>
        </p:grpSpPr>
        <p:sp>
          <p:nvSpPr>
            <p:cNvPr id="70" name="Rectangle 6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r>
                <a:rPr lang="en-US" sz="1600" b="1" dirty="0">
                  <a:solidFill>
                    <a:schemeClr val="accent6"/>
                  </a:solidFill>
                </a:rPr>
                <a:t>1</a:t>
              </a:r>
              <a:r>
                <a:rPr lang="en-US" sz="1600" dirty="0">
                  <a:solidFill>
                    <a:schemeClr val="tx1"/>
                  </a:solidFill>
                </a:rPr>
                <a:t>00</a:t>
              </a:r>
            </a:p>
          </p:txBody>
        </p:sp>
        <p:sp>
          <p:nvSpPr>
            <p:cNvPr id="71" name="Rectangle 7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r>
                <a:rPr lang="en-US" sz="1600" b="1" dirty="0">
                  <a:solidFill>
                    <a:schemeClr val="accent5"/>
                  </a:solidFill>
                </a:rPr>
                <a:t>0</a:t>
              </a:r>
              <a:r>
                <a:rPr lang="en-US" sz="1600" dirty="0">
                  <a:solidFill>
                    <a:schemeClr val="tx1"/>
                  </a:solidFill>
                </a:rPr>
                <a:t>00</a:t>
              </a:r>
            </a:p>
          </p:txBody>
        </p:sp>
        <p:sp>
          <p:nvSpPr>
            <p:cNvPr id="72" name="Rectangle 7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r>
                <a:rPr lang="en-US" sz="1600" b="1" dirty="0">
                  <a:solidFill>
                    <a:schemeClr val="accent6"/>
                  </a:solidFill>
                </a:rPr>
                <a:t>1</a:t>
              </a:r>
              <a:r>
                <a:rPr lang="en-US" sz="1600" dirty="0">
                  <a:solidFill>
                    <a:schemeClr val="tx1"/>
                  </a:solidFill>
                </a:rPr>
                <a:t>00</a:t>
              </a:r>
            </a:p>
          </p:txBody>
        </p:sp>
        <p:sp>
          <p:nvSpPr>
            <p:cNvPr id="73" name="Rectangle 7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r>
                <a:rPr lang="en-US" sz="1600" b="1" dirty="0">
                  <a:solidFill>
                    <a:schemeClr val="accent5"/>
                  </a:solidFill>
                </a:rPr>
                <a:t>0</a:t>
              </a:r>
              <a:r>
                <a:rPr lang="en-US" sz="1600" dirty="0">
                  <a:solidFill>
                    <a:schemeClr val="tx1"/>
                  </a:solidFill>
                </a:rPr>
                <a:t>00</a:t>
              </a:r>
            </a:p>
          </p:txBody>
        </p:sp>
        <p:sp>
          <p:nvSpPr>
            <p:cNvPr id="74" name="Rectangle 7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r>
                <a:rPr lang="en-US" sz="1600" b="1" dirty="0">
                  <a:solidFill>
                    <a:schemeClr val="accent5"/>
                  </a:solidFill>
                </a:rPr>
                <a:t>0</a:t>
              </a:r>
              <a:r>
                <a:rPr lang="en-US" sz="1600" dirty="0">
                  <a:solidFill>
                    <a:schemeClr val="tx1"/>
                  </a:solidFill>
                </a:rPr>
                <a:t>01</a:t>
              </a:r>
            </a:p>
          </p:txBody>
        </p:sp>
        <p:sp>
          <p:nvSpPr>
            <p:cNvPr id="75" name="Rectangle 7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r>
                <a:rPr lang="en-US" sz="1600" b="1" dirty="0">
                  <a:solidFill>
                    <a:schemeClr val="accent6"/>
                  </a:solidFill>
                </a:rPr>
                <a:t>1</a:t>
              </a:r>
              <a:r>
                <a:rPr lang="en-US" sz="1600" dirty="0">
                  <a:solidFill>
                    <a:schemeClr val="tx1"/>
                  </a:solidFill>
                </a:rPr>
                <a:t>01</a:t>
              </a:r>
            </a:p>
          </p:txBody>
        </p:sp>
        <p:sp>
          <p:nvSpPr>
            <p:cNvPr id="76" name="Rectangle 7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r>
                <a:rPr lang="en-US" sz="1600" b="1" dirty="0">
                  <a:solidFill>
                    <a:schemeClr val="accent5"/>
                  </a:solidFill>
                </a:rPr>
                <a:t>0</a:t>
              </a:r>
              <a:r>
                <a:rPr lang="en-US" sz="1600" dirty="0">
                  <a:solidFill>
                    <a:schemeClr val="tx1"/>
                  </a:solidFill>
                </a:rPr>
                <a:t>01</a:t>
              </a:r>
            </a:p>
          </p:txBody>
        </p:sp>
        <p:sp>
          <p:nvSpPr>
            <p:cNvPr id="77" name="Rectangle 7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r>
                <a:rPr lang="en-US" sz="1600" b="1" dirty="0">
                  <a:solidFill>
                    <a:schemeClr val="accent6"/>
                  </a:solidFill>
                </a:rPr>
                <a:t>1</a:t>
              </a:r>
              <a:r>
                <a:rPr lang="en-US" sz="1600" dirty="0">
                  <a:solidFill>
                    <a:schemeClr val="tx1"/>
                  </a:solidFill>
                </a:rPr>
                <a:t>01</a:t>
              </a:r>
            </a:p>
          </p:txBody>
        </p:sp>
        <p:sp>
          <p:nvSpPr>
            <p:cNvPr id="78" name="Rectangle 7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r>
                <a:rPr lang="en-US" sz="1600" b="1" dirty="0">
                  <a:solidFill>
                    <a:schemeClr val="accent6"/>
                  </a:solidFill>
                </a:rPr>
                <a:t>1</a:t>
              </a:r>
              <a:r>
                <a:rPr lang="en-US" sz="1600" dirty="0">
                  <a:solidFill>
                    <a:schemeClr val="tx1"/>
                  </a:solidFill>
                </a:rPr>
                <a:t>10</a:t>
              </a:r>
            </a:p>
          </p:txBody>
        </p:sp>
        <p:sp>
          <p:nvSpPr>
            <p:cNvPr id="79" name="Rectangle 7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r>
                <a:rPr lang="en-US" sz="1600" b="1" dirty="0">
                  <a:solidFill>
                    <a:schemeClr val="accent5"/>
                  </a:solidFill>
                </a:rPr>
                <a:t>0</a:t>
              </a:r>
              <a:r>
                <a:rPr lang="en-US" sz="1600" dirty="0">
                  <a:solidFill>
                    <a:schemeClr val="tx1"/>
                  </a:solidFill>
                </a:rPr>
                <a:t>10</a:t>
              </a:r>
            </a:p>
          </p:txBody>
        </p:sp>
        <p:sp>
          <p:nvSpPr>
            <p:cNvPr id="80" name="Rectangle 79"/>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r>
                <a:rPr lang="en-US" sz="1600" b="1" dirty="0">
                  <a:solidFill>
                    <a:schemeClr val="accent6"/>
                  </a:solidFill>
                </a:rPr>
                <a:t>1</a:t>
              </a:r>
              <a:r>
                <a:rPr lang="en-US" sz="1600" dirty="0">
                  <a:solidFill>
                    <a:schemeClr val="tx1"/>
                  </a:solidFill>
                </a:rPr>
                <a:t>10</a:t>
              </a:r>
            </a:p>
          </p:txBody>
        </p:sp>
        <p:sp>
          <p:nvSpPr>
            <p:cNvPr id="81" name="Rectangle 80"/>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r>
                <a:rPr lang="en-US" sz="1600" b="1" dirty="0">
                  <a:solidFill>
                    <a:schemeClr val="accent5"/>
                  </a:solidFill>
                </a:rPr>
                <a:t>0</a:t>
              </a:r>
              <a:r>
                <a:rPr lang="en-US" sz="1600" dirty="0">
                  <a:solidFill>
                    <a:schemeClr val="tx1"/>
                  </a:solidFill>
                </a:rPr>
                <a:t>10</a:t>
              </a:r>
            </a:p>
          </p:txBody>
        </p:sp>
        <p:sp>
          <p:nvSpPr>
            <p:cNvPr id="82" name="Rectangle 81"/>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r>
                <a:rPr lang="en-US" sz="1600" b="1" dirty="0">
                  <a:solidFill>
                    <a:schemeClr val="accent5"/>
                  </a:solidFill>
                </a:rPr>
                <a:t>0</a:t>
              </a:r>
              <a:r>
                <a:rPr lang="en-US" sz="1600" dirty="0">
                  <a:solidFill>
                    <a:schemeClr val="tx1"/>
                  </a:solidFill>
                </a:rPr>
                <a:t>11</a:t>
              </a:r>
            </a:p>
          </p:txBody>
        </p:sp>
        <p:sp>
          <p:nvSpPr>
            <p:cNvPr id="83" name="Rectangle 82"/>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r>
                <a:rPr lang="en-US" sz="1600" b="1" dirty="0">
                  <a:solidFill>
                    <a:schemeClr val="accent6"/>
                  </a:solidFill>
                </a:rPr>
                <a:t>1</a:t>
              </a:r>
              <a:r>
                <a:rPr lang="en-US" sz="1600" dirty="0">
                  <a:solidFill>
                    <a:schemeClr val="tx1"/>
                  </a:solidFill>
                </a:rPr>
                <a:t>11</a:t>
              </a:r>
            </a:p>
          </p:txBody>
        </p:sp>
        <p:sp>
          <p:nvSpPr>
            <p:cNvPr id="84" name="Rectangle 83"/>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r>
                <a:rPr lang="en-US" sz="1600" b="1" dirty="0">
                  <a:solidFill>
                    <a:schemeClr val="accent5"/>
                  </a:solidFill>
                </a:rPr>
                <a:t>0</a:t>
              </a:r>
              <a:r>
                <a:rPr lang="en-US" sz="1600" dirty="0">
                  <a:solidFill>
                    <a:schemeClr val="tx1"/>
                  </a:solidFill>
                </a:rPr>
                <a:t>11</a:t>
              </a:r>
            </a:p>
          </p:txBody>
        </p:sp>
        <p:sp>
          <p:nvSpPr>
            <p:cNvPr id="85" name="Rectangle 84"/>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r>
                <a:rPr lang="en-US" sz="1600" b="1" dirty="0">
                  <a:solidFill>
                    <a:schemeClr val="accent6"/>
                  </a:solidFill>
                </a:rPr>
                <a:t>1</a:t>
              </a:r>
              <a:r>
                <a:rPr lang="en-US" sz="1600" dirty="0">
                  <a:solidFill>
                    <a:schemeClr val="tx1"/>
                  </a:solidFill>
                </a:rPr>
                <a:t>11</a:t>
              </a:r>
            </a:p>
          </p:txBody>
        </p:sp>
      </p:grpSp>
      <p:grpSp>
        <p:nvGrpSpPr>
          <p:cNvPr id="86" name="Group 85"/>
          <p:cNvGrpSpPr/>
          <p:nvPr/>
        </p:nvGrpSpPr>
        <p:grpSpPr>
          <a:xfrm>
            <a:off x="1127235" y="4474127"/>
            <a:ext cx="7299435" cy="457200"/>
            <a:chOff x="941989" y="1557421"/>
            <a:chExt cx="7299435" cy="457200"/>
          </a:xfrm>
        </p:grpSpPr>
        <p:sp>
          <p:nvSpPr>
            <p:cNvPr id="87" name="Rectangle 86"/>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a:t>
              </a:r>
              <a:r>
                <a:rPr lang="en-US" sz="1600" b="1" dirty="0">
                  <a:solidFill>
                    <a:schemeClr val="accent5"/>
                  </a:solidFill>
                </a:rPr>
                <a:t>0</a:t>
              </a:r>
              <a:r>
                <a:rPr lang="en-US" sz="1600" dirty="0"/>
                <a:t>00</a:t>
              </a:r>
            </a:p>
          </p:txBody>
        </p:sp>
        <p:sp>
          <p:nvSpPr>
            <p:cNvPr id="88" name="Rectangle 87"/>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a:t>
              </a:r>
              <a:r>
                <a:rPr lang="en-US" sz="1600" b="1" dirty="0">
                  <a:solidFill>
                    <a:schemeClr val="accent5"/>
                  </a:solidFill>
                </a:rPr>
                <a:t>0</a:t>
              </a:r>
              <a:r>
                <a:rPr lang="en-US" sz="1600" dirty="0"/>
                <a:t>00</a:t>
              </a:r>
            </a:p>
          </p:txBody>
        </p:sp>
        <p:sp>
          <p:nvSpPr>
            <p:cNvPr id="89" name="Rectangle 88"/>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a:t>
              </a:r>
              <a:r>
                <a:rPr lang="en-US" sz="1600" b="1" dirty="0">
                  <a:solidFill>
                    <a:schemeClr val="accent5"/>
                  </a:solidFill>
                </a:rPr>
                <a:t>0</a:t>
              </a:r>
              <a:r>
                <a:rPr lang="en-US" sz="1600" dirty="0"/>
                <a:t>01</a:t>
              </a:r>
            </a:p>
          </p:txBody>
        </p:sp>
        <p:sp>
          <p:nvSpPr>
            <p:cNvPr id="90" name="Rectangle 89"/>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a:t>
              </a:r>
              <a:r>
                <a:rPr lang="en-US" sz="1600" b="1" dirty="0">
                  <a:solidFill>
                    <a:schemeClr val="accent5"/>
                  </a:solidFill>
                </a:rPr>
                <a:t>0</a:t>
              </a:r>
              <a:r>
                <a:rPr lang="en-US" sz="1600" dirty="0"/>
                <a:t>01</a:t>
              </a:r>
            </a:p>
          </p:txBody>
        </p:sp>
        <p:sp>
          <p:nvSpPr>
            <p:cNvPr id="91" name="Rectangle 90"/>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a:t>
              </a:r>
              <a:r>
                <a:rPr lang="en-US" sz="1600" b="1" dirty="0">
                  <a:solidFill>
                    <a:schemeClr val="accent5"/>
                  </a:solidFill>
                </a:rPr>
                <a:t>0</a:t>
              </a:r>
              <a:r>
                <a:rPr lang="en-US" sz="1600" dirty="0"/>
                <a:t>10</a:t>
              </a:r>
            </a:p>
          </p:txBody>
        </p:sp>
        <p:sp>
          <p:nvSpPr>
            <p:cNvPr id="92" name="Rectangle 91"/>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a:t>
              </a:r>
              <a:r>
                <a:rPr lang="en-US" sz="1600" b="1" dirty="0">
                  <a:solidFill>
                    <a:schemeClr val="accent5"/>
                  </a:solidFill>
                </a:rPr>
                <a:t>0</a:t>
              </a:r>
              <a:r>
                <a:rPr lang="en-US" sz="1600" dirty="0"/>
                <a:t>10</a:t>
              </a:r>
            </a:p>
          </p:txBody>
        </p:sp>
        <p:sp>
          <p:nvSpPr>
            <p:cNvPr id="93" name="Rectangle 92"/>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a:t>
              </a:r>
              <a:r>
                <a:rPr lang="en-US" sz="1600" b="1" dirty="0">
                  <a:solidFill>
                    <a:schemeClr val="accent5"/>
                  </a:solidFill>
                </a:rPr>
                <a:t>0</a:t>
              </a:r>
              <a:r>
                <a:rPr lang="en-US" sz="1600" dirty="0"/>
                <a:t>11</a:t>
              </a:r>
            </a:p>
          </p:txBody>
        </p:sp>
        <p:sp>
          <p:nvSpPr>
            <p:cNvPr id="94" name="Rectangle 93"/>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a:t>
              </a:r>
              <a:r>
                <a:rPr lang="en-US" sz="1600" b="1" dirty="0">
                  <a:solidFill>
                    <a:schemeClr val="accent5"/>
                  </a:solidFill>
                </a:rPr>
                <a:t>0</a:t>
              </a:r>
              <a:r>
                <a:rPr lang="en-US" sz="1600" dirty="0"/>
                <a:t>11</a:t>
              </a:r>
            </a:p>
          </p:txBody>
        </p:sp>
        <p:sp>
          <p:nvSpPr>
            <p:cNvPr id="95" name="Rectangle 94"/>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a:t>
              </a:r>
              <a:r>
                <a:rPr lang="en-US" sz="1600" b="1" dirty="0">
                  <a:solidFill>
                    <a:schemeClr val="accent6"/>
                  </a:solidFill>
                </a:rPr>
                <a:t>1</a:t>
              </a:r>
              <a:r>
                <a:rPr lang="en-US" sz="1600" dirty="0"/>
                <a:t>00</a:t>
              </a:r>
            </a:p>
          </p:txBody>
        </p:sp>
        <p:sp>
          <p:nvSpPr>
            <p:cNvPr id="96" name="Rectangle 95"/>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a:t>
              </a:r>
              <a:r>
                <a:rPr lang="en-US" sz="1600" b="1" dirty="0">
                  <a:solidFill>
                    <a:schemeClr val="accent6"/>
                  </a:solidFill>
                </a:rPr>
                <a:t>1</a:t>
              </a:r>
              <a:r>
                <a:rPr lang="en-US" sz="1600" dirty="0"/>
                <a:t>00</a:t>
              </a:r>
            </a:p>
          </p:txBody>
        </p:sp>
        <p:sp>
          <p:nvSpPr>
            <p:cNvPr id="97" name="Rectangle 96"/>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a:t>
              </a:r>
              <a:r>
                <a:rPr lang="en-US" sz="1600" b="1" dirty="0">
                  <a:solidFill>
                    <a:schemeClr val="accent6"/>
                  </a:solidFill>
                </a:rPr>
                <a:t>1</a:t>
              </a:r>
              <a:r>
                <a:rPr lang="en-US" sz="1600" dirty="0"/>
                <a:t>01</a:t>
              </a:r>
            </a:p>
          </p:txBody>
        </p:sp>
        <p:sp>
          <p:nvSpPr>
            <p:cNvPr id="98" name="Rectangle 97"/>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a:t>
              </a:r>
              <a:r>
                <a:rPr lang="en-US" sz="1600" b="1" dirty="0">
                  <a:solidFill>
                    <a:schemeClr val="accent6"/>
                  </a:solidFill>
                </a:rPr>
                <a:t>1</a:t>
              </a:r>
              <a:r>
                <a:rPr lang="en-US" sz="1600" dirty="0"/>
                <a:t>01</a:t>
              </a:r>
            </a:p>
          </p:txBody>
        </p:sp>
        <p:sp>
          <p:nvSpPr>
            <p:cNvPr id="99" name="Rectangle 98"/>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a:t>
              </a:r>
              <a:r>
                <a:rPr lang="en-US" sz="1600" b="1" dirty="0">
                  <a:solidFill>
                    <a:schemeClr val="accent6"/>
                  </a:solidFill>
                </a:rPr>
                <a:t>1</a:t>
              </a:r>
              <a:r>
                <a:rPr lang="en-US" sz="1600" dirty="0"/>
                <a:t>10</a:t>
              </a:r>
            </a:p>
          </p:txBody>
        </p:sp>
        <p:sp>
          <p:nvSpPr>
            <p:cNvPr id="100" name="Rectangle 99"/>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a:t>
              </a:r>
              <a:r>
                <a:rPr lang="en-US" sz="1600" b="1" dirty="0">
                  <a:solidFill>
                    <a:schemeClr val="accent6"/>
                  </a:solidFill>
                </a:rPr>
                <a:t>1</a:t>
              </a:r>
              <a:r>
                <a:rPr lang="en-US" sz="1600" dirty="0"/>
                <a:t>10</a:t>
              </a:r>
            </a:p>
          </p:txBody>
        </p:sp>
        <p:sp>
          <p:nvSpPr>
            <p:cNvPr id="101" name="Rectangle 100"/>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a:t>
              </a:r>
              <a:r>
                <a:rPr lang="en-US" sz="1600" b="1" dirty="0">
                  <a:solidFill>
                    <a:schemeClr val="accent6"/>
                  </a:solidFill>
                </a:rPr>
                <a:t>1</a:t>
              </a:r>
              <a:r>
                <a:rPr lang="en-US" sz="1600" dirty="0"/>
                <a:t>11</a:t>
              </a:r>
            </a:p>
          </p:txBody>
        </p:sp>
        <p:sp>
          <p:nvSpPr>
            <p:cNvPr id="102" name="Rectangle 101"/>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a:t>
              </a:r>
              <a:r>
                <a:rPr lang="en-US" sz="1600" b="1" dirty="0">
                  <a:solidFill>
                    <a:schemeClr val="accent6"/>
                  </a:solidFill>
                </a:rPr>
                <a:t>1</a:t>
              </a:r>
              <a:r>
                <a:rPr lang="en-US" sz="1600" dirty="0"/>
                <a:t>11</a:t>
              </a:r>
            </a:p>
          </p:txBody>
        </p:sp>
      </p:grpSp>
      <p:grpSp>
        <p:nvGrpSpPr>
          <p:cNvPr id="2" name="Group 1"/>
          <p:cNvGrpSpPr/>
          <p:nvPr/>
        </p:nvGrpSpPr>
        <p:grpSpPr>
          <a:xfrm>
            <a:off x="1355835" y="3813946"/>
            <a:ext cx="6842235" cy="660181"/>
            <a:chOff x="1355835" y="4198146"/>
            <a:chExt cx="6842235" cy="660181"/>
          </a:xfrm>
        </p:grpSpPr>
        <p:cxnSp>
          <p:nvCxnSpPr>
            <p:cNvPr id="135" name="Straight Arrow Connector 134"/>
            <p:cNvCxnSpPr>
              <a:stCxn id="71" idx="2"/>
              <a:endCxn id="87" idx="0"/>
            </p:cNvCxnSpPr>
            <p:nvPr/>
          </p:nvCxnSpPr>
          <p:spPr>
            <a:xfrm flipH="1">
              <a:off x="1355835" y="4198146"/>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70" idx="2"/>
              <a:endCxn id="95" idx="0"/>
            </p:cNvCxnSpPr>
            <p:nvPr/>
          </p:nvCxnSpPr>
          <p:spPr>
            <a:xfrm>
              <a:off x="1355835" y="4198146"/>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4" name="Straight Arrow Connector 153"/>
            <p:cNvCxnSpPr>
              <a:stCxn id="73" idx="2"/>
              <a:endCxn id="88" idx="0"/>
            </p:cNvCxnSpPr>
            <p:nvPr/>
          </p:nvCxnSpPr>
          <p:spPr>
            <a:xfrm flipH="1">
              <a:off x="1811984" y="4198146"/>
              <a:ext cx="912298"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p:cNvCxnSpPr>
              <a:stCxn id="72" idx="2"/>
              <a:endCxn id="96" idx="0"/>
            </p:cNvCxnSpPr>
            <p:nvPr/>
          </p:nvCxnSpPr>
          <p:spPr>
            <a:xfrm>
              <a:off x="2268133" y="4198146"/>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p:cNvCxnSpPr>
              <a:stCxn id="75" idx="2"/>
              <a:endCxn id="97" idx="0"/>
            </p:cNvCxnSpPr>
            <p:nvPr/>
          </p:nvCxnSpPr>
          <p:spPr>
            <a:xfrm>
              <a:off x="3636580" y="4198146"/>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p:cNvCxnSpPr>
              <a:stCxn id="74" idx="2"/>
              <a:endCxn id="89" idx="0"/>
            </p:cNvCxnSpPr>
            <p:nvPr/>
          </p:nvCxnSpPr>
          <p:spPr>
            <a:xfrm flipH="1">
              <a:off x="2268133" y="4198146"/>
              <a:ext cx="912298"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p:cNvCxnSpPr>
              <a:stCxn id="77" idx="2"/>
              <a:endCxn id="98" idx="0"/>
            </p:cNvCxnSpPr>
            <p:nvPr/>
          </p:nvCxnSpPr>
          <p:spPr>
            <a:xfrm>
              <a:off x="4548878" y="4198146"/>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76" idx="2"/>
              <a:endCxn id="90" idx="0"/>
            </p:cNvCxnSpPr>
            <p:nvPr/>
          </p:nvCxnSpPr>
          <p:spPr>
            <a:xfrm flipH="1">
              <a:off x="2724282" y="4198146"/>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78" idx="2"/>
              <a:endCxn id="99" idx="0"/>
            </p:cNvCxnSpPr>
            <p:nvPr/>
          </p:nvCxnSpPr>
          <p:spPr>
            <a:xfrm>
              <a:off x="5005027" y="4198146"/>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79" idx="2"/>
              <a:endCxn id="91" idx="0"/>
            </p:cNvCxnSpPr>
            <p:nvPr/>
          </p:nvCxnSpPr>
          <p:spPr>
            <a:xfrm flipH="1">
              <a:off x="3180431" y="4198146"/>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80" idx="2"/>
              <a:endCxn id="100" idx="0"/>
            </p:cNvCxnSpPr>
            <p:nvPr/>
          </p:nvCxnSpPr>
          <p:spPr>
            <a:xfrm>
              <a:off x="5917325" y="4198146"/>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83" idx="2"/>
              <a:endCxn id="101" idx="0"/>
            </p:cNvCxnSpPr>
            <p:nvPr/>
          </p:nvCxnSpPr>
          <p:spPr>
            <a:xfrm>
              <a:off x="7285772" y="4198146"/>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81" idx="2"/>
              <a:endCxn id="92" idx="0"/>
            </p:cNvCxnSpPr>
            <p:nvPr/>
          </p:nvCxnSpPr>
          <p:spPr>
            <a:xfrm flipH="1">
              <a:off x="3636580" y="4198146"/>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82" idx="2"/>
              <a:endCxn id="93" idx="0"/>
            </p:cNvCxnSpPr>
            <p:nvPr/>
          </p:nvCxnSpPr>
          <p:spPr>
            <a:xfrm flipH="1">
              <a:off x="4092729" y="4198146"/>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85" idx="2"/>
              <a:endCxn id="102" idx="0"/>
            </p:cNvCxnSpPr>
            <p:nvPr/>
          </p:nvCxnSpPr>
          <p:spPr>
            <a:xfrm>
              <a:off x="8198070" y="4198146"/>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p:cNvCxnSpPr>
              <a:stCxn id="84" idx="2"/>
              <a:endCxn id="94" idx="0"/>
            </p:cNvCxnSpPr>
            <p:nvPr/>
          </p:nvCxnSpPr>
          <p:spPr>
            <a:xfrm flipH="1">
              <a:off x="4548878" y="4198146"/>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37" name="TextBox 136"/>
          <p:cNvSpPr txBox="1"/>
          <p:nvPr/>
        </p:nvSpPr>
        <p:spPr>
          <a:xfrm>
            <a:off x="1630739" y="5110069"/>
            <a:ext cx="5882582" cy="923330"/>
          </a:xfrm>
          <a:prstGeom prst="rect">
            <a:avLst/>
          </a:prstGeom>
          <a:noFill/>
        </p:spPr>
        <p:txBody>
          <a:bodyPr wrap="square" rtlCol="0">
            <a:spAutoFit/>
          </a:bodyPr>
          <a:lstStyle/>
          <a:p>
            <a:pPr algn="ctr"/>
            <a:r>
              <a:rPr lang="en-US" dirty="0"/>
              <a:t>Next, separate the keys based on the third bit</a:t>
            </a:r>
          </a:p>
          <a:p>
            <a:pPr algn="ctr"/>
            <a:endParaRPr lang="en-US" dirty="0"/>
          </a:p>
          <a:p>
            <a:pPr algn="ctr"/>
            <a:r>
              <a:rPr lang="en-US" dirty="0"/>
              <a:t>Keys are now sorted by the lower three bits</a:t>
            </a:r>
          </a:p>
        </p:txBody>
      </p:sp>
    </p:spTree>
    <p:extLst>
      <p:ext uri="{BB962C8B-B14F-4D97-AF65-F5344CB8AC3E}">
        <p14:creationId xmlns:p14="http://schemas.microsoft.com/office/powerpoint/2010/main" val="2721524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animEffect transition="in" filter="fade">
                                      <p:cBhvr>
                                        <p:cTn id="7" dur="500"/>
                                        <p:tgtEl>
                                          <p:spTgt spid="1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86"/>
                                        </p:tgtEl>
                                        <p:attrNameLst>
                                          <p:attrName>style.visibility</p:attrName>
                                        </p:attrNameLst>
                                      </p:cBhvr>
                                      <p:to>
                                        <p:strVal val="visible"/>
                                      </p:to>
                                    </p:set>
                                    <p:animEffect transition="in" filter="fade">
                                      <p:cBhvr>
                                        <p:cTn id="16" dur="5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7">
                                            <p:txEl>
                                              <p:pRg st="2" end="2"/>
                                            </p:txEl>
                                          </p:spTgt>
                                        </p:tgtEl>
                                        <p:attrNameLst>
                                          <p:attrName>style.visibility</p:attrName>
                                        </p:attrNameLst>
                                      </p:cBhvr>
                                      <p:to>
                                        <p:strVal val="visible"/>
                                      </p:to>
                                    </p:set>
                                    <p:animEffect transition="in" filter="fade">
                                      <p:cBhvr>
                                        <p:cTn id="21" dur="500"/>
                                        <p:tgtEl>
                                          <p:spTgt spid="13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Radix Sort Example (1-bit Radix)</a:t>
            </a:r>
          </a:p>
        </p:txBody>
      </p:sp>
      <p:grpSp>
        <p:nvGrpSpPr>
          <p:cNvPr id="51" name="Group 50"/>
          <p:cNvGrpSpPr/>
          <p:nvPr/>
        </p:nvGrpSpPr>
        <p:grpSpPr>
          <a:xfrm>
            <a:off x="1127235" y="1121984"/>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grpSp>
      <p:cxnSp>
        <p:nvCxnSpPr>
          <p:cNvPr id="104" name="Straight Arrow Connector 103"/>
          <p:cNvCxnSpPr>
            <a:stCxn id="5" idx="2"/>
            <a:endCxn id="53" idx="0"/>
          </p:cNvCxnSpPr>
          <p:nvPr/>
        </p:nvCxnSpPr>
        <p:spPr>
          <a:xfrm>
            <a:off x="1355835" y="1579184"/>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36" idx="2"/>
            <a:endCxn id="61" idx="0"/>
          </p:cNvCxnSpPr>
          <p:nvPr/>
        </p:nvCxnSpPr>
        <p:spPr>
          <a:xfrm>
            <a:off x="1811984"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p:cNvCxnSpPr>
            <a:stCxn id="37" idx="2"/>
            <a:endCxn id="54" idx="0"/>
          </p:cNvCxnSpPr>
          <p:nvPr/>
        </p:nvCxnSpPr>
        <p:spPr>
          <a:xfrm flipH="1">
            <a:off x="1811984" y="1579184"/>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p:cNvCxnSpPr>
            <a:stCxn id="38" idx="2"/>
            <a:endCxn id="62" idx="0"/>
          </p:cNvCxnSpPr>
          <p:nvPr/>
        </p:nvCxnSpPr>
        <p:spPr>
          <a:xfrm>
            <a:off x="2724282" y="1579184"/>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p:cNvCxnSpPr>
            <a:stCxn id="39" idx="2"/>
            <a:endCxn id="63" idx="0"/>
          </p:cNvCxnSpPr>
          <p:nvPr/>
        </p:nvCxnSpPr>
        <p:spPr>
          <a:xfrm>
            <a:off x="3180431" y="1579184"/>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p:cNvCxnSpPr>
            <a:stCxn id="40" idx="2"/>
            <a:endCxn id="55" idx="0"/>
          </p:cNvCxnSpPr>
          <p:nvPr/>
        </p:nvCxnSpPr>
        <p:spPr>
          <a:xfrm flipH="1">
            <a:off x="2268133"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p:cNvCxnSpPr>
            <a:stCxn id="41" idx="2"/>
            <a:endCxn id="64" idx="0"/>
          </p:cNvCxnSpPr>
          <p:nvPr/>
        </p:nvCxnSpPr>
        <p:spPr>
          <a:xfrm>
            <a:off x="4092729" y="1579184"/>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p:cNvCxnSpPr>
            <a:stCxn id="42" idx="2"/>
            <a:endCxn id="56" idx="0"/>
          </p:cNvCxnSpPr>
          <p:nvPr/>
        </p:nvCxnSpPr>
        <p:spPr>
          <a:xfrm flipH="1">
            <a:off x="2724282" y="1579184"/>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p:cNvCxnSpPr>
            <a:stCxn id="43" idx="2"/>
            <a:endCxn id="65" idx="0"/>
          </p:cNvCxnSpPr>
          <p:nvPr/>
        </p:nvCxnSpPr>
        <p:spPr>
          <a:xfrm>
            <a:off x="5005027" y="1579184"/>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p:cNvCxnSpPr>
            <a:stCxn id="44" idx="2"/>
            <a:endCxn id="57" idx="0"/>
          </p:cNvCxnSpPr>
          <p:nvPr/>
        </p:nvCxnSpPr>
        <p:spPr>
          <a:xfrm flipH="1">
            <a:off x="3180431" y="1579184"/>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p:cNvCxnSpPr>
            <a:stCxn id="45" idx="2"/>
            <a:endCxn id="66" idx="0"/>
          </p:cNvCxnSpPr>
          <p:nvPr/>
        </p:nvCxnSpPr>
        <p:spPr>
          <a:xfrm>
            <a:off x="5917325"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p:cNvCxnSpPr>
            <a:stCxn id="46" idx="2"/>
            <a:endCxn id="67" idx="0"/>
          </p:cNvCxnSpPr>
          <p:nvPr/>
        </p:nvCxnSpPr>
        <p:spPr>
          <a:xfrm>
            <a:off x="6373474"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p:cNvCxnSpPr>
            <a:stCxn id="47" idx="2"/>
            <a:endCxn id="58" idx="0"/>
          </p:cNvCxnSpPr>
          <p:nvPr/>
        </p:nvCxnSpPr>
        <p:spPr>
          <a:xfrm flipH="1">
            <a:off x="3636580"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Straight Arrow Connector 116"/>
          <p:cNvCxnSpPr>
            <a:stCxn id="48" idx="2"/>
            <a:endCxn id="59" idx="0"/>
          </p:cNvCxnSpPr>
          <p:nvPr/>
        </p:nvCxnSpPr>
        <p:spPr>
          <a:xfrm flipH="1">
            <a:off x="4092729"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Straight Arrow Connector 117"/>
          <p:cNvCxnSpPr>
            <a:stCxn id="49" idx="2"/>
            <a:endCxn id="68" idx="0"/>
          </p:cNvCxnSpPr>
          <p:nvPr/>
        </p:nvCxnSpPr>
        <p:spPr>
          <a:xfrm>
            <a:off x="7741921" y="1579184"/>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18"/>
          <p:cNvCxnSpPr>
            <a:stCxn id="50" idx="2"/>
            <a:endCxn id="60" idx="0"/>
          </p:cNvCxnSpPr>
          <p:nvPr/>
        </p:nvCxnSpPr>
        <p:spPr>
          <a:xfrm flipH="1">
            <a:off x="4548878" y="1579184"/>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2" name="Group 51"/>
          <p:cNvGrpSpPr/>
          <p:nvPr/>
        </p:nvGrpSpPr>
        <p:grpSpPr>
          <a:xfrm>
            <a:off x="1127235" y="2239365"/>
            <a:ext cx="7299435" cy="457200"/>
            <a:chOff x="941989" y="1557421"/>
            <a:chExt cx="7299435" cy="457200"/>
          </a:xfrm>
        </p:grpSpPr>
        <p:sp>
          <p:nvSpPr>
            <p:cNvPr id="53" name="Rectangle 52"/>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54" name="Rectangle 53"/>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55" name="Rectangle 54"/>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56" name="Rectangle 55"/>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57" name="Rectangle 56"/>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58" name="Rectangle 57"/>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59" name="Rectangle 58"/>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60" name="Rectangle 59"/>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sp>
          <p:nvSpPr>
            <p:cNvPr id="61" name="Rectangle 60"/>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62" name="Rectangle 61"/>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63" name="Rectangle 62"/>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sp>
          <p:nvSpPr>
            <p:cNvPr id="64" name="Rectangle 63"/>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65" name="Rectangle 64"/>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66" name="Rectangle 65"/>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67" name="Rectangle 66"/>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68" name="Rectangle 67"/>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grpSp>
      <p:cxnSp>
        <p:nvCxnSpPr>
          <p:cNvPr id="103" name="Straight Arrow Connector 102"/>
          <p:cNvCxnSpPr>
            <a:stCxn id="53" idx="2"/>
            <a:endCxn id="70" idx="0"/>
          </p:cNvCxnSpPr>
          <p:nvPr/>
        </p:nvCxnSpPr>
        <p:spPr>
          <a:xfrm>
            <a:off x="1355835" y="2696565"/>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Straight Arrow Connector 119"/>
          <p:cNvCxnSpPr>
            <a:stCxn id="54" idx="2"/>
            <a:endCxn id="78" idx="0"/>
          </p:cNvCxnSpPr>
          <p:nvPr/>
        </p:nvCxnSpPr>
        <p:spPr>
          <a:xfrm>
            <a:off x="1811984" y="2696565"/>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 name="Straight Arrow Connector 120"/>
          <p:cNvCxnSpPr>
            <a:stCxn id="55" idx="2"/>
            <a:endCxn id="71" idx="0"/>
          </p:cNvCxnSpPr>
          <p:nvPr/>
        </p:nvCxnSpPr>
        <p:spPr>
          <a:xfrm flipH="1">
            <a:off x="1811984" y="2696565"/>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1"/>
          <p:cNvCxnSpPr>
            <a:stCxn id="56" idx="2"/>
            <a:endCxn id="79" idx="0"/>
          </p:cNvCxnSpPr>
          <p:nvPr/>
        </p:nvCxnSpPr>
        <p:spPr>
          <a:xfrm>
            <a:off x="2724282"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Straight Arrow Connector 122"/>
          <p:cNvCxnSpPr>
            <a:stCxn id="57" idx="2"/>
            <a:endCxn id="80" idx="0"/>
          </p:cNvCxnSpPr>
          <p:nvPr/>
        </p:nvCxnSpPr>
        <p:spPr>
          <a:xfrm>
            <a:off x="3180431"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Straight Arrow Connector 123"/>
          <p:cNvCxnSpPr>
            <a:stCxn id="58" idx="2"/>
            <a:endCxn id="72" idx="0"/>
          </p:cNvCxnSpPr>
          <p:nvPr/>
        </p:nvCxnSpPr>
        <p:spPr>
          <a:xfrm flipH="1">
            <a:off x="2268133" y="2696565"/>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Straight Arrow Connector 124"/>
          <p:cNvCxnSpPr>
            <a:stCxn id="59" idx="2"/>
            <a:endCxn id="81" idx="0"/>
          </p:cNvCxnSpPr>
          <p:nvPr/>
        </p:nvCxnSpPr>
        <p:spPr>
          <a:xfrm>
            <a:off x="4092729" y="2696565"/>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p:cNvCxnSpPr>
            <a:stCxn id="60" idx="2"/>
            <a:endCxn id="73" idx="0"/>
          </p:cNvCxnSpPr>
          <p:nvPr/>
        </p:nvCxnSpPr>
        <p:spPr>
          <a:xfrm flipH="1">
            <a:off x="2724282" y="2696565"/>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7" name="Straight Arrow Connector 126"/>
          <p:cNvCxnSpPr>
            <a:stCxn id="61" idx="2"/>
            <a:endCxn id="82" idx="0"/>
          </p:cNvCxnSpPr>
          <p:nvPr/>
        </p:nvCxnSpPr>
        <p:spPr>
          <a:xfrm>
            <a:off x="5005027" y="2696565"/>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Straight Arrow Connector 127"/>
          <p:cNvCxnSpPr>
            <a:stCxn id="62" idx="2"/>
            <a:endCxn id="74" idx="0"/>
          </p:cNvCxnSpPr>
          <p:nvPr/>
        </p:nvCxnSpPr>
        <p:spPr>
          <a:xfrm flipH="1">
            <a:off x="3180431" y="2696565"/>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 name="Straight Arrow Connector 128"/>
          <p:cNvCxnSpPr>
            <a:stCxn id="63" idx="2"/>
            <a:endCxn id="83" idx="0"/>
          </p:cNvCxnSpPr>
          <p:nvPr/>
        </p:nvCxnSpPr>
        <p:spPr>
          <a:xfrm>
            <a:off x="5917325" y="2696565"/>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0" name="Straight Arrow Connector 129"/>
          <p:cNvCxnSpPr>
            <a:stCxn id="66" idx="2"/>
            <a:endCxn id="84" idx="0"/>
          </p:cNvCxnSpPr>
          <p:nvPr/>
        </p:nvCxnSpPr>
        <p:spPr>
          <a:xfrm>
            <a:off x="7285772" y="2696565"/>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1" name="Straight Arrow Connector 130"/>
          <p:cNvCxnSpPr>
            <a:stCxn id="64" idx="2"/>
            <a:endCxn id="75" idx="0"/>
          </p:cNvCxnSpPr>
          <p:nvPr/>
        </p:nvCxnSpPr>
        <p:spPr>
          <a:xfrm flipH="1">
            <a:off x="3636580"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2" name="Straight Arrow Connector 131"/>
          <p:cNvCxnSpPr>
            <a:stCxn id="65" idx="2"/>
            <a:endCxn id="76" idx="0"/>
          </p:cNvCxnSpPr>
          <p:nvPr/>
        </p:nvCxnSpPr>
        <p:spPr>
          <a:xfrm flipH="1">
            <a:off x="4092729"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3" name="Straight Arrow Connector 132"/>
          <p:cNvCxnSpPr>
            <a:stCxn id="68" idx="2"/>
            <a:endCxn id="85" idx="0"/>
          </p:cNvCxnSpPr>
          <p:nvPr/>
        </p:nvCxnSpPr>
        <p:spPr>
          <a:xfrm>
            <a:off x="8198070" y="2696565"/>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67" idx="2"/>
            <a:endCxn id="77" idx="0"/>
          </p:cNvCxnSpPr>
          <p:nvPr/>
        </p:nvCxnSpPr>
        <p:spPr>
          <a:xfrm flipH="1">
            <a:off x="4548878" y="2696565"/>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Group 68"/>
          <p:cNvGrpSpPr/>
          <p:nvPr/>
        </p:nvGrpSpPr>
        <p:grpSpPr>
          <a:xfrm>
            <a:off x="1127235" y="3356746"/>
            <a:ext cx="7299435" cy="457200"/>
            <a:chOff x="941989" y="1557421"/>
            <a:chExt cx="7299435" cy="457200"/>
          </a:xfrm>
        </p:grpSpPr>
        <p:sp>
          <p:nvSpPr>
            <p:cNvPr id="70" name="Rectangle 6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71" name="Rectangle 7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72" name="Rectangle 7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73" name="Rectangle 7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sp>
          <p:nvSpPr>
            <p:cNvPr id="74" name="Rectangle 7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75" name="Rectangle 7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76" name="Rectangle 7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77" name="Rectangle 7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78" name="Rectangle 7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79" name="Rectangle 7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80" name="Rectangle 79"/>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81" name="Rectangle 80"/>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82" name="Rectangle 81"/>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83" name="Rectangle 82"/>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sp>
          <p:nvSpPr>
            <p:cNvPr id="84" name="Rectangle 83"/>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85" name="Rectangle 84"/>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grpSp>
      <p:cxnSp>
        <p:nvCxnSpPr>
          <p:cNvPr id="135" name="Straight Arrow Connector 134"/>
          <p:cNvCxnSpPr>
            <a:stCxn id="71" idx="2"/>
            <a:endCxn id="87" idx="0"/>
          </p:cNvCxnSpPr>
          <p:nvPr/>
        </p:nvCxnSpPr>
        <p:spPr>
          <a:xfrm flipH="1">
            <a:off x="1355835" y="3813946"/>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70" idx="2"/>
            <a:endCxn id="95" idx="0"/>
          </p:cNvCxnSpPr>
          <p:nvPr/>
        </p:nvCxnSpPr>
        <p:spPr>
          <a:xfrm>
            <a:off x="1355835" y="3813946"/>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4" name="Straight Arrow Connector 153"/>
          <p:cNvCxnSpPr>
            <a:stCxn id="73" idx="2"/>
            <a:endCxn id="88" idx="0"/>
          </p:cNvCxnSpPr>
          <p:nvPr/>
        </p:nvCxnSpPr>
        <p:spPr>
          <a:xfrm flipH="1">
            <a:off x="1811984" y="3813946"/>
            <a:ext cx="912298"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p:cNvCxnSpPr>
            <a:stCxn id="72" idx="2"/>
            <a:endCxn id="96" idx="0"/>
          </p:cNvCxnSpPr>
          <p:nvPr/>
        </p:nvCxnSpPr>
        <p:spPr>
          <a:xfrm>
            <a:off x="2268133" y="3813946"/>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p:cNvCxnSpPr>
            <a:stCxn id="75" idx="2"/>
            <a:endCxn id="97" idx="0"/>
          </p:cNvCxnSpPr>
          <p:nvPr/>
        </p:nvCxnSpPr>
        <p:spPr>
          <a:xfrm>
            <a:off x="3636580" y="3813946"/>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p:cNvCxnSpPr>
            <a:stCxn id="74" idx="2"/>
            <a:endCxn id="89" idx="0"/>
          </p:cNvCxnSpPr>
          <p:nvPr/>
        </p:nvCxnSpPr>
        <p:spPr>
          <a:xfrm flipH="1">
            <a:off x="2268133" y="3813946"/>
            <a:ext cx="912298"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p:cNvCxnSpPr>
            <a:stCxn id="77" idx="2"/>
            <a:endCxn id="98" idx="0"/>
          </p:cNvCxnSpPr>
          <p:nvPr/>
        </p:nvCxnSpPr>
        <p:spPr>
          <a:xfrm>
            <a:off x="4548878" y="3813946"/>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76" idx="2"/>
            <a:endCxn id="90" idx="0"/>
          </p:cNvCxnSpPr>
          <p:nvPr/>
        </p:nvCxnSpPr>
        <p:spPr>
          <a:xfrm flipH="1">
            <a:off x="2724282" y="3813946"/>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78" idx="2"/>
            <a:endCxn id="99" idx="0"/>
          </p:cNvCxnSpPr>
          <p:nvPr/>
        </p:nvCxnSpPr>
        <p:spPr>
          <a:xfrm>
            <a:off x="5005027" y="3813946"/>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79" idx="2"/>
            <a:endCxn id="91" idx="0"/>
          </p:cNvCxnSpPr>
          <p:nvPr/>
        </p:nvCxnSpPr>
        <p:spPr>
          <a:xfrm flipH="1">
            <a:off x="3180431" y="3813946"/>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80" idx="2"/>
            <a:endCxn id="100" idx="0"/>
          </p:cNvCxnSpPr>
          <p:nvPr/>
        </p:nvCxnSpPr>
        <p:spPr>
          <a:xfrm>
            <a:off x="5917325" y="3813946"/>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83" idx="2"/>
            <a:endCxn id="101" idx="0"/>
          </p:cNvCxnSpPr>
          <p:nvPr/>
        </p:nvCxnSpPr>
        <p:spPr>
          <a:xfrm>
            <a:off x="7285772" y="3813946"/>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81" idx="2"/>
            <a:endCxn id="92" idx="0"/>
          </p:cNvCxnSpPr>
          <p:nvPr/>
        </p:nvCxnSpPr>
        <p:spPr>
          <a:xfrm flipH="1">
            <a:off x="3636580" y="3813946"/>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82" idx="2"/>
            <a:endCxn id="93" idx="0"/>
          </p:cNvCxnSpPr>
          <p:nvPr/>
        </p:nvCxnSpPr>
        <p:spPr>
          <a:xfrm flipH="1">
            <a:off x="4092729" y="3813946"/>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85" idx="2"/>
            <a:endCxn id="102" idx="0"/>
          </p:cNvCxnSpPr>
          <p:nvPr/>
        </p:nvCxnSpPr>
        <p:spPr>
          <a:xfrm>
            <a:off x="8198070" y="3813946"/>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p:cNvCxnSpPr>
            <a:stCxn id="84" idx="2"/>
            <a:endCxn id="94" idx="0"/>
          </p:cNvCxnSpPr>
          <p:nvPr/>
        </p:nvCxnSpPr>
        <p:spPr>
          <a:xfrm flipH="1">
            <a:off x="4548878" y="3813946"/>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8" name="Rectangle 187"/>
          <p:cNvSpPr/>
          <p:nvPr/>
        </p:nvSpPr>
        <p:spPr>
          <a:xfrm>
            <a:off x="1095702" y="944044"/>
            <a:ext cx="7386145" cy="3530083"/>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6" name="Group 85"/>
          <p:cNvGrpSpPr/>
          <p:nvPr/>
        </p:nvGrpSpPr>
        <p:grpSpPr>
          <a:xfrm>
            <a:off x="1127235" y="4474127"/>
            <a:ext cx="7299435" cy="457200"/>
            <a:chOff x="941989" y="1557421"/>
            <a:chExt cx="7299435" cy="457200"/>
          </a:xfrm>
        </p:grpSpPr>
        <p:sp>
          <p:nvSpPr>
            <p:cNvPr id="87" name="Rectangle 86"/>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solidFill>
                    <a:schemeClr val="tx1"/>
                  </a:solidFill>
                </a:rPr>
                <a:t>000</a:t>
              </a:r>
            </a:p>
          </p:txBody>
        </p:sp>
        <p:sp>
          <p:nvSpPr>
            <p:cNvPr id="88" name="Rectangle 87"/>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solidFill>
                    <a:schemeClr val="tx1"/>
                  </a:solidFill>
                </a:rPr>
                <a:t>000</a:t>
              </a:r>
            </a:p>
          </p:txBody>
        </p:sp>
        <p:sp>
          <p:nvSpPr>
            <p:cNvPr id="89" name="Rectangle 88"/>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solidFill>
                    <a:schemeClr val="tx1"/>
                  </a:solidFill>
                </a:rPr>
                <a:t>001</a:t>
              </a:r>
            </a:p>
          </p:txBody>
        </p:sp>
        <p:sp>
          <p:nvSpPr>
            <p:cNvPr id="90" name="Rectangle 89"/>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solidFill>
                    <a:schemeClr val="tx1"/>
                  </a:solidFill>
                </a:rPr>
                <a:t>001</a:t>
              </a:r>
            </a:p>
          </p:txBody>
        </p:sp>
        <p:sp>
          <p:nvSpPr>
            <p:cNvPr id="91" name="Rectangle 90"/>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solidFill>
                    <a:schemeClr val="tx1"/>
                  </a:solidFill>
                </a:rPr>
                <a:t>010</a:t>
              </a:r>
            </a:p>
          </p:txBody>
        </p:sp>
        <p:sp>
          <p:nvSpPr>
            <p:cNvPr id="92" name="Rectangle 91"/>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solidFill>
                    <a:schemeClr val="tx1"/>
                  </a:solidFill>
                </a:rPr>
                <a:t>010</a:t>
              </a:r>
            </a:p>
          </p:txBody>
        </p:sp>
        <p:sp>
          <p:nvSpPr>
            <p:cNvPr id="93" name="Rectangle 92"/>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solidFill>
                    <a:schemeClr val="tx1"/>
                  </a:solidFill>
                </a:rPr>
                <a:t>011</a:t>
              </a:r>
            </a:p>
          </p:txBody>
        </p:sp>
        <p:sp>
          <p:nvSpPr>
            <p:cNvPr id="94" name="Rectangle 93"/>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solidFill>
                    <a:schemeClr val="tx1"/>
                  </a:solidFill>
                </a:rPr>
                <a:t>011</a:t>
              </a:r>
            </a:p>
          </p:txBody>
        </p:sp>
        <p:sp>
          <p:nvSpPr>
            <p:cNvPr id="95" name="Rectangle 94"/>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solidFill>
                    <a:schemeClr val="tx1"/>
                  </a:solidFill>
                </a:rPr>
                <a:t>100</a:t>
              </a:r>
            </a:p>
          </p:txBody>
        </p:sp>
        <p:sp>
          <p:nvSpPr>
            <p:cNvPr id="96" name="Rectangle 95"/>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solidFill>
                    <a:schemeClr val="tx1"/>
                  </a:solidFill>
                </a:rPr>
                <a:t>100</a:t>
              </a:r>
            </a:p>
          </p:txBody>
        </p:sp>
        <p:sp>
          <p:nvSpPr>
            <p:cNvPr id="97" name="Rectangle 96"/>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solidFill>
                    <a:schemeClr val="tx1"/>
                  </a:solidFill>
                </a:rPr>
                <a:t>101</a:t>
              </a:r>
            </a:p>
          </p:txBody>
        </p:sp>
        <p:sp>
          <p:nvSpPr>
            <p:cNvPr id="98" name="Rectangle 97"/>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solidFill>
                    <a:schemeClr val="tx1"/>
                  </a:solidFill>
                </a:rPr>
                <a:t>101</a:t>
              </a:r>
            </a:p>
          </p:txBody>
        </p:sp>
        <p:sp>
          <p:nvSpPr>
            <p:cNvPr id="99" name="Rectangle 98"/>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solidFill>
                    <a:schemeClr val="tx1"/>
                  </a:solidFill>
                </a:rPr>
                <a:t>110</a:t>
              </a:r>
            </a:p>
          </p:txBody>
        </p:sp>
        <p:sp>
          <p:nvSpPr>
            <p:cNvPr id="100" name="Rectangle 99"/>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solidFill>
                    <a:schemeClr val="tx1"/>
                  </a:solidFill>
                </a:rPr>
                <a:t>110</a:t>
              </a:r>
            </a:p>
          </p:txBody>
        </p:sp>
        <p:sp>
          <p:nvSpPr>
            <p:cNvPr id="101" name="Rectangle 100"/>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solidFill>
                    <a:schemeClr val="tx1"/>
                  </a:solidFill>
                </a:rPr>
                <a:t>111</a:t>
              </a:r>
            </a:p>
          </p:txBody>
        </p:sp>
        <p:sp>
          <p:nvSpPr>
            <p:cNvPr id="102" name="Rectangle 101"/>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solidFill>
                    <a:schemeClr val="tx1"/>
                  </a:solidFill>
                </a:rPr>
                <a:t>111</a:t>
              </a:r>
            </a:p>
          </p:txBody>
        </p:sp>
      </p:grpSp>
      <p:grpSp>
        <p:nvGrpSpPr>
          <p:cNvPr id="137" name="Group 136"/>
          <p:cNvGrpSpPr/>
          <p:nvPr/>
        </p:nvGrpSpPr>
        <p:grpSpPr>
          <a:xfrm>
            <a:off x="1127235" y="5591508"/>
            <a:ext cx="7299435" cy="457200"/>
            <a:chOff x="941989" y="1557421"/>
            <a:chExt cx="7299435" cy="457200"/>
          </a:xfrm>
        </p:grpSpPr>
        <p:sp>
          <p:nvSpPr>
            <p:cNvPr id="138" name="Rectangle 137"/>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t>000</a:t>
              </a:r>
            </a:p>
          </p:txBody>
        </p:sp>
        <p:sp>
          <p:nvSpPr>
            <p:cNvPr id="139" name="Rectangle 138"/>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t>011</a:t>
              </a:r>
            </a:p>
          </p:txBody>
        </p:sp>
        <p:sp>
          <p:nvSpPr>
            <p:cNvPr id="140" name="Rectangle 139"/>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t>100</a:t>
              </a:r>
            </a:p>
          </p:txBody>
        </p:sp>
        <p:sp>
          <p:nvSpPr>
            <p:cNvPr id="141" name="Rectangle 140"/>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t>101</a:t>
              </a:r>
            </a:p>
          </p:txBody>
        </p:sp>
        <p:sp>
          <p:nvSpPr>
            <p:cNvPr id="142" name="Rectangle 141"/>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t>110</a:t>
              </a:r>
            </a:p>
          </p:txBody>
        </p:sp>
        <p:sp>
          <p:nvSpPr>
            <p:cNvPr id="143" name="Rectangle 142"/>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t>110</a:t>
              </a:r>
            </a:p>
          </p:txBody>
        </p:sp>
        <p:sp>
          <p:nvSpPr>
            <p:cNvPr id="144" name="Rectangle 143"/>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r>
                <a:rPr lang="en-US" sz="1600" dirty="0"/>
                <a:t>111</a:t>
              </a:r>
            </a:p>
          </p:txBody>
        </p:sp>
        <p:sp>
          <p:nvSpPr>
            <p:cNvPr id="145" name="Rectangle 144"/>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t>000</a:t>
              </a:r>
            </a:p>
          </p:txBody>
        </p:sp>
        <p:sp>
          <p:nvSpPr>
            <p:cNvPr id="146" name="Rectangle 145"/>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t>001</a:t>
              </a:r>
            </a:p>
          </p:txBody>
        </p:sp>
        <p:sp>
          <p:nvSpPr>
            <p:cNvPr id="147" name="Rectangle 146"/>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t>001</a:t>
              </a:r>
            </a:p>
          </p:txBody>
        </p:sp>
        <p:sp>
          <p:nvSpPr>
            <p:cNvPr id="148" name="Rectangle 147"/>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t>010</a:t>
              </a:r>
            </a:p>
          </p:txBody>
        </p:sp>
        <p:sp>
          <p:nvSpPr>
            <p:cNvPr id="149" name="Rectangle 148"/>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t>010</a:t>
              </a:r>
            </a:p>
          </p:txBody>
        </p:sp>
        <p:sp>
          <p:nvSpPr>
            <p:cNvPr id="150" name="Rectangle 149"/>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t>011</a:t>
              </a:r>
            </a:p>
          </p:txBody>
        </p:sp>
        <p:sp>
          <p:nvSpPr>
            <p:cNvPr id="151" name="Rectangle 150"/>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t>100</a:t>
              </a:r>
            </a:p>
          </p:txBody>
        </p:sp>
        <p:sp>
          <p:nvSpPr>
            <p:cNvPr id="152" name="Rectangle 151"/>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t>101</a:t>
              </a:r>
            </a:p>
          </p:txBody>
        </p:sp>
        <p:sp>
          <p:nvSpPr>
            <p:cNvPr id="153" name="Rectangle 152"/>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r>
                <a:rPr lang="en-US" sz="1600" dirty="0"/>
                <a:t>111</a:t>
              </a:r>
            </a:p>
          </p:txBody>
        </p:sp>
      </p:grpSp>
      <p:grpSp>
        <p:nvGrpSpPr>
          <p:cNvPr id="2" name="Group 1"/>
          <p:cNvGrpSpPr/>
          <p:nvPr/>
        </p:nvGrpSpPr>
        <p:grpSpPr>
          <a:xfrm>
            <a:off x="1355835" y="4931327"/>
            <a:ext cx="6842235" cy="660181"/>
            <a:chOff x="1355835" y="5315527"/>
            <a:chExt cx="6842235" cy="660181"/>
          </a:xfrm>
        </p:grpSpPr>
        <p:cxnSp>
          <p:nvCxnSpPr>
            <p:cNvPr id="168" name="Straight Arrow Connector 167"/>
            <p:cNvCxnSpPr>
              <a:stCxn id="88" idx="2"/>
              <a:endCxn id="138" idx="0"/>
            </p:cNvCxnSpPr>
            <p:nvPr/>
          </p:nvCxnSpPr>
          <p:spPr>
            <a:xfrm flipH="1">
              <a:off x="1355835" y="5315527"/>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9" name="Straight Arrow Connector 168"/>
            <p:cNvCxnSpPr>
              <a:stCxn id="89" idx="2"/>
              <a:endCxn id="146" idx="0"/>
            </p:cNvCxnSpPr>
            <p:nvPr/>
          </p:nvCxnSpPr>
          <p:spPr>
            <a:xfrm>
              <a:off x="2268133" y="5315527"/>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0" name="Straight Arrow Connector 169"/>
            <p:cNvCxnSpPr>
              <a:stCxn id="93" idx="2"/>
              <a:endCxn id="139" idx="0"/>
            </p:cNvCxnSpPr>
            <p:nvPr/>
          </p:nvCxnSpPr>
          <p:spPr>
            <a:xfrm flipH="1">
              <a:off x="1811984" y="5315527"/>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1" name="Straight Arrow Connector 170"/>
            <p:cNvCxnSpPr>
              <a:stCxn id="90" idx="2"/>
              <a:endCxn id="147" idx="0"/>
            </p:cNvCxnSpPr>
            <p:nvPr/>
          </p:nvCxnSpPr>
          <p:spPr>
            <a:xfrm>
              <a:off x="2724282" y="5315527"/>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 name="Straight Arrow Connector 171"/>
            <p:cNvCxnSpPr>
              <a:stCxn id="91" idx="2"/>
              <a:endCxn id="148" idx="0"/>
            </p:cNvCxnSpPr>
            <p:nvPr/>
          </p:nvCxnSpPr>
          <p:spPr>
            <a:xfrm>
              <a:off x="3180431" y="5315527"/>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p:cNvCxnSpPr>
              <a:stCxn id="96" idx="2"/>
              <a:endCxn id="140" idx="0"/>
            </p:cNvCxnSpPr>
            <p:nvPr/>
          </p:nvCxnSpPr>
          <p:spPr>
            <a:xfrm flipH="1">
              <a:off x="2268133" y="5315527"/>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p:cNvCxnSpPr>
              <a:stCxn id="92" idx="2"/>
              <a:endCxn id="149" idx="0"/>
            </p:cNvCxnSpPr>
            <p:nvPr/>
          </p:nvCxnSpPr>
          <p:spPr>
            <a:xfrm>
              <a:off x="3636580" y="5315527"/>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p:cNvCxnSpPr>
              <a:stCxn id="97" idx="2"/>
              <a:endCxn id="141" idx="0"/>
            </p:cNvCxnSpPr>
            <p:nvPr/>
          </p:nvCxnSpPr>
          <p:spPr>
            <a:xfrm flipH="1">
              <a:off x="2724282" y="5315527"/>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p:cNvCxnSpPr>
              <a:stCxn id="94" idx="2"/>
              <a:endCxn id="150" idx="0"/>
            </p:cNvCxnSpPr>
            <p:nvPr/>
          </p:nvCxnSpPr>
          <p:spPr>
            <a:xfrm>
              <a:off x="4548878" y="5315527"/>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p:cNvCxnSpPr>
              <a:stCxn id="99" idx="2"/>
              <a:endCxn id="142" idx="0"/>
            </p:cNvCxnSpPr>
            <p:nvPr/>
          </p:nvCxnSpPr>
          <p:spPr>
            <a:xfrm flipH="1">
              <a:off x="3180431" y="5315527"/>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Straight Arrow Connector 177"/>
            <p:cNvCxnSpPr>
              <a:stCxn id="95" idx="2"/>
              <a:endCxn id="151" idx="0"/>
            </p:cNvCxnSpPr>
            <p:nvPr/>
          </p:nvCxnSpPr>
          <p:spPr>
            <a:xfrm>
              <a:off x="5005027" y="5315527"/>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 name="Straight Arrow Connector 178"/>
            <p:cNvCxnSpPr>
              <a:stCxn id="98" idx="2"/>
              <a:endCxn id="152" idx="0"/>
            </p:cNvCxnSpPr>
            <p:nvPr/>
          </p:nvCxnSpPr>
          <p:spPr>
            <a:xfrm>
              <a:off x="6373474" y="5315527"/>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Straight Arrow Connector 179"/>
            <p:cNvCxnSpPr>
              <a:stCxn id="100" idx="2"/>
              <a:endCxn id="143" idx="0"/>
            </p:cNvCxnSpPr>
            <p:nvPr/>
          </p:nvCxnSpPr>
          <p:spPr>
            <a:xfrm flipH="1">
              <a:off x="3636580" y="5315527"/>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1" name="Straight Arrow Connector 180"/>
            <p:cNvCxnSpPr>
              <a:stCxn id="102" idx="2"/>
              <a:endCxn id="144" idx="0"/>
            </p:cNvCxnSpPr>
            <p:nvPr/>
          </p:nvCxnSpPr>
          <p:spPr>
            <a:xfrm flipH="1">
              <a:off x="4092729" y="5315527"/>
              <a:ext cx="4105341"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01" idx="2"/>
              <a:endCxn id="153" idx="0"/>
            </p:cNvCxnSpPr>
            <p:nvPr/>
          </p:nvCxnSpPr>
          <p:spPr>
            <a:xfrm>
              <a:off x="7741921" y="5315527"/>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3" name="Straight Arrow Connector 182"/>
            <p:cNvCxnSpPr>
              <a:stCxn id="87" idx="2"/>
              <a:endCxn id="145" idx="0"/>
            </p:cNvCxnSpPr>
            <p:nvPr/>
          </p:nvCxnSpPr>
          <p:spPr>
            <a:xfrm>
              <a:off x="1355835" y="5315527"/>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84" name="TextBox 183"/>
          <p:cNvSpPr txBox="1"/>
          <p:nvPr/>
        </p:nvSpPr>
        <p:spPr>
          <a:xfrm>
            <a:off x="998983" y="6078253"/>
            <a:ext cx="7591766" cy="369332"/>
          </a:xfrm>
          <a:prstGeom prst="rect">
            <a:avLst/>
          </a:prstGeom>
          <a:noFill/>
        </p:spPr>
        <p:txBody>
          <a:bodyPr wrap="square" rtlCol="0">
            <a:spAutoFit/>
          </a:bodyPr>
          <a:lstStyle/>
          <a:p>
            <a:pPr algn="ctr"/>
            <a:r>
              <a:rPr lang="en-US" dirty="0"/>
              <a:t>Finally, separate the keys based on the last bit (keys are now sorted by all bits)</a:t>
            </a:r>
          </a:p>
        </p:txBody>
      </p:sp>
    </p:spTree>
    <p:extLst>
      <p:ext uri="{BB962C8B-B14F-4D97-AF65-F5344CB8AC3E}">
        <p14:creationId xmlns:p14="http://schemas.microsoft.com/office/powerpoint/2010/main" val="2229605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4"/>
                                        </p:tgtEl>
                                        <p:attrNameLst>
                                          <p:attrName>style.visibility</p:attrName>
                                        </p:attrNameLst>
                                      </p:cBhvr>
                                      <p:to>
                                        <p:strVal val="visible"/>
                                      </p:to>
                                    </p:set>
                                    <p:animEffect transition="in" filter="fade">
                                      <p:cBhvr>
                                        <p:cTn id="7" dur="500"/>
                                        <p:tgtEl>
                                          <p:spTgt spid="1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37"/>
                                        </p:tgtEl>
                                        <p:attrNameLst>
                                          <p:attrName>style.visibility</p:attrName>
                                        </p:attrNameLst>
                                      </p:cBhvr>
                                      <p:to>
                                        <p:strVal val="visible"/>
                                      </p:to>
                                    </p:set>
                                    <p:animEffect transition="in" filter="fade">
                                      <p:cBhvr>
                                        <p:cTn id="16"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Radix Sort Iteration (1-bit Radix)</a:t>
            </a:r>
          </a:p>
        </p:txBody>
      </p:sp>
      <p:grpSp>
        <p:nvGrpSpPr>
          <p:cNvPr id="69" name="Group 68"/>
          <p:cNvGrpSpPr/>
          <p:nvPr/>
        </p:nvGrpSpPr>
        <p:grpSpPr>
          <a:xfrm>
            <a:off x="1127235" y="3356746"/>
            <a:ext cx="7299435" cy="457200"/>
            <a:chOff x="941989" y="1557421"/>
            <a:chExt cx="7299435" cy="457200"/>
          </a:xfrm>
        </p:grpSpPr>
        <p:sp>
          <p:nvSpPr>
            <p:cNvPr id="70" name="Rectangle 6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71" name="Rectangle 7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72" name="Rectangle 7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73" name="Rectangle 7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sp>
          <p:nvSpPr>
            <p:cNvPr id="74" name="Rectangle 7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75" name="Rectangle 7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76" name="Rectangle 7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77" name="Rectangle 7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78" name="Rectangle 7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79" name="Rectangle 7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80" name="Rectangle 79"/>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81" name="Rectangle 80"/>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82" name="Rectangle 81"/>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83" name="Rectangle 82"/>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sp>
          <p:nvSpPr>
            <p:cNvPr id="84" name="Rectangle 83"/>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85" name="Rectangle 84"/>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grpSp>
      <p:grpSp>
        <p:nvGrpSpPr>
          <p:cNvPr id="86" name="Group 85"/>
          <p:cNvGrpSpPr/>
          <p:nvPr/>
        </p:nvGrpSpPr>
        <p:grpSpPr>
          <a:xfrm>
            <a:off x="1127235" y="4474127"/>
            <a:ext cx="7299435" cy="457200"/>
            <a:chOff x="941989" y="1557421"/>
            <a:chExt cx="7299435" cy="457200"/>
          </a:xfrm>
        </p:grpSpPr>
        <p:sp>
          <p:nvSpPr>
            <p:cNvPr id="87" name="Rectangle 86"/>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88" name="Rectangle 87"/>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sp>
          <p:nvSpPr>
            <p:cNvPr id="89" name="Rectangle 88"/>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90" name="Rectangle 89"/>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91" name="Rectangle 90"/>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92" name="Rectangle 91"/>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93" name="Rectangle 92"/>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94" name="Rectangle 93"/>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95" name="Rectangle 94"/>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96" name="Rectangle 95"/>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97" name="Rectangle 96"/>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98" name="Rectangle 97"/>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99" name="Rectangle 98"/>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100" name="Rectangle 99"/>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101" name="Rectangle 100"/>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sp>
          <p:nvSpPr>
            <p:cNvPr id="102" name="Rectangle 101"/>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grpSp>
      <p:cxnSp>
        <p:nvCxnSpPr>
          <p:cNvPr id="103" name="Straight Arrow Connector 102"/>
          <p:cNvCxnSpPr>
            <a:endCxn id="70" idx="0"/>
          </p:cNvCxnSpPr>
          <p:nvPr/>
        </p:nvCxnSpPr>
        <p:spPr>
          <a:xfrm>
            <a:off x="1355835" y="2696565"/>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Straight Arrow Connector 119"/>
          <p:cNvCxnSpPr>
            <a:endCxn id="78" idx="0"/>
          </p:cNvCxnSpPr>
          <p:nvPr/>
        </p:nvCxnSpPr>
        <p:spPr>
          <a:xfrm>
            <a:off x="1811984" y="2696565"/>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 name="Straight Arrow Connector 120"/>
          <p:cNvCxnSpPr>
            <a:endCxn id="71" idx="0"/>
          </p:cNvCxnSpPr>
          <p:nvPr/>
        </p:nvCxnSpPr>
        <p:spPr>
          <a:xfrm flipH="1">
            <a:off x="1811984" y="2696565"/>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1"/>
          <p:cNvCxnSpPr>
            <a:endCxn id="79" idx="0"/>
          </p:cNvCxnSpPr>
          <p:nvPr/>
        </p:nvCxnSpPr>
        <p:spPr>
          <a:xfrm>
            <a:off x="2724282"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Straight Arrow Connector 122"/>
          <p:cNvCxnSpPr>
            <a:endCxn id="80" idx="0"/>
          </p:cNvCxnSpPr>
          <p:nvPr/>
        </p:nvCxnSpPr>
        <p:spPr>
          <a:xfrm>
            <a:off x="3180431"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Straight Arrow Connector 123"/>
          <p:cNvCxnSpPr>
            <a:endCxn id="72" idx="0"/>
          </p:cNvCxnSpPr>
          <p:nvPr/>
        </p:nvCxnSpPr>
        <p:spPr>
          <a:xfrm flipH="1">
            <a:off x="2268133" y="2696565"/>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Straight Arrow Connector 124"/>
          <p:cNvCxnSpPr>
            <a:endCxn id="81" idx="0"/>
          </p:cNvCxnSpPr>
          <p:nvPr/>
        </p:nvCxnSpPr>
        <p:spPr>
          <a:xfrm>
            <a:off x="4092729" y="2696565"/>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p:cNvCxnSpPr>
            <a:endCxn id="73" idx="0"/>
          </p:cNvCxnSpPr>
          <p:nvPr/>
        </p:nvCxnSpPr>
        <p:spPr>
          <a:xfrm flipH="1">
            <a:off x="2724282" y="2696565"/>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7" name="Straight Arrow Connector 126"/>
          <p:cNvCxnSpPr>
            <a:endCxn id="82" idx="0"/>
          </p:cNvCxnSpPr>
          <p:nvPr/>
        </p:nvCxnSpPr>
        <p:spPr>
          <a:xfrm>
            <a:off x="5005027" y="2696565"/>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Straight Arrow Connector 127"/>
          <p:cNvCxnSpPr>
            <a:endCxn id="74" idx="0"/>
          </p:cNvCxnSpPr>
          <p:nvPr/>
        </p:nvCxnSpPr>
        <p:spPr>
          <a:xfrm flipH="1">
            <a:off x="3180431" y="2696565"/>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 name="Straight Arrow Connector 128"/>
          <p:cNvCxnSpPr>
            <a:endCxn id="83" idx="0"/>
          </p:cNvCxnSpPr>
          <p:nvPr/>
        </p:nvCxnSpPr>
        <p:spPr>
          <a:xfrm>
            <a:off x="5917325" y="2696565"/>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0" name="Straight Arrow Connector 129"/>
          <p:cNvCxnSpPr>
            <a:endCxn id="84" idx="0"/>
          </p:cNvCxnSpPr>
          <p:nvPr/>
        </p:nvCxnSpPr>
        <p:spPr>
          <a:xfrm>
            <a:off x="7285772" y="2696565"/>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1" name="Straight Arrow Connector 130"/>
          <p:cNvCxnSpPr>
            <a:endCxn id="75" idx="0"/>
          </p:cNvCxnSpPr>
          <p:nvPr/>
        </p:nvCxnSpPr>
        <p:spPr>
          <a:xfrm flipH="1">
            <a:off x="3636580"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2" name="Straight Arrow Connector 131"/>
          <p:cNvCxnSpPr>
            <a:endCxn id="76" idx="0"/>
          </p:cNvCxnSpPr>
          <p:nvPr/>
        </p:nvCxnSpPr>
        <p:spPr>
          <a:xfrm flipH="1">
            <a:off x="4092729" y="2696565"/>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3" name="Straight Arrow Connector 132"/>
          <p:cNvCxnSpPr>
            <a:endCxn id="85" idx="0"/>
          </p:cNvCxnSpPr>
          <p:nvPr/>
        </p:nvCxnSpPr>
        <p:spPr>
          <a:xfrm>
            <a:off x="8198070" y="2696565"/>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4" name="Straight Arrow Connector 133"/>
          <p:cNvCxnSpPr>
            <a:endCxn id="77" idx="0"/>
          </p:cNvCxnSpPr>
          <p:nvPr/>
        </p:nvCxnSpPr>
        <p:spPr>
          <a:xfrm flipH="1">
            <a:off x="4548878" y="2696565"/>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35" name="Group 134"/>
          <p:cNvGrpSpPr/>
          <p:nvPr/>
        </p:nvGrpSpPr>
        <p:grpSpPr>
          <a:xfrm>
            <a:off x="1127235" y="5591508"/>
            <a:ext cx="7299435" cy="457200"/>
            <a:chOff x="941989" y="1557421"/>
            <a:chExt cx="7299435" cy="457200"/>
          </a:xfrm>
        </p:grpSpPr>
        <p:sp>
          <p:nvSpPr>
            <p:cNvPr id="136" name="Rectangle 135"/>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sp>
          <p:nvSpPr>
            <p:cNvPr id="137" name="Rectangle 136"/>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138" name="Rectangle 137"/>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139" name="Rectangle 138"/>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140" name="Rectangle 139"/>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141" name="Rectangle 140"/>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142" name="Rectangle 141"/>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sp>
          <p:nvSpPr>
            <p:cNvPr id="143" name="Rectangle 142"/>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144" name="Rectangle 143"/>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145" name="Rectangle 144"/>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146" name="Rectangle 145"/>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147" name="Rectangle 146"/>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148" name="Rectangle 147"/>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149" name="Rectangle 148"/>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150" name="Rectangle 149"/>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151" name="Rectangle 150"/>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grpSp>
      <p:cxnSp>
        <p:nvCxnSpPr>
          <p:cNvPr id="152" name="Straight Arrow Connector 151"/>
          <p:cNvCxnSpPr>
            <a:stCxn id="71" idx="2"/>
            <a:endCxn id="87" idx="0"/>
          </p:cNvCxnSpPr>
          <p:nvPr/>
        </p:nvCxnSpPr>
        <p:spPr>
          <a:xfrm flipH="1">
            <a:off x="1355835" y="3813946"/>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3" name="Straight Arrow Connector 152"/>
          <p:cNvCxnSpPr>
            <a:stCxn id="70" idx="2"/>
            <a:endCxn id="95" idx="0"/>
          </p:cNvCxnSpPr>
          <p:nvPr/>
        </p:nvCxnSpPr>
        <p:spPr>
          <a:xfrm>
            <a:off x="1355835" y="3813946"/>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4" name="Straight Arrow Connector 153"/>
          <p:cNvCxnSpPr>
            <a:stCxn id="73" idx="2"/>
            <a:endCxn id="88" idx="0"/>
          </p:cNvCxnSpPr>
          <p:nvPr/>
        </p:nvCxnSpPr>
        <p:spPr>
          <a:xfrm flipH="1">
            <a:off x="1811984" y="3813946"/>
            <a:ext cx="912298"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p:cNvCxnSpPr>
            <a:stCxn id="72" idx="2"/>
            <a:endCxn id="96" idx="0"/>
          </p:cNvCxnSpPr>
          <p:nvPr/>
        </p:nvCxnSpPr>
        <p:spPr>
          <a:xfrm>
            <a:off x="2268133" y="3813946"/>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p:cNvCxnSpPr>
            <a:stCxn id="75" idx="2"/>
            <a:endCxn id="97" idx="0"/>
          </p:cNvCxnSpPr>
          <p:nvPr/>
        </p:nvCxnSpPr>
        <p:spPr>
          <a:xfrm>
            <a:off x="3636580" y="3813946"/>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p:cNvCxnSpPr>
            <a:stCxn id="74" idx="2"/>
            <a:endCxn id="89" idx="0"/>
          </p:cNvCxnSpPr>
          <p:nvPr/>
        </p:nvCxnSpPr>
        <p:spPr>
          <a:xfrm flipH="1">
            <a:off x="2268133" y="3813946"/>
            <a:ext cx="912298"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p:cNvCxnSpPr>
            <a:stCxn id="77" idx="2"/>
            <a:endCxn id="98" idx="0"/>
          </p:cNvCxnSpPr>
          <p:nvPr/>
        </p:nvCxnSpPr>
        <p:spPr>
          <a:xfrm>
            <a:off x="4548878" y="3813946"/>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76" idx="2"/>
            <a:endCxn id="90" idx="0"/>
          </p:cNvCxnSpPr>
          <p:nvPr/>
        </p:nvCxnSpPr>
        <p:spPr>
          <a:xfrm flipH="1">
            <a:off x="2724282" y="3813946"/>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78" idx="2"/>
            <a:endCxn id="99" idx="0"/>
          </p:cNvCxnSpPr>
          <p:nvPr/>
        </p:nvCxnSpPr>
        <p:spPr>
          <a:xfrm>
            <a:off x="5005027" y="3813946"/>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79" idx="2"/>
            <a:endCxn id="91" idx="0"/>
          </p:cNvCxnSpPr>
          <p:nvPr/>
        </p:nvCxnSpPr>
        <p:spPr>
          <a:xfrm flipH="1">
            <a:off x="3180431" y="3813946"/>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80" idx="2"/>
            <a:endCxn id="100" idx="0"/>
          </p:cNvCxnSpPr>
          <p:nvPr/>
        </p:nvCxnSpPr>
        <p:spPr>
          <a:xfrm>
            <a:off x="5917325" y="3813946"/>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83" idx="2"/>
            <a:endCxn id="101" idx="0"/>
          </p:cNvCxnSpPr>
          <p:nvPr/>
        </p:nvCxnSpPr>
        <p:spPr>
          <a:xfrm>
            <a:off x="7285772" y="3813946"/>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81" idx="2"/>
            <a:endCxn id="92" idx="0"/>
          </p:cNvCxnSpPr>
          <p:nvPr/>
        </p:nvCxnSpPr>
        <p:spPr>
          <a:xfrm flipH="1">
            <a:off x="3636580" y="3813946"/>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82" idx="2"/>
            <a:endCxn id="93" idx="0"/>
          </p:cNvCxnSpPr>
          <p:nvPr/>
        </p:nvCxnSpPr>
        <p:spPr>
          <a:xfrm flipH="1">
            <a:off x="4092729" y="3813946"/>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85" idx="2"/>
            <a:endCxn id="102" idx="0"/>
          </p:cNvCxnSpPr>
          <p:nvPr/>
        </p:nvCxnSpPr>
        <p:spPr>
          <a:xfrm>
            <a:off x="8198070" y="3813946"/>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p:cNvCxnSpPr>
            <a:stCxn id="84" idx="2"/>
            <a:endCxn id="94" idx="0"/>
          </p:cNvCxnSpPr>
          <p:nvPr/>
        </p:nvCxnSpPr>
        <p:spPr>
          <a:xfrm flipH="1">
            <a:off x="4548878" y="3813946"/>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p:cNvCxnSpPr>
            <a:stCxn id="88" idx="2"/>
            <a:endCxn id="136" idx="0"/>
          </p:cNvCxnSpPr>
          <p:nvPr/>
        </p:nvCxnSpPr>
        <p:spPr>
          <a:xfrm flipH="1">
            <a:off x="1355835" y="4931327"/>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9" name="Straight Arrow Connector 168"/>
          <p:cNvCxnSpPr>
            <a:stCxn id="89" idx="2"/>
            <a:endCxn id="144" idx="0"/>
          </p:cNvCxnSpPr>
          <p:nvPr/>
        </p:nvCxnSpPr>
        <p:spPr>
          <a:xfrm>
            <a:off x="2268133" y="4931327"/>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0" name="Straight Arrow Connector 169"/>
          <p:cNvCxnSpPr>
            <a:stCxn id="93" idx="2"/>
            <a:endCxn id="137" idx="0"/>
          </p:cNvCxnSpPr>
          <p:nvPr/>
        </p:nvCxnSpPr>
        <p:spPr>
          <a:xfrm flipH="1">
            <a:off x="1811984" y="4931327"/>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1" name="Straight Arrow Connector 170"/>
          <p:cNvCxnSpPr>
            <a:stCxn id="90" idx="2"/>
            <a:endCxn id="145" idx="0"/>
          </p:cNvCxnSpPr>
          <p:nvPr/>
        </p:nvCxnSpPr>
        <p:spPr>
          <a:xfrm>
            <a:off x="2724282" y="4931327"/>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 name="Straight Arrow Connector 171"/>
          <p:cNvCxnSpPr>
            <a:stCxn id="91" idx="2"/>
            <a:endCxn id="146" idx="0"/>
          </p:cNvCxnSpPr>
          <p:nvPr/>
        </p:nvCxnSpPr>
        <p:spPr>
          <a:xfrm>
            <a:off x="3180431" y="4931327"/>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p:cNvCxnSpPr>
            <a:stCxn id="96" idx="2"/>
            <a:endCxn id="138" idx="0"/>
          </p:cNvCxnSpPr>
          <p:nvPr/>
        </p:nvCxnSpPr>
        <p:spPr>
          <a:xfrm flipH="1">
            <a:off x="2268133" y="4931327"/>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p:cNvCxnSpPr>
            <a:stCxn id="92" idx="2"/>
            <a:endCxn id="147" idx="0"/>
          </p:cNvCxnSpPr>
          <p:nvPr/>
        </p:nvCxnSpPr>
        <p:spPr>
          <a:xfrm>
            <a:off x="3636580" y="4931327"/>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p:cNvCxnSpPr>
            <a:stCxn id="97" idx="2"/>
            <a:endCxn id="139" idx="0"/>
          </p:cNvCxnSpPr>
          <p:nvPr/>
        </p:nvCxnSpPr>
        <p:spPr>
          <a:xfrm flipH="1">
            <a:off x="2724282" y="4931327"/>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p:cNvCxnSpPr>
            <a:stCxn id="94" idx="2"/>
            <a:endCxn id="148" idx="0"/>
          </p:cNvCxnSpPr>
          <p:nvPr/>
        </p:nvCxnSpPr>
        <p:spPr>
          <a:xfrm>
            <a:off x="4548878" y="4931327"/>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p:cNvCxnSpPr>
            <a:stCxn id="99" idx="2"/>
            <a:endCxn id="140" idx="0"/>
          </p:cNvCxnSpPr>
          <p:nvPr/>
        </p:nvCxnSpPr>
        <p:spPr>
          <a:xfrm flipH="1">
            <a:off x="3180431" y="4931327"/>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Straight Arrow Connector 177"/>
          <p:cNvCxnSpPr>
            <a:stCxn id="95" idx="2"/>
            <a:endCxn id="149" idx="0"/>
          </p:cNvCxnSpPr>
          <p:nvPr/>
        </p:nvCxnSpPr>
        <p:spPr>
          <a:xfrm>
            <a:off x="5005027" y="4931327"/>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 name="Straight Arrow Connector 178"/>
          <p:cNvCxnSpPr>
            <a:stCxn id="98" idx="2"/>
            <a:endCxn id="150" idx="0"/>
          </p:cNvCxnSpPr>
          <p:nvPr/>
        </p:nvCxnSpPr>
        <p:spPr>
          <a:xfrm>
            <a:off x="6373474" y="4931327"/>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Straight Arrow Connector 179"/>
          <p:cNvCxnSpPr>
            <a:stCxn id="100" idx="2"/>
            <a:endCxn id="141" idx="0"/>
          </p:cNvCxnSpPr>
          <p:nvPr/>
        </p:nvCxnSpPr>
        <p:spPr>
          <a:xfrm flipH="1">
            <a:off x="3636580" y="4931327"/>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1" name="Straight Arrow Connector 180"/>
          <p:cNvCxnSpPr>
            <a:stCxn id="102" idx="2"/>
            <a:endCxn id="142" idx="0"/>
          </p:cNvCxnSpPr>
          <p:nvPr/>
        </p:nvCxnSpPr>
        <p:spPr>
          <a:xfrm flipH="1">
            <a:off x="4092729" y="4931327"/>
            <a:ext cx="4105341"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01" idx="2"/>
            <a:endCxn id="151" idx="0"/>
          </p:cNvCxnSpPr>
          <p:nvPr/>
        </p:nvCxnSpPr>
        <p:spPr>
          <a:xfrm>
            <a:off x="7741921" y="4931327"/>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3" name="Straight Arrow Connector 182"/>
          <p:cNvCxnSpPr>
            <a:stCxn id="87" idx="2"/>
            <a:endCxn id="143" idx="0"/>
          </p:cNvCxnSpPr>
          <p:nvPr/>
        </p:nvCxnSpPr>
        <p:spPr>
          <a:xfrm>
            <a:off x="1355835" y="4931327"/>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4" name="Rectangle 183"/>
          <p:cNvSpPr/>
          <p:nvPr/>
        </p:nvSpPr>
        <p:spPr>
          <a:xfrm>
            <a:off x="1095702" y="2696565"/>
            <a:ext cx="7386145" cy="3387038"/>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p:cNvGrpSpPr/>
          <p:nvPr/>
        </p:nvGrpSpPr>
        <p:grpSpPr>
          <a:xfrm>
            <a:off x="1127235" y="1121984"/>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grpSp>
      <p:grpSp>
        <p:nvGrpSpPr>
          <p:cNvPr id="52" name="Group 51"/>
          <p:cNvGrpSpPr/>
          <p:nvPr/>
        </p:nvGrpSpPr>
        <p:grpSpPr>
          <a:xfrm>
            <a:off x="1127235" y="2239365"/>
            <a:ext cx="7299435" cy="457200"/>
            <a:chOff x="941989" y="1557421"/>
            <a:chExt cx="7299435" cy="457200"/>
          </a:xfrm>
        </p:grpSpPr>
        <p:sp>
          <p:nvSpPr>
            <p:cNvPr id="53" name="Rectangle 52"/>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54" name="Rectangle 53"/>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55" name="Rectangle 54"/>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56" name="Rectangle 55"/>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57" name="Rectangle 56"/>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58" name="Rectangle 57"/>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59" name="Rectangle 58"/>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60" name="Rectangle 59"/>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61" name="Rectangle 60"/>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62" name="Rectangle 61"/>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63" name="Rectangle 62"/>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64" name="Rectangle 63"/>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65" name="Rectangle 64"/>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66" name="Rectangle 65"/>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67" name="Rectangle 66"/>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68" name="Rectangle 67"/>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grpSp>
      <p:cxnSp>
        <p:nvCxnSpPr>
          <p:cNvPr id="104" name="Straight Arrow Connector 103"/>
          <p:cNvCxnSpPr>
            <a:stCxn id="5" idx="2"/>
            <a:endCxn id="53" idx="0"/>
          </p:cNvCxnSpPr>
          <p:nvPr/>
        </p:nvCxnSpPr>
        <p:spPr>
          <a:xfrm>
            <a:off x="1355835" y="1579184"/>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36" idx="2"/>
            <a:endCxn id="61" idx="0"/>
          </p:cNvCxnSpPr>
          <p:nvPr/>
        </p:nvCxnSpPr>
        <p:spPr>
          <a:xfrm>
            <a:off x="1811984"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p:cNvCxnSpPr>
            <a:stCxn id="37" idx="2"/>
            <a:endCxn id="54" idx="0"/>
          </p:cNvCxnSpPr>
          <p:nvPr/>
        </p:nvCxnSpPr>
        <p:spPr>
          <a:xfrm flipH="1">
            <a:off x="1811984" y="1579184"/>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p:cNvCxnSpPr>
            <a:stCxn id="38" idx="2"/>
            <a:endCxn id="62" idx="0"/>
          </p:cNvCxnSpPr>
          <p:nvPr/>
        </p:nvCxnSpPr>
        <p:spPr>
          <a:xfrm>
            <a:off x="2724282" y="1579184"/>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p:cNvCxnSpPr>
            <a:stCxn id="39" idx="2"/>
            <a:endCxn id="63" idx="0"/>
          </p:cNvCxnSpPr>
          <p:nvPr/>
        </p:nvCxnSpPr>
        <p:spPr>
          <a:xfrm>
            <a:off x="3180431" y="1579184"/>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p:cNvCxnSpPr>
            <a:stCxn id="40" idx="2"/>
            <a:endCxn id="55" idx="0"/>
          </p:cNvCxnSpPr>
          <p:nvPr/>
        </p:nvCxnSpPr>
        <p:spPr>
          <a:xfrm flipH="1">
            <a:off x="2268133"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p:cNvCxnSpPr>
            <a:stCxn id="41" idx="2"/>
            <a:endCxn id="64" idx="0"/>
          </p:cNvCxnSpPr>
          <p:nvPr/>
        </p:nvCxnSpPr>
        <p:spPr>
          <a:xfrm>
            <a:off x="4092729" y="1579184"/>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p:cNvCxnSpPr>
            <a:stCxn id="42" idx="2"/>
            <a:endCxn id="56" idx="0"/>
          </p:cNvCxnSpPr>
          <p:nvPr/>
        </p:nvCxnSpPr>
        <p:spPr>
          <a:xfrm flipH="1">
            <a:off x="2724282" y="1579184"/>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p:cNvCxnSpPr>
            <a:stCxn id="43" idx="2"/>
            <a:endCxn id="65" idx="0"/>
          </p:cNvCxnSpPr>
          <p:nvPr/>
        </p:nvCxnSpPr>
        <p:spPr>
          <a:xfrm>
            <a:off x="5005027" y="1579184"/>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p:cNvCxnSpPr>
            <a:stCxn id="44" idx="2"/>
            <a:endCxn id="57" idx="0"/>
          </p:cNvCxnSpPr>
          <p:nvPr/>
        </p:nvCxnSpPr>
        <p:spPr>
          <a:xfrm flipH="1">
            <a:off x="3180431" y="1579184"/>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p:cNvCxnSpPr>
            <a:stCxn id="45" idx="2"/>
            <a:endCxn id="66" idx="0"/>
          </p:cNvCxnSpPr>
          <p:nvPr/>
        </p:nvCxnSpPr>
        <p:spPr>
          <a:xfrm>
            <a:off x="5917325"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p:cNvCxnSpPr>
            <a:stCxn id="46" idx="2"/>
            <a:endCxn id="67" idx="0"/>
          </p:cNvCxnSpPr>
          <p:nvPr/>
        </p:nvCxnSpPr>
        <p:spPr>
          <a:xfrm>
            <a:off x="6373474" y="1579184"/>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p:cNvCxnSpPr>
            <a:stCxn id="47" idx="2"/>
            <a:endCxn id="58" idx="0"/>
          </p:cNvCxnSpPr>
          <p:nvPr/>
        </p:nvCxnSpPr>
        <p:spPr>
          <a:xfrm flipH="1">
            <a:off x="3636580"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Straight Arrow Connector 116"/>
          <p:cNvCxnSpPr>
            <a:stCxn id="48" idx="2"/>
            <a:endCxn id="59" idx="0"/>
          </p:cNvCxnSpPr>
          <p:nvPr/>
        </p:nvCxnSpPr>
        <p:spPr>
          <a:xfrm flipH="1">
            <a:off x="4092729" y="1579184"/>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Straight Arrow Connector 117"/>
          <p:cNvCxnSpPr>
            <a:stCxn id="49" idx="2"/>
            <a:endCxn id="68" idx="0"/>
          </p:cNvCxnSpPr>
          <p:nvPr/>
        </p:nvCxnSpPr>
        <p:spPr>
          <a:xfrm>
            <a:off x="7741921" y="1579184"/>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18"/>
          <p:cNvCxnSpPr>
            <a:stCxn id="50" idx="2"/>
            <a:endCxn id="60" idx="0"/>
          </p:cNvCxnSpPr>
          <p:nvPr/>
        </p:nvCxnSpPr>
        <p:spPr>
          <a:xfrm flipH="1">
            <a:off x="4548878" y="1579184"/>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Rectangle 1"/>
          <p:cNvSpPr/>
          <p:nvPr/>
        </p:nvSpPr>
        <p:spPr>
          <a:xfrm>
            <a:off x="1040524" y="1022872"/>
            <a:ext cx="7474826" cy="1757856"/>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TextBox 184"/>
          <p:cNvSpPr txBox="1"/>
          <p:nvPr/>
        </p:nvSpPr>
        <p:spPr>
          <a:xfrm>
            <a:off x="-46104" y="1121984"/>
            <a:ext cx="1106660" cy="1477328"/>
          </a:xfrm>
          <a:prstGeom prst="rect">
            <a:avLst/>
          </a:prstGeom>
          <a:noFill/>
        </p:spPr>
        <p:txBody>
          <a:bodyPr wrap="square" rtlCol="0">
            <a:spAutoFit/>
          </a:bodyPr>
          <a:lstStyle/>
          <a:p>
            <a:pPr algn="ctr"/>
            <a:r>
              <a:rPr lang="en-US" dirty="0"/>
              <a:t>How to separate keys based on one bit?</a:t>
            </a:r>
          </a:p>
        </p:txBody>
      </p:sp>
    </p:spTree>
    <p:extLst>
      <p:ext uri="{BB962C8B-B14F-4D97-AF65-F5344CB8AC3E}">
        <p14:creationId xmlns:p14="http://schemas.microsoft.com/office/powerpoint/2010/main" val="3712039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Radix Sort Iteration (1-bit Radix)</a:t>
            </a:r>
          </a:p>
        </p:txBody>
      </p:sp>
      <p:sp>
        <p:nvSpPr>
          <p:cNvPr id="136" name="TextBox 135"/>
          <p:cNvSpPr txBox="1"/>
          <p:nvPr/>
        </p:nvSpPr>
        <p:spPr>
          <a:xfrm>
            <a:off x="2068238" y="1306489"/>
            <a:ext cx="5007525" cy="369332"/>
          </a:xfrm>
          <a:prstGeom prst="rect">
            <a:avLst/>
          </a:prstGeom>
          <a:noFill/>
        </p:spPr>
        <p:txBody>
          <a:bodyPr wrap="none" rtlCol="0">
            <a:spAutoFit/>
          </a:bodyPr>
          <a:lstStyle/>
          <a:p>
            <a:pPr algn="ctr"/>
            <a:r>
              <a:rPr lang="en-US" dirty="0"/>
              <a:t>How to find the destination index of each element?</a:t>
            </a:r>
          </a:p>
        </p:txBody>
      </p:sp>
      <p:grpSp>
        <p:nvGrpSpPr>
          <p:cNvPr id="109" name="Group 108"/>
          <p:cNvGrpSpPr/>
          <p:nvPr/>
        </p:nvGrpSpPr>
        <p:grpSpPr>
          <a:xfrm>
            <a:off x="1127235" y="2052151"/>
            <a:ext cx="7299435" cy="457200"/>
            <a:chOff x="941989" y="1557421"/>
            <a:chExt cx="7299435" cy="457200"/>
          </a:xfrm>
        </p:grpSpPr>
        <p:sp>
          <p:nvSpPr>
            <p:cNvPr id="110" name="Rectangle 10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11" name="Rectangle 11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12" name="Rectangle 11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13" name="Rectangle 11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4" name="Rectangle 11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15" name="Rectangle 11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16" name="Rectangle 11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17" name="Rectangle 11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18" name="Rectangle 11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9" name="Rectangle 11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23" name="Rectangle 122"/>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24" name="Rectangle 123"/>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5" name="Rectangle 124"/>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6" name="Rectangle 125"/>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7" name="Rectangle 126"/>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128" name="Rectangle 127"/>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grpSp>
      <p:grpSp>
        <p:nvGrpSpPr>
          <p:cNvPr id="129" name="Group 128"/>
          <p:cNvGrpSpPr/>
          <p:nvPr/>
        </p:nvGrpSpPr>
        <p:grpSpPr>
          <a:xfrm>
            <a:off x="1127235" y="5254531"/>
            <a:ext cx="7299435" cy="457200"/>
            <a:chOff x="941989" y="1557421"/>
            <a:chExt cx="7299435" cy="457200"/>
          </a:xfrm>
        </p:grpSpPr>
        <p:sp>
          <p:nvSpPr>
            <p:cNvPr id="130" name="Rectangle 12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1" name="Rectangle 13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37" name="Rectangle 1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38" name="Rectangle 1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39" name="Rectangle 1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40" name="Rectangle 1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41" name="Rectangle 1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42" name="Rectangle 1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143" name="Rectangle 1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44" name="Rectangle 1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45" name="Rectangle 1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46" name="Rectangle 1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47" name="Rectangle 1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48" name="Rectangle 1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49" name="Rectangle 1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50" name="Rectangle 1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grpSp>
      <p:cxnSp>
        <p:nvCxnSpPr>
          <p:cNvPr id="151" name="Straight Arrow Connector 150"/>
          <p:cNvCxnSpPr>
            <a:stCxn id="110" idx="2"/>
            <a:endCxn id="130" idx="0"/>
          </p:cNvCxnSpPr>
          <p:nvPr/>
        </p:nvCxnSpPr>
        <p:spPr>
          <a:xfrm>
            <a:off x="1355835" y="2509351"/>
            <a:ext cx="0"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p:cNvCxnSpPr>
            <a:stCxn id="111" idx="2"/>
            <a:endCxn id="143" idx="0"/>
          </p:cNvCxnSpPr>
          <p:nvPr/>
        </p:nvCxnSpPr>
        <p:spPr>
          <a:xfrm>
            <a:off x="1811984" y="2509351"/>
            <a:ext cx="3193043"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3" name="Straight Arrow Connector 152"/>
          <p:cNvCxnSpPr>
            <a:stCxn id="112" idx="2"/>
            <a:endCxn id="131" idx="0"/>
          </p:cNvCxnSpPr>
          <p:nvPr/>
        </p:nvCxnSpPr>
        <p:spPr>
          <a:xfrm flipH="1">
            <a:off x="1811984" y="2509351"/>
            <a:ext cx="456149"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4" name="Straight Arrow Connector 153"/>
          <p:cNvCxnSpPr>
            <a:stCxn id="113" idx="2"/>
            <a:endCxn id="144" idx="0"/>
          </p:cNvCxnSpPr>
          <p:nvPr/>
        </p:nvCxnSpPr>
        <p:spPr>
          <a:xfrm>
            <a:off x="2724282" y="2509351"/>
            <a:ext cx="2736894"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p:cNvCxnSpPr>
            <a:stCxn id="114" idx="2"/>
            <a:endCxn id="145" idx="0"/>
          </p:cNvCxnSpPr>
          <p:nvPr/>
        </p:nvCxnSpPr>
        <p:spPr>
          <a:xfrm>
            <a:off x="3180431" y="2509351"/>
            <a:ext cx="2736894"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p:cNvCxnSpPr>
            <a:stCxn id="115" idx="2"/>
            <a:endCxn id="137" idx="0"/>
          </p:cNvCxnSpPr>
          <p:nvPr/>
        </p:nvCxnSpPr>
        <p:spPr>
          <a:xfrm flipH="1">
            <a:off x="2268133" y="25093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p:cNvCxnSpPr>
            <a:stCxn id="116" idx="2"/>
            <a:endCxn id="146" idx="0"/>
          </p:cNvCxnSpPr>
          <p:nvPr/>
        </p:nvCxnSpPr>
        <p:spPr>
          <a:xfrm>
            <a:off x="4092729" y="2509351"/>
            <a:ext cx="2280745"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p:cNvCxnSpPr>
            <a:stCxn id="117" idx="2"/>
            <a:endCxn id="138" idx="0"/>
          </p:cNvCxnSpPr>
          <p:nvPr/>
        </p:nvCxnSpPr>
        <p:spPr>
          <a:xfrm flipH="1">
            <a:off x="2724282" y="2509351"/>
            <a:ext cx="1824596"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118" idx="2"/>
            <a:endCxn id="147" idx="0"/>
          </p:cNvCxnSpPr>
          <p:nvPr/>
        </p:nvCxnSpPr>
        <p:spPr>
          <a:xfrm>
            <a:off x="5005027" y="2509351"/>
            <a:ext cx="1824596"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119" idx="2"/>
            <a:endCxn id="139" idx="0"/>
          </p:cNvCxnSpPr>
          <p:nvPr/>
        </p:nvCxnSpPr>
        <p:spPr>
          <a:xfrm flipH="1">
            <a:off x="3180431" y="2509351"/>
            <a:ext cx="2280745"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123" idx="2"/>
            <a:endCxn id="148" idx="0"/>
          </p:cNvCxnSpPr>
          <p:nvPr/>
        </p:nvCxnSpPr>
        <p:spPr>
          <a:xfrm>
            <a:off x="5917325" y="25093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124" idx="2"/>
            <a:endCxn id="149" idx="0"/>
          </p:cNvCxnSpPr>
          <p:nvPr/>
        </p:nvCxnSpPr>
        <p:spPr>
          <a:xfrm>
            <a:off x="6373474" y="25093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125" idx="2"/>
            <a:endCxn id="140" idx="0"/>
          </p:cNvCxnSpPr>
          <p:nvPr/>
        </p:nvCxnSpPr>
        <p:spPr>
          <a:xfrm flipH="1">
            <a:off x="3636580" y="2509351"/>
            <a:ext cx="3193043"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126" idx="2"/>
            <a:endCxn id="141" idx="0"/>
          </p:cNvCxnSpPr>
          <p:nvPr/>
        </p:nvCxnSpPr>
        <p:spPr>
          <a:xfrm flipH="1">
            <a:off x="4092729" y="2509351"/>
            <a:ext cx="3193043"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127" idx="2"/>
            <a:endCxn id="150" idx="0"/>
          </p:cNvCxnSpPr>
          <p:nvPr/>
        </p:nvCxnSpPr>
        <p:spPr>
          <a:xfrm>
            <a:off x="7741921" y="2509351"/>
            <a:ext cx="456149"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128" idx="2"/>
            <a:endCxn id="142" idx="0"/>
          </p:cNvCxnSpPr>
          <p:nvPr/>
        </p:nvCxnSpPr>
        <p:spPr>
          <a:xfrm flipH="1">
            <a:off x="4548878" y="2509351"/>
            <a:ext cx="3649192"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Rectangle 53"/>
          <p:cNvSpPr/>
          <p:nvPr/>
        </p:nvSpPr>
        <p:spPr>
          <a:xfrm>
            <a:off x="1040524" y="1968802"/>
            <a:ext cx="7474826" cy="384678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p:cNvSpPr txBox="1"/>
          <p:nvPr/>
        </p:nvSpPr>
        <p:spPr>
          <a:xfrm>
            <a:off x="-46104" y="2899545"/>
            <a:ext cx="1106660" cy="1477328"/>
          </a:xfrm>
          <a:prstGeom prst="rect">
            <a:avLst/>
          </a:prstGeom>
          <a:noFill/>
        </p:spPr>
        <p:txBody>
          <a:bodyPr wrap="square" rtlCol="0">
            <a:spAutoFit/>
          </a:bodyPr>
          <a:lstStyle/>
          <a:p>
            <a:pPr algn="ctr"/>
            <a:r>
              <a:rPr lang="en-US" dirty="0"/>
              <a:t>How to separate keys based on one bit?</a:t>
            </a:r>
          </a:p>
        </p:txBody>
      </p:sp>
    </p:spTree>
    <p:extLst>
      <p:ext uri="{BB962C8B-B14F-4D97-AF65-F5344CB8AC3E}">
        <p14:creationId xmlns:p14="http://schemas.microsoft.com/office/powerpoint/2010/main" val="1366373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animEffect transition="in" filter="fade">
                                      <p:cBhvr>
                                        <p:cTn id="7"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Finding Destination Index</a:t>
            </a:r>
          </a:p>
        </p:txBody>
      </p:sp>
      <p:grpSp>
        <p:nvGrpSpPr>
          <p:cNvPr id="51" name="Group 50"/>
          <p:cNvGrpSpPr/>
          <p:nvPr/>
        </p:nvGrpSpPr>
        <p:grpSpPr>
          <a:xfrm>
            <a:off x="1127235" y="2052151"/>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grpSp>
      <p:sp>
        <p:nvSpPr>
          <p:cNvPr id="25" name="TextBox 24"/>
          <p:cNvSpPr txBox="1"/>
          <p:nvPr/>
        </p:nvSpPr>
        <p:spPr>
          <a:xfrm>
            <a:off x="1037069" y="2928395"/>
            <a:ext cx="7598494" cy="2862322"/>
          </a:xfrm>
          <a:prstGeom prst="rect">
            <a:avLst/>
          </a:prstGeom>
          <a:noFill/>
        </p:spPr>
        <p:txBody>
          <a:bodyPr wrap="square" rtlCol="0">
            <a:spAutoFit/>
          </a:bodyPr>
          <a:lstStyle/>
          <a:p>
            <a:pPr defTabSz="500063"/>
            <a:r>
              <a:rPr lang="en-US" dirty="0"/>
              <a:t>destination of a </a:t>
            </a:r>
            <a:r>
              <a:rPr lang="en-US" b="1" dirty="0">
                <a:solidFill>
                  <a:schemeClr val="accent5"/>
                </a:solidFill>
              </a:rPr>
              <a:t>zero</a:t>
            </a:r>
            <a:r>
              <a:rPr lang="en-US" dirty="0"/>
              <a:t>	= # </a:t>
            </a:r>
            <a:r>
              <a:rPr lang="en-US" b="1" dirty="0">
                <a:solidFill>
                  <a:schemeClr val="accent5"/>
                </a:solidFill>
              </a:rPr>
              <a:t>zeros</a:t>
            </a:r>
            <a:r>
              <a:rPr lang="en-US" dirty="0"/>
              <a:t> to the </a:t>
            </a:r>
            <a:r>
              <a:rPr lang="en-US" b="1" dirty="0">
                <a:solidFill>
                  <a:schemeClr val="accent2"/>
                </a:solidFill>
              </a:rPr>
              <a:t>left</a:t>
            </a:r>
          </a:p>
          <a:p>
            <a:pPr defTabSz="500063"/>
            <a:r>
              <a:rPr lang="en-US" dirty="0"/>
              <a:t>				= # </a:t>
            </a:r>
            <a:r>
              <a:rPr lang="en-US" b="1" dirty="0">
                <a:solidFill>
                  <a:srgbClr val="7030A0"/>
                </a:solidFill>
              </a:rPr>
              <a:t>elements</a:t>
            </a:r>
            <a:r>
              <a:rPr lang="en-US" dirty="0"/>
              <a:t> to the </a:t>
            </a:r>
            <a:r>
              <a:rPr lang="en-US" b="1" dirty="0">
                <a:solidFill>
                  <a:schemeClr val="accent2"/>
                </a:solidFill>
              </a:rPr>
              <a:t>left</a:t>
            </a:r>
            <a:r>
              <a:rPr lang="en-US" dirty="0"/>
              <a:t> - # </a:t>
            </a:r>
            <a:r>
              <a:rPr lang="en-US" b="1" dirty="0">
                <a:solidFill>
                  <a:schemeClr val="accent6"/>
                </a:solidFill>
              </a:rPr>
              <a:t>ones</a:t>
            </a:r>
            <a:r>
              <a:rPr lang="en-US" dirty="0"/>
              <a:t> to the </a:t>
            </a:r>
            <a:r>
              <a:rPr lang="en-US" b="1" dirty="0">
                <a:solidFill>
                  <a:schemeClr val="accent2"/>
                </a:solidFill>
              </a:rPr>
              <a:t>left</a:t>
            </a:r>
          </a:p>
          <a:p>
            <a:pPr defTabSz="500063"/>
            <a:r>
              <a:rPr lang="en-US" dirty="0"/>
              <a:t>				= element index - # </a:t>
            </a:r>
            <a:r>
              <a:rPr lang="en-US" b="1" dirty="0">
                <a:solidFill>
                  <a:schemeClr val="accent6"/>
                </a:solidFill>
              </a:rPr>
              <a:t>ones</a:t>
            </a:r>
            <a:r>
              <a:rPr lang="en-US" dirty="0"/>
              <a:t> to the </a:t>
            </a:r>
            <a:r>
              <a:rPr lang="en-US" b="1" dirty="0">
                <a:solidFill>
                  <a:schemeClr val="accent2"/>
                </a:solidFill>
              </a:rPr>
              <a:t>left</a:t>
            </a:r>
          </a:p>
          <a:p>
            <a:pPr defTabSz="500063"/>
            <a:endParaRPr lang="en-US" dirty="0"/>
          </a:p>
          <a:p>
            <a:pPr defTabSz="500063"/>
            <a:r>
              <a:rPr lang="en-US" dirty="0"/>
              <a:t>destination of a </a:t>
            </a:r>
            <a:r>
              <a:rPr lang="en-US" b="1" dirty="0">
                <a:solidFill>
                  <a:schemeClr val="accent6"/>
                </a:solidFill>
              </a:rPr>
              <a:t>one</a:t>
            </a:r>
            <a:r>
              <a:rPr lang="en-US" dirty="0"/>
              <a:t> 	= # </a:t>
            </a:r>
            <a:r>
              <a:rPr lang="en-US" b="1" dirty="0">
                <a:solidFill>
                  <a:schemeClr val="accent5"/>
                </a:solidFill>
              </a:rPr>
              <a:t>zeros</a:t>
            </a:r>
            <a:r>
              <a:rPr lang="en-US" dirty="0"/>
              <a:t> in </a:t>
            </a:r>
            <a:r>
              <a:rPr lang="en-US" b="1" dirty="0">
                <a:solidFill>
                  <a:schemeClr val="accent4">
                    <a:lumMod val="75000"/>
                  </a:schemeClr>
                </a:solidFill>
              </a:rPr>
              <a:t>total</a:t>
            </a:r>
            <a:r>
              <a:rPr lang="en-US" dirty="0"/>
              <a:t> + # </a:t>
            </a:r>
            <a:r>
              <a:rPr lang="en-US" b="1" dirty="0">
                <a:solidFill>
                  <a:schemeClr val="accent6"/>
                </a:solidFill>
              </a:rPr>
              <a:t>ones</a:t>
            </a:r>
            <a:r>
              <a:rPr lang="en-US" dirty="0"/>
              <a:t> to the </a:t>
            </a:r>
            <a:r>
              <a:rPr lang="en-US" b="1" dirty="0">
                <a:solidFill>
                  <a:schemeClr val="accent2"/>
                </a:solidFill>
              </a:rPr>
              <a:t>left</a:t>
            </a:r>
          </a:p>
          <a:p>
            <a:pPr defTabSz="500063"/>
            <a:r>
              <a:rPr lang="en-US" dirty="0"/>
              <a:t>				= (# </a:t>
            </a:r>
            <a:r>
              <a:rPr lang="en-US" b="1" dirty="0">
                <a:solidFill>
                  <a:srgbClr val="7030A0"/>
                </a:solidFill>
              </a:rPr>
              <a:t>elements</a:t>
            </a:r>
            <a:r>
              <a:rPr lang="en-US" dirty="0"/>
              <a:t> in </a:t>
            </a:r>
            <a:r>
              <a:rPr lang="en-US" b="1" dirty="0">
                <a:solidFill>
                  <a:schemeClr val="accent4">
                    <a:lumMod val="75000"/>
                  </a:schemeClr>
                </a:solidFill>
              </a:rPr>
              <a:t>total</a:t>
            </a:r>
            <a:r>
              <a:rPr lang="en-US" dirty="0"/>
              <a:t> - # </a:t>
            </a:r>
            <a:r>
              <a:rPr lang="en-US" b="1" dirty="0">
                <a:solidFill>
                  <a:schemeClr val="accent6"/>
                </a:solidFill>
              </a:rPr>
              <a:t>ones</a:t>
            </a:r>
            <a:r>
              <a:rPr lang="en-US" dirty="0"/>
              <a:t> in </a:t>
            </a:r>
            <a:r>
              <a:rPr lang="en-US" b="1" dirty="0">
                <a:solidFill>
                  <a:schemeClr val="accent4">
                    <a:lumMod val="75000"/>
                  </a:schemeClr>
                </a:solidFill>
              </a:rPr>
              <a:t>total</a:t>
            </a:r>
            <a:r>
              <a:rPr lang="en-US" dirty="0"/>
              <a:t>) + # </a:t>
            </a:r>
            <a:r>
              <a:rPr lang="en-US" b="1" dirty="0">
                <a:solidFill>
                  <a:schemeClr val="accent6"/>
                </a:solidFill>
              </a:rPr>
              <a:t>ones</a:t>
            </a:r>
            <a:r>
              <a:rPr lang="en-US" dirty="0"/>
              <a:t> to the </a:t>
            </a:r>
            <a:r>
              <a:rPr lang="en-US" b="1" dirty="0">
                <a:solidFill>
                  <a:schemeClr val="accent2"/>
                </a:solidFill>
              </a:rPr>
              <a:t>left</a:t>
            </a:r>
            <a:endParaRPr lang="en-US" b="1" dirty="0">
              <a:solidFill>
                <a:schemeClr val="accent4">
                  <a:lumMod val="75000"/>
                </a:schemeClr>
              </a:solidFill>
            </a:endParaRPr>
          </a:p>
          <a:p>
            <a:pPr defTabSz="500063"/>
            <a:r>
              <a:rPr lang="en-US" dirty="0"/>
              <a:t>				= input size - # </a:t>
            </a:r>
            <a:r>
              <a:rPr lang="en-US" b="1" dirty="0">
                <a:solidFill>
                  <a:schemeClr val="accent6"/>
                </a:solidFill>
              </a:rPr>
              <a:t>ones</a:t>
            </a:r>
            <a:r>
              <a:rPr lang="en-US" dirty="0"/>
              <a:t> in </a:t>
            </a:r>
            <a:r>
              <a:rPr lang="en-US" b="1" dirty="0">
                <a:solidFill>
                  <a:schemeClr val="accent4">
                    <a:lumMod val="75000"/>
                  </a:schemeClr>
                </a:solidFill>
              </a:rPr>
              <a:t>total</a:t>
            </a:r>
            <a:r>
              <a:rPr lang="en-US" dirty="0"/>
              <a:t> + # </a:t>
            </a:r>
            <a:r>
              <a:rPr lang="en-US" b="1" dirty="0">
                <a:solidFill>
                  <a:schemeClr val="accent6"/>
                </a:solidFill>
              </a:rPr>
              <a:t>ones</a:t>
            </a:r>
            <a:r>
              <a:rPr lang="en-US" dirty="0"/>
              <a:t> to the </a:t>
            </a:r>
            <a:r>
              <a:rPr lang="en-US" b="1" dirty="0">
                <a:solidFill>
                  <a:schemeClr val="accent2"/>
                </a:solidFill>
              </a:rPr>
              <a:t>left</a:t>
            </a:r>
            <a:endParaRPr lang="en-US" b="1" dirty="0">
              <a:solidFill>
                <a:schemeClr val="accent4">
                  <a:lumMod val="75000"/>
                </a:schemeClr>
              </a:solidFill>
            </a:endParaRPr>
          </a:p>
          <a:p>
            <a:pPr defTabSz="500063"/>
            <a:endParaRPr lang="en-US" dirty="0"/>
          </a:p>
          <a:p>
            <a:pPr defTabSz="500063"/>
            <a:r>
              <a:rPr lang="en-US" u="sng" dirty="0"/>
              <a:t>Need to find:</a:t>
            </a:r>
            <a:r>
              <a:rPr lang="en-US" dirty="0"/>
              <a:t> # </a:t>
            </a:r>
            <a:r>
              <a:rPr lang="en-US" b="1" dirty="0">
                <a:solidFill>
                  <a:schemeClr val="accent6"/>
                </a:solidFill>
              </a:rPr>
              <a:t>ones</a:t>
            </a:r>
            <a:r>
              <a:rPr lang="en-US" dirty="0"/>
              <a:t> to the </a:t>
            </a:r>
            <a:r>
              <a:rPr lang="en-US" b="1" dirty="0">
                <a:solidFill>
                  <a:schemeClr val="accent2"/>
                </a:solidFill>
              </a:rPr>
              <a:t>left</a:t>
            </a:r>
            <a:r>
              <a:rPr lang="en-US" dirty="0"/>
              <a:t> of each element</a:t>
            </a:r>
          </a:p>
          <a:p>
            <a:pPr defTabSz="500063"/>
            <a:r>
              <a:rPr lang="en-US" dirty="0"/>
              <a:t>	=&gt; use exclusive scan</a:t>
            </a:r>
          </a:p>
        </p:txBody>
      </p:sp>
      <p:sp>
        <p:nvSpPr>
          <p:cNvPr id="124" name="TextBox 123"/>
          <p:cNvSpPr txBox="1"/>
          <p:nvPr/>
        </p:nvSpPr>
        <p:spPr>
          <a:xfrm>
            <a:off x="2068238" y="1306489"/>
            <a:ext cx="5007525" cy="369332"/>
          </a:xfrm>
          <a:prstGeom prst="rect">
            <a:avLst/>
          </a:prstGeom>
          <a:noFill/>
        </p:spPr>
        <p:txBody>
          <a:bodyPr wrap="none" rtlCol="0">
            <a:spAutoFit/>
          </a:bodyPr>
          <a:lstStyle/>
          <a:p>
            <a:pPr algn="ctr"/>
            <a:r>
              <a:rPr lang="en-US" dirty="0"/>
              <a:t>How to find the destination index of each element?</a:t>
            </a:r>
          </a:p>
        </p:txBody>
      </p:sp>
    </p:spTree>
    <p:extLst>
      <p:ext uri="{BB962C8B-B14F-4D97-AF65-F5344CB8AC3E}">
        <p14:creationId xmlns:p14="http://schemas.microsoft.com/office/powerpoint/2010/main" val="4217571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xEl>
                                              <p:pRg st="4" end="4"/>
                                            </p:txEl>
                                          </p:spTgt>
                                        </p:tgtEl>
                                        <p:attrNameLst>
                                          <p:attrName>style.visibility</p:attrName>
                                        </p:attrNameLst>
                                      </p:cBhvr>
                                      <p:to>
                                        <p:strVal val="visible"/>
                                      </p:to>
                                    </p:set>
                                    <p:animEffect transition="in" filter="fade">
                                      <p:cBhvr>
                                        <p:cTn id="12" dur="500"/>
                                        <p:tgtEl>
                                          <p:spTgt spid="2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fade">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fade">
                                      <p:cBhvr>
                                        <p:cTn id="22" dur="500"/>
                                        <p:tgtEl>
                                          <p:spTgt spid="2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xEl>
                                              <p:pRg st="5" end="5"/>
                                            </p:txEl>
                                          </p:spTgt>
                                        </p:tgtEl>
                                        <p:attrNameLst>
                                          <p:attrName>style.visibility</p:attrName>
                                        </p:attrNameLst>
                                      </p:cBhvr>
                                      <p:to>
                                        <p:strVal val="visible"/>
                                      </p:to>
                                    </p:set>
                                    <p:animEffect transition="in" filter="fade">
                                      <p:cBhvr>
                                        <p:cTn id="27" dur="500"/>
                                        <p:tgtEl>
                                          <p:spTgt spid="2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
                                            <p:txEl>
                                              <p:pRg st="6" end="6"/>
                                            </p:txEl>
                                          </p:spTgt>
                                        </p:tgtEl>
                                        <p:attrNameLst>
                                          <p:attrName>style.visibility</p:attrName>
                                        </p:attrNameLst>
                                      </p:cBhvr>
                                      <p:to>
                                        <p:strVal val="visible"/>
                                      </p:to>
                                    </p:set>
                                    <p:animEffect transition="in" filter="fade">
                                      <p:cBhvr>
                                        <p:cTn id="32" dur="500"/>
                                        <p:tgtEl>
                                          <p:spTgt spid="2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5">
                                            <p:txEl>
                                              <p:pRg st="8" end="8"/>
                                            </p:txEl>
                                          </p:spTgt>
                                        </p:tgtEl>
                                        <p:attrNameLst>
                                          <p:attrName>style.visibility</p:attrName>
                                        </p:attrNameLst>
                                      </p:cBhvr>
                                      <p:to>
                                        <p:strVal val="visible"/>
                                      </p:to>
                                    </p:set>
                                    <p:animEffect transition="in" filter="fade">
                                      <p:cBhvr>
                                        <p:cTn id="37" dur="500"/>
                                        <p:tgtEl>
                                          <p:spTgt spid="2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xEl>
                                              <p:pRg st="9" end="9"/>
                                            </p:txEl>
                                          </p:spTgt>
                                        </p:tgtEl>
                                        <p:attrNameLst>
                                          <p:attrName>style.visibility</p:attrName>
                                        </p:attrNameLst>
                                      </p:cBhvr>
                                      <p:to>
                                        <p:strVal val="visible"/>
                                      </p:to>
                                    </p:set>
                                    <p:animEffect transition="in" filter="fade">
                                      <p:cBhvr>
                                        <p:cTn id="42" dur="500"/>
                                        <p:tgtEl>
                                          <p:spTgt spid="2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0"/>
          </p:nvPr>
        </p:nvSpPr>
        <p:spPr/>
        <p:txBody>
          <a:bodyPr/>
          <a:lstStyle/>
          <a:p>
            <a:r>
              <a:rPr lang="en-US" dirty="0"/>
              <a:t>Finding Destination Index</a:t>
            </a:r>
          </a:p>
        </p:txBody>
      </p:sp>
      <p:grpSp>
        <p:nvGrpSpPr>
          <p:cNvPr id="6" name="Group 5"/>
          <p:cNvGrpSpPr/>
          <p:nvPr/>
        </p:nvGrpSpPr>
        <p:grpSpPr>
          <a:xfrm>
            <a:off x="445977" y="2852746"/>
            <a:ext cx="7980693" cy="457200"/>
            <a:chOff x="445977" y="3342869"/>
            <a:chExt cx="7980693" cy="457200"/>
          </a:xfrm>
        </p:grpSpPr>
        <p:grpSp>
          <p:nvGrpSpPr>
            <p:cNvPr id="70" name="Group 69"/>
            <p:cNvGrpSpPr/>
            <p:nvPr/>
          </p:nvGrpSpPr>
          <p:grpSpPr>
            <a:xfrm>
              <a:off x="1127235" y="3342869"/>
              <a:ext cx="7299435" cy="457200"/>
              <a:chOff x="941989" y="1557421"/>
              <a:chExt cx="7299435" cy="457200"/>
            </a:xfrm>
          </p:grpSpPr>
          <p:sp>
            <p:nvSpPr>
              <p:cNvPr id="71" name="Rectangle 70"/>
              <p:cNvSpPr>
                <a:spLocks noChangeAspect="1"/>
              </p:cNvSpPr>
              <p:nvPr/>
            </p:nvSpPr>
            <p:spPr>
              <a:xfrm>
                <a:off x="94198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2" name="Rectangle 71"/>
              <p:cNvSpPr>
                <a:spLocks noChangeAspect="1"/>
              </p:cNvSpPr>
              <p:nvPr/>
            </p:nvSpPr>
            <p:spPr>
              <a:xfrm>
                <a:off x="139813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3" name="Rectangle 72"/>
              <p:cNvSpPr>
                <a:spLocks noChangeAspect="1"/>
              </p:cNvSpPr>
              <p:nvPr/>
            </p:nvSpPr>
            <p:spPr>
              <a:xfrm>
                <a:off x="185428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4" name="Rectangle 73"/>
              <p:cNvSpPr>
                <a:spLocks noChangeAspect="1"/>
              </p:cNvSpPr>
              <p:nvPr/>
            </p:nvSpPr>
            <p:spPr>
              <a:xfrm>
                <a:off x="231043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5" name="Rectangle 74"/>
              <p:cNvSpPr>
                <a:spLocks noChangeAspect="1"/>
              </p:cNvSpPr>
              <p:nvPr/>
            </p:nvSpPr>
            <p:spPr>
              <a:xfrm>
                <a:off x="276658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6" name="Rectangle 75"/>
              <p:cNvSpPr>
                <a:spLocks noChangeAspect="1"/>
              </p:cNvSpPr>
              <p:nvPr/>
            </p:nvSpPr>
            <p:spPr>
              <a:xfrm>
                <a:off x="322273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7" name="Rectangle 76"/>
              <p:cNvSpPr>
                <a:spLocks noChangeAspect="1"/>
              </p:cNvSpPr>
              <p:nvPr/>
            </p:nvSpPr>
            <p:spPr>
              <a:xfrm>
                <a:off x="3678883"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8" name="Rectangle 77"/>
              <p:cNvSpPr>
                <a:spLocks noChangeAspect="1"/>
              </p:cNvSpPr>
              <p:nvPr/>
            </p:nvSpPr>
            <p:spPr>
              <a:xfrm>
                <a:off x="4135032"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9" name="Rectangle 78"/>
              <p:cNvSpPr>
                <a:spLocks noChangeAspect="1"/>
              </p:cNvSpPr>
              <p:nvPr/>
            </p:nvSpPr>
            <p:spPr>
              <a:xfrm>
                <a:off x="4591181"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0" name="Rectangle 79"/>
              <p:cNvSpPr>
                <a:spLocks noChangeAspect="1"/>
              </p:cNvSpPr>
              <p:nvPr/>
            </p:nvSpPr>
            <p:spPr>
              <a:xfrm>
                <a:off x="5047330"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81" name="Rectangle 80"/>
              <p:cNvSpPr>
                <a:spLocks noChangeAspect="1"/>
              </p:cNvSpPr>
              <p:nvPr/>
            </p:nvSpPr>
            <p:spPr>
              <a:xfrm>
                <a:off x="550347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2" name="Rectangle 81"/>
              <p:cNvSpPr>
                <a:spLocks noChangeAspect="1"/>
              </p:cNvSpPr>
              <p:nvPr/>
            </p:nvSpPr>
            <p:spPr>
              <a:xfrm>
                <a:off x="595962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3" name="Rectangle 82"/>
              <p:cNvSpPr>
                <a:spLocks noChangeAspect="1"/>
              </p:cNvSpPr>
              <p:nvPr/>
            </p:nvSpPr>
            <p:spPr>
              <a:xfrm>
                <a:off x="641577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84" name="Rectangle 83"/>
              <p:cNvSpPr>
                <a:spLocks noChangeAspect="1"/>
              </p:cNvSpPr>
              <p:nvPr/>
            </p:nvSpPr>
            <p:spPr>
              <a:xfrm>
                <a:off x="687192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85" name="Rectangle 84"/>
              <p:cNvSpPr>
                <a:spLocks noChangeAspect="1"/>
              </p:cNvSpPr>
              <p:nvPr/>
            </p:nvSpPr>
            <p:spPr>
              <a:xfrm>
                <a:off x="732807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6" name="Rectangle 85"/>
              <p:cNvSpPr>
                <a:spLocks noChangeAspect="1"/>
              </p:cNvSpPr>
              <p:nvPr/>
            </p:nvSpPr>
            <p:spPr>
              <a:xfrm>
                <a:off x="778422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grpSp>
        <p:sp>
          <p:nvSpPr>
            <p:cNvPr id="21" name="TextBox 20"/>
            <p:cNvSpPr txBox="1"/>
            <p:nvPr/>
          </p:nvSpPr>
          <p:spPr>
            <a:xfrm>
              <a:off x="445977" y="3440664"/>
              <a:ext cx="686406" cy="261610"/>
            </a:xfrm>
            <a:prstGeom prst="rect">
              <a:avLst/>
            </a:prstGeom>
            <a:noFill/>
          </p:spPr>
          <p:txBody>
            <a:bodyPr wrap="none" rtlCol="0" anchor="ctr" anchorCtr="0">
              <a:spAutoFit/>
            </a:bodyPr>
            <a:lstStyle/>
            <a:p>
              <a:pPr algn="r"/>
              <a:r>
                <a:rPr lang="en-US" sz="1100" dirty="0"/>
                <a:t>is a one?</a:t>
              </a:r>
            </a:p>
          </p:txBody>
        </p:sp>
      </p:grpSp>
      <p:grpSp>
        <p:nvGrpSpPr>
          <p:cNvPr id="3" name="Group 2"/>
          <p:cNvGrpSpPr/>
          <p:nvPr/>
        </p:nvGrpSpPr>
        <p:grpSpPr>
          <a:xfrm>
            <a:off x="-26910" y="3653341"/>
            <a:ext cx="8453580" cy="457200"/>
            <a:chOff x="-26910" y="4208030"/>
            <a:chExt cx="8453580" cy="457200"/>
          </a:xfrm>
        </p:grpSpPr>
        <p:grpSp>
          <p:nvGrpSpPr>
            <p:cNvPr id="88" name="Group 87"/>
            <p:cNvGrpSpPr/>
            <p:nvPr/>
          </p:nvGrpSpPr>
          <p:grpSpPr>
            <a:xfrm>
              <a:off x="1127235" y="4208030"/>
              <a:ext cx="7299435" cy="457200"/>
              <a:chOff x="941989" y="1557421"/>
              <a:chExt cx="7299435" cy="457200"/>
            </a:xfrm>
          </p:grpSpPr>
          <p:sp>
            <p:nvSpPr>
              <p:cNvPr id="89" name="Rectangle 88"/>
              <p:cNvSpPr>
                <a:spLocks noChangeAspect="1"/>
              </p:cNvSpPr>
              <p:nvPr/>
            </p:nvSpPr>
            <p:spPr>
              <a:xfrm>
                <a:off x="94198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p>
            </p:txBody>
          </p:sp>
          <p:sp>
            <p:nvSpPr>
              <p:cNvPr id="90" name="Rectangle 89"/>
              <p:cNvSpPr>
                <a:spLocks noChangeAspect="1"/>
              </p:cNvSpPr>
              <p:nvPr/>
            </p:nvSpPr>
            <p:spPr>
              <a:xfrm>
                <a:off x="139813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p>
            </p:txBody>
          </p:sp>
          <p:sp>
            <p:nvSpPr>
              <p:cNvPr id="91" name="Rectangle 90"/>
              <p:cNvSpPr>
                <a:spLocks noChangeAspect="1"/>
              </p:cNvSpPr>
              <p:nvPr/>
            </p:nvSpPr>
            <p:spPr>
              <a:xfrm>
                <a:off x="185428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p>
            </p:txBody>
          </p:sp>
          <p:sp>
            <p:nvSpPr>
              <p:cNvPr id="92" name="Rectangle 91"/>
              <p:cNvSpPr>
                <a:spLocks noChangeAspect="1"/>
              </p:cNvSpPr>
              <p:nvPr/>
            </p:nvSpPr>
            <p:spPr>
              <a:xfrm>
                <a:off x="231043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p>
            </p:txBody>
          </p:sp>
          <p:sp>
            <p:nvSpPr>
              <p:cNvPr id="93" name="Rectangle 92"/>
              <p:cNvSpPr>
                <a:spLocks noChangeAspect="1"/>
              </p:cNvSpPr>
              <p:nvPr/>
            </p:nvSpPr>
            <p:spPr>
              <a:xfrm>
                <a:off x="276658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2</a:t>
                </a:r>
              </a:p>
            </p:txBody>
          </p:sp>
          <p:sp>
            <p:nvSpPr>
              <p:cNvPr id="94" name="Rectangle 93"/>
              <p:cNvSpPr>
                <a:spLocks noChangeAspect="1"/>
              </p:cNvSpPr>
              <p:nvPr/>
            </p:nvSpPr>
            <p:spPr>
              <a:xfrm>
                <a:off x="322273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3</a:t>
                </a:r>
              </a:p>
            </p:txBody>
          </p:sp>
          <p:sp>
            <p:nvSpPr>
              <p:cNvPr id="95" name="Rectangle 94"/>
              <p:cNvSpPr>
                <a:spLocks noChangeAspect="1"/>
              </p:cNvSpPr>
              <p:nvPr/>
            </p:nvSpPr>
            <p:spPr>
              <a:xfrm>
                <a:off x="3678883"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3</a:t>
                </a:r>
              </a:p>
            </p:txBody>
          </p:sp>
          <p:sp>
            <p:nvSpPr>
              <p:cNvPr id="96" name="Rectangle 95"/>
              <p:cNvSpPr>
                <a:spLocks noChangeAspect="1"/>
              </p:cNvSpPr>
              <p:nvPr/>
            </p:nvSpPr>
            <p:spPr>
              <a:xfrm>
                <a:off x="4135032"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4</a:t>
                </a:r>
              </a:p>
            </p:txBody>
          </p:sp>
          <p:sp>
            <p:nvSpPr>
              <p:cNvPr id="97" name="Rectangle 96"/>
              <p:cNvSpPr>
                <a:spLocks noChangeAspect="1"/>
              </p:cNvSpPr>
              <p:nvPr/>
            </p:nvSpPr>
            <p:spPr>
              <a:xfrm>
                <a:off x="4591181"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4</a:t>
                </a:r>
              </a:p>
            </p:txBody>
          </p:sp>
          <p:sp>
            <p:nvSpPr>
              <p:cNvPr id="98" name="Rectangle 97"/>
              <p:cNvSpPr>
                <a:spLocks noChangeAspect="1"/>
              </p:cNvSpPr>
              <p:nvPr/>
            </p:nvSpPr>
            <p:spPr>
              <a:xfrm>
                <a:off x="5047330"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5</a:t>
                </a:r>
              </a:p>
            </p:txBody>
          </p:sp>
          <p:sp>
            <p:nvSpPr>
              <p:cNvPr id="99" name="Rectangle 98"/>
              <p:cNvSpPr>
                <a:spLocks noChangeAspect="1"/>
              </p:cNvSpPr>
              <p:nvPr/>
            </p:nvSpPr>
            <p:spPr>
              <a:xfrm>
                <a:off x="550347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5</a:t>
                </a:r>
              </a:p>
            </p:txBody>
          </p:sp>
          <p:sp>
            <p:nvSpPr>
              <p:cNvPr id="100" name="Rectangle 99"/>
              <p:cNvSpPr>
                <a:spLocks noChangeAspect="1"/>
              </p:cNvSpPr>
              <p:nvPr/>
            </p:nvSpPr>
            <p:spPr>
              <a:xfrm>
                <a:off x="595962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6</a:t>
                </a:r>
              </a:p>
            </p:txBody>
          </p:sp>
          <p:sp>
            <p:nvSpPr>
              <p:cNvPr id="101" name="Rectangle 100"/>
              <p:cNvSpPr>
                <a:spLocks noChangeAspect="1"/>
              </p:cNvSpPr>
              <p:nvPr/>
            </p:nvSpPr>
            <p:spPr>
              <a:xfrm>
                <a:off x="641577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sp>
            <p:nvSpPr>
              <p:cNvPr id="102" name="Rectangle 101"/>
              <p:cNvSpPr>
                <a:spLocks noChangeAspect="1"/>
              </p:cNvSpPr>
              <p:nvPr/>
            </p:nvSpPr>
            <p:spPr>
              <a:xfrm>
                <a:off x="687192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sp>
            <p:nvSpPr>
              <p:cNvPr id="103" name="Rectangle 102"/>
              <p:cNvSpPr>
                <a:spLocks noChangeAspect="1"/>
              </p:cNvSpPr>
              <p:nvPr/>
            </p:nvSpPr>
            <p:spPr>
              <a:xfrm>
                <a:off x="732807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sp>
            <p:nvSpPr>
              <p:cNvPr id="120" name="Rectangle 119"/>
              <p:cNvSpPr>
                <a:spLocks noChangeAspect="1"/>
              </p:cNvSpPr>
              <p:nvPr/>
            </p:nvSpPr>
            <p:spPr>
              <a:xfrm>
                <a:off x="778422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8</a:t>
                </a:r>
              </a:p>
            </p:txBody>
          </p:sp>
        </p:grpSp>
        <p:sp>
          <p:nvSpPr>
            <p:cNvPr id="121" name="TextBox 120"/>
            <p:cNvSpPr txBox="1"/>
            <p:nvPr/>
          </p:nvSpPr>
          <p:spPr>
            <a:xfrm>
              <a:off x="-26910" y="4305825"/>
              <a:ext cx="1159293" cy="261610"/>
            </a:xfrm>
            <a:prstGeom prst="rect">
              <a:avLst/>
            </a:prstGeom>
            <a:noFill/>
          </p:spPr>
          <p:txBody>
            <a:bodyPr wrap="none" rtlCol="0" anchor="ctr" anchorCtr="0">
              <a:spAutoFit/>
            </a:bodyPr>
            <a:lstStyle/>
            <a:p>
              <a:pPr algn="r"/>
              <a:r>
                <a:rPr lang="en-US" sz="1100" dirty="0"/>
                <a:t># ones to the left</a:t>
              </a:r>
            </a:p>
          </p:txBody>
        </p:sp>
      </p:grpSp>
      <p:grpSp>
        <p:nvGrpSpPr>
          <p:cNvPr id="8" name="Group 7"/>
          <p:cNvGrpSpPr/>
          <p:nvPr/>
        </p:nvGrpSpPr>
        <p:grpSpPr>
          <a:xfrm>
            <a:off x="4777299" y="3319914"/>
            <a:ext cx="989374" cy="323981"/>
            <a:chOff x="4777299" y="3826295"/>
            <a:chExt cx="989374" cy="323981"/>
          </a:xfrm>
        </p:grpSpPr>
        <p:cxnSp>
          <p:nvCxnSpPr>
            <p:cNvPr id="23" name="Straight Arrow Connector 22"/>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2" name="TextBox 121"/>
            <p:cNvSpPr txBox="1"/>
            <p:nvPr/>
          </p:nvSpPr>
          <p:spPr>
            <a:xfrm>
              <a:off x="4777299" y="3826295"/>
              <a:ext cx="989374" cy="261610"/>
            </a:xfrm>
            <a:prstGeom prst="rect">
              <a:avLst/>
            </a:prstGeom>
            <a:noFill/>
          </p:spPr>
          <p:txBody>
            <a:bodyPr wrap="none" rtlCol="0" anchor="ctr" anchorCtr="0">
              <a:spAutoFit/>
            </a:bodyPr>
            <a:lstStyle/>
            <a:p>
              <a:r>
                <a:rPr lang="en-US" sz="1100" dirty="0"/>
                <a:t>exclusive scan</a:t>
              </a:r>
            </a:p>
          </p:txBody>
        </p:sp>
      </p:grpSp>
      <p:grpSp>
        <p:nvGrpSpPr>
          <p:cNvPr id="2" name="Group 1"/>
          <p:cNvGrpSpPr/>
          <p:nvPr/>
        </p:nvGrpSpPr>
        <p:grpSpPr>
          <a:xfrm>
            <a:off x="288989" y="4453936"/>
            <a:ext cx="8123360" cy="457200"/>
            <a:chOff x="288989" y="5073191"/>
            <a:chExt cx="8123360" cy="457200"/>
          </a:xfrm>
        </p:grpSpPr>
        <p:grpSp>
          <p:nvGrpSpPr>
            <p:cNvPr id="58" name="Group 57"/>
            <p:cNvGrpSpPr/>
            <p:nvPr/>
          </p:nvGrpSpPr>
          <p:grpSpPr>
            <a:xfrm>
              <a:off x="1112914" y="5073191"/>
              <a:ext cx="7299435" cy="457200"/>
              <a:chOff x="941989" y="1557421"/>
              <a:chExt cx="7299435" cy="457200"/>
            </a:xfrm>
          </p:grpSpPr>
          <p:sp>
            <p:nvSpPr>
              <p:cNvPr id="59" name="Rectangle 58"/>
              <p:cNvSpPr>
                <a:spLocks noChangeAspect="1"/>
              </p:cNvSpPr>
              <p:nvPr/>
            </p:nvSpPr>
            <p:spPr>
              <a:xfrm>
                <a:off x="94198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p>
            </p:txBody>
          </p:sp>
          <p:sp>
            <p:nvSpPr>
              <p:cNvPr id="60" name="Rectangle 59"/>
              <p:cNvSpPr>
                <a:spLocks noChangeAspect="1"/>
              </p:cNvSpPr>
              <p:nvPr/>
            </p:nvSpPr>
            <p:spPr>
              <a:xfrm>
                <a:off x="139813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a:solidFill>
                      <a:schemeClr val="tx1"/>
                    </a:solidFill>
                  </a:rPr>
                  <a:t>8</a:t>
                </a:r>
                <a:endParaRPr lang="en-US" sz="1600" dirty="0">
                  <a:solidFill>
                    <a:schemeClr val="tx1"/>
                  </a:solidFill>
                </a:endParaRPr>
              </a:p>
            </p:txBody>
          </p:sp>
          <p:sp>
            <p:nvSpPr>
              <p:cNvPr id="61" name="Rectangle 60"/>
              <p:cNvSpPr>
                <a:spLocks noChangeAspect="1"/>
              </p:cNvSpPr>
              <p:nvPr/>
            </p:nvSpPr>
            <p:spPr>
              <a:xfrm>
                <a:off x="185428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p>
            </p:txBody>
          </p:sp>
          <p:sp>
            <p:nvSpPr>
              <p:cNvPr id="62" name="Rectangle 61"/>
              <p:cNvSpPr>
                <a:spLocks noChangeAspect="1"/>
              </p:cNvSpPr>
              <p:nvPr/>
            </p:nvSpPr>
            <p:spPr>
              <a:xfrm>
                <a:off x="231043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9</a:t>
                </a:r>
              </a:p>
            </p:txBody>
          </p:sp>
          <p:sp>
            <p:nvSpPr>
              <p:cNvPr id="63" name="Rectangle 62"/>
              <p:cNvSpPr>
                <a:spLocks noChangeAspect="1"/>
              </p:cNvSpPr>
              <p:nvPr/>
            </p:nvSpPr>
            <p:spPr>
              <a:xfrm>
                <a:off x="276658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p>
            </p:txBody>
          </p:sp>
          <p:sp>
            <p:nvSpPr>
              <p:cNvPr id="64" name="Rectangle 63"/>
              <p:cNvSpPr>
                <a:spLocks noChangeAspect="1"/>
              </p:cNvSpPr>
              <p:nvPr/>
            </p:nvSpPr>
            <p:spPr>
              <a:xfrm>
                <a:off x="322273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2</a:t>
                </a:r>
              </a:p>
            </p:txBody>
          </p:sp>
          <p:sp>
            <p:nvSpPr>
              <p:cNvPr id="65" name="Rectangle 64"/>
              <p:cNvSpPr>
                <a:spLocks noChangeAspect="1"/>
              </p:cNvSpPr>
              <p:nvPr/>
            </p:nvSpPr>
            <p:spPr>
              <a:xfrm>
                <a:off x="3678883"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p>
            </p:txBody>
          </p:sp>
          <p:sp>
            <p:nvSpPr>
              <p:cNvPr id="66" name="Rectangle 65"/>
              <p:cNvSpPr>
                <a:spLocks noChangeAspect="1"/>
              </p:cNvSpPr>
              <p:nvPr/>
            </p:nvSpPr>
            <p:spPr>
              <a:xfrm>
                <a:off x="4135032"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3</a:t>
                </a:r>
              </a:p>
            </p:txBody>
          </p:sp>
          <p:sp>
            <p:nvSpPr>
              <p:cNvPr id="67" name="Rectangle 66"/>
              <p:cNvSpPr>
                <a:spLocks noChangeAspect="1"/>
              </p:cNvSpPr>
              <p:nvPr/>
            </p:nvSpPr>
            <p:spPr>
              <a:xfrm>
                <a:off x="4591181"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12</a:t>
                </a:r>
              </a:p>
            </p:txBody>
          </p:sp>
          <p:sp>
            <p:nvSpPr>
              <p:cNvPr id="68" name="Rectangle 67"/>
              <p:cNvSpPr>
                <a:spLocks noChangeAspect="1"/>
              </p:cNvSpPr>
              <p:nvPr/>
            </p:nvSpPr>
            <p:spPr>
              <a:xfrm>
                <a:off x="5047330"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4</a:t>
                </a:r>
              </a:p>
            </p:txBody>
          </p:sp>
          <p:sp>
            <p:nvSpPr>
              <p:cNvPr id="69" name="Rectangle 68"/>
              <p:cNvSpPr>
                <a:spLocks noChangeAspect="1"/>
              </p:cNvSpPr>
              <p:nvPr/>
            </p:nvSpPr>
            <p:spPr>
              <a:xfrm>
                <a:off x="550347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13</a:t>
                </a:r>
              </a:p>
            </p:txBody>
          </p:sp>
          <p:sp>
            <p:nvSpPr>
              <p:cNvPr id="87" name="Rectangle 86"/>
              <p:cNvSpPr>
                <a:spLocks noChangeAspect="1"/>
              </p:cNvSpPr>
              <p:nvPr/>
            </p:nvSpPr>
            <p:spPr>
              <a:xfrm>
                <a:off x="595962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14</a:t>
                </a:r>
              </a:p>
            </p:txBody>
          </p:sp>
          <p:sp>
            <p:nvSpPr>
              <p:cNvPr id="104" name="Rectangle 103"/>
              <p:cNvSpPr>
                <a:spLocks noChangeAspect="1"/>
              </p:cNvSpPr>
              <p:nvPr/>
            </p:nvSpPr>
            <p:spPr>
              <a:xfrm>
                <a:off x="641577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5</a:t>
                </a:r>
              </a:p>
            </p:txBody>
          </p:sp>
          <p:sp>
            <p:nvSpPr>
              <p:cNvPr id="105" name="Rectangle 104"/>
              <p:cNvSpPr>
                <a:spLocks noChangeAspect="1"/>
              </p:cNvSpPr>
              <p:nvPr/>
            </p:nvSpPr>
            <p:spPr>
              <a:xfrm>
                <a:off x="687192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6</a:t>
                </a:r>
              </a:p>
            </p:txBody>
          </p:sp>
          <p:sp>
            <p:nvSpPr>
              <p:cNvPr id="106" name="Rectangle 105"/>
              <p:cNvSpPr>
                <a:spLocks noChangeAspect="1"/>
              </p:cNvSpPr>
              <p:nvPr/>
            </p:nvSpPr>
            <p:spPr>
              <a:xfrm>
                <a:off x="732807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15</a:t>
                </a:r>
              </a:p>
            </p:txBody>
          </p:sp>
          <p:sp>
            <p:nvSpPr>
              <p:cNvPr id="107" name="Rectangle 106"/>
              <p:cNvSpPr>
                <a:spLocks noChangeAspect="1"/>
              </p:cNvSpPr>
              <p:nvPr/>
            </p:nvSpPr>
            <p:spPr>
              <a:xfrm>
                <a:off x="778422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grpSp>
        <p:sp>
          <p:nvSpPr>
            <p:cNvPr id="108" name="TextBox 107"/>
            <p:cNvSpPr txBox="1"/>
            <p:nvPr/>
          </p:nvSpPr>
          <p:spPr>
            <a:xfrm>
              <a:off x="288989" y="5170986"/>
              <a:ext cx="829073" cy="261610"/>
            </a:xfrm>
            <a:prstGeom prst="rect">
              <a:avLst/>
            </a:prstGeom>
            <a:noFill/>
          </p:spPr>
          <p:txBody>
            <a:bodyPr wrap="none" rtlCol="0" anchor="ctr" anchorCtr="0">
              <a:spAutoFit/>
            </a:bodyPr>
            <a:lstStyle/>
            <a:p>
              <a:pPr algn="r"/>
              <a:r>
                <a:rPr lang="en-US" sz="1100" dirty="0"/>
                <a:t>destination</a:t>
              </a:r>
            </a:p>
          </p:txBody>
        </p:sp>
      </p:grpSp>
      <p:grpSp>
        <p:nvGrpSpPr>
          <p:cNvPr id="9" name="Group 8"/>
          <p:cNvGrpSpPr/>
          <p:nvPr/>
        </p:nvGrpSpPr>
        <p:grpSpPr>
          <a:xfrm>
            <a:off x="4776427" y="4066875"/>
            <a:ext cx="4075338" cy="430887"/>
            <a:chOff x="4776427" y="4451075"/>
            <a:chExt cx="4075338" cy="430887"/>
          </a:xfrm>
        </p:grpSpPr>
        <p:cxnSp>
          <p:nvCxnSpPr>
            <p:cNvPr id="132" name="Straight Arrow Connector 131"/>
            <p:cNvCxnSpPr/>
            <p:nvPr/>
          </p:nvCxnSpPr>
          <p:spPr>
            <a:xfrm>
              <a:off x="4776427" y="4516827"/>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3" name="TextBox 132"/>
            <p:cNvSpPr txBox="1"/>
            <p:nvPr/>
          </p:nvSpPr>
          <p:spPr>
            <a:xfrm>
              <a:off x="4777299" y="4451075"/>
              <a:ext cx="4074466" cy="430887"/>
            </a:xfrm>
            <a:prstGeom prst="rect">
              <a:avLst/>
            </a:prstGeom>
            <a:noFill/>
          </p:spPr>
          <p:txBody>
            <a:bodyPr wrap="square" rtlCol="0">
              <a:spAutoFit/>
            </a:bodyPr>
            <a:lstStyle/>
            <a:p>
              <a:pPr defTabSz="401638"/>
              <a:r>
                <a:rPr lang="en-US" sz="1100" dirty="0"/>
                <a:t>destination of a </a:t>
              </a:r>
              <a:r>
                <a:rPr lang="en-US" sz="1100" b="1" dirty="0">
                  <a:solidFill>
                    <a:schemeClr val="accent5"/>
                  </a:solidFill>
                </a:rPr>
                <a:t>zero</a:t>
              </a:r>
              <a:r>
                <a:rPr lang="en-US" sz="1100" dirty="0"/>
                <a:t>	= element index - # </a:t>
              </a:r>
              <a:r>
                <a:rPr lang="en-US" sz="1100" b="1" dirty="0">
                  <a:solidFill>
                    <a:schemeClr val="accent6"/>
                  </a:solidFill>
                </a:rPr>
                <a:t>ones</a:t>
              </a:r>
              <a:r>
                <a:rPr lang="en-US" sz="1100" dirty="0"/>
                <a:t> to the </a:t>
              </a:r>
              <a:r>
                <a:rPr lang="en-US" sz="1100" b="1" dirty="0">
                  <a:solidFill>
                    <a:schemeClr val="accent2"/>
                  </a:solidFill>
                </a:rPr>
                <a:t>left</a:t>
              </a:r>
            </a:p>
            <a:p>
              <a:pPr defTabSz="401638"/>
              <a:r>
                <a:rPr lang="en-US" sz="1100" dirty="0"/>
                <a:t>destination of a </a:t>
              </a:r>
              <a:r>
                <a:rPr lang="en-US" sz="1100" b="1" dirty="0">
                  <a:solidFill>
                    <a:schemeClr val="accent6"/>
                  </a:solidFill>
                </a:rPr>
                <a:t>one</a:t>
              </a:r>
              <a:r>
                <a:rPr lang="en-US" sz="1100" dirty="0"/>
                <a:t> 	= input size - # </a:t>
              </a:r>
              <a:r>
                <a:rPr lang="en-US" sz="1100" b="1" dirty="0">
                  <a:solidFill>
                    <a:schemeClr val="accent6"/>
                  </a:solidFill>
                </a:rPr>
                <a:t>ones</a:t>
              </a:r>
              <a:r>
                <a:rPr lang="en-US" sz="1100" dirty="0"/>
                <a:t> in </a:t>
              </a:r>
              <a:r>
                <a:rPr lang="en-US" sz="1100" b="1" dirty="0">
                  <a:solidFill>
                    <a:schemeClr val="accent4">
                      <a:lumMod val="75000"/>
                    </a:schemeClr>
                  </a:solidFill>
                </a:rPr>
                <a:t>total</a:t>
              </a:r>
              <a:r>
                <a:rPr lang="en-US" sz="1100" dirty="0"/>
                <a:t> + # </a:t>
              </a:r>
              <a:r>
                <a:rPr lang="en-US" sz="1100" b="1" dirty="0">
                  <a:solidFill>
                    <a:schemeClr val="accent6"/>
                  </a:solidFill>
                </a:rPr>
                <a:t>ones</a:t>
              </a:r>
              <a:r>
                <a:rPr lang="en-US" sz="1100" dirty="0"/>
                <a:t> to the </a:t>
              </a:r>
              <a:r>
                <a:rPr lang="en-US" sz="1100" b="1" dirty="0">
                  <a:solidFill>
                    <a:schemeClr val="accent2"/>
                  </a:solidFill>
                </a:rPr>
                <a:t>left</a:t>
              </a:r>
              <a:endParaRPr lang="en-US" sz="1100" b="1" dirty="0">
                <a:solidFill>
                  <a:schemeClr val="accent4">
                    <a:lumMod val="75000"/>
                  </a:schemeClr>
                </a:solidFill>
              </a:endParaRPr>
            </a:p>
          </p:txBody>
        </p:sp>
      </p:grpSp>
      <p:grpSp>
        <p:nvGrpSpPr>
          <p:cNvPr id="7" name="Group 6"/>
          <p:cNvGrpSpPr/>
          <p:nvPr/>
        </p:nvGrpSpPr>
        <p:grpSpPr>
          <a:xfrm>
            <a:off x="4777299" y="2515528"/>
            <a:ext cx="769763" cy="323981"/>
            <a:chOff x="4777299" y="2927315"/>
            <a:chExt cx="769763" cy="323981"/>
          </a:xfrm>
        </p:grpSpPr>
        <p:cxnSp>
          <p:nvCxnSpPr>
            <p:cNvPr id="134" name="Straight Arrow Connector 133"/>
            <p:cNvCxnSpPr/>
            <p:nvPr/>
          </p:nvCxnSpPr>
          <p:spPr>
            <a:xfrm>
              <a:off x="4780368" y="294386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5" name="TextBox 134"/>
            <p:cNvSpPr txBox="1"/>
            <p:nvPr/>
          </p:nvSpPr>
          <p:spPr>
            <a:xfrm>
              <a:off x="4777299" y="2927315"/>
              <a:ext cx="769763" cy="261610"/>
            </a:xfrm>
            <a:prstGeom prst="rect">
              <a:avLst/>
            </a:prstGeom>
            <a:noFill/>
          </p:spPr>
          <p:txBody>
            <a:bodyPr wrap="none" rtlCol="0" anchor="ctr" anchorCtr="0">
              <a:spAutoFit/>
            </a:bodyPr>
            <a:lstStyle/>
            <a:p>
              <a:r>
                <a:rPr lang="en-US" sz="1100" dirty="0"/>
                <a:t>extract bit</a:t>
              </a:r>
            </a:p>
          </p:txBody>
        </p:sp>
      </p:grpSp>
      <p:sp>
        <p:nvSpPr>
          <p:cNvPr id="136" name="TextBox 135"/>
          <p:cNvSpPr txBox="1"/>
          <p:nvPr/>
        </p:nvSpPr>
        <p:spPr>
          <a:xfrm>
            <a:off x="2068238" y="1306489"/>
            <a:ext cx="5007525" cy="369332"/>
          </a:xfrm>
          <a:prstGeom prst="rect">
            <a:avLst/>
          </a:prstGeom>
          <a:noFill/>
        </p:spPr>
        <p:txBody>
          <a:bodyPr wrap="none" rtlCol="0">
            <a:spAutoFit/>
          </a:bodyPr>
          <a:lstStyle/>
          <a:p>
            <a:pPr algn="ctr"/>
            <a:r>
              <a:rPr lang="en-US" dirty="0"/>
              <a:t>How to find the destination index of each element?</a:t>
            </a:r>
          </a:p>
        </p:txBody>
      </p:sp>
      <p:grpSp>
        <p:nvGrpSpPr>
          <p:cNvPr id="109" name="Group 108"/>
          <p:cNvGrpSpPr/>
          <p:nvPr/>
        </p:nvGrpSpPr>
        <p:grpSpPr>
          <a:xfrm>
            <a:off x="1127235" y="2052151"/>
            <a:ext cx="7299435" cy="457200"/>
            <a:chOff x="941989" y="1557421"/>
            <a:chExt cx="7299435" cy="457200"/>
          </a:xfrm>
        </p:grpSpPr>
        <p:sp>
          <p:nvSpPr>
            <p:cNvPr id="110" name="Rectangle 10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11" name="Rectangle 11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12" name="Rectangle 11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13" name="Rectangle 11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4" name="Rectangle 11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15" name="Rectangle 11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16" name="Rectangle 11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17" name="Rectangle 11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18" name="Rectangle 11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9" name="Rectangle 11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23" name="Rectangle 122"/>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24" name="Rectangle 123"/>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5" name="Rectangle 124"/>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6" name="Rectangle 125"/>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7" name="Rectangle 126"/>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128" name="Rectangle 127"/>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grpSp>
    </p:spTree>
    <p:extLst>
      <p:ext uri="{BB962C8B-B14F-4D97-AF65-F5344CB8AC3E}">
        <p14:creationId xmlns:p14="http://schemas.microsoft.com/office/powerpoint/2010/main" val="1694545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idx="10"/>
          </p:nvPr>
        </p:nvSpPr>
        <p:spPr/>
        <p:txBody>
          <a:bodyPr/>
          <a:lstStyle/>
          <a:p>
            <a:r>
              <a:rPr lang="en-US" dirty="0"/>
              <a:t>Finding Destination Index</a:t>
            </a:r>
          </a:p>
        </p:txBody>
      </p:sp>
      <p:grpSp>
        <p:nvGrpSpPr>
          <p:cNvPr id="6" name="Group 5"/>
          <p:cNvGrpSpPr/>
          <p:nvPr/>
        </p:nvGrpSpPr>
        <p:grpSpPr>
          <a:xfrm>
            <a:off x="445977" y="2852746"/>
            <a:ext cx="7980693" cy="457200"/>
            <a:chOff x="445977" y="3342869"/>
            <a:chExt cx="7980693" cy="457200"/>
          </a:xfrm>
        </p:grpSpPr>
        <p:grpSp>
          <p:nvGrpSpPr>
            <p:cNvPr id="70" name="Group 69"/>
            <p:cNvGrpSpPr/>
            <p:nvPr/>
          </p:nvGrpSpPr>
          <p:grpSpPr>
            <a:xfrm>
              <a:off x="1127235" y="3342869"/>
              <a:ext cx="7299435" cy="457200"/>
              <a:chOff x="941989" y="1557421"/>
              <a:chExt cx="7299435" cy="457200"/>
            </a:xfrm>
          </p:grpSpPr>
          <p:sp>
            <p:nvSpPr>
              <p:cNvPr id="71" name="Rectangle 70"/>
              <p:cNvSpPr>
                <a:spLocks noChangeAspect="1"/>
              </p:cNvSpPr>
              <p:nvPr/>
            </p:nvSpPr>
            <p:spPr>
              <a:xfrm>
                <a:off x="94198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2" name="Rectangle 71"/>
              <p:cNvSpPr>
                <a:spLocks noChangeAspect="1"/>
              </p:cNvSpPr>
              <p:nvPr/>
            </p:nvSpPr>
            <p:spPr>
              <a:xfrm>
                <a:off x="139813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3" name="Rectangle 72"/>
              <p:cNvSpPr>
                <a:spLocks noChangeAspect="1"/>
              </p:cNvSpPr>
              <p:nvPr/>
            </p:nvSpPr>
            <p:spPr>
              <a:xfrm>
                <a:off x="185428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4" name="Rectangle 73"/>
              <p:cNvSpPr>
                <a:spLocks noChangeAspect="1"/>
              </p:cNvSpPr>
              <p:nvPr/>
            </p:nvSpPr>
            <p:spPr>
              <a:xfrm>
                <a:off x="231043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5" name="Rectangle 74"/>
              <p:cNvSpPr>
                <a:spLocks noChangeAspect="1"/>
              </p:cNvSpPr>
              <p:nvPr/>
            </p:nvSpPr>
            <p:spPr>
              <a:xfrm>
                <a:off x="276658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6" name="Rectangle 75"/>
              <p:cNvSpPr>
                <a:spLocks noChangeAspect="1"/>
              </p:cNvSpPr>
              <p:nvPr/>
            </p:nvSpPr>
            <p:spPr>
              <a:xfrm>
                <a:off x="322273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7" name="Rectangle 76"/>
              <p:cNvSpPr>
                <a:spLocks noChangeAspect="1"/>
              </p:cNvSpPr>
              <p:nvPr/>
            </p:nvSpPr>
            <p:spPr>
              <a:xfrm>
                <a:off x="3678883"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8" name="Rectangle 77"/>
              <p:cNvSpPr>
                <a:spLocks noChangeAspect="1"/>
              </p:cNvSpPr>
              <p:nvPr/>
            </p:nvSpPr>
            <p:spPr>
              <a:xfrm>
                <a:off x="4135032"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9" name="Rectangle 78"/>
              <p:cNvSpPr>
                <a:spLocks noChangeAspect="1"/>
              </p:cNvSpPr>
              <p:nvPr/>
            </p:nvSpPr>
            <p:spPr>
              <a:xfrm>
                <a:off x="4591181"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0" name="Rectangle 79"/>
              <p:cNvSpPr>
                <a:spLocks noChangeAspect="1"/>
              </p:cNvSpPr>
              <p:nvPr/>
            </p:nvSpPr>
            <p:spPr>
              <a:xfrm>
                <a:off x="5047330"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81" name="Rectangle 80"/>
              <p:cNvSpPr>
                <a:spLocks noChangeAspect="1"/>
              </p:cNvSpPr>
              <p:nvPr/>
            </p:nvSpPr>
            <p:spPr>
              <a:xfrm>
                <a:off x="550347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2" name="Rectangle 81"/>
              <p:cNvSpPr>
                <a:spLocks noChangeAspect="1"/>
              </p:cNvSpPr>
              <p:nvPr/>
            </p:nvSpPr>
            <p:spPr>
              <a:xfrm>
                <a:off x="595962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3" name="Rectangle 82"/>
              <p:cNvSpPr>
                <a:spLocks noChangeAspect="1"/>
              </p:cNvSpPr>
              <p:nvPr/>
            </p:nvSpPr>
            <p:spPr>
              <a:xfrm>
                <a:off x="641577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84" name="Rectangle 83"/>
              <p:cNvSpPr>
                <a:spLocks noChangeAspect="1"/>
              </p:cNvSpPr>
              <p:nvPr/>
            </p:nvSpPr>
            <p:spPr>
              <a:xfrm>
                <a:off x="687192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85" name="Rectangle 84"/>
              <p:cNvSpPr>
                <a:spLocks noChangeAspect="1"/>
              </p:cNvSpPr>
              <p:nvPr/>
            </p:nvSpPr>
            <p:spPr>
              <a:xfrm>
                <a:off x="732807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6" name="Rectangle 85"/>
              <p:cNvSpPr>
                <a:spLocks noChangeAspect="1"/>
              </p:cNvSpPr>
              <p:nvPr/>
            </p:nvSpPr>
            <p:spPr>
              <a:xfrm>
                <a:off x="778422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grpSp>
        <p:sp>
          <p:nvSpPr>
            <p:cNvPr id="21" name="TextBox 20"/>
            <p:cNvSpPr txBox="1"/>
            <p:nvPr/>
          </p:nvSpPr>
          <p:spPr>
            <a:xfrm>
              <a:off x="445977" y="3440664"/>
              <a:ext cx="686406" cy="261610"/>
            </a:xfrm>
            <a:prstGeom prst="rect">
              <a:avLst/>
            </a:prstGeom>
            <a:noFill/>
          </p:spPr>
          <p:txBody>
            <a:bodyPr wrap="none" rtlCol="0" anchor="ctr" anchorCtr="0">
              <a:spAutoFit/>
            </a:bodyPr>
            <a:lstStyle/>
            <a:p>
              <a:pPr algn="r"/>
              <a:r>
                <a:rPr lang="en-US" sz="1100" dirty="0"/>
                <a:t>is a one?</a:t>
              </a:r>
            </a:p>
          </p:txBody>
        </p:sp>
      </p:grpSp>
      <p:grpSp>
        <p:nvGrpSpPr>
          <p:cNvPr id="3" name="Group 2"/>
          <p:cNvGrpSpPr/>
          <p:nvPr/>
        </p:nvGrpSpPr>
        <p:grpSpPr>
          <a:xfrm>
            <a:off x="-26910" y="3653341"/>
            <a:ext cx="8453580" cy="457200"/>
            <a:chOff x="-26910" y="4208030"/>
            <a:chExt cx="8453580" cy="457200"/>
          </a:xfrm>
        </p:grpSpPr>
        <p:grpSp>
          <p:nvGrpSpPr>
            <p:cNvPr id="88" name="Group 87"/>
            <p:cNvGrpSpPr/>
            <p:nvPr/>
          </p:nvGrpSpPr>
          <p:grpSpPr>
            <a:xfrm>
              <a:off x="1127235" y="4208030"/>
              <a:ext cx="7299435" cy="457200"/>
              <a:chOff x="941989" y="1557421"/>
              <a:chExt cx="7299435" cy="457200"/>
            </a:xfrm>
          </p:grpSpPr>
          <p:sp>
            <p:nvSpPr>
              <p:cNvPr id="89" name="Rectangle 88"/>
              <p:cNvSpPr>
                <a:spLocks noChangeAspect="1"/>
              </p:cNvSpPr>
              <p:nvPr/>
            </p:nvSpPr>
            <p:spPr>
              <a:xfrm>
                <a:off x="94198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p>
            </p:txBody>
          </p:sp>
          <p:sp>
            <p:nvSpPr>
              <p:cNvPr id="90" name="Rectangle 89"/>
              <p:cNvSpPr>
                <a:spLocks noChangeAspect="1"/>
              </p:cNvSpPr>
              <p:nvPr/>
            </p:nvSpPr>
            <p:spPr>
              <a:xfrm>
                <a:off x="139813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p>
            </p:txBody>
          </p:sp>
          <p:sp>
            <p:nvSpPr>
              <p:cNvPr id="91" name="Rectangle 90"/>
              <p:cNvSpPr>
                <a:spLocks noChangeAspect="1"/>
              </p:cNvSpPr>
              <p:nvPr/>
            </p:nvSpPr>
            <p:spPr>
              <a:xfrm>
                <a:off x="185428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p>
            </p:txBody>
          </p:sp>
          <p:sp>
            <p:nvSpPr>
              <p:cNvPr id="92" name="Rectangle 91"/>
              <p:cNvSpPr>
                <a:spLocks noChangeAspect="1"/>
              </p:cNvSpPr>
              <p:nvPr/>
            </p:nvSpPr>
            <p:spPr>
              <a:xfrm>
                <a:off x="231043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p>
            </p:txBody>
          </p:sp>
          <p:sp>
            <p:nvSpPr>
              <p:cNvPr id="93" name="Rectangle 92"/>
              <p:cNvSpPr>
                <a:spLocks noChangeAspect="1"/>
              </p:cNvSpPr>
              <p:nvPr/>
            </p:nvSpPr>
            <p:spPr>
              <a:xfrm>
                <a:off x="276658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2</a:t>
                </a:r>
              </a:p>
            </p:txBody>
          </p:sp>
          <p:sp>
            <p:nvSpPr>
              <p:cNvPr id="94" name="Rectangle 93"/>
              <p:cNvSpPr>
                <a:spLocks noChangeAspect="1"/>
              </p:cNvSpPr>
              <p:nvPr/>
            </p:nvSpPr>
            <p:spPr>
              <a:xfrm>
                <a:off x="322273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3</a:t>
                </a:r>
              </a:p>
            </p:txBody>
          </p:sp>
          <p:sp>
            <p:nvSpPr>
              <p:cNvPr id="95" name="Rectangle 94"/>
              <p:cNvSpPr>
                <a:spLocks noChangeAspect="1"/>
              </p:cNvSpPr>
              <p:nvPr/>
            </p:nvSpPr>
            <p:spPr>
              <a:xfrm>
                <a:off x="3678883"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3</a:t>
                </a:r>
              </a:p>
            </p:txBody>
          </p:sp>
          <p:sp>
            <p:nvSpPr>
              <p:cNvPr id="96" name="Rectangle 95"/>
              <p:cNvSpPr>
                <a:spLocks noChangeAspect="1"/>
              </p:cNvSpPr>
              <p:nvPr/>
            </p:nvSpPr>
            <p:spPr>
              <a:xfrm>
                <a:off x="4135032"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4</a:t>
                </a:r>
              </a:p>
            </p:txBody>
          </p:sp>
          <p:sp>
            <p:nvSpPr>
              <p:cNvPr id="97" name="Rectangle 96"/>
              <p:cNvSpPr>
                <a:spLocks noChangeAspect="1"/>
              </p:cNvSpPr>
              <p:nvPr/>
            </p:nvSpPr>
            <p:spPr>
              <a:xfrm>
                <a:off x="4591181"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4</a:t>
                </a:r>
              </a:p>
            </p:txBody>
          </p:sp>
          <p:sp>
            <p:nvSpPr>
              <p:cNvPr id="98" name="Rectangle 97"/>
              <p:cNvSpPr>
                <a:spLocks noChangeAspect="1"/>
              </p:cNvSpPr>
              <p:nvPr/>
            </p:nvSpPr>
            <p:spPr>
              <a:xfrm>
                <a:off x="5047330"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5</a:t>
                </a:r>
              </a:p>
            </p:txBody>
          </p:sp>
          <p:sp>
            <p:nvSpPr>
              <p:cNvPr id="99" name="Rectangle 98"/>
              <p:cNvSpPr>
                <a:spLocks noChangeAspect="1"/>
              </p:cNvSpPr>
              <p:nvPr/>
            </p:nvSpPr>
            <p:spPr>
              <a:xfrm>
                <a:off x="550347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5</a:t>
                </a:r>
              </a:p>
            </p:txBody>
          </p:sp>
          <p:sp>
            <p:nvSpPr>
              <p:cNvPr id="100" name="Rectangle 99"/>
              <p:cNvSpPr>
                <a:spLocks noChangeAspect="1"/>
              </p:cNvSpPr>
              <p:nvPr/>
            </p:nvSpPr>
            <p:spPr>
              <a:xfrm>
                <a:off x="595962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6</a:t>
                </a:r>
              </a:p>
            </p:txBody>
          </p:sp>
          <p:sp>
            <p:nvSpPr>
              <p:cNvPr id="101" name="Rectangle 100"/>
              <p:cNvSpPr>
                <a:spLocks noChangeAspect="1"/>
              </p:cNvSpPr>
              <p:nvPr/>
            </p:nvSpPr>
            <p:spPr>
              <a:xfrm>
                <a:off x="641577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sp>
            <p:nvSpPr>
              <p:cNvPr id="102" name="Rectangle 101"/>
              <p:cNvSpPr>
                <a:spLocks noChangeAspect="1"/>
              </p:cNvSpPr>
              <p:nvPr/>
            </p:nvSpPr>
            <p:spPr>
              <a:xfrm>
                <a:off x="687192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sp>
            <p:nvSpPr>
              <p:cNvPr id="103" name="Rectangle 102"/>
              <p:cNvSpPr>
                <a:spLocks noChangeAspect="1"/>
              </p:cNvSpPr>
              <p:nvPr/>
            </p:nvSpPr>
            <p:spPr>
              <a:xfrm>
                <a:off x="732807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sp>
            <p:nvSpPr>
              <p:cNvPr id="120" name="Rectangle 119"/>
              <p:cNvSpPr>
                <a:spLocks noChangeAspect="1"/>
              </p:cNvSpPr>
              <p:nvPr/>
            </p:nvSpPr>
            <p:spPr>
              <a:xfrm>
                <a:off x="778422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8</a:t>
                </a:r>
              </a:p>
            </p:txBody>
          </p:sp>
        </p:grpSp>
        <p:sp>
          <p:nvSpPr>
            <p:cNvPr id="121" name="TextBox 120"/>
            <p:cNvSpPr txBox="1"/>
            <p:nvPr/>
          </p:nvSpPr>
          <p:spPr>
            <a:xfrm>
              <a:off x="-26910" y="4305825"/>
              <a:ext cx="1159293" cy="261610"/>
            </a:xfrm>
            <a:prstGeom prst="rect">
              <a:avLst/>
            </a:prstGeom>
            <a:noFill/>
          </p:spPr>
          <p:txBody>
            <a:bodyPr wrap="none" rtlCol="0" anchor="ctr" anchorCtr="0">
              <a:spAutoFit/>
            </a:bodyPr>
            <a:lstStyle/>
            <a:p>
              <a:pPr algn="r"/>
              <a:r>
                <a:rPr lang="en-US" sz="1100" dirty="0"/>
                <a:t># ones to the left</a:t>
              </a:r>
            </a:p>
          </p:txBody>
        </p:sp>
      </p:grpSp>
      <p:grpSp>
        <p:nvGrpSpPr>
          <p:cNvPr id="8" name="Group 7"/>
          <p:cNvGrpSpPr/>
          <p:nvPr/>
        </p:nvGrpSpPr>
        <p:grpSpPr>
          <a:xfrm>
            <a:off x="4777299" y="3319914"/>
            <a:ext cx="989374" cy="323981"/>
            <a:chOff x="4777299" y="3826295"/>
            <a:chExt cx="989374" cy="323981"/>
          </a:xfrm>
        </p:grpSpPr>
        <p:cxnSp>
          <p:nvCxnSpPr>
            <p:cNvPr id="23" name="Straight Arrow Connector 22"/>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2" name="TextBox 121"/>
            <p:cNvSpPr txBox="1"/>
            <p:nvPr/>
          </p:nvSpPr>
          <p:spPr>
            <a:xfrm>
              <a:off x="4777299" y="3826295"/>
              <a:ext cx="989374" cy="261610"/>
            </a:xfrm>
            <a:prstGeom prst="rect">
              <a:avLst/>
            </a:prstGeom>
            <a:noFill/>
          </p:spPr>
          <p:txBody>
            <a:bodyPr wrap="none" rtlCol="0" anchor="ctr" anchorCtr="0">
              <a:spAutoFit/>
            </a:bodyPr>
            <a:lstStyle/>
            <a:p>
              <a:r>
                <a:rPr lang="en-US" sz="1100" dirty="0"/>
                <a:t>exclusive scan</a:t>
              </a:r>
            </a:p>
          </p:txBody>
        </p:sp>
      </p:grpSp>
      <p:grpSp>
        <p:nvGrpSpPr>
          <p:cNvPr id="2" name="Group 1"/>
          <p:cNvGrpSpPr/>
          <p:nvPr/>
        </p:nvGrpSpPr>
        <p:grpSpPr>
          <a:xfrm>
            <a:off x="288989" y="4453936"/>
            <a:ext cx="8123360" cy="457200"/>
            <a:chOff x="288989" y="5073191"/>
            <a:chExt cx="8123360" cy="457200"/>
          </a:xfrm>
        </p:grpSpPr>
        <p:grpSp>
          <p:nvGrpSpPr>
            <p:cNvPr id="58" name="Group 57"/>
            <p:cNvGrpSpPr/>
            <p:nvPr/>
          </p:nvGrpSpPr>
          <p:grpSpPr>
            <a:xfrm>
              <a:off x="1112914" y="5073191"/>
              <a:ext cx="7299435" cy="457200"/>
              <a:chOff x="941989" y="1557421"/>
              <a:chExt cx="7299435" cy="457200"/>
            </a:xfrm>
          </p:grpSpPr>
          <p:sp>
            <p:nvSpPr>
              <p:cNvPr id="59" name="Rectangle 58"/>
              <p:cNvSpPr>
                <a:spLocks noChangeAspect="1"/>
              </p:cNvSpPr>
              <p:nvPr/>
            </p:nvSpPr>
            <p:spPr>
              <a:xfrm>
                <a:off x="94198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p>
            </p:txBody>
          </p:sp>
          <p:sp>
            <p:nvSpPr>
              <p:cNvPr id="60" name="Rectangle 59"/>
              <p:cNvSpPr>
                <a:spLocks noChangeAspect="1"/>
              </p:cNvSpPr>
              <p:nvPr/>
            </p:nvSpPr>
            <p:spPr>
              <a:xfrm>
                <a:off x="139813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a:solidFill>
                      <a:schemeClr val="tx1"/>
                    </a:solidFill>
                  </a:rPr>
                  <a:t>8</a:t>
                </a:r>
                <a:endParaRPr lang="en-US" sz="1600" dirty="0">
                  <a:solidFill>
                    <a:schemeClr val="tx1"/>
                  </a:solidFill>
                </a:endParaRPr>
              </a:p>
            </p:txBody>
          </p:sp>
          <p:sp>
            <p:nvSpPr>
              <p:cNvPr id="61" name="Rectangle 60"/>
              <p:cNvSpPr>
                <a:spLocks noChangeAspect="1"/>
              </p:cNvSpPr>
              <p:nvPr/>
            </p:nvSpPr>
            <p:spPr>
              <a:xfrm>
                <a:off x="185428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p>
            </p:txBody>
          </p:sp>
          <p:sp>
            <p:nvSpPr>
              <p:cNvPr id="62" name="Rectangle 61"/>
              <p:cNvSpPr>
                <a:spLocks noChangeAspect="1"/>
              </p:cNvSpPr>
              <p:nvPr/>
            </p:nvSpPr>
            <p:spPr>
              <a:xfrm>
                <a:off x="231043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9</a:t>
                </a:r>
              </a:p>
            </p:txBody>
          </p:sp>
          <p:sp>
            <p:nvSpPr>
              <p:cNvPr id="63" name="Rectangle 62"/>
              <p:cNvSpPr>
                <a:spLocks noChangeAspect="1"/>
              </p:cNvSpPr>
              <p:nvPr/>
            </p:nvSpPr>
            <p:spPr>
              <a:xfrm>
                <a:off x="276658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p>
            </p:txBody>
          </p:sp>
          <p:sp>
            <p:nvSpPr>
              <p:cNvPr id="64" name="Rectangle 63"/>
              <p:cNvSpPr>
                <a:spLocks noChangeAspect="1"/>
              </p:cNvSpPr>
              <p:nvPr/>
            </p:nvSpPr>
            <p:spPr>
              <a:xfrm>
                <a:off x="322273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2</a:t>
                </a:r>
              </a:p>
            </p:txBody>
          </p:sp>
          <p:sp>
            <p:nvSpPr>
              <p:cNvPr id="65" name="Rectangle 64"/>
              <p:cNvSpPr>
                <a:spLocks noChangeAspect="1"/>
              </p:cNvSpPr>
              <p:nvPr/>
            </p:nvSpPr>
            <p:spPr>
              <a:xfrm>
                <a:off x="3678883"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p>
            </p:txBody>
          </p:sp>
          <p:sp>
            <p:nvSpPr>
              <p:cNvPr id="66" name="Rectangle 65"/>
              <p:cNvSpPr>
                <a:spLocks noChangeAspect="1"/>
              </p:cNvSpPr>
              <p:nvPr/>
            </p:nvSpPr>
            <p:spPr>
              <a:xfrm>
                <a:off x="4135032"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3</a:t>
                </a:r>
              </a:p>
            </p:txBody>
          </p:sp>
          <p:sp>
            <p:nvSpPr>
              <p:cNvPr id="67" name="Rectangle 66"/>
              <p:cNvSpPr>
                <a:spLocks noChangeAspect="1"/>
              </p:cNvSpPr>
              <p:nvPr/>
            </p:nvSpPr>
            <p:spPr>
              <a:xfrm>
                <a:off x="4591181"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12</a:t>
                </a:r>
              </a:p>
            </p:txBody>
          </p:sp>
          <p:sp>
            <p:nvSpPr>
              <p:cNvPr id="68" name="Rectangle 67"/>
              <p:cNvSpPr>
                <a:spLocks noChangeAspect="1"/>
              </p:cNvSpPr>
              <p:nvPr/>
            </p:nvSpPr>
            <p:spPr>
              <a:xfrm>
                <a:off x="5047330"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4</a:t>
                </a:r>
              </a:p>
            </p:txBody>
          </p:sp>
          <p:sp>
            <p:nvSpPr>
              <p:cNvPr id="69" name="Rectangle 68"/>
              <p:cNvSpPr>
                <a:spLocks noChangeAspect="1"/>
              </p:cNvSpPr>
              <p:nvPr/>
            </p:nvSpPr>
            <p:spPr>
              <a:xfrm>
                <a:off x="550347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13</a:t>
                </a:r>
              </a:p>
            </p:txBody>
          </p:sp>
          <p:sp>
            <p:nvSpPr>
              <p:cNvPr id="87" name="Rectangle 86"/>
              <p:cNvSpPr>
                <a:spLocks noChangeAspect="1"/>
              </p:cNvSpPr>
              <p:nvPr/>
            </p:nvSpPr>
            <p:spPr>
              <a:xfrm>
                <a:off x="595962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14</a:t>
                </a:r>
              </a:p>
            </p:txBody>
          </p:sp>
          <p:sp>
            <p:nvSpPr>
              <p:cNvPr id="104" name="Rectangle 103"/>
              <p:cNvSpPr>
                <a:spLocks noChangeAspect="1"/>
              </p:cNvSpPr>
              <p:nvPr/>
            </p:nvSpPr>
            <p:spPr>
              <a:xfrm>
                <a:off x="641577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5</a:t>
                </a:r>
              </a:p>
            </p:txBody>
          </p:sp>
          <p:sp>
            <p:nvSpPr>
              <p:cNvPr id="105" name="Rectangle 104"/>
              <p:cNvSpPr>
                <a:spLocks noChangeAspect="1"/>
              </p:cNvSpPr>
              <p:nvPr/>
            </p:nvSpPr>
            <p:spPr>
              <a:xfrm>
                <a:off x="687192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6</a:t>
                </a:r>
              </a:p>
            </p:txBody>
          </p:sp>
          <p:sp>
            <p:nvSpPr>
              <p:cNvPr id="106" name="Rectangle 105"/>
              <p:cNvSpPr>
                <a:spLocks noChangeAspect="1"/>
              </p:cNvSpPr>
              <p:nvPr/>
            </p:nvSpPr>
            <p:spPr>
              <a:xfrm>
                <a:off x="732807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15</a:t>
                </a:r>
              </a:p>
            </p:txBody>
          </p:sp>
          <p:sp>
            <p:nvSpPr>
              <p:cNvPr id="107" name="Rectangle 106"/>
              <p:cNvSpPr>
                <a:spLocks noChangeAspect="1"/>
              </p:cNvSpPr>
              <p:nvPr/>
            </p:nvSpPr>
            <p:spPr>
              <a:xfrm>
                <a:off x="778422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grpSp>
        <p:sp>
          <p:nvSpPr>
            <p:cNvPr id="108" name="TextBox 107"/>
            <p:cNvSpPr txBox="1"/>
            <p:nvPr/>
          </p:nvSpPr>
          <p:spPr>
            <a:xfrm>
              <a:off x="288989" y="5170986"/>
              <a:ext cx="829073" cy="261610"/>
            </a:xfrm>
            <a:prstGeom prst="rect">
              <a:avLst/>
            </a:prstGeom>
            <a:noFill/>
          </p:spPr>
          <p:txBody>
            <a:bodyPr wrap="none" rtlCol="0" anchor="ctr" anchorCtr="0">
              <a:spAutoFit/>
            </a:bodyPr>
            <a:lstStyle/>
            <a:p>
              <a:pPr algn="r"/>
              <a:r>
                <a:rPr lang="en-US" sz="1100" dirty="0"/>
                <a:t>destination</a:t>
              </a:r>
            </a:p>
          </p:txBody>
        </p:sp>
      </p:grpSp>
      <p:grpSp>
        <p:nvGrpSpPr>
          <p:cNvPr id="5" name="Group 4"/>
          <p:cNvGrpSpPr/>
          <p:nvPr/>
        </p:nvGrpSpPr>
        <p:grpSpPr>
          <a:xfrm>
            <a:off x="4776427" y="4066875"/>
            <a:ext cx="4075338" cy="430887"/>
            <a:chOff x="4776427" y="4451075"/>
            <a:chExt cx="4075338" cy="430887"/>
          </a:xfrm>
        </p:grpSpPr>
        <p:cxnSp>
          <p:nvCxnSpPr>
            <p:cNvPr id="132" name="Straight Arrow Connector 131"/>
            <p:cNvCxnSpPr/>
            <p:nvPr/>
          </p:nvCxnSpPr>
          <p:spPr>
            <a:xfrm>
              <a:off x="4776427" y="4516827"/>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3" name="TextBox 132"/>
            <p:cNvSpPr txBox="1"/>
            <p:nvPr/>
          </p:nvSpPr>
          <p:spPr>
            <a:xfrm>
              <a:off x="4777299" y="4451075"/>
              <a:ext cx="4074466" cy="430887"/>
            </a:xfrm>
            <a:prstGeom prst="rect">
              <a:avLst/>
            </a:prstGeom>
            <a:noFill/>
          </p:spPr>
          <p:txBody>
            <a:bodyPr wrap="square" rtlCol="0">
              <a:spAutoFit/>
            </a:bodyPr>
            <a:lstStyle/>
            <a:p>
              <a:pPr defTabSz="401638"/>
              <a:r>
                <a:rPr lang="en-US" sz="1100" dirty="0"/>
                <a:t>destination of a </a:t>
              </a:r>
              <a:r>
                <a:rPr lang="en-US" sz="1100" b="1" dirty="0">
                  <a:solidFill>
                    <a:schemeClr val="accent5"/>
                  </a:solidFill>
                </a:rPr>
                <a:t>zero</a:t>
              </a:r>
              <a:r>
                <a:rPr lang="en-US" sz="1100" dirty="0"/>
                <a:t>	= element index - # </a:t>
              </a:r>
              <a:r>
                <a:rPr lang="en-US" sz="1100" b="1" dirty="0">
                  <a:solidFill>
                    <a:schemeClr val="accent6"/>
                  </a:solidFill>
                </a:rPr>
                <a:t>ones</a:t>
              </a:r>
              <a:r>
                <a:rPr lang="en-US" sz="1100" dirty="0"/>
                <a:t> to the </a:t>
              </a:r>
              <a:r>
                <a:rPr lang="en-US" sz="1100" b="1" dirty="0">
                  <a:solidFill>
                    <a:schemeClr val="accent2"/>
                  </a:solidFill>
                </a:rPr>
                <a:t>left</a:t>
              </a:r>
            </a:p>
            <a:p>
              <a:pPr defTabSz="401638"/>
              <a:r>
                <a:rPr lang="en-US" sz="1100" dirty="0"/>
                <a:t>destination of a </a:t>
              </a:r>
              <a:r>
                <a:rPr lang="en-US" sz="1100" b="1" dirty="0">
                  <a:solidFill>
                    <a:schemeClr val="accent6"/>
                  </a:solidFill>
                </a:rPr>
                <a:t>one</a:t>
              </a:r>
              <a:r>
                <a:rPr lang="en-US" sz="1100" dirty="0"/>
                <a:t> 	= input size - # </a:t>
              </a:r>
              <a:r>
                <a:rPr lang="en-US" sz="1100" b="1" dirty="0">
                  <a:solidFill>
                    <a:schemeClr val="accent6"/>
                  </a:solidFill>
                </a:rPr>
                <a:t>ones</a:t>
              </a:r>
              <a:r>
                <a:rPr lang="en-US" sz="1100" dirty="0"/>
                <a:t> in </a:t>
              </a:r>
              <a:r>
                <a:rPr lang="en-US" sz="1100" b="1" dirty="0">
                  <a:solidFill>
                    <a:schemeClr val="accent4">
                      <a:lumMod val="75000"/>
                    </a:schemeClr>
                  </a:solidFill>
                </a:rPr>
                <a:t>total</a:t>
              </a:r>
              <a:r>
                <a:rPr lang="en-US" sz="1100" dirty="0"/>
                <a:t> + # </a:t>
              </a:r>
              <a:r>
                <a:rPr lang="en-US" sz="1100" b="1" dirty="0">
                  <a:solidFill>
                    <a:schemeClr val="accent6"/>
                  </a:solidFill>
                </a:rPr>
                <a:t>ones</a:t>
              </a:r>
              <a:r>
                <a:rPr lang="en-US" sz="1100" dirty="0"/>
                <a:t> to the </a:t>
              </a:r>
              <a:r>
                <a:rPr lang="en-US" sz="1100" b="1" dirty="0">
                  <a:solidFill>
                    <a:schemeClr val="accent2"/>
                  </a:solidFill>
                </a:rPr>
                <a:t>left</a:t>
              </a:r>
              <a:endParaRPr lang="en-US" sz="1100" b="1" dirty="0">
                <a:solidFill>
                  <a:schemeClr val="accent4">
                    <a:lumMod val="75000"/>
                  </a:schemeClr>
                </a:solidFill>
              </a:endParaRPr>
            </a:p>
          </p:txBody>
        </p:sp>
      </p:grpSp>
      <p:grpSp>
        <p:nvGrpSpPr>
          <p:cNvPr id="7" name="Group 6"/>
          <p:cNvGrpSpPr/>
          <p:nvPr/>
        </p:nvGrpSpPr>
        <p:grpSpPr>
          <a:xfrm>
            <a:off x="4777299" y="2515528"/>
            <a:ext cx="769763" cy="323981"/>
            <a:chOff x="4777299" y="2927315"/>
            <a:chExt cx="769763" cy="323981"/>
          </a:xfrm>
        </p:grpSpPr>
        <p:cxnSp>
          <p:nvCxnSpPr>
            <p:cNvPr id="134" name="Straight Arrow Connector 133"/>
            <p:cNvCxnSpPr/>
            <p:nvPr/>
          </p:nvCxnSpPr>
          <p:spPr>
            <a:xfrm>
              <a:off x="4780368" y="294386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5" name="TextBox 134"/>
            <p:cNvSpPr txBox="1"/>
            <p:nvPr/>
          </p:nvSpPr>
          <p:spPr>
            <a:xfrm>
              <a:off x="4777299" y="2927315"/>
              <a:ext cx="769763" cy="261610"/>
            </a:xfrm>
            <a:prstGeom prst="rect">
              <a:avLst/>
            </a:prstGeom>
            <a:noFill/>
          </p:spPr>
          <p:txBody>
            <a:bodyPr wrap="none" rtlCol="0" anchor="ctr" anchorCtr="0">
              <a:spAutoFit/>
            </a:bodyPr>
            <a:lstStyle/>
            <a:p>
              <a:r>
                <a:rPr lang="en-US" sz="1100" dirty="0"/>
                <a:t>extract bit</a:t>
              </a:r>
            </a:p>
          </p:txBody>
        </p:sp>
      </p:grpSp>
      <p:sp>
        <p:nvSpPr>
          <p:cNvPr id="136" name="TextBox 135"/>
          <p:cNvSpPr txBox="1"/>
          <p:nvPr/>
        </p:nvSpPr>
        <p:spPr>
          <a:xfrm>
            <a:off x="2068238" y="1306489"/>
            <a:ext cx="5007525" cy="369332"/>
          </a:xfrm>
          <a:prstGeom prst="rect">
            <a:avLst/>
          </a:prstGeom>
          <a:noFill/>
        </p:spPr>
        <p:txBody>
          <a:bodyPr wrap="none" rtlCol="0">
            <a:spAutoFit/>
          </a:bodyPr>
          <a:lstStyle/>
          <a:p>
            <a:pPr algn="ctr"/>
            <a:r>
              <a:rPr lang="en-US" dirty="0"/>
              <a:t>How to find the destination index of each element?</a:t>
            </a:r>
          </a:p>
        </p:txBody>
      </p:sp>
      <p:grpSp>
        <p:nvGrpSpPr>
          <p:cNvPr id="109" name="Group 108"/>
          <p:cNvGrpSpPr/>
          <p:nvPr/>
        </p:nvGrpSpPr>
        <p:grpSpPr>
          <a:xfrm>
            <a:off x="1127235" y="2052151"/>
            <a:ext cx="7299435" cy="457200"/>
            <a:chOff x="941989" y="1557421"/>
            <a:chExt cx="7299435" cy="457200"/>
          </a:xfrm>
        </p:grpSpPr>
        <p:sp>
          <p:nvSpPr>
            <p:cNvPr id="110" name="Rectangle 10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11" name="Rectangle 11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12" name="Rectangle 11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13" name="Rectangle 11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4" name="Rectangle 11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15" name="Rectangle 11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16" name="Rectangle 11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17" name="Rectangle 11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18" name="Rectangle 11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9" name="Rectangle 11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23" name="Rectangle 122"/>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24" name="Rectangle 123"/>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5" name="Rectangle 124"/>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6" name="Rectangle 125"/>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7" name="Rectangle 126"/>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128" name="Rectangle 127"/>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grpSp>
      <p:grpSp>
        <p:nvGrpSpPr>
          <p:cNvPr id="129" name="Group 128"/>
          <p:cNvGrpSpPr/>
          <p:nvPr/>
        </p:nvGrpSpPr>
        <p:grpSpPr>
          <a:xfrm>
            <a:off x="1127235" y="5254531"/>
            <a:ext cx="7299435" cy="457200"/>
            <a:chOff x="941989" y="1557421"/>
            <a:chExt cx="7299435" cy="457200"/>
          </a:xfrm>
        </p:grpSpPr>
        <p:sp>
          <p:nvSpPr>
            <p:cNvPr id="130" name="Rectangle 12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1" name="Rectangle 13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37" name="Rectangle 1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38" name="Rectangle 1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39" name="Rectangle 1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40" name="Rectangle 1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41" name="Rectangle 1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42" name="Rectangle 1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143" name="Rectangle 1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44" name="Rectangle 1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45" name="Rectangle 1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46" name="Rectangle 1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47" name="Rectangle 1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48" name="Rectangle 1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49" name="Rectangle 1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50" name="Rectangle 1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grpSp>
      <p:grpSp>
        <p:nvGrpSpPr>
          <p:cNvPr id="9" name="Group 8"/>
          <p:cNvGrpSpPr/>
          <p:nvPr/>
        </p:nvGrpSpPr>
        <p:grpSpPr>
          <a:xfrm>
            <a:off x="1355835" y="2509351"/>
            <a:ext cx="6842235" cy="2745180"/>
            <a:chOff x="1355835" y="2893551"/>
            <a:chExt cx="6842235" cy="2745180"/>
          </a:xfrm>
        </p:grpSpPr>
        <p:cxnSp>
          <p:nvCxnSpPr>
            <p:cNvPr id="151" name="Straight Arrow Connector 150"/>
            <p:cNvCxnSpPr>
              <a:stCxn id="110" idx="2"/>
              <a:endCxn id="130" idx="0"/>
            </p:cNvCxnSpPr>
            <p:nvPr/>
          </p:nvCxnSpPr>
          <p:spPr>
            <a:xfrm>
              <a:off x="1355835" y="2893551"/>
              <a:ext cx="0"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p:cNvCxnSpPr>
              <a:stCxn id="111" idx="2"/>
              <a:endCxn id="143" idx="0"/>
            </p:cNvCxnSpPr>
            <p:nvPr/>
          </p:nvCxnSpPr>
          <p:spPr>
            <a:xfrm>
              <a:off x="1811984" y="2893551"/>
              <a:ext cx="3193043"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3" name="Straight Arrow Connector 152"/>
            <p:cNvCxnSpPr>
              <a:stCxn id="112" idx="2"/>
              <a:endCxn id="131" idx="0"/>
            </p:cNvCxnSpPr>
            <p:nvPr/>
          </p:nvCxnSpPr>
          <p:spPr>
            <a:xfrm flipH="1">
              <a:off x="1811984" y="2893551"/>
              <a:ext cx="456149"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4" name="Straight Arrow Connector 153"/>
            <p:cNvCxnSpPr>
              <a:stCxn id="113" idx="2"/>
              <a:endCxn id="144" idx="0"/>
            </p:cNvCxnSpPr>
            <p:nvPr/>
          </p:nvCxnSpPr>
          <p:spPr>
            <a:xfrm>
              <a:off x="2724282" y="2893551"/>
              <a:ext cx="2736894"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p:cNvCxnSpPr>
              <a:stCxn id="114" idx="2"/>
              <a:endCxn id="145" idx="0"/>
            </p:cNvCxnSpPr>
            <p:nvPr/>
          </p:nvCxnSpPr>
          <p:spPr>
            <a:xfrm>
              <a:off x="3180431" y="2893551"/>
              <a:ext cx="2736894"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p:cNvCxnSpPr>
              <a:stCxn id="115" idx="2"/>
              <a:endCxn id="137" idx="0"/>
            </p:cNvCxnSpPr>
            <p:nvPr/>
          </p:nvCxnSpPr>
          <p:spPr>
            <a:xfrm flipH="1">
              <a:off x="2268133" y="28935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p:cNvCxnSpPr>
              <a:stCxn id="116" idx="2"/>
              <a:endCxn id="146" idx="0"/>
            </p:cNvCxnSpPr>
            <p:nvPr/>
          </p:nvCxnSpPr>
          <p:spPr>
            <a:xfrm>
              <a:off x="4092729" y="2893551"/>
              <a:ext cx="2280745"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p:cNvCxnSpPr>
              <a:stCxn id="117" idx="2"/>
              <a:endCxn id="138" idx="0"/>
            </p:cNvCxnSpPr>
            <p:nvPr/>
          </p:nvCxnSpPr>
          <p:spPr>
            <a:xfrm flipH="1">
              <a:off x="2724282" y="2893551"/>
              <a:ext cx="1824596"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118" idx="2"/>
              <a:endCxn id="147" idx="0"/>
            </p:cNvCxnSpPr>
            <p:nvPr/>
          </p:nvCxnSpPr>
          <p:spPr>
            <a:xfrm>
              <a:off x="5005027" y="2893551"/>
              <a:ext cx="1824596"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119" idx="2"/>
              <a:endCxn id="139" idx="0"/>
            </p:cNvCxnSpPr>
            <p:nvPr/>
          </p:nvCxnSpPr>
          <p:spPr>
            <a:xfrm flipH="1">
              <a:off x="3180431" y="2893551"/>
              <a:ext cx="2280745"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123" idx="2"/>
              <a:endCxn id="148" idx="0"/>
            </p:cNvCxnSpPr>
            <p:nvPr/>
          </p:nvCxnSpPr>
          <p:spPr>
            <a:xfrm>
              <a:off x="5917325" y="28935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124" idx="2"/>
              <a:endCxn id="149" idx="0"/>
            </p:cNvCxnSpPr>
            <p:nvPr/>
          </p:nvCxnSpPr>
          <p:spPr>
            <a:xfrm>
              <a:off x="6373474" y="28935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125" idx="2"/>
              <a:endCxn id="140" idx="0"/>
            </p:cNvCxnSpPr>
            <p:nvPr/>
          </p:nvCxnSpPr>
          <p:spPr>
            <a:xfrm flipH="1">
              <a:off x="3636580" y="2893551"/>
              <a:ext cx="3193043"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126" idx="2"/>
              <a:endCxn id="141" idx="0"/>
            </p:cNvCxnSpPr>
            <p:nvPr/>
          </p:nvCxnSpPr>
          <p:spPr>
            <a:xfrm flipH="1">
              <a:off x="4092729" y="2893551"/>
              <a:ext cx="3193043"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127" idx="2"/>
              <a:endCxn id="150" idx="0"/>
            </p:cNvCxnSpPr>
            <p:nvPr/>
          </p:nvCxnSpPr>
          <p:spPr>
            <a:xfrm>
              <a:off x="7741921" y="2893551"/>
              <a:ext cx="456149"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128" idx="2"/>
              <a:endCxn id="142" idx="0"/>
            </p:cNvCxnSpPr>
            <p:nvPr/>
          </p:nvCxnSpPr>
          <p:spPr>
            <a:xfrm flipH="1">
              <a:off x="4548878" y="2893551"/>
              <a:ext cx="3649192"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913436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9"/>
                                        </p:tgtEl>
                                        <p:attrNameLst>
                                          <p:attrName>style.visibility</p:attrName>
                                        </p:attrNameLst>
                                      </p:cBhvr>
                                      <p:to>
                                        <p:strVal val="visible"/>
                                      </p:to>
                                    </p:set>
                                    <p:animEffect transition="in" filter="fade">
                                      <p:cBhvr>
                                        <p:cTn id="11"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idx="10"/>
          </p:nvPr>
        </p:nvSpPr>
        <p:spPr/>
        <p:txBody>
          <a:bodyPr/>
          <a:lstStyle/>
          <a:p>
            <a:r>
              <a:rPr lang="en-US" dirty="0"/>
              <a:t>Parallelizing Radix Sort</a:t>
            </a:r>
          </a:p>
        </p:txBody>
      </p:sp>
      <p:grpSp>
        <p:nvGrpSpPr>
          <p:cNvPr id="6" name="Group 5"/>
          <p:cNvGrpSpPr/>
          <p:nvPr/>
        </p:nvGrpSpPr>
        <p:grpSpPr>
          <a:xfrm>
            <a:off x="445977" y="2852746"/>
            <a:ext cx="7980693" cy="457200"/>
            <a:chOff x="445977" y="3342869"/>
            <a:chExt cx="7980693" cy="457200"/>
          </a:xfrm>
        </p:grpSpPr>
        <p:grpSp>
          <p:nvGrpSpPr>
            <p:cNvPr id="70" name="Group 69"/>
            <p:cNvGrpSpPr/>
            <p:nvPr/>
          </p:nvGrpSpPr>
          <p:grpSpPr>
            <a:xfrm>
              <a:off x="1127235" y="3342869"/>
              <a:ext cx="7299435" cy="457200"/>
              <a:chOff x="941989" y="1557421"/>
              <a:chExt cx="7299435" cy="457200"/>
            </a:xfrm>
          </p:grpSpPr>
          <p:sp>
            <p:nvSpPr>
              <p:cNvPr id="71" name="Rectangle 70"/>
              <p:cNvSpPr>
                <a:spLocks noChangeAspect="1"/>
              </p:cNvSpPr>
              <p:nvPr/>
            </p:nvSpPr>
            <p:spPr>
              <a:xfrm>
                <a:off x="94198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2" name="Rectangle 71"/>
              <p:cNvSpPr>
                <a:spLocks noChangeAspect="1"/>
              </p:cNvSpPr>
              <p:nvPr/>
            </p:nvSpPr>
            <p:spPr>
              <a:xfrm>
                <a:off x="139813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3" name="Rectangle 72"/>
              <p:cNvSpPr>
                <a:spLocks noChangeAspect="1"/>
              </p:cNvSpPr>
              <p:nvPr/>
            </p:nvSpPr>
            <p:spPr>
              <a:xfrm>
                <a:off x="185428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4" name="Rectangle 73"/>
              <p:cNvSpPr>
                <a:spLocks noChangeAspect="1"/>
              </p:cNvSpPr>
              <p:nvPr/>
            </p:nvSpPr>
            <p:spPr>
              <a:xfrm>
                <a:off x="231043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5" name="Rectangle 74"/>
              <p:cNvSpPr>
                <a:spLocks noChangeAspect="1"/>
              </p:cNvSpPr>
              <p:nvPr/>
            </p:nvSpPr>
            <p:spPr>
              <a:xfrm>
                <a:off x="276658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6" name="Rectangle 75"/>
              <p:cNvSpPr>
                <a:spLocks noChangeAspect="1"/>
              </p:cNvSpPr>
              <p:nvPr/>
            </p:nvSpPr>
            <p:spPr>
              <a:xfrm>
                <a:off x="322273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7" name="Rectangle 76"/>
              <p:cNvSpPr>
                <a:spLocks noChangeAspect="1"/>
              </p:cNvSpPr>
              <p:nvPr/>
            </p:nvSpPr>
            <p:spPr>
              <a:xfrm>
                <a:off x="3678883"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78" name="Rectangle 77"/>
              <p:cNvSpPr>
                <a:spLocks noChangeAspect="1"/>
              </p:cNvSpPr>
              <p:nvPr/>
            </p:nvSpPr>
            <p:spPr>
              <a:xfrm>
                <a:off x="4135032"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79" name="Rectangle 78"/>
              <p:cNvSpPr>
                <a:spLocks noChangeAspect="1"/>
              </p:cNvSpPr>
              <p:nvPr/>
            </p:nvSpPr>
            <p:spPr>
              <a:xfrm>
                <a:off x="4591181"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0" name="Rectangle 79"/>
              <p:cNvSpPr>
                <a:spLocks noChangeAspect="1"/>
              </p:cNvSpPr>
              <p:nvPr/>
            </p:nvSpPr>
            <p:spPr>
              <a:xfrm>
                <a:off x="5047330"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81" name="Rectangle 80"/>
              <p:cNvSpPr>
                <a:spLocks noChangeAspect="1"/>
              </p:cNvSpPr>
              <p:nvPr/>
            </p:nvSpPr>
            <p:spPr>
              <a:xfrm>
                <a:off x="550347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2" name="Rectangle 81"/>
              <p:cNvSpPr>
                <a:spLocks noChangeAspect="1"/>
              </p:cNvSpPr>
              <p:nvPr/>
            </p:nvSpPr>
            <p:spPr>
              <a:xfrm>
                <a:off x="595962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3" name="Rectangle 82"/>
              <p:cNvSpPr>
                <a:spLocks noChangeAspect="1"/>
              </p:cNvSpPr>
              <p:nvPr/>
            </p:nvSpPr>
            <p:spPr>
              <a:xfrm>
                <a:off x="641577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84" name="Rectangle 83"/>
              <p:cNvSpPr>
                <a:spLocks noChangeAspect="1"/>
              </p:cNvSpPr>
              <p:nvPr/>
            </p:nvSpPr>
            <p:spPr>
              <a:xfrm>
                <a:off x="687192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sp>
            <p:nvSpPr>
              <p:cNvPr id="85" name="Rectangle 84"/>
              <p:cNvSpPr>
                <a:spLocks noChangeAspect="1"/>
              </p:cNvSpPr>
              <p:nvPr/>
            </p:nvSpPr>
            <p:spPr>
              <a:xfrm>
                <a:off x="732807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1</a:t>
                </a:r>
              </a:p>
            </p:txBody>
          </p:sp>
          <p:sp>
            <p:nvSpPr>
              <p:cNvPr id="86" name="Rectangle 85"/>
              <p:cNvSpPr>
                <a:spLocks noChangeAspect="1"/>
              </p:cNvSpPr>
              <p:nvPr/>
            </p:nvSpPr>
            <p:spPr>
              <a:xfrm>
                <a:off x="778422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a:t>
                </a:r>
              </a:p>
            </p:txBody>
          </p:sp>
        </p:grpSp>
        <p:sp>
          <p:nvSpPr>
            <p:cNvPr id="21" name="TextBox 20"/>
            <p:cNvSpPr txBox="1"/>
            <p:nvPr/>
          </p:nvSpPr>
          <p:spPr>
            <a:xfrm>
              <a:off x="445977" y="3440664"/>
              <a:ext cx="686406" cy="261610"/>
            </a:xfrm>
            <a:prstGeom prst="rect">
              <a:avLst/>
            </a:prstGeom>
            <a:noFill/>
          </p:spPr>
          <p:txBody>
            <a:bodyPr wrap="none" rtlCol="0" anchor="ctr" anchorCtr="0">
              <a:spAutoFit/>
            </a:bodyPr>
            <a:lstStyle/>
            <a:p>
              <a:pPr algn="r"/>
              <a:r>
                <a:rPr lang="en-US" sz="1100" dirty="0"/>
                <a:t>is a one?</a:t>
              </a:r>
            </a:p>
          </p:txBody>
        </p:sp>
      </p:grpSp>
      <p:grpSp>
        <p:nvGrpSpPr>
          <p:cNvPr id="3" name="Group 2"/>
          <p:cNvGrpSpPr/>
          <p:nvPr/>
        </p:nvGrpSpPr>
        <p:grpSpPr>
          <a:xfrm>
            <a:off x="-26910" y="3653341"/>
            <a:ext cx="8453580" cy="457200"/>
            <a:chOff x="-26910" y="4208030"/>
            <a:chExt cx="8453580" cy="457200"/>
          </a:xfrm>
        </p:grpSpPr>
        <p:grpSp>
          <p:nvGrpSpPr>
            <p:cNvPr id="88" name="Group 87"/>
            <p:cNvGrpSpPr/>
            <p:nvPr/>
          </p:nvGrpSpPr>
          <p:grpSpPr>
            <a:xfrm>
              <a:off x="1127235" y="4208030"/>
              <a:ext cx="7299435" cy="457200"/>
              <a:chOff x="941989" y="1557421"/>
              <a:chExt cx="7299435" cy="457200"/>
            </a:xfrm>
          </p:grpSpPr>
          <p:sp>
            <p:nvSpPr>
              <p:cNvPr id="89" name="Rectangle 88"/>
              <p:cNvSpPr>
                <a:spLocks noChangeAspect="1"/>
              </p:cNvSpPr>
              <p:nvPr/>
            </p:nvSpPr>
            <p:spPr>
              <a:xfrm>
                <a:off x="94198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p>
            </p:txBody>
          </p:sp>
          <p:sp>
            <p:nvSpPr>
              <p:cNvPr id="90" name="Rectangle 89"/>
              <p:cNvSpPr>
                <a:spLocks noChangeAspect="1"/>
              </p:cNvSpPr>
              <p:nvPr/>
            </p:nvSpPr>
            <p:spPr>
              <a:xfrm>
                <a:off x="139813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p>
            </p:txBody>
          </p:sp>
          <p:sp>
            <p:nvSpPr>
              <p:cNvPr id="91" name="Rectangle 90"/>
              <p:cNvSpPr>
                <a:spLocks noChangeAspect="1"/>
              </p:cNvSpPr>
              <p:nvPr/>
            </p:nvSpPr>
            <p:spPr>
              <a:xfrm>
                <a:off x="185428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p>
            </p:txBody>
          </p:sp>
          <p:sp>
            <p:nvSpPr>
              <p:cNvPr id="92" name="Rectangle 91"/>
              <p:cNvSpPr>
                <a:spLocks noChangeAspect="1"/>
              </p:cNvSpPr>
              <p:nvPr/>
            </p:nvSpPr>
            <p:spPr>
              <a:xfrm>
                <a:off x="231043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p>
            </p:txBody>
          </p:sp>
          <p:sp>
            <p:nvSpPr>
              <p:cNvPr id="93" name="Rectangle 92"/>
              <p:cNvSpPr>
                <a:spLocks noChangeAspect="1"/>
              </p:cNvSpPr>
              <p:nvPr/>
            </p:nvSpPr>
            <p:spPr>
              <a:xfrm>
                <a:off x="276658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2</a:t>
                </a:r>
              </a:p>
            </p:txBody>
          </p:sp>
          <p:sp>
            <p:nvSpPr>
              <p:cNvPr id="94" name="Rectangle 93"/>
              <p:cNvSpPr>
                <a:spLocks noChangeAspect="1"/>
              </p:cNvSpPr>
              <p:nvPr/>
            </p:nvSpPr>
            <p:spPr>
              <a:xfrm>
                <a:off x="322273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3</a:t>
                </a:r>
              </a:p>
            </p:txBody>
          </p:sp>
          <p:sp>
            <p:nvSpPr>
              <p:cNvPr id="95" name="Rectangle 94"/>
              <p:cNvSpPr>
                <a:spLocks noChangeAspect="1"/>
              </p:cNvSpPr>
              <p:nvPr/>
            </p:nvSpPr>
            <p:spPr>
              <a:xfrm>
                <a:off x="3678883"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3</a:t>
                </a:r>
              </a:p>
            </p:txBody>
          </p:sp>
          <p:sp>
            <p:nvSpPr>
              <p:cNvPr id="96" name="Rectangle 95"/>
              <p:cNvSpPr>
                <a:spLocks noChangeAspect="1"/>
              </p:cNvSpPr>
              <p:nvPr/>
            </p:nvSpPr>
            <p:spPr>
              <a:xfrm>
                <a:off x="4135032"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4</a:t>
                </a:r>
              </a:p>
            </p:txBody>
          </p:sp>
          <p:sp>
            <p:nvSpPr>
              <p:cNvPr id="97" name="Rectangle 96"/>
              <p:cNvSpPr>
                <a:spLocks noChangeAspect="1"/>
              </p:cNvSpPr>
              <p:nvPr/>
            </p:nvSpPr>
            <p:spPr>
              <a:xfrm>
                <a:off x="4591181"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4</a:t>
                </a:r>
              </a:p>
            </p:txBody>
          </p:sp>
          <p:sp>
            <p:nvSpPr>
              <p:cNvPr id="98" name="Rectangle 97"/>
              <p:cNvSpPr>
                <a:spLocks noChangeAspect="1"/>
              </p:cNvSpPr>
              <p:nvPr/>
            </p:nvSpPr>
            <p:spPr>
              <a:xfrm>
                <a:off x="5047330"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5</a:t>
                </a:r>
              </a:p>
            </p:txBody>
          </p:sp>
          <p:sp>
            <p:nvSpPr>
              <p:cNvPr id="99" name="Rectangle 98"/>
              <p:cNvSpPr>
                <a:spLocks noChangeAspect="1"/>
              </p:cNvSpPr>
              <p:nvPr/>
            </p:nvSpPr>
            <p:spPr>
              <a:xfrm>
                <a:off x="550347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5</a:t>
                </a:r>
              </a:p>
            </p:txBody>
          </p:sp>
          <p:sp>
            <p:nvSpPr>
              <p:cNvPr id="100" name="Rectangle 99"/>
              <p:cNvSpPr>
                <a:spLocks noChangeAspect="1"/>
              </p:cNvSpPr>
              <p:nvPr/>
            </p:nvSpPr>
            <p:spPr>
              <a:xfrm>
                <a:off x="595962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6</a:t>
                </a:r>
              </a:p>
            </p:txBody>
          </p:sp>
          <p:sp>
            <p:nvSpPr>
              <p:cNvPr id="101" name="Rectangle 100"/>
              <p:cNvSpPr>
                <a:spLocks noChangeAspect="1"/>
              </p:cNvSpPr>
              <p:nvPr/>
            </p:nvSpPr>
            <p:spPr>
              <a:xfrm>
                <a:off x="641577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sp>
            <p:nvSpPr>
              <p:cNvPr id="102" name="Rectangle 101"/>
              <p:cNvSpPr>
                <a:spLocks noChangeAspect="1"/>
              </p:cNvSpPr>
              <p:nvPr/>
            </p:nvSpPr>
            <p:spPr>
              <a:xfrm>
                <a:off x="687192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sp>
            <p:nvSpPr>
              <p:cNvPr id="103" name="Rectangle 102"/>
              <p:cNvSpPr>
                <a:spLocks noChangeAspect="1"/>
              </p:cNvSpPr>
              <p:nvPr/>
            </p:nvSpPr>
            <p:spPr>
              <a:xfrm>
                <a:off x="732807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sp>
            <p:nvSpPr>
              <p:cNvPr id="120" name="Rectangle 119"/>
              <p:cNvSpPr>
                <a:spLocks noChangeAspect="1"/>
              </p:cNvSpPr>
              <p:nvPr/>
            </p:nvSpPr>
            <p:spPr>
              <a:xfrm>
                <a:off x="778422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8</a:t>
                </a:r>
              </a:p>
            </p:txBody>
          </p:sp>
        </p:grpSp>
        <p:sp>
          <p:nvSpPr>
            <p:cNvPr id="121" name="TextBox 120"/>
            <p:cNvSpPr txBox="1"/>
            <p:nvPr/>
          </p:nvSpPr>
          <p:spPr>
            <a:xfrm>
              <a:off x="-26910" y="4305825"/>
              <a:ext cx="1159293" cy="261610"/>
            </a:xfrm>
            <a:prstGeom prst="rect">
              <a:avLst/>
            </a:prstGeom>
            <a:noFill/>
          </p:spPr>
          <p:txBody>
            <a:bodyPr wrap="none" rtlCol="0" anchor="ctr" anchorCtr="0">
              <a:spAutoFit/>
            </a:bodyPr>
            <a:lstStyle/>
            <a:p>
              <a:pPr algn="r"/>
              <a:r>
                <a:rPr lang="en-US" sz="1100" dirty="0"/>
                <a:t># ones to the left</a:t>
              </a:r>
            </a:p>
          </p:txBody>
        </p:sp>
      </p:grpSp>
      <p:grpSp>
        <p:nvGrpSpPr>
          <p:cNvPr id="8" name="Group 7"/>
          <p:cNvGrpSpPr/>
          <p:nvPr/>
        </p:nvGrpSpPr>
        <p:grpSpPr>
          <a:xfrm>
            <a:off x="4777299" y="3319914"/>
            <a:ext cx="989374" cy="323981"/>
            <a:chOff x="4777299" y="3826295"/>
            <a:chExt cx="989374" cy="323981"/>
          </a:xfrm>
        </p:grpSpPr>
        <p:cxnSp>
          <p:nvCxnSpPr>
            <p:cNvPr id="23" name="Straight Arrow Connector 22"/>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2" name="TextBox 121"/>
            <p:cNvSpPr txBox="1"/>
            <p:nvPr/>
          </p:nvSpPr>
          <p:spPr>
            <a:xfrm>
              <a:off x="4777299" y="3826295"/>
              <a:ext cx="989374" cy="261610"/>
            </a:xfrm>
            <a:prstGeom prst="rect">
              <a:avLst/>
            </a:prstGeom>
            <a:noFill/>
          </p:spPr>
          <p:txBody>
            <a:bodyPr wrap="none" rtlCol="0" anchor="ctr" anchorCtr="0">
              <a:spAutoFit/>
            </a:bodyPr>
            <a:lstStyle/>
            <a:p>
              <a:r>
                <a:rPr lang="en-US" sz="1100" dirty="0"/>
                <a:t>exclusive scan</a:t>
              </a:r>
            </a:p>
          </p:txBody>
        </p:sp>
      </p:grpSp>
      <p:grpSp>
        <p:nvGrpSpPr>
          <p:cNvPr id="2" name="Group 1"/>
          <p:cNvGrpSpPr/>
          <p:nvPr/>
        </p:nvGrpSpPr>
        <p:grpSpPr>
          <a:xfrm>
            <a:off x="288989" y="4453936"/>
            <a:ext cx="8123360" cy="457200"/>
            <a:chOff x="288989" y="5073191"/>
            <a:chExt cx="8123360" cy="457200"/>
          </a:xfrm>
        </p:grpSpPr>
        <p:grpSp>
          <p:nvGrpSpPr>
            <p:cNvPr id="58" name="Group 57"/>
            <p:cNvGrpSpPr/>
            <p:nvPr/>
          </p:nvGrpSpPr>
          <p:grpSpPr>
            <a:xfrm>
              <a:off x="1112914" y="5073191"/>
              <a:ext cx="7299435" cy="457200"/>
              <a:chOff x="941989" y="1557421"/>
              <a:chExt cx="7299435" cy="457200"/>
            </a:xfrm>
          </p:grpSpPr>
          <p:sp>
            <p:nvSpPr>
              <p:cNvPr id="59" name="Rectangle 58"/>
              <p:cNvSpPr>
                <a:spLocks noChangeAspect="1"/>
              </p:cNvSpPr>
              <p:nvPr/>
            </p:nvSpPr>
            <p:spPr>
              <a:xfrm>
                <a:off x="94198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a:t>
                </a:r>
              </a:p>
            </p:txBody>
          </p:sp>
          <p:sp>
            <p:nvSpPr>
              <p:cNvPr id="60" name="Rectangle 59"/>
              <p:cNvSpPr>
                <a:spLocks noChangeAspect="1"/>
              </p:cNvSpPr>
              <p:nvPr/>
            </p:nvSpPr>
            <p:spPr>
              <a:xfrm>
                <a:off x="139813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a:solidFill>
                      <a:schemeClr val="tx1"/>
                    </a:solidFill>
                  </a:rPr>
                  <a:t>8</a:t>
                </a:r>
                <a:endParaRPr lang="en-US" sz="1600" dirty="0">
                  <a:solidFill>
                    <a:schemeClr val="tx1"/>
                  </a:solidFill>
                </a:endParaRPr>
              </a:p>
            </p:txBody>
          </p:sp>
          <p:sp>
            <p:nvSpPr>
              <p:cNvPr id="61" name="Rectangle 60"/>
              <p:cNvSpPr>
                <a:spLocks noChangeAspect="1"/>
              </p:cNvSpPr>
              <p:nvPr/>
            </p:nvSpPr>
            <p:spPr>
              <a:xfrm>
                <a:off x="185428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a:t>
                </a:r>
              </a:p>
            </p:txBody>
          </p:sp>
          <p:sp>
            <p:nvSpPr>
              <p:cNvPr id="62" name="Rectangle 61"/>
              <p:cNvSpPr>
                <a:spLocks noChangeAspect="1"/>
              </p:cNvSpPr>
              <p:nvPr/>
            </p:nvSpPr>
            <p:spPr>
              <a:xfrm>
                <a:off x="231043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9</a:t>
                </a:r>
              </a:p>
            </p:txBody>
          </p:sp>
          <p:sp>
            <p:nvSpPr>
              <p:cNvPr id="63" name="Rectangle 62"/>
              <p:cNvSpPr>
                <a:spLocks noChangeAspect="1"/>
              </p:cNvSpPr>
              <p:nvPr/>
            </p:nvSpPr>
            <p:spPr>
              <a:xfrm>
                <a:off x="276658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p>
            </p:txBody>
          </p:sp>
          <p:sp>
            <p:nvSpPr>
              <p:cNvPr id="64" name="Rectangle 63"/>
              <p:cNvSpPr>
                <a:spLocks noChangeAspect="1"/>
              </p:cNvSpPr>
              <p:nvPr/>
            </p:nvSpPr>
            <p:spPr>
              <a:xfrm>
                <a:off x="322273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2</a:t>
                </a:r>
              </a:p>
            </p:txBody>
          </p:sp>
          <p:sp>
            <p:nvSpPr>
              <p:cNvPr id="65" name="Rectangle 64"/>
              <p:cNvSpPr>
                <a:spLocks noChangeAspect="1"/>
              </p:cNvSpPr>
              <p:nvPr/>
            </p:nvSpPr>
            <p:spPr>
              <a:xfrm>
                <a:off x="3678883"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p>
            </p:txBody>
          </p:sp>
          <p:sp>
            <p:nvSpPr>
              <p:cNvPr id="66" name="Rectangle 65"/>
              <p:cNvSpPr>
                <a:spLocks noChangeAspect="1"/>
              </p:cNvSpPr>
              <p:nvPr/>
            </p:nvSpPr>
            <p:spPr>
              <a:xfrm>
                <a:off x="4135032"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3</a:t>
                </a:r>
              </a:p>
            </p:txBody>
          </p:sp>
          <p:sp>
            <p:nvSpPr>
              <p:cNvPr id="67" name="Rectangle 66"/>
              <p:cNvSpPr>
                <a:spLocks noChangeAspect="1"/>
              </p:cNvSpPr>
              <p:nvPr/>
            </p:nvSpPr>
            <p:spPr>
              <a:xfrm>
                <a:off x="4591181"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12</a:t>
                </a:r>
              </a:p>
            </p:txBody>
          </p:sp>
          <p:sp>
            <p:nvSpPr>
              <p:cNvPr id="68" name="Rectangle 67"/>
              <p:cNvSpPr>
                <a:spLocks noChangeAspect="1"/>
              </p:cNvSpPr>
              <p:nvPr/>
            </p:nvSpPr>
            <p:spPr>
              <a:xfrm>
                <a:off x="5047330"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4</a:t>
                </a:r>
              </a:p>
            </p:txBody>
          </p:sp>
          <p:sp>
            <p:nvSpPr>
              <p:cNvPr id="69" name="Rectangle 68"/>
              <p:cNvSpPr>
                <a:spLocks noChangeAspect="1"/>
              </p:cNvSpPr>
              <p:nvPr/>
            </p:nvSpPr>
            <p:spPr>
              <a:xfrm>
                <a:off x="5503479"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13</a:t>
                </a:r>
              </a:p>
            </p:txBody>
          </p:sp>
          <p:sp>
            <p:nvSpPr>
              <p:cNvPr id="87" name="Rectangle 86"/>
              <p:cNvSpPr>
                <a:spLocks noChangeAspect="1"/>
              </p:cNvSpPr>
              <p:nvPr/>
            </p:nvSpPr>
            <p:spPr>
              <a:xfrm>
                <a:off x="5959628"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14</a:t>
                </a:r>
              </a:p>
            </p:txBody>
          </p:sp>
          <p:sp>
            <p:nvSpPr>
              <p:cNvPr id="104" name="Rectangle 103"/>
              <p:cNvSpPr>
                <a:spLocks noChangeAspect="1"/>
              </p:cNvSpPr>
              <p:nvPr/>
            </p:nvSpPr>
            <p:spPr>
              <a:xfrm>
                <a:off x="6415777"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5</a:t>
                </a:r>
              </a:p>
            </p:txBody>
          </p:sp>
          <p:sp>
            <p:nvSpPr>
              <p:cNvPr id="105" name="Rectangle 104"/>
              <p:cNvSpPr>
                <a:spLocks noChangeAspect="1"/>
              </p:cNvSpPr>
              <p:nvPr/>
            </p:nvSpPr>
            <p:spPr>
              <a:xfrm>
                <a:off x="6871926"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6</a:t>
                </a:r>
              </a:p>
            </p:txBody>
          </p:sp>
          <p:sp>
            <p:nvSpPr>
              <p:cNvPr id="106" name="Rectangle 105"/>
              <p:cNvSpPr>
                <a:spLocks noChangeAspect="1"/>
              </p:cNvSpPr>
              <p:nvPr/>
            </p:nvSpPr>
            <p:spPr>
              <a:xfrm>
                <a:off x="7328075"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15</a:t>
                </a:r>
              </a:p>
            </p:txBody>
          </p:sp>
          <p:sp>
            <p:nvSpPr>
              <p:cNvPr id="107" name="Rectangle 106"/>
              <p:cNvSpPr>
                <a:spLocks noChangeAspect="1"/>
              </p:cNvSpPr>
              <p:nvPr/>
            </p:nvSpPr>
            <p:spPr>
              <a:xfrm>
                <a:off x="7784224" y="1557421"/>
                <a:ext cx="457200" cy="4572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7</a:t>
                </a:r>
              </a:p>
            </p:txBody>
          </p:sp>
        </p:grpSp>
        <p:sp>
          <p:nvSpPr>
            <p:cNvPr id="108" name="TextBox 107"/>
            <p:cNvSpPr txBox="1"/>
            <p:nvPr/>
          </p:nvSpPr>
          <p:spPr>
            <a:xfrm>
              <a:off x="288989" y="5170986"/>
              <a:ext cx="829073" cy="261610"/>
            </a:xfrm>
            <a:prstGeom prst="rect">
              <a:avLst/>
            </a:prstGeom>
            <a:noFill/>
          </p:spPr>
          <p:txBody>
            <a:bodyPr wrap="none" rtlCol="0" anchor="ctr" anchorCtr="0">
              <a:spAutoFit/>
            </a:bodyPr>
            <a:lstStyle/>
            <a:p>
              <a:pPr algn="r"/>
              <a:r>
                <a:rPr lang="en-US" sz="1100" dirty="0"/>
                <a:t>destination</a:t>
              </a:r>
            </a:p>
          </p:txBody>
        </p:sp>
      </p:grpSp>
      <p:grpSp>
        <p:nvGrpSpPr>
          <p:cNvPr id="5" name="Group 4"/>
          <p:cNvGrpSpPr/>
          <p:nvPr/>
        </p:nvGrpSpPr>
        <p:grpSpPr>
          <a:xfrm>
            <a:off x="4776427" y="4066875"/>
            <a:ext cx="4075338" cy="430887"/>
            <a:chOff x="4776427" y="4451075"/>
            <a:chExt cx="4075338" cy="430887"/>
          </a:xfrm>
        </p:grpSpPr>
        <p:cxnSp>
          <p:nvCxnSpPr>
            <p:cNvPr id="132" name="Straight Arrow Connector 131"/>
            <p:cNvCxnSpPr/>
            <p:nvPr/>
          </p:nvCxnSpPr>
          <p:spPr>
            <a:xfrm>
              <a:off x="4776427" y="4516827"/>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3" name="TextBox 132"/>
            <p:cNvSpPr txBox="1"/>
            <p:nvPr/>
          </p:nvSpPr>
          <p:spPr>
            <a:xfrm>
              <a:off x="4777299" y="4451075"/>
              <a:ext cx="4074466" cy="430887"/>
            </a:xfrm>
            <a:prstGeom prst="rect">
              <a:avLst/>
            </a:prstGeom>
            <a:noFill/>
          </p:spPr>
          <p:txBody>
            <a:bodyPr wrap="square" rtlCol="0">
              <a:spAutoFit/>
            </a:bodyPr>
            <a:lstStyle/>
            <a:p>
              <a:pPr defTabSz="401638"/>
              <a:r>
                <a:rPr lang="en-US" sz="1100" dirty="0"/>
                <a:t>destination of a </a:t>
              </a:r>
              <a:r>
                <a:rPr lang="en-US" sz="1100" b="1" dirty="0">
                  <a:solidFill>
                    <a:schemeClr val="accent5"/>
                  </a:solidFill>
                </a:rPr>
                <a:t>zero</a:t>
              </a:r>
              <a:r>
                <a:rPr lang="en-US" sz="1100" dirty="0"/>
                <a:t>	= element index - # </a:t>
              </a:r>
              <a:r>
                <a:rPr lang="en-US" sz="1100" b="1" dirty="0">
                  <a:solidFill>
                    <a:schemeClr val="accent6"/>
                  </a:solidFill>
                </a:rPr>
                <a:t>ones</a:t>
              </a:r>
              <a:r>
                <a:rPr lang="en-US" sz="1100" dirty="0"/>
                <a:t> to the </a:t>
              </a:r>
              <a:r>
                <a:rPr lang="en-US" sz="1100" b="1" dirty="0">
                  <a:solidFill>
                    <a:schemeClr val="accent2"/>
                  </a:solidFill>
                </a:rPr>
                <a:t>left</a:t>
              </a:r>
            </a:p>
            <a:p>
              <a:pPr defTabSz="401638"/>
              <a:r>
                <a:rPr lang="en-US" sz="1100" dirty="0"/>
                <a:t>destination of a </a:t>
              </a:r>
              <a:r>
                <a:rPr lang="en-US" sz="1100" b="1" dirty="0">
                  <a:solidFill>
                    <a:schemeClr val="accent6"/>
                  </a:solidFill>
                </a:rPr>
                <a:t>one</a:t>
              </a:r>
              <a:r>
                <a:rPr lang="en-US" sz="1100" dirty="0"/>
                <a:t> 	= input size - # </a:t>
              </a:r>
              <a:r>
                <a:rPr lang="en-US" sz="1100" b="1" dirty="0">
                  <a:solidFill>
                    <a:schemeClr val="accent6"/>
                  </a:solidFill>
                </a:rPr>
                <a:t>ones</a:t>
              </a:r>
              <a:r>
                <a:rPr lang="en-US" sz="1100" dirty="0"/>
                <a:t> in </a:t>
              </a:r>
              <a:r>
                <a:rPr lang="en-US" sz="1100" b="1" dirty="0">
                  <a:solidFill>
                    <a:schemeClr val="accent4">
                      <a:lumMod val="75000"/>
                    </a:schemeClr>
                  </a:solidFill>
                </a:rPr>
                <a:t>total</a:t>
              </a:r>
              <a:r>
                <a:rPr lang="en-US" sz="1100" dirty="0"/>
                <a:t> + # </a:t>
              </a:r>
              <a:r>
                <a:rPr lang="en-US" sz="1100" b="1" dirty="0">
                  <a:solidFill>
                    <a:schemeClr val="accent6"/>
                  </a:solidFill>
                </a:rPr>
                <a:t>ones</a:t>
              </a:r>
              <a:r>
                <a:rPr lang="en-US" sz="1100" dirty="0"/>
                <a:t> to the </a:t>
              </a:r>
              <a:r>
                <a:rPr lang="en-US" sz="1100" b="1" dirty="0">
                  <a:solidFill>
                    <a:schemeClr val="accent2"/>
                  </a:solidFill>
                </a:rPr>
                <a:t>left</a:t>
              </a:r>
              <a:endParaRPr lang="en-US" sz="1100" b="1" dirty="0">
                <a:solidFill>
                  <a:schemeClr val="accent4">
                    <a:lumMod val="75000"/>
                  </a:schemeClr>
                </a:solidFill>
              </a:endParaRPr>
            </a:p>
          </p:txBody>
        </p:sp>
      </p:grpSp>
      <p:grpSp>
        <p:nvGrpSpPr>
          <p:cNvPr id="7" name="Group 6"/>
          <p:cNvGrpSpPr/>
          <p:nvPr/>
        </p:nvGrpSpPr>
        <p:grpSpPr>
          <a:xfrm>
            <a:off x="4777299" y="2515528"/>
            <a:ext cx="769763" cy="323981"/>
            <a:chOff x="4777299" y="2927315"/>
            <a:chExt cx="769763" cy="323981"/>
          </a:xfrm>
        </p:grpSpPr>
        <p:cxnSp>
          <p:nvCxnSpPr>
            <p:cNvPr id="134" name="Straight Arrow Connector 133"/>
            <p:cNvCxnSpPr/>
            <p:nvPr/>
          </p:nvCxnSpPr>
          <p:spPr>
            <a:xfrm>
              <a:off x="4780368" y="294386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5" name="TextBox 134"/>
            <p:cNvSpPr txBox="1"/>
            <p:nvPr/>
          </p:nvSpPr>
          <p:spPr>
            <a:xfrm>
              <a:off x="4777299" y="2927315"/>
              <a:ext cx="769763" cy="261610"/>
            </a:xfrm>
            <a:prstGeom prst="rect">
              <a:avLst/>
            </a:prstGeom>
            <a:noFill/>
          </p:spPr>
          <p:txBody>
            <a:bodyPr wrap="none" rtlCol="0" anchor="ctr" anchorCtr="0">
              <a:spAutoFit/>
            </a:bodyPr>
            <a:lstStyle/>
            <a:p>
              <a:r>
                <a:rPr lang="en-US" sz="1100" dirty="0"/>
                <a:t>extract bit</a:t>
              </a:r>
            </a:p>
          </p:txBody>
        </p:sp>
      </p:grpSp>
      <p:grpSp>
        <p:nvGrpSpPr>
          <p:cNvPr id="109" name="Group 108"/>
          <p:cNvGrpSpPr/>
          <p:nvPr/>
        </p:nvGrpSpPr>
        <p:grpSpPr>
          <a:xfrm>
            <a:off x="1127235" y="2052151"/>
            <a:ext cx="7299435" cy="457200"/>
            <a:chOff x="941989" y="1557421"/>
            <a:chExt cx="7299435" cy="457200"/>
          </a:xfrm>
        </p:grpSpPr>
        <p:sp>
          <p:nvSpPr>
            <p:cNvPr id="110" name="Rectangle 10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11" name="Rectangle 11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12" name="Rectangle 11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13" name="Rectangle 11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4" name="Rectangle 11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15" name="Rectangle 11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16" name="Rectangle 11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17" name="Rectangle 11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18" name="Rectangle 11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9" name="Rectangle 11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23" name="Rectangle 122"/>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24" name="Rectangle 123"/>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5" name="Rectangle 124"/>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6" name="Rectangle 125"/>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7" name="Rectangle 126"/>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128" name="Rectangle 127"/>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grpSp>
      <p:grpSp>
        <p:nvGrpSpPr>
          <p:cNvPr id="129" name="Group 128"/>
          <p:cNvGrpSpPr/>
          <p:nvPr/>
        </p:nvGrpSpPr>
        <p:grpSpPr>
          <a:xfrm>
            <a:off x="1127235" y="5254531"/>
            <a:ext cx="7299435" cy="457200"/>
            <a:chOff x="941989" y="1557421"/>
            <a:chExt cx="7299435" cy="457200"/>
          </a:xfrm>
        </p:grpSpPr>
        <p:sp>
          <p:nvSpPr>
            <p:cNvPr id="130" name="Rectangle 12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1" name="Rectangle 13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37" name="Rectangle 1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38" name="Rectangle 1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39" name="Rectangle 1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40" name="Rectangle 1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41" name="Rectangle 1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42" name="Rectangle 1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143" name="Rectangle 1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44" name="Rectangle 1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45" name="Rectangle 1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46" name="Rectangle 1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47" name="Rectangle 1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48" name="Rectangle 1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49" name="Rectangle 1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50" name="Rectangle 1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grpSp>
      <p:cxnSp>
        <p:nvCxnSpPr>
          <p:cNvPr id="151" name="Straight Arrow Connector 150"/>
          <p:cNvCxnSpPr>
            <a:stCxn id="110" idx="2"/>
            <a:endCxn id="130" idx="0"/>
          </p:cNvCxnSpPr>
          <p:nvPr/>
        </p:nvCxnSpPr>
        <p:spPr>
          <a:xfrm>
            <a:off x="1355835" y="2509351"/>
            <a:ext cx="0"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p:cNvCxnSpPr>
            <a:stCxn id="111" idx="2"/>
            <a:endCxn id="143" idx="0"/>
          </p:cNvCxnSpPr>
          <p:nvPr/>
        </p:nvCxnSpPr>
        <p:spPr>
          <a:xfrm>
            <a:off x="1811984" y="2509351"/>
            <a:ext cx="3193043"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3" name="Straight Arrow Connector 152"/>
          <p:cNvCxnSpPr>
            <a:stCxn id="112" idx="2"/>
            <a:endCxn id="131" idx="0"/>
          </p:cNvCxnSpPr>
          <p:nvPr/>
        </p:nvCxnSpPr>
        <p:spPr>
          <a:xfrm flipH="1">
            <a:off x="1811984" y="2509351"/>
            <a:ext cx="456149"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4" name="Straight Arrow Connector 153"/>
          <p:cNvCxnSpPr>
            <a:stCxn id="113" idx="2"/>
            <a:endCxn id="144" idx="0"/>
          </p:cNvCxnSpPr>
          <p:nvPr/>
        </p:nvCxnSpPr>
        <p:spPr>
          <a:xfrm>
            <a:off x="2724282" y="2509351"/>
            <a:ext cx="2736894"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p:cNvCxnSpPr>
            <a:stCxn id="114" idx="2"/>
            <a:endCxn id="145" idx="0"/>
          </p:cNvCxnSpPr>
          <p:nvPr/>
        </p:nvCxnSpPr>
        <p:spPr>
          <a:xfrm>
            <a:off x="3180431" y="2509351"/>
            <a:ext cx="2736894"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p:cNvCxnSpPr>
            <a:stCxn id="115" idx="2"/>
            <a:endCxn id="137" idx="0"/>
          </p:cNvCxnSpPr>
          <p:nvPr/>
        </p:nvCxnSpPr>
        <p:spPr>
          <a:xfrm flipH="1">
            <a:off x="2268133" y="25093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p:cNvCxnSpPr>
            <a:stCxn id="116" idx="2"/>
            <a:endCxn id="146" idx="0"/>
          </p:cNvCxnSpPr>
          <p:nvPr/>
        </p:nvCxnSpPr>
        <p:spPr>
          <a:xfrm>
            <a:off x="4092729" y="2509351"/>
            <a:ext cx="2280745"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p:cNvCxnSpPr>
            <a:stCxn id="117" idx="2"/>
            <a:endCxn id="138" idx="0"/>
          </p:cNvCxnSpPr>
          <p:nvPr/>
        </p:nvCxnSpPr>
        <p:spPr>
          <a:xfrm flipH="1">
            <a:off x="2724282" y="2509351"/>
            <a:ext cx="1824596"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118" idx="2"/>
            <a:endCxn id="147" idx="0"/>
          </p:cNvCxnSpPr>
          <p:nvPr/>
        </p:nvCxnSpPr>
        <p:spPr>
          <a:xfrm>
            <a:off x="5005027" y="2509351"/>
            <a:ext cx="1824596"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119" idx="2"/>
            <a:endCxn id="139" idx="0"/>
          </p:cNvCxnSpPr>
          <p:nvPr/>
        </p:nvCxnSpPr>
        <p:spPr>
          <a:xfrm flipH="1">
            <a:off x="3180431" y="2509351"/>
            <a:ext cx="2280745"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123" idx="2"/>
            <a:endCxn id="148" idx="0"/>
          </p:cNvCxnSpPr>
          <p:nvPr/>
        </p:nvCxnSpPr>
        <p:spPr>
          <a:xfrm>
            <a:off x="5917325" y="25093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124" idx="2"/>
            <a:endCxn id="149" idx="0"/>
          </p:cNvCxnSpPr>
          <p:nvPr/>
        </p:nvCxnSpPr>
        <p:spPr>
          <a:xfrm>
            <a:off x="6373474" y="25093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125" idx="2"/>
            <a:endCxn id="140" idx="0"/>
          </p:cNvCxnSpPr>
          <p:nvPr/>
        </p:nvCxnSpPr>
        <p:spPr>
          <a:xfrm flipH="1">
            <a:off x="3636580" y="2509351"/>
            <a:ext cx="3193043"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126" idx="2"/>
            <a:endCxn id="141" idx="0"/>
          </p:cNvCxnSpPr>
          <p:nvPr/>
        </p:nvCxnSpPr>
        <p:spPr>
          <a:xfrm flipH="1">
            <a:off x="4092729" y="2509351"/>
            <a:ext cx="3193043"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127" idx="2"/>
            <a:endCxn id="150" idx="0"/>
          </p:cNvCxnSpPr>
          <p:nvPr/>
        </p:nvCxnSpPr>
        <p:spPr>
          <a:xfrm>
            <a:off x="7741921" y="2509351"/>
            <a:ext cx="456149"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128" idx="2"/>
            <a:endCxn id="142" idx="0"/>
          </p:cNvCxnSpPr>
          <p:nvPr/>
        </p:nvCxnSpPr>
        <p:spPr>
          <a:xfrm flipH="1">
            <a:off x="4548878" y="2509351"/>
            <a:ext cx="3649192"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9" name="Group 8"/>
          <p:cNvGrpSpPr/>
          <p:nvPr/>
        </p:nvGrpSpPr>
        <p:grpSpPr>
          <a:xfrm>
            <a:off x="1169877" y="1123609"/>
            <a:ext cx="7213442" cy="822960"/>
            <a:chOff x="1169877" y="1507809"/>
            <a:chExt cx="7213442" cy="822960"/>
          </a:xfrm>
        </p:grpSpPr>
        <p:grpSp>
          <p:nvGrpSpPr>
            <p:cNvPr id="167" name="Group 166"/>
            <p:cNvGrpSpPr/>
            <p:nvPr/>
          </p:nvGrpSpPr>
          <p:grpSpPr>
            <a:xfrm>
              <a:off x="1169877" y="1507809"/>
              <a:ext cx="1738603" cy="822960"/>
              <a:chOff x="2667000" y="1752600"/>
              <a:chExt cx="889511" cy="838200"/>
            </a:xfrm>
          </p:grpSpPr>
          <p:sp>
            <p:nvSpPr>
              <p:cNvPr id="168" name="Rectangle 16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69" name="Freeform 16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0" name="Freeform 16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1" name="Freeform 17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2" name="Freeform 17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73" name="Group 172"/>
            <p:cNvGrpSpPr/>
            <p:nvPr/>
          </p:nvGrpSpPr>
          <p:grpSpPr>
            <a:xfrm>
              <a:off x="2994823" y="1507809"/>
              <a:ext cx="1738603" cy="822960"/>
              <a:chOff x="2667000" y="1752600"/>
              <a:chExt cx="889511" cy="838200"/>
            </a:xfrm>
          </p:grpSpPr>
          <p:sp>
            <p:nvSpPr>
              <p:cNvPr id="174" name="Rectangle 17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5" name="Freeform 17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6" name="Freeform 17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7" name="Freeform 17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8" name="Freeform 17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79" name="Group 178"/>
            <p:cNvGrpSpPr/>
            <p:nvPr/>
          </p:nvGrpSpPr>
          <p:grpSpPr>
            <a:xfrm>
              <a:off x="4819769" y="1507809"/>
              <a:ext cx="1738603" cy="822960"/>
              <a:chOff x="2667000" y="1752600"/>
              <a:chExt cx="889511" cy="838200"/>
            </a:xfrm>
          </p:grpSpPr>
          <p:sp>
            <p:nvSpPr>
              <p:cNvPr id="180" name="Rectangle 179"/>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1" name="Freeform 180"/>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2" name="Freeform 181"/>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3" name="Freeform 182"/>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4" name="Freeform 183"/>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85" name="Group 184"/>
            <p:cNvGrpSpPr/>
            <p:nvPr/>
          </p:nvGrpSpPr>
          <p:grpSpPr>
            <a:xfrm>
              <a:off x="6644716" y="1507809"/>
              <a:ext cx="1738603" cy="822960"/>
              <a:chOff x="2667000" y="1752600"/>
              <a:chExt cx="889511" cy="838200"/>
            </a:xfrm>
          </p:grpSpPr>
          <p:sp>
            <p:nvSpPr>
              <p:cNvPr id="186" name="Rectangle 18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7" name="Freeform 18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8" name="Freeform 18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9" name="Freeform 18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90" name="Freeform 18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sp>
        <p:nvSpPr>
          <p:cNvPr id="191" name="TextBox 190"/>
          <p:cNvSpPr txBox="1"/>
          <p:nvPr/>
        </p:nvSpPr>
        <p:spPr>
          <a:xfrm>
            <a:off x="1983686" y="5748436"/>
            <a:ext cx="5229573" cy="584775"/>
          </a:xfrm>
          <a:prstGeom prst="rect">
            <a:avLst/>
          </a:prstGeom>
          <a:noFill/>
        </p:spPr>
        <p:txBody>
          <a:bodyPr wrap="none" rtlCol="0">
            <a:spAutoFit/>
          </a:bodyPr>
          <a:lstStyle/>
          <a:p>
            <a:pPr algn="ctr"/>
            <a:r>
              <a:rPr lang="en-US" sz="1600" b="1" u="sng" dirty="0"/>
              <a:t>Parallelization approach:</a:t>
            </a:r>
            <a:r>
              <a:rPr lang="en-US" sz="1600" dirty="0"/>
              <a:t> Assign one thread to each element</a:t>
            </a:r>
          </a:p>
          <a:p>
            <a:pPr algn="ctr"/>
            <a:r>
              <a:rPr lang="en-US" sz="1600" dirty="0"/>
              <a:t>(we already know how to parallelize scan, the rest is trivial)</a:t>
            </a:r>
          </a:p>
        </p:txBody>
      </p:sp>
    </p:spTree>
    <p:extLst>
      <p:ext uri="{BB962C8B-B14F-4D97-AF65-F5344CB8AC3E}">
        <p14:creationId xmlns:p14="http://schemas.microsoft.com/office/powerpoint/2010/main" val="3121946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Poor Memory Coalescing</a:t>
            </a:r>
          </a:p>
        </p:txBody>
      </p:sp>
      <p:grpSp>
        <p:nvGrpSpPr>
          <p:cNvPr id="10" name="Group 9"/>
          <p:cNvGrpSpPr/>
          <p:nvPr/>
        </p:nvGrpSpPr>
        <p:grpSpPr>
          <a:xfrm>
            <a:off x="2951831" y="2052151"/>
            <a:ext cx="5474839" cy="457200"/>
            <a:chOff x="2951831" y="2436351"/>
            <a:chExt cx="5474839" cy="457200"/>
          </a:xfrm>
        </p:grpSpPr>
        <p:sp>
          <p:nvSpPr>
            <p:cNvPr id="114" name="Rectangle 113"/>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15" name="Rectangle 114"/>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16" name="Rectangle 115"/>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17" name="Rectangle 116"/>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18" name="Rectangle 117"/>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9" name="Rectangle 118"/>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23" name="Rectangle 122"/>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24" name="Rectangle 123"/>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5" name="Rectangle 124"/>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6" name="Rectangle 125"/>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7" name="Rectangle 126"/>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128" name="Rectangle 127"/>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grpSp>
      <p:grpSp>
        <p:nvGrpSpPr>
          <p:cNvPr id="12" name="Group 11"/>
          <p:cNvGrpSpPr/>
          <p:nvPr/>
        </p:nvGrpSpPr>
        <p:grpSpPr>
          <a:xfrm>
            <a:off x="2039533" y="5254531"/>
            <a:ext cx="6387137" cy="457200"/>
            <a:chOff x="2039533" y="5638731"/>
            <a:chExt cx="6387137" cy="457200"/>
          </a:xfrm>
        </p:grpSpPr>
        <p:sp>
          <p:nvSpPr>
            <p:cNvPr id="137" name="Rectangle 136"/>
            <p:cNvSpPr>
              <a:spLocks noChangeAspect="1"/>
            </p:cNvSpPr>
            <p:nvPr/>
          </p:nvSpPr>
          <p:spPr>
            <a:xfrm>
              <a:off x="2039533"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38" name="Rectangle 137"/>
            <p:cNvSpPr>
              <a:spLocks noChangeAspect="1"/>
            </p:cNvSpPr>
            <p:nvPr/>
          </p:nvSpPr>
          <p:spPr>
            <a:xfrm>
              <a:off x="2495682"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39" name="Rectangle 138"/>
            <p:cNvSpPr>
              <a:spLocks noChangeAspect="1"/>
            </p:cNvSpPr>
            <p:nvPr/>
          </p:nvSpPr>
          <p:spPr>
            <a:xfrm>
              <a:off x="2951831"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40" name="Rectangle 139"/>
            <p:cNvSpPr>
              <a:spLocks noChangeAspect="1"/>
            </p:cNvSpPr>
            <p:nvPr/>
          </p:nvSpPr>
          <p:spPr>
            <a:xfrm>
              <a:off x="3407980"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41" name="Rectangle 140"/>
            <p:cNvSpPr>
              <a:spLocks noChangeAspect="1"/>
            </p:cNvSpPr>
            <p:nvPr/>
          </p:nvSpPr>
          <p:spPr>
            <a:xfrm>
              <a:off x="3864129"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42" name="Rectangle 141"/>
            <p:cNvSpPr>
              <a:spLocks noChangeAspect="1"/>
            </p:cNvSpPr>
            <p:nvPr/>
          </p:nvSpPr>
          <p:spPr>
            <a:xfrm>
              <a:off x="4320278"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145" name="Rectangle 144"/>
            <p:cNvSpPr>
              <a:spLocks noChangeAspect="1"/>
            </p:cNvSpPr>
            <p:nvPr/>
          </p:nvSpPr>
          <p:spPr>
            <a:xfrm>
              <a:off x="5688725"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46" name="Rectangle 145"/>
            <p:cNvSpPr>
              <a:spLocks noChangeAspect="1"/>
            </p:cNvSpPr>
            <p:nvPr/>
          </p:nvSpPr>
          <p:spPr>
            <a:xfrm>
              <a:off x="6144874"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47" name="Rectangle 146"/>
            <p:cNvSpPr>
              <a:spLocks noChangeAspect="1"/>
            </p:cNvSpPr>
            <p:nvPr/>
          </p:nvSpPr>
          <p:spPr>
            <a:xfrm>
              <a:off x="6601023"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48" name="Rectangle 147"/>
            <p:cNvSpPr>
              <a:spLocks noChangeAspect="1"/>
            </p:cNvSpPr>
            <p:nvPr/>
          </p:nvSpPr>
          <p:spPr>
            <a:xfrm>
              <a:off x="7057172"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49" name="Rectangle 148"/>
            <p:cNvSpPr>
              <a:spLocks noChangeAspect="1"/>
            </p:cNvSpPr>
            <p:nvPr/>
          </p:nvSpPr>
          <p:spPr>
            <a:xfrm>
              <a:off x="7513321"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50" name="Rectangle 149"/>
            <p:cNvSpPr>
              <a:spLocks noChangeAspect="1"/>
            </p:cNvSpPr>
            <p:nvPr/>
          </p:nvSpPr>
          <p:spPr>
            <a:xfrm>
              <a:off x="7969470"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grpSp>
      <p:cxnSp>
        <p:nvCxnSpPr>
          <p:cNvPr id="155" name="Straight Arrow Connector 154"/>
          <p:cNvCxnSpPr>
            <a:stCxn id="114" idx="2"/>
            <a:endCxn id="145" idx="0"/>
          </p:cNvCxnSpPr>
          <p:nvPr/>
        </p:nvCxnSpPr>
        <p:spPr>
          <a:xfrm>
            <a:off x="3180431" y="2509351"/>
            <a:ext cx="2736894"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p:cNvCxnSpPr>
            <a:stCxn id="115" idx="2"/>
            <a:endCxn id="137" idx="0"/>
          </p:cNvCxnSpPr>
          <p:nvPr/>
        </p:nvCxnSpPr>
        <p:spPr>
          <a:xfrm flipH="1">
            <a:off x="2268133" y="25093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p:cNvCxnSpPr>
            <a:stCxn id="116" idx="2"/>
            <a:endCxn id="146" idx="0"/>
          </p:cNvCxnSpPr>
          <p:nvPr/>
        </p:nvCxnSpPr>
        <p:spPr>
          <a:xfrm>
            <a:off x="4092729" y="2509351"/>
            <a:ext cx="2280745"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p:cNvCxnSpPr>
            <a:stCxn id="117" idx="2"/>
            <a:endCxn id="138" idx="0"/>
          </p:cNvCxnSpPr>
          <p:nvPr/>
        </p:nvCxnSpPr>
        <p:spPr>
          <a:xfrm flipH="1">
            <a:off x="2724282" y="2509351"/>
            <a:ext cx="1824596"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118" idx="2"/>
            <a:endCxn id="147" idx="0"/>
          </p:cNvCxnSpPr>
          <p:nvPr/>
        </p:nvCxnSpPr>
        <p:spPr>
          <a:xfrm>
            <a:off x="5005027" y="2509351"/>
            <a:ext cx="1824596"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119" idx="2"/>
            <a:endCxn id="139" idx="0"/>
          </p:cNvCxnSpPr>
          <p:nvPr/>
        </p:nvCxnSpPr>
        <p:spPr>
          <a:xfrm flipH="1">
            <a:off x="3180431" y="2509351"/>
            <a:ext cx="2280745"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123" idx="2"/>
            <a:endCxn id="148" idx="0"/>
          </p:cNvCxnSpPr>
          <p:nvPr/>
        </p:nvCxnSpPr>
        <p:spPr>
          <a:xfrm>
            <a:off x="5917325" y="25093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124" idx="2"/>
            <a:endCxn id="149" idx="0"/>
          </p:cNvCxnSpPr>
          <p:nvPr/>
        </p:nvCxnSpPr>
        <p:spPr>
          <a:xfrm>
            <a:off x="6373474" y="2509351"/>
            <a:ext cx="1368447"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125" idx="2"/>
            <a:endCxn id="140" idx="0"/>
          </p:cNvCxnSpPr>
          <p:nvPr/>
        </p:nvCxnSpPr>
        <p:spPr>
          <a:xfrm flipH="1">
            <a:off x="3636580" y="2509351"/>
            <a:ext cx="3193043"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126" idx="2"/>
            <a:endCxn id="141" idx="0"/>
          </p:cNvCxnSpPr>
          <p:nvPr/>
        </p:nvCxnSpPr>
        <p:spPr>
          <a:xfrm flipH="1">
            <a:off x="4092729" y="2509351"/>
            <a:ext cx="3193043"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127" idx="2"/>
            <a:endCxn id="150" idx="0"/>
          </p:cNvCxnSpPr>
          <p:nvPr/>
        </p:nvCxnSpPr>
        <p:spPr>
          <a:xfrm>
            <a:off x="7741921" y="2509351"/>
            <a:ext cx="456149"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128" idx="2"/>
            <a:endCxn id="142" idx="0"/>
          </p:cNvCxnSpPr>
          <p:nvPr/>
        </p:nvCxnSpPr>
        <p:spPr>
          <a:xfrm flipH="1">
            <a:off x="4548878" y="2509351"/>
            <a:ext cx="3649192" cy="274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73" name="Group 172"/>
          <p:cNvGrpSpPr/>
          <p:nvPr/>
        </p:nvGrpSpPr>
        <p:grpSpPr>
          <a:xfrm>
            <a:off x="2994823" y="1123609"/>
            <a:ext cx="1738603" cy="822960"/>
            <a:chOff x="2667000" y="1752600"/>
            <a:chExt cx="889511" cy="838200"/>
          </a:xfrm>
        </p:grpSpPr>
        <p:sp>
          <p:nvSpPr>
            <p:cNvPr id="174" name="Rectangle 17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5" name="Freeform 17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6" name="Freeform 17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7" name="Freeform 17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8" name="Freeform 17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79" name="Group 178"/>
          <p:cNvGrpSpPr/>
          <p:nvPr/>
        </p:nvGrpSpPr>
        <p:grpSpPr>
          <a:xfrm>
            <a:off x="4819769" y="1123609"/>
            <a:ext cx="1738603" cy="822960"/>
            <a:chOff x="2667000" y="1752600"/>
            <a:chExt cx="889511" cy="838200"/>
          </a:xfrm>
        </p:grpSpPr>
        <p:sp>
          <p:nvSpPr>
            <p:cNvPr id="180" name="Rectangle 179"/>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1" name="Freeform 180"/>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2" name="Freeform 181"/>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3" name="Freeform 182"/>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4" name="Freeform 183"/>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85" name="Group 184"/>
          <p:cNvGrpSpPr/>
          <p:nvPr/>
        </p:nvGrpSpPr>
        <p:grpSpPr>
          <a:xfrm>
            <a:off x="6644716" y="1123609"/>
            <a:ext cx="1738603" cy="822960"/>
            <a:chOff x="2667000" y="1752600"/>
            <a:chExt cx="889511" cy="838200"/>
          </a:xfrm>
        </p:grpSpPr>
        <p:sp>
          <p:nvSpPr>
            <p:cNvPr id="186" name="Rectangle 18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7" name="Freeform 18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8" name="Freeform 18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9" name="Freeform 18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90" name="Freeform 18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191" name="TextBox 190"/>
          <p:cNvSpPr txBox="1"/>
          <p:nvPr/>
        </p:nvSpPr>
        <p:spPr>
          <a:xfrm>
            <a:off x="-26779" y="5748436"/>
            <a:ext cx="9250546" cy="707886"/>
          </a:xfrm>
          <a:prstGeom prst="rect">
            <a:avLst/>
          </a:prstGeom>
          <a:noFill/>
        </p:spPr>
        <p:txBody>
          <a:bodyPr wrap="none" rtlCol="0">
            <a:spAutoFit/>
          </a:bodyPr>
          <a:lstStyle/>
          <a:p>
            <a:pPr algn="ctr"/>
            <a:r>
              <a:rPr lang="en-US" sz="1600" b="1" u="sng" dirty="0">
                <a:solidFill>
                  <a:srgbClr val="C00000"/>
                </a:solidFill>
              </a:rPr>
              <a:t>Challenge:</a:t>
            </a:r>
            <a:r>
              <a:rPr lang="en-US" sz="1600" dirty="0">
                <a:solidFill>
                  <a:srgbClr val="C00000"/>
                </a:solidFill>
              </a:rPr>
              <a:t> Stores are not coalesced (nearby threads write to distant locations in global memory)</a:t>
            </a:r>
          </a:p>
          <a:p>
            <a:pPr algn="ctr"/>
            <a:endParaRPr lang="en-US" sz="800" dirty="0"/>
          </a:p>
          <a:p>
            <a:pPr algn="ctr"/>
            <a:r>
              <a:rPr lang="en-US" sz="1600" b="1" u="sng" dirty="0"/>
              <a:t>Optimization:</a:t>
            </a:r>
            <a:r>
              <a:rPr lang="en-US" sz="1600" dirty="0"/>
              <a:t> Sort locally in shared memory, then write each bucket to global memory in a coalesced manner</a:t>
            </a:r>
          </a:p>
        </p:txBody>
      </p:sp>
      <p:sp>
        <p:nvSpPr>
          <p:cNvPr id="192" name="Rectangle 191"/>
          <p:cNvSpPr/>
          <p:nvPr/>
        </p:nvSpPr>
        <p:spPr>
          <a:xfrm>
            <a:off x="1095702" y="1007107"/>
            <a:ext cx="7386145" cy="4773009"/>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7" name="Group 166"/>
          <p:cNvGrpSpPr/>
          <p:nvPr/>
        </p:nvGrpSpPr>
        <p:grpSpPr>
          <a:xfrm>
            <a:off x="1169877" y="1123609"/>
            <a:ext cx="1738603" cy="822960"/>
            <a:chOff x="2667000" y="1752600"/>
            <a:chExt cx="889511" cy="838200"/>
          </a:xfrm>
        </p:grpSpPr>
        <p:sp>
          <p:nvSpPr>
            <p:cNvPr id="168" name="Rectangle 16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69" name="Freeform 16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0" name="Freeform 16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1" name="Freeform 17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2" name="Freeform 17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9" name="Group 8"/>
          <p:cNvGrpSpPr/>
          <p:nvPr/>
        </p:nvGrpSpPr>
        <p:grpSpPr>
          <a:xfrm>
            <a:off x="1127235" y="2052151"/>
            <a:ext cx="1825647" cy="457200"/>
            <a:chOff x="1127235" y="2436351"/>
            <a:chExt cx="1825647" cy="457200"/>
          </a:xfrm>
        </p:grpSpPr>
        <p:sp>
          <p:nvSpPr>
            <p:cNvPr id="110" name="Rectangle 109"/>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11" name="Rectangle 110"/>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12" name="Rectangle 111"/>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13" name="Rectangle 112"/>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grpSp>
        <p:nvGrpSpPr>
          <p:cNvPr id="11" name="Group 10"/>
          <p:cNvGrpSpPr/>
          <p:nvPr/>
        </p:nvGrpSpPr>
        <p:grpSpPr>
          <a:xfrm>
            <a:off x="1127235" y="5254531"/>
            <a:ext cx="4562541" cy="457200"/>
            <a:chOff x="1127235" y="5638731"/>
            <a:chExt cx="4562541" cy="457200"/>
          </a:xfrm>
        </p:grpSpPr>
        <p:sp>
          <p:nvSpPr>
            <p:cNvPr id="130" name="Rectangle 129"/>
            <p:cNvSpPr>
              <a:spLocks noChangeAspect="1"/>
            </p:cNvSpPr>
            <p:nvPr/>
          </p:nvSpPr>
          <p:spPr>
            <a:xfrm>
              <a:off x="1127235"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1" name="Rectangle 130"/>
            <p:cNvSpPr>
              <a:spLocks noChangeAspect="1"/>
            </p:cNvSpPr>
            <p:nvPr/>
          </p:nvSpPr>
          <p:spPr>
            <a:xfrm>
              <a:off x="1583384"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43" name="Rectangle 142"/>
            <p:cNvSpPr>
              <a:spLocks noChangeAspect="1"/>
            </p:cNvSpPr>
            <p:nvPr/>
          </p:nvSpPr>
          <p:spPr>
            <a:xfrm>
              <a:off x="4776427"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44" name="Rectangle 143"/>
            <p:cNvSpPr>
              <a:spLocks noChangeAspect="1"/>
            </p:cNvSpPr>
            <p:nvPr/>
          </p:nvSpPr>
          <p:spPr>
            <a:xfrm>
              <a:off x="5232576"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cxnSp>
        <p:nvCxnSpPr>
          <p:cNvPr id="151" name="Straight Arrow Connector 150"/>
          <p:cNvCxnSpPr>
            <a:stCxn id="110" idx="2"/>
            <a:endCxn id="130" idx="0"/>
          </p:cNvCxnSpPr>
          <p:nvPr/>
        </p:nvCxnSpPr>
        <p:spPr>
          <a:xfrm>
            <a:off x="1355835" y="2509351"/>
            <a:ext cx="0" cy="2745180"/>
          </a:xfrm>
          <a:prstGeom prst="straightConnector1">
            <a:avLst/>
          </a:prstGeom>
          <a:ln w="1905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p:cNvCxnSpPr>
            <a:stCxn id="111" idx="2"/>
            <a:endCxn id="143" idx="0"/>
          </p:cNvCxnSpPr>
          <p:nvPr/>
        </p:nvCxnSpPr>
        <p:spPr>
          <a:xfrm>
            <a:off x="1811984" y="2509351"/>
            <a:ext cx="3193043" cy="2745180"/>
          </a:xfrm>
          <a:prstGeom prst="straightConnector1">
            <a:avLst/>
          </a:prstGeom>
          <a:ln w="1905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53" name="Straight Arrow Connector 152"/>
          <p:cNvCxnSpPr>
            <a:stCxn id="112" idx="2"/>
            <a:endCxn id="131" idx="0"/>
          </p:cNvCxnSpPr>
          <p:nvPr/>
        </p:nvCxnSpPr>
        <p:spPr>
          <a:xfrm flipH="1">
            <a:off x="1811984" y="2509351"/>
            <a:ext cx="456149" cy="2745180"/>
          </a:xfrm>
          <a:prstGeom prst="straightConnector1">
            <a:avLst/>
          </a:prstGeom>
          <a:ln w="1905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54" name="Straight Arrow Connector 153"/>
          <p:cNvCxnSpPr>
            <a:stCxn id="113" idx="2"/>
            <a:endCxn id="144" idx="0"/>
          </p:cNvCxnSpPr>
          <p:nvPr/>
        </p:nvCxnSpPr>
        <p:spPr>
          <a:xfrm>
            <a:off x="2724282" y="2509351"/>
            <a:ext cx="2736894" cy="2745180"/>
          </a:xfrm>
          <a:prstGeom prst="straightConnector1">
            <a:avLst/>
          </a:prstGeom>
          <a:ln w="19050">
            <a:solidFill>
              <a:srgbClr val="C0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34657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1">
                                            <p:txEl>
                                              <p:pRg st="0" end="0"/>
                                            </p:txEl>
                                          </p:spTgt>
                                        </p:tgtEl>
                                        <p:attrNameLst>
                                          <p:attrName>style.visibility</p:attrName>
                                        </p:attrNameLst>
                                      </p:cBhvr>
                                      <p:to>
                                        <p:strVal val="visible"/>
                                      </p:to>
                                    </p:set>
                                    <p:animEffect transition="in" filter="fade">
                                      <p:cBhvr>
                                        <p:cTn id="7" dur="500"/>
                                        <p:tgtEl>
                                          <p:spTgt spid="1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1">
                                            <p:txEl>
                                              <p:pRg st="2" end="2"/>
                                            </p:txEl>
                                          </p:spTgt>
                                        </p:tgtEl>
                                        <p:attrNameLst>
                                          <p:attrName>style.visibility</p:attrName>
                                        </p:attrNameLst>
                                      </p:cBhvr>
                                      <p:to>
                                        <p:strVal val="visible"/>
                                      </p:to>
                                    </p:set>
                                    <p:animEffect transition="in" filter="fade">
                                      <p:cBhvr>
                                        <p:cTn id="12" dur="500"/>
                                        <p:tgtEl>
                                          <p:spTgt spid="1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6" name="Straight Connector 75"/>
          <p:cNvCxnSpPr/>
          <p:nvPr/>
        </p:nvCxnSpPr>
        <p:spPr>
          <a:xfrm>
            <a:off x="2951831"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a:off x="4776427"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a:off x="6601023"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idx="10"/>
          </p:nvPr>
        </p:nvSpPr>
        <p:spPr/>
        <p:txBody>
          <a:bodyPr/>
          <a:lstStyle/>
          <a:p>
            <a:r>
              <a:rPr lang="en-US" dirty="0"/>
              <a:t>Optimizing Memory Coalescing</a:t>
            </a:r>
          </a:p>
        </p:txBody>
      </p:sp>
      <p:grpSp>
        <p:nvGrpSpPr>
          <p:cNvPr id="173" name="Group 172"/>
          <p:cNvGrpSpPr/>
          <p:nvPr/>
        </p:nvGrpSpPr>
        <p:grpSpPr>
          <a:xfrm>
            <a:off x="2994823" y="1123609"/>
            <a:ext cx="1738603" cy="822960"/>
            <a:chOff x="2667000" y="1752600"/>
            <a:chExt cx="889511" cy="838200"/>
          </a:xfrm>
        </p:grpSpPr>
        <p:sp>
          <p:nvSpPr>
            <p:cNvPr id="174" name="Rectangle 17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5" name="Freeform 17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6" name="Freeform 17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7" name="Freeform 17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8" name="Freeform 17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79" name="Group 178"/>
          <p:cNvGrpSpPr/>
          <p:nvPr/>
        </p:nvGrpSpPr>
        <p:grpSpPr>
          <a:xfrm>
            <a:off x="4819769" y="1123609"/>
            <a:ext cx="1738603" cy="822960"/>
            <a:chOff x="2667000" y="1752600"/>
            <a:chExt cx="889511" cy="838200"/>
          </a:xfrm>
        </p:grpSpPr>
        <p:sp>
          <p:nvSpPr>
            <p:cNvPr id="180" name="Rectangle 179"/>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1" name="Freeform 180"/>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2" name="Freeform 181"/>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3" name="Freeform 182"/>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4" name="Freeform 183"/>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85" name="Group 184"/>
          <p:cNvGrpSpPr/>
          <p:nvPr/>
        </p:nvGrpSpPr>
        <p:grpSpPr>
          <a:xfrm>
            <a:off x="6644716" y="1123609"/>
            <a:ext cx="1738603" cy="822960"/>
            <a:chOff x="2667000" y="1752600"/>
            <a:chExt cx="889511" cy="838200"/>
          </a:xfrm>
        </p:grpSpPr>
        <p:sp>
          <p:nvSpPr>
            <p:cNvPr id="186" name="Rectangle 18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7" name="Freeform 18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8" name="Freeform 18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9" name="Freeform 18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90" name="Freeform 18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191" name="TextBox 190"/>
          <p:cNvSpPr txBox="1"/>
          <p:nvPr/>
        </p:nvSpPr>
        <p:spPr>
          <a:xfrm>
            <a:off x="-50025" y="5748436"/>
            <a:ext cx="9297033" cy="707886"/>
          </a:xfrm>
          <a:prstGeom prst="rect">
            <a:avLst/>
          </a:prstGeom>
          <a:noFill/>
        </p:spPr>
        <p:txBody>
          <a:bodyPr wrap="none" rtlCol="0">
            <a:spAutoFit/>
          </a:bodyPr>
          <a:lstStyle/>
          <a:p>
            <a:pPr algn="ctr"/>
            <a:endParaRPr lang="en-US" sz="1600" dirty="0"/>
          </a:p>
          <a:p>
            <a:pPr algn="ctr"/>
            <a:endParaRPr lang="en-US" sz="800" dirty="0"/>
          </a:p>
          <a:p>
            <a:pPr algn="ctr"/>
            <a:r>
              <a:rPr lang="en-US" sz="1600" b="1" u="sng" dirty="0"/>
              <a:t>Optimization:</a:t>
            </a:r>
            <a:r>
              <a:rPr lang="en-US" sz="1600" dirty="0"/>
              <a:t> Sort locally in shared memory, then write each bucket to global memory in a coalesced manner</a:t>
            </a:r>
          </a:p>
        </p:txBody>
      </p:sp>
      <p:grpSp>
        <p:nvGrpSpPr>
          <p:cNvPr id="167" name="Group 166"/>
          <p:cNvGrpSpPr/>
          <p:nvPr/>
        </p:nvGrpSpPr>
        <p:grpSpPr>
          <a:xfrm>
            <a:off x="1169877" y="1123609"/>
            <a:ext cx="1738603" cy="822960"/>
            <a:chOff x="2667000" y="1752600"/>
            <a:chExt cx="889511" cy="838200"/>
          </a:xfrm>
        </p:grpSpPr>
        <p:sp>
          <p:nvSpPr>
            <p:cNvPr id="168" name="Rectangle 16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69" name="Freeform 16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0" name="Freeform 16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1" name="Freeform 17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2" name="Freeform 17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3" name="Group 2"/>
          <p:cNvGrpSpPr/>
          <p:nvPr/>
        </p:nvGrpSpPr>
        <p:grpSpPr>
          <a:xfrm>
            <a:off x="1127235" y="2052151"/>
            <a:ext cx="7299435" cy="457200"/>
            <a:chOff x="1127235" y="2436351"/>
            <a:chExt cx="7299435" cy="457200"/>
          </a:xfrm>
        </p:grpSpPr>
        <p:sp>
          <p:nvSpPr>
            <p:cNvPr id="114" name="Rectangle 113"/>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15" name="Rectangle 114"/>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16" name="Rectangle 115"/>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17" name="Rectangle 116"/>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18" name="Rectangle 117"/>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9" name="Rectangle 118"/>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23" name="Rectangle 122"/>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24" name="Rectangle 123"/>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5" name="Rectangle 124"/>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6" name="Rectangle 125"/>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7" name="Rectangle 126"/>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128" name="Rectangle 127"/>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110" name="Rectangle 109"/>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11" name="Rectangle 110"/>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12" name="Rectangle 111"/>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13" name="Rectangle 112"/>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grpSp>
        <p:nvGrpSpPr>
          <p:cNvPr id="7" name="Group 6"/>
          <p:cNvGrpSpPr/>
          <p:nvPr/>
        </p:nvGrpSpPr>
        <p:grpSpPr>
          <a:xfrm>
            <a:off x="2951831" y="2872475"/>
            <a:ext cx="5474839" cy="457200"/>
            <a:chOff x="2951831" y="3256675"/>
            <a:chExt cx="5474839" cy="457200"/>
          </a:xfrm>
        </p:grpSpPr>
        <p:sp>
          <p:nvSpPr>
            <p:cNvPr id="102" name="Rectangle 101"/>
            <p:cNvSpPr>
              <a:spLocks noChangeAspect="1"/>
            </p:cNvSpPr>
            <p:nvPr/>
          </p:nvSpPr>
          <p:spPr>
            <a:xfrm>
              <a:off x="2951831"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endParaRPr lang="en-US" sz="1600" b="1" dirty="0">
                <a:solidFill>
                  <a:schemeClr val="accent6"/>
                </a:solidFill>
              </a:endParaRPr>
            </a:p>
          </p:txBody>
        </p:sp>
        <p:sp>
          <p:nvSpPr>
            <p:cNvPr id="103" name="Rectangle 102"/>
            <p:cNvSpPr>
              <a:spLocks noChangeAspect="1"/>
            </p:cNvSpPr>
            <p:nvPr/>
          </p:nvSpPr>
          <p:spPr>
            <a:xfrm>
              <a:off x="3407980"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04" name="Rectangle 103"/>
            <p:cNvSpPr>
              <a:spLocks noChangeAspect="1"/>
            </p:cNvSpPr>
            <p:nvPr/>
          </p:nvSpPr>
          <p:spPr>
            <a:xfrm>
              <a:off x="3864129"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05" name="Rectangle 104"/>
            <p:cNvSpPr>
              <a:spLocks noChangeAspect="1"/>
            </p:cNvSpPr>
            <p:nvPr/>
          </p:nvSpPr>
          <p:spPr>
            <a:xfrm>
              <a:off x="4320278"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endParaRPr lang="en-US" sz="1600" b="1" dirty="0">
                <a:solidFill>
                  <a:schemeClr val="accent5"/>
                </a:solidFill>
              </a:endParaRPr>
            </a:p>
          </p:txBody>
        </p:sp>
        <p:sp>
          <p:nvSpPr>
            <p:cNvPr id="106" name="Rectangle 105"/>
            <p:cNvSpPr>
              <a:spLocks noChangeAspect="1"/>
            </p:cNvSpPr>
            <p:nvPr/>
          </p:nvSpPr>
          <p:spPr>
            <a:xfrm>
              <a:off x="4776427"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07" name="Rectangle 106"/>
            <p:cNvSpPr>
              <a:spLocks noChangeAspect="1"/>
            </p:cNvSpPr>
            <p:nvPr/>
          </p:nvSpPr>
          <p:spPr>
            <a:xfrm>
              <a:off x="5232576"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endParaRPr lang="en-US" sz="1600" b="1" dirty="0">
                <a:solidFill>
                  <a:schemeClr val="accent5"/>
                </a:solidFill>
              </a:endParaRPr>
            </a:p>
          </p:txBody>
        </p:sp>
        <p:sp>
          <p:nvSpPr>
            <p:cNvPr id="108" name="Rectangle 107"/>
            <p:cNvSpPr>
              <a:spLocks noChangeAspect="1"/>
            </p:cNvSpPr>
            <p:nvPr/>
          </p:nvSpPr>
          <p:spPr>
            <a:xfrm>
              <a:off x="5688725"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09" name="Rectangle 108"/>
            <p:cNvSpPr>
              <a:spLocks noChangeAspect="1"/>
            </p:cNvSpPr>
            <p:nvPr/>
          </p:nvSpPr>
          <p:spPr>
            <a:xfrm>
              <a:off x="6144874"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0" name="Rectangle 119"/>
            <p:cNvSpPr>
              <a:spLocks noChangeAspect="1"/>
            </p:cNvSpPr>
            <p:nvPr/>
          </p:nvSpPr>
          <p:spPr>
            <a:xfrm>
              <a:off x="6601023"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1" name="Rectangle 120"/>
            <p:cNvSpPr>
              <a:spLocks noChangeAspect="1"/>
            </p:cNvSpPr>
            <p:nvPr/>
          </p:nvSpPr>
          <p:spPr>
            <a:xfrm>
              <a:off x="7057172"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2" name="Rectangle 121"/>
            <p:cNvSpPr>
              <a:spLocks noChangeAspect="1"/>
            </p:cNvSpPr>
            <p:nvPr/>
          </p:nvSpPr>
          <p:spPr>
            <a:xfrm>
              <a:off x="7513321"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endParaRPr lang="en-US" sz="1600" b="1" dirty="0">
                <a:solidFill>
                  <a:schemeClr val="accent6"/>
                </a:solidFill>
              </a:endParaRPr>
            </a:p>
          </p:txBody>
        </p:sp>
        <p:sp>
          <p:nvSpPr>
            <p:cNvPr id="129" name="Rectangle 128"/>
            <p:cNvSpPr>
              <a:spLocks noChangeAspect="1"/>
            </p:cNvSpPr>
            <p:nvPr/>
          </p:nvSpPr>
          <p:spPr>
            <a:xfrm>
              <a:off x="7969470"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endParaRPr lang="en-US" sz="1600" b="1" dirty="0">
                <a:solidFill>
                  <a:schemeClr val="accent5"/>
                </a:solidFill>
              </a:endParaRPr>
            </a:p>
          </p:txBody>
        </p:sp>
      </p:grpSp>
      <p:grpSp>
        <p:nvGrpSpPr>
          <p:cNvPr id="5" name="Group 4"/>
          <p:cNvGrpSpPr/>
          <p:nvPr/>
        </p:nvGrpSpPr>
        <p:grpSpPr>
          <a:xfrm>
            <a:off x="1127235" y="2872475"/>
            <a:ext cx="1825647" cy="457200"/>
            <a:chOff x="1127235" y="3256675"/>
            <a:chExt cx="1825647" cy="457200"/>
          </a:xfrm>
        </p:grpSpPr>
        <p:sp>
          <p:nvSpPr>
            <p:cNvPr id="132" name="Rectangle 131"/>
            <p:cNvSpPr>
              <a:spLocks noChangeAspect="1"/>
            </p:cNvSpPr>
            <p:nvPr/>
          </p:nvSpPr>
          <p:spPr>
            <a:xfrm>
              <a:off x="1127235"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3" name="Rectangle 132"/>
            <p:cNvSpPr>
              <a:spLocks noChangeAspect="1"/>
            </p:cNvSpPr>
            <p:nvPr/>
          </p:nvSpPr>
          <p:spPr>
            <a:xfrm>
              <a:off x="1583384"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34" name="Rectangle 133"/>
            <p:cNvSpPr>
              <a:spLocks noChangeAspect="1"/>
            </p:cNvSpPr>
            <p:nvPr/>
          </p:nvSpPr>
          <p:spPr>
            <a:xfrm>
              <a:off x="2039533"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endParaRPr lang="en-US" sz="1600" b="1" dirty="0">
                <a:solidFill>
                  <a:schemeClr val="accent5"/>
                </a:solidFill>
              </a:endParaRPr>
            </a:p>
          </p:txBody>
        </p:sp>
        <p:sp>
          <p:nvSpPr>
            <p:cNvPr id="135" name="Rectangle 134"/>
            <p:cNvSpPr>
              <a:spLocks noChangeAspect="1"/>
            </p:cNvSpPr>
            <p:nvPr/>
          </p:nvSpPr>
          <p:spPr>
            <a:xfrm>
              <a:off x="2495682"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grpSp>
        <p:nvGrpSpPr>
          <p:cNvPr id="6" name="Group 5"/>
          <p:cNvGrpSpPr/>
          <p:nvPr/>
        </p:nvGrpSpPr>
        <p:grpSpPr>
          <a:xfrm>
            <a:off x="3180431" y="2509351"/>
            <a:ext cx="5017639" cy="363124"/>
            <a:chOff x="3180431" y="2893551"/>
            <a:chExt cx="5017639" cy="363124"/>
          </a:xfrm>
        </p:grpSpPr>
        <p:cxnSp>
          <p:nvCxnSpPr>
            <p:cNvPr id="193" name="Straight Arrow Connector 192"/>
            <p:cNvCxnSpPr>
              <a:endCxn id="104" idx="0"/>
            </p:cNvCxnSpPr>
            <p:nvPr/>
          </p:nvCxnSpPr>
          <p:spPr>
            <a:xfrm>
              <a:off x="3180431" y="28935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4" name="Straight Arrow Connector 193"/>
            <p:cNvCxnSpPr>
              <a:stCxn id="115" idx="2"/>
              <a:endCxn id="102" idx="0"/>
            </p:cNvCxnSpPr>
            <p:nvPr/>
          </p:nvCxnSpPr>
          <p:spPr>
            <a:xfrm flipH="1">
              <a:off x="3180431"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p:cNvCxnSpPr>
              <a:stCxn id="116" idx="2"/>
              <a:endCxn id="105" idx="0"/>
            </p:cNvCxnSpPr>
            <p:nvPr/>
          </p:nvCxnSpPr>
          <p:spPr>
            <a:xfrm>
              <a:off x="4092729"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p:cNvCxnSpPr>
              <a:stCxn id="117" idx="2"/>
              <a:endCxn id="103" idx="0"/>
            </p:cNvCxnSpPr>
            <p:nvPr/>
          </p:nvCxnSpPr>
          <p:spPr>
            <a:xfrm flipH="1">
              <a:off x="3636580" y="28935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p:cNvCxnSpPr>
              <a:stCxn id="118" idx="2"/>
              <a:endCxn id="107" idx="0"/>
            </p:cNvCxnSpPr>
            <p:nvPr/>
          </p:nvCxnSpPr>
          <p:spPr>
            <a:xfrm>
              <a:off x="5005027"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p:cNvCxnSpPr>
              <a:stCxn id="119" idx="2"/>
              <a:endCxn id="106" idx="0"/>
            </p:cNvCxnSpPr>
            <p:nvPr/>
          </p:nvCxnSpPr>
          <p:spPr>
            <a:xfrm flipH="1">
              <a:off x="5005027"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9" name="Straight Arrow Connector 198"/>
            <p:cNvCxnSpPr>
              <a:stCxn id="123" idx="2"/>
              <a:endCxn id="108" idx="0"/>
            </p:cNvCxnSpPr>
            <p:nvPr/>
          </p:nvCxnSpPr>
          <p:spPr>
            <a:xfrm>
              <a:off x="5917325"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0" name="Straight Arrow Connector 199"/>
            <p:cNvCxnSpPr>
              <a:stCxn id="124" idx="2"/>
              <a:endCxn id="109" idx="0"/>
            </p:cNvCxnSpPr>
            <p:nvPr/>
          </p:nvCxnSpPr>
          <p:spPr>
            <a:xfrm>
              <a:off x="6373474"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1" name="Straight Arrow Connector 200"/>
            <p:cNvCxnSpPr>
              <a:stCxn id="125" idx="2"/>
              <a:endCxn id="120" idx="0"/>
            </p:cNvCxnSpPr>
            <p:nvPr/>
          </p:nvCxnSpPr>
          <p:spPr>
            <a:xfrm>
              <a:off x="6829623"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2" name="Straight Arrow Connector 201"/>
            <p:cNvCxnSpPr>
              <a:stCxn id="126" idx="2"/>
              <a:endCxn id="121" idx="0"/>
            </p:cNvCxnSpPr>
            <p:nvPr/>
          </p:nvCxnSpPr>
          <p:spPr>
            <a:xfrm>
              <a:off x="7285772"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3" name="Straight Arrow Connector 202"/>
            <p:cNvCxnSpPr>
              <a:stCxn id="127" idx="2"/>
              <a:endCxn id="129" idx="0"/>
            </p:cNvCxnSpPr>
            <p:nvPr/>
          </p:nvCxnSpPr>
          <p:spPr>
            <a:xfrm>
              <a:off x="7741921"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4" name="Straight Arrow Connector 203"/>
            <p:cNvCxnSpPr>
              <a:stCxn id="128" idx="2"/>
              <a:endCxn id="122" idx="0"/>
            </p:cNvCxnSpPr>
            <p:nvPr/>
          </p:nvCxnSpPr>
          <p:spPr>
            <a:xfrm flipH="1">
              <a:off x="7741921"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2" name="Group 1"/>
          <p:cNvGrpSpPr/>
          <p:nvPr/>
        </p:nvGrpSpPr>
        <p:grpSpPr>
          <a:xfrm>
            <a:off x="1355835" y="2509351"/>
            <a:ext cx="1368447" cy="363124"/>
            <a:chOff x="1355835" y="2893551"/>
            <a:chExt cx="1368447" cy="363124"/>
          </a:xfrm>
        </p:grpSpPr>
        <p:cxnSp>
          <p:nvCxnSpPr>
            <p:cNvPr id="205" name="Straight Arrow Connector 204"/>
            <p:cNvCxnSpPr>
              <a:stCxn id="110" idx="2"/>
              <a:endCxn id="132" idx="0"/>
            </p:cNvCxnSpPr>
            <p:nvPr/>
          </p:nvCxnSpPr>
          <p:spPr>
            <a:xfrm>
              <a:off x="1355835"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6" name="Straight Arrow Connector 205"/>
            <p:cNvCxnSpPr>
              <a:stCxn id="111" idx="2"/>
              <a:endCxn id="134" idx="0"/>
            </p:cNvCxnSpPr>
            <p:nvPr/>
          </p:nvCxnSpPr>
          <p:spPr>
            <a:xfrm>
              <a:off x="1811984"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7" name="Straight Arrow Connector 206"/>
            <p:cNvCxnSpPr>
              <a:stCxn id="112" idx="2"/>
              <a:endCxn id="133" idx="0"/>
            </p:cNvCxnSpPr>
            <p:nvPr/>
          </p:nvCxnSpPr>
          <p:spPr>
            <a:xfrm flipH="1">
              <a:off x="1811984"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8" name="Straight Arrow Connector 207"/>
            <p:cNvCxnSpPr>
              <a:stCxn id="113" idx="2"/>
              <a:endCxn id="135" idx="0"/>
            </p:cNvCxnSpPr>
            <p:nvPr/>
          </p:nvCxnSpPr>
          <p:spPr>
            <a:xfrm>
              <a:off x="2724282"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225" name="TextBox 224"/>
          <p:cNvSpPr txBox="1"/>
          <p:nvPr/>
        </p:nvSpPr>
        <p:spPr>
          <a:xfrm>
            <a:off x="2619265" y="3671327"/>
            <a:ext cx="3905493" cy="338554"/>
          </a:xfrm>
          <a:prstGeom prst="rect">
            <a:avLst/>
          </a:prstGeom>
          <a:noFill/>
        </p:spPr>
        <p:txBody>
          <a:bodyPr wrap="none" rtlCol="0">
            <a:spAutoFit/>
          </a:bodyPr>
          <a:lstStyle/>
          <a:p>
            <a:pPr algn="ctr"/>
            <a:r>
              <a:rPr lang="en-US" sz="1600" dirty="0"/>
              <a:t>Where should each block write each bucket?</a:t>
            </a:r>
          </a:p>
        </p:txBody>
      </p:sp>
      <p:sp>
        <p:nvSpPr>
          <p:cNvPr id="80" name="Rectangle 79"/>
          <p:cNvSpPr/>
          <p:nvPr/>
        </p:nvSpPr>
        <p:spPr>
          <a:xfrm>
            <a:off x="5706" y="2502187"/>
            <a:ext cx="1099853" cy="338554"/>
          </a:xfrm>
          <a:prstGeom prst="rect">
            <a:avLst/>
          </a:prstGeom>
        </p:spPr>
        <p:txBody>
          <a:bodyPr wrap="none">
            <a:spAutoFit/>
          </a:bodyPr>
          <a:lstStyle/>
          <a:p>
            <a:pPr algn="ctr"/>
            <a:r>
              <a:rPr lang="en-US" sz="1600" dirty="0"/>
              <a:t>Sort locally</a:t>
            </a:r>
          </a:p>
        </p:txBody>
      </p:sp>
    </p:spTree>
    <p:extLst>
      <p:ext uri="{BB962C8B-B14F-4D97-AF65-F5344CB8AC3E}">
        <p14:creationId xmlns:p14="http://schemas.microsoft.com/office/powerpoint/2010/main" val="3800851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5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500"/>
                                        <p:tgtEl>
                                          <p:spTgt spid="6"/>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5"/>
                                        </p:tgtEl>
                                        <p:attrNameLst>
                                          <p:attrName>style.visibility</p:attrName>
                                        </p:attrNameLst>
                                      </p:cBhvr>
                                      <p:to>
                                        <p:strVal val="visible"/>
                                      </p:to>
                                    </p:set>
                                    <p:animEffect transition="in" filter="fade">
                                      <p:cBhvr>
                                        <p:cTn id="30" dur="500"/>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 grpId="0"/>
      <p:bldP spid="8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6" name="Straight Connector 75"/>
          <p:cNvCxnSpPr/>
          <p:nvPr/>
        </p:nvCxnSpPr>
        <p:spPr>
          <a:xfrm>
            <a:off x="2951831"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a:off x="4776427"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a:off x="6601023"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idx="10"/>
          </p:nvPr>
        </p:nvSpPr>
        <p:spPr/>
        <p:txBody>
          <a:bodyPr/>
          <a:lstStyle/>
          <a:p>
            <a:r>
              <a:rPr lang="en-US" dirty="0"/>
              <a:t>Optimizing Memory Coalescing</a:t>
            </a:r>
          </a:p>
        </p:txBody>
      </p:sp>
      <p:grpSp>
        <p:nvGrpSpPr>
          <p:cNvPr id="173" name="Group 172"/>
          <p:cNvGrpSpPr/>
          <p:nvPr/>
        </p:nvGrpSpPr>
        <p:grpSpPr>
          <a:xfrm>
            <a:off x="2994823" y="1123609"/>
            <a:ext cx="1738603" cy="822960"/>
            <a:chOff x="2667000" y="1752600"/>
            <a:chExt cx="889511" cy="838200"/>
          </a:xfrm>
        </p:grpSpPr>
        <p:sp>
          <p:nvSpPr>
            <p:cNvPr id="174" name="Rectangle 17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5" name="Freeform 17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6" name="Freeform 17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7" name="Freeform 17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8" name="Freeform 17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79" name="Group 178"/>
          <p:cNvGrpSpPr/>
          <p:nvPr/>
        </p:nvGrpSpPr>
        <p:grpSpPr>
          <a:xfrm>
            <a:off x="4819769" y="1123609"/>
            <a:ext cx="1738603" cy="822960"/>
            <a:chOff x="2667000" y="1752600"/>
            <a:chExt cx="889511" cy="838200"/>
          </a:xfrm>
        </p:grpSpPr>
        <p:sp>
          <p:nvSpPr>
            <p:cNvPr id="180" name="Rectangle 179"/>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1" name="Freeform 180"/>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2" name="Freeform 181"/>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3" name="Freeform 182"/>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4" name="Freeform 183"/>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85" name="Group 184"/>
          <p:cNvGrpSpPr/>
          <p:nvPr/>
        </p:nvGrpSpPr>
        <p:grpSpPr>
          <a:xfrm>
            <a:off x="6644716" y="1123609"/>
            <a:ext cx="1738603" cy="822960"/>
            <a:chOff x="2667000" y="1752600"/>
            <a:chExt cx="889511" cy="838200"/>
          </a:xfrm>
        </p:grpSpPr>
        <p:sp>
          <p:nvSpPr>
            <p:cNvPr id="186" name="Rectangle 18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7" name="Freeform 18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8" name="Freeform 18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9" name="Freeform 18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90" name="Freeform 18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191" name="TextBox 190"/>
          <p:cNvSpPr txBox="1"/>
          <p:nvPr/>
        </p:nvSpPr>
        <p:spPr>
          <a:xfrm>
            <a:off x="-50026" y="5748436"/>
            <a:ext cx="9297033" cy="707886"/>
          </a:xfrm>
          <a:prstGeom prst="rect">
            <a:avLst/>
          </a:prstGeom>
          <a:noFill/>
        </p:spPr>
        <p:txBody>
          <a:bodyPr wrap="none" rtlCol="0">
            <a:spAutoFit/>
          </a:bodyPr>
          <a:lstStyle/>
          <a:p>
            <a:pPr algn="ctr"/>
            <a:endParaRPr lang="en-US" sz="1600" dirty="0"/>
          </a:p>
          <a:p>
            <a:pPr algn="ctr"/>
            <a:endParaRPr lang="en-US" sz="800" dirty="0"/>
          </a:p>
          <a:p>
            <a:pPr algn="ctr"/>
            <a:r>
              <a:rPr lang="en-US" sz="1600" b="1" u="sng" dirty="0"/>
              <a:t>Optimization:</a:t>
            </a:r>
            <a:r>
              <a:rPr lang="en-US" sz="1600" dirty="0"/>
              <a:t> Sort locally in shared memory, then write each bucket to global memory in a coalesced manner</a:t>
            </a:r>
          </a:p>
        </p:txBody>
      </p:sp>
      <p:grpSp>
        <p:nvGrpSpPr>
          <p:cNvPr id="167" name="Group 166"/>
          <p:cNvGrpSpPr/>
          <p:nvPr/>
        </p:nvGrpSpPr>
        <p:grpSpPr>
          <a:xfrm>
            <a:off x="1169877" y="1123609"/>
            <a:ext cx="1738603" cy="822960"/>
            <a:chOff x="2667000" y="1752600"/>
            <a:chExt cx="889511" cy="838200"/>
          </a:xfrm>
        </p:grpSpPr>
        <p:sp>
          <p:nvSpPr>
            <p:cNvPr id="168" name="Rectangle 16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69" name="Freeform 16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0" name="Freeform 16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1" name="Freeform 17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2" name="Freeform 17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3" name="Group 2"/>
          <p:cNvGrpSpPr/>
          <p:nvPr/>
        </p:nvGrpSpPr>
        <p:grpSpPr>
          <a:xfrm>
            <a:off x="1127235" y="2052151"/>
            <a:ext cx="7299435" cy="457200"/>
            <a:chOff x="1127235" y="2436351"/>
            <a:chExt cx="7299435" cy="457200"/>
          </a:xfrm>
        </p:grpSpPr>
        <p:sp>
          <p:nvSpPr>
            <p:cNvPr id="114" name="Rectangle 113"/>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15" name="Rectangle 114"/>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16" name="Rectangle 115"/>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17" name="Rectangle 116"/>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18" name="Rectangle 117"/>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9" name="Rectangle 118"/>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23" name="Rectangle 122"/>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24" name="Rectangle 123"/>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5" name="Rectangle 124"/>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6" name="Rectangle 125"/>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7" name="Rectangle 126"/>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128" name="Rectangle 127"/>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110" name="Rectangle 109"/>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11" name="Rectangle 110"/>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12" name="Rectangle 111"/>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13" name="Rectangle 112"/>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grpSp>
        <p:nvGrpSpPr>
          <p:cNvPr id="101" name="Group 100"/>
          <p:cNvGrpSpPr/>
          <p:nvPr/>
        </p:nvGrpSpPr>
        <p:grpSpPr>
          <a:xfrm>
            <a:off x="1127235" y="2872475"/>
            <a:ext cx="7299435" cy="457200"/>
            <a:chOff x="1127235" y="2436351"/>
            <a:chExt cx="7299435" cy="457200"/>
          </a:xfrm>
        </p:grpSpPr>
        <p:sp>
          <p:nvSpPr>
            <p:cNvPr id="102" name="Rectangle 101"/>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endParaRPr lang="en-US" sz="1600" b="1" dirty="0">
                <a:solidFill>
                  <a:schemeClr val="accent6"/>
                </a:solidFill>
              </a:endParaRPr>
            </a:p>
          </p:txBody>
        </p:sp>
        <p:sp>
          <p:nvSpPr>
            <p:cNvPr id="103" name="Rectangle 102"/>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04" name="Rectangle 103"/>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05" name="Rectangle 104"/>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endParaRPr lang="en-US" sz="1600" b="1" dirty="0">
                <a:solidFill>
                  <a:schemeClr val="accent5"/>
                </a:solidFill>
              </a:endParaRPr>
            </a:p>
          </p:txBody>
        </p:sp>
        <p:sp>
          <p:nvSpPr>
            <p:cNvPr id="106" name="Rectangle 105"/>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07" name="Rectangle 106"/>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endParaRPr lang="en-US" sz="1600" b="1" dirty="0">
                <a:solidFill>
                  <a:schemeClr val="accent5"/>
                </a:solidFill>
              </a:endParaRPr>
            </a:p>
          </p:txBody>
        </p:sp>
        <p:sp>
          <p:nvSpPr>
            <p:cNvPr id="108" name="Rectangle 107"/>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09" name="Rectangle 108"/>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0" name="Rectangle 119"/>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1" name="Rectangle 120"/>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2" name="Rectangle 121"/>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endParaRPr lang="en-US" sz="1600" b="1" dirty="0">
                <a:solidFill>
                  <a:schemeClr val="accent6"/>
                </a:solidFill>
              </a:endParaRPr>
            </a:p>
          </p:txBody>
        </p:sp>
        <p:sp>
          <p:nvSpPr>
            <p:cNvPr id="129" name="Rectangle 128"/>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endParaRPr lang="en-US" sz="1600" b="1" dirty="0">
                <a:solidFill>
                  <a:schemeClr val="accent5"/>
                </a:solidFill>
              </a:endParaRPr>
            </a:p>
          </p:txBody>
        </p:sp>
        <p:sp>
          <p:nvSpPr>
            <p:cNvPr id="132" name="Rectangle 131"/>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3" name="Rectangle 132"/>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34" name="Rectangle 133"/>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endParaRPr lang="en-US" sz="1600" b="1" dirty="0">
                <a:solidFill>
                  <a:schemeClr val="accent5"/>
                </a:solidFill>
              </a:endParaRPr>
            </a:p>
          </p:txBody>
        </p:sp>
        <p:sp>
          <p:nvSpPr>
            <p:cNvPr id="135" name="Rectangle 134"/>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cxnSp>
        <p:nvCxnSpPr>
          <p:cNvPr id="193" name="Straight Arrow Connector 192"/>
          <p:cNvCxnSpPr>
            <a:endCxn id="104" idx="0"/>
          </p:cNvCxnSpPr>
          <p:nvPr/>
        </p:nvCxnSpPr>
        <p:spPr>
          <a:xfrm>
            <a:off x="3180431" y="25093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4" name="Straight Arrow Connector 193"/>
          <p:cNvCxnSpPr>
            <a:stCxn id="115" idx="2"/>
            <a:endCxn id="102" idx="0"/>
          </p:cNvCxnSpPr>
          <p:nvPr/>
        </p:nvCxnSpPr>
        <p:spPr>
          <a:xfrm flipH="1">
            <a:off x="318043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p:cNvCxnSpPr>
            <a:stCxn id="116" idx="2"/>
            <a:endCxn id="105" idx="0"/>
          </p:cNvCxnSpPr>
          <p:nvPr/>
        </p:nvCxnSpPr>
        <p:spPr>
          <a:xfrm>
            <a:off x="4092729"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p:cNvCxnSpPr>
            <a:stCxn id="117" idx="2"/>
            <a:endCxn id="103" idx="0"/>
          </p:cNvCxnSpPr>
          <p:nvPr/>
        </p:nvCxnSpPr>
        <p:spPr>
          <a:xfrm flipH="1">
            <a:off x="3636580" y="25093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p:cNvCxnSpPr>
            <a:stCxn id="118" idx="2"/>
            <a:endCxn id="107" idx="0"/>
          </p:cNvCxnSpPr>
          <p:nvPr/>
        </p:nvCxnSpPr>
        <p:spPr>
          <a:xfrm>
            <a:off x="5005027"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p:cNvCxnSpPr>
            <a:stCxn id="119" idx="2"/>
            <a:endCxn id="106" idx="0"/>
          </p:cNvCxnSpPr>
          <p:nvPr/>
        </p:nvCxnSpPr>
        <p:spPr>
          <a:xfrm flipH="1">
            <a:off x="5005027"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9" name="Straight Arrow Connector 198"/>
          <p:cNvCxnSpPr>
            <a:stCxn id="123" idx="2"/>
            <a:endCxn id="108" idx="0"/>
          </p:cNvCxnSpPr>
          <p:nvPr/>
        </p:nvCxnSpPr>
        <p:spPr>
          <a:xfrm>
            <a:off x="5917325"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0" name="Straight Arrow Connector 199"/>
          <p:cNvCxnSpPr>
            <a:stCxn id="124" idx="2"/>
            <a:endCxn id="109" idx="0"/>
          </p:cNvCxnSpPr>
          <p:nvPr/>
        </p:nvCxnSpPr>
        <p:spPr>
          <a:xfrm>
            <a:off x="6373474"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1" name="Straight Arrow Connector 200"/>
          <p:cNvCxnSpPr>
            <a:stCxn id="125" idx="2"/>
            <a:endCxn id="120" idx="0"/>
          </p:cNvCxnSpPr>
          <p:nvPr/>
        </p:nvCxnSpPr>
        <p:spPr>
          <a:xfrm>
            <a:off x="6829623"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2" name="Straight Arrow Connector 201"/>
          <p:cNvCxnSpPr>
            <a:stCxn id="126" idx="2"/>
            <a:endCxn id="121" idx="0"/>
          </p:cNvCxnSpPr>
          <p:nvPr/>
        </p:nvCxnSpPr>
        <p:spPr>
          <a:xfrm>
            <a:off x="7285772"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3" name="Straight Arrow Connector 202"/>
          <p:cNvCxnSpPr>
            <a:stCxn id="127" idx="2"/>
            <a:endCxn id="129" idx="0"/>
          </p:cNvCxnSpPr>
          <p:nvPr/>
        </p:nvCxnSpPr>
        <p:spPr>
          <a:xfrm>
            <a:off x="774192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4" name="Straight Arrow Connector 203"/>
          <p:cNvCxnSpPr>
            <a:stCxn id="128" idx="2"/>
            <a:endCxn id="122" idx="0"/>
          </p:cNvCxnSpPr>
          <p:nvPr/>
        </p:nvCxnSpPr>
        <p:spPr>
          <a:xfrm flipH="1">
            <a:off x="774192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5" name="Straight Arrow Connector 204"/>
          <p:cNvCxnSpPr>
            <a:stCxn id="110" idx="2"/>
            <a:endCxn id="132" idx="0"/>
          </p:cNvCxnSpPr>
          <p:nvPr/>
        </p:nvCxnSpPr>
        <p:spPr>
          <a:xfrm>
            <a:off x="1355835"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6" name="Straight Arrow Connector 205"/>
          <p:cNvCxnSpPr>
            <a:stCxn id="111" idx="2"/>
            <a:endCxn id="134" idx="0"/>
          </p:cNvCxnSpPr>
          <p:nvPr/>
        </p:nvCxnSpPr>
        <p:spPr>
          <a:xfrm>
            <a:off x="1811984"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7" name="Straight Arrow Connector 206"/>
          <p:cNvCxnSpPr>
            <a:stCxn id="112" idx="2"/>
            <a:endCxn id="133" idx="0"/>
          </p:cNvCxnSpPr>
          <p:nvPr/>
        </p:nvCxnSpPr>
        <p:spPr>
          <a:xfrm flipH="1">
            <a:off x="1811984"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8" name="Straight Arrow Connector 207"/>
          <p:cNvCxnSpPr>
            <a:stCxn id="113" idx="2"/>
            <a:endCxn id="135" idx="0"/>
          </p:cNvCxnSpPr>
          <p:nvPr/>
        </p:nvCxnSpPr>
        <p:spPr>
          <a:xfrm>
            <a:off x="2724282"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8" name="Right Brace 77"/>
          <p:cNvSpPr/>
          <p:nvPr/>
        </p:nvSpPr>
        <p:spPr>
          <a:xfrm rot="5400000">
            <a:off x="1529627" y="2970209"/>
            <a:ext cx="107514" cy="897740"/>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1" name="Right Brace 210"/>
          <p:cNvSpPr/>
          <p:nvPr/>
        </p:nvSpPr>
        <p:spPr>
          <a:xfrm rot="5400000">
            <a:off x="2441570" y="2970210"/>
            <a:ext cx="107514" cy="89774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2" name="Right Brace 211"/>
          <p:cNvSpPr/>
          <p:nvPr/>
        </p:nvSpPr>
        <p:spPr>
          <a:xfrm rot="5400000">
            <a:off x="3353172" y="2970210"/>
            <a:ext cx="107514" cy="897740"/>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3" name="Right Brace 212"/>
          <p:cNvSpPr/>
          <p:nvPr/>
        </p:nvSpPr>
        <p:spPr>
          <a:xfrm rot="5400000">
            <a:off x="4265115" y="2970209"/>
            <a:ext cx="107514" cy="89774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4" name="Right Brace 213"/>
          <p:cNvSpPr/>
          <p:nvPr/>
        </p:nvSpPr>
        <p:spPr>
          <a:xfrm rot="5400000">
            <a:off x="4951973" y="3195853"/>
            <a:ext cx="107514" cy="446452"/>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5" name="Right Brace 214"/>
          <p:cNvSpPr/>
          <p:nvPr/>
        </p:nvSpPr>
        <p:spPr>
          <a:xfrm rot="5400000">
            <a:off x="5864094" y="2744740"/>
            <a:ext cx="107514" cy="1348678"/>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6" name="Right Brace 215"/>
          <p:cNvSpPr/>
          <p:nvPr/>
        </p:nvSpPr>
        <p:spPr>
          <a:xfrm rot="5400000">
            <a:off x="7232192" y="2746466"/>
            <a:ext cx="107514" cy="1345226"/>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7" name="Right Brace 216"/>
          <p:cNvSpPr/>
          <p:nvPr/>
        </p:nvSpPr>
        <p:spPr>
          <a:xfrm rot="5400000">
            <a:off x="8144313" y="3194127"/>
            <a:ext cx="107514" cy="449904"/>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9" name="TextBox 78"/>
          <p:cNvSpPr txBox="1"/>
          <p:nvPr/>
        </p:nvSpPr>
        <p:spPr>
          <a:xfrm>
            <a:off x="1451362" y="3434242"/>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218" name="TextBox 217"/>
          <p:cNvSpPr txBox="1"/>
          <p:nvPr/>
        </p:nvSpPr>
        <p:spPr>
          <a:xfrm>
            <a:off x="2362499" y="3434242"/>
            <a:ext cx="263214" cy="276999"/>
          </a:xfrm>
          <a:prstGeom prst="rect">
            <a:avLst/>
          </a:prstGeom>
          <a:noFill/>
        </p:spPr>
        <p:txBody>
          <a:bodyPr wrap="none" rtlCol="0">
            <a:spAutoFit/>
          </a:bodyPr>
          <a:lstStyle/>
          <a:p>
            <a:pPr algn="ctr"/>
            <a:r>
              <a:rPr lang="en-US" sz="1200" b="1" dirty="0">
                <a:solidFill>
                  <a:schemeClr val="accent6"/>
                </a:solidFill>
              </a:rPr>
              <a:t>2</a:t>
            </a:r>
          </a:p>
        </p:txBody>
      </p:sp>
      <p:sp>
        <p:nvSpPr>
          <p:cNvPr id="219" name="TextBox 218"/>
          <p:cNvSpPr txBox="1"/>
          <p:nvPr/>
        </p:nvSpPr>
        <p:spPr>
          <a:xfrm>
            <a:off x="3273689" y="3434242"/>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220" name="TextBox 219"/>
          <p:cNvSpPr txBox="1"/>
          <p:nvPr/>
        </p:nvSpPr>
        <p:spPr>
          <a:xfrm>
            <a:off x="4184826" y="3434242"/>
            <a:ext cx="263214" cy="276999"/>
          </a:xfrm>
          <a:prstGeom prst="rect">
            <a:avLst/>
          </a:prstGeom>
          <a:noFill/>
        </p:spPr>
        <p:txBody>
          <a:bodyPr wrap="none" rtlCol="0">
            <a:spAutoFit/>
          </a:bodyPr>
          <a:lstStyle/>
          <a:p>
            <a:pPr algn="ctr"/>
            <a:r>
              <a:rPr lang="en-US" sz="1200" b="1" dirty="0">
                <a:solidFill>
                  <a:schemeClr val="accent6"/>
                </a:solidFill>
              </a:rPr>
              <a:t>2</a:t>
            </a:r>
          </a:p>
        </p:txBody>
      </p:sp>
      <p:sp>
        <p:nvSpPr>
          <p:cNvPr id="221" name="TextBox 220"/>
          <p:cNvSpPr txBox="1"/>
          <p:nvPr/>
        </p:nvSpPr>
        <p:spPr>
          <a:xfrm>
            <a:off x="4874673" y="3434242"/>
            <a:ext cx="263214" cy="276999"/>
          </a:xfrm>
          <a:prstGeom prst="rect">
            <a:avLst/>
          </a:prstGeom>
          <a:noFill/>
        </p:spPr>
        <p:txBody>
          <a:bodyPr wrap="none" rtlCol="0">
            <a:spAutoFit/>
          </a:bodyPr>
          <a:lstStyle/>
          <a:p>
            <a:pPr algn="ctr"/>
            <a:r>
              <a:rPr lang="en-US" sz="1200" b="1" dirty="0">
                <a:solidFill>
                  <a:schemeClr val="accent5"/>
                </a:solidFill>
              </a:rPr>
              <a:t>1</a:t>
            </a:r>
          </a:p>
        </p:txBody>
      </p:sp>
      <p:sp>
        <p:nvSpPr>
          <p:cNvPr id="222" name="TextBox 221"/>
          <p:cNvSpPr txBox="1"/>
          <p:nvPr/>
        </p:nvSpPr>
        <p:spPr>
          <a:xfrm>
            <a:off x="5785810" y="3434242"/>
            <a:ext cx="263214" cy="276999"/>
          </a:xfrm>
          <a:prstGeom prst="rect">
            <a:avLst/>
          </a:prstGeom>
          <a:noFill/>
        </p:spPr>
        <p:txBody>
          <a:bodyPr wrap="none" rtlCol="0">
            <a:spAutoFit/>
          </a:bodyPr>
          <a:lstStyle/>
          <a:p>
            <a:pPr algn="ctr"/>
            <a:r>
              <a:rPr lang="en-US" sz="1200" b="1" dirty="0">
                <a:solidFill>
                  <a:schemeClr val="accent6"/>
                </a:solidFill>
              </a:rPr>
              <a:t>3</a:t>
            </a:r>
          </a:p>
        </p:txBody>
      </p:sp>
      <p:sp>
        <p:nvSpPr>
          <p:cNvPr id="223" name="TextBox 222"/>
          <p:cNvSpPr txBox="1"/>
          <p:nvPr/>
        </p:nvSpPr>
        <p:spPr>
          <a:xfrm>
            <a:off x="7156546" y="3434242"/>
            <a:ext cx="263214" cy="276999"/>
          </a:xfrm>
          <a:prstGeom prst="rect">
            <a:avLst/>
          </a:prstGeom>
          <a:noFill/>
        </p:spPr>
        <p:txBody>
          <a:bodyPr wrap="none" rtlCol="0">
            <a:spAutoFit/>
          </a:bodyPr>
          <a:lstStyle/>
          <a:p>
            <a:pPr algn="ctr"/>
            <a:r>
              <a:rPr lang="en-US" sz="1200" b="1" dirty="0">
                <a:solidFill>
                  <a:schemeClr val="accent5"/>
                </a:solidFill>
              </a:rPr>
              <a:t>3</a:t>
            </a:r>
          </a:p>
        </p:txBody>
      </p:sp>
      <p:sp>
        <p:nvSpPr>
          <p:cNvPr id="224" name="TextBox 223"/>
          <p:cNvSpPr txBox="1"/>
          <p:nvPr/>
        </p:nvSpPr>
        <p:spPr>
          <a:xfrm>
            <a:off x="8067683" y="3434242"/>
            <a:ext cx="263214" cy="276999"/>
          </a:xfrm>
          <a:prstGeom prst="rect">
            <a:avLst/>
          </a:prstGeom>
          <a:noFill/>
        </p:spPr>
        <p:txBody>
          <a:bodyPr wrap="none" rtlCol="0">
            <a:spAutoFit/>
          </a:bodyPr>
          <a:lstStyle/>
          <a:p>
            <a:pPr algn="ctr"/>
            <a:r>
              <a:rPr lang="en-US" sz="1200" b="1">
                <a:solidFill>
                  <a:schemeClr val="accent6"/>
                </a:solidFill>
              </a:rPr>
              <a:t>1</a:t>
            </a:r>
            <a:endParaRPr lang="en-US" sz="1200" b="1" dirty="0">
              <a:solidFill>
                <a:schemeClr val="accent6"/>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039433319"/>
              </p:ext>
            </p:extLst>
          </p:nvPr>
        </p:nvGraphicFramePr>
        <p:xfrm>
          <a:off x="3160989" y="3927906"/>
          <a:ext cx="2743200" cy="822960"/>
        </p:xfrm>
        <a:graphic>
          <a:graphicData uri="http://schemas.openxmlformats.org/drawingml/2006/table">
            <a:tbl>
              <a:tblPr firstRow="1" bandRow="1">
                <a:tableStyleId>{2D5ABB26-0587-4C30-8999-92F81FD0307C}</a:tableStyleId>
              </a:tblPr>
              <a:tblGrid>
                <a:gridCol w="548640">
                  <a:extLst>
                    <a:ext uri="{9D8B030D-6E8A-4147-A177-3AD203B41FA5}">
                      <a16:colId xmlns:a16="http://schemas.microsoft.com/office/drawing/2014/main" val="2055662539"/>
                    </a:ext>
                  </a:extLst>
                </a:gridCol>
                <a:gridCol w="548640">
                  <a:extLst>
                    <a:ext uri="{9D8B030D-6E8A-4147-A177-3AD203B41FA5}">
                      <a16:colId xmlns:a16="http://schemas.microsoft.com/office/drawing/2014/main" val="426047787"/>
                    </a:ext>
                  </a:extLst>
                </a:gridCol>
                <a:gridCol w="548640">
                  <a:extLst>
                    <a:ext uri="{9D8B030D-6E8A-4147-A177-3AD203B41FA5}">
                      <a16:colId xmlns:a16="http://schemas.microsoft.com/office/drawing/2014/main" val="819165338"/>
                    </a:ext>
                  </a:extLst>
                </a:gridCol>
                <a:gridCol w="548640">
                  <a:extLst>
                    <a:ext uri="{9D8B030D-6E8A-4147-A177-3AD203B41FA5}">
                      <a16:colId xmlns:a16="http://schemas.microsoft.com/office/drawing/2014/main" val="3982017553"/>
                    </a:ext>
                  </a:extLst>
                </a:gridCol>
                <a:gridCol w="548640">
                  <a:extLst>
                    <a:ext uri="{9D8B030D-6E8A-4147-A177-3AD203B41FA5}">
                      <a16:colId xmlns:a16="http://schemas.microsoft.com/office/drawing/2014/main" val="3845781596"/>
                    </a:ext>
                  </a:extLst>
                </a:gridCol>
              </a:tblGrid>
              <a:tr h="274320">
                <a:tc>
                  <a:txBody>
                    <a:bodyPr/>
                    <a:lstStyle/>
                    <a:p>
                      <a:pPr algn="ctr"/>
                      <a:r>
                        <a:rPr lang="en-US" sz="1200" dirty="0"/>
                        <a:t>block</a:t>
                      </a:r>
                    </a:p>
                  </a:txBody>
                  <a:tcPr marL="45720" marR="45720" anchor="ctr"/>
                </a:tc>
                <a:tc>
                  <a:txBody>
                    <a:bodyPr/>
                    <a:lstStyle/>
                    <a:p>
                      <a:pPr algn="ctr"/>
                      <a:r>
                        <a:rPr lang="en-US" sz="1200" dirty="0"/>
                        <a:t>0</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1</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2</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3</a:t>
                      </a:r>
                    </a:p>
                  </a:txBody>
                  <a:tcPr marL="45720" marR="4572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59189"/>
                  </a:ext>
                </a:extLst>
              </a:tr>
              <a:tr h="274320">
                <a:tc>
                  <a:txBody>
                    <a:bodyPr/>
                    <a:lstStyle/>
                    <a:p>
                      <a:pPr algn="ctr"/>
                      <a:r>
                        <a:rPr lang="en-US" sz="1200" dirty="0"/>
                        <a:t># </a:t>
                      </a:r>
                      <a:r>
                        <a:rPr lang="en-US" sz="1200" b="1" dirty="0">
                          <a:solidFill>
                            <a:schemeClr val="accent5"/>
                          </a:solidFill>
                        </a:rPr>
                        <a:t>zeros</a:t>
                      </a: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261322153"/>
                  </a:ext>
                </a:extLst>
              </a:tr>
              <a:tr h="274320">
                <a:tc>
                  <a:txBody>
                    <a:bodyPr/>
                    <a:lstStyle/>
                    <a:p>
                      <a:pPr algn="ctr"/>
                      <a:r>
                        <a:rPr lang="en-US" sz="1200" dirty="0"/>
                        <a:t># </a:t>
                      </a:r>
                      <a:r>
                        <a:rPr lang="en-US" sz="1200" b="1" dirty="0">
                          <a:solidFill>
                            <a:schemeClr val="accent6"/>
                          </a:solidFill>
                        </a:rPr>
                        <a:t>ones</a:t>
                      </a: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56749794"/>
                  </a:ext>
                </a:extLst>
              </a:tr>
            </a:tbl>
          </a:graphicData>
        </a:graphic>
      </p:graphicFrame>
      <p:grpSp>
        <p:nvGrpSpPr>
          <p:cNvPr id="2" name="Group 1"/>
          <p:cNvGrpSpPr/>
          <p:nvPr/>
        </p:nvGrpSpPr>
        <p:grpSpPr>
          <a:xfrm>
            <a:off x="1622383" y="3652123"/>
            <a:ext cx="6576907" cy="914400"/>
            <a:chOff x="1622383" y="4036323"/>
            <a:chExt cx="6576907" cy="914400"/>
          </a:xfrm>
        </p:grpSpPr>
        <p:grpSp>
          <p:nvGrpSpPr>
            <p:cNvPr id="19" name="Group 18"/>
            <p:cNvGrpSpPr/>
            <p:nvPr/>
          </p:nvGrpSpPr>
          <p:grpSpPr>
            <a:xfrm>
              <a:off x="1622383" y="4036324"/>
              <a:ext cx="5665770" cy="640080"/>
              <a:chOff x="1622383" y="4036325"/>
              <a:chExt cx="5665770" cy="594361"/>
            </a:xfrm>
          </p:grpSpPr>
          <p:cxnSp>
            <p:nvCxnSpPr>
              <p:cNvPr id="7" name="Straight Arrow Connector 6"/>
              <p:cNvCxnSpPr/>
              <p:nvPr/>
            </p:nvCxnSpPr>
            <p:spPr>
              <a:xfrm>
                <a:off x="1622383" y="4036326"/>
                <a:ext cx="2276375" cy="59436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136" name="Straight Arrow Connector 135"/>
              <p:cNvCxnSpPr/>
              <p:nvPr/>
            </p:nvCxnSpPr>
            <p:spPr>
              <a:xfrm>
                <a:off x="3405296" y="4036325"/>
                <a:ext cx="1084913" cy="59436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192" name="Straight Arrow Connector 191"/>
              <p:cNvCxnSpPr/>
              <p:nvPr/>
            </p:nvCxnSpPr>
            <p:spPr>
              <a:xfrm>
                <a:off x="5006280" y="4036325"/>
                <a:ext cx="69229" cy="59436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225" name="Straight Arrow Connector 224"/>
              <p:cNvCxnSpPr/>
              <p:nvPr/>
            </p:nvCxnSpPr>
            <p:spPr>
              <a:xfrm flipH="1">
                <a:off x="5653958" y="4036325"/>
                <a:ext cx="1634195" cy="59436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grpSp>
        <p:grpSp>
          <p:nvGrpSpPr>
            <p:cNvPr id="226" name="Group 225"/>
            <p:cNvGrpSpPr/>
            <p:nvPr/>
          </p:nvGrpSpPr>
          <p:grpSpPr>
            <a:xfrm>
              <a:off x="2494106" y="4036323"/>
              <a:ext cx="5705184" cy="914400"/>
              <a:chOff x="2482546" y="3763258"/>
              <a:chExt cx="5705184" cy="867428"/>
            </a:xfrm>
          </p:grpSpPr>
          <p:cxnSp>
            <p:nvCxnSpPr>
              <p:cNvPr id="227" name="Straight Arrow Connector 226"/>
              <p:cNvCxnSpPr>
                <a:stCxn id="218" idx="2"/>
              </p:cNvCxnSpPr>
              <p:nvPr/>
            </p:nvCxnSpPr>
            <p:spPr>
              <a:xfrm>
                <a:off x="2482546" y="3763258"/>
                <a:ext cx="1416212" cy="86742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28" name="Straight Arrow Connector 227"/>
              <p:cNvCxnSpPr>
                <a:stCxn id="220" idx="2"/>
              </p:cNvCxnSpPr>
              <p:nvPr/>
            </p:nvCxnSpPr>
            <p:spPr>
              <a:xfrm>
                <a:off x="4304873" y="3763258"/>
                <a:ext cx="185336" cy="86742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29" name="Straight Arrow Connector 228"/>
              <p:cNvCxnSpPr>
                <a:stCxn id="222" idx="2"/>
              </p:cNvCxnSpPr>
              <p:nvPr/>
            </p:nvCxnSpPr>
            <p:spPr>
              <a:xfrm flipH="1">
                <a:off x="5075509" y="3763258"/>
                <a:ext cx="830348" cy="86742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30" name="Straight Arrow Connector 229"/>
              <p:cNvCxnSpPr>
                <a:stCxn id="224" idx="2"/>
              </p:cNvCxnSpPr>
              <p:nvPr/>
            </p:nvCxnSpPr>
            <p:spPr>
              <a:xfrm flipH="1">
                <a:off x="5653959" y="3763258"/>
                <a:ext cx="2533771" cy="86742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grpSp>
      </p:grpSp>
    </p:spTree>
    <p:extLst>
      <p:ext uri="{BB962C8B-B14F-4D97-AF65-F5344CB8AC3E}">
        <p14:creationId xmlns:p14="http://schemas.microsoft.com/office/powerpoint/2010/main" val="4166937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6" name="Straight Connector 75"/>
          <p:cNvCxnSpPr/>
          <p:nvPr/>
        </p:nvCxnSpPr>
        <p:spPr>
          <a:xfrm>
            <a:off x="2951831"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a:off x="4776427"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a:off x="6601023"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2" name="Text Placeholder 1"/>
          <p:cNvSpPr>
            <a:spLocks noGrp="1"/>
          </p:cNvSpPr>
          <p:nvPr>
            <p:ph type="body" idx="10"/>
          </p:nvPr>
        </p:nvSpPr>
        <p:spPr/>
        <p:txBody>
          <a:bodyPr/>
          <a:lstStyle/>
          <a:p>
            <a:r>
              <a:rPr lang="en-US" dirty="0"/>
              <a:t>Optimizing Memory Coalescing</a:t>
            </a:r>
          </a:p>
        </p:txBody>
      </p:sp>
      <p:grpSp>
        <p:nvGrpSpPr>
          <p:cNvPr id="173" name="Group 172"/>
          <p:cNvGrpSpPr/>
          <p:nvPr/>
        </p:nvGrpSpPr>
        <p:grpSpPr>
          <a:xfrm>
            <a:off x="2994823" y="1123609"/>
            <a:ext cx="1738603" cy="822960"/>
            <a:chOff x="2667000" y="1752600"/>
            <a:chExt cx="889511" cy="838200"/>
          </a:xfrm>
        </p:grpSpPr>
        <p:sp>
          <p:nvSpPr>
            <p:cNvPr id="174" name="Rectangle 17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5" name="Freeform 17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6" name="Freeform 17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7" name="Freeform 17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8" name="Freeform 17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79" name="Group 178"/>
          <p:cNvGrpSpPr/>
          <p:nvPr/>
        </p:nvGrpSpPr>
        <p:grpSpPr>
          <a:xfrm>
            <a:off x="4819769" y="1123609"/>
            <a:ext cx="1738603" cy="822960"/>
            <a:chOff x="2667000" y="1752600"/>
            <a:chExt cx="889511" cy="838200"/>
          </a:xfrm>
        </p:grpSpPr>
        <p:sp>
          <p:nvSpPr>
            <p:cNvPr id="180" name="Rectangle 179"/>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1" name="Freeform 180"/>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2" name="Freeform 181"/>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3" name="Freeform 182"/>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4" name="Freeform 183"/>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85" name="Group 184"/>
          <p:cNvGrpSpPr/>
          <p:nvPr/>
        </p:nvGrpSpPr>
        <p:grpSpPr>
          <a:xfrm>
            <a:off x="6644716" y="1123609"/>
            <a:ext cx="1738603" cy="822960"/>
            <a:chOff x="2667000" y="1752600"/>
            <a:chExt cx="889511" cy="838200"/>
          </a:xfrm>
        </p:grpSpPr>
        <p:sp>
          <p:nvSpPr>
            <p:cNvPr id="186" name="Rectangle 18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7" name="Freeform 18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8" name="Freeform 18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9" name="Freeform 18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90" name="Freeform 18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191" name="TextBox 190"/>
          <p:cNvSpPr txBox="1"/>
          <p:nvPr/>
        </p:nvSpPr>
        <p:spPr>
          <a:xfrm>
            <a:off x="-50026" y="5748436"/>
            <a:ext cx="9297033" cy="707886"/>
          </a:xfrm>
          <a:prstGeom prst="rect">
            <a:avLst/>
          </a:prstGeom>
          <a:noFill/>
        </p:spPr>
        <p:txBody>
          <a:bodyPr wrap="none" rtlCol="0">
            <a:spAutoFit/>
          </a:bodyPr>
          <a:lstStyle/>
          <a:p>
            <a:pPr algn="ctr"/>
            <a:endParaRPr lang="en-US" sz="1600" dirty="0"/>
          </a:p>
          <a:p>
            <a:pPr algn="ctr"/>
            <a:endParaRPr lang="en-US" sz="800" dirty="0"/>
          </a:p>
          <a:p>
            <a:pPr algn="ctr"/>
            <a:r>
              <a:rPr lang="en-US" sz="1600" b="1" u="sng" dirty="0"/>
              <a:t>Optimization:</a:t>
            </a:r>
            <a:r>
              <a:rPr lang="en-US" sz="1600" dirty="0"/>
              <a:t> Sort locally in shared memory, then write each bucket to global memory in a coalesced manner</a:t>
            </a:r>
          </a:p>
        </p:txBody>
      </p:sp>
      <p:grpSp>
        <p:nvGrpSpPr>
          <p:cNvPr id="167" name="Group 166"/>
          <p:cNvGrpSpPr/>
          <p:nvPr/>
        </p:nvGrpSpPr>
        <p:grpSpPr>
          <a:xfrm>
            <a:off x="1169877" y="1123609"/>
            <a:ext cx="1738603" cy="822960"/>
            <a:chOff x="2667000" y="1752600"/>
            <a:chExt cx="889511" cy="838200"/>
          </a:xfrm>
        </p:grpSpPr>
        <p:sp>
          <p:nvSpPr>
            <p:cNvPr id="168" name="Rectangle 16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69" name="Freeform 16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0" name="Freeform 16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1" name="Freeform 17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2" name="Freeform 17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3" name="Group 2"/>
          <p:cNvGrpSpPr/>
          <p:nvPr/>
        </p:nvGrpSpPr>
        <p:grpSpPr>
          <a:xfrm>
            <a:off x="1127235" y="2052151"/>
            <a:ext cx="7299435" cy="457200"/>
            <a:chOff x="1127235" y="2436351"/>
            <a:chExt cx="7299435" cy="457200"/>
          </a:xfrm>
        </p:grpSpPr>
        <p:sp>
          <p:nvSpPr>
            <p:cNvPr id="114" name="Rectangle 113"/>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15" name="Rectangle 114"/>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16" name="Rectangle 115"/>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17" name="Rectangle 116"/>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18" name="Rectangle 117"/>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9" name="Rectangle 118"/>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23" name="Rectangle 122"/>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24" name="Rectangle 123"/>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5" name="Rectangle 124"/>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6" name="Rectangle 125"/>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7" name="Rectangle 126"/>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128" name="Rectangle 127"/>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110" name="Rectangle 109"/>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11" name="Rectangle 110"/>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12" name="Rectangle 111"/>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13" name="Rectangle 112"/>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grpSp>
        <p:nvGrpSpPr>
          <p:cNvPr id="101" name="Group 100"/>
          <p:cNvGrpSpPr/>
          <p:nvPr/>
        </p:nvGrpSpPr>
        <p:grpSpPr>
          <a:xfrm>
            <a:off x="1127235" y="2872475"/>
            <a:ext cx="7299435" cy="457200"/>
            <a:chOff x="1127235" y="2436351"/>
            <a:chExt cx="7299435" cy="457200"/>
          </a:xfrm>
        </p:grpSpPr>
        <p:sp>
          <p:nvSpPr>
            <p:cNvPr id="102" name="Rectangle 101"/>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endParaRPr lang="en-US" sz="1600" b="1" dirty="0">
                <a:solidFill>
                  <a:schemeClr val="accent6"/>
                </a:solidFill>
              </a:endParaRPr>
            </a:p>
          </p:txBody>
        </p:sp>
        <p:sp>
          <p:nvSpPr>
            <p:cNvPr id="103" name="Rectangle 102"/>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04" name="Rectangle 103"/>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05" name="Rectangle 104"/>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endParaRPr lang="en-US" sz="1600" b="1" dirty="0">
                <a:solidFill>
                  <a:schemeClr val="accent5"/>
                </a:solidFill>
              </a:endParaRPr>
            </a:p>
          </p:txBody>
        </p:sp>
        <p:sp>
          <p:nvSpPr>
            <p:cNvPr id="106" name="Rectangle 105"/>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07" name="Rectangle 106"/>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endParaRPr lang="en-US" sz="1600" b="1" dirty="0">
                <a:solidFill>
                  <a:schemeClr val="accent5"/>
                </a:solidFill>
              </a:endParaRPr>
            </a:p>
          </p:txBody>
        </p:sp>
        <p:sp>
          <p:nvSpPr>
            <p:cNvPr id="108" name="Rectangle 107"/>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09" name="Rectangle 108"/>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0" name="Rectangle 119"/>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1" name="Rectangle 120"/>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2" name="Rectangle 121"/>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endParaRPr lang="en-US" sz="1600" b="1" dirty="0">
                <a:solidFill>
                  <a:schemeClr val="accent6"/>
                </a:solidFill>
              </a:endParaRPr>
            </a:p>
          </p:txBody>
        </p:sp>
        <p:sp>
          <p:nvSpPr>
            <p:cNvPr id="129" name="Rectangle 128"/>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endParaRPr lang="en-US" sz="1600" b="1" dirty="0">
                <a:solidFill>
                  <a:schemeClr val="accent5"/>
                </a:solidFill>
              </a:endParaRPr>
            </a:p>
          </p:txBody>
        </p:sp>
        <p:sp>
          <p:nvSpPr>
            <p:cNvPr id="132" name="Rectangle 131"/>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3" name="Rectangle 132"/>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34" name="Rectangle 133"/>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endParaRPr lang="en-US" sz="1600" b="1" dirty="0">
                <a:solidFill>
                  <a:schemeClr val="accent5"/>
                </a:solidFill>
              </a:endParaRPr>
            </a:p>
          </p:txBody>
        </p:sp>
        <p:sp>
          <p:nvSpPr>
            <p:cNvPr id="135" name="Rectangle 134"/>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cxnSp>
        <p:nvCxnSpPr>
          <p:cNvPr id="193" name="Straight Arrow Connector 192"/>
          <p:cNvCxnSpPr>
            <a:endCxn id="104" idx="0"/>
          </p:cNvCxnSpPr>
          <p:nvPr/>
        </p:nvCxnSpPr>
        <p:spPr>
          <a:xfrm>
            <a:off x="3180431" y="25093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4" name="Straight Arrow Connector 193"/>
          <p:cNvCxnSpPr>
            <a:stCxn id="115" idx="2"/>
            <a:endCxn id="102" idx="0"/>
          </p:cNvCxnSpPr>
          <p:nvPr/>
        </p:nvCxnSpPr>
        <p:spPr>
          <a:xfrm flipH="1">
            <a:off x="318043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p:cNvCxnSpPr>
            <a:stCxn id="116" idx="2"/>
            <a:endCxn id="105" idx="0"/>
          </p:cNvCxnSpPr>
          <p:nvPr/>
        </p:nvCxnSpPr>
        <p:spPr>
          <a:xfrm>
            <a:off x="4092729"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p:cNvCxnSpPr>
            <a:stCxn id="117" idx="2"/>
            <a:endCxn id="103" idx="0"/>
          </p:cNvCxnSpPr>
          <p:nvPr/>
        </p:nvCxnSpPr>
        <p:spPr>
          <a:xfrm flipH="1">
            <a:off x="3636580" y="25093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p:cNvCxnSpPr>
            <a:stCxn id="118" idx="2"/>
            <a:endCxn id="107" idx="0"/>
          </p:cNvCxnSpPr>
          <p:nvPr/>
        </p:nvCxnSpPr>
        <p:spPr>
          <a:xfrm>
            <a:off x="5005027"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p:cNvCxnSpPr>
            <a:stCxn id="119" idx="2"/>
            <a:endCxn id="106" idx="0"/>
          </p:cNvCxnSpPr>
          <p:nvPr/>
        </p:nvCxnSpPr>
        <p:spPr>
          <a:xfrm flipH="1">
            <a:off x="5005027"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9" name="Straight Arrow Connector 198"/>
          <p:cNvCxnSpPr>
            <a:stCxn id="123" idx="2"/>
            <a:endCxn id="108" idx="0"/>
          </p:cNvCxnSpPr>
          <p:nvPr/>
        </p:nvCxnSpPr>
        <p:spPr>
          <a:xfrm>
            <a:off x="5917325"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0" name="Straight Arrow Connector 199"/>
          <p:cNvCxnSpPr>
            <a:stCxn id="124" idx="2"/>
            <a:endCxn id="109" idx="0"/>
          </p:cNvCxnSpPr>
          <p:nvPr/>
        </p:nvCxnSpPr>
        <p:spPr>
          <a:xfrm>
            <a:off x="6373474"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1" name="Straight Arrow Connector 200"/>
          <p:cNvCxnSpPr>
            <a:stCxn id="125" idx="2"/>
            <a:endCxn id="120" idx="0"/>
          </p:cNvCxnSpPr>
          <p:nvPr/>
        </p:nvCxnSpPr>
        <p:spPr>
          <a:xfrm>
            <a:off x="6829623"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2" name="Straight Arrow Connector 201"/>
          <p:cNvCxnSpPr>
            <a:stCxn id="126" idx="2"/>
            <a:endCxn id="121" idx="0"/>
          </p:cNvCxnSpPr>
          <p:nvPr/>
        </p:nvCxnSpPr>
        <p:spPr>
          <a:xfrm>
            <a:off x="7285772"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3" name="Straight Arrow Connector 202"/>
          <p:cNvCxnSpPr>
            <a:stCxn id="127" idx="2"/>
            <a:endCxn id="129" idx="0"/>
          </p:cNvCxnSpPr>
          <p:nvPr/>
        </p:nvCxnSpPr>
        <p:spPr>
          <a:xfrm>
            <a:off x="774192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4" name="Straight Arrow Connector 203"/>
          <p:cNvCxnSpPr>
            <a:stCxn id="128" idx="2"/>
            <a:endCxn id="122" idx="0"/>
          </p:cNvCxnSpPr>
          <p:nvPr/>
        </p:nvCxnSpPr>
        <p:spPr>
          <a:xfrm flipH="1">
            <a:off x="774192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5" name="Straight Arrow Connector 204"/>
          <p:cNvCxnSpPr>
            <a:stCxn id="110" idx="2"/>
            <a:endCxn id="132" idx="0"/>
          </p:cNvCxnSpPr>
          <p:nvPr/>
        </p:nvCxnSpPr>
        <p:spPr>
          <a:xfrm>
            <a:off x="1355835"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6" name="Straight Arrow Connector 205"/>
          <p:cNvCxnSpPr>
            <a:stCxn id="111" idx="2"/>
            <a:endCxn id="134" idx="0"/>
          </p:cNvCxnSpPr>
          <p:nvPr/>
        </p:nvCxnSpPr>
        <p:spPr>
          <a:xfrm>
            <a:off x="1811984"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7" name="Straight Arrow Connector 206"/>
          <p:cNvCxnSpPr>
            <a:stCxn id="112" idx="2"/>
            <a:endCxn id="133" idx="0"/>
          </p:cNvCxnSpPr>
          <p:nvPr/>
        </p:nvCxnSpPr>
        <p:spPr>
          <a:xfrm flipH="1">
            <a:off x="1811984"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8" name="Straight Arrow Connector 207"/>
          <p:cNvCxnSpPr>
            <a:stCxn id="113" idx="2"/>
            <a:endCxn id="135" idx="0"/>
          </p:cNvCxnSpPr>
          <p:nvPr/>
        </p:nvCxnSpPr>
        <p:spPr>
          <a:xfrm>
            <a:off x="2724282"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8" name="Right Brace 77"/>
          <p:cNvSpPr/>
          <p:nvPr/>
        </p:nvSpPr>
        <p:spPr>
          <a:xfrm rot="5400000">
            <a:off x="1529627" y="2970209"/>
            <a:ext cx="107514" cy="897740"/>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1" name="Right Brace 210"/>
          <p:cNvSpPr/>
          <p:nvPr/>
        </p:nvSpPr>
        <p:spPr>
          <a:xfrm rot="5400000">
            <a:off x="2441570" y="2970210"/>
            <a:ext cx="107514" cy="89774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2" name="Right Brace 211"/>
          <p:cNvSpPr/>
          <p:nvPr/>
        </p:nvSpPr>
        <p:spPr>
          <a:xfrm rot="5400000">
            <a:off x="3353172" y="2970210"/>
            <a:ext cx="107514" cy="897740"/>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3" name="Right Brace 212"/>
          <p:cNvSpPr/>
          <p:nvPr/>
        </p:nvSpPr>
        <p:spPr>
          <a:xfrm rot="5400000">
            <a:off x="4265115" y="2970209"/>
            <a:ext cx="107514" cy="89774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4" name="Right Brace 213"/>
          <p:cNvSpPr/>
          <p:nvPr/>
        </p:nvSpPr>
        <p:spPr>
          <a:xfrm rot="5400000">
            <a:off x="4951973" y="3195853"/>
            <a:ext cx="107514" cy="446452"/>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5" name="Right Brace 214"/>
          <p:cNvSpPr/>
          <p:nvPr/>
        </p:nvSpPr>
        <p:spPr>
          <a:xfrm rot="5400000">
            <a:off x="5864094" y="2744740"/>
            <a:ext cx="107514" cy="1348678"/>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6" name="Right Brace 215"/>
          <p:cNvSpPr/>
          <p:nvPr/>
        </p:nvSpPr>
        <p:spPr>
          <a:xfrm rot="5400000">
            <a:off x="7232192" y="2746466"/>
            <a:ext cx="107514" cy="1345226"/>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7" name="Right Brace 216"/>
          <p:cNvSpPr/>
          <p:nvPr/>
        </p:nvSpPr>
        <p:spPr>
          <a:xfrm rot="5400000">
            <a:off x="8144313" y="3194127"/>
            <a:ext cx="107514" cy="449904"/>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9" name="TextBox 78"/>
          <p:cNvSpPr txBox="1"/>
          <p:nvPr/>
        </p:nvSpPr>
        <p:spPr>
          <a:xfrm>
            <a:off x="1451362" y="3434242"/>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218" name="TextBox 217"/>
          <p:cNvSpPr txBox="1"/>
          <p:nvPr/>
        </p:nvSpPr>
        <p:spPr>
          <a:xfrm>
            <a:off x="2362499" y="3434242"/>
            <a:ext cx="263214" cy="276999"/>
          </a:xfrm>
          <a:prstGeom prst="rect">
            <a:avLst/>
          </a:prstGeom>
          <a:noFill/>
        </p:spPr>
        <p:txBody>
          <a:bodyPr wrap="none" rtlCol="0">
            <a:spAutoFit/>
          </a:bodyPr>
          <a:lstStyle/>
          <a:p>
            <a:pPr algn="ctr"/>
            <a:r>
              <a:rPr lang="en-US" sz="1200" b="1" dirty="0">
                <a:solidFill>
                  <a:schemeClr val="accent6"/>
                </a:solidFill>
              </a:rPr>
              <a:t>2</a:t>
            </a:r>
          </a:p>
        </p:txBody>
      </p:sp>
      <p:sp>
        <p:nvSpPr>
          <p:cNvPr id="219" name="TextBox 218"/>
          <p:cNvSpPr txBox="1"/>
          <p:nvPr/>
        </p:nvSpPr>
        <p:spPr>
          <a:xfrm>
            <a:off x="3273689" y="3434242"/>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220" name="TextBox 219"/>
          <p:cNvSpPr txBox="1"/>
          <p:nvPr/>
        </p:nvSpPr>
        <p:spPr>
          <a:xfrm>
            <a:off x="4184826" y="3434242"/>
            <a:ext cx="263214" cy="276999"/>
          </a:xfrm>
          <a:prstGeom prst="rect">
            <a:avLst/>
          </a:prstGeom>
          <a:noFill/>
        </p:spPr>
        <p:txBody>
          <a:bodyPr wrap="none" rtlCol="0">
            <a:spAutoFit/>
          </a:bodyPr>
          <a:lstStyle/>
          <a:p>
            <a:pPr algn="ctr"/>
            <a:r>
              <a:rPr lang="en-US" sz="1200" b="1" dirty="0">
                <a:solidFill>
                  <a:schemeClr val="accent6"/>
                </a:solidFill>
              </a:rPr>
              <a:t>2</a:t>
            </a:r>
          </a:p>
        </p:txBody>
      </p:sp>
      <p:sp>
        <p:nvSpPr>
          <p:cNvPr id="221" name="TextBox 220"/>
          <p:cNvSpPr txBox="1"/>
          <p:nvPr/>
        </p:nvSpPr>
        <p:spPr>
          <a:xfrm>
            <a:off x="4874673" y="3434242"/>
            <a:ext cx="263214" cy="276999"/>
          </a:xfrm>
          <a:prstGeom prst="rect">
            <a:avLst/>
          </a:prstGeom>
          <a:noFill/>
        </p:spPr>
        <p:txBody>
          <a:bodyPr wrap="none" rtlCol="0">
            <a:spAutoFit/>
          </a:bodyPr>
          <a:lstStyle/>
          <a:p>
            <a:pPr algn="ctr"/>
            <a:r>
              <a:rPr lang="en-US" sz="1200" b="1" dirty="0">
                <a:solidFill>
                  <a:schemeClr val="accent5"/>
                </a:solidFill>
              </a:rPr>
              <a:t>1</a:t>
            </a:r>
          </a:p>
        </p:txBody>
      </p:sp>
      <p:sp>
        <p:nvSpPr>
          <p:cNvPr id="222" name="TextBox 221"/>
          <p:cNvSpPr txBox="1"/>
          <p:nvPr/>
        </p:nvSpPr>
        <p:spPr>
          <a:xfrm>
            <a:off x="5785810" y="3434242"/>
            <a:ext cx="263214" cy="276999"/>
          </a:xfrm>
          <a:prstGeom prst="rect">
            <a:avLst/>
          </a:prstGeom>
          <a:noFill/>
        </p:spPr>
        <p:txBody>
          <a:bodyPr wrap="none" rtlCol="0">
            <a:spAutoFit/>
          </a:bodyPr>
          <a:lstStyle/>
          <a:p>
            <a:pPr algn="ctr"/>
            <a:r>
              <a:rPr lang="en-US" sz="1200" b="1" dirty="0">
                <a:solidFill>
                  <a:schemeClr val="accent6"/>
                </a:solidFill>
              </a:rPr>
              <a:t>3</a:t>
            </a:r>
          </a:p>
        </p:txBody>
      </p:sp>
      <p:sp>
        <p:nvSpPr>
          <p:cNvPr id="223" name="TextBox 222"/>
          <p:cNvSpPr txBox="1"/>
          <p:nvPr/>
        </p:nvSpPr>
        <p:spPr>
          <a:xfrm>
            <a:off x="7156546" y="3434242"/>
            <a:ext cx="263214" cy="276999"/>
          </a:xfrm>
          <a:prstGeom prst="rect">
            <a:avLst/>
          </a:prstGeom>
          <a:noFill/>
        </p:spPr>
        <p:txBody>
          <a:bodyPr wrap="none" rtlCol="0">
            <a:spAutoFit/>
          </a:bodyPr>
          <a:lstStyle/>
          <a:p>
            <a:pPr algn="ctr"/>
            <a:r>
              <a:rPr lang="en-US" sz="1200" b="1" dirty="0">
                <a:solidFill>
                  <a:schemeClr val="accent5"/>
                </a:solidFill>
              </a:rPr>
              <a:t>3</a:t>
            </a:r>
          </a:p>
        </p:txBody>
      </p:sp>
      <p:sp>
        <p:nvSpPr>
          <p:cNvPr id="224" name="TextBox 223"/>
          <p:cNvSpPr txBox="1"/>
          <p:nvPr/>
        </p:nvSpPr>
        <p:spPr>
          <a:xfrm>
            <a:off x="8067683" y="3434242"/>
            <a:ext cx="263214" cy="276999"/>
          </a:xfrm>
          <a:prstGeom prst="rect">
            <a:avLst/>
          </a:prstGeom>
          <a:noFill/>
        </p:spPr>
        <p:txBody>
          <a:bodyPr wrap="none" rtlCol="0">
            <a:spAutoFit/>
          </a:bodyPr>
          <a:lstStyle/>
          <a:p>
            <a:pPr algn="ctr"/>
            <a:r>
              <a:rPr lang="en-US" sz="1200" b="1">
                <a:solidFill>
                  <a:schemeClr val="accent6"/>
                </a:solidFill>
              </a:rPr>
              <a:t>1</a:t>
            </a:r>
            <a:endParaRPr lang="en-US" sz="1200" b="1" dirty="0">
              <a:solidFill>
                <a:schemeClr val="accent6"/>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994867396"/>
              </p:ext>
            </p:extLst>
          </p:nvPr>
        </p:nvGraphicFramePr>
        <p:xfrm>
          <a:off x="2581867" y="3878783"/>
          <a:ext cx="4389120" cy="274320"/>
        </p:xfrm>
        <a:graphic>
          <a:graphicData uri="http://schemas.openxmlformats.org/drawingml/2006/table">
            <a:tbl>
              <a:tblPr firstRow="1" bandRow="1">
                <a:tableStyleId>{2D5ABB26-0587-4C30-8999-92F81FD0307C}</a:tableStyleId>
              </a:tblPr>
              <a:tblGrid>
                <a:gridCol w="548640">
                  <a:extLst>
                    <a:ext uri="{9D8B030D-6E8A-4147-A177-3AD203B41FA5}">
                      <a16:colId xmlns:a16="http://schemas.microsoft.com/office/drawing/2014/main" val="426047787"/>
                    </a:ext>
                  </a:extLst>
                </a:gridCol>
                <a:gridCol w="548640">
                  <a:extLst>
                    <a:ext uri="{9D8B030D-6E8A-4147-A177-3AD203B41FA5}">
                      <a16:colId xmlns:a16="http://schemas.microsoft.com/office/drawing/2014/main" val="819165338"/>
                    </a:ext>
                  </a:extLst>
                </a:gridCol>
                <a:gridCol w="548640">
                  <a:extLst>
                    <a:ext uri="{9D8B030D-6E8A-4147-A177-3AD203B41FA5}">
                      <a16:colId xmlns:a16="http://schemas.microsoft.com/office/drawing/2014/main" val="3982017553"/>
                    </a:ext>
                  </a:extLst>
                </a:gridCol>
                <a:gridCol w="548640">
                  <a:extLst>
                    <a:ext uri="{9D8B030D-6E8A-4147-A177-3AD203B41FA5}">
                      <a16:colId xmlns:a16="http://schemas.microsoft.com/office/drawing/2014/main" val="3845781596"/>
                    </a:ext>
                  </a:extLst>
                </a:gridCol>
                <a:gridCol w="548640">
                  <a:extLst>
                    <a:ext uri="{9D8B030D-6E8A-4147-A177-3AD203B41FA5}">
                      <a16:colId xmlns:a16="http://schemas.microsoft.com/office/drawing/2014/main" val="1974693331"/>
                    </a:ext>
                  </a:extLst>
                </a:gridCol>
                <a:gridCol w="548640">
                  <a:extLst>
                    <a:ext uri="{9D8B030D-6E8A-4147-A177-3AD203B41FA5}">
                      <a16:colId xmlns:a16="http://schemas.microsoft.com/office/drawing/2014/main" val="2880118604"/>
                    </a:ext>
                  </a:extLst>
                </a:gridCol>
                <a:gridCol w="548640">
                  <a:extLst>
                    <a:ext uri="{9D8B030D-6E8A-4147-A177-3AD203B41FA5}">
                      <a16:colId xmlns:a16="http://schemas.microsoft.com/office/drawing/2014/main" val="663205027"/>
                    </a:ext>
                  </a:extLst>
                </a:gridCol>
                <a:gridCol w="548640">
                  <a:extLst>
                    <a:ext uri="{9D8B030D-6E8A-4147-A177-3AD203B41FA5}">
                      <a16:colId xmlns:a16="http://schemas.microsoft.com/office/drawing/2014/main" val="1618123743"/>
                    </a:ext>
                  </a:extLst>
                </a:gridCol>
              </a:tblGrid>
              <a:tr h="274320">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61322153"/>
                  </a:ext>
                </a:extLst>
              </a:tr>
            </a:tbl>
          </a:graphicData>
        </a:graphic>
      </p:graphicFrame>
      <p:graphicFrame>
        <p:nvGraphicFramePr>
          <p:cNvPr id="151" name="Table 150"/>
          <p:cNvGraphicFramePr>
            <a:graphicFrameLocks noGrp="1"/>
          </p:cNvGraphicFramePr>
          <p:nvPr>
            <p:extLst>
              <p:ext uri="{D42A27DB-BD31-4B8C-83A1-F6EECF244321}">
                <p14:modId xmlns:p14="http://schemas.microsoft.com/office/powerpoint/2010/main" val="560952492"/>
              </p:ext>
            </p:extLst>
          </p:nvPr>
        </p:nvGraphicFramePr>
        <p:xfrm>
          <a:off x="2581867" y="4538349"/>
          <a:ext cx="4389120" cy="274320"/>
        </p:xfrm>
        <a:graphic>
          <a:graphicData uri="http://schemas.openxmlformats.org/drawingml/2006/table">
            <a:tbl>
              <a:tblPr firstRow="1" bandRow="1">
                <a:tableStyleId>{2D5ABB26-0587-4C30-8999-92F81FD0307C}</a:tableStyleId>
              </a:tblPr>
              <a:tblGrid>
                <a:gridCol w="548640">
                  <a:extLst>
                    <a:ext uri="{9D8B030D-6E8A-4147-A177-3AD203B41FA5}">
                      <a16:colId xmlns:a16="http://schemas.microsoft.com/office/drawing/2014/main" val="426047787"/>
                    </a:ext>
                  </a:extLst>
                </a:gridCol>
                <a:gridCol w="548640">
                  <a:extLst>
                    <a:ext uri="{9D8B030D-6E8A-4147-A177-3AD203B41FA5}">
                      <a16:colId xmlns:a16="http://schemas.microsoft.com/office/drawing/2014/main" val="819165338"/>
                    </a:ext>
                  </a:extLst>
                </a:gridCol>
                <a:gridCol w="548640">
                  <a:extLst>
                    <a:ext uri="{9D8B030D-6E8A-4147-A177-3AD203B41FA5}">
                      <a16:colId xmlns:a16="http://schemas.microsoft.com/office/drawing/2014/main" val="3982017553"/>
                    </a:ext>
                  </a:extLst>
                </a:gridCol>
                <a:gridCol w="548640">
                  <a:extLst>
                    <a:ext uri="{9D8B030D-6E8A-4147-A177-3AD203B41FA5}">
                      <a16:colId xmlns:a16="http://schemas.microsoft.com/office/drawing/2014/main" val="3845781596"/>
                    </a:ext>
                  </a:extLst>
                </a:gridCol>
                <a:gridCol w="548640">
                  <a:extLst>
                    <a:ext uri="{9D8B030D-6E8A-4147-A177-3AD203B41FA5}">
                      <a16:colId xmlns:a16="http://schemas.microsoft.com/office/drawing/2014/main" val="1974693331"/>
                    </a:ext>
                  </a:extLst>
                </a:gridCol>
                <a:gridCol w="548640">
                  <a:extLst>
                    <a:ext uri="{9D8B030D-6E8A-4147-A177-3AD203B41FA5}">
                      <a16:colId xmlns:a16="http://schemas.microsoft.com/office/drawing/2014/main" val="2880118604"/>
                    </a:ext>
                  </a:extLst>
                </a:gridCol>
                <a:gridCol w="548640">
                  <a:extLst>
                    <a:ext uri="{9D8B030D-6E8A-4147-A177-3AD203B41FA5}">
                      <a16:colId xmlns:a16="http://schemas.microsoft.com/office/drawing/2014/main" val="663205027"/>
                    </a:ext>
                  </a:extLst>
                </a:gridCol>
                <a:gridCol w="548640">
                  <a:extLst>
                    <a:ext uri="{9D8B030D-6E8A-4147-A177-3AD203B41FA5}">
                      <a16:colId xmlns:a16="http://schemas.microsoft.com/office/drawing/2014/main" val="1618123743"/>
                    </a:ext>
                  </a:extLst>
                </a:gridCol>
              </a:tblGrid>
              <a:tr h="274320">
                <a:tc>
                  <a:txBody>
                    <a:bodyPr/>
                    <a:lstStyle/>
                    <a:p>
                      <a:pPr algn="ctr"/>
                      <a:r>
                        <a:rPr lang="en-US" sz="1200" dirty="0"/>
                        <a:t>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12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15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61322153"/>
                  </a:ext>
                </a:extLst>
              </a:tr>
            </a:tbl>
          </a:graphicData>
        </a:graphic>
      </p:graphicFrame>
      <p:grpSp>
        <p:nvGrpSpPr>
          <p:cNvPr id="152" name="Group 151"/>
          <p:cNvGrpSpPr/>
          <p:nvPr/>
        </p:nvGrpSpPr>
        <p:grpSpPr>
          <a:xfrm>
            <a:off x="4777299" y="4171250"/>
            <a:ext cx="989374" cy="323981"/>
            <a:chOff x="4777299" y="3826295"/>
            <a:chExt cx="989374" cy="323981"/>
          </a:xfrm>
        </p:grpSpPr>
        <p:cxnSp>
          <p:nvCxnSpPr>
            <p:cNvPr id="153" name="Straight Arrow Connector 152"/>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TextBox 153"/>
            <p:cNvSpPr txBox="1"/>
            <p:nvPr/>
          </p:nvSpPr>
          <p:spPr>
            <a:xfrm>
              <a:off x="4777299" y="3826295"/>
              <a:ext cx="989374" cy="261610"/>
            </a:xfrm>
            <a:prstGeom prst="rect">
              <a:avLst/>
            </a:prstGeom>
            <a:noFill/>
          </p:spPr>
          <p:txBody>
            <a:bodyPr wrap="none" rtlCol="0" anchor="ctr" anchorCtr="0">
              <a:spAutoFit/>
            </a:bodyPr>
            <a:lstStyle/>
            <a:p>
              <a:r>
                <a:rPr lang="en-US" sz="1100" dirty="0"/>
                <a:t>exclusive scan</a:t>
              </a:r>
            </a:p>
          </p:txBody>
        </p:sp>
      </p:grpSp>
    </p:spTree>
    <p:extLst>
      <p:ext uri="{BB962C8B-B14F-4D97-AF65-F5344CB8AC3E}">
        <p14:creationId xmlns:p14="http://schemas.microsoft.com/office/powerpoint/2010/main" val="2556535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par>
                                <p:cTn id="8" presetID="10" presetClass="entr" presetSubtype="0" fill="hold" nodeType="withEffect">
                                  <p:stCondLst>
                                    <p:cond delay="0"/>
                                  </p:stCondLst>
                                  <p:childTnLst>
                                    <p:set>
                                      <p:cBhvr>
                                        <p:cTn id="9" dur="1" fill="hold">
                                          <p:stCondLst>
                                            <p:cond delay="0"/>
                                          </p:stCondLst>
                                        </p:cTn>
                                        <p:tgtEl>
                                          <p:spTgt spid="152"/>
                                        </p:tgtEl>
                                        <p:attrNameLst>
                                          <p:attrName>style.visibility</p:attrName>
                                        </p:attrNameLst>
                                      </p:cBhvr>
                                      <p:to>
                                        <p:strVal val="visible"/>
                                      </p:to>
                                    </p:set>
                                    <p:animEffect transition="in" filter="fade">
                                      <p:cBhvr>
                                        <p:cTn id="10"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2" name="Table 151"/>
          <p:cNvGraphicFramePr>
            <a:graphicFrameLocks noGrp="1"/>
          </p:cNvGraphicFramePr>
          <p:nvPr>
            <p:extLst>
              <p:ext uri="{D42A27DB-BD31-4B8C-83A1-F6EECF244321}">
                <p14:modId xmlns:p14="http://schemas.microsoft.com/office/powerpoint/2010/main" val="123338141"/>
              </p:ext>
            </p:extLst>
          </p:nvPr>
        </p:nvGraphicFramePr>
        <p:xfrm>
          <a:off x="2338029" y="3928306"/>
          <a:ext cx="3566160" cy="822960"/>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2055662539"/>
                    </a:ext>
                  </a:extLst>
                </a:gridCol>
                <a:gridCol w="548640">
                  <a:extLst>
                    <a:ext uri="{9D8B030D-6E8A-4147-A177-3AD203B41FA5}">
                      <a16:colId xmlns:a16="http://schemas.microsoft.com/office/drawing/2014/main" val="426047787"/>
                    </a:ext>
                  </a:extLst>
                </a:gridCol>
                <a:gridCol w="548640">
                  <a:extLst>
                    <a:ext uri="{9D8B030D-6E8A-4147-A177-3AD203B41FA5}">
                      <a16:colId xmlns:a16="http://schemas.microsoft.com/office/drawing/2014/main" val="819165338"/>
                    </a:ext>
                  </a:extLst>
                </a:gridCol>
                <a:gridCol w="548640">
                  <a:extLst>
                    <a:ext uri="{9D8B030D-6E8A-4147-A177-3AD203B41FA5}">
                      <a16:colId xmlns:a16="http://schemas.microsoft.com/office/drawing/2014/main" val="3982017553"/>
                    </a:ext>
                  </a:extLst>
                </a:gridCol>
                <a:gridCol w="548640">
                  <a:extLst>
                    <a:ext uri="{9D8B030D-6E8A-4147-A177-3AD203B41FA5}">
                      <a16:colId xmlns:a16="http://schemas.microsoft.com/office/drawing/2014/main" val="3845781596"/>
                    </a:ext>
                  </a:extLst>
                </a:gridCol>
              </a:tblGrid>
              <a:tr h="274320">
                <a:tc>
                  <a:txBody>
                    <a:bodyPr/>
                    <a:lstStyle/>
                    <a:p>
                      <a:pPr algn="ctr"/>
                      <a:r>
                        <a:rPr lang="en-US" sz="1200" dirty="0"/>
                        <a:t>block</a:t>
                      </a:r>
                    </a:p>
                  </a:txBody>
                  <a:tcPr marL="45720" marR="45720" anchor="ctr"/>
                </a:tc>
                <a:tc>
                  <a:txBody>
                    <a:bodyPr/>
                    <a:lstStyle/>
                    <a:p>
                      <a:pPr algn="ctr"/>
                      <a:r>
                        <a:rPr lang="en-US" sz="1200" dirty="0"/>
                        <a:t>0</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1</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2</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3</a:t>
                      </a:r>
                    </a:p>
                  </a:txBody>
                  <a:tcPr marL="45720" marR="4572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59189"/>
                  </a:ext>
                </a:extLst>
              </a:tr>
              <a:tr h="274320">
                <a:tc>
                  <a:txBody>
                    <a:bodyPr/>
                    <a:lstStyle/>
                    <a:p>
                      <a:pPr algn="ctr"/>
                      <a:r>
                        <a:rPr lang="en-US" sz="1200" dirty="0"/>
                        <a:t>destination of </a:t>
                      </a:r>
                      <a:r>
                        <a:rPr lang="en-US" sz="1200" b="1" dirty="0">
                          <a:solidFill>
                            <a:schemeClr val="accent5"/>
                          </a:solidFill>
                        </a:rPr>
                        <a:t>zeros</a:t>
                      </a: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261322153"/>
                  </a:ext>
                </a:extLst>
              </a:tr>
              <a:tr h="274320">
                <a:tc>
                  <a:txBody>
                    <a:bodyPr/>
                    <a:lstStyle/>
                    <a:p>
                      <a:pPr algn="ctr"/>
                      <a:r>
                        <a:rPr lang="en-US" sz="1200" dirty="0"/>
                        <a:t>destination of </a:t>
                      </a:r>
                      <a:r>
                        <a:rPr lang="en-US" sz="1200" b="1" dirty="0">
                          <a:solidFill>
                            <a:schemeClr val="accent6"/>
                          </a:solidFill>
                        </a:rPr>
                        <a:t>ones</a:t>
                      </a: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12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15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56749794"/>
                  </a:ext>
                </a:extLst>
              </a:tr>
            </a:tbl>
          </a:graphicData>
        </a:graphic>
      </p:graphicFrame>
      <p:cxnSp>
        <p:nvCxnSpPr>
          <p:cNvPr id="76" name="Straight Connector 75"/>
          <p:cNvCxnSpPr/>
          <p:nvPr/>
        </p:nvCxnSpPr>
        <p:spPr>
          <a:xfrm>
            <a:off x="2951831"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a:off x="4776427"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a:off x="6601023"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idx="10"/>
          </p:nvPr>
        </p:nvSpPr>
        <p:spPr/>
        <p:txBody>
          <a:bodyPr/>
          <a:lstStyle/>
          <a:p>
            <a:r>
              <a:rPr lang="en-US" dirty="0"/>
              <a:t>Optimizing Memory Coalescing</a:t>
            </a:r>
          </a:p>
        </p:txBody>
      </p:sp>
      <p:grpSp>
        <p:nvGrpSpPr>
          <p:cNvPr id="173" name="Group 172"/>
          <p:cNvGrpSpPr/>
          <p:nvPr/>
        </p:nvGrpSpPr>
        <p:grpSpPr>
          <a:xfrm>
            <a:off x="2994823" y="1123609"/>
            <a:ext cx="1738603" cy="822960"/>
            <a:chOff x="2667000" y="1752600"/>
            <a:chExt cx="889511" cy="838200"/>
          </a:xfrm>
        </p:grpSpPr>
        <p:sp>
          <p:nvSpPr>
            <p:cNvPr id="174" name="Rectangle 17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5" name="Freeform 17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6" name="Freeform 17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7" name="Freeform 17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8" name="Freeform 17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79" name="Group 178"/>
          <p:cNvGrpSpPr/>
          <p:nvPr/>
        </p:nvGrpSpPr>
        <p:grpSpPr>
          <a:xfrm>
            <a:off x="4819769" y="1123609"/>
            <a:ext cx="1738603" cy="822960"/>
            <a:chOff x="2667000" y="1752600"/>
            <a:chExt cx="889511" cy="838200"/>
          </a:xfrm>
        </p:grpSpPr>
        <p:sp>
          <p:nvSpPr>
            <p:cNvPr id="180" name="Rectangle 179"/>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1" name="Freeform 180"/>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2" name="Freeform 181"/>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3" name="Freeform 182"/>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4" name="Freeform 183"/>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85" name="Group 184"/>
          <p:cNvGrpSpPr/>
          <p:nvPr/>
        </p:nvGrpSpPr>
        <p:grpSpPr>
          <a:xfrm>
            <a:off x="6644716" y="1123609"/>
            <a:ext cx="1738603" cy="822960"/>
            <a:chOff x="2667000" y="1752600"/>
            <a:chExt cx="889511" cy="838200"/>
          </a:xfrm>
        </p:grpSpPr>
        <p:sp>
          <p:nvSpPr>
            <p:cNvPr id="186" name="Rectangle 18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7" name="Freeform 18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8" name="Freeform 18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9" name="Freeform 18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90" name="Freeform 18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191" name="TextBox 190"/>
          <p:cNvSpPr txBox="1"/>
          <p:nvPr/>
        </p:nvSpPr>
        <p:spPr>
          <a:xfrm>
            <a:off x="-50026" y="5748436"/>
            <a:ext cx="9297033" cy="707886"/>
          </a:xfrm>
          <a:prstGeom prst="rect">
            <a:avLst/>
          </a:prstGeom>
          <a:noFill/>
        </p:spPr>
        <p:txBody>
          <a:bodyPr wrap="none" rtlCol="0">
            <a:spAutoFit/>
          </a:bodyPr>
          <a:lstStyle/>
          <a:p>
            <a:pPr algn="ctr"/>
            <a:endParaRPr lang="en-US" sz="1600" dirty="0"/>
          </a:p>
          <a:p>
            <a:pPr algn="ctr"/>
            <a:endParaRPr lang="en-US" sz="800" dirty="0"/>
          </a:p>
          <a:p>
            <a:pPr algn="ctr"/>
            <a:r>
              <a:rPr lang="en-US" sz="1600" b="1" u="sng" dirty="0"/>
              <a:t>Optimization:</a:t>
            </a:r>
            <a:r>
              <a:rPr lang="en-US" sz="1600" dirty="0"/>
              <a:t> Sort locally in shared memory, then write each bucket to global memory in a coalesced manner</a:t>
            </a:r>
          </a:p>
        </p:txBody>
      </p:sp>
      <p:grpSp>
        <p:nvGrpSpPr>
          <p:cNvPr id="167" name="Group 166"/>
          <p:cNvGrpSpPr/>
          <p:nvPr/>
        </p:nvGrpSpPr>
        <p:grpSpPr>
          <a:xfrm>
            <a:off x="1169877" y="1123609"/>
            <a:ext cx="1738603" cy="822960"/>
            <a:chOff x="2667000" y="1752600"/>
            <a:chExt cx="889511" cy="838200"/>
          </a:xfrm>
        </p:grpSpPr>
        <p:sp>
          <p:nvSpPr>
            <p:cNvPr id="168" name="Rectangle 16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69" name="Freeform 16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0" name="Freeform 16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1" name="Freeform 17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2" name="Freeform 17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3" name="Group 2"/>
          <p:cNvGrpSpPr/>
          <p:nvPr/>
        </p:nvGrpSpPr>
        <p:grpSpPr>
          <a:xfrm>
            <a:off x="1127235" y="2052151"/>
            <a:ext cx="7299435" cy="457200"/>
            <a:chOff x="1127235" y="2436351"/>
            <a:chExt cx="7299435" cy="457200"/>
          </a:xfrm>
        </p:grpSpPr>
        <p:sp>
          <p:nvSpPr>
            <p:cNvPr id="114" name="Rectangle 113"/>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15" name="Rectangle 114"/>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16" name="Rectangle 115"/>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17" name="Rectangle 116"/>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18" name="Rectangle 117"/>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9" name="Rectangle 118"/>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23" name="Rectangle 122"/>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24" name="Rectangle 123"/>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5" name="Rectangle 124"/>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6" name="Rectangle 125"/>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7" name="Rectangle 126"/>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128" name="Rectangle 127"/>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110" name="Rectangle 109"/>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11" name="Rectangle 110"/>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12" name="Rectangle 111"/>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13" name="Rectangle 112"/>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grpSp>
        <p:nvGrpSpPr>
          <p:cNvPr id="101" name="Group 100"/>
          <p:cNvGrpSpPr/>
          <p:nvPr/>
        </p:nvGrpSpPr>
        <p:grpSpPr>
          <a:xfrm>
            <a:off x="1127235" y="2872475"/>
            <a:ext cx="7299435" cy="457200"/>
            <a:chOff x="1127235" y="2436351"/>
            <a:chExt cx="7299435" cy="457200"/>
          </a:xfrm>
        </p:grpSpPr>
        <p:sp>
          <p:nvSpPr>
            <p:cNvPr id="102" name="Rectangle 101"/>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endParaRPr lang="en-US" sz="1600" b="1" dirty="0">
                <a:solidFill>
                  <a:schemeClr val="accent6"/>
                </a:solidFill>
              </a:endParaRPr>
            </a:p>
          </p:txBody>
        </p:sp>
        <p:sp>
          <p:nvSpPr>
            <p:cNvPr id="103" name="Rectangle 102"/>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04" name="Rectangle 103"/>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05" name="Rectangle 104"/>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endParaRPr lang="en-US" sz="1600" b="1" dirty="0">
                <a:solidFill>
                  <a:schemeClr val="accent5"/>
                </a:solidFill>
              </a:endParaRPr>
            </a:p>
          </p:txBody>
        </p:sp>
        <p:sp>
          <p:nvSpPr>
            <p:cNvPr id="106" name="Rectangle 105"/>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07" name="Rectangle 106"/>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endParaRPr lang="en-US" sz="1600" b="1" dirty="0">
                <a:solidFill>
                  <a:schemeClr val="accent5"/>
                </a:solidFill>
              </a:endParaRPr>
            </a:p>
          </p:txBody>
        </p:sp>
        <p:sp>
          <p:nvSpPr>
            <p:cNvPr id="108" name="Rectangle 107"/>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09" name="Rectangle 108"/>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0" name="Rectangle 119"/>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1" name="Rectangle 120"/>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2" name="Rectangle 121"/>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endParaRPr lang="en-US" sz="1600" b="1" dirty="0">
                <a:solidFill>
                  <a:schemeClr val="accent6"/>
                </a:solidFill>
              </a:endParaRPr>
            </a:p>
          </p:txBody>
        </p:sp>
        <p:sp>
          <p:nvSpPr>
            <p:cNvPr id="129" name="Rectangle 128"/>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endParaRPr lang="en-US" sz="1600" b="1" dirty="0">
                <a:solidFill>
                  <a:schemeClr val="accent5"/>
                </a:solidFill>
              </a:endParaRPr>
            </a:p>
          </p:txBody>
        </p:sp>
        <p:sp>
          <p:nvSpPr>
            <p:cNvPr id="132" name="Rectangle 131"/>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3" name="Rectangle 132"/>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34" name="Rectangle 133"/>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endParaRPr lang="en-US" sz="1600" b="1" dirty="0">
                <a:solidFill>
                  <a:schemeClr val="accent5"/>
                </a:solidFill>
              </a:endParaRPr>
            </a:p>
          </p:txBody>
        </p:sp>
        <p:sp>
          <p:nvSpPr>
            <p:cNvPr id="135" name="Rectangle 134"/>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cxnSp>
        <p:nvCxnSpPr>
          <p:cNvPr id="193" name="Straight Arrow Connector 192"/>
          <p:cNvCxnSpPr>
            <a:endCxn id="104" idx="0"/>
          </p:cNvCxnSpPr>
          <p:nvPr/>
        </p:nvCxnSpPr>
        <p:spPr>
          <a:xfrm>
            <a:off x="3180431" y="25093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4" name="Straight Arrow Connector 193"/>
          <p:cNvCxnSpPr>
            <a:stCxn id="115" idx="2"/>
            <a:endCxn id="102" idx="0"/>
          </p:cNvCxnSpPr>
          <p:nvPr/>
        </p:nvCxnSpPr>
        <p:spPr>
          <a:xfrm flipH="1">
            <a:off x="318043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p:cNvCxnSpPr>
            <a:stCxn id="116" idx="2"/>
            <a:endCxn id="105" idx="0"/>
          </p:cNvCxnSpPr>
          <p:nvPr/>
        </p:nvCxnSpPr>
        <p:spPr>
          <a:xfrm>
            <a:off x="4092729"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p:cNvCxnSpPr>
            <a:stCxn id="117" idx="2"/>
            <a:endCxn id="103" idx="0"/>
          </p:cNvCxnSpPr>
          <p:nvPr/>
        </p:nvCxnSpPr>
        <p:spPr>
          <a:xfrm flipH="1">
            <a:off x="3636580" y="25093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p:cNvCxnSpPr>
            <a:stCxn id="118" idx="2"/>
            <a:endCxn id="107" idx="0"/>
          </p:cNvCxnSpPr>
          <p:nvPr/>
        </p:nvCxnSpPr>
        <p:spPr>
          <a:xfrm>
            <a:off x="5005027"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p:cNvCxnSpPr>
            <a:stCxn id="119" idx="2"/>
            <a:endCxn id="106" idx="0"/>
          </p:cNvCxnSpPr>
          <p:nvPr/>
        </p:nvCxnSpPr>
        <p:spPr>
          <a:xfrm flipH="1">
            <a:off x="5005027"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9" name="Straight Arrow Connector 198"/>
          <p:cNvCxnSpPr>
            <a:stCxn id="123" idx="2"/>
            <a:endCxn id="108" idx="0"/>
          </p:cNvCxnSpPr>
          <p:nvPr/>
        </p:nvCxnSpPr>
        <p:spPr>
          <a:xfrm>
            <a:off x="5917325"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0" name="Straight Arrow Connector 199"/>
          <p:cNvCxnSpPr>
            <a:stCxn id="124" idx="2"/>
            <a:endCxn id="109" idx="0"/>
          </p:cNvCxnSpPr>
          <p:nvPr/>
        </p:nvCxnSpPr>
        <p:spPr>
          <a:xfrm>
            <a:off x="6373474"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1" name="Straight Arrow Connector 200"/>
          <p:cNvCxnSpPr>
            <a:stCxn id="125" idx="2"/>
            <a:endCxn id="120" idx="0"/>
          </p:cNvCxnSpPr>
          <p:nvPr/>
        </p:nvCxnSpPr>
        <p:spPr>
          <a:xfrm>
            <a:off x="6829623"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2" name="Straight Arrow Connector 201"/>
          <p:cNvCxnSpPr>
            <a:stCxn id="126" idx="2"/>
            <a:endCxn id="121" idx="0"/>
          </p:cNvCxnSpPr>
          <p:nvPr/>
        </p:nvCxnSpPr>
        <p:spPr>
          <a:xfrm>
            <a:off x="7285772"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3" name="Straight Arrow Connector 202"/>
          <p:cNvCxnSpPr>
            <a:stCxn id="127" idx="2"/>
            <a:endCxn id="129" idx="0"/>
          </p:cNvCxnSpPr>
          <p:nvPr/>
        </p:nvCxnSpPr>
        <p:spPr>
          <a:xfrm>
            <a:off x="774192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4" name="Straight Arrow Connector 203"/>
          <p:cNvCxnSpPr>
            <a:stCxn id="128" idx="2"/>
            <a:endCxn id="122" idx="0"/>
          </p:cNvCxnSpPr>
          <p:nvPr/>
        </p:nvCxnSpPr>
        <p:spPr>
          <a:xfrm flipH="1">
            <a:off x="774192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5" name="Straight Arrow Connector 204"/>
          <p:cNvCxnSpPr>
            <a:stCxn id="110" idx="2"/>
            <a:endCxn id="132" idx="0"/>
          </p:cNvCxnSpPr>
          <p:nvPr/>
        </p:nvCxnSpPr>
        <p:spPr>
          <a:xfrm>
            <a:off x="1355835"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6" name="Straight Arrow Connector 205"/>
          <p:cNvCxnSpPr>
            <a:stCxn id="111" idx="2"/>
            <a:endCxn id="134" idx="0"/>
          </p:cNvCxnSpPr>
          <p:nvPr/>
        </p:nvCxnSpPr>
        <p:spPr>
          <a:xfrm>
            <a:off x="1811984"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7" name="Straight Arrow Connector 206"/>
          <p:cNvCxnSpPr>
            <a:stCxn id="112" idx="2"/>
            <a:endCxn id="133" idx="0"/>
          </p:cNvCxnSpPr>
          <p:nvPr/>
        </p:nvCxnSpPr>
        <p:spPr>
          <a:xfrm flipH="1">
            <a:off x="1811984"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8" name="Straight Arrow Connector 207"/>
          <p:cNvCxnSpPr>
            <a:stCxn id="113" idx="2"/>
            <a:endCxn id="135" idx="0"/>
          </p:cNvCxnSpPr>
          <p:nvPr/>
        </p:nvCxnSpPr>
        <p:spPr>
          <a:xfrm>
            <a:off x="2724282"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5" name="Group 4"/>
          <p:cNvGrpSpPr/>
          <p:nvPr/>
        </p:nvGrpSpPr>
        <p:grpSpPr>
          <a:xfrm>
            <a:off x="1134514" y="3365322"/>
            <a:ext cx="7288508" cy="345919"/>
            <a:chOff x="1134514" y="3749522"/>
            <a:chExt cx="7288508" cy="345919"/>
          </a:xfrm>
        </p:grpSpPr>
        <p:sp>
          <p:nvSpPr>
            <p:cNvPr id="78" name="Right Brace 77"/>
            <p:cNvSpPr/>
            <p:nvPr/>
          </p:nvSpPr>
          <p:spPr>
            <a:xfrm rot="5400000">
              <a:off x="1529627" y="3354409"/>
              <a:ext cx="107514" cy="897740"/>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1" name="Right Brace 210"/>
            <p:cNvSpPr/>
            <p:nvPr/>
          </p:nvSpPr>
          <p:spPr>
            <a:xfrm rot="5400000">
              <a:off x="2441570" y="3354410"/>
              <a:ext cx="107514" cy="89774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2" name="Right Brace 211"/>
            <p:cNvSpPr/>
            <p:nvPr/>
          </p:nvSpPr>
          <p:spPr>
            <a:xfrm rot="5400000">
              <a:off x="3353172" y="3354410"/>
              <a:ext cx="107514" cy="897740"/>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3" name="Right Brace 212"/>
            <p:cNvSpPr/>
            <p:nvPr/>
          </p:nvSpPr>
          <p:spPr>
            <a:xfrm rot="5400000">
              <a:off x="4265115" y="3354409"/>
              <a:ext cx="107514" cy="89774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4" name="Right Brace 213"/>
            <p:cNvSpPr/>
            <p:nvPr/>
          </p:nvSpPr>
          <p:spPr>
            <a:xfrm rot="5400000">
              <a:off x="4951973" y="3580053"/>
              <a:ext cx="107514" cy="446452"/>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5" name="Right Brace 214"/>
            <p:cNvSpPr/>
            <p:nvPr/>
          </p:nvSpPr>
          <p:spPr>
            <a:xfrm rot="5400000">
              <a:off x="5864094" y="3128940"/>
              <a:ext cx="107514" cy="1348678"/>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6" name="Right Brace 215"/>
            <p:cNvSpPr/>
            <p:nvPr/>
          </p:nvSpPr>
          <p:spPr>
            <a:xfrm rot="5400000">
              <a:off x="7232192" y="3130666"/>
              <a:ext cx="107514" cy="1345226"/>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7" name="Right Brace 216"/>
            <p:cNvSpPr/>
            <p:nvPr/>
          </p:nvSpPr>
          <p:spPr>
            <a:xfrm rot="5400000">
              <a:off x="8144313" y="3578327"/>
              <a:ext cx="107514" cy="449904"/>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9" name="TextBox 78"/>
            <p:cNvSpPr txBox="1"/>
            <p:nvPr/>
          </p:nvSpPr>
          <p:spPr>
            <a:xfrm>
              <a:off x="1451362" y="3818442"/>
              <a:ext cx="263214" cy="276999"/>
            </a:xfrm>
            <a:prstGeom prst="rect">
              <a:avLst/>
            </a:prstGeom>
            <a:noFill/>
          </p:spPr>
          <p:txBody>
            <a:bodyPr wrap="none" rtlCol="0">
              <a:spAutoFit/>
            </a:bodyPr>
            <a:lstStyle/>
            <a:p>
              <a:pPr algn="ctr"/>
              <a:r>
                <a:rPr lang="en-US" sz="1200" b="1" dirty="0">
                  <a:solidFill>
                    <a:schemeClr val="accent5"/>
                  </a:solidFill>
                </a:rPr>
                <a:t>0</a:t>
              </a:r>
            </a:p>
          </p:txBody>
        </p:sp>
        <p:sp>
          <p:nvSpPr>
            <p:cNvPr id="218" name="TextBox 217"/>
            <p:cNvSpPr txBox="1"/>
            <p:nvPr/>
          </p:nvSpPr>
          <p:spPr>
            <a:xfrm>
              <a:off x="2362499" y="3818442"/>
              <a:ext cx="263214" cy="276999"/>
            </a:xfrm>
            <a:prstGeom prst="rect">
              <a:avLst/>
            </a:prstGeom>
            <a:noFill/>
          </p:spPr>
          <p:txBody>
            <a:bodyPr wrap="none" rtlCol="0">
              <a:spAutoFit/>
            </a:bodyPr>
            <a:lstStyle/>
            <a:p>
              <a:pPr algn="ctr"/>
              <a:r>
                <a:rPr lang="en-US" sz="1200" b="1" dirty="0">
                  <a:solidFill>
                    <a:schemeClr val="accent6"/>
                  </a:solidFill>
                </a:rPr>
                <a:t>8</a:t>
              </a:r>
            </a:p>
          </p:txBody>
        </p:sp>
        <p:sp>
          <p:nvSpPr>
            <p:cNvPr id="219" name="TextBox 218"/>
            <p:cNvSpPr txBox="1"/>
            <p:nvPr/>
          </p:nvSpPr>
          <p:spPr>
            <a:xfrm>
              <a:off x="3273689" y="3818442"/>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220" name="TextBox 219"/>
            <p:cNvSpPr txBox="1"/>
            <p:nvPr/>
          </p:nvSpPr>
          <p:spPr>
            <a:xfrm>
              <a:off x="4145553" y="3818442"/>
              <a:ext cx="341760" cy="276999"/>
            </a:xfrm>
            <a:prstGeom prst="rect">
              <a:avLst/>
            </a:prstGeom>
            <a:noFill/>
          </p:spPr>
          <p:txBody>
            <a:bodyPr wrap="none" rtlCol="0">
              <a:spAutoFit/>
            </a:bodyPr>
            <a:lstStyle/>
            <a:p>
              <a:pPr algn="ctr"/>
              <a:r>
                <a:rPr lang="en-US" sz="1200" b="1" dirty="0">
                  <a:solidFill>
                    <a:schemeClr val="accent6"/>
                  </a:solidFill>
                </a:rPr>
                <a:t>10</a:t>
              </a:r>
            </a:p>
          </p:txBody>
        </p:sp>
        <p:sp>
          <p:nvSpPr>
            <p:cNvPr id="221" name="TextBox 220"/>
            <p:cNvSpPr txBox="1"/>
            <p:nvPr/>
          </p:nvSpPr>
          <p:spPr>
            <a:xfrm>
              <a:off x="4874673" y="3818442"/>
              <a:ext cx="263214" cy="276999"/>
            </a:xfrm>
            <a:prstGeom prst="rect">
              <a:avLst/>
            </a:prstGeom>
            <a:noFill/>
          </p:spPr>
          <p:txBody>
            <a:bodyPr wrap="none" rtlCol="0">
              <a:spAutoFit/>
            </a:bodyPr>
            <a:lstStyle/>
            <a:p>
              <a:pPr algn="ctr"/>
              <a:r>
                <a:rPr lang="en-US" sz="1200" b="1" dirty="0">
                  <a:solidFill>
                    <a:schemeClr val="accent5"/>
                  </a:solidFill>
                </a:rPr>
                <a:t>4</a:t>
              </a:r>
            </a:p>
          </p:txBody>
        </p:sp>
        <p:sp>
          <p:nvSpPr>
            <p:cNvPr id="222" name="TextBox 221"/>
            <p:cNvSpPr txBox="1"/>
            <p:nvPr/>
          </p:nvSpPr>
          <p:spPr>
            <a:xfrm>
              <a:off x="5746537" y="3818442"/>
              <a:ext cx="341760" cy="276999"/>
            </a:xfrm>
            <a:prstGeom prst="rect">
              <a:avLst/>
            </a:prstGeom>
            <a:noFill/>
          </p:spPr>
          <p:txBody>
            <a:bodyPr wrap="none" rtlCol="0">
              <a:spAutoFit/>
            </a:bodyPr>
            <a:lstStyle/>
            <a:p>
              <a:pPr algn="ctr"/>
              <a:r>
                <a:rPr lang="en-US" sz="1200" b="1" dirty="0">
                  <a:solidFill>
                    <a:schemeClr val="accent6"/>
                  </a:solidFill>
                </a:rPr>
                <a:t>12</a:t>
              </a:r>
            </a:p>
          </p:txBody>
        </p:sp>
        <p:sp>
          <p:nvSpPr>
            <p:cNvPr id="223" name="TextBox 222"/>
            <p:cNvSpPr txBox="1"/>
            <p:nvPr/>
          </p:nvSpPr>
          <p:spPr>
            <a:xfrm>
              <a:off x="7156546" y="3818442"/>
              <a:ext cx="263214" cy="276999"/>
            </a:xfrm>
            <a:prstGeom prst="rect">
              <a:avLst/>
            </a:prstGeom>
            <a:noFill/>
          </p:spPr>
          <p:txBody>
            <a:bodyPr wrap="none" rtlCol="0">
              <a:spAutoFit/>
            </a:bodyPr>
            <a:lstStyle/>
            <a:p>
              <a:pPr algn="ctr"/>
              <a:r>
                <a:rPr lang="en-US" sz="1200" b="1" dirty="0">
                  <a:solidFill>
                    <a:schemeClr val="accent5"/>
                  </a:solidFill>
                </a:rPr>
                <a:t>5</a:t>
              </a:r>
            </a:p>
          </p:txBody>
        </p:sp>
        <p:sp>
          <p:nvSpPr>
            <p:cNvPr id="224" name="TextBox 223"/>
            <p:cNvSpPr txBox="1"/>
            <p:nvPr/>
          </p:nvSpPr>
          <p:spPr>
            <a:xfrm>
              <a:off x="8028410" y="3818442"/>
              <a:ext cx="341760" cy="276999"/>
            </a:xfrm>
            <a:prstGeom prst="rect">
              <a:avLst/>
            </a:prstGeom>
            <a:noFill/>
          </p:spPr>
          <p:txBody>
            <a:bodyPr wrap="none" rtlCol="0">
              <a:spAutoFit/>
            </a:bodyPr>
            <a:lstStyle/>
            <a:p>
              <a:pPr algn="ctr"/>
              <a:r>
                <a:rPr lang="en-US" sz="1200" b="1" dirty="0">
                  <a:solidFill>
                    <a:schemeClr val="accent6"/>
                  </a:solidFill>
                </a:rPr>
                <a:t>15</a:t>
              </a:r>
            </a:p>
          </p:txBody>
        </p:sp>
      </p:grpSp>
      <p:grpSp>
        <p:nvGrpSpPr>
          <p:cNvPr id="2" name="Group 1"/>
          <p:cNvGrpSpPr/>
          <p:nvPr/>
        </p:nvGrpSpPr>
        <p:grpSpPr>
          <a:xfrm>
            <a:off x="1622383" y="3652123"/>
            <a:ext cx="6576907" cy="914400"/>
            <a:chOff x="1622383" y="4036323"/>
            <a:chExt cx="6576907" cy="914400"/>
          </a:xfrm>
        </p:grpSpPr>
        <p:grpSp>
          <p:nvGrpSpPr>
            <p:cNvPr id="19" name="Group 18"/>
            <p:cNvGrpSpPr/>
            <p:nvPr/>
          </p:nvGrpSpPr>
          <p:grpSpPr>
            <a:xfrm>
              <a:off x="1622383" y="4036324"/>
              <a:ext cx="5665770" cy="640080"/>
              <a:chOff x="1622383" y="4036325"/>
              <a:chExt cx="5665770" cy="594361"/>
            </a:xfrm>
          </p:grpSpPr>
          <p:cxnSp>
            <p:nvCxnSpPr>
              <p:cNvPr id="7" name="Straight Arrow Connector 6"/>
              <p:cNvCxnSpPr/>
              <p:nvPr/>
            </p:nvCxnSpPr>
            <p:spPr>
              <a:xfrm>
                <a:off x="1622383" y="4036326"/>
                <a:ext cx="2276375" cy="594360"/>
              </a:xfrm>
              <a:prstGeom prst="straightConnector1">
                <a:avLst/>
              </a:prstGeom>
              <a:ln>
                <a:headEnd type="triangl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136" name="Straight Arrow Connector 135"/>
              <p:cNvCxnSpPr/>
              <p:nvPr/>
            </p:nvCxnSpPr>
            <p:spPr>
              <a:xfrm>
                <a:off x="3405296" y="4036325"/>
                <a:ext cx="1084913" cy="594360"/>
              </a:xfrm>
              <a:prstGeom prst="straightConnector1">
                <a:avLst/>
              </a:prstGeom>
              <a:ln>
                <a:headEnd type="triangl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192" name="Straight Arrow Connector 191"/>
              <p:cNvCxnSpPr/>
              <p:nvPr/>
            </p:nvCxnSpPr>
            <p:spPr>
              <a:xfrm>
                <a:off x="5006280" y="4036325"/>
                <a:ext cx="69229" cy="594360"/>
              </a:xfrm>
              <a:prstGeom prst="straightConnector1">
                <a:avLst/>
              </a:prstGeom>
              <a:ln>
                <a:headEnd type="triangl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225" name="Straight Arrow Connector 224"/>
              <p:cNvCxnSpPr/>
              <p:nvPr/>
            </p:nvCxnSpPr>
            <p:spPr>
              <a:xfrm flipH="1">
                <a:off x="5653958" y="4036325"/>
                <a:ext cx="1634195" cy="594360"/>
              </a:xfrm>
              <a:prstGeom prst="straightConnector1">
                <a:avLst/>
              </a:prstGeom>
              <a:ln>
                <a:headEnd type="triangle" w="med" len="med"/>
                <a:tailEnd type="none" w="med" len="med"/>
              </a:ln>
            </p:spPr>
            <p:style>
              <a:lnRef idx="1">
                <a:schemeClr val="accent5"/>
              </a:lnRef>
              <a:fillRef idx="0">
                <a:schemeClr val="accent5"/>
              </a:fillRef>
              <a:effectRef idx="0">
                <a:schemeClr val="accent5"/>
              </a:effectRef>
              <a:fontRef idx="minor">
                <a:schemeClr val="tx1"/>
              </a:fontRef>
            </p:style>
          </p:cxnSp>
        </p:grpSp>
        <p:grpSp>
          <p:nvGrpSpPr>
            <p:cNvPr id="226" name="Group 225"/>
            <p:cNvGrpSpPr/>
            <p:nvPr/>
          </p:nvGrpSpPr>
          <p:grpSpPr>
            <a:xfrm>
              <a:off x="2494106" y="4036323"/>
              <a:ext cx="5705184" cy="914400"/>
              <a:chOff x="2482546" y="3763258"/>
              <a:chExt cx="5705184" cy="867428"/>
            </a:xfrm>
          </p:grpSpPr>
          <p:cxnSp>
            <p:nvCxnSpPr>
              <p:cNvPr id="227" name="Straight Arrow Connector 226"/>
              <p:cNvCxnSpPr>
                <a:stCxn id="218" idx="2"/>
              </p:cNvCxnSpPr>
              <p:nvPr/>
            </p:nvCxnSpPr>
            <p:spPr>
              <a:xfrm>
                <a:off x="2482546" y="3763258"/>
                <a:ext cx="1416212" cy="867428"/>
              </a:xfrm>
              <a:prstGeom prst="straightConnector1">
                <a:avLst/>
              </a:prstGeom>
              <a:ln>
                <a:headEnd type="triangl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228" name="Straight Arrow Connector 227"/>
              <p:cNvCxnSpPr>
                <a:stCxn id="220" idx="2"/>
              </p:cNvCxnSpPr>
              <p:nvPr/>
            </p:nvCxnSpPr>
            <p:spPr>
              <a:xfrm>
                <a:off x="4304873" y="3763258"/>
                <a:ext cx="185336" cy="867427"/>
              </a:xfrm>
              <a:prstGeom prst="straightConnector1">
                <a:avLst/>
              </a:prstGeom>
              <a:ln>
                <a:headEnd type="triangl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229" name="Straight Arrow Connector 228"/>
              <p:cNvCxnSpPr>
                <a:stCxn id="222" idx="2"/>
              </p:cNvCxnSpPr>
              <p:nvPr/>
            </p:nvCxnSpPr>
            <p:spPr>
              <a:xfrm flipH="1">
                <a:off x="5075509" y="3763258"/>
                <a:ext cx="830348" cy="867427"/>
              </a:xfrm>
              <a:prstGeom prst="straightConnector1">
                <a:avLst/>
              </a:prstGeom>
              <a:ln>
                <a:headEnd type="triangl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230" name="Straight Arrow Connector 229"/>
              <p:cNvCxnSpPr>
                <a:stCxn id="224" idx="2"/>
              </p:cNvCxnSpPr>
              <p:nvPr/>
            </p:nvCxnSpPr>
            <p:spPr>
              <a:xfrm flipH="1">
                <a:off x="5653959" y="3763258"/>
                <a:ext cx="2533771" cy="867427"/>
              </a:xfrm>
              <a:prstGeom prst="straightConnector1">
                <a:avLst/>
              </a:prstGeom>
              <a:ln>
                <a:headEnd type="triangle" w="med" len="med"/>
                <a:tailEnd type="none" w="med" len="med"/>
              </a:ln>
            </p:spPr>
            <p:style>
              <a:lnRef idx="1">
                <a:schemeClr val="accent6"/>
              </a:lnRef>
              <a:fillRef idx="0">
                <a:schemeClr val="accent6"/>
              </a:fillRef>
              <a:effectRef idx="0">
                <a:schemeClr val="accent6"/>
              </a:effectRef>
              <a:fontRef idx="minor">
                <a:schemeClr val="tx1"/>
              </a:fontRef>
            </p:style>
          </p:cxnSp>
        </p:grpSp>
      </p:grpSp>
    </p:spTree>
    <p:extLst>
      <p:ext uri="{BB962C8B-B14F-4D97-AF65-F5344CB8AC3E}">
        <p14:creationId xmlns:p14="http://schemas.microsoft.com/office/powerpoint/2010/main" val="3239933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6" name="Straight Connector 75"/>
          <p:cNvCxnSpPr/>
          <p:nvPr/>
        </p:nvCxnSpPr>
        <p:spPr>
          <a:xfrm>
            <a:off x="2951831"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a:off x="4776427"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a:off x="6601023"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idx="10"/>
          </p:nvPr>
        </p:nvSpPr>
        <p:spPr/>
        <p:txBody>
          <a:bodyPr/>
          <a:lstStyle/>
          <a:p>
            <a:r>
              <a:rPr lang="en-US" dirty="0"/>
              <a:t>Optimizing Memory Coalescing</a:t>
            </a:r>
          </a:p>
        </p:txBody>
      </p:sp>
      <p:grpSp>
        <p:nvGrpSpPr>
          <p:cNvPr id="173" name="Group 172"/>
          <p:cNvGrpSpPr/>
          <p:nvPr/>
        </p:nvGrpSpPr>
        <p:grpSpPr>
          <a:xfrm>
            <a:off x="2994823" y="1123609"/>
            <a:ext cx="1738603" cy="822960"/>
            <a:chOff x="2667000" y="1752600"/>
            <a:chExt cx="889511" cy="838200"/>
          </a:xfrm>
        </p:grpSpPr>
        <p:sp>
          <p:nvSpPr>
            <p:cNvPr id="174" name="Rectangle 17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5" name="Freeform 17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6" name="Freeform 17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7" name="Freeform 17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8" name="Freeform 17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79" name="Group 178"/>
          <p:cNvGrpSpPr/>
          <p:nvPr/>
        </p:nvGrpSpPr>
        <p:grpSpPr>
          <a:xfrm>
            <a:off x="4819769" y="1123609"/>
            <a:ext cx="1738603" cy="822960"/>
            <a:chOff x="2667000" y="1752600"/>
            <a:chExt cx="889511" cy="838200"/>
          </a:xfrm>
        </p:grpSpPr>
        <p:sp>
          <p:nvSpPr>
            <p:cNvPr id="180" name="Rectangle 179"/>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1" name="Freeform 180"/>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2" name="Freeform 181"/>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3" name="Freeform 182"/>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4" name="Freeform 183"/>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85" name="Group 184"/>
          <p:cNvGrpSpPr/>
          <p:nvPr/>
        </p:nvGrpSpPr>
        <p:grpSpPr>
          <a:xfrm>
            <a:off x="6644716" y="1123609"/>
            <a:ext cx="1738603" cy="822960"/>
            <a:chOff x="2667000" y="1752600"/>
            <a:chExt cx="889511" cy="838200"/>
          </a:xfrm>
        </p:grpSpPr>
        <p:sp>
          <p:nvSpPr>
            <p:cNvPr id="186" name="Rectangle 18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7" name="Freeform 18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8" name="Freeform 18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9" name="Freeform 18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90" name="Freeform 18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191" name="TextBox 190"/>
          <p:cNvSpPr txBox="1"/>
          <p:nvPr/>
        </p:nvSpPr>
        <p:spPr>
          <a:xfrm>
            <a:off x="-50026" y="5748436"/>
            <a:ext cx="9297033" cy="707886"/>
          </a:xfrm>
          <a:prstGeom prst="rect">
            <a:avLst/>
          </a:prstGeom>
          <a:noFill/>
        </p:spPr>
        <p:txBody>
          <a:bodyPr wrap="none" rtlCol="0">
            <a:spAutoFit/>
          </a:bodyPr>
          <a:lstStyle/>
          <a:p>
            <a:pPr algn="ctr"/>
            <a:endParaRPr lang="en-US" sz="1600" dirty="0"/>
          </a:p>
          <a:p>
            <a:pPr algn="ctr"/>
            <a:endParaRPr lang="en-US" sz="800" dirty="0"/>
          </a:p>
          <a:p>
            <a:pPr algn="ctr"/>
            <a:r>
              <a:rPr lang="en-US" sz="1600" b="1" u="sng" dirty="0"/>
              <a:t>Optimization:</a:t>
            </a:r>
            <a:r>
              <a:rPr lang="en-US" sz="1600" dirty="0"/>
              <a:t> Sort locally in shared memory, then write each bucket to global memory in a coalesced manner</a:t>
            </a:r>
          </a:p>
        </p:txBody>
      </p:sp>
      <p:grpSp>
        <p:nvGrpSpPr>
          <p:cNvPr id="167" name="Group 166"/>
          <p:cNvGrpSpPr/>
          <p:nvPr/>
        </p:nvGrpSpPr>
        <p:grpSpPr>
          <a:xfrm>
            <a:off x="1169877" y="1123609"/>
            <a:ext cx="1738603" cy="822960"/>
            <a:chOff x="2667000" y="1752600"/>
            <a:chExt cx="889511" cy="838200"/>
          </a:xfrm>
        </p:grpSpPr>
        <p:sp>
          <p:nvSpPr>
            <p:cNvPr id="168" name="Rectangle 16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69" name="Freeform 16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0" name="Freeform 16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1" name="Freeform 17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2" name="Freeform 17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3" name="Group 2"/>
          <p:cNvGrpSpPr/>
          <p:nvPr/>
        </p:nvGrpSpPr>
        <p:grpSpPr>
          <a:xfrm>
            <a:off x="1127235" y="2052151"/>
            <a:ext cx="7299435" cy="457200"/>
            <a:chOff x="1127235" y="2436351"/>
            <a:chExt cx="7299435" cy="457200"/>
          </a:xfrm>
        </p:grpSpPr>
        <p:sp>
          <p:nvSpPr>
            <p:cNvPr id="114" name="Rectangle 113"/>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15" name="Rectangle 114"/>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16" name="Rectangle 115"/>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17" name="Rectangle 116"/>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18" name="Rectangle 117"/>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9" name="Rectangle 118"/>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23" name="Rectangle 122"/>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24" name="Rectangle 123"/>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5" name="Rectangle 124"/>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6" name="Rectangle 125"/>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7" name="Rectangle 126"/>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128" name="Rectangle 127"/>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110" name="Rectangle 109"/>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11" name="Rectangle 110"/>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12" name="Rectangle 111"/>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13" name="Rectangle 112"/>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grpSp>
        <p:nvGrpSpPr>
          <p:cNvPr id="5" name="Group 4"/>
          <p:cNvGrpSpPr/>
          <p:nvPr/>
        </p:nvGrpSpPr>
        <p:grpSpPr>
          <a:xfrm>
            <a:off x="1127235" y="5254531"/>
            <a:ext cx="7299435" cy="457200"/>
            <a:chOff x="1127235" y="5638731"/>
            <a:chExt cx="7299435" cy="457200"/>
          </a:xfrm>
        </p:grpSpPr>
        <p:grpSp>
          <p:nvGrpSpPr>
            <p:cNvPr id="12" name="Group 11"/>
            <p:cNvGrpSpPr/>
            <p:nvPr/>
          </p:nvGrpSpPr>
          <p:grpSpPr>
            <a:xfrm>
              <a:off x="2039533" y="5638731"/>
              <a:ext cx="6387137" cy="457200"/>
              <a:chOff x="2039533" y="5638731"/>
              <a:chExt cx="6387137" cy="457200"/>
            </a:xfrm>
          </p:grpSpPr>
          <p:sp>
            <p:nvSpPr>
              <p:cNvPr id="137" name="Rectangle 136"/>
              <p:cNvSpPr>
                <a:spLocks noChangeAspect="1"/>
              </p:cNvSpPr>
              <p:nvPr/>
            </p:nvSpPr>
            <p:spPr>
              <a:xfrm>
                <a:off x="2039533"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38" name="Rectangle 137"/>
              <p:cNvSpPr>
                <a:spLocks noChangeAspect="1"/>
              </p:cNvSpPr>
              <p:nvPr/>
            </p:nvSpPr>
            <p:spPr>
              <a:xfrm>
                <a:off x="2495682"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39" name="Rectangle 138"/>
              <p:cNvSpPr>
                <a:spLocks noChangeAspect="1"/>
              </p:cNvSpPr>
              <p:nvPr/>
            </p:nvSpPr>
            <p:spPr>
              <a:xfrm>
                <a:off x="2951831"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40" name="Rectangle 139"/>
              <p:cNvSpPr>
                <a:spLocks noChangeAspect="1"/>
              </p:cNvSpPr>
              <p:nvPr/>
            </p:nvSpPr>
            <p:spPr>
              <a:xfrm>
                <a:off x="3407980"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41" name="Rectangle 140"/>
              <p:cNvSpPr>
                <a:spLocks noChangeAspect="1"/>
              </p:cNvSpPr>
              <p:nvPr/>
            </p:nvSpPr>
            <p:spPr>
              <a:xfrm>
                <a:off x="3864129"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42" name="Rectangle 141"/>
              <p:cNvSpPr>
                <a:spLocks noChangeAspect="1"/>
              </p:cNvSpPr>
              <p:nvPr/>
            </p:nvSpPr>
            <p:spPr>
              <a:xfrm>
                <a:off x="4320278"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145" name="Rectangle 144"/>
              <p:cNvSpPr>
                <a:spLocks noChangeAspect="1"/>
              </p:cNvSpPr>
              <p:nvPr/>
            </p:nvSpPr>
            <p:spPr>
              <a:xfrm>
                <a:off x="5688725"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46" name="Rectangle 145"/>
              <p:cNvSpPr>
                <a:spLocks noChangeAspect="1"/>
              </p:cNvSpPr>
              <p:nvPr/>
            </p:nvSpPr>
            <p:spPr>
              <a:xfrm>
                <a:off x="6144874"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47" name="Rectangle 146"/>
              <p:cNvSpPr>
                <a:spLocks noChangeAspect="1"/>
              </p:cNvSpPr>
              <p:nvPr/>
            </p:nvSpPr>
            <p:spPr>
              <a:xfrm>
                <a:off x="6601023"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48" name="Rectangle 147"/>
              <p:cNvSpPr>
                <a:spLocks noChangeAspect="1"/>
              </p:cNvSpPr>
              <p:nvPr/>
            </p:nvSpPr>
            <p:spPr>
              <a:xfrm>
                <a:off x="7057172"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49" name="Rectangle 148"/>
              <p:cNvSpPr>
                <a:spLocks noChangeAspect="1"/>
              </p:cNvSpPr>
              <p:nvPr/>
            </p:nvSpPr>
            <p:spPr>
              <a:xfrm>
                <a:off x="7513321"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50" name="Rectangle 149"/>
              <p:cNvSpPr>
                <a:spLocks noChangeAspect="1"/>
              </p:cNvSpPr>
              <p:nvPr/>
            </p:nvSpPr>
            <p:spPr>
              <a:xfrm>
                <a:off x="7969470"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grpSp>
        <p:grpSp>
          <p:nvGrpSpPr>
            <p:cNvPr id="11" name="Group 10"/>
            <p:cNvGrpSpPr/>
            <p:nvPr/>
          </p:nvGrpSpPr>
          <p:grpSpPr>
            <a:xfrm>
              <a:off x="1127235" y="5638731"/>
              <a:ext cx="4562541" cy="457200"/>
              <a:chOff x="1127235" y="5638731"/>
              <a:chExt cx="4562541" cy="457200"/>
            </a:xfrm>
          </p:grpSpPr>
          <p:sp>
            <p:nvSpPr>
              <p:cNvPr id="130" name="Rectangle 129"/>
              <p:cNvSpPr>
                <a:spLocks noChangeAspect="1"/>
              </p:cNvSpPr>
              <p:nvPr/>
            </p:nvSpPr>
            <p:spPr>
              <a:xfrm>
                <a:off x="1127235"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1" name="Rectangle 130"/>
              <p:cNvSpPr>
                <a:spLocks noChangeAspect="1"/>
              </p:cNvSpPr>
              <p:nvPr/>
            </p:nvSpPr>
            <p:spPr>
              <a:xfrm>
                <a:off x="1583384"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43" name="Rectangle 142"/>
              <p:cNvSpPr>
                <a:spLocks noChangeAspect="1"/>
              </p:cNvSpPr>
              <p:nvPr/>
            </p:nvSpPr>
            <p:spPr>
              <a:xfrm>
                <a:off x="4776427"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44" name="Rectangle 143"/>
              <p:cNvSpPr>
                <a:spLocks noChangeAspect="1"/>
              </p:cNvSpPr>
              <p:nvPr/>
            </p:nvSpPr>
            <p:spPr>
              <a:xfrm>
                <a:off x="5232576"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grpSp>
      <p:grpSp>
        <p:nvGrpSpPr>
          <p:cNvPr id="101" name="Group 100"/>
          <p:cNvGrpSpPr/>
          <p:nvPr/>
        </p:nvGrpSpPr>
        <p:grpSpPr>
          <a:xfrm>
            <a:off x="1127235" y="2872475"/>
            <a:ext cx="7299435" cy="457200"/>
            <a:chOff x="1127235" y="2436351"/>
            <a:chExt cx="7299435" cy="457200"/>
          </a:xfrm>
        </p:grpSpPr>
        <p:sp>
          <p:nvSpPr>
            <p:cNvPr id="102" name="Rectangle 101"/>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endParaRPr lang="en-US" sz="1600" b="1" dirty="0">
                <a:solidFill>
                  <a:schemeClr val="accent6"/>
                </a:solidFill>
              </a:endParaRPr>
            </a:p>
          </p:txBody>
        </p:sp>
        <p:sp>
          <p:nvSpPr>
            <p:cNvPr id="103" name="Rectangle 102"/>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04" name="Rectangle 103"/>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05" name="Rectangle 104"/>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endParaRPr lang="en-US" sz="1600" b="1" dirty="0">
                <a:solidFill>
                  <a:schemeClr val="accent5"/>
                </a:solidFill>
              </a:endParaRPr>
            </a:p>
          </p:txBody>
        </p:sp>
        <p:sp>
          <p:nvSpPr>
            <p:cNvPr id="106" name="Rectangle 105"/>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07" name="Rectangle 106"/>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endParaRPr lang="en-US" sz="1600" b="1" dirty="0">
                <a:solidFill>
                  <a:schemeClr val="accent5"/>
                </a:solidFill>
              </a:endParaRPr>
            </a:p>
          </p:txBody>
        </p:sp>
        <p:sp>
          <p:nvSpPr>
            <p:cNvPr id="108" name="Rectangle 107"/>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09" name="Rectangle 108"/>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0" name="Rectangle 119"/>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1" name="Rectangle 120"/>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2" name="Rectangle 121"/>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endParaRPr lang="en-US" sz="1600" b="1" dirty="0">
                <a:solidFill>
                  <a:schemeClr val="accent6"/>
                </a:solidFill>
              </a:endParaRPr>
            </a:p>
          </p:txBody>
        </p:sp>
        <p:sp>
          <p:nvSpPr>
            <p:cNvPr id="129" name="Rectangle 128"/>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endParaRPr lang="en-US" sz="1600" b="1" dirty="0">
                <a:solidFill>
                  <a:schemeClr val="accent5"/>
                </a:solidFill>
              </a:endParaRPr>
            </a:p>
          </p:txBody>
        </p:sp>
        <p:sp>
          <p:nvSpPr>
            <p:cNvPr id="132" name="Rectangle 131"/>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3" name="Rectangle 132"/>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34" name="Rectangle 133"/>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endParaRPr lang="en-US" sz="1600" b="1" dirty="0">
                <a:solidFill>
                  <a:schemeClr val="accent5"/>
                </a:solidFill>
              </a:endParaRPr>
            </a:p>
          </p:txBody>
        </p:sp>
        <p:sp>
          <p:nvSpPr>
            <p:cNvPr id="135" name="Rectangle 134"/>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cxnSp>
        <p:nvCxnSpPr>
          <p:cNvPr id="193" name="Straight Arrow Connector 192"/>
          <p:cNvCxnSpPr>
            <a:endCxn id="104" idx="0"/>
          </p:cNvCxnSpPr>
          <p:nvPr/>
        </p:nvCxnSpPr>
        <p:spPr>
          <a:xfrm>
            <a:off x="3180431" y="25093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4" name="Straight Arrow Connector 193"/>
          <p:cNvCxnSpPr>
            <a:stCxn id="115" idx="2"/>
            <a:endCxn id="102" idx="0"/>
          </p:cNvCxnSpPr>
          <p:nvPr/>
        </p:nvCxnSpPr>
        <p:spPr>
          <a:xfrm flipH="1">
            <a:off x="318043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p:cNvCxnSpPr>
            <a:stCxn id="116" idx="2"/>
            <a:endCxn id="105" idx="0"/>
          </p:cNvCxnSpPr>
          <p:nvPr/>
        </p:nvCxnSpPr>
        <p:spPr>
          <a:xfrm>
            <a:off x="4092729"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p:cNvCxnSpPr>
            <a:stCxn id="117" idx="2"/>
            <a:endCxn id="103" idx="0"/>
          </p:cNvCxnSpPr>
          <p:nvPr/>
        </p:nvCxnSpPr>
        <p:spPr>
          <a:xfrm flipH="1">
            <a:off x="3636580" y="25093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p:cNvCxnSpPr>
            <a:stCxn id="118" idx="2"/>
            <a:endCxn id="107" idx="0"/>
          </p:cNvCxnSpPr>
          <p:nvPr/>
        </p:nvCxnSpPr>
        <p:spPr>
          <a:xfrm>
            <a:off x="5005027"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p:cNvCxnSpPr>
            <a:stCxn id="119" idx="2"/>
            <a:endCxn id="106" idx="0"/>
          </p:cNvCxnSpPr>
          <p:nvPr/>
        </p:nvCxnSpPr>
        <p:spPr>
          <a:xfrm flipH="1">
            <a:off x="5005027"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9" name="Straight Arrow Connector 198"/>
          <p:cNvCxnSpPr>
            <a:stCxn id="123" idx="2"/>
            <a:endCxn id="108" idx="0"/>
          </p:cNvCxnSpPr>
          <p:nvPr/>
        </p:nvCxnSpPr>
        <p:spPr>
          <a:xfrm>
            <a:off x="5917325"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0" name="Straight Arrow Connector 199"/>
          <p:cNvCxnSpPr>
            <a:stCxn id="124" idx="2"/>
            <a:endCxn id="109" idx="0"/>
          </p:cNvCxnSpPr>
          <p:nvPr/>
        </p:nvCxnSpPr>
        <p:spPr>
          <a:xfrm>
            <a:off x="6373474"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1" name="Straight Arrow Connector 200"/>
          <p:cNvCxnSpPr>
            <a:stCxn id="125" idx="2"/>
            <a:endCxn id="120" idx="0"/>
          </p:cNvCxnSpPr>
          <p:nvPr/>
        </p:nvCxnSpPr>
        <p:spPr>
          <a:xfrm>
            <a:off x="6829623"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2" name="Straight Arrow Connector 201"/>
          <p:cNvCxnSpPr>
            <a:stCxn id="126" idx="2"/>
            <a:endCxn id="121" idx="0"/>
          </p:cNvCxnSpPr>
          <p:nvPr/>
        </p:nvCxnSpPr>
        <p:spPr>
          <a:xfrm>
            <a:off x="7285772"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3" name="Straight Arrow Connector 202"/>
          <p:cNvCxnSpPr>
            <a:stCxn id="127" idx="2"/>
            <a:endCxn id="129" idx="0"/>
          </p:cNvCxnSpPr>
          <p:nvPr/>
        </p:nvCxnSpPr>
        <p:spPr>
          <a:xfrm>
            <a:off x="774192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4" name="Straight Arrow Connector 203"/>
          <p:cNvCxnSpPr>
            <a:stCxn id="128" idx="2"/>
            <a:endCxn id="122" idx="0"/>
          </p:cNvCxnSpPr>
          <p:nvPr/>
        </p:nvCxnSpPr>
        <p:spPr>
          <a:xfrm flipH="1">
            <a:off x="774192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5" name="Straight Arrow Connector 204"/>
          <p:cNvCxnSpPr>
            <a:stCxn id="110" idx="2"/>
            <a:endCxn id="132" idx="0"/>
          </p:cNvCxnSpPr>
          <p:nvPr/>
        </p:nvCxnSpPr>
        <p:spPr>
          <a:xfrm>
            <a:off x="1355835"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6" name="Straight Arrow Connector 205"/>
          <p:cNvCxnSpPr>
            <a:stCxn id="111" idx="2"/>
            <a:endCxn id="134" idx="0"/>
          </p:cNvCxnSpPr>
          <p:nvPr/>
        </p:nvCxnSpPr>
        <p:spPr>
          <a:xfrm>
            <a:off x="1811984"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7" name="Straight Arrow Connector 206"/>
          <p:cNvCxnSpPr>
            <a:stCxn id="112" idx="2"/>
            <a:endCxn id="133" idx="0"/>
          </p:cNvCxnSpPr>
          <p:nvPr/>
        </p:nvCxnSpPr>
        <p:spPr>
          <a:xfrm flipH="1">
            <a:off x="1811984"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8" name="Straight Arrow Connector 207"/>
          <p:cNvCxnSpPr>
            <a:stCxn id="113" idx="2"/>
            <a:endCxn id="135" idx="0"/>
          </p:cNvCxnSpPr>
          <p:nvPr/>
        </p:nvCxnSpPr>
        <p:spPr>
          <a:xfrm>
            <a:off x="2724282"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8" name="Right Brace 77"/>
          <p:cNvSpPr/>
          <p:nvPr/>
        </p:nvSpPr>
        <p:spPr>
          <a:xfrm rot="5400000">
            <a:off x="1529627" y="2970209"/>
            <a:ext cx="107514" cy="897740"/>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1" name="Right Brace 210"/>
          <p:cNvSpPr/>
          <p:nvPr/>
        </p:nvSpPr>
        <p:spPr>
          <a:xfrm rot="5400000">
            <a:off x="2441570" y="2970210"/>
            <a:ext cx="107514" cy="89774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2" name="Right Brace 211"/>
          <p:cNvSpPr/>
          <p:nvPr/>
        </p:nvSpPr>
        <p:spPr>
          <a:xfrm rot="5400000">
            <a:off x="3353172" y="2970210"/>
            <a:ext cx="107514" cy="897740"/>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3" name="Right Brace 212"/>
          <p:cNvSpPr/>
          <p:nvPr/>
        </p:nvSpPr>
        <p:spPr>
          <a:xfrm rot="5400000">
            <a:off x="4265115" y="2970209"/>
            <a:ext cx="107514" cy="89774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4" name="Right Brace 213"/>
          <p:cNvSpPr/>
          <p:nvPr/>
        </p:nvSpPr>
        <p:spPr>
          <a:xfrm rot="5400000">
            <a:off x="4951973" y="3195853"/>
            <a:ext cx="107514" cy="446452"/>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5" name="Right Brace 214"/>
          <p:cNvSpPr/>
          <p:nvPr/>
        </p:nvSpPr>
        <p:spPr>
          <a:xfrm rot="5400000">
            <a:off x="5864094" y="2744740"/>
            <a:ext cx="107514" cy="1348678"/>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6" name="Right Brace 215"/>
          <p:cNvSpPr/>
          <p:nvPr/>
        </p:nvSpPr>
        <p:spPr>
          <a:xfrm rot="5400000">
            <a:off x="7232192" y="2746466"/>
            <a:ext cx="107514" cy="1345226"/>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7" name="Right Brace 216"/>
          <p:cNvSpPr/>
          <p:nvPr/>
        </p:nvSpPr>
        <p:spPr>
          <a:xfrm rot="5400000">
            <a:off x="8144313" y="3194127"/>
            <a:ext cx="107514" cy="449904"/>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9" name="TextBox 78"/>
          <p:cNvSpPr txBox="1"/>
          <p:nvPr/>
        </p:nvSpPr>
        <p:spPr>
          <a:xfrm>
            <a:off x="1451362" y="3434242"/>
            <a:ext cx="263214" cy="276999"/>
          </a:xfrm>
          <a:prstGeom prst="rect">
            <a:avLst/>
          </a:prstGeom>
          <a:noFill/>
        </p:spPr>
        <p:txBody>
          <a:bodyPr wrap="none" rtlCol="0">
            <a:spAutoFit/>
          </a:bodyPr>
          <a:lstStyle/>
          <a:p>
            <a:pPr algn="ctr"/>
            <a:r>
              <a:rPr lang="en-US" sz="1200" b="1" dirty="0">
                <a:solidFill>
                  <a:schemeClr val="accent5"/>
                </a:solidFill>
              </a:rPr>
              <a:t>0</a:t>
            </a:r>
          </a:p>
        </p:txBody>
      </p:sp>
      <p:sp>
        <p:nvSpPr>
          <p:cNvPr id="218" name="TextBox 217"/>
          <p:cNvSpPr txBox="1"/>
          <p:nvPr/>
        </p:nvSpPr>
        <p:spPr>
          <a:xfrm>
            <a:off x="2362499" y="3434242"/>
            <a:ext cx="263214" cy="276999"/>
          </a:xfrm>
          <a:prstGeom prst="rect">
            <a:avLst/>
          </a:prstGeom>
          <a:noFill/>
        </p:spPr>
        <p:txBody>
          <a:bodyPr wrap="none" rtlCol="0">
            <a:spAutoFit/>
          </a:bodyPr>
          <a:lstStyle/>
          <a:p>
            <a:pPr algn="ctr"/>
            <a:r>
              <a:rPr lang="en-US" sz="1200" b="1" dirty="0">
                <a:solidFill>
                  <a:schemeClr val="accent6"/>
                </a:solidFill>
              </a:rPr>
              <a:t>8</a:t>
            </a:r>
          </a:p>
        </p:txBody>
      </p:sp>
      <p:sp>
        <p:nvSpPr>
          <p:cNvPr id="219" name="TextBox 218"/>
          <p:cNvSpPr txBox="1"/>
          <p:nvPr/>
        </p:nvSpPr>
        <p:spPr>
          <a:xfrm>
            <a:off x="3273689" y="3434242"/>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220" name="TextBox 219"/>
          <p:cNvSpPr txBox="1"/>
          <p:nvPr/>
        </p:nvSpPr>
        <p:spPr>
          <a:xfrm>
            <a:off x="4145553" y="3434242"/>
            <a:ext cx="341760" cy="276999"/>
          </a:xfrm>
          <a:prstGeom prst="rect">
            <a:avLst/>
          </a:prstGeom>
          <a:noFill/>
        </p:spPr>
        <p:txBody>
          <a:bodyPr wrap="none" rtlCol="0">
            <a:spAutoFit/>
          </a:bodyPr>
          <a:lstStyle/>
          <a:p>
            <a:pPr algn="ctr"/>
            <a:r>
              <a:rPr lang="en-US" sz="1200" b="1" dirty="0">
                <a:solidFill>
                  <a:schemeClr val="accent6"/>
                </a:solidFill>
              </a:rPr>
              <a:t>10</a:t>
            </a:r>
          </a:p>
        </p:txBody>
      </p:sp>
      <p:sp>
        <p:nvSpPr>
          <p:cNvPr id="221" name="TextBox 220"/>
          <p:cNvSpPr txBox="1"/>
          <p:nvPr/>
        </p:nvSpPr>
        <p:spPr>
          <a:xfrm>
            <a:off x="4874673" y="3434242"/>
            <a:ext cx="263214" cy="276999"/>
          </a:xfrm>
          <a:prstGeom prst="rect">
            <a:avLst/>
          </a:prstGeom>
          <a:noFill/>
        </p:spPr>
        <p:txBody>
          <a:bodyPr wrap="none" rtlCol="0">
            <a:spAutoFit/>
          </a:bodyPr>
          <a:lstStyle/>
          <a:p>
            <a:pPr algn="ctr"/>
            <a:r>
              <a:rPr lang="en-US" sz="1200" b="1" dirty="0">
                <a:solidFill>
                  <a:schemeClr val="accent5"/>
                </a:solidFill>
              </a:rPr>
              <a:t>4</a:t>
            </a:r>
          </a:p>
        </p:txBody>
      </p:sp>
      <p:sp>
        <p:nvSpPr>
          <p:cNvPr id="222" name="TextBox 221"/>
          <p:cNvSpPr txBox="1"/>
          <p:nvPr/>
        </p:nvSpPr>
        <p:spPr>
          <a:xfrm>
            <a:off x="5746537" y="3434242"/>
            <a:ext cx="341760" cy="276999"/>
          </a:xfrm>
          <a:prstGeom prst="rect">
            <a:avLst/>
          </a:prstGeom>
          <a:noFill/>
        </p:spPr>
        <p:txBody>
          <a:bodyPr wrap="none" rtlCol="0">
            <a:spAutoFit/>
          </a:bodyPr>
          <a:lstStyle/>
          <a:p>
            <a:pPr algn="ctr"/>
            <a:r>
              <a:rPr lang="en-US" sz="1200" b="1" dirty="0">
                <a:solidFill>
                  <a:schemeClr val="accent6"/>
                </a:solidFill>
              </a:rPr>
              <a:t>12</a:t>
            </a:r>
          </a:p>
        </p:txBody>
      </p:sp>
      <p:sp>
        <p:nvSpPr>
          <p:cNvPr id="223" name="TextBox 222"/>
          <p:cNvSpPr txBox="1"/>
          <p:nvPr/>
        </p:nvSpPr>
        <p:spPr>
          <a:xfrm>
            <a:off x="7156546" y="3434242"/>
            <a:ext cx="263214" cy="276999"/>
          </a:xfrm>
          <a:prstGeom prst="rect">
            <a:avLst/>
          </a:prstGeom>
          <a:noFill/>
        </p:spPr>
        <p:txBody>
          <a:bodyPr wrap="none" rtlCol="0">
            <a:spAutoFit/>
          </a:bodyPr>
          <a:lstStyle/>
          <a:p>
            <a:pPr algn="ctr"/>
            <a:r>
              <a:rPr lang="en-US" sz="1200" b="1" dirty="0">
                <a:solidFill>
                  <a:schemeClr val="accent5"/>
                </a:solidFill>
              </a:rPr>
              <a:t>5</a:t>
            </a:r>
          </a:p>
        </p:txBody>
      </p:sp>
      <p:sp>
        <p:nvSpPr>
          <p:cNvPr id="224" name="TextBox 223"/>
          <p:cNvSpPr txBox="1"/>
          <p:nvPr/>
        </p:nvSpPr>
        <p:spPr>
          <a:xfrm>
            <a:off x="8028410" y="3434242"/>
            <a:ext cx="341760" cy="276999"/>
          </a:xfrm>
          <a:prstGeom prst="rect">
            <a:avLst/>
          </a:prstGeom>
          <a:noFill/>
        </p:spPr>
        <p:txBody>
          <a:bodyPr wrap="none" rtlCol="0">
            <a:spAutoFit/>
          </a:bodyPr>
          <a:lstStyle/>
          <a:p>
            <a:pPr algn="ctr"/>
            <a:r>
              <a:rPr lang="en-US" sz="1200" b="1" dirty="0">
                <a:solidFill>
                  <a:schemeClr val="accent6"/>
                </a:solidFill>
              </a:rPr>
              <a:t>15</a:t>
            </a:r>
          </a:p>
        </p:txBody>
      </p:sp>
      <p:grpSp>
        <p:nvGrpSpPr>
          <p:cNvPr id="2" name="Group 1"/>
          <p:cNvGrpSpPr/>
          <p:nvPr/>
        </p:nvGrpSpPr>
        <p:grpSpPr>
          <a:xfrm>
            <a:off x="1355835" y="3329675"/>
            <a:ext cx="6842235" cy="1924856"/>
            <a:chOff x="1355835" y="3713875"/>
            <a:chExt cx="6842235" cy="1924856"/>
          </a:xfrm>
        </p:grpSpPr>
        <p:cxnSp>
          <p:nvCxnSpPr>
            <p:cNvPr id="154" name="Straight Arrow Connector 153"/>
            <p:cNvCxnSpPr>
              <a:stCxn id="102" idx="2"/>
              <a:endCxn id="137" idx="0"/>
            </p:cNvCxnSpPr>
            <p:nvPr/>
          </p:nvCxnSpPr>
          <p:spPr>
            <a:xfrm flipH="1">
              <a:off x="2268133" y="371387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p:cNvCxnSpPr>
              <a:stCxn id="103" idx="2"/>
              <a:endCxn id="138" idx="0"/>
            </p:cNvCxnSpPr>
            <p:nvPr/>
          </p:nvCxnSpPr>
          <p:spPr>
            <a:xfrm flipH="1">
              <a:off x="2724282" y="371387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p:cNvCxnSpPr>
              <a:stCxn id="104" idx="2"/>
              <a:endCxn id="145" idx="0"/>
            </p:cNvCxnSpPr>
            <p:nvPr/>
          </p:nvCxnSpPr>
          <p:spPr>
            <a:xfrm>
              <a:off x="4092729" y="371387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p:cNvCxnSpPr>
              <a:stCxn id="105" idx="2"/>
              <a:endCxn id="146" idx="0"/>
            </p:cNvCxnSpPr>
            <p:nvPr/>
          </p:nvCxnSpPr>
          <p:spPr>
            <a:xfrm>
              <a:off x="4548878" y="371387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p:cNvCxnSpPr>
              <a:stCxn id="106" idx="2"/>
              <a:endCxn id="139" idx="0"/>
            </p:cNvCxnSpPr>
            <p:nvPr/>
          </p:nvCxnSpPr>
          <p:spPr>
            <a:xfrm flipH="1">
              <a:off x="3180431" y="371387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107" idx="2"/>
              <a:endCxn id="147" idx="0"/>
            </p:cNvCxnSpPr>
            <p:nvPr/>
          </p:nvCxnSpPr>
          <p:spPr>
            <a:xfrm>
              <a:off x="5461176" y="3713875"/>
              <a:ext cx="1368447"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p:nvPr/>
          </p:nvCxnSpPr>
          <p:spPr>
            <a:xfrm>
              <a:off x="5917325" y="3713875"/>
              <a:ext cx="1368447" cy="1924855"/>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p:nvPr/>
          </p:nvCxnSpPr>
          <p:spPr>
            <a:xfrm>
              <a:off x="6373474" y="3713875"/>
              <a:ext cx="1368447" cy="1924855"/>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120" idx="2"/>
              <a:endCxn id="140" idx="0"/>
            </p:cNvCxnSpPr>
            <p:nvPr/>
          </p:nvCxnSpPr>
          <p:spPr>
            <a:xfrm flipH="1">
              <a:off x="3636580" y="3713875"/>
              <a:ext cx="3193043"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121" idx="2"/>
              <a:endCxn id="141" idx="0"/>
            </p:cNvCxnSpPr>
            <p:nvPr/>
          </p:nvCxnSpPr>
          <p:spPr>
            <a:xfrm flipH="1">
              <a:off x="4092729" y="3713875"/>
              <a:ext cx="3193043"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129" idx="2"/>
              <a:endCxn id="150" idx="0"/>
            </p:cNvCxnSpPr>
            <p:nvPr/>
          </p:nvCxnSpPr>
          <p:spPr>
            <a:xfrm>
              <a:off x="8198070" y="37138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122" idx="2"/>
              <a:endCxn id="142" idx="0"/>
            </p:cNvCxnSpPr>
            <p:nvPr/>
          </p:nvCxnSpPr>
          <p:spPr>
            <a:xfrm flipH="1">
              <a:off x="4548878" y="3713875"/>
              <a:ext cx="3193043"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132" idx="2"/>
              <a:endCxn id="130" idx="0"/>
            </p:cNvCxnSpPr>
            <p:nvPr/>
          </p:nvCxnSpPr>
          <p:spPr>
            <a:xfrm>
              <a:off x="1355835" y="37138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p:cNvCxnSpPr>
              <a:stCxn id="133" idx="2"/>
              <a:endCxn id="131" idx="0"/>
            </p:cNvCxnSpPr>
            <p:nvPr/>
          </p:nvCxnSpPr>
          <p:spPr>
            <a:xfrm>
              <a:off x="1811984" y="37138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p:cNvCxnSpPr>
              <a:stCxn id="134" idx="2"/>
              <a:endCxn id="143" idx="0"/>
            </p:cNvCxnSpPr>
            <p:nvPr/>
          </p:nvCxnSpPr>
          <p:spPr>
            <a:xfrm>
              <a:off x="2268133" y="371387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p:cNvCxnSpPr>
              <a:stCxn id="135" idx="2"/>
              <a:endCxn id="144" idx="0"/>
            </p:cNvCxnSpPr>
            <p:nvPr/>
          </p:nvCxnSpPr>
          <p:spPr>
            <a:xfrm>
              <a:off x="2724282" y="371387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450076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6" name="Straight Connector 75"/>
          <p:cNvCxnSpPr/>
          <p:nvPr/>
        </p:nvCxnSpPr>
        <p:spPr>
          <a:xfrm>
            <a:off x="2951831"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a:off x="4776427"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a:off x="6601023" y="98346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0"/>
          </p:nvPr>
        </p:nvSpPr>
        <p:spPr/>
        <p:txBody>
          <a:bodyPr/>
          <a:lstStyle/>
          <a:p>
            <a:r>
              <a:rPr lang="en-US" dirty="0"/>
              <a:t>Optimizing Memory Coalescing</a:t>
            </a:r>
          </a:p>
        </p:txBody>
      </p:sp>
      <p:grpSp>
        <p:nvGrpSpPr>
          <p:cNvPr id="12" name="Group 11"/>
          <p:cNvGrpSpPr/>
          <p:nvPr/>
        </p:nvGrpSpPr>
        <p:grpSpPr>
          <a:xfrm>
            <a:off x="2039533" y="5254531"/>
            <a:ext cx="6387137" cy="457200"/>
            <a:chOff x="2039533" y="5638731"/>
            <a:chExt cx="6387137" cy="457200"/>
          </a:xfrm>
        </p:grpSpPr>
        <p:sp>
          <p:nvSpPr>
            <p:cNvPr id="137" name="Rectangle 136"/>
            <p:cNvSpPr>
              <a:spLocks noChangeAspect="1"/>
            </p:cNvSpPr>
            <p:nvPr/>
          </p:nvSpPr>
          <p:spPr>
            <a:xfrm>
              <a:off x="2039533"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38" name="Rectangle 137"/>
            <p:cNvSpPr>
              <a:spLocks noChangeAspect="1"/>
            </p:cNvSpPr>
            <p:nvPr/>
          </p:nvSpPr>
          <p:spPr>
            <a:xfrm>
              <a:off x="2495682"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39" name="Rectangle 138"/>
            <p:cNvSpPr>
              <a:spLocks noChangeAspect="1"/>
            </p:cNvSpPr>
            <p:nvPr/>
          </p:nvSpPr>
          <p:spPr>
            <a:xfrm>
              <a:off x="2951831"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40" name="Rectangle 139"/>
            <p:cNvSpPr>
              <a:spLocks noChangeAspect="1"/>
            </p:cNvSpPr>
            <p:nvPr/>
          </p:nvSpPr>
          <p:spPr>
            <a:xfrm>
              <a:off x="3407980"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41" name="Rectangle 140"/>
            <p:cNvSpPr>
              <a:spLocks noChangeAspect="1"/>
            </p:cNvSpPr>
            <p:nvPr/>
          </p:nvSpPr>
          <p:spPr>
            <a:xfrm>
              <a:off x="3864129"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42" name="Rectangle 141"/>
            <p:cNvSpPr>
              <a:spLocks noChangeAspect="1"/>
            </p:cNvSpPr>
            <p:nvPr/>
          </p:nvSpPr>
          <p:spPr>
            <a:xfrm>
              <a:off x="4320278"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sp>
          <p:nvSpPr>
            <p:cNvPr id="145" name="Rectangle 144"/>
            <p:cNvSpPr>
              <a:spLocks noChangeAspect="1"/>
            </p:cNvSpPr>
            <p:nvPr/>
          </p:nvSpPr>
          <p:spPr>
            <a:xfrm>
              <a:off x="5688725"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46" name="Rectangle 145"/>
            <p:cNvSpPr>
              <a:spLocks noChangeAspect="1"/>
            </p:cNvSpPr>
            <p:nvPr/>
          </p:nvSpPr>
          <p:spPr>
            <a:xfrm>
              <a:off x="6144874"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47" name="Rectangle 146"/>
            <p:cNvSpPr>
              <a:spLocks noChangeAspect="1"/>
            </p:cNvSpPr>
            <p:nvPr/>
          </p:nvSpPr>
          <p:spPr>
            <a:xfrm>
              <a:off x="6601023"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48" name="Rectangle 147"/>
            <p:cNvSpPr>
              <a:spLocks noChangeAspect="1"/>
            </p:cNvSpPr>
            <p:nvPr/>
          </p:nvSpPr>
          <p:spPr>
            <a:xfrm>
              <a:off x="7057172"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49" name="Rectangle 148"/>
            <p:cNvSpPr>
              <a:spLocks noChangeAspect="1"/>
            </p:cNvSpPr>
            <p:nvPr/>
          </p:nvSpPr>
          <p:spPr>
            <a:xfrm>
              <a:off x="7513321"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50" name="Rectangle 149"/>
            <p:cNvSpPr>
              <a:spLocks noChangeAspect="1"/>
            </p:cNvSpPr>
            <p:nvPr/>
          </p:nvSpPr>
          <p:spPr>
            <a:xfrm>
              <a:off x="7969470"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grpSp>
      <p:grpSp>
        <p:nvGrpSpPr>
          <p:cNvPr id="173" name="Group 172"/>
          <p:cNvGrpSpPr/>
          <p:nvPr/>
        </p:nvGrpSpPr>
        <p:grpSpPr>
          <a:xfrm>
            <a:off x="2994823" y="1123609"/>
            <a:ext cx="1738603" cy="822960"/>
            <a:chOff x="2667000" y="1752600"/>
            <a:chExt cx="889511" cy="838200"/>
          </a:xfrm>
        </p:grpSpPr>
        <p:sp>
          <p:nvSpPr>
            <p:cNvPr id="174" name="Rectangle 17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5" name="Freeform 17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6" name="Freeform 17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7" name="Freeform 17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8" name="Freeform 17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79" name="Group 178"/>
          <p:cNvGrpSpPr/>
          <p:nvPr/>
        </p:nvGrpSpPr>
        <p:grpSpPr>
          <a:xfrm>
            <a:off x="4819769" y="1123609"/>
            <a:ext cx="1738603" cy="822960"/>
            <a:chOff x="2667000" y="1752600"/>
            <a:chExt cx="889511" cy="838200"/>
          </a:xfrm>
        </p:grpSpPr>
        <p:sp>
          <p:nvSpPr>
            <p:cNvPr id="180" name="Rectangle 179"/>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1" name="Freeform 180"/>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2" name="Freeform 181"/>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3" name="Freeform 182"/>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4" name="Freeform 183"/>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85" name="Group 184"/>
          <p:cNvGrpSpPr/>
          <p:nvPr/>
        </p:nvGrpSpPr>
        <p:grpSpPr>
          <a:xfrm>
            <a:off x="6644716" y="1123609"/>
            <a:ext cx="1738603" cy="822960"/>
            <a:chOff x="2667000" y="1752600"/>
            <a:chExt cx="889511" cy="838200"/>
          </a:xfrm>
        </p:grpSpPr>
        <p:sp>
          <p:nvSpPr>
            <p:cNvPr id="186" name="Rectangle 18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7" name="Freeform 18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8" name="Freeform 18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89" name="Freeform 18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90" name="Freeform 18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5" name="Group 4"/>
          <p:cNvGrpSpPr/>
          <p:nvPr/>
        </p:nvGrpSpPr>
        <p:grpSpPr>
          <a:xfrm>
            <a:off x="2951831" y="2052151"/>
            <a:ext cx="5474839" cy="457200"/>
            <a:chOff x="2951831" y="2436351"/>
            <a:chExt cx="5474839" cy="457200"/>
          </a:xfrm>
        </p:grpSpPr>
        <p:sp>
          <p:nvSpPr>
            <p:cNvPr id="114" name="Rectangle 113"/>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15" name="Rectangle 114"/>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p>
          </p:txBody>
        </p:sp>
        <p:sp>
          <p:nvSpPr>
            <p:cNvPr id="116" name="Rectangle 115"/>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p>
          </p:txBody>
        </p:sp>
        <p:sp>
          <p:nvSpPr>
            <p:cNvPr id="117" name="Rectangle 116"/>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18" name="Rectangle 117"/>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sp>
          <p:nvSpPr>
            <p:cNvPr id="119" name="Rectangle 118"/>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23" name="Rectangle 122"/>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24" name="Rectangle 123"/>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5" name="Rectangle 124"/>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6" name="Rectangle 125"/>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7" name="Rectangle 126"/>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p>
          </p:txBody>
        </p:sp>
        <p:sp>
          <p:nvSpPr>
            <p:cNvPr id="128" name="Rectangle 127"/>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p>
          </p:txBody>
        </p:sp>
      </p:grpSp>
      <p:grpSp>
        <p:nvGrpSpPr>
          <p:cNvPr id="7" name="Group 6"/>
          <p:cNvGrpSpPr/>
          <p:nvPr/>
        </p:nvGrpSpPr>
        <p:grpSpPr>
          <a:xfrm>
            <a:off x="2951831" y="2872475"/>
            <a:ext cx="5474839" cy="457200"/>
            <a:chOff x="2951831" y="3256675"/>
            <a:chExt cx="5474839" cy="457200"/>
          </a:xfrm>
        </p:grpSpPr>
        <p:sp>
          <p:nvSpPr>
            <p:cNvPr id="102" name="Rectangle 101"/>
            <p:cNvSpPr>
              <a:spLocks noChangeAspect="1"/>
            </p:cNvSpPr>
            <p:nvPr/>
          </p:nvSpPr>
          <p:spPr>
            <a:xfrm>
              <a:off x="2951831"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5"/>
                  </a:solidFill>
                </a:rPr>
                <a:t>0</a:t>
              </a:r>
              <a:endParaRPr lang="en-US" sz="1600" b="1" dirty="0">
                <a:solidFill>
                  <a:schemeClr val="accent6"/>
                </a:solidFill>
              </a:endParaRPr>
            </a:p>
          </p:txBody>
        </p:sp>
        <p:sp>
          <p:nvSpPr>
            <p:cNvPr id="103" name="Rectangle 102"/>
            <p:cNvSpPr>
              <a:spLocks noChangeAspect="1"/>
            </p:cNvSpPr>
            <p:nvPr/>
          </p:nvSpPr>
          <p:spPr>
            <a:xfrm>
              <a:off x="3407980"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04" name="Rectangle 103"/>
            <p:cNvSpPr>
              <a:spLocks noChangeAspect="1"/>
            </p:cNvSpPr>
            <p:nvPr/>
          </p:nvSpPr>
          <p:spPr>
            <a:xfrm>
              <a:off x="3864129"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111</a:t>
              </a:r>
              <a:r>
                <a:rPr lang="en-US" sz="1600" b="1" dirty="0">
                  <a:solidFill>
                    <a:schemeClr val="accent6"/>
                  </a:solidFill>
                </a:rPr>
                <a:t>1</a:t>
              </a:r>
            </a:p>
          </p:txBody>
        </p:sp>
        <p:sp>
          <p:nvSpPr>
            <p:cNvPr id="105" name="Rectangle 104"/>
            <p:cNvSpPr>
              <a:spLocks noChangeAspect="1"/>
            </p:cNvSpPr>
            <p:nvPr/>
          </p:nvSpPr>
          <p:spPr>
            <a:xfrm>
              <a:off x="4320278"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6"/>
                  </a:solidFill>
                </a:rPr>
                <a:t>1</a:t>
              </a:r>
              <a:endParaRPr lang="en-US" sz="1600" b="1" dirty="0">
                <a:solidFill>
                  <a:schemeClr val="accent5"/>
                </a:solidFill>
              </a:endParaRPr>
            </a:p>
          </p:txBody>
        </p:sp>
        <p:sp>
          <p:nvSpPr>
            <p:cNvPr id="106" name="Rectangle 105"/>
            <p:cNvSpPr>
              <a:spLocks noChangeAspect="1"/>
            </p:cNvSpPr>
            <p:nvPr/>
          </p:nvSpPr>
          <p:spPr>
            <a:xfrm>
              <a:off x="4776427"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07" name="Rectangle 106"/>
            <p:cNvSpPr>
              <a:spLocks noChangeAspect="1"/>
            </p:cNvSpPr>
            <p:nvPr/>
          </p:nvSpPr>
          <p:spPr>
            <a:xfrm>
              <a:off x="5232576"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endParaRPr lang="en-US" sz="1600" b="1" dirty="0">
                <a:solidFill>
                  <a:schemeClr val="accent5"/>
                </a:solidFill>
              </a:endParaRPr>
            </a:p>
          </p:txBody>
        </p:sp>
        <p:sp>
          <p:nvSpPr>
            <p:cNvPr id="108" name="Rectangle 107"/>
            <p:cNvSpPr>
              <a:spLocks noChangeAspect="1"/>
            </p:cNvSpPr>
            <p:nvPr/>
          </p:nvSpPr>
          <p:spPr>
            <a:xfrm>
              <a:off x="5688725"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6"/>
                  </a:solidFill>
                </a:rPr>
                <a:t>1</a:t>
              </a:r>
            </a:p>
          </p:txBody>
        </p:sp>
        <p:sp>
          <p:nvSpPr>
            <p:cNvPr id="109" name="Rectangle 108"/>
            <p:cNvSpPr>
              <a:spLocks noChangeAspect="1"/>
            </p:cNvSpPr>
            <p:nvPr/>
          </p:nvSpPr>
          <p:spPr>
            <a:xfrm>
              <a:off x="6144874"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6"/>
                  </a:solidFill>
                </a:rPr>
                <a:t>1</a:t>
              </a:r>
            </a:p>
          </p:txBody>
        </p:sp>
        <p:sp>
          <p:nvSpPr>
            <p:cNvPr id="120" name="Rectangle 119"/>
            <p:cNvSpPr>
              <a:spLocks noChangeAspect="1"/>
            </p:cNvSpPr>
            <p:nvPr/>
          </p:nvSpPr>
          <p:spPr>
            <a:xfrm>
              <a:off x="6601023"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010</a:t>
              </a:r>
              <a:r>
                <a:rPr lang="en-US" sz="1600" b="1" dirty="0">
                  <a:solidFill>
                    <a:schemeClr val="accent5"/>
                  </a:solidFill>
                </a:rPr>
                <a:t>0</a:t>
              </a:r>
            </a:p>
          </p:txBody>
        </p:sp>
        <p:sp>
          <p:nvSpPr>
            <p:cNvPr id="121" name="Rectangle 120"/>
            <p:cNvSpPr>
              <a:spLocks noChangeAspect="1"/>
            </p:cNvSpPr>
            <p:nvPr/>
          </p:nvSpPr>
          <p:spPr>
            <a:xfrm>
              <a:off x="7057172"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101</a:t>
              </a:r>
              <a:r>
                <a:rPr lang="en-US" sz="1600" b="1" dirty="0">
                  <a:solidFill>
                    <a:schemeClr val="accent5"/>
                  </a:solidFill>
                </a:rPr>
                <a:t>0</a:t>
              </a:r>
            </a:p>
          </p:txBody>
        </p:sp>
        <p:sp>
          <p:nvSpPr>
            <p:cNvPr id="122" name="Rectangle 121"/>
            <p:cNvSpPr>
              <a:spLocks noChangeAspect="1"/>
            </p:cNvSpPr>
            <p:nvPr/>
          </p:nvSpPr>
          <p:spPr>
            <a:xfrm>
              <a:off x="7513321"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000</a:t>
              </a:r>
              <a:r>
                <a:rPr lang="en-US" sz="1600" b="1" dirty="0">
                  <a:solidFill>
                    <a:schemeClr val="accent5"/>
                  </a:solidFill>
                </a:rPr>
                <a:t>0</a:t>
              </a:r>
              <a:endParaRPr lang="en-US" sz="1600" b="1" dirty="0">
                <a:solidFill>
                  <a:schemeClr val="accent6"/>
                </a:solidFill>
              </a:endParaRPr>
            </a:p>
          </p:txBody>
        </p:sp>
        <p:sp>
          <p:nvSpPr>
            <p:cNvPr id="129" name="Rectangle 128"/>
            <p:cNvSpPr>
              <a:spLocks noChangeAspect="1"/>
            </p:cNvSpPr>
            <p:nvPr/>
          </p:nvSpPr>
          <p:spPr>
            <a:xfrm>
              <a:off x="7969470"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6"/>
                  </a:solidFill>
                </a:rPr>
                <a:t>1</a:t>
              </a:r>
              <a:endParaRPr lang="en-US" sz="1600" b="1" dirty="0">
                <a:solidFill>
                  <a:schemeClr val="accent5"/>
                </a:solidFill>
              </a:endParaRPr>
            </a:p>
          </p:txBody>
        </p:sp>
      </p:grpSp>
      <p:cxnSp>
        <p:nvCxnSpPr>
          <p:cNvPr id="193" name="Straight Arrow Connector 192"/>
          <p:cNvCxnSpPr>
            <a:endCxn id="104" idx="0"/>
          </p:cNvCxnSpPr>
          <p:nvPr/>
        </p:nvCxnSpPr>
        <p:spPr>
          <a:xfrm>
            <a:off x="3180431" y="25093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4" name="Straight Arrow Connector 193"/>
          <p:cNvCxnSpPr>
            <a:stCxn id="115" idx="2"/>
            <a:endCxn id="102" idx="0"/>
          </p:cNvCxnSpPr>
          <p:nvPr/>
        </p:nvCxnSpPr>
        <p:spPr>
          <a:xfrm flipH="1">
            <a:off x="318043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p:cNvCxnSpPr>
            <a:stCxn id="116" idx="2"/>
            <a:endCxn id="105" idx="0"/>
          </p:cNvCxnSpPr>
          <p:nvPr/>
        </p:nvCxnSpPr>
        <p:spPr>
          <a:xfrm>
            <a:off x="4092729"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p:cNvCxnSpPr>
            <a:stCxn id="117" idx="2"/>
            <a:endCxn id="103" idx="0"/>
          </p:cNvCxnSpPr>
          <p:nvPr/>
        </p:nvCxnSpPr>
        <p:spPr>
          <a:xfrm flipH="1">
            <a:off x="3636580" y="25093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p:cNvCxnSpPr>
            <a:stCxn id="118" idx="2"/>
            <a:endCxn id="107" idx="0"/>
          </p:cNvCxnSpPr>
          <p:nvPr/>
        </p:nvCxnSpPr>
        <p:spPr>
          <a:xfrm>
            <a:off x="5005027"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p:cNvCxnSpPr>
            <a:stCxn id="119" idx="2"/>
            <a:endCxn id="106" idx="0"/>
          </p:cNvCxnSpPr>
          <p:nvPr/>
        </p:nvCxnSpPr>
        <p:spPr>
          <a:xfrm flipH="1">
            <a:off x="5005027"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9" name="Straight Arrow Connector 198"/>
          <p:cNvCxnSpPr>
            <a:stCxn id="123" idx="2"/>
            <a:endCxn id="108" idx="0"/>
          </p:cNvCxnSpPr>
          <p:nvPr/>
        </p:nvCxnSpPr>
        <p:spPr>
          <a:xfrm>
            <a:off x="5917325"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0" name="Straight Arrow Connector 199"/>
          <p:cNvCxnSpPr>
            <a:stCxn id="124" idx="2"/>
            <a:endCxn id="109" idx="0"/>
          </p:cNvCxnSpPr>
          <p:nvPr/>
        </p:nvCxnSpPr>
        <p:spPr>
          <a:xfrm>
            <a:off x="6373474"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1" name="Straight Arrow Connector 200"/>
          <p:cNvCxnSpPr>
            <a:stCxn id="125" idx="2"/>
            <a:endCxn id="120" idx="0"/>
          </p:cNvCxnSpPr>
          <p:nvPr/>
        </p:nvCxnSpPr>
        <p:spPr>
          <a:xfrm>
            <a:off x="6829623"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2" name="Straight Arrow Connector 201"/>
          <p:cNvCxnSpPr>
            <a:stCxn id="126" idx="2"/>
            <a:endCxn id="121" idx="0"/>
          </p:cNvCxnSpPr>
          <p:nvPr/>
        </p:nvCxnSpPr>
        <p:spPr>
          <a:xfrm>
            <a:off x="7285772"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3" name="Straight Arrow Connector 202"/>
          <p:cNvCxnSpPr>
            <a:stCxn id="127" idx="2"/>
            <a:endCxn id="129" idx="0"/>
          </p:cNvCxnSpPr>
          <p:nvPr/>
        </p:nvCxnSpPr>
        <p:spPr>
          <a:xfrm>
            <a:off x="774192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4" name="Straight Arrow Connector 203"/>
          <p:cNvCxnSpPr>
            <a:stCxn id="128" idx="2"/>
            <a:endCxn id="122" idx="0"/>
          </p:cNvCxnSpPr>
          <p:nvPr/>
        </p:nvCxnSpPr>
        <p:spPr>
          <a:xfrm flipH="1">
            <a:off x="7741921"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12" name="Right Brace 211"/>
          <p:cNvSpPr/>
          <p:nvPr/>
        </p:nvSpPr>
        <p:spPr>
          <a:xfrm rot="5400000">
            <a:off x="3353172" y="2970210"/>
            <a:ext cx="107514" cy="897740"/>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3" name="Right Brace 212"/>
          <p:cNvSpPr/>
          <p:nvPr/>
        </p:nvSpPr>
        <p:spPr>
          <a:xfrm rot="5400000">
            <a:off x="4265115" y="2970209"/>
            <a:ext cx="107514" cy="89774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4" name="Right Brace 213"/>
          <p:cNvSpPr/>
          <p:nvPr/>
        </p:nvSpPr>
        <p:spPr>
          <a:xfrm rot="5400000">
            <a:off x="4951973" y="3195853"/>
            <a:ext cx="107514" cy="446452"/>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5" name="Right Brace 214"/>
          <p:cNvSpPr/>
          <p:nvPr/>
        </p:nvSpPr>
        <p:spPr>
          <a:xfrm rot="5400000">
            <a:off x="5864094" y="2744740"/>
            <a:ext cx="107514" cy="1348678"/>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6" name="Right Brace 215"/>
          <p:cNvSpPr/>
          <p:nvPr/>
        </p:nvSpPr>
        <p:spPr>
          <a:xfrm rot="5400000">
            <a:off x="7232192" y="2746466"/>
            <a:ext cx="107514" cy="1345226"/>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7" name="Right Brace 216"/>
          <p:cNvSpPr/>
          <p:nvPr/>
        </p:nvSpPr>
        <p:spPr>
          <a:xfrm rot="5400000">
            <a:off x="8144313" y="3194127"/>
            <a:ext cx="107514" cy="449904"/>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9" name="TextBox 218"/>
          <p:cNvSpPr txBox="1"/>
          <p:nvPr/>
        </p:nvSpPr>
        <p:spPr>
          <a:xfrm>
            <a:off x="3273689" y="3434242"/>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220" name="TextBox 219"/>
          <p:cNvSpPr txBox="1"/>
          <p:nvPr/>
        </p:nvSpPr>
        <p:spPr>
          <a:xfrm>
            <a:off x="4145553" y="3434242"/>
            <a:ext cx="341760" cy="276999"/>
          </a:xfrm>
          <a:prstGeom prst="rect">
            <a:avLst/>
          </a:prstGeom>
          <a:noFill/>
        </p:spPr>
        <p:txBody>
          <a:bodyPr wrap="none" rtlCol="0">
            <a:spAutoFit/>
          </a:bodyPr>
          <a:lstStyle/>
          <a:p>
            <a:pPr algn="ctr"/>
            <a:r>
              <a:rPr lang="en-US" sz="1200" b="1" dirty="0">
                <a:solidFill>
                  <a:schemeClr val="accent6"/>
                </a:solidFill>
              </a:rPr>
              <a:t>10</a:t>
            </a:r>
          </a:p>
        </p:txBody>
      </p:sp>
      <p:sp>
        <p:nvSpPr>
          <p:cNvPr id="221" name="TextBox 220"/>
          <p:cNvSpPr txBox="1"/>
          <p:nvPr/>
        </p:nvSpPr>
        <p:spPr>
          <a:xfrm>
            <a:off x="4874673" y="3434242"/>
            <a:ext cx="263214" cy="276999"/>
          </a:xfrm>
          <a:prstGeom prst="rect">
            <a:avLst/>
          </a:prstGeom>
          <a:noFill/>
        </p:spPr>
        <p:txBody>
          <a:bodyPr wrap="none" rtlCol="0">
            <a:spAutoFit/>
          </a:bodyPr>
          <a:lstStyle/>
          <a:p>
            <a:pPr algn="ctr"/>
            <a:r>
              <a:rPr lang="en-US" sz="1200" b="1" dirty="0">
                <a:solidFill>
                  <a:schemeClr val="accent5"/>
                </a:solidFill>
              </a:rPr>
              <a:t>4</a:t>
            </a:r>
          </a:p>
        </p:txBody>
      </p:sp>
      <p:sp>
        <p:nvSpPr>
          <p:cNvPr id="222" name="TextBox 221"/>
          <p:cNvSpPr txBox="1"/>
          <p:nvPr/>
        </p:nvSpPr>
        <p:spPr>
          <a:xfrm>
            <a:off x="5746537" y="3434242"/>
            <a:ext cx="341760" cy="276999"/>
          </a:xfrm>
          <a:prstGeom prst="rect">
            <a:avLst/>
          </a:prstGeom>
          <a:noFill/>
        </p:spPr>
        <p:txBody>
          <a:bodyPr wrap="none" rtlCol="0">
            <a:spAutoFit/>
          </a:bodyPr>
          <a:lstStyle/>
          <a:p>
            <a:pPr algn="ctr"/>
            <a:r>
              <a:rPr lang="en-US" sz="1200" b="1" dirty="0">
                <a:solidFill>
                  <a:schemeClr val="accent6"/>
                </a:solidFill>
              </a:rPr>
              <a:t>12</a:t>
            </a:r>
          </a:p>
        </p:txBody>
      </p:sp>
      <p:sp>
        <p:nvSpPr>
          <p:cNvPr id="223" name="TextBox 222"/>
          <p:cNvSpPr txBox="1"/>
          <p:nvPr/>
        </p:nvSpPr>
        <p:spPr>
          <a:xfrm>
            <a:off x="7156546" y="3434242"/>
            <a:ext cx="263214" cy="276999"/>
          </a:xfrm>
          <a:prstGeom prst="rect">
            <a:avLst/>
          </a:prstGeom>
          <a:noFill/>
        </p:spPr>
        <p:txBody>
          <a:bodyPr wrap="none" rtlCol="0">
            <a:spAutoFit/>
          </a:bodyPr>
          <a:lstStyle/>
          <a:p>
            <a:pPr algn="ctr"/>
            <a:r>
              <a:rPr lang="en-US" sz="1200" b="1" dirty="0">
                <a:solidFill>
                  <a:schemeClr val="accent5"/>
                </a:solidFill>
              </a:rPr>
              <a:t>5</a:t>
            </a:r>
          </a:p>
        </p:txBody>
      </p:sp>
      <p:sp>
        <p:nvSpPr>
          <p:cNvPr id="224" name="TextBox 223"/>
          <p:cNvSpPr txBox="1"/>
          <p:nvPr/>
        </p:nvSpPr>
        <p:spPr>
          <a:xfrm>
            <a:off x="8028410" y="3434242"/>
            <a:ext cx="341760" cy="276999"/>
          </a:xfrm>
          <a:prstGeom prst="rect">
            <a:avLst/>
          </a:prstGeom>
          <a:noFill/>
        </p:spPr>
        <p:txBody>
          <a:bodyPr wrap="none" rtlCol="0">
            <a:spAutoFit/>
          </a:bodyPr>
          <a:lstStyle/>
          <a:p>
            <a:pPr algn="ctr"/>
            <a:r>
              <a:rPr lang="en-US" sz="1200" b="1" dirty="0">
                <a:solidFill>
                  <a:schemeClr val="accent6"/>
                </a:solidFill>
              </a:rPr>
              <a:t>15</a:t>
            </a:r>
          </a:p>
        </p:txBody>
      </p:sp>
      <p:cxnSp>
        <p:nvCxnSpPr>
          <p:cNvPr id="154" name="Straight Arrow Connector 153"/>
          <p:cNvCxnSpPr>
            <a:stCxn id="102" idx="2"/>
            <a:endCxn id="137" idx="0"/>
          </p:cNvCxnSpPr>
          <p:nvPr/>
        </p:nvCxnSpPr>
        <p:spPr>
          <a:xfrm flipH="1">
            <a:off x="2268133" y="332967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p:cNvCxnSpPr>
            <a:stCxn id="103" idx="2"/>
            <a:endCxn id="138" idx="0"/>
          </p:cNvCxnSpPr>
          <p:nvPr/>
        </p:nvCxnSpPr>
        <p:spPr>
          <a:xfrm flipH="1">
            <a:off x="2724282" y="332967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p:cNvCxnSpPr>
            <a:stCxn id="104" idx="2"/>
            <a:endCxn id="145" idx="0"/>
          </p:cNvCxnSpPr>
          <p:nvPr/>
        </p:nvCxnSpPr>
        <p:spPr>
          <a:xfrm>
            <a:off x="4092729" y="332967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p:cNvCxnSpPr>
            <a:stCxn id="105" idx="2"/>
            <a:endCxn id="146" idx="0"/>
          </p:cNvCxnSpPr>
          <p:nvPr/>
        </p:nvCxnSpPr>
        <p:spPr>
          <a:xfrm>
            <a:off x="4548878" y="332967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p:cNvCxnSpPr>
            <a:stCxn id="106" idx="2"/>
            <a:endCxn id="139" idx="0"/>
          </p:cNvCxnSpPr>
          <p:nvPr/>
        </p:nvCxnSpPr>
        <p:spPr>
          <a:xfrm flipH="1">
            <a:off x="3180431" y="332967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107" idx="2"/>
            <a:endCxn id="147" idx="0"/>
          </p:cNvCxnSpPr>
          <p:nvPr/>
        </p:nvCxnSpPr>
        <p:spPr>
          <a:xfrm>
            <a:off x="5461176" y="3329675"/>
            <a:ext cx="1368447"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p:nvPr/>
        </p:nvCxnSpPr>
        <p:spPr>
          <a:xfrm>
            <a:off x="5917325" y="3329675"/>
            <a:ext cx="1368447" cy="1924855"/>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p:nvPr/>
        </p:nvCxnSpPr>
        <p:spPr>
          <a:xfrm>
            <a:off x="6373474" y="3329675"/>
            <a:ext cx="1368447" cy="1924855"/>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120" idx="2"/>
            <a:endCxn id="140" idx="0"/>
          </p:cNvCxnSpPr>
          <p:nvPr/>
        </p:nvCxnSpPr>
        <p:spPr>
          <a:xfrm flipH="1">
            <a:off x="3636580" y="3329675"/>
            <a:ext cx="3193043"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121" idx="2"/>
            <a:endCxn id="141" idx="0"/>
          </p:cNvCxnSpPr>
          <p:nvPr/>
        </p:nvCxnSpPr>
        <p:spPr>
          <a:xfrm flipH="1">
            <a:off x="4092729" y="3329675"/>
            <a:ext cx="3193043"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129" idx="2"/>
            <a:endCxn id="150" idx="0"/>
          </p:cNvCxnSpPr>
          <p:nvPr/>
        </p:nvCxnSpPr>
        <p:spPr>
          <a:xfrm>
            <a:off x="8198070" y="33296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122" idx="2"/>
            <a:endCxn id="142" idx="0"/>
          </p:cNvCxnSpPr>
          <p:nvPr/>
        </p:nvCxnSpPr>
        <p:spPr>
          <a:xfrm flipH="1">
            <a:off x="4548878" y="3329675"/>
            <a:ext cx="3193043"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51" name="Rectangle 150"/>
          <p:cNvSpPr/>
          <p:nvPr/>
        </p:nvSpPr>
        <p:spPr>
          <a:xfrm>
            <a:off x="1095702" y="1007107"/>
            <a:ext cx="7386145" cy="4899134"/>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7" name="Group 166"/>
          <p:cNvGrpSpPr/>
          <p:nvPr/>
        </p:nvGrpSpPr>
        <p:grpSpPr>
          <a:xfrm>
            <a:off x="1169877" y="1123609"/>
            <a:ext cx="1738603" cy="822960"/>
            <a:chOff x="2667000" y="1752600"/>
            <a:chExt cx="889511" cy="838200"/>
          </a:xfrm>
        </p:grpSpPr>
        <p:sp>
          <p:nvSpPr>
            <p:cNvPr id="168" name="Rectangle 16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69" name="Freeform 16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0" name="Freeform 16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1" name="Freeform 17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72" name="Freeform 17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 name="Group 1"/>
          <p:cNvGrpSpPr/>
          <p:nvPr/>
        </p:nvGrpSpPr>
        <p:grpSpPr>
          <a:xfrm>
            <a:off x="1127235" y="2052151"/>
            <a:ext cx="1825647" cy="457200"/>
            <a:chOff x="1127235" y="2436351"/>
            <a:chExt cx="1825647" cy="457200"/>
          </a:xfrm>
        </p:grpSpPr>
        <p:sp>
          <p:nvSpPr>
            <p:cNvPr id="110" name="Rectangle 109"/>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11" name="Rectangle 110"/>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12" name="Rectangle 111"/>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13" name="Rectangle 112"/>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grpSp>
        <p:nvGrpSpPr>
          <p:cNvPr id="6" name="Group 5"/>
          <p:cNvGrpSpPr/>
          <p:nvPr/>
        </p:nvGrpSpPr>
        <p:grpSpPr>
          <a:xfrm>
            <a:off x="1127235" y="2872475"/>
            <a:ext cx="1825647" cy="457200"/>
            <a:chOff x="1127235" y="3256675"/>
            <a:chExt cx="1825647" cy="457200"/>
          </a:xfrm>
        </p:grpSpPr>
        <p:sp>
          <p:nvSpPr>
            <p:cNvPr id="132" name="Rectangle 131"/>
            <p:cNvSpPr>
              <a:spLocks noChangeAspect="1"/>
            </p:cNvSpPr>
            <p:nvPr/>
          </p:nvSpPr>
          <p:spPr>
            <a:xfrm>
              <a:off x="1127235"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3" name="Rectangle 132"/>
            <p:cNvSpPr>
              <a:spLocks noChangeAspect="1"/>
            </p:cNvSpPr>
            <p:nvPr/>
          </p:nvSpPr>
          <p:spPr>
            <a:xfrm>
              <a:off x="1583384"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endParaRPr lang="en-US" sz="1600" b="1" dirty="0">
                <a:solidFill>
                  <a:schemeClr val="accent6"/>
                </a:solidFill>
              </a:endParaRPr>
            </a:p>
          </p:txBody>
        </p:sp>
        <p:sp>
          <p:nvSpPr>
            <p:cNvPr id="134" name="Rectangle 133"/>
            <p:cNvSpPr>
              <a:spLocks noChangeAspect="1"/>
            </p:cNvSpPr>
            <p:nvPr/>
          </p:nvSpPr>
          <p:spPr>
            <a:xfrm>
              <a:off x="2039533"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endParaRPr lang="en-US" sz="1600" b="1" dirty="0">
                <a:solidFill>
                  <a:schemeClr val="accent5"/>
                </a:solidFill>
              </a:endParaRPr>
            </a:p>
          </p:txBody>
        </p:sp>
        <p:sp>
          <p:nvSpPr>
            <p:cNvPr id="135" name="Rectangle 134"/>
            <p:cNvSpPr>
              <a:spLocks noChangeAspect="1"/>
            </p:cNvSpPr>
            <p:nvPr/>
          </p:nvSpPr>
          <p:spPr>
            <a:xfrm>
              <a:off x="2495682"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cxnSp>
        <p:nvCxnSpPr>
          <p:cNvPr id="205" name="Straight Arrow Connector 204"/>
          <p:cNvCxnSpPr>
            <a:stCxn id="110" idx="2"/>
            <a:endCxn id="132" idx="0"/>
          </p:cNvCxnSpPr>
          <p:nvPr/>
        </p:nvCxnSpPr>
        <p:spPr>
          <a:xfrm>
            <a:off x="1355835"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6" name="Straight Arrow Connector 205"/>
          <p:cNvCxnSpPr>
            <a:stCxn id="111" idx="2"/>
            <a:endCxn id="134" idx="0"/>
          </p:cNvCxnSpPr>
          <p:nvPr/>
        </p:nvCxnSpPr>
        <p:spPr>
          <a:xfrm>
            <a:off x="1811984"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7" name="Straight Arrow Connector 206"/>
          <p:cNvCxnSpPr>
            <a:stCxn id="112" idx="2"/>
            <a:endCxn id="133" idx="0"/>
          </p:cNvCxnSpPr>
          <p:nvPr/>
        </p:nvCxnSpPr>
        <p:spPr>
          <a:xfrm flipH="1">
            <a:off x="1811984" y="25093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8" name="Straight Arrow Connector 207"/>
          <p:cNvCxnSpPr>
            <a:stCxn id="113" idx="2"/>
            <a:endCxn id="135" idx="0"/>
          </p:cNvCxnSpPr>
          <p:nvPr/>
        </p:nvCxnSpPr>
        <p:spPr>
          <a:xfrm>
            <a:off x="2724282" y="25093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8" name="Right Brace 77"/>
          <p:cNvSpPr/>
          <p:nvPr/>
        </p:nvSpPr>
        <p:spPr>
          <a:xfrm rot="5400000">
            <a:off x="1529627" y="2970209"/>
            <a:ext cx="107514" cy="897740"/>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1" name="Right Brace 210"/>
          <p:cNvSpPr/>
          <p:nvPr/>
        </p:nvSpPr>
        <p:spPr>
          <a:xfrm rot="5400000">
            <a:off x="2441570" y="2970210"/>
            <a:ext cx="107514" cy="89774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9" name="TextBox 78"/>
          <p:cNvSpPr txBox="1"/>
          <p:nvPr/>
        </p:nvSpPr>
        <p:spPr>
          <a:xfrm>
            <a:off x="1451362" y="3434242"/>
            <a:ext cx="263214" cy="276999"/>
          </a:xfrm>
          <a:prstGeom prst="rect">
            <a:avLst/>
          </a:prstGeom>
          <a:noFill/>
        </p:spPr>
        <p:txBody>
          <a:bodyPr wrap="none" rtlCol="0">
            <a:spAutoFit/>
          </a:bodyPr>
          <a:lstStyle/>
          <a:p>
            <a:pPr algn="ctr"/>
            <a:r>
              <a:rPr lang="en-US" sz="1200" b="1" dirty="0">
                <a:solidFill>
                  <a:schemeClr val="accent5"/>
                </a:solidFill>
              </a:rPr>
              <a:t>0</a:t>
            </a:r>
          </a:p>
        </p:txBody>
      </p:sp>
      <p:sp>
        <p:nvSpPr>
          <p:cNvPr id="218" name="TextBox 217"/>
          <p:cNvSpPr txBox="1"/>
          <p:nvPr/>
        </p:nvSpPr>
        <p:spPr>
          <a:xfrm>
            <a:off x="2362499" y="3434242"/>
            <a:ext cx="263214" cy="276999"/>
          </a:xfrm>
          <a:prstGeom prst="rect">
            <a:avLst/>
          </a:prstGeom>
          <a:noFill/>
        </p:spPr>
        <p:txBody>
          <a:bodyPr wrap="none" rtlCol="0">
            <a:spAutoFit/>
          </a:bodyPr>
          <a:lstStyle/>
          <a:p>
            <a:pPr algn="ctr"/>
            <a:r>
              <a:rPr lang="en-US" sz="1200" b="1" dirty="0">
                <a:solidFill>
                  <a:schemeClr val="accent6"/>
                </a:solidFill>
              </a:rPr>
              <a:t>8</a:t>
            </a:r>
          </a:p>
        </p:txBody>
      </p:sp>
      <p:cxnSp>
        <p:nvCxnSpPr>
          <p:cNvPr id="166" name="Straight Arrow Connector 165"/>
          <p:cNvCxnSpPr>
            <a:stCxn id="132" idx="2"/>
            <a:endCxn id="130" idx="0"/>
          </p:cNvCxnSpPr>
          <p:nvPr/>
        </p:nvCxnSpPr>
        <p:spPr>
          <a:xfrm>
            <a:off x="1355835" y="3329675"/>
            <a:ext cx="0" cy="1924856"/>
          </a:xfrm>
          <a:prstGeom prst="straightConnector1">
            <a:avLst/>
          </a:prstGeom>
          <a:ln w="19050">
            <a:solidFill>
              <a:schemeClr val="accent5"/>
            </a:solidFill>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p:cNvCxnSpPr>
            <a:stCxn id="133" idx="2"/>
            <a:endCxn id="131" idx="0"/>
          </p:cNvCxnSpPr>
          <p:nvPr/>
        </p:nvCxnSpPr>
        <p:spPr>
          <a:xfrm>
            <a:off x="1811984" y="3329675"/>
            <a:ext cx="0" cy="1924856"/>
          </a:xfrm>
          <a:prstGeom prst="straightConnector1">
            <a:avLst/>
          </a:prstGeom>
          <a:ln w="19050">
            <a:solidFill>
              <a:schemeClr val="accent5"/>
            </a:solidFill>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p:cNvCxnSpPr>
            <a:stCxn id="134" idx="2"/>
            <a:endCxn id="143" idx="0"/>
          </p:cNvCxnSpPr>
          <p:nvPr/>
        </p:nvCxnSpPr>
        <p:spPr>
          <a:xfrm>
            <a:off x="2268133" y="3329675"/>
            <a:ext cx="2736894" cy="1924856"/>
          </a:xfrm>
          <a:prstGeom prst="straightConnector1">
            <a:avLst/>
          </a:prstGeom>
          <a:ln w="19050">
            <a:solidFill>
              <a:schemeClr val="accent6"/>
            </a:solidFill>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p:cNvCxnSpPr>
            <a:stCxn id="135" idx="2"/>
            <a:endCxn id="144" idx="0"/>
          </p:cNvCxnSpPr>
          <p:nvPr/>
        </p:nvCxnSpPr>
        <p:spPr>
          <a:xfrm>
            <a:off x="2724282" y="3329675"/>
            <a:ext cx="2736894" cy="1924856"/>
          </a:xfrm>
          <a:prstGeom prst="straightConnector1">
            <a:avLst/>
          </a:prstGeom>
          <a:ln w="19050">
            <a:solidFill>
              <a:schemeClr val="accent6"/>
            </a:solidFill>
            <a:tailEnd type="triangle"/>
          </a:ln>
        </p:spPr>
        <p:style>
          <a:lnRef idx="1">
            <a:schemeClr val="dk1"/>
          </a:lnRef>
          <a:fillRef idx="0">
            <a:schemeClr val="dk1"/>
          </a:fillRef>
          <a:effectRef idx="0">
            <a:schemeClr val="dk1"/>
          </a:effectRef>
          <a:fontRef idx="minor">
            <a:schemeClr val="tx1"/>
          </a:fontRef>
        </p:style>
      </p:cxnSp>
      <p:grpSp>
        <p:nvGrpSpPr>
          <p:cNvPr id="8" name="Group 7"/>
          <p:cNvGrpSpPr/>
          <p:nvPr/>
        </p:nvGrpSpPr>
        <p:grpSpPr>
          <a:xfrm>
            <a:off x="1127235" y="5254531"/>
            <a:ext cx="4562541" cy="457200"/>
            <a:chOff x="1127235" y="5638731"/>
            <a:chExt cx="4562541" cy="457200"/>
          </a:xfrm>
        </p:grpSpPr>
        <p:sp>
          <p:nvSpPr>
            <p:cNvPr id="130" name="Rectangle 129"/>
            <p:cNvSpPr>
              <a:spLocks noChangeAspect="1"/>
            </p:cNvSpPr>
            <p:nvPr/>
          </p:nvSpPr>
          <p:spPr>
            <a:xfrm>
              <a:off x="1127235"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110</a:t>
              </a:r>
              <a:r>
                <a:rPr lang="en-US" sz="1600" b="1" dirty="0">
                  <a:solidFill>
                    <a:schemeClr val="accent5"/>
                  </a:solidFill>
                </a:rPr>
                <a:t>0</a:t>
              </a:r>
            </a:p>
          </p:txBody>
        </p:sp>
        <p:sp>
          <p:nvSpPr>
            <p:cNvPr id="131" name="Rectangle 130"/>
            <p:cNvSpPr>
              <a:spLocks noChangeAspect="1"/>
            </p:cNvSpPr>
            <p:nvPr/>
          </p:nvSpPr>
          <p:spPr>
            <a:xfrm>
              <a:off x="1583384"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011</a:t>
              </a:r>
              <a:r>
                <a:rPr lang="en-US" sz="1600" b="1" dirty="0">
                  <a:solidFill>
                    <a:schemeClr val="accent5"/>
                  </a:solidFill>
                </a:rPr>
                <a:t>0</a:t>
              </a:r>
            </a:p>
          </p:txBody>
        </p:sp>
        <p:sp>
          <p:nvSpPr>
            <p:cNvPr id="143" name="Rectangle 142"/>
            <p:cNvSpPr>
              <a:spLocks noChangeAspect="1"/>
            </p:cNvSpPr>
            <p:nvPr/>
          </p:nvSpPr>
          <p:spPr>
            <a:xfrm>
              <a:off x="4776427"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001</a:t>
              </a:r>
              <a:r>
                <a:rPr lang="en-US" sz="1600" b="1" dirty="0">
                  <a:solidFill>
                    <a:schemeClr val="accent6"/>
                  </a:solidFill>
                </a:rPr>
                <a:t>1</a:t>
              </a:r>
            </a:p>
          </p:txBody>
        </p:sp>
        <p:sp>
          <p:nvSpPr>
            <p:cNvPr id="144" name="Rectangle 143"/>
            <p:cNvSpPr>
              <a:spLocks noChangeAspect="1"/>
            </p:cNvSpPr>
            <p:nvPr/>
          </p:nvSpPr>
          <p:spPr>
            <a:xfrm>
              <a:off x="5232576" y="563873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t>100</a:t>
              </a:r>
              <a:r>
                <a:rPr lang="en-US" sz="1600" b="1" dirty="0">
                  <a:solidFill>
                    <a:schemeClr val="accent6"/>
                  </a:solidFill>
                </a:rPr>
                <a:t>1</a:t>
              </a:r>
            </a:p>
          </p:txBody>
        </p:sp>
      </p:grpSp>
      <p:sp>
        <p:nvSpPr>
          <p:cNvPr id="152" name="TextBox 151"/>
          <p:cNvSpPr txBox="1"/>
          <p:nvPr/>
        </p:nvSpPr>
        <p:spPr>
          <a:xfrm>
            <a:off x="1126131" y="5917917"/>
            <a:ext cx="6944722" cy="338554"/>
          </a:xfrm>
          <a:prstGeom prst="rect">
            <a:avLst/>
          </a:prstGeom>
          <a:noFill/>
        </p:spPr>
        <p:txBody>
          <a:bodyPr wrap="none" rtlCol="0">
            <a:spAutoFit/>
          </a:bodyPr>
          <a:lstStyle/>
          <a:p>
            <a:pPr algn="ctr"/>
            <a:r>
              <a:rPr lang="en-US" sz="1600" dirty="0"/>
              <a:t>Stores are coalesced (nearby threads write to nearby locations in global memory)</a:t>
            </a:r>
          </a:p>
        </p:txBody>
      </p:sp>
    </p:spTree>
    <p:extLst>
      <p:ext uri="{BB962C8B-B14F-4D97-AF65-F5344CB8AC3E}">
        <p14:creationId xmlns:p14="http://schemas.microsoft.com/office/powerpoint/2010/main" val="248090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Choice of Radix Value</a:t>
            </a:r>
          </a:p>
        </p:txBody>
      </p:sp>
      <p:sp>
        <p:nvSpPr>
          <p:cNvPr id="4" name="Content Placeholder 3"/>
          <p:cNvSpPr>
            <a:spLocks noGrp="1"/>
          </p:cNvSpPr>
          <p:nvPr>
            <p:ph sz="half" idx="1"/>
          </p:nvPr>
        </p:nvSpPr>
        <p:spPr/>
        <p:txBody>
          <a:bodyPr>
            <a:noAutofit/>
          </a:bodyPr>
          <a:lstStyle/>
          <a:p>
            <a:r>
              <a:rPr lang="en-US" dirty="0"/>
              <a:t>So far, a 1-bit radix was used</a:t>
            </a:r>
          </a:p>
          <a:p>
            <a:pPr lvl="1"/>
            <a:r>
              <a:rPr lang="en-US" dirty="0"/>
              <a:t>N iterations are needed for keys that are N bits long</a:t>
            </a:r>
          </a:p>
          <a:p>
            <a:endParaRPr lang="en-US" sz="1400" dirty="0"/>
          </a:p>
          <a:p>
            <a:r>
              <a:rPr lang="en-US" dirty="0"/>
              <a:t>A larger radix can also be used</a:t>
            </a:r>
          </a:p>
          <a:p>
            <a:pPr lvl="1"/>
            <a:r>
              <a:rPr lang="en-US" dirty="0"/>
              <a:t>Advantage: fewer iterations</a:t>
            </a:r>
          </a:p>
          <a:p>
            <a:pPr lvl="1"/>
            <a:r>
              <a:rPr lang="en-US" dirty="0"/>
              <a:t>Disadvantage: more buckets</a:t>
            </a:r>
          </a:p>
          <a:p>
            <a:pPr lvl="2"/>
            <a:r>
              <a:rPr lang="en-US" dirty="0"/>
              <a:t>Results in poorer coalescing (shown later)</a:t>
            </a:r>
          </a:p>
          <a:p>
            <a:endParaRPr lang="en-US" sz="1400" dirty="0"/>
          </a:p>
          <a:p>
            <a:r>
              <a:rPr lang="en-US" dirty="0"/>
              <a:t>Choice of radix value must balance between the number of iterations and the coalescing behavior</a:t>
            </a:r>
          </a:p>
        </p:txBody>
      </p:sp>
    </p:spTree>
    <p:extLst>
      <p:ext uri="{BB962C8B-B14F-4D97-AF65-F5344CB8AC3E}">
        <p14:creationId xmlns:p14="http://schemas.microsoft.com/office/powerpoint/2010/main" val="3984214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Radix Sort Example (2-bit Radix)</a:t>
            </a:r>
          </a:p>
        </p:txBody>
      </p:sp>
      <p:grpSp>
        <p:nvGrpSpPr>
          <p:cNvPr id="51" name="Group 50"/>
          <p:cNvGrpSpPr/>
          <p:nvPr/>
        </p:nvGrpSpPr>
        <p:grpSpPr>
          <a:xfrm>
            <a:off x="1127235" y="1121984"/>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grpSp>
    </p:spTree>
    <p:extLst>
      <p:ext uri="{BB962C8B-B14F-4D97-AF65-F5344CB8AC3E}">
        <p14:creationId xmlns:p14="http://schemas.microsoft.com/office/powerpoint/2010/main" val="1874351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Radix Sort Example (2-bit Radix)</a:t>
            </a:r>
          </a:p>
        </p:txBody>
      </p:sp>
      <p:grpSp>
        <p:nvGrpSpPr>
          <p:cNvPr id="51" name="Group 50"/>
          <p:cNvGrpSpPr/>
          <p:nvPr/>
        </p:nvGrpSpPr>
        <p:grpSpPr>
          <a:xfrm>
            <a:off x="1127235" y="1121984"/>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grpSp>
      <p:grpSp>
        <p:nvGrpSpPr>
          <p:cNvPr id="2" name="Group 1"/>
          <p:cNvGrpSpPr/>
          <p:nvPr/>
        </p:nvGrpSpPr>
        <p:grpSpPr>
          <a:xfrm>
            <a:off x="1355835" y="1579184"/>
            <a:ext cx="6842235" cy="1777562"/>
            <a:chOff x="1355835" y="1963384"/>
            <a:chExt cx="6842235" cy="1777562"/>
          </a:xfrm>
        </p:grpSpPr>
        <p:cxnSp>
          <p:nvCxnSpPr>
            <p:cNvPr id="104" name="Straight Arrow Connector 103"/>
            <p:cNvCxnSpPr>
              <a:stCxn id="5" idx="2"/>
              <a:endCxn id="53" idx="0"/>
            </p:cNvCxnSpPr>
            <p:nvPr/>
          </p:nvCxnSpPr>
          <p:spPr>
            <a:xfrm>
              <a:off x="1355835" y="1963384"/>
              <a:ext cx="0"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36" idx="2"/>
              <a:endCxn id="82" idx="0"/>
            </p:cNvCxnSpPr>
            <p:nvPr/>
          </p:nvCxnSpPr>
          <p:spPr>
            <a:xfrm>
              <a:off x="1811984" y="1963384"/>
              <a:ext cx="501763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p:cNvCxnSpPr>
              <a:stCxn id="37" idx="2"/>
              <a:endCxn id="78" idx="0"/>
            </p:cNvCxnSpPr>
            <p:nvPr/>
          </p:nvCxnSpPr>
          <p:spPr>
            <a:xfrm>
              <a:off x="2268133" y="1963384"/>
              <a:ext cx="2736894"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p:cNvCxnSpPr>
              <a:stCxn id="38" idx="2"/>
              <a:endCxn id="74" idx="0"/>
            </p:cNvCxnSpPr>
            <p:nvPr/>
          </p:nvCxnSpPr>
          <p:spPr>
            <a:xfrm>
              <a:off x="2724282" y="1963384"/>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p:cNvCxnSpPr>
              <a:stCxn id="39" idx="2"/>
              <a:endCxn id="83" idx="0"/>
            </p:cNvCxnSpPr>
            <p:nvPr/>
          </p:nvCxnSpPr>
          <p:spPr>
            <a:xfrm>
              <a:off x="3180431" y="1963384"/>
              <a:ext cx="4105341"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p:cNvCxnSpPr>
              <a:stCxn id="40" idx="2"/>
              <a:endCxn id="71" idx="0"/>
            </p:cNvCxnSpPr>
            <p:nvPr/>
          </p:nvCxnSpPr>
          <p:spPr>
            <a:xfrm flipH="1">
              <a:off x="1811984" y="1963384"/>
              <a:ext cx="1824596"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p:cNvCxnSpPr>
              <a:stCxn id="41" idx="2"/>
              <a:endCxn id="75" idx="0"/>
            </p:cNvCxnSpPr>
            <p:nvPr/>
          </p:nvCxnSpPr>
          <p:spPr>
            <a:xfrm flipH="1">
              <a:off x="3636580" y="1963384"/>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p:cNvCxnSpPr>
              <a:stCxn id="42" idx="2"/>
              <a:endCxn id="79" idx="0"/>
            </p:cNvCxnSpPr>
            <p:nvPr/>
          </p:nvCxnSpPr>
          <p:spPr>
            <a:xfrm>
              <a:off x="4548878" y="1963384"/>
              <a:ext cx="91229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p:cNvCxnSpPr>
              <a:stCxn id="43" idx="2"/>
              <a:endCxn id="76" idx="0"/>
            </p:cNvCxnSpPr>
            <p:nvPr/>
          </p:nvCxnSpPr>
          <p:spPr>
            <a:xfrm flipH="1">
              <a:off x="4092729" y="1963384"/>
              <a:ext cx="91229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p:cNvCxnSpPr>
              <a:stCxn id="44" idx="2"/>
              <a:endCxn id="80" idx="0"/>
            </p:cNvCxnSpPr>
            <p:nvPr/>
          </p:nvCxnSpPr>
          <p:spPr>
            <a:xfrm>
              <a:off x="5461176" y="1963384"/>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p:cNvCxnSpPr>
              <a:stCxn id="45" idx="2"/>
              <a:endCxn id="84" idx="0"/>
            </p:cNvCxnSpPr>
            <p:nvPr/>
          </p:nvCxnSpPr>
          <p:spPr>
            <a:xfrm>
              <a:off x="5917325" y="1963384"/>
              <a:ext cx="1824596"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p:cNvCxnSpPr>
              <a:stCxn id="46" idx="2"/>
              <a:endCxn id="77" idx="0"/>
            </p:cNvCxnSpPr>
            <p:nvPr/>
          </p:nvCxnSpPr>
          <p:spPr>
            <a:xfrm flipH="1">
              <a:off x="4548878" y="1963384"/>
              <a:ext cx="1824596"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p:cNvCxnSpPr>
              <a:stCxn id="47" idx="2"/>
              <a:endCxn id="72" idx="0"/>
            </p:cNvCxnSpPr>
            <p:nvPr/>
          </p:nvCxnSpPr>
          <p:spPr>
            <a:xfrm flipH="1">
              <a:off x="2268133" y="1963384"/>
              <a:ext cx="4561490"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Straight Arrow Connector 116"/>
            <p:cNvCxnSpPr>
              <a:stCxn id="48" idx="2"/>
              <a:endCxn id="81" idx="0"/>
            </p:cNvCxnSpPr>
            <p:nvPr/>
          </p:nvCxnSpPr>
          <p:spPr>
            <a:xfrm flipH="1">
              <a:off x="6373474" y="1963384"/>
              <a:ext cx="91229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Straight Arrow Connector 117"/>
            <p:cNvCxnSpPr>
              <a:stCxn id="49" idx="2"/>
              <a:endCxn id="68" idx="0"/>
            </p:cNvCxnSpPr>
            <p:nvPr/>
          </p:nvCxnSpPr>
          <p:spPr>
            <a:xfrm>
              <a:off x="7741921" y="1963384"/>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18"/>
            <p:cNvCxnSpPr>
              <a:stCxn id="50" idx="2"/>
              <a:endCxn id="73" idx="0"/>
            </p:cNvCxnSpPr>
            <p:nvPr/>
          </p:nvCxnSpPr>
          <p:spPr>
            <a:xfrm flipH="1">
              <a:off x="2724282" y="1963384"/>
              <a:ext cx="547378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69" name="Group 68"/>
          <p:cNvGrpSpPr/>
          <p:nvPr/>
        </p:nvGrpSpPr>
        <p:grpSpPr>
          <a:xfrm>
            <a:off x="1127235" y="3356746"/>
            <a:ext cx="7299435" cy="457200"/>
            <a:chOff x="941989" y="1557421"/>
            <a:chExt cx="7299435" cy="457200"/>
          </a:xfrm>
        </p:grpSpPr>
        <p:sp>
          <p:nvSpPr>
            <p:cNvPr id="70" name="Rectangle 6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71" name="Rectangle 7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72" name="Rectangle 7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73" name="Rectangle 7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74" name="Rectangle 7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5" name="Rectangle 7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76" name="Rectangle 7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7" name="Rectangle 7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78" name="Rectangle 7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79" name="Rectangle 7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0" name="Rectangle 79"/>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81" name="Rectangle 80"/>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2" name="Rectangle 81"/>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83" name="Rectangle 82"/>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84" name="Rectangle 83"/>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85" name="Rectangle 84"/>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grpSp>
    </p:spTree>
    <p:extLst>
      <p:ext uri="{BB962C8B-B14F-4D97-AF65-F5344CB8AC3E}">
        <p14:creationId xmlns:p14="http://schemas.microsoft.com/office/powerpoint/2010/main" val="3202094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fade">
                                      <p:cBhvr>
                                        <p:cTn id="11"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Radix Sort Example (2-bit Radix)</a:t>
            </a:r>
          </a:p>
        </p:txBody>
      </p:sp>
      <p:grpSp>
        <p:nvGrpSpPr>
          <p:cNvPr id="51" name="Group 50"/>
          <p:cNvGrpSpPr/>
          <p:nvPr/>
        </p:nvGrpSpPr>
        <p:grpSpPr>
          <a:xfrm>
            <a:off x="1127235" y="1119677"/>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grpSp>
      <p:cxnSp>
        <p:nvCxnSpPr>
          <p:cNvPr id="104" name="Straight Arrow Connector 103"/>
          <p:cNvCxnSpPr>
            <a:stCxn id="5" idx="2"/>
          </p:cNvCxnSpPr>
          <p:nvPr/>
        </p:nvCxnSpPr>
        <p:spPr>
          <a:xfrm>
            <a:off x="1355835" y="1576877"/>
            <a:ext cx="0"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36" idx="2"/>
            <a:endCxn id="82" idx="0"/>
          </p:cNvCxnSpPr>
          <p:nvPr/>
        </p:nvCxnSpPr>
        <p:spPr>
          <a:xfrm>
            <a:off x="1811984" y="1576877"/>
            <a:ext cx="501763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p:cNvCxnSpPr>
            <a:stCxn id="37" idx="2"/>
            <a:endCxn id="78" idx="0"/>
          </p:cNvCxnSpPr>
          <p:nvPr/>
        </p:nvCxnSpPr>
        <p:spPr>
          <a:xfrm>
            <a:off x="2268133" y="1576877"/>
            <a:ext cx="2736894"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p:cNvCxnSpPr>
            <a:stCxn id="38" idx="2"/>
            <a:endCxn id="74" idx="0"/>
          </p:cNvCxnSpPr>
          <p:nvPr/>
        </p:nvCxnSpPr>
        <p:spPr>
          <a:xfrm>
            <a:off x="2724282" y="1576877"/>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p:cNvCxnSpPr>
            <a:stCxn id="39" idx="2"/>
            <a:endCxn id="83" idx="0"/>
          </p:cNvCxnSpPr>
          <p:nvPr/>
        </p:nvCxnSpPr>
        <p:spPr>
          <a:xfrm>
            <a:off x="3180431" y="1576877"/>
            <a:ext cx="4105341"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p:cNvCxnSpPr>
            <a:stCxn id="40" idx="2"/>
            <a:endCxn id="71" idx="0"/>
          </p:cNvCxnSpPr>
          <p:nvPr/>
        </p:nvCxnSpPr>
        <p:spPr>
          <a:xfrm flipH="1">
            <a:off x="1811984" y="1576877"/>
            <a:ext cx="1824596"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p:cNvCxnSpPr>
            <a:stCxn id="41" idx="2"/>
            <a:endCxn id="75" idx="0"/>
          </p:cNvCxnSpPr>
          <p:nvPr/>
        </p:nvCxnSpPr>
        <p:spPr>
          <a:xfrm flipH="1">
            <a:off x="3636580" y="1576877"/>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p:cNvCxnSpPr>
            <a:stCxn id="42" idx="2"/>
            <a:endCxn id="79" idx="0"/>
          </p:cNvCxnSpPr>
          <p:nvPr/>
        </p:nvCxnSpPr>
        <p:spPr>
          <a:xfrm>
            <a:off x="4548878" y="1576877"/>
            <a:ext cx="91229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p:cNvCxnSpPr>
            <a:stCxn id="43" idx="2"/>
            <a:endCxn id="76" idx="0"/>
          </p:cNvCxnSpPr>
          <p:nvPr/>
        </p:nvCxnSpPr>
        <p:spPr>
          <a:xfrm flipH="1">
            <a:off x="4092729" y="1576877"/>
            <a:ext cx="91229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p:cNvCxnSpPr>
            <a:stCxn id="44" idx="2"/>
            <a:endCxn id="80" idx="0"/>
          </p:cNvCxnSpPr>
          <p:nvPr/>
        </p:nvCxnSpPr>
        <p:spPr>
          <a:xfrm>
            <a:off x="5461176" y="1576877"/>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p:cNvCxnSpPr>
            <a:stCxn id="45" idx="2"/>
            <a:endCxn id="84" idx="0"/>
          </p:cNvCxnSpPr>
          <p:nvPr/>
        </p:nvCxnSpPr>
        <p:spPr>
          <a:xfrm>
            <a:off x="5917325" y="1576877"/>
            <a:ext cx="1824596"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p:cNvCxnSpPr>
            <a:stCxn id="46" idx="2"/>
            <a:endCxn id="77" idx="0"/>
          </p:cNvCxnSpPr>
          <p:nvPr/>
        </p:nvCxnSpPr>
        <p:spPr>
          <a:xfrm flipH="1">
            <a:off x="4548878" y="1576877"/>
            <a:ext cx="1824596"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p:cNvCxnSpPr>
            <a:stCxn id="47" idx="2"/>
            <a:endCxn id="72" idx="0"/>
          </p:cNvCxnSpPr>
          <p:nvPr/>
        </p:nvCxnSpPr>
        <p:spPr>
          <a:xfrm flipH="1">
            <a:off x="2268133" y="1576877"/>
            <a:ext cx="4561490"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Straight Arrow Connector 116"/>
          <p:cNvCxnSpPr>
            <a:stCxn id="48" idx="2"/>
            <a:endCxn id="81" idx="0"/>
          </p:cNvCxnSpPr>
          <p:nvPr/>
        </p:nvCxnSpPr>
        <p:spPr>
          <a:xfrm flipH="1">
            <a:off x="6373474" y="1576877"/>
            <a:ext cx="91229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Straight Arrow Connector 117"/>
          <p:cNvCxnSpPr>
            <a:stCxn id="49" idx="2"/>
          </p:cNvCxnSpPr>
          <p:nvPr/>
        </p:nvCxnSpPr>
        <p:spPr>
          <a:xfrm>
            <a:off x="7741921" y="1576877"/>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18"/>
          <p:cNvCxnSpPr>
            <a:stCxn id="50" idx="2"/>
            <a:endCxn id="73" idx="0"/>
          </p:cNvCxnSpPr>
          <p:nvPr/>
        </p:nvCxnSpPr>
        <p:spPr>
          <a:xfrm flipH="1">
            <a:off x="2724282" y="1576877"/>
            <a:ext cx="547378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7" name="Rectangle 86"/>
          <p:cNvSpPr/>
          <p:nvPr/>
        </p:nvSpPr>
        <p:spPr>
          <a:xfrm>
            <a:off x="1095702" y="1004800"/>
            <a:ext cx="7386145" cy="2349639"/>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68"/>
          <p:cNvGrpSpPr/>
          <p:nvPr/>
        </p:nvGrpSpPr>
        <p:grpSpPr>
          <a:xfrm>
            <a:off x="1127235" y="3354439"/>
            <a:ext cx="7299435" cy="457200"/>
            <a:chOff x="941989" y="1557421"/>
            <a:chExt cx="7299435" cy="457200"/>
          </a:xfrm>
        </p:grpSpPr>
        <p:sp>
          <p:nvSpPr>
            <p:cNvPr id="70" name="Rectangle 6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4">
                      <a:lumMod val="75000"/>
                    </a:schemeClr>
                  </a:solidFill>
                </a:rPr>
                <a:t>11</a:t>
              </a:r>
              <a:r>
                <a:rPr lang="en-US" sz="1600" dirty="0">
                  <a:solidFill>
                    <a:schemeClr val="tx1"/>
                  </a:solidFill>
                </a:rPr>
                <a:t>00</a:t>
              </a:r>
            </a:p>
          </p:txBody>
        </p:sp>
        <p:sp>
          <p:nvSpPr>
            <p:cNvPr id="71" name="Rectangle 7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00</a:t>
              </a:r>
            </a:p>
          </p:txBody>
        </p:sp>
        <p:sp>
          <p:nvSpPr>
            <p:cNvPr id="72" name="Rectangle 7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01</a:t>
              </a:r>
              <a:r>
                <a:rPr lang="en-US" sz="1600" dirty="0">
                  <a:solidFill>
                    <a:schemeClr val="tx1"/>
                  </a:solidFill>
                </a:rPr>
                <a:t>00</a:t>
              </a:r>
            </a:p>
          </p:txBody>
        </p:sp>
        <p:sp>
          <p:nvSpPr>
            <p:cNvPr id="73" name="Rectangle 7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00</a:t>
              </a:r>
              <a:r>
                <a:rPr lang="en-US" sz="1600" dirty="0">
                  <a:solidFill>
                    <a:schemeClr val="tx1"/>
                  </a:solidFill>
                </a:rPr>
                <a:t>00</a:t>
              </a:r>
            </a:p>
          </p:txBody>
        </p:sp>
        <p:sp>
          <p:nvSpPr>
            <p:cNvPr id="74" name="Rectangle 7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01</a:t>
              </a:r>
            </a:p>
          </p:txBody>
        </p:sp>
        <p:sp>
          <p:nvSpPr>
            <p:cNvPr id="75" name="Rectangle 7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01</a:t>
              </a:r>
              <a:r>
                <a:rPr lang="en-US" sz="1600" dirty="0">
                  <a:solidFill>
                    <a:schemeClr val="tx1"/>
                  </a:solidFill>
                </a:rPr>
                <a:t>01</a:t>
              </a:r>
            </a:p>
          </p:txBody>
        </p:sp>
        <p:sp>
          <p:nvSpPr>
            <p:cNvPr id="76" name="Rectangle 7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01</a:t>
              </a:r>
            </a:p>
          </p:txBody>
        </p:sp>
        <p:sp>
          <p:nvSpPr>
            <p:cNvPr id="77" name="Rectangle 7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4">
                      <a:lumMod val="75000"/>
                    </a:schemeClr>
                  </a:solidFill>
                </a:rPr>
                <a:t>11</a:t>
              </a:r>
              <a:r>
                <a:rPr lang="en-US" sz="1600" dirty="0">
                  <a:solidFill>
                    <a:schemeClr val="tx1"/>
                  </a:solidFill>
                </a:rPr>
                <a:t>01</a:t>
              </a:r>
            </a:p>
          </p:txBody>
        </p:sp>
        <p:sp>
          <p:nvSpPr>
            <p:cNvPr id="78" name="Rectangle 7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01</a:t>
              </a:r>
              <a:r>
                <a:rPr lang="en-US" sz="1600" dirty="0">
                  <a:solidFill>
                    <a:schemeClr val="tx1"/>
                  </a:solidFill>
                </a:rPr>
                <a:t>10</a:t>
              </a:r>
            </a:p>
          </p:txBody>
        </p:sp>
        <p:sp>
          <p:nvSpPr>
            <p:cNvPr id="79" name="Rectangle 7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10</a:t>
              </a:r>
            </a:p>
          </p:txBody>
        </p:sp>
        <p:sp>
          <p:nvSpPr>
            <p:cNvPr id="80" name="Rectangle 79"/>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01</a:t>
              </a:r>
              <a:r>
                <a:rPr lang="en-US" sz="1600" dirty="0">
                  <a:solidFill>
                    <a:schemeClr val="tx1"/>
                  </a:solidFill>
                </a:rPr>
                <a:t>10</a:t>
              </a:r>
            </a:p>
          </p:txBody>
        </p:sp>
        <p:sp>
          <p:nvSpPr>
            <p:cNvPr id="81" name="Rectangle 80"/>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10</a:t>
              </a:r>
            </a:p>
          </p:txBody>
        </p:sp>
        <p:sp>
          <p:nvSpPr>
            <p:cNvPr id="82" name="Rectangle 81"/>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00</a:t>
              </a:r>
              <a:r>
                <a:rPr lang="en-US" sz="1600" dirty="0">
                  <a:solidFill>
                    <a:schemeClr val="tx1"/>
                  </a:solidFill>
                </a:rPr>
                <a:t>11</a:t>
              </a:r>
            </a:p>
          </p:txBody>
        </p:sp>
        <p:sp>
          <p:nvSpPr>
            <p:cNvPr id="83" name="Rectangle 82"/>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4">
                      <a:lumMod val="75000"/>
                    </a:schemeClr>
                  </a:solidFill>
                </a:rPr>
                <a:t>11</a:t>
              </a:r>
              <a:r>
                <a:rPr lang="en-US" sz="1600" dirty="0">
                  <a:solidFill>
                    <a:schemeClr val="tx1"/>
                  </a:solidFill>
                </a:rPr>
                <a:t>11</a:t>
              </a:r>
            </a:p>
          </p:txBody>
        </p:sp>
        <p:sp>
          <p:nvSpPr>
            <p:cNvPr id="84" name="Rectangle 83"/>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11</a:t>
              </a:r>
            </a:p>
          </p:txBody>
        </p:sp>
        <p:sp>
          <p:nvSpPr>
            <p:cNvPr id="85" name="Rectangle 84"/>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01</a:t>
              </a:r>
              <a:r>
                <a:rPr lang="en-US" sz="1600" dirty="0">
                  <a:solidFill>
                    <a:schemeClr val="tx1"/>
                  </a:solidFill>
                </a:rPr>
                <a:t>11</a:t>
              </a:r>
            </a:p>
          </p:txBody>
        </p:sp>
      </p:grpSp>
      <p:grpSp>
        <p:nvGrpSpPr>
          <p:cNvPr id="3" name="Group 2"/>
          <p:cNvGrpSpPr/>
          <p:nvPr/>
        </p:nvGrpSpPr>
        <p:grpSpPr>
          <a:xfrm>
            <a:off x="1355835" y="3811639"/>
            <a:ext cx="6842235" cy="1777562"/>
            <a:chOff x="1355835" y="4198146"/>
            <a:chExt cx="6842235" cy="660181"/>
          </a:xfrm>
        </p:grpSpPr>
        <p:cxnSp>
          <p:nvCxnSpPr>
            <p:cNvPr id="135" name="Straight Arrow Connector 134"/>
            <p:cNvCxnSpPr>
              <a:stCxn id="71" idx="2"/>
              <a:endCxn id="87" idx="0"/>
            </p:cNvCxnSpPr>
            <p:nvPr/>
          </p:nvCxnSpPr>
          <p:spPr>
            <a:xfrm flipH="1">
              <a:off x="1355835" y="4198146"/>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70" idx="2"/>
              <a:endCxn id="95" idx="0"/>
            </p:cNvCxnSpPr>
            <p:nvPr/>
          </p:nvCxnSpPr>
          <p:spPr>
            <a:xfrm>
              <a:off x="1355835" y="4198146"/>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4" name="Straight Arrow Connector 153"/>
            <p:cNvCxnSpPr>
              <a:stCxn id="73" idx="2"/>
              <a:endCxn id="88" idx="0"/>
            </p:cNvCxnSpPr>
            <p:nvPr/>
          </p:nvCxnSpPr>
          <p:spPr>
            <a:xfrm flipH="1">
              <a:off x="1811984" y="4198146"/>
              <a:ext cx="912298"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p:cNvCxnSpPr>
              <a:stCxn id="72" idx="2"/>
              <a:endCxn id="96" idx="0"/>
            </p:cNvCxnSpPr>
            <p:nvPr/>
          </p:nvCxnSpPr>
          <p:spPr>
            <a:xfrm>
              <a:off x="2268133" y="4198146"/>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p:cNvCxnSpPr>
              <a:stCxn id="75" idx="2"/>
              <a:endCxn id="97" idx="0"/>
            </p:cNvCxnSpPr>
            <p:nvPr/>
          </p:nvCxnSpPr>
          <p:spPr>
            <a:xfrm>
              <a:off x="3636580" y="4198146"/>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p:cNvCxnSpPr>
              <a:stCxn id="74" idx="2"/>
              <a:endCxn id="89" idx="0"/>
            </p:cNvCxnSpPr>
            <p:nvPr/>
          </p:nvCxnSpPr>
          <p:spPr>
            <a:xfrm flipH="1">
              <a:off x="2268133" y="4198146"/>
              <a:ext cx="912298"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p:cNvCxnSpPr>
              <a:stCxn id="77" idx="2"/>
              <a:endCxn id="98" idx="0"/>
            </p:cNvCxnSpPr>
            <p:nvPr/>
          </p:nvCxnSpPr>
          <p:spPr>
            <a:xfrm>
              <a:off x="4548878" y="4198146"/>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76" idx="2"/>
              <a:endCxn id="90" idx="0"/>
            </p:cNvCxnSpPr>
            <p:nvPr/>
          </p:nvCxnSpPr>
          <p:spPr>
            <a:xfrm flipH="1">
              <a:off x="2724282" y="4198146"/>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78" idx="2"/>
              <a:endCxn id="99" idx="0"/>
            </p:cNvCxnSpPr>
            <p:nvPr/>
          </p:nvCxnSpPr>
          <p:spPr>
            <a:xfrm>
              <a:off x="5005027" y="4198146"/>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79" idx="2"/>
              <a:endCxn id="91" idx="0"/>
            </p:cNvCxnSpPr>
            <p:nvPr/>
          </p:nvCxnSpPr>
          <p:spPr>
            <a:xfrm flipH="1">
              <a:off x="3180431" y="4198146"/>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80" idx="2"/>
              <a:endCxn id="100" idx="0"/>
            </p:cNvCxnSpPr>
            <p:nvPr/>
          </p:nvCxnSpPr>
          <p:spPr>
            <a:xfrm>
              <a:off x="5917325" y="4198146"/>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83" idx="2"/>
              <a:endCxn id="101" idx="0"/>
            </p:cNvCxnSpPr>
            <p:nvPr/>
          </p:nvCxnSpPr>
          <p:spPr>
            <a:xfrm>
              <a:off x="7285772" y="4198146"/>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81" idx="2"/>
              <a:endCxn id="92" idx="0"/>
            </p:cNvCxnSpPr>
            <p:nvPr/>
          </p:nvCxnSpPr>
          <p:spPr>
            <a:xfrm flipH="1">
              <a:off x="3636580" y="4198146"/>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82" idx="2"/>
              <a:endCxn id="93" idx="0"/>
            </p:cNvCxnSpPr>
            <p:nvPr/>
          </p:nvCxnSpPr>
          <p:spPr>
            <a:xfrm flipH="1">
              <a:off x="4092729" y="4198146"/>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85" idx="2"/>
              <a:endCxn id="102" idx="0"/>
            </p:cNvCxnSpPr>
            <p:nvPr/>
          </p:nvCxnSpPr>
          <p:spPr>
            <a:xfrm>
              <a:off x="8198070" y="4198146"/>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p:cNvCxnSpPr>
              <a:stCxn id="84" idx="2"/>
              <a:endCxn id="94" idx="0"/>
            </p:cNvCxnSpPr>
            <p:nvPr/>
          </p:nvCxnSpPr>
          <p:spPr>
            <a:xfrm flipH="1">
              <a:off x="4548878" y="4198146"/>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37" name="Group 136"/>
          <p:cNvGrpSpPr/>
          <p:nvPr/>
        </p:nvGrpSpPr>
        <p:grpSpPr>
          <a:xfrm>
            <a:off x="1127235" y="5589201"/>
            <a:ext cx="7299435" cy="457200"/>
            <a:chOff x="941989" y="1557421"/>
            <a:chExt cx="7299435" cy="457200"/>
          </a:xfrm>
        </p:grpSpPr>
        <p:sp>
          <p:nvSpPr>
            <p:cNvPr id="138" name="Rectangle 137"/>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00</a:t>
              </a:r>
              <a:r>
                <a:rPr lang="en-US" sz="1600" dirty="0">
                  <a:solidFill>
                    <a:schemeClr val="tx1"/>
                  </a:solidFill>
                </a:rPr>
                <a:t>00</a:t>
              </a:r>
            </a:p>
          </p:txBody>
        </p:sp>
        <p:sp>
          <p:nvSpPr>
            <p:cNvPr id="139" name="Rectangle 138"/>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5"/>
                  </a:solidFill>
                </a:rPr>
                <a:t>00</a:t>
              </a:r>
              <a:r>
                <a:rPr lang="en-US" sz="1600" dirty="0">
                  <a:solidFill>
                    <a:schemeClr val="tx1"/>
                  </a:solidFill>
                </a:rPr>
                <a:t>11</a:t>
              </a:r>
            </a:p>
          </p:txBody>
        </p:sp>
        <p:sp>
          <p:nvSpPr>
            <p:cNvPr id="140" name="Rectangle 139"/>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01</a:t>
              </a:r>
              <a:r>
                <a:rPr lang="en-US" sz="1600" dirty="0">
                  <a:solidFill>
                    <a:schemeClr val="tx1"/>
                  </a:solidFill>
                </a:rPr>
                <a:t>00</a:t>
              </a:r>
            </a:p>
          </p:txBody>
        </p:sp>
        <p:sp>
          <p:nvSpPr>
            <p:cNvPr id="141" name="Rectangle 140"/>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01</a:t>
              </a:r>
              <a:r>
                <a:rPr lang="en-US" sz="1600" dirty="0">
                  <a:solidFill>
                    <a:schemeClr val="tx1"/>
                  </a:solidFill>
                </a:rPr>
                <a:t>01</a:t>
              </a:r>
            </a:p>
          </p:txBody>
        </p:sp>
        <p:sp>
          <p:nvSpPr>
            <p:cNvPr id="142" name="Rectangle 141"/>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01</a:t>
              </a:r>
              <a:r>
                <a:rPr lang="en-US" sz="1600" dirty="0">
                  <a:solidFill>
                    <a:schemeClr val="tx1"/>
                  </a:solidFill>
                </a:rPr>
                <a:t>10</a:t>
              </a:r>
            </a:p>
          </p:txBody>
        </p:sp>
        <p:sp>
          <p:nvSpPr>
            <p:cNvPr id="143" name="Rectangle 142"/>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01</a:t>
              </a:r>
              <a:r>
                <a:rPr lang="en-US" sz="1600" dirty="0">
                  <a:solidFill>
                    <a:schemeClr val="tx1"/>
                  </a:solidFill>
                </a:rPr>
                <a:t>10</a:t>
              </a:r>
            </a:p>
          </p:txBody>
        </p:sp>
        <p:sp>
          <p:nvSpPr>
            <p:cNvPr id="144" name="Rectangle 143"/>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6"/>
                  </a:solidFill>
                </a:rPr>
                <a:t>01</a:t>
              </a:r>
              <a:r>
                <a:rPr lang="en-US" sz="1600" dirty="0">
                  <a:solidFill>
                    <a:schemeClr val="tx1"/>
                  </a:solidFill>
                </a:rPr>
                <a:t>11</a:t>
              </a:r>
            </a:p>
          </p:txBody>
        </p:sp>
        <p:sp>
          <p:nvSpPr>
            <p:cNvPr id="145" name="Rectangle 144"/>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00</a:t>
              </a:r>
            </a:p>
          </p:txBody>
        </p:sp>
        <p:sp>
          <p:nvSpPr>
            <p:cNvPr id="146" name="Rectangle 145"/>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01</a:t>
              </a:r>
            </a:p>
          </p:txBody>
        </p:sp>
        <p:sp>
          <p:nvSpPr>
            <p:cNvPr id="147" name="Rectangle 146"/>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01</a:t>
              </a:r>
            </a:p>
          </p:txBody>
        </p:sp>
        <p:sp>
          <p:nvSpPr>
            <p:cNvPr id="148" name="Rectangle 147"/>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10</a:t>
              </a:r>
            </a:p>
          </p:txBody>
        </p:sp>
        <p:sp>
          <p:nvSpPr>
            <p:cNvPr id="149" name="Rectangle 148"/>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10</a:t>
              </a:r>
            </a:p>
          </p:txBody>
        </p:sp>
        <p:sp>
          <p:nvSpPr>
            <p:cNvPr id="150" name="Rectangle 149"/>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2"/>
                  </a:solidFill>
                </a:rPr>
                <a:t>10</a:t>
              </a:r>
              <a:r>
                <a:rPr lang="en-US" sz="1600" dirty="0">
                  <a:solidFill>
                    <a:schemeClr val="tx1"/>
                  </a:solidFill>
                </a:rPr>
                <a:t>11</a:t>
              </a:r>
            </a:p>
          </p:txBody>
        </p:sp>
        <p:sp>
          <p:nvSpPr>
            <p:cNvPr id="151" name="Rectangle 150"/>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4">
                      <a:lumMod val="75000"/>
                    </a:schemeClr>
                  </a:solidFill>
                </a:rPr>
                <a:t>11</a:t>
              </a:r>
              <a:r>
                <a:rPr lang="en-US" sz="1600" dirty="0">
                  <a:solidFill>
                    <a:schemeClr val="tx1"/>
                  </a:solidFill>
                </a:rPr>
                <a:t>00</a:t>
              </a:r>
            </a:p>
          </p:txBody>
        </p:sp>
        <p:sp>
          <p:nvSpPr>
            <p:cNvPr id="152" name="Rectangle 151"/>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4">
                      <a:lumMod val="75000"/>
                    </a:schemeClr>
                  </a:solidFill>
                </a:rPr>
                <a:t>11</a:t>
              </a:r>
              <a:r>
                <a:rPr lang="en-US" sz="1600" dirty="0">
                  <a:solidFill>
                    <a:schemeClr val="tx1"/>
                  </a:solidFill>
                </a:rPr>
                <a:t>01</a:t>
              </a:r>
            </a:p>
          </p:txBody>
        </p:sp>
        <p:sp>
          <p:nvSpPr>
            <p:cNvPr id="153" name="Rectangle 152"/>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b="1" dirty="0">
                  <a:solidFill>
                    <a:schemeClr val="accent4">
                      <a:lumMod val="75000"/>
                    </a:schemeClr>
                  </a:solidFill>
                </a:rPr>
                <a:t>11</a:t>
              </a:r>
              <a:r>
                <a:rPr lang="en-US" sz="1600" dirty="0">
                  <a:solidFill>
                    <a:schemeClr val="tx1"/>
                  </a:solidFill>
                </a:rPr>
                <a:t>11</a:t>
              </a:r>
            </a:p>
          </p:txBody>
        </p:sp>
      </p:grpSp>
      <p:sp>
        <p:nvSpPr>
          <p:cNvPr id="89" name="TextBox 88"/>
          <p:cNvSpPr txBox="1"/>
          <p:nvPr/>
        </p:nvSpPr>
        <p:spPr>
          <a:xfrm>
            <a:off x="1395129" y="6083250"/>
            <a:ext cx="6406755" cy="338554"/>
          </a:xfrm>
          <a:prstGeom prst="rect">
            <a:avLst/>
          </a:prstGeom>
          <a:noFill/>
        </p:spPr>
        <p:txBody>
          <a:bodyPr wrap="none" rtlCol="0">
            <a:spAutoFit/>
          </a:bodyPr>
          <a:lstStyle/>
          <a:p>
            <a:pPr algn="ctr"/>
            <a:r>
              <a:rPr lang="en-US" sz="1600" dirty="0"/>
              <a:t>Finish in fewer iterations (for 2-bit radix, need N/2 iterations for N-bit keys)</a:t>
            </a:r>
          </a:p>
        </p:txBody>
      </p:sp>
    </p:spTree>
    <p:extLst>
      <p:ext uri="{BB962C8B-B14F-4D97-AF65-F5344CB8AC3E}">
        <p14:creationId xmlns:p14="http://schemas.microsoft.com/office/powerpoint/2010/main" val="1353833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7"/>
                                        </p:tgtEl>
                                        <p:attrNameLst>
                                          <p:attrName>style.visibility</p:attrName>
                                        </p:attrNameLst>
                                      </p:cBhvr>
                                      <p:to>
                                        <p:strVal val="visible"/>
                                      </p:to>
                                    </p:set>
                                    <p:animEffect transition="in" filter="fade">
                                      <p:cBhvr>
                                        <p:cTn id="11" dur="500"/>
                                        <p:tgtEl>
                                          <p:spTgt spid="13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9"/>
                                        </p:tgtEl>
                                        <p:attrNameLst>
                                          <p:attrName>style.visibility</p:attrName>
                                        </p:attrNameLst>
                                      </p:cBhvr>
                                      <p:to>
                                        <p:strVal val="visible"/>
                                      </p:to>
                                    </p:set>
                                    <p:animEffect transition="in" filter="fade">
                                      <p:cBhvr>
                                        <p:cTn id="16"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Radix Sort Iteration (2-bit Radix)</a:t>
            </a:r>
          </a:p>
        </p:txBody>
      </p:sp>
      <p:grpSp>
        <p:nvGrpSpPr>
          <p:cNvPr id="53" name="Group 52"/>
          <p:cNvGrpSpPr/>
          <p:nvPr/>
        </p:nvGrpSpPr>
        <p:grpSpPr>
          <a:xfrm>
            <a:off x="1355835" y="3811639"/>
            <a:ext cx="6842235" cy="1777562"/>
            <a:chOff x="1355835" y="4198146"/>
            <a:chExt cx="6842235" cy="660181"/>
          </a:xfrm>
        </p:grpSpPr>
        <p:cxnSp>
          <p:nvCxnSpPr>
            <p:cNvPr id="54" name="Straight Arrow Connector 53"/>
            <p:cNvCxnSpPr/>
            <p:nvPr/>
          </p:nvCxnSpPr>
          <p:spPr>
            <a:xfrm flipH="1">
              <a:off x="1355835" y="4198146"/>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1355835" y="4198146"/>
              <a:ext cx="3649192"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p:cNvCxnSpPr/>
            <p:nvPr/>
          </p:nvCxnSpPr>
          <p:spPr>
            <a:xfrm flipH="1">
              <a:off x="1811984" y="4198146"/>
              <a:ext cx="912298"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268133" y="4198146"/>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p:cNvCxnSpPr/>
            <p:nvPr/>
          </p:nvCxnSpPr>
          <p:spPr>
            <a:xfrm>
              <a:off x="3636580" y="4198146"/>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p:cNvCxnSpPr/>
            <p:nvPr/>
          </p:nvCxnSpPr>
          <p:spPr>
            <a:xfrm flipH="1">
              <a:off x="2268133" y="4198146"/>
              <a:ext cx="912298"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p:cNvCxnSpPr/>
            <p:nvPr/>
          </p:nvCxnSpPr>
          <p:spPr>
            <a:xfrm>
              <a:off x="4548878" y="4198146"/>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p:cNvCxnSpPr/>
            <p:nvPr/>
          </p:nvCxnSpPr>
          <p:spPr>
            <a:xfrm flipH="1">
              <a:off x="2724282" y="4198146"/>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p:cNvCxnSpPr/>
            <p:nvPr/>
          </p:nvCxnSpPr>
          <p:spPr>
            <a:xfrm>
              <a:off x="5005027" y="4198146"/>
              <a:ext cx="1824596"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p:cNvCxnSpPr/>
            <p:nvPr/>
          </p:nvCxnSpPr>
          <p:spPr>
            <a:xfrm flipH="1">
              <a:off x="3180431" y="4198146"/>
              <a:ext cx="2280745"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p:cNvCxnSpPr/>
            <p:nvPr/>
          </p:nvCxnSpPr>
          <p:spPr>
            <a:xfrm>
              <a:off x="5917325" y="4198146"/>
              <a:ext cx="1368447"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p:cNvCxnSpPr/>
            <p:nvPr/>
          </p:nvCxnSpPr>
          <p:spPr>
            <a:xfrm>
              <a:off x="7285772" y="4198146"/>
              <a:ext cx="456149"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p:cNvCxnSpPr/>
            <p:nvPr/>
          </p:nvCxnSpPr>
          <p:spPr>
            <a:xfrm flipH="1">
              <a:off x="3636580" y="4198146"/>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p:cNvCxnSpPr/>
            <p:nvPr/>
          </p:nvCxnSpPr>
          <p:spPr>
            <a:xfrm flipH="1">
              <a:off x="4092729" y="4198146"/>
              <a:ext cx="2736894"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p:cNvCxnSpPr/>
            <p:nvPr/>
          </p:nvCxnSpPr>
          <p:spPr>
            <a:xfrm>
              <a:off x="8198070" y="4198146"/>
              <a:ext cx="0"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p:cNvCxnSpPr/>
            <p:nvPr/>
          </p:nvCxnSpPr>
          <p:spPr>
            <a:xfrm flipH="1">
              <a:off x="4548878" y="4198146"/>
              <a:ext cx="3193043" cy="6601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87" name="Group 86"/>
          <p:cNvGrpSpPr/>
          <p:nvPr/>
        </p:nvGrpSpPr>
        <p:grpSpPr>
          <a:xfrm>
            <a:off x="1127235" y="5589201"/>
            <a:ext cx="7299435" cy="457200"/>
            <a:chOff x="941989" y="1557421"/>
            <a:chExt cx="7299435" cy="457200"/>
          </a:xfrm>
        </p:grpSpPr>
        <p:sp>
          <p:nvSpPr>
            <p:cNvPr id="88" name="Rectangle 87"/>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0000</a:t>
              </a:r>
            </a:p>
          </p:txBody>
        </p:sp>
        <p:sp>
          <p:nvSpPr>
            <p:cNvPr id="89" name="Rectangle 88"/>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0011</a:t>
              </a:r>
            </a:p>
          </p:txBody>
        </p:sp>
        <p:sp>
          <p:nvSpPr>
            <p:cNvPr id="90" name="Rectangle 89"/>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0100</a:t>
              </a:r>
            </a:p>
          </p:txBody>
        </p:sp>
        <p:sp>
          <p:nvSpPr>
            <p:cNvPr id="91" name="Rectangle 90"/>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0101</a:t>
              </a:r>
            </a:p>
          </p:txBody>
        </p:sp>
        <p:sp>
          <p:nvSpPr>
            <p:cNvPr id="92" name="Rectangle 91"/>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93" name="Rectangle 92"/>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0110</a:t>
              </a:r>
            </a:p>
          </p:txBody>
        </p:sp>
        <p:sp>
          <p:nvSpPr>
            <p:cNvPr id="94" name="Rectangle 93"/>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0111</a:t>
              </a:r>
            </a:p>
          </p:txBody>
        </p:sp>
        <p:sp>
          <p:nvSpPr>
            <p:cNvPr id="95" name="Rectangle 94"/>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1000</a:t>
              </a:r>
            </a:p>
          </p:txBody>
        </p:sp>
        <p:sp>
          <p:nvSpPr>
            <p:cNvPr id="96" name="Rectangle 95"/>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97" name="Rectangle 96"/>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1001</a:t>
              </a:r>
            </a:p>
          </p:txBody>
        </p:sp>
        <p:sp>
          <p:nvSpPr>
            <p:cNvPr id="98" name="Rectangle 97"/>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99" name="Rectangle 98"/>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1010</a:t>
              </a:r>
            </a:p>
          </p:txBody>
        </p:sp>
        <p:sp>
          <p:nvSpPr>
            <p:cNvPr id="100" name="Rectangle 99"/>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1011</a:t>
              </a:r>
            </a:p>
          </p:txBody>
        </p:sp>
        <p:sp>
          <p:nvSpPr>
            <p:cNvPr id="101" name="Rectangle 100"/>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1100</a:t>
              </a:r>
            </a:p>
          </p:txBody>
        </p:sp>
        <p:sp>
          <p:nvSpPr>
            <p:cNvPr id="102" name="Rectangle 101"/>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1101</a:t>
              </a:r>
            </a:p>
          </p:txBody>
        </p:sp>
        <p:sp>
          <p:nvSpPr>
            <p:cNvPr id="103" name="Rectangle 102"/>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1111</a:t>
              </a:r>
            </a:p>
          </p:txBody>
        </p:sp>
      </p:grpSp>
      <p:sp>
        <p:nvSpPr>
          <p:cNvPr id="120" name="Rectangle 119"/>
          <p:cNvSpPr/>
          <p:nvPr/>
        </p:nvSpPr>
        <p:spPr>
          <a:xfrm>
            <a:off x="1095702" y="3811639"/>
            <a:ext cx="7386145" cy="2328778"/>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p:cNvGrpSpPr/>
          <p:nvPr/>
        </p:nvGrpSpPr>
        <p:grpSpPr>
          <a:xfrm>
            <a:off x="1127235" y="1119677"/>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grpSp>
      <p:cxnSp>
        <p:nvCxnSpPr>
          <p:cNvPr id="104" name="Straight Arrow Connector 103"/>
          <p:cNvCxnSpPr>
            <a:stCxn id="5" idx="2"/>
          </p:cNvCxnSpPr>
          <p:nvPr/>
        </p:nvCxnSpPr>
        <p:spPr>
          <a:xfrm>
            <a:off x="1355835" y="1576877"/>
            <a:ext cx="0"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36" idx="2"/>
            <a:endCxn id="82" idx="0"/>
          </p:cNvCxnSpPr>
          <p:nvPr/>
        </p:nvCxnSpPr>
        <p:spPr>
          <a:xfrm>
            <a:off x="1811984" y="1576877"/>
            <a:ext cx="501763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p:cNvCxnSpPr>
            <a:stCxn id="37" idx="2"/>
            <a:endCxn id="78" idx="0"/>
          </p:cNvCxnSpPr>
          <p:nvPr/>
        </p:nvCxnSpPr>
        <p:spPr>
          <a:xfrm>
            <a:off x="2268133" y="1576877"/>
            <a:ext cx="2736894"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p:cNvCxnSpPr>
            <a:stCxn id="38" idx="2"/>
            <a:endCxn id="74" idx="0"/>
          </p:cNvCxnSpPr>
          <p:nvPr/>
        </p:nvCxnSpPr>
        <p:spPr>
          <a:xfrm>
            <a:off x="2724282" y="1576877"/>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p:cNvCxnSpPr>
            <a:stCxn id="39" idx="2"/>
            <a:endCxn id="83" idx="0"/>
          </p:cNvCxnSpPr>
          <p:nvPr/>
        </p:nvCxnSpPr>
        <p:spPr>
          <a:xfrm>
            <a:off x="3180431" y="1576877"/>
            <a:ext cx="4105341"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p:cNvCxnSpPr>
            <a:stCxn id="40" idx="2"/>
            <a:endCxn id="71" idx="0"/>
          </p:cNvCxnSpPr>
          <p:nvPr/>
        </p:nvCxnSpPr>
        <p:spPr>
          <a:xfrm flipH="1">
            <a:off x="1811984" y="1576877"/>
            <a:ext cx="1824596"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p:cNvCxnSpPr>
            <a:stCxn id="41" idx="2"/>
            <a:endCxn id="75" idx="0"/>
          </p:cNvCxnSpPr>
          <p:nvPr/>
        </p:nvCxnSpPr>
        <p:spPr>
          <a:xfrm flipH="1">
            <a:off x="3636580" y="1576877"/>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p:cNvCxnSpPr>
            <a:stCxn id="42" idx="2"/>
            <a:endCxn id="79" idx="0"/>
          </p:cNvCxnSpPr>
          <p:nvPr/>
        </p:nvCxnSpPr>
        <p:spPr>
          <a:xfrm>
            <a:off x="4548878" y="1576877"/>
            <a:ext cx="91229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p:cNvCxnSpPr>
            <a:stCxn id="43" idx="2"/>
            <a:endCxn id="76" idx="0"/>
          </p:cNvCxnSpPr>
          <p:nvPr/>
        </p:nvCxnSpPr>
        <p:spPr>
          <a:xfrm flipH="1">
            <a:off x="4092729" y="1576877"/>
            <a:ext cx="91229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p:cNvCxnSpPr>
            <a:stCxn id="44" idx="2"/>
            <a:endCxn id="80" idx="0"/>
          </p:cNvCxnSpPr>
          <p:nvPr/>
        </p:nvCxnSpPr>
        <p:spPr>
          <a:xfrm>
            <a:off x="5461176" y="1576877"/>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p:cNvCxnSpPr>
            <a:stCxn id="45" idx="2"/>
            <a:endCxn id="84" idx="0"/>
          </p:cNvCxnSpPr>
          <p:nvPr/>
        </p:nvCxnSpPr>
        <p:spPr>
          <a:xfrm>
            <a:off x="5917325" y="1576877"/>
            <a:ext cx="1824596"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p:cNvCxnSpPr>
            <a:stCxn id="46" idx="2"/>
            <a:endCxn id="77" idx="0"/>
          </p:cNvCxnSpPr>
          <p:nvPr/>
        </p:nvCxnSpPr>
        <p:spPr>
          <a:xfrm flipH="1">
            <a:off x="4548878" y="1576877"/>
            <a:ext cx="1824596"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p:cNvCxnSpPr>
            <a:stCxn id="47" idx="2"/>
            <a:endCxn id="72" idx="0"/>
          </p:cNvCxnSpPr>
          <p:nvPr/>
        </p:nvCxnSpPr>
        <p:spPr>
          <a:xfrm flipH="1">
            <a:off x="2268133" y="1576877"/>
            <a:ext cx="4561490"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Straight Arrow Connector 116"/>
          <p:cNvCxnSpPr>
            <a:stCxn id="48" idx="2"/>
            <a:endCxn id="81" idx="0"/>
          </p:cNvCxnSpPr>
          <p:nvPr/>
        </p:nvCxnSpPr>
        <p:spPr>
          <a:xfrm flipH="1">
            <a:off x="6373474" y="1576877"/>
            <a:ext cx="91229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Straight Arrow Connector 117"/>
          <p:cNvCxnSpPr>
            <a:stCxn id="49" idx="2"/>
            <a:endCxn id="68" idx="0"/>
          </p:cNvCxnSpPr>
          <p:nvPr/>
        </p:nvCxnSpPr>
        <p:spPr>
          <a:xfrm>
            <a:off x="7741921" y="1576877"/>
            <a:ext cx="456149"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18"/>
          <p:cNvCxnSpPr>
            <a:stCxn id="50" idx="2"/>
            <a:endCxn id="73" idx="0"/>
          </p:cNvCxnSpPr>
          <p:nvPr/>
        </p:nvCxnSpPr>
        <p:spPr>
          <a:xfrm flipH="1">
            <a:off x="2724282" y="1576877"/>
            <a:ext cx="5473788" cy="1777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Group 68"/>
          <p:cNvGrpSpPr/>
          <p:nvPr/>
        </p:nvGrpSpPr>
        <p:grpSpPr>
          <a:xfrm>
            <a:off x="1127235" y="3354439"/>
            <a:ext cx="7299435" cy="457200"/>
            <a:chOff x="941989" y="1557421"/>
            <a:chExt cx="7299435" cy="457200"/>
          </a:xfrm>
        </p:grpSpPr>
        <p:sp>
          <p:nvSpPr>
            <p:cNvPr id="70" name="Rectangle 6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71" name="Rectangle 7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72" name="Rectangle 7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73" name="Rectangle 7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74" name="Rectangle 7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5" name="Rectangle 7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76" name="Rectangle 7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7" name="Rectangle 7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78" name="Rectangle 7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79" name="Rectangle 7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0" name="Rectangle 79"/>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81" name="Rectangle 80"/>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2" name="Rectangle 81"/>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83" name="Rectangle 82"/>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84" name="Rectangle 83"/>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85" name="Rectangle 84"/>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grpSp>
      <p:sp>
        <p:nvSpPr>
          <p:cNvPr id="121" name="Rectangle 120"/>
          <p:cNvSpPr/>
          <p:nvPr/>
        </p:nvSpPr>
        <p:spPr>
          <a:xfrm>
            <a:off x="1040524" y="1044210"/>
            <a:ext cx="7474826" cy="28653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1806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9" name="Straight Connector 198"/>
          <p:cNvCxnSpPr/>
          <p:nvPr/>
        </p:nvCxnSpPr>
        <p:spPr>
          <a:xfrm>
            <a:off x="2951831"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a:off x="4776427"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a:off x="6601023"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idx="10"/>
          </p:nvPr>
        </p:nvSpPr>
        <p:spPr/>
        <p:txBody>
          <a:bodyPr/>
          <a:lstStyle/>
          <a:p>
            <a:r>
              <a:rPr lang="en-US" dirty="0"/>
              <a:t>Radix Sort Iteration (2-bit Radix)</a:t>
            </a:r>
          </a:p>
        </p:txBody>
      </p:sp>
      <p:grpSp>
        <p:nvGrpSpPr>
          <p:cNvPr id="51" name="Group 50"/>
          <p:cNvGrpSpPr/>
          <p:nvPr/>
        </p:nvGrpSpPr>
        <p:grpSpPr>
          <a:xfrm>
            <a:off x="1127235" y="2059271"/>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grpSp>
      <p:grpSp>
        <p:nvGrpSpPr>
          <p:cNvPr id="215" name="Group 214"/>
          <p:cNvGrpSpPr/>
          <p:nvPr/>
        </p:nvGrpSpPr>
        <p:grpSpPr>
          <a:xfrm>
            <a:off x="2994823" y="1130729"/>
            <a:ext cx="1738603" cy="822960"/>
            <a:chOff x="2667000" y="1752600"/>
            <a:chExt cx="889511" cy="838200"/>
          </a:xfrm>
        </p:grpSpPr>
        <p:sp>
          <p:nvSpPr>
            <p:cNvPr id="216" name="Rectangle 21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7" name="Freeform 21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8" name="Freeform 21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9" name="Freeform 21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0" name="Freeform 21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21" name="Group 220"/>
          <p:cNvGrpSpPr/>
          <p:nvPr/>
        </p:nvGrpSpPr>
        <p:grpSpPr>
          <a:xfrm>
            <a:off x="4819769" y="1130729"/>
            <a:ext cx="1738603" cy="822960"/>
            <a:chOff x="2667000" y="1752600"/>
            <a:chExt cx="889511" cy="838200"/>
          </a:xfrm>
        </p:grpSpPr>
        <p:sp>
          <p:nvSpPr>
            <p:cNvPr id="222" name="Rectangle 221"/>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3" name="Freeform 222"/>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4" name="Freeform 223"/>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5" name="Freeform 224"/>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6" name="Freeform 225"/>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27" name="Group 226"/>
          <p:cNvGrpSpPr/>
          <p:nvPr/>
        </p:nvGrpSpPr>
        <p:grpSpPr>
          <a:xfrm>
            <a:off x="6644716" y="1130729"/>
            <a:ext cx="1738603" cy="822960"/>
            <a:chOff x="2667000" y="1752600"/>
            <a:chExt cx="889511" cy="838200"/>
          </a:xfrm>
        </p:grpSpPr>
        <p:sp>
          <p:nvSpPr>
            <p:cNvPr id="228" name="Rectangle 22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9" name="Freeform 22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0" name="Freeform 22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1" name="Freeform 23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2" name="Freeform 23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33" name="Group 232"/>
          <p:cNvGrpSpPr/>
          <p:nvPr/>
        </p:nvGrpSpPr>
        <p:grpSpPr>
          <a:xfrm>
            <a:off x="1169877" y="1130729"/>
            <a:ext cx="1738603" cy="822960"/>
            <a:chOff x="2667000" y="1752600"/>
            <a:chExt cx="889511" cy="838200"/>
          </a:xfrm>
        </p:grpSpPr>
        <p:sp>
          <p:nvSpPr>
            <p:cNvPr id="234" name="Rectangle 23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5" name="Freeform 23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6" name="Freeform 23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7" name="Freeform 23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8" name="Freeform 23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7" name="Group 6"/>
          <p:cNvGrpSpPr/>
          <p:nvPr/>
        </p:nvGrpSpPr>
        <p:grpSpPr>
          <a:xfrm>
            <a:off x="2951831" y="2879595"/>
            <a:ext cx="5474839" cy="457200"/>
            <a:chOff x="2951831" y="3256675"/>
            <a:chExt cx="5474839" cy="457200"/>
          </a:xfrm>
        </p:grpSpPr>
        <p:sp>
          <p:nvSpPr>
            <p:cNvPr id="262" name="Rectangle 261"/>
            <p:cNvSpPr>
              <a:spLocks noChangeAspect="1"/>
            </p:cNvSpPr>
            <p:nvPr/>
          </p:nvSpPr>
          <p:spPr>
            <a:xfrm>
              <a:off x="2951831"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263" name="Rectangle 262"/>
            <p:cNvSpPr>
              <a:spLocks noChangeAspect="1"/>
            </p:cNvSpPr>
            <p:nvPr/>
          </p:nvSpPr>
          <p:spPr>
            <a:xfrm>
              <a:off x="3407980"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264" name="Rectangle 263"/>
            <p:cNvSpPr>
              <a:spLocks noChangeAspect="1"/>
            </p:cNvSpPr>
            <p:nvPr/>
          </p:nvSpPr>
          <p:spPr>
            <a:xfrm>
              <a:off x="3864129"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65" name="Rectangle 264"/>
            <p:cNvSpPr>
              <a:spLocks noChangeAspect="1"/>
            </p:cNvSpPr>
            <p:nvPr/>
          </p:nvSpPr>
          <p:spPr>
            <a:xfrm>
              <a:off x="4320278"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266" name="Rectangle 265"/>
            <p:cNvSpPr>
              <a:spLocks noChangeAspect="1"/>
            </p:cNvSpPr>
            <p:nvPr/>
          </p:nvSpPr>
          <p:spPr>
            <a:xfrm>
              <a:off x="4776427"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67" name="Rectangle 266"/>
            <p:cNvSpPr>
              <a:spLocks noChangeAspect="1"/>
            </p:cNvSpPr>
            <p:nvPr/>
          </p:nvSpPr>
          <p:spPr>
            <a:xfrm>
              <a:off x="5232576"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268" name="Rectangle 267"/>
            <p:cNvSpPr>
              <a:spLocks noChangeAspect="1"/>
            </p:cNvSpPr>
            <p:nvPr/>
          </p:nvSpPr>
          <p:spPr>
            <a:xfrm>
              <a:off x="5688725"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69" name="Rectangle 268"/>
            <p:cNvSpPr>
              <a:spLocks noChangeAspect="1"/>
            </p:cNvSpPr>
            <p:nvPr/>
          </p:nvSpPr>
          <p:spPr>
            <a:xfrm>
              <a:off x="6144874"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270" name="Rectangle 269"/>
            <p:cNvSpPr>
              <a:spLocks noChangeAspect="1"/>
            </p:cNvSpPr>
            <p:nvPr/>
          </p:nvSpPr>
          <p:spPr>
            <a:xfrm>
              <a:off x="6601023"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271" name="Rectangle 270"/>
            <p:cNvSpPr>
              <a:spLocks noChangeAspect="1"/>
            </p:cNvSpPr>
            <p:nvPr/>
          </p:nvSpPr>
          <p:spPr>
            <a:xfrm>
              <a:off x="7057172"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272" name="Rectangle 271"/>
            <p:cNvSpPr>
              <a:spLocks noChangeAspect="1"/>
            </p:cNvSpPr>
            <p:nvPr/>
          </p:nvSpPr>
          <p:spPr>
            <a:xfrm>
              <a:off x="7513321"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73" name="Rectangle 272"/>
            <p:cNvSpPr>
              <a:spLocks noChangeAspect="1"/>
            </p:cNvSpPr>
            <p:nvPr/>
          </p:nvSpPr>
          <p:spPr>
            <a:xfrm>
              <a:off x="7969470"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grpSp>
      <p:grpSp>
        <p:nvGrpSpPr>
          <p:cNvPr id="3" name="Group 2"/>
          <p:cNvGrpSpPr/>
          <p:nvPr/>
        </p:nvGrpSpPr>
        <p:grpSpPr>
          <a:xfrm>
            <a:off x="1127235" y="2879595"/>
            <a:ext cx="1825647" cy="457200"/>
            <a:chOff x="1127235" y="3256675"/>
            <a:chExt cx="1825647" cy="457200"/>
          </a:xfrm>
        </p:grpSpPr>
        <p:sp>
          <p:nvSpPr>
            <p:cNvPr id="274" name="Rectangle 273"/>
            <p:cNvSpPr>
              <a:spLocks noChangeAspect="1"/>
            </p:cNvSpPr>
            <p:nvPr/>
          </p:nvSpPr>
          <p:spPr>
            <a:xfrm>
              <a:off x="1127235"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275" name="Rectangle 274"/>
            <p:cNvSpPr>
              <a:spLocks noChangeAspect="1"/>
            </p:cNvSpPr>
            <p:nvPr/>
          </p:nvSpPr>
          <p:spPr>
            <a:xfrm>
              <a:off x="1583384"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76" name="Rectangle 275"/>
            <p:cNvSpPr>
              <a:spLocks noChangeAspect="1"/>
            </p:cNvSpPr>
            <p:nvPr/>
          </p:nvSpPr>
          <p:spPr>
            <a:xfrm>
              <a:off x="2039533"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77" name="Rectangle 276"/>
            <p:cNvSpPr>
              <a:spLocks noChangeAspect="1"/>
            </p:cNvSpPr>
            <p:nvPr/>
          </p:nvSpPr>
          <p:spPr>
            <a:xfrm>
              <a:off x="2495682"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grpSp>
      <p:grpSp>
        <p:nvGrpSpPr>
          <p:cNvPr id="6" name="Group 5"/>
          <p:cNvGrpSpPr/>
          <p:nvPr/>
        </p:nvGrpSpPr>
        <p:grpSpPr>
          <a:xfrm>
            <a:off x="3180431" y="2516471"/>
            <a:ext cx="5017639" cy="363124"/>
            <a:chOff x="3180431" y="2893551"/>
            <a:chExt cx="5017639" cy="363124"/>
          </a:xfrm>
        </p:grpSpPr>
        <p:cxnSp>
          <p:nvCxnSpPr>
            <p:cNvPr id="295" name="Straight Arrow Connector 294"/>
            <p:cNvCxnSpPr>
              <a:stCxn id="39" idx="2"/>
              <a:endCxn id="265" idx="0"/>
            </p:cNvCxnSpPr>
            <p:nvPr/>
          </p:nvCxnSpPr>
          <p:spPr>
            <a:xfrm>
              <a:off x="3180431" y="289355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6" name="Straight Arrow Connector 295"/>
            <p:cNvCxnSpPr>
              <a:stCxn id="40" idx="2"/>
              <a:endCxn id="262" idx="0"/>
            </p:cNvCxnSpPr>
            <p:nvPr/>
          </p:nvCxnSpPr>
          <p:spPr>
            <a:xfrm flipH="1">
              <a:off x="3180431"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7" name="Straight Arrow Connector 296"/>
            <p:cNvCxnSpPr>
              <a:stCxn id="42" idx="2"/>
              <a:endCxn id="264" idx="0"/>
            </p:cNvCxnSpPr>
            <p:nvPr/>
          </p:nvCxnSpPr>
          <p:spPr>
            <a:xfrm flipH="1">
              <a:off x="4092729"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8" name="Straight Arrow Connector 297"/>
            <p:cNvCxnSpPr>
              <a:stCxn id="41" idx="2"/>
              <a:endCxn id="263" idx="0"/>
            </p:cNvCxnSpPr>
            <p:nvPr/>
          </p:nvCxnSpPr>
          <p:spPr>
            <a:xfrm flipH="1">
              <a:off x="3636580"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9" name="Straight Arrow Connector 298"/>
            <p:cNvCxnSpPr>
              <a:stCxn id="43" idx="2"/>
              <a:endCxn id="266" idx="0"/>
            </p:cNvCxnSpPr>
            <p:nvPr/>
          </p:nvCxnSpPr>
          <p:spPr>
            <a:xfrm>
              <a:off x="5005027"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0" name="Straight Arrow Connector 299"/>
            <p:cNvCxnSpPr>
              <a:stCxn id="44" idx="2"/>
              <a:endCxn id="268" idx="0"/>
            </p:cNvCxnSpPr>
            <p:nvPr/>
          </p:nvCxnSpPr>
          <p:spPr>
            <a:xfrm>
              <a:off x="5461176"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1" name="Straight Arrow Connector 300"/>
            <p:cNvCxnSpPr>
              <a:stCxn id="45" idx="2"/>
              <a:endCxn id="269" idx="0"/>
            </p:cNvCxnSpPr>
            <p:nvPr/>
          </p:nvCxnSpPr>
          <p:spPr>
            <a:xfrm>
              <a:off x="5917325"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2" name="Straight Arrow Connector 301"/>
            <p:cNvCxnSpPr>
              <a:stCxn id="46" idx="2"/>
              <a:endCxn id="267" idx="0"/>
            </p:cNvCxnSpPr>
            <p:nvPr/>
          </p:nvCxnSpPr>
          <p:spPr>
            <a:xfrm flipH="1">
              <a:off x="5461176" y="28935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3" name="Straight Arrow Connector 302"/>
            <p:cNvCxnSpPr>
              <a:stCxn id="47" idx="2"/>
              <a:endCxn id="270" idx="0"/>
            </p:cNvCxnSpPr>
            <p:nvPr/>
          </p:nvCxnSpPr>
          <p:spPr>
            <a:xfrm>
              <a:off x="6829623"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4" name="Straight Arrow Connector 303"/>
            <p:cNvCxnSpPr>
              <a:stCxn id="48" idx="2"/>
              <a:endCxn id="272" idx="0"/>
            </p:cNvCxnSpPr>
            <p:nvPr/>
          </p:nvCxnSpPr>
          <p:spPr>
            <a:xfrm>
              <a:off x="7285772"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5" name="Straight Arrow Connector 304"/>
            <p:cNvCxnSpPr>
              <a:stCxn id="49" idx="2"/>
              <a:endCxn id="273" idx="0"/>
            </p:cNvCxnSpPr>
            <p:nvPr/>
          </p:nvCxnSpPr>
          <p:spPr>
            <a:xfrm>
              <a:off x="7741921"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6" name="Straight Arrow Connector 305"/>
            <p:cNvCxnSpPr>
              <a:stCxn id="50" idx="2"/>
              <a:endCxn id="271" idx="0"/>
            </p:cNvCxnSpPr>
            <p:nvPr/>
          </p:nvCxnSpPr>
          <p:spPr>
            <a:xfrm flipH="1">
              <a:off x="7285772" y="28935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2" name="Group 1"/>
          <p:cNvGrpSpPr/>
          <p:nvPr/>
        </p:nvGrpSpPr>
        <p:grpSpPr>
          <a:xfrm>
            <a:off x="1355835" y="2516471"/>
            <a:ext cx="1368447" cy="363124"/>
            <a:chOff x="1355835" y="2893551"/>
            <a:chExt cx="1368447" cy="363124"/>
          </a:xfrm>
        </p:grpSpPr>
        <p:cxnSp>
          <p:nvCxnSpPr>
            <p:cNvPr id="307" name="Straight Arrow Connector 306"/>
            <p:cNvCxnSpPr>
              <a:stCxn id="5" idx="2"/>
              <a:endCxn id="274" idx="0"/>
            </p:cNvCxnSpPr>
            <p:nvPr/>
          </p:nvCxnSpPr>
          <p:spPr>
            <a:xfrm>
              <a:off x="1355835"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8" name="Straight Arrow Connector 307"/>
            <p:cNvCxnSpPr>
              <a:stCxn id="36" idx="2"/>
              <a:endCxn id="277" idx="0"/>
            </p:cNvCxnSpPr>
            <p:nvPr/>
          </p:nvCxnSpPr>
          <p:spPr>
            <a:xfrm>
              <a:off x="1811984" y="28935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9" name="Straight Arrow Connector 308"/>
            <p:cNvCxnSpPr>
              <a:stCxn id="37" idx="2"/>
              <a:endCxn id="276" idx="0"/>
            </p:cNvCxnSpPr>
            <p:nvPr/>
          </p:nvCxnSpPr>
          <p:spPr>
            <a:xfrm>
              <a:off x="2268133"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0" name="Straight Arrow Connector 309"/>
            <p:cNvCxnSpPr>
              <a:stCxn id="38" idx="2"/>
              <a:endCxn id="275" idx="0"/>
            </p:cNvCxnSpPr>
            <p:nvPr/>
          </p:nvCxnSpPr>
          <p:spPr>
            <a:xfrm flipH="1">
              <a:off x="1811984" y="28935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311" name="Rectangle 310"/>
          <p:cNvSpPr/>
          <p:nvPr/>
        </p:nvSpPr>
        <p:spPr>
          <a:xfrm>
            <a:off x="-58605" y="2509306"/>
            <a:ext cx="1228482" cy="769441"/>
          </a:xfrm>
          <a:prstGeom prst="rect">
            <a:avLst/>
          </a:prstGeom>
        </p:spPr>
        <p:txBody>
          <a:bodyPr wrap="square">
            <a:spAutoFit/>
          </a:bodyPr>
          <a:lstStyle/>
          <a:p>
            <a:pPr algn="ctr"/>
            <a:r>
              <a:rPr lang="en-US" sz="1600" dirty="0"/>
              <a:t>Sort locally</a:t>
            </a:r>
          </a:p>
          <a:p>
            <a:pPr algn="ctr"/>
            <a:r>
              <a:rPr lang="en-US" sz="1400" dirty="0">
                <a:solidFill>
                  <a:schemeClr val="bg1">
                    <a:lumMod val="65000"/>
                  </a:schemeClr>
                </a:solidFill>
              </a:rPr>
              <a:t>(use multiple 1-bit steps)</a:t>
            </a:r>
            <a:endParaRPr lang="en-US" sz="1600" dirty="0">
              <a:solidFill>
                <a:schemeClr val="bg1">
                  <a:lumMod val="65000"/>
                </a:schemeClr>
              </a:solidFill>
            </a:endParaRPr>
          </a:p>
        </p:txBody>
      </p:sp>
      <p:sp>
        <p:nvSpPr>
          <p:cNvPr id="102" name="TextBox 101"/>
          <p:cNvSpPr txBox="1"/>
          <p:nvPr/>
        </p:nvSpPr>
        <p:spPr>
          <a:xfrm>
            <a:off x="2619265" y="3642977"/>
            <a:ext cx="3905493" cy="338554"/>
          </a:xfrm>
          <a:prstGeom prst="rect">
            <a:avLst/>
          </a:prstGeom>
          <a:noFill/>
        </p:spPr>
        <p:txBody>
          <a:bodyPr wrap="none" rtlCol="0">
            <a:spAutoFit/>
          </a:bodyPr>
          <a:lstStyle/>
          <a:p>
            <a:pPr algn="ctr"/>
            <a:r>
              <a:rPr lang="en-US" sz="1600" dirty="0"/>
              <a:t>Where should each block write each bucket?</a:t>
            </a:r>
          </a:p>
        </p:txBody>
      </p:sp>
    </p:spTree>
    <p:extLst>
      <p:ext uri="{BB962C8B-B14F-4D97-AF65-F5344CB8AC3E}">
        <p14:creationId xmlns:p14="http://schemas.microsoft.com/office/powerpoint/2010/main" val="3846986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1">
                                            <p:txEl>
                                              <p:pRg st="0" end="0"/>
                                            </p:txEl>
                                          </p:spTgt>
                                        </p:tgtEl>
                                        <p:attrNameLst>
                                          <p:attrName>style.visibility</p:attrName>
                                        </p:attrNameLst>
                                      </p:cBhvr>
                                      <p:to>
                                        <p:strVal val="visible"/>
                                      </p:to>
                                    </p:set>
                                    <p:animEffect transition="in" filter="fade">
                                      <p:cBhvr>
                                        <p:cTn id="7" dur="500"/>
                                        <p:tgtEl>
                                          <p:spTgt spid="3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1">
                                            <p:txEl>
                                              <p:pRg st="1" end="1"/>
                                            </p:txEl>
                                          </p:spTgt>
                                        </p:tgtEl>
                                        <p:attrNameLst>
                                          <p:attrName>style.visibility</p:attrName>
                                        </p:attrNameLst>
                                      </p:cBhvr>
                                      <p:to>
                                        <p:strVal val="visible"/>
                                      </p:to>
                                    </p:set>
                                    <p:animEffect transition="in" filter="fade">
                                      <p:cBhvr>
                                        <p:cTn id="21" dur="500"/>
                                        <p:tgtEl>
                                          <p:spTgt spid="311">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up)">
                                      <p:cBhvr>
                                        <p:cTn id="26" dur="500"/>
                                        <p:tgtEl>
                                          <p:spTgt spid="6"/>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2"/>
                                        </p:tgtEl>
                                        <p:attrNameLst>
                                          <p:attrName>style.visibility</p:attrName>
                                        </p:attrNameLst>
                                      </p:cBhvr>
                                      <p:to>
                                        <p:strVal val="visible"/>
                                      </p:to>
                                    </p:set>
                                    <p:animEffect transition="in" filter="fade">
                                      <p:cBhvr>
                                        <p:cTn id="35"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 grpId="0" uiExpand="1" build="p"/>
      <p:bldP spid="10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9" name="Straight Connector 198"/>
          <p:cNvCxnSpPr/>
          <p:nvPr/>
        </p:nvCxnSpPr>
        <p:spPr>
          <a:xfrm>
            <a:off x="2951831"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a:off x="4776427"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a:off x="6601023"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0"/>
          </p:nvPr>
        </p:nvSpPr>
        <p:spPr/>
        <p:txBody>
          <a:bodyPr/>
          <a:lstStyle/>
          <a:p>
            <a:r>
              <a:rPr lang="en-US" dirty="0"/>
              <a:t>Radix Sort Iteration (2-bit Radix)</a:t>
            </a:r>
          </a:p>
        </p:txBody>
      </p:sp>
      <p:grpSp>
        <p:nvGrpSpPr>
          <p:cNvPr id="51" name="Group 50"/>
          <p:cNvGrpSpPr/>
          <p:nvPr/>
        </p:nvGrpSpPr>
        <p:grpSpPr>
          <a:xfrm>
            <a:off x="1127235" y="2059271"/>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grpSp>
      <p:grpSp>
        <p:nvGrpSpPr>
          <p:cNvPr id="215" name="Group 214"/>
          <p:cNvGrpSpPr/>
          <p:nvPr/>
        </p:nvGrpSpPr>
        <p:grpSpPr>
          <a:xfrm>
            <a:off x="2994823" y="1130729"/>
            <a:ext cx="1738603" cy="822960"/>
            <a:chOff x="2667000" y="1752600"/>
            <a:chExt cx="889511" cy="838200"/>
          </a:xfrm>
        </p:grpSpPr>
        <p:sp>
          <p:nvSpPr>
            <p:cNvPr id="216" name="Rectangle 21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7" name="Freeform 21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8" name="Freeform 21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9" name="Freeform 21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0" name="Freeform 21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21" name="Group 220"/>
          <p:cNvGrpSpPr/>
          <p:nvPr/>
        </p:nvGrpSpPr>
        <p:grpSpPr>
          <a:xfrm>
            <a:off x="4819769" y="1130729"/>
            <a:ext cx="1738603" cy="822960"/>
            <a:chOff x="2667000" y="1752600"/>
            <a:chExt cx="889511" cy="838200"/>
          </a:xfrm>
        </p:grpSpPr>
        <p:sp>
          <p:nvSpPr>
            <p:cNvPr id="222" name="Rectangle 221"/>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3" name="Freeform 222"/>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4" name="Freeform 223"/>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5" name="Freeform 224"/>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6" name="Freeform 225"/>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27" name="Group 226"/>
          <p:cNvGrpSpPr/>
          <p:nvPr/>
        </p:nvGrpSpPr>
        <p:grpSpPr>
          <a:xfrm>
            <a:off x="6644716" y="1130729"/>
            <a:ext cx="1738603" cy="822960"/>
            <a:chOff x="2667000" y="1752600"/>
            <a:chExt cx="889511" cy="838200"/>
          </a:xfrm>
        </p:grpSpPr>
        <p:sp>
          <p:nvSpPr>
            <p:cNvPr id="228" name="Rectangle 22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9" name="Freeform 22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0" name="Freeform 22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1" name="Freeform 23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2" name="Freeform 23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33" name="Group 232"/>
          <p:cNvGrpSpPr/>
          <p:nvPr/>
        </p:nvGrpSpPr>
        <p:grpSpPr>
          <a:xfrm>
            <a:off x="1169877" y="1130729"/>
            <a:ext cx="1738603" cy="822960"/>
            <a:chOff x="2667000" y="1752600"/>
            <a:chExt cx="889511" cy="838200"/>
          </a:xfrm>
        </p:grpSpPr>
        <p:sp>
          <p:nvSpPr>
            <p:cNvPr id="234" name="Rectangle 23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5" name="Freeform 23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6" name="Freeform 23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7" name="Freeform 23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8" name="Freeform 23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61" name="Group 260"/>
          <p:cNvGrpSpPr/>
          <p:nvPr/>
        </p:nvGrpSpPr>
        <p:grpSpPr>
          <a:xfrm>
            <a:off x="1127235" y="2879595"/>
            <a:ext cx="7299435" cy="457200"/>
            <a:chOff x="1127235" y="2436351"/>
            <a:chExt cx="7299435" cy="457200"/>
          </a:xfrm>
        </p:grpSpPr>
        <p:sp>
          <p:nvSpPr>
            <p:cNvPr id="262" name="Rectangle 261"/>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263" name="Rectangle 262"/>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264" name="Rectangle 263"/>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65" name="Rectangle 264"/>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266" name="Rectangle 265"/>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67" name="Rectangle 266"/>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268" name="Rectangle 267"/>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69" name="Rectangle 268"/>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270" name="Rectangle 269"/>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271" name="Rectangle 270"/>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272" name="Rectangle 271"/>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73" name="Rectangle 272"/>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274" name="Rectangle 273"/>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275" name="Rectangle 274"/>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76" name="Rectangle 275"/>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77" name="Rectangle 276"/>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grpSp>
      <p:cxnSp>
        <p:nvCxnSpPr>
          <p:cNvPr id="295" name="Straight Arrow Connector 294"/>
          <p:cNvCxnSpPr>
            <a:stCxn id="39" idx="2"/>
            <a:endCxn id="265" idx="0"/>
          </p:cNvCxnSpPr>
          <p:nvPr/>
        </p:nvCxnSpPr>
        <p:spPr>
          <a:xfrm>
            <a:off x="3180431" y="251647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6" name="Straight Arrow Connector 295"/>
          <p:cNvCxnSpPr>
            <a:stCxn id="40" idx="2"/>
            <a:endCxn id="262" idx="0"/>
          </p:cNvCxnSpPr>
          <p:nvPr/>
        </p:nvCxnSpPr>
        <p:spPr>
          <a:xfrm flipH="1">
            <a:off x="3180431"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7" name="Straight Arrow Connector 296"/>
          <p:cNvCxnSpPr>
            <a:stCxn id="42" idx="2"/>
            <a:endCxn id="264" idx="0"/>
          </p:cNvCxnSpPr>
          <p:nvPr/>
        </p:nvCxnSpPr>
        <p:spPr>
          <a:xfrm flipH="1">
            <a:off x="4092729"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8" name="Straight Arrow Connector 297"/>
          <p:cNvCxnSpPr>
            <a:stCxn id="41" idx="2"/>
            <a:endCxn id="263" idx="0"/>
          </p:cNvCxnSpPr>
          <p:nvPr/>
        </p:nvCxnSpPr>
        <p:spPr>
          <a:xfrm flipH="1">
            <a:off x="3636580"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9" name="Straight Arrow Connector 298"/>
          <p:cNvCxnSpPr>
            <a:stCxn id="43" idx="2"/>
            <a:endCxn id="266" idx="0"/>
          </p:cNvCxnSpPr>
          <p:nvPr/>
        </p:nvCxnSpPr>
        <p:spPr>
          <a:xfrm>
            <a:off x="5005027"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0" name="Straight Arrow Connector 299"/>
          <p:cNvCxnSpPr>
            <a:stCxn id="44" idx="2"/>
            <a:endCxn id="268" idx="0"/>
          </p:cNvCxnSpPr>
          <p:nvPr/>
        </p:nvCxnSpPr>
        <p:spPr>
          <a:xfrm>
            <a:off x="5461176"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1" name="Straight Arrow Connector 300"/>
          <p:cNvCxnSpPr>
            <a:stCxn id="45" idx="2"/>
            <a:endCxn id="269" idx="0"/>
          </p:cNvCxnSpPr>
          <p:nvPr/>
        </p:nvCxnSpPr>
        <p:spPr>
          <a:xfrm>
            <a:off x="5917325"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2" name="Straight Arrow Connector 301"/>
          <p:cNvCxnSpPr>
            <a:stCxn id="46" idx="2"/>
            <a:endCxn id="267" idx="0"/>
          </p:cNvCxnSpPr>
          <p:nvPr/>
        </p:nvCxnSpPr>
        <p:spPr>
          <a:xfrm flipH="1">
            <a:off x="5461176"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3" name="Straight Arrow Connector 302"/>
          <p:cNvCxnSpPr>
            <a:stCxn id="47" idx="2"/>
            <a:endCxn id="270" idx="0"/>
          </p:cNvCxnSpPr>
          <p:nvPr/>
        </p:nvCxnSpPr>
        <p:spPr>
          <a:xfrm>
            <a:off x="6829623"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4" name="Straight Arrow Connector 303"/>
          <p:cNvCxnSpPr>
            <a:stCxn id="48" idx="2"/>
            <a:endCxn id="272" idx="0"/>
          </p:cNvCxnSpPr>
          <p:nvPr/>
        </p:nvCxnSpPr>
        <p:spPr>
          <a:xfrm>
            <a:off x="7285772"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5" name="Straight Arrow Connector 304"/>
          <p:cNvCxnSpPr>
            <a:stCxn id="49" idx="2"/>
            <a:endCxn id="273" idx="0"/>
          </p:cNvCxnSpPr>
          <p:nvPr/>
        </p:nvCxnSpPr>
        <p:spPr>
          <a:xfrm>
            <a:off x="7741921"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6" name="Straight Arrow Connector 305"/>
          <p:cNvCxnSpPr>
            <a:stCxn id="50" idx="2"/>
            <a:endCxn id="271" idx="0"/>
          </p:cNvCxnSpPr>
          <p:nvPr/>
        </p:nvCxnSpPr>
        <p:spPr>
          <a:xfrm flipH="1">
            <a:off x="7285772"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7" name="Straight Arrow Connector 306"/>
          <p:cNvCxnSpPr>
            <a:stCxn id="5" idx="2"/>
            <a:endCxn id="274" idx="0"/>
          </p:cNvCxnSpPr>
          <p:nvPr/>
        </p:nvCxnSpPr>
        <p:spPr>
          <a:xfrm>
            <a:off x="1355835"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8" name="Straight Arrow Connector 307"/>
          <p:cNvCxnSpPr>
            <a:stCxn id="36" idx="2"/>
            <a:endCxn id="277" idx="0"/>
          </p:cNvCxnSpPr>
          <p:nvPr/>
        </p:nvCxnSpPr>
        <p:spPr>
          <a:xfrm>
            <a:off x="1811984"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9" name="Straight Arrow Connector 308"/>
          <p:cNvCxnSpPr>
            <a:stCxn id="37" idx="2"/>
            <a:endCxn id="276" idx="0"/>
          </p:cNvCxnSpPr>
          <p:nvPr/>
        </p:nvCxnSpPr>
        <p:spPr>
          <a:xfrm>
            <a:off x="2268133"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0" name="Straight Arrow Connector 309"/>
          <p:cNvCxnSpPr>
            <a:stCxn id="38" idx="2"/>
            <a:endCxn id="275" idx="0"/>
          </p:cNvCxnSpPr>
          <p:nvPr/>
        </p:nvCxnSpPr>
        <p:spPr>
          <a:xfrm flipH="1">
            <a:off x="1811984"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114" name="Table 113"/>
          <p:cNvGraphicFramePr>
            <a:graphicFrameLocks noGrp="1"/>
          </p:cNvGraphicFramePr>
          <p:nvPr>
            <p:extLst>
              <p:ext uri="{D42A27DB-BD31-4B8C-83A1-F6EECF244321}">
                <p14:modId xmlns:p14="http://schemas.microsoft.com/office/powerpoint/2010/main" val="3453195209"/>
              </p:ext>
            </p:extLst>
          </p:nvPr>
        </p:nvGraphicFramePr>
        <p:xfrm>
          <a:off x="3160989" y="3722192"/>
          <a:ext cx="2743200" cy="1371600"/>
        </p:xfrm>
        <a:graphic>
          <a:graphicData uri="http://schemas.openxmlformats.org/drawingml/2006/table">
            <a:tbl>
              <a:tblPr firstRow="1" bandRow="1">
                <a:tableStyleId>{2D5ABB26-0587-4C30-8999-92F81FD0307C}</a:tableStyleId>
              </a:tblPr>
              <a:tblGrid>
                <a:gridCol w="548640">
                  <a:extLst>
                    <a:ext uri="{9D8B030D-6E8A-4147-A177-3AD203B41FA5}">
                      <a16:colId xmlns:a16="http://schemas.microsoft.com/office/drawing/2014/main" val="2055662539"/>
                    </a:ext>
                  </a:extLst>
                </a:gridCol>
                <a:gridCol w="548640">
                  <a:extLst>
                    <a:ext uri="{9D8B030D-6E8A-4147-A177-3AD203B41FA5}">
                      <a16:colId xmlns:a16="http://schemas.microsoft.com/office/drawing/2014/main" val="426047787"/>
                    </a:ext>
                  </a:extLst>
                </a:gridCol>
                <a:gridCol w="548640">
                  <a:extLst>
                    <a:ext uri="{9D8B030D-6E8A-4147-A177-3AD203B41FA5}">
                      <a16:colId xmlns:a16="http://schemas.microsoft.com/office/drawing/2014/main" val="819165338"/>
                    </a:ext>
                  </a:extLst>
                </a:gridCol>
                <a:gridCol w="548640">
                  <a:extLst>
                    <a:ext uri="{9D8B030D-6E8A-4147-A177-3AD203B41FA5}">
                      <a16:colId xmlns:a16="http://schemas.microsoft.com/office/drawing/2014/main" val="3982017553"/>
                    </a:ext>
                  </a:extLst>
                </a:gridCol>
                <a:gridCol w="548640">
                  <a:extLst>
                    <a:ext uri="{9D8B030D-6E8A-4147-A177-3AD203B41FA5}">
                      <a16:colId xmlns:a16="http://schemas.microsoft.com/office/drawing/2014/main" val="3845781596"/>
                    </a:ext>
                  </a:extLst>
                </a:gridCol>
              </a:tblGrid>
              <a:tr h="274320">
                <a:tc>
                  <a:txBody>
                    <a:bodyPr/>
                    <a:lstStyle/>
                    <a:p>
                      <a:pPr algn="ctr"/>
                      <a:r>
                        <a:rPr lang="en-US" sz="1200" dirty="0"/>
                        <a:t>block</a:t>
                      </a:r>
                    </a:p>
                  </a:txBody>
                  <a:tcPr marL="45720" marR="45720" anchor="ctr"/>
                </a:tc>
                <a:tc>
                  <a:txBody>
                    <a:bodyPr/>
                    <a:lstStyle/>
                    <a:p>
                      <a:pPr algn="ctr"/>
                      <a:r>
                        <a:rPr lang="en-US" sz="1200" dirty="0"/>
                        <a:t>0</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1</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2</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3</a:t>
                      </a:r>
                    </a:p>
                  </a:txBody>
                  <a:tcPr marL="45720" marR="4572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59189"/>
                  </a:ext>
                </a:extLst>
              </a:tr>
              <a:tr h="274320">
                <a:tc>
                  <a:txBody>
                    <a:bodyPr/>
                    <a:lstStyle/>
                    <a:p>
                      <a:pPr algn="ctr"/>
                      <a:r>
                        <a:rPr lang="en-US" sz="1200" dirty="0"/>
                        <a:t># </a:t>
                      </a:r>
                      <a:r>
                        <a:rPr lang="en-US" sz="1200" b="1" dirty="0">
                          <a:solidFill>
                            <a:schemeClr val="accent5"/>
                          </a:solidFill>
                        </a:rPr>
                        <a:t>00</a:t>
                      </a: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261322153"/>
                  </a:ext>
                </a:extLst>
              </a:tr>
              <a:tr h="274320">
                <a:tc>
                  <a:txBody>
                    <a:bodyPr/>
                    <a:lstStyle/>
                    <a:p>
                      <a:pPr algn="ctr"/>
                      <a:r>
                        <a:rPr lang="en-US" sz="1200" dirty="0"/>
                        <a:t># </a:t>
                      </a:r>
                      <a:r>
                        <a:rPr lang="en-US" sz="1200" b="1" dirty="0">
                          <a:solidFill>
                            <a:schemeClr val="accent6"/>
                          </a:solidFill>
                        </a:rPr>
                        <a:t>01</a:t>
                      </a: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56749794"/>
                  </a:ext>
                </a:extLst>
              </a:tr>
              <a:tr h="274320">
                <a:tc>
                  <a:txBody>
                    <a:bodyPr/>
                    <a:lstStyle/>
                    <a:p>
                      <a:pPr algn="ctr"/>
                      <a:r>
                        <a:rPr lang="en-US" sz="1200" b="0" dirty="0">
                          <a:solidFill>
                            <a:schemeClr val="tx1"/>
                          </a:solidFill>
                        </a:rPr>
                        <a:t># </a:t>
                      </a:r>
                      <a:r>
                        <a:rPr lang="en-US" sz="1200" b="1" dirty="0">
                          <a:solidFill>
                            <a:schemeClr val="accent2"/>
                          </a:solidFill>
                        </a:rPr>
                        <a:t>10</a:t>
                      </a: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27083004"/>
                  </a:ext>
                </a:extLst>
              </a:tr>
              <a:tr h="274320">
                <a:tc>
                  <a:txBody>
                    <a:bodyPr/>
                    <a:lstStyle/>
                    <a:p>
                      <a:pPr algn="ctr"/>
                      <a:r>
                        <a:rPr lang="en-US" sz="1200" b="0" dirty="0">
                          <a:solidFill>
                            <a:schemeClr val="tx1"/>
                          </a:solidFill>
                        </a:rPr>
                        <a:t># </a:t>
                      </a:r>
                      <a:r>
                        <a:rPr lang="en-US" sz="1200" b="1" dirty="0">
                          <a:solidFill>
                            <a:schemeClr val="accent4">
                              <a:lumMod val="75000"/>
                            </a:schemeClr>
                          </a:solidFill>
                        </a:rPr>
                        <a:t>11</a:t>
                      </a: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23896567"/>
                  </a:ext>
                </a:extLst>
              </a:tr>
            </a:tbl>
          </a:graphicData>
        </a:graphic>
      </p:graphicFrame>
      <p:grpSp>
        <p:nvGrpSpPr>
          <p:cNvPr id="2" name="Group 1"/>
          <p:cNvGrpSpPr/>
          <p:nvPr/>
        </p:nvGrpSpPr>
        <p:grpSpPr>
          <a:xfrm>
            <a:off x="1134515" y="3370153"/>
            <a:ext cx="7281299" cy="348208"/>
            <a:chOff x="1134515" y="3747233"/>
            <a:chExt cx="7281299" cy="348208"/>
          </a:xfrm>
        </p:grpSpPr>
        <p:sp>
          <p:nvSpPr>
            <p:cNvPr id="98" name="Right Brace 97"/>
            <p:cNvSpPr/>
            <p:nvPr/>
          </p:nvSpPr>
          <p:spPr>
            <a:xfrm rot="5400000">
              <a:off x="1302724" y="3581313"/>
              <a:ext cx="107514" cy="443931"/>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9" name="Right Brace 98"/>
            <p:cNvSpPr/>
            <p:nvPr/>
          </p:nvSpPr>
          <p:spPr>
            <a:xfrm rot="5400000">
              <a:off x="1755266" y="3581314"/>
              <a:ext cx="107514" cy="443931"/>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6" name="TextBox 105"/>
            <p:cNvSpPr txBox="1"/>
            <p:nvPr/>
          </p:nvSpPr>
          <p:spPr>
            <a:xfrm>
              <a:off x="1223946" y="3818442"/>
              <a:ext cx="263214" cy="276999"/>
            </a:xfrm>
            <a:prstGeom prst="rect">
              <a:avLst/>
            </a:prstGeom>
            <a:noFill/>
          </p:spPr>
          <p:txBody>
            <a:bodyPr wrap="none" rtlCol="0">
              <a:spAutoFit/>
            </a:bodyPr>
            <a:lstStyle/>
            <a:p>
              <a:pPr algn="ctr"/>
              <a:r>
                <a:rPr lang="en-US" sz="1200" b="1" dirty="0">
                  <a:solidFill>
                    <a:schemeClr val="accent5"/>
                  </a:solidFill>
                </a:rPr>
                <a:t>1</a:t>
              </a:r>
            </a:p>
          </p:txBody>
        </p:sp>
        <p:sp>
          <p:nvSpPr>
            <p:cNvPr id="107" name="TextBox 106"/>
            <p:cNvSpPr txBox="1"/>
            <p:nvPr/>
          </p:nvSpPr>
          <p:spPr>
            <a:xfrm>
              <a:off x="1678280" y="3818442"/>
              <a:ext cx="263214" cy="276999"/>
            </a:xfrm>
            <a:prstGeom prst="rect">
              <a:avLst/>
            </a:prstGeom>
            <a:noFill/>
          </p:spPr>
          <p:txBody>
            <a:bodyPr wrap="none" rtlCol="0">
              <a:spAutoFit/>
            </a:bodyPr>
            <a:lstStyle/>
            <a:p>
              <a:pPr algn="ctr"/>
              <a:r>
                <a:rPr lang="en-US" sz="1200" b="1">
                  <a:solidFill>
                    <a:schemeClr val="accent6"/>
                  </a:solidFill>
                </a:rPr>
                <a:t>1</a:t>
              </a:r>
              <a:endParaRPr lang="en-US" sz="1200" b="1" dirty="0">
                <a:solidFill>
                  <a:schemeClr val="accent6"/>
                </a:solidFill>
              </a:endParaRPr>
            </a:p>
          </p:txBody>
        </p:sp>
        <p:sp>
          <p:nvSpPr>
            <p:cNvPr id="127" name="Right Brace 126"/>
            <p:cNvSpPr/>
            <p:nvPr/>
          </p:nvSpPr>
          <p:spPr>
            <a:xfrm rot="5400000">
              <a:off x="2207508" y="3581313"/>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8" name="Right Brace 127"/>
            <p:cNvSpPr/>
            <p:nvPr/>
          </p:nvSpPr>
          <p:spPr>
            <a:xfrm rot="5400000">
              <a:off x="2661638" y="3581314"/>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9" name="TextBox 128"/>
            <p:cNvSpPr txBox="1"/>
            <p:nvPr/>
          </p:nvSpPr>
          <p:spPr>
            <a:xfrm>
              <a:off x="2128730" y="3818442"/>
              <a:ext cx="263214" cy="276999"/>
            </a:xfrm>
            <a:prstGeom prst="rect">
              <a:avLst/>
            </a:prstGeom>
            <a:noFill/>
          </p:spPr>
          <p:txBody>
            <a:bodyPr wrap="none" rtlCol="0">
              <a:spAutoFit/>
            </a:bodyPr>
            <a:lstStyle/>
            <a:p>
              <a:pPr algn="ctr"/>
              <a:r>
                <a:rPr lang="en-US" sz="1200" b="1" dirty="0">
                  <a:solidFill>
                    <a:schemeClr val="accent2"/>
                  </a:solidFill>
                </a:rPr>
                <a:t>1</a:t>
              </a:r>
            </a:p>
          </p:txBody>
        </p:sp>
        <p:sp>
          <p:nvSpPr>
            <p:cNvPr id="130" name="TextBox 129"/>
            <p:cNvSpPr txBox="1"/>
            <p:nvPr/>
          </p:nvSpPr>
          <p:spPr>
            <a:xfrm>
              <a:off x="2584652" y="3818442"/>
              <a:ext cx="263214" cy="276999"/>
            </a:xfrm>
            <a:prstGeom prst="rect">
              <a:avLst/>
            </a:prstGeom>
            <a:noFill/>
          </p:spPr>
          <p:txBody>
            <a:bodyPr wrap="none" rtlCol="0">
              <a:spAutoFit/>
            </a:bodyPr>
            <a:lstStyle/>
            <a:p>
              <a:pPr algn="ctr"/>
              <a:r>
                <a:rPr lang="en-US" sz="1200" b="1" dirty="0">
                  <a:solidFill>
                    <a:schemeClr val="accent4">
                      <a:lumMod val="75000"/>
                    </a:schemeClr>
                  </a:solidFill>
                </a:rPr>
                <a:t>1</a:t>
              </a:r>
            </a:p>
          </p:txBody>
        </p:sp>
        <p:sp>
          <p:nvSpPr>
            <p:cNvPr id="132" name="Right Brace 131"/>
            <p:cNvSpPr/>
            <p:nvPr/>
          </p:nvSpPr>
          <p:spPr>
            <a:xfrm rot="5400000">
              <a:off x="3129854" y="3580154"/>
              <a:ext cx="107514" cy="443931"/>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3" name="Right Brace 132"/>
            <p:cNvSpPr/>
            <p:nvPr/>
          </p:nvSpPr>
          <p:spPr>
            <a:xfrm rot="5400000">
              <a:off x="3582396" y="3580155"/>
              <a:ext cx="107514" cy="443931"/>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4" name="TextBox 133"/>
            <p:cNvSpPr txBox="1"/>
            <p:nvPr/>
          </p:nvSpPr>
          <p:spPr>
            <a:xfrm>
              <a:off x="3051076" y="3817283"/>
              <a:ext cx="263214" cy="276999"/>
            </a:xfrm>
            <a:prstGeom prst="rect">
              <a:avLst/>
            </a:prstGeom>
            <a:noFill/>
          </p:spPr>
          <p:txBody>
            <a:bodyPr wrap="none" rtlCol="0">
              <a:spAutoFit/>
            </a:bodyPr>
            <a:lstStyle/>
            <a:p>
              <a:pPr algn="ctr"/>
              <a:r>
                <a:rPr lang="en-US" sz="1200" b="1" dirty="0">
                  <a:solidFill>
                    <a:schemeClr val="accent5"/>
                  </a:solidFill>
                </a:rPr>
                <a:t>1</a:t>
              </a:r>
            </a:p>
          </p:txBody>
        </p:sp>
        <p:sp>
          <p:nvSpPr>
            <p:cNvPr id="135" name="TextBox 134"/>
            <p:cNvSpPr txBox="1"/>
            <p:nvPr/>
          </p:nvSpPr>
          <p:spPr>
            <a:xfrm>
              <a:off x="3505410" y="3817283"/>
              <a:ext cx="263214" cy="276999"/>
            </a:xfrm>
            <a:prstGeom prst="rect">
              <a:avLst/>
            </a:prstGeom>
            <a:noFill/>
          </p:spPr>
          <p:txBody>
            <a:bodyPr wrap="none" rtlCol="0">
              <a:spAutoFit/>
            </a:bodyPr>
            <a:lstStyle/>
            <a:p>
              <a:pPr algn="ctr"/>
              <a:r>
                <a:rPr lang="en-US" sz="1200" b="1">
                  <a:solidFill>
                    <a:schemeClr val="accent6"/>
                  </a:solidFill>
                </a:rPr>
                <a:t>1</a:t>
              </a:r>
              <a:endParaRPr lang="en-US" sz="1200" b="1" dirty="0">
                <a:solidFill>
                  <a:schemeClr val="accent6"/>
                </a:solidFill>
              </a:endParaRPr>
            </a:p>
          </p:txBody>
        </p:sp>
        <p:sp>
          <p:nvSpPr>
            <p:cNvPr id="137" name="Right Brace 136"/>
            <p:cNvSpPr/>
            <p:nvPr/>
          </p:nvSpPr>
          <p:spPr>
            <a:xfrm rot="5400000">
              <a:off x="4034638" y="358015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8" name="Right Brace 137"/>
            <p:cNvSpPr/>
            <p:nvPr/>
          </p:nvSpPr>
          <p:spPr>
            <a:xfrm rot="5400000">
              <a:off x="4488768" y="358015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9" name="TextBox 138"/>
            <p:cNvSpPr txBox="1"/>
            <p:nvPr/>
          </p:nvSpPr>
          <p:spPr>
            <a:xfrm>
              <a:off x="3955860" y="3817283"/>
              <a:ext cx="263214" cy="276999"/>
            </a:xfrm>
            <a:prstGeom prst="rect">
              <a:avLst/>
            </a:prstGeom>
            <a:noFill/>
          </p:spPr>
          <p:txBody>
            <a:bodyPr wrap="none" rtlCol="0">
              <a:spAutoFit/>
            </a:bodyPr>
            <a:lstStyle/>
            <a:p>
              <a:pPr algn="ctr"/>
              <a:r>
                <a:rPr lang="en-US" sz="1200" b="1" dirty="0">
                  <a:solidFill>
                    <a:schemeClr val="accent2"/>
                  </a:solidFill>
                </a:rPr>
                <a:t>1</a:t>
              </a:r>
            </a:p>
          </p:txBody>
        </p:sp>
        <p:sp>
          <p:nvSpPr>
            <p:cNvPr id="140" name="TextBox 139"/>
            <p:cNvSpPr txBox="1"/>
            <p:nvPr/>
          </p:nvSpPr>
          <p:spPr>
            <a:xfrm>
              <a:off x="4411782" y="3817283"/>
              <a:ext cx="263214" cy="276999"/>
            </a:xfrm>
            <a:prstGeom prst="rect">
              <a:avLst/>
            </a:prstGeom>
            <a:noFill/>
          </p:spPr>
          <p:txBody>
            <a:bodyPr wrap="none" rtlCol="0">
              <a:spAutoFit/>
            </a:bodyPr>
            <a:lstStyle/>
            <a:p>
              <a:pPr algn="ctr"/>
              <a:r>
                <a:rPr lang="en-US" sz="1200" b="1" dirty="0">
                  <a:solidFill>
                    <a:schemeClr val="accent4">
                      <a:lumMod val="75000"/>
                    </a:schemeClr>
                  </a:solidFill>
                </a:rPr>
                <a:t>1</a:t>
              </a:r>
            </a:p>
          </p:txBody>
        </p:sp>
        <p:sp>
          <p:nvSpPr>
            <p:cNvPr id="142" name="Right Brace 141"/>
            <p:cNvSpPr/>
            <p:nvPr/>
          </p:nvSpPr>
          <p:spPr>
            <a:xfrm rot="5400000">
              <a:off x="5184721" y="3356306"/>
              <a:ext cx="107514" cy="89163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4" name="TextBox 143"/>
            <p:cNvSpPr txBox="1"/>
            <p:nvPr/>
          </p:nvSpPr>
          <p:spPr>
            <a:xfrm>
              <a:off x="5107741" y="3817283"/>
              <a:ext cx="263214" cy="276999"/>
            </a:xfrm>
            <a:prstGeom prst="rect">
              <a:avLst/>
            </a:prstGeom>
            <a:noFill/>
          </p:spPr>
          <p:txBody>
            <a:bodyPr wrap="none" rtlCol="0">
              <a:spAutoFit/>
            </a:bodyPr>
            <a:lstStyle/>
            <a:p>
              <a:pPr algn="ctr"/>
              <a:r>
                <a:rPr lang="en-US" sz="1200" b="1" dirty="0">
                  <a:solidFill>
                    <a:schemeClr val="accent6"/>
                  </a:solidFill>
                </a:rPr>
                <a:t>2</a:t>
              </a:r>
            </a:p>
          </p:txBody>
        </p:sp>
        <p:sp>
          <p:nvSpPr>
            <p:cNvPr id="145" name="Right Brace 144"/>
            <p:cNvSpPr/>
            <p:nvPr/>
          </p:nvSpPr>
          <p:spPr>
            <a:xfrm rot="5400000">
              <a:off x="5860812" y="358015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6" name="Right Brace 145"/>
            <p:cNvSpPr/>
            <p:nvPr/>
          </p:nvSpPr>
          <p:spPr>
            <a:xfrm rot="5400000">
              <a:off x="6314942" y="358015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7" name="TextBox 146"/>
            <p:cNvSpPr txBox="1"/>
            <p:nvPr/>
          </p:nvSpPr>
          <p:spPr>
            <a:xfrm>
              <a:off x="5782034" y="3817283"/>
              <a:ext cx="263214" cy="276999"/>
            </a:xfrm>
            <a:prstGeom prst="rect">
              <a:avLst/>
            </a:prstGeom>
            <a:noFill/>
          </p:spPr>
          <p:txBody>
            <a:bodyPr wrap="none" rtlCol="0">
              <a:spAutoFit/>
            </a:bodyPr>
            <a:lstStyle/>
            <a:p>
              <a:pPr algn="ctr"/>
              <a:r>
                <a:rPr lang="en-US" sz="1200" b="1" dirty="0">
                  <a:solidFill>
                    <a:schemeClr val="accent2"/>
                  </a:solidFill>
                </a:rPr>
                <a:t>1</a:t>
              </a:r>
            </a:p>
          </p:txBody>
        </p:sp>
        <p:sp>
          <p:nvSpPr>
            <p:cNvPr id="148" name="TextBox 147"/>
            <p:cNvSpPr txBox="1"/>
            <p:nvPr/>
          </p:nvSpPr>
          <p:spPr>
            <a:xfrm>
              <a:off x="6237956" y="3817283"/>
              <a:ext cx="263214" cy="276999"/>
            </a:xfrm>
            <a:prstGeom prst="rect">
              <a:avLst/>
            </a:prstGeom>
            <a:noFill/>
          </p:spPr>
          <p:txBody>
            <a:bodyPr wrap="none" rtlCol="0">
              <a:spAutoFit/>
            </a:bodyPr>
            <a:lstStyle/>
            <a:p>
              <a:pPr algn="ctr"/>
              <a:r>
                <a:rPr lang="en-US" sz="1200" b="1" dirty="0">
                  <a:solidFill>
                    <a:schemeClr val="accent4">
                      <a:lumMod val="75000"/>
                    </a:schemeClr>
                  </a:solidFill>
                </a:rPr>
                <a:t>1</a:t>
              </a:r>
            </a:p>
          </p:txBody>
        </p:sp>
        <p:sp>
          <p:nvSpPr>
            <p:cNvPr id="149" name="Right Brace 148"/>
            <p:cNvSpPr/>
            <p:nvPr/>
          </p:nvSpPr>
          <p:spPr>
            <a:xfrm rot="5400000">
              <a:off x="7003196" y="3357006"/>
              <a:ext cx="107514" cy="887968"/>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1" name="TextBox 150"/>
            <p:cNvSpPr txBox="1"/>
            <p:nvPr/>
          </p:nvSpPr>
          <p:spPr>
            <a:xfrm>
              <a:off x="6926243" y="3816153"/>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153" name="Right Brace 152"/>
            <p:cNvSpPr/>
            <p:nvPr/>
          </p:nvSpPr>
          <p:spPr>
            <a:xfrm rot="5400000">
              <a:off x="7685962" y="357902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4" name="Right Brace 153"/>
            <p:cNvSpPr/>
            <p:nvPr/>
          </p:nvSpPr>
          <p:spPr>
            <a:xfrm rot="5400000">
              <a:off x="8140092" y="357902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5" name="TextBox 154"/>
            <p:cNvSpPr txBox="1"/>
            <p:nvPr/>
          </p:nvSpPr>
          <p:spPr>
            <a:xfrm>
              <a:off x="7607184" y="3816153"/>
              <a:ext cx="263214" cy="276999"/>
            </a:xfrm>
            <a:prstGeom prst="rect">
              <a:avLst/>
            </a:prstGeom>
            <a:noFill/>
          </p:spPr>
          <p:txBody>
            <a:bodyPr wrap="none" rtlCol="0">
              <a:spAutoFit/>
            </a:bodyPr>
            <a:lstStyle/>
            <a:p>
              <a:pPr algn="ctr"/>
              <a:r>
                <a:rPr lang="en-US" sz="1200" b="1" dirty="0">
                  <a:solidFill>
                    <a:schemeClr val="accent2"/>
                  </a:solidFill>
                </a:rPr>
                <a:t>1</a:t>
              </a:r>
            </a:p>
          </p:txBody>
        </p:sp>
        <p:sp>
          <p:nvSpPr>
            <p:cNvPr id="156" name="TextBox 155"/>
            <p:cNvSpPr txBox="1"/>
            <p:nvPr/>
          </p:nvSpPr>
          <p:spPr>
            <a:xfrm>
              <a:off x="8063106" y="3816153"/>
              <a:ext cx="263214" cy="276999"/>
            </a:xfrm>
            <a:prstGeom prst="rect">
              <a:avLst/>
            </a:prstGeom>
            <a:noFill/>
          </p:spPr>
          <p:txBody>
            <a:bodyPr wrap="none" rtlCol="0">
              <a:spAutoFit/>
            </a:bodyPr>
            <a:lstStyle/>
            <a:p>
              <a:pPr algn="ctr"/>
              <a:r>
                <a:rPr lang="en-US" sz="1200" b="1" dirty="0">
                  <a:solidFill>
                    <a:schemeClr val="accent4">
                      <a:lumMod val="75000"/>
                    </a:schemeClr>
                  </a:solidFill>
                </a:rPr>
                <a:t>1</a:t>
              </a:r>
            </a:p>
          </p:txBody>
        </p:sp>
        <p:sp>
          <p:nvSpPr>
            <p:cNvPr id="157" name="TextBox 156"/>
            <p:cNvSpPr txBox="1"/>
            <p:nvPr/>
          </p:nvSpPr>
          <p:spPr>
            <a:xfrm>
              <a:off x="4697263" y="3817283"/>
              <a:ext cx="263214" cy="276999"/>
            </a:xfrm>
            <a:prstGeom prst="rect">
              <a:avLst/>
            </a:prstGeom>
            <a:noFill/>
          </p:spPr>
          <p:txBody>
            <a:bodyPr wrap="none" rtlCol="0">
              <a:spAutoFit/>
            </a:bodyPr>
            <a:lstStyle/>
            <a:p>
              <a:pPr algn="ctr"/>
              <a:r>
                <a:rPr lang="en-US" sz="1200" b="1">
                  <a:solidFill>
                    <a:schemeClr val="accent5"/>
                  </a:solidFill>
                </a:rPr>
                <a:t>0</a:t>
              </a:r>
              <a:endParaRPr lang="en-US" sz="1200" b="1" dirty="0">
                <a:solidFill>
                  <a:schemeClr val="accent5"/>
                </a:solidFill>
              </a:endParaRPr>
            </a:p>
          </p:txBody>
        </p:sp>
        <p:sp>
          <p:nvSpPr>
            <p:cNvPr id="158" name="TextBox 157"/>
            <p:cNvSpPr txBox="1"/>
            <p:nvPr/>
          </p:nvSpPr>
          <p:spPr>
            <a:xfrm>
              <a:off x="7378551" y="3816152"/>
              <a:ext cx="263213" cy="276999"/>
            </a:xfrm>
            <a:prstGeom prst="rect">
              <a:avLst/>
            </a:prstGeom>
            <a:noFill/>
          </p:spPr>
          <p:txBody>
            <a:bodyPr wrap="none" rtlCol="0">
              <a:spAutoFit/>
            </a:bodyPr>
            <a:lstStyle/>
            <a:p>
              <a:pPr algn="ctr"/>
              <a:r>
                <a:rPr lang="en-US" sz="1200" b="1" dirty="0">
                  <a:solidFill>
                    <a:schemeClr val="accent6"/>
                  </a:solidFill>
                </a:rPr>
                <a:t>0</a:t>
              </a:r>
            </a:p>
          </p:txBody>
        </p:sp>
      </p:grpSp>
    </p:spTree>
    <p:extLst>
      <p:ext uri="{BB962C8B-B14F-4D97-AF65-F5344CB8AC3E}">
        <p14:creationId xmlns:p14="http://schemas.microsoft.com/office/powerpoint/2010/main" val="382786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9" name="Straight Connector 198"/>
          <p:cNvCxnSpPr/>
          <p:nvPr/>
        </p:nvCxnSpPr>
        <p:spPr>
          <a:xfrm>
            <a:off x="2951831"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a:off x="4776427"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a:off x="6601023"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2" name="Text Placeholder 1"/>
          <p:cNvSpPr>
            <a:spLocks noGrp="1"/>
          </p:cNvSpPr>
          <p:nvPr>
            <p:ph type="body" idx="10"/>
          </p:nvPr>
        </p:nvSpPr>
        <p:spPr/>
        <p:txBody>
          <a:bodyPr/>
          <a:lstStyle/>
          <a:p>
            <a:r>
              <a:rPr lang="en-US" dirty="0"/>
              <a:t>Radix Sort Iteration (2-bit Radix)</a:t>
            </a:r>
          </a:p>
        </p:txBody>
      </p:sp>
      <p:grpSp>
        <p:nvGrpSpPr>
          <p:cNvPr id="51" name="Group 50"/>
          <p:cNvGrpSpPr/>
          <p:nvPr/>
        </p:nvGrpSpPr>
        <p:grpSpPr>
          <a:xfrm>
            <a:off x="1127235" y="2059271"/>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grpSp>
      <p:grpSp>
        <p:nvGrpSpPr>
          <p:cNvPr id="215" name="Group 214"/>
          <p:cNvGrpSpPr/>
          <p:nvPr/>
        </p:nvGrpSpPr>
        <p:grpSpPr>
          <a:xfrm>
            <a:off x="2994823" y="1130729"/>
            <a:ext cx="1738603" cy="822960"/>
            <a:chOff x="2667000" y="1752600"/>
            <a:chExt cx="889511" cy="838200"/>
          </a:xfrm>
        </p:grpSpPr>
        <p:sp>
          <p:nvSpPr>
            <p:cNvPr id="216" name="Rectangle 21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7" name="Freeform 21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8" name="Freeform 21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9" name="Freeform 21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0" name="Freeform 21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21" name="Group 220"/>
          <p:cNvGrpSpPr/>
          <p:nvPr/>
        </p:nvGrpSpPr>
        <p:grpSpPr>
          <a:xfrm>
            <a:off x="4819769" y="1130729"/>
            <a:ext cx="1738603" cy="822960"/>
            <a:chOff x="2667000" y="1752600"/>
            <a:chExt cx="889511" cy="838200"/>
          </a:xfrm>
        </p:grpSpPr>
        <p:sp>
          <p:nvSpPr>
            <p:cNvPr id="222" name="Rectangle 221"/>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3" name="Freeform 222"/>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4" name="Freeform 223"/>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5" name="Freeform 224"/>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6" name="Freeform 225"/>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27" name="Group 226"/>
          <p:cNvGrpSpPr/>
          <p:nvPr/>
        </p:nvGrpSpPr>
        <p:grpSpPr>
          <a:xfrm>
            <a:off x="6644716" y="1130729"/>
            <a:ext cx="1738603" cy="822960"/>
            <a:chOff x="2667000" y="1752600"/>
            <a:chExt cx="889511" cy="838200"/>
          </a:xfrm>
        </p:grpSpPr>
        <p:sp>
          <p:nvSpPr>
            <p:cNvPr id="228" name="Rectangle 22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9" name="Freeform 22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0" name="Freeform 22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1" name="Freeform 23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2" name="Freeform 23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33" name="Group 232"/>
          <p:cNvGrpSpPr/>
          <p:nvPr/>
        </p:nvGrpSpPr>
        <p:grpSpPr>
          <a:xfrm>
            <a:off x="1169877" y="1130729"/>
            <a:ext cx="1738603" cy="822960"/>
            <a:chOff x="2667000" y="1752600"/>
            <a:chExt cx="889511" cy="838200"/>
          </a:xfrm>
        </p:grpSpPr>
        <p:sp>
          <p:nvSpPr>
            <p:cNvPr id="234" name="Rectangle 23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5" name="Freeform 23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6" name="Freeform 23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7" name="Freeform 23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8" name="Freeform 23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61" name="Group 260"/>
          <p:cNvGrpSpPr/>
          <p:nvPr/>
        </p:nvGrpSpPr>
        <p:grpSpPr>
          <a:xfrm>
            <a:off x="1127235" y="2879595"/>
            <a:ext cx="7299435" cy="457200"/>
            <a:chOff x="1127235" y="2436351"/>
            <a:chExt cx="7299435" cy="457200"/>
          </a:xfrm>
        </p:grpSpPr>
        <p:sp>
          <p:nvSpPr>
            <p:cNvPr id="262" name="Rectangle 261"/>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263" name="Rectangle 262"/>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264" name="Rectangle 263"/>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65" name="Rectangle 264"/>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266" name="Rectangle 265"/>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67" name="Rectangle 266"/>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268" name="Rectangle 267"/>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69" name="Rectangle 268"/>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270" name="Rectangle 269"/>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271" name="Rectangle 270"/>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272" name="Rectangle 271"/>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73" name="Rectangle 272"/>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274" name="Rectangle 273"/>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275" name="Rectangle 274"/>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76" name="Rectangle 275"/>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77" name="Rectangle 276"/>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grpSp>
      <p:cxnSp>
        <p:nvCxnSpPr>
          <p:cNvPr id="295" name="Straight Arrow Connector 294"/>
          <p:cNvCxnSpPr>
            <a:stCxn id="39" idx="2"/>
            <a:endCxn id="265" idx="0"/>
          </p:cNvCxnSpPr>
          <p:nvPr/>
        </p:nvCxnSpPr>
        <p:spPr>
          <a:xfrm>
            <a:off x="3180431" y="251647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6" name="Straight Arrow Connector 295"/>
          <p:cNvCxnSpPr>
            <a:stCxn id="40" idx="2"/>
            <a:endCxn id="262" idx="0"/>
          </p:cNvCxnSpPr>
          <p:nvPr/>
        </p:nvCxnSpPr>
        <p:spPr>
          <a:xfrm flipH="1">
            <a:off x="3180431"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7" name="Straight Arrow Connector 296"/>
          <p:cNvCxnSpPr>
            <a:stCxn id="42" idx="2"/>
            <a:endCxn id="264" idx="0"/>
          </p:cNvCxnSpPr>
          <p:nvPr/>
        </p:nvCxnSpPr>
        <p:spPr>
          <a:xfrm flipH="1">
            <a:off x="4092729"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8" name="Straight Arrow Connector 297"/>
          <p:cNvCxnSpPr>
            <a:stCxn id="41" idx="2"/>
            <a:endCxn id="263" idx="0"/>
          </p:cNvCxnSpPr>
          <p:nvPr/>
        </p:nvCxnSpPr>
        <p:spPr>
          <a:xfrm flipH="1">
            <a:off x="3636580"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9" name="Straight Arrow Connector 298"/>
          <p:cNvCxnSpPr>
            <a:stCxn id="43" idx="2"/>
            <a:endCxn id="266" idx="0"/>
          </p:cNvCxnSpPr>
          <p:nvPr/>
        </p:nvCxnSpPr>
        <p:spPr>
          <a:xfrm>
            <a:off x="5005027"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0" name="Straight Arrow Connector 299"/>
          <p:cNvCxnSpPr>
            <a:stCxn id="44" idx="2"/>
            <a:endCxn id="268" idx="0"/>
          </p:cNvCxnSpPr>
          <p:nvPr/>
        </p:nvCxnSpPr>
        <p:spPr>
          <a:xfrm>
            <a:off x="5461176"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1" name="Straight Arrow Connector 300"/>
          <p:cNvCxnSpPr>
            <a:stCxn id="45" idx="2"/>
            <a:endCxn id="269" idx="0"/>
          </p:cNvCxnSpPr>
          <p:nvPr/>
        </p:nvCxnSpPr>
        <p:spPr>
          <a:xfrm>
            <a:off x="5917325"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2" name="Straight Arrow Connector 301"/>
          <p:cNvCxnSpPr>
            <a:stCxn id="46" idx="2"/>
            <a:endCxn id="267" idx="0"/>
          </p:cNvCxnSpPr>
          <p:nvPr/>
        </p:nvCxnSpPr>
        <p:spPr>
          <a:xfrm flipH="1">
            <a:off x="5461176"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3" name="Straight Arrow Connector 302"/>
          <p:cNvCxnSpPr>
            <a:stCxn id="47" idx="2"/>
            <a:endCxn id="270" idx="0"/>
          </p:cNvCxnSpPr>
          <p:nvPr/>
        </p:nvCxnSpPr>
        <p:spPr>
          <a:xfrm>
            <a:off x="6829623"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4" name="Straight Arrow Connector 303"/>
          <p:cNvCxnSpPr>
            <a:stCxn id="48" idx="2"/>
            <a:endCxn id="272" idx="0"/>
          </p:cNvCxnSpPr>
          <p:nvPr/>
        </p:nvCxnSpPr>
        <p:spPr>
          <a:xfrm>
            <a:off x="7285772"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5" name="Straight Arrow Connector 304"/>
          <p:cNvCxnSpPr>
            <a:stCxn id="49" idx="2"/>
            <a:endCxn id="273" idx="0"/>
          </p:cNvCxnSpPr>
          <p:nvPr/>
        </p:nvCxnSpPr>
        <p:spPr>
          <a:xfrm>
            <a:off x="7741921"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6" name="Straight Arrow Connector 305"/>
          <p:cNvCxnSpPr>
            <a:stCxn id="50" idx="2"/>
            <a:endCxn id="271" idx="0"/>
          </p:cNvCxnSpPr>
          <p:nvPr/>
        </p:nvCxnSpPr>
        <p:spPr>
          <a:xfrm flipH="1">
            <a:off x="7285772"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7" name="Straight Arrow Connector 306"/>
          <p:cNvCxnSpPr>
            <a:stCxn id="5" idx="2"/>
            <a:endCxn id="274" idx="0"/>
          </p:cNvCxnSpPr>
          <p:nvPr/>
        </p:nvCxnSpPr>
        <p:spPr>
          <a:xfrm>
            <a:off x="1355835"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8" name="Straight Arrow Connector 307"/>
          <p:cNvCxnSpPr>
            <a:stCxn id="36" idx="2"/>
            <a:endCxn id="277" idx="0"/>
          </p:cNvCxnSpPr>
          <p:nvPr/>
        </p:nvCxnSpPr>
        <p:spPr>
          <a:xfrm>
            <a:off x="1811984"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9" name="Straight Arrow Connector 308"/>
          <p:cNvCxnSpPr>
            <a:stCxn id="37" idx="2"/>
            <a:endCxn id="276" idx="0"/>
          </p:cNvCxnSpPr>
          <p:nvPr/>
        </p:nvCxnSpPr>
        <p:spPr>
          <a:xfrm>
            <a:off x="2268133"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0" name="Straight Arrow Connector 309"/>
          <p:cNvCxnSpPr>
            <a:stCxn id="38" idx="2"/>
            <a:endCxn id="275" idx="0"/>
          </p:cNvCxnSpPr>
          <p:nvPr/>
        </p:nvCxnSpPr>
        <p:spPr>
          <a:xfrm flipH="1">
            <a:off x="1811984"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98" name="Right Brace 97"/>
          <p:cNvSpPr/>
          <p:nvPr/>
        </p:nvSpPr>
        <p:spPr>
          <a:xfrm rot="5400000">
            <a:off x="1302724" y="3204233"/>
            <a:ext cx="107514" cy="443931"/>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9" name="Right Brace 98"/>
          <p:cNvSpPr/>
          <p:nvPr/>
        </p:nvSpPr>
        <p:spPr>
          <a:xfrm rot="5400000">
            <a:off x="1755266" y="3204234"/>
            <a:ext cx="107514" cy="443931"/>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6" name="TextBox 105"/>
          <p:cNvSpPr txBox="1"/>
          <p:nvPr/>
        </p:nvSpPr>
        <p:spPr>
          <a:xfrm>
            <a:off x="1223946" y="3441362"/>
            <a:ext cx="263214" cy="276999"/>
          </a:xfrm>
          <a:prstGeom prst="rect">
            <a:avLst/>
          </a:prstGeom>
          <a:noFill/>
        </p:spPr>
        <p:txBody>
          <a:bodyPr wrap="none" rtlCol="0">
            <a:spAutoFit/>
          </a:bodyPr>
          <a:lstStyle/>
          <a:p>
            <a:pPr algn="ctr"/>
            <a:r>
              <a:rPr lang="en-US" sz="1200" b="1" dirty="0">
                <a:solidFill>
                  <a:schemeClr val="accent5"/>
                </a:solidFill>
              </a:rPr>
              <a:t>1</a:t>
            </a:r>
          </a:p>
        </p:txBody>
      </p:sp>
      <p:sp>
        <p:nvSpPr>
          <p:cNvPr id="107" name="TextBox 106"/>
          <p:cNvSpPr txBox="1"/>
          <p:nvPr/>
        </p:nvSpPr>
        <p:spPr>
          <a:xfrm>
            <a:off x="1678280" y="3441362"/>
            <a:ext cx="263214" cy="276999"/>
          </a:xfrm>
          <a:prstGeom prst="rect">
            <a:avLst/>
          </a:prstGeom>
          <a:noFill/>
        </p:spPr>
        <p:txBody>
          <a:bodyPr wrap="none" rtlCol="0">
            <a:spAutoFit/>
          </a:bodyPr>
          <a:lstStyle/>
          <a:p>
            <a:pPr algn="ctr"/>
            <a:r>
              <a:rPr lang="en-US" sz="1200" b="1">
                <a:solidFill>
                  <a:schemeClr val="accent6"/>
                </a:solidFill>
              </a:rPr>
              <a:t>1</a:t>
            </a:r>
            <a:endParaRPr lang="en-US" sz="1200" b="1" dirty="0">
              <a:solidFill>
                <a:schemeClr val="accent6"/>
              </a:solidFill>
            </a:endParaRPr>
          </a:p>
        </p:txBody>
      </p:sp>
      <p:graphicFrame>
        <p:nvGraphicFramePr>
          <p:cNvPr id="114" name="Table 113"/>
          <p:cNvGraphicFramePr>
            <a:graphicFrameLocks noGrp="1"/>
          </p:cNvGraphicFramePr>
          <p:nvPr>
            <p:extLst>
              <p:ext uri="{D42A27DB-BD31-4B8C-83A1-F6EECF244321}">
                <p14:modId xmlns:p14="http://schemas.microsoft.com/office/powerpoint/2010/main" val="159363446"/>
              </p:ext>
            </p:extLst>
          </p:nvPr>
        </p:nvGraphicFramePr>
        <p:xfrm>
          <a:off x="1757790" y="3767912"/>
          <a:ext cx="6070368" cy="274320"/>
        </p:xfrm>
        <a:graphic>
          <a:graphicData uri="http://schemas.openxmlformats.org/drawingml/2006/table">
            <a:tbl>
              <a:tblPr firstRow="1" bandRow="1">
                <a:tableStyleId>{2D5ABB26-0587-4C30-8999-92F81FD0307C}</a:tableStyleId>
              </a:tblPr>
              <a:tblGrid>
                <a:gridCol w="379398">
                  <a:extLst>
                    <a:ext uri="{9D8B030D-6E8A-4147-A177-3AD203B41FA5}">
                      <a16:colId xmlns:a16="http://schemas.microsoft.com/office/drawing/2014/main" val="426047787"/>
                    </a:ext>
                  </a:extLst>
                </a:gridCol>
                <a:gridCol w="379398">
                  <a:extLst>
                    <a:ext uri="{9D8B030D-6E8A-4147-A177-3AD203B41FA5}">
                      <a16:colId xmlns:a16="http://schemas.microsoft.com/office/drawing/2014/main" val="819165338"/>
                    </a:ext>
                  </a:extLst>
                </a:gridCol>
                <a:gridCol w="379398">
                  <a:extLst>
                    <a:ext uri="{9D8B030D-6E8A-4147-A177-3AD203B41FA5}">
                      <a16:colId xmlns:a16="http://schemas.microsoft.com/office/drawing/2014/main" val="3982017553"/>
                    </a:ext>
                  </a:extLst>
                </a:gridCol>
                <a:gridCol w="379398">
                  <a:extLst>
                    <a:ext uri="{9D8B030D-6E8A-4147-A177-3AD203B41FA5}">
                      <a16:colId xmlns:a16="http://schemas.microsoft.com/office/drawing/2014/main" val="3845781596"/>
                    </a:ext>
                  </a:extLst>
                </a:gridCol>
                <a:gridCol w="379398">
                  <a:extLst>
                    <a:ext uri="{9D8B030D-6E8A-4147-A177-3AD203B41FA5}">
                      <a16:colId xmlns:a16="http://schemas.microsoft.com/office/drawing/2014/main" val="2227990227"/>
                    </a:ext>
                  </a:extLst>
                </a:gridCol>
                <a:gridCol w="379398">
                  <a:extLst>
                    <a:ext uri="{9D8B030D-6E8A-4147-A177-3AD203B41FA5}">
                      <a16:colId xmlns:a16="http://schemas.microsoft.com/office/drawing/2014/main" val="4063490774"/>
                    </a:ext>
                  </a:extLst>
                </a:gridCol>
                <a:gridCol w="379398">
                  <a:extLst>
                    <a:ext uri="{9D8B030D-6E8A-4147-A177-3AD203B41FA5}">
                      <a16:colId xmlns:a16="http://schemas.microsoft.com/office/drawing/2014/main" val="1716097438"/>
                    </a:ext>
                  </a:extLst>
                </a:gridCol>
                <a:gridCol w="379398">
                  <a:extLst>
                    <a:ext uri="{9D8B030D-6E8A-4147-A177-3AD203B41FA5}">
                      <a16:colId xmlns:a16="http://schemas.microsoft.com/office/drawing/2014/main" val="4294765384"/>
                    </a:ext>
                  </a:extLst>
                </a:gridCol>
                <a:gridCol w="379398">
                  <a:extLst>
                    <a:ext uri="{9D8B030D-6E8A-4147-A177-3AD203B41FA5}">
                      <a16:colId xmlns:a16="http://schemas.microsoft.com/office/drawing/2014/main" val="3902973901"/>
                    </a:ext>
                  </a:extLst>
                </a:gridCol>
                <a:gridCol w="379398">
                  <a:extLst>
                    <a:ext uri="{9D8B030D-6E8A-4147-A177-3AD203B41FA5}">
                      <a16:colId xmlns:a16="http://schemas.microsoft.com/office/drawing/2014/main" val="2260925420"/>
                    </a:ext>
                  </a:extLst>
                </a:gridCol>
                <a:gridCol w="379398">
                  <a:extLst>
                    <a:ext uri="{9D8B030D-6E8A-4147-A177-3AD203B41FA5}">
                      <a16:colId xmlns:a16="http://schemas.microsoft.com/office/drawing/2014/main" val="3260461748"/>
                    </a:ext>
                  </a:extLst>
                </a:gridCol>
                <a:gridCol w="379398">
                  <a:extLst>
                    <a:ext uri="{9D8B030D-6E8A-4147-A177-3AD203B41FA5}">
                      <a16:colId xmlns:a16="http://schemas.microsoft.com/office/drawing/2014/main" val="1518215877"/>
                    </a:ext>
                  </a:extLst>
                </a:gridCol>
                <a:gridCol w="379398">
                  <a:extLst>
                    <a:ext uri="{9D8B030D-6E8A-4147-A177-3AD203B41FA5}">
                      <a16:colId xmlns:a16="http://schemas.microsoft.com/office/drawing/2014/main" val="28634996"/>
                    </a:ext>
                  </a:extLst>
                </a:gridCol>
                <a:gridCol w="379398">
                  <a:extLst>
                    <a:ext uri="{9D8B030D-6E8A-4147-A177-3AD203B41FA5}">
                      <a16:colId xmlns:a16="http://schemas.microsoft.com/office/drawing/2014/main" val="1492503063"/>
                    </a:ext>
                  </a:extLst>
                </a:gridCol>
                <a:gridCol w="379398">
                  <a:extLst>
                    <a:ext uri="{9D8B030D-6E8A-4147-A177-3AD203B41FA5}">
                      <a16:colId xmlns:a16="http://schemas.microsoft.com/office/drawing/2014/main" val="3929083397"/>
                    </a:ext>
                  </a:extLst>
                </a:gridCol>
                <a:gridCol w="379398">
                  <a:extLst>
                    <a:ext uri="{9D8B030D-6E8A-4147-A177-3AD203B41FA5}">
                      <a16:colId xmlns:a16="http://schemas.microsoft.com/office/drawing/2014/main" val="1537953322"/>
                    </a:ext>
                  </a:extLst>
                </a:gridCol>
              </a:tblGrid>
              <a:tr h="274320">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61322153"/>
                  </a:ext>
                </a:extLst>
              </a:tr>
            </a:tbl>
          </a:graphicData>
        </a:graphic>
      </p:graphicFrame>
      <p:sp>
        <p:nvSpPr>
          <p:cNvPr id="127" name="Right Brace 126"/>
          <p:cNvSpPr/>
          <p:nvPr/>
        </p:nvSpPr>
        <p:spPr>
          <a:xfrm rot="5400000">
            <a:off x="2207508" y="3204233"/>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8" name="Right Brace 127"/>
          <p:cNvSpPr/>
          <p:nvPr/>
        </p:nvSpPr>
        <p:spPr>
          <a:xfrm rot="5400000">
            <a:off x="2661638" y="3204234"/>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9" name="TextBox 128"/>
          <p:cNvSpPr txBox="1"/>
          <p:nvPr/>
        </p:nvSpPr>
        <p:spPr>
          <a:xfrm>
            <a:off x="2128730" y="3441362"/>
            <a:ext cx="263214" cy="276999"/>
          </a:xfrm>
          <a:prstGeom prst="rect">
            <a:avLst/>
          </a:prstGeom>
          <a:noFill/>
        </p:spPr>
        <p:txBody>
          <a:bodyPr wrap="none" rtlCol="0">
            <a:spAutoFit/>
          </a:bodyPr>
          <a:lstStyle/>
          <a:p>
            <a:pPr algn="ctr"/>
            <a:r>
              <a:rPr lang="en-US" sz="1200" b="1" dirty="0">
                <a:solidFill>
                  <a:schemeClr val="accent2"/>
                </a:solidFill>
              </a:rPr>
              <a:t>1</a:t>
            </a:r>
          </a:p>
        </p:txBody>
      </p:sp>
      <p:sp>
        <p:nvSpPr>
          <p:cNvPr id="130" name="TextBox 129"/>
          <p:cNvSpPr txBox="1"/>
          <p:nvPr/>
        </p:nvSpPr>
        <p:spPr>
          <a:xfrm>
            <a:off x="2584652" y="3441362"/>
            <a:ext cx="263214" cy="276999"/>
          </a:xfrm>
          <a:prstGeom prst="rect">
            <a:avLst/>
          </a:prstGeom>
          <a:noFill/>
        </p:spPr>
        <p:txBody>
          <a:bodyPr wrap="none" rtlCol="0">
            <a:spAutoFit/>
          </a:bodyPr>
          <a:lstStyle/>
          <a:p>
            <a:pPr algn="ctr"/>
            <a:r>
              <a:rPr lang="en-US" sz="1200" b="1" dirty="0">
                <a:solidFill>
                  <a:schemeClr val="accent4">
                    <a:lumMod val="75000"/>
                  </a:schemeClr>
                </a:solidFill>
              </a:rPr>
              <a:t>1</a:t>
            </a:r>
          </a:p>
        </p:txBody>
      </p:sp>
      <p:sp>
        <p:nvSpPr>
          <p:cNvPr id="132" name="Right Brace 131"/>
          <p:cNvSpPr/>
          <p:nvPr/>
        </p:nvSpPr>
        <p:spPr>
          <a:xfrm rot="5400000">
            <a:off x="3129854" y="3203074"/>
            <a:ext cx="107514" cy="443931"/>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3" name="Right Brace 132"/>
          <p:cNvSpPr/>
          <p:nvPr/>
        </p:nvSpPr>
        <p:spPr>
          <a:xfrm rot="5400000">
            <a:off x="3582396" y="3203075"/>
            <a:ext cx="107514" cy="443931"/>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4" name="TextBox 133"/>
          <p:cNvSpPr txBox="1"/>
          <p:nvPr/>
        </p:nvSpPr>
        <p:spPr>
          <a:xfrm>
            <a:off x="3051076" y="3440203"/>
            <a:ext cx="263214" cy="276999"/>
          </a:xfrm>
          <a:prstGeom prst="rect">
            <a:avLst/>
          </a:prstGeom>
          <a:noFill/>
        </p:spPr>
        <p:txBody>
          <a:bodyPr wrap="none" rtlCol="0">
            <a:spAutoFit/>
          </a:bodyPr>
          <a:lstStyle/>
          <a:p>
            <a:pPr algn="ctr"/>
            <a:r>
              <a:rPr lang="en-US" sz="1200" b="1" dirty="0">
                <a:solidFill>
                  <a:schemeClr val="accent5"/>
                </a:solidFill>
              </a:rPr>
              <a:t>1</a:t>
            </a:r>
          </a:p>
        </p:txBody>
      </p:sp>
      <p:sp>
        <p:nvSpPr>
          <p:cNvPr id="135" name="TextBox 134"/>
          <p:cNvSpPr txBox="1"/>
          <p:nvPr/>
        </p:nvSpPr>
        <p:spPr>
          <a:xfrm>
            <a:off x="3505410" y="3440203"/>
            <a:ext cx="263214" cy="276999"/>
          </a:xfrm>
          <a:prstGeom prst="rect">
            <a:avLst/>
          </a:prstGeom>
          <a:noFill/>
        </p:spPr>
        <p:txBody>
          <a:bodyPr wrap="none" rtlCol="0">
            <a:spAutoFit/>
          </a:bodyPr>
          <a:lstStyle/>
          <a:p>
            <a:pPr algn="ctr"/>
            <a:r>
              <a:rPr lang="en-US" sz="1200" b="1">
                <a:solidFill>
                  <a:schemeClr val="accent6"/>
                </a:solidFill>
              </a:rPr>
              <a:t>1</a:t>
            </a:r>
            <a:endParaRPr lang="en-US" sz="1200" b="1" dirty="0">
              <a:solidFill>
                <a:schemeClr val="accent6"/>
              </a:solidFill>
            </a:endParaRPr>
          </a:p>
        </p:txBody>
      </p:sp>
      <p:sp>
        <p:nvSpPr>
          <p:cNvPr id="137" name="Right Brace 136"/>
          <p:cNvSpPr/>
          <p:nvPr/>
        </p:nvSpPr>
        <p:spPr>
          <a:xfrm rot="5400000">
            <a:off x="4034638" y="320307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8" name="Right Brace 137"/>
          <p:cNvSpPr/>
          <p:nvPr/>
        </p:nvSpPr>
        <p:spPr>
          <a:xfrm rot="5400000">
            <a:off x="4488768" y="320307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9" name="TextBox 138"/>
          <p:cNvSpPr txBox="1"/>
          <p:nvPr/>
        </p:nvSpPr>
        <p:spPr>
          <a:xfrm>
            <a:off x="3955860" y="3440203"/>
            <a:ext cx="263214" cy="276999"/>
          </a:xfrm>
          <a:prstGeom prst="rect">
            <a:avLst/>
          </a:prstGeom>
          <a:noFill/>
        </p:spPr>
        <p:txBody>
          <a:bodyPr wrap="none" rtlCol="0">
            <a:spAutoFit/>
          </a:bodyPr>
          <a:lstStyle/>
          <a:p>
            <a:pPr algn="ctr"/>
            <a:r>
              <a:rPr lang="en-US" sz="1200" b="1" dirty="0">
                <a:solidFill>
                  <a:schemeClr val="accent2"/>
                </a:solidFill>
              </a:rPr>
              <a:t>1</a:t>
            </a:r>
          </a:p>
        </p:txBody>
      </p:sp>
      <p:sp>
        <p:nvSpPr>
          <p:cNvPr id="140" name="TextBox 139"/>
          <p:cNvSpPr txBox="1"/>
          <p:nvPr/>
        </p:nvSpPr>
        <p:spPr>
          <a:xfrm>
            <a:off x="4411782" y="3440203"/>
            <a:ext cx="263214" cy="276999"/>
          </a:xfrm>
          <a:prstGeom prst="rect">
            <a:avLst/>
          </a:prstGeom>
          <a:noFill/>
        </p:spPr>
        <p:txBody>
          <a:bodyPr wrap="none" rtlCol="0">
            <a:spAutoFit/>
          </a:bodyPr>
          <a:lstStyle/>
          <a:p>
            <a:pPr algn="ctr"/>
            <a:r>
              <a:rPr lang="en-US" sz="1200" b="1" dirty="0">
                <a:solidFill>
                  <a:schemeClr val="accent4">
                    <a:lumMod val="75000"/>
                  </a:schemeClr>
                </a:solidFill>
              </a:rPr>
              <a:t>1</a:t>
            </a:r>
          </a:p>
        </p:txBody>
      </p:sp>
      <p:sp>
        <p:nvSpPr>
          <p:cNvPr id="142" name="Right Brace 141"/>
          <p:cNvSpPr/>
          <p:nvPr/>
        </p:nvSpPr>
        <p:spPr>
          <a:xfrm rot="5400000">
            <a:off x="5184721" y="2979226"/>
            <a:ext cx="107514" cy="89163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4" name="TextBox 143"/>
          <p:cNvSpPr txBox="1"/>
          <p:nvPr/>
        </p:nvSpPr>
        <p:spPr>
          <a:xfrm>
            <a:off x="5107741" y="3440203"/>
            <a:ext cx="263214" cy="276999"/>
          </a:xfrm>
          <a:prstGeom prst="rect">
            <a:avLst/>
          </a:prstGeom>
          <a:noFill/>
        </p:spPr>
        <p:txBody>
          <a:bodyPr wrap="none" rtlCol="0">
            <a:spAutoFit/>
          </a:bodyPr>
          <a:lstStyle/>
          <a:p>
            <a:pPr algn="ctr"/>
            <a:r>
              <a:rPr lang="en-US" sz="1200" b="1" dirty="0">
                <a:solidFill>
                  <a:schemeClr val="accent6"/>
                </a:solidFill>
              </a:rPr>
              <a:t>2</a:t>
            </a:r>
          </a:p>
        </p:txBody>
      </p:sp>
      <p:sp>
        <p:nvSpPr>
          <p:cNvPr id="145" name="Right Brace 144"/>
          <p:cNvSpPr/>
          <p:nvPr/>
        </p:nvSpPr>
        <p:spPr>
          <a:xfrm rot="5400000">
            <a:off x="5860812" y="320307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6" name="Right Brace 145"/>
          <p:cNvSpPr/>
          <p:nvPr/>
        </p:nvSpPr>
        <p:spPr>
          <a:xfrm rot="5400000">
            <a:off x="6314942" y="320307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7" name="TextBox 146"/>
          <p:cNvSpPr txBox="1"/>
          <p:nvPr/>
        </p:nvSpPr>
        <p:spPr>
          <a:xfrm>
            <a:off x="5782034" y="3440203"/>
            <a:ext cx="263214" cy="276999"/>
          </a:xfrm>
          <a:prstGeom prst="rect">
            <a:avLst/>
          </a:prstGeom>
          <a:noFill/>
        </p:spPr>
        <p:txBody>
          <a:bodyPr wrap="none" rtlCol="0">
            <a:spAutoFit/>
          </a:bodyPr>
          <a:lstStyle/>
          <a:p>
            <a:pPr algn="ctr"/>
            <a:r>
              <a:rPr lang="en-US" sz="1200" b="1" dirty="0">
                <a:solidFill>
                  <a:schemeClr val="accent2"/>
                </a:solidFill>
              </a:rPr>
              <a:t>1</a:t>
            </a:r>
          </a:p>
        </p:txBody>
      </p:sp>
      <p:sp>
        <p:nvSpPr>
          <p:cNvPr id="148" name="TextBox 147"/>
          <p:cNvSpPr txBox="1"/>
          <p:nvPr/>
        </p:nvSpPr>
        <p:spPr>
          <a:xfrm>
            <a:off x="6237956" y="3440203"/>
            <a:ext cx="263214" cy="276999"/>
          </a:xfrm>
          <a:prstGeom prst="rect">
            <a:avLst/>
          </a:prstGeom>
          <a:noFill/>
        </p:spPr>
        <p:txBody>
          <a:bodyPr wrap="none" rtlCol="0">
            <a:spAutoFit/>
          </a:bodyPr>
          <a:lstStyle/>
          <a:p>
            <a:pPr algn="ctr"/>
            <a:r>
              <a:rPr lang="en-US" sz="1200" b="1" dirty="0">
                <a:solidFill>
                  <a:schemeClr val="accent4">
                    <a:lumMod val="75000"/>
                  </a:schemeClr>
                </a:solidFill>
              </a:rPr>
              <a:t>1</a:t>
            </a:r>
          </a:p>
        </p:txBody>
      </p:sp>
      <p:sp>
        <p:nvSpPr>
          <p:cNvPr id="149" name="Right Brace 148"/>
          <p:cNvSpPr/>
          <p:nvPr/>
        </p:nvSpPr>
        <p:spPr>
          <a:xfrm rot="5400000">
            <a:off x="7003196" y="2979926"/>
            <a:ext cx="107514" cy="887968"/>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1" name="TextBox 150"/>
          <p:cNvSpPr txBox="1"/>
          <p:nvPr/>
        </p:nvSpPr>
        <p:spPr>
          <a:xfrm>
            <a:off x="6926243" y="3439073"/>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153" name="Right Brace 152"/>
          <p:cNvSpPr/>
          <p:nvPr/>
        </p:nvSpPr>
        <p:spPr>
          <a:xfrm rot="5400000">
            <a:off x="7685962" y="320194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4" name="Right Brace 153"/>
          <p:cNvSpPr/>
          <p:nvPr/>
        </p:nvSpPr>
        <p:spPr>
          <a:xfrm rot="5400000">
            <a:off x="8140092" y="320194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5" name="TextBox 154"/>
          <p:cNvSpPr txBox="1"/>
          <p:nvPr/>
        </p:nvSpPr>
        <p:spPr>
          <a:xfrm>
            <a:off x="7607184" y="3439073"/>
            <a:ext cx="263214" cy="276999"/>
          </a:xfrm>
          <a:prstGeom prst="rect">
            <a:avLst/>
          </a:prstGeom>
          <a:noFill/>
        </p:spPr>
        <p:txBody>
          <a:bodyPr wrap="none" rtlCol="0">
            <a:spAutoFit/>
          </a:bodyPr>
          <a:lstStyle/>
          <a:p>
            <a:pPr algn="ctr"/>
            <a:r>
              <a:rPr lang="en-US" sz="1200" b="1" dirty="0">
                <a:solidFill>
                  <a:schemeClr val="accent2"/>
                </a:solidFill>
              </a:rPr>
              <a:t>1</a:t>
            </a:r>
          </a:p>
        </p:txBody>
      </p:sp>
      <p:sp>
        <p:nvSpPr>
          <p:cNvPr id="156" name="TextBox 155"/>
          <p:cNvSpPr txBox="1"/>
          <p:nvPr/>
        </p:nvSpPr>
        <p:spPr>
          <a:xfrm>
            <a:off x="8063106" y="3439073"/>
            <a:ext cx="263214" cy="276999"/>
          </a:xfrm>
          <a:prstGeom prst="rect">
            <a:avLst/>
          </a:prstGeom>
          <a:noFill/>
        </p:spPr>
        <p:txBody>
          <a:bodyPr wrap="none" rtlCol="0">
            <a:spAutoFit/>
          </a:bodyPr>
          <a:lstStyle/>
          <a:p>
            <a:pPr algn="ctr"/>
            <a:r>
              <a:rPr lang="en-US" sz="1200" b="1" dirty="0">
                <a:solidFill>
                  <a:schemeClr val="accent4">
                    <a:lumMod val="75000"/>
                  </a:schemeClr>
                </a:solidFill>
              </a:rPr>
              <a:t>1</a:t>
            </a:r>
          </a:p>
        </p:txBody>
      </p:sp>
      <p:sp>
        <p:nvSpPr>
          <p:cNvPr id="157" name="TextBox 156"/>
          <p:cNvSpPr txBox="1"/>
          <p:nvPr/>
        </p:nvSpPr>
        <p:spPr>
          <a:xfrm>
            <a:off x="4697263" y="3440203"/>
            <a:ext cx="263214" cy="276999"/>
          </a:xfrm>
          <a:prstGeom prst="rect">
            <a:avLst/>
          </a:prstGeom>
          <a:noFill/>
        </p:spPr>
        <p:txBody>
          <a:bodyPr wrap="none" rtlCol="0">
            <a:spAutoFit/>
          </a:bodyPr>
          <a:lstStyle/>
          <a:p>
            <a:pPr algn="ctr"/>
            <a:r>
              <a:rPr lang="en-US" sz="1200" b="1">
                <a:solidFill>
                  <a:schemeClr val="accent5"/>
                </a:solidFill>
              </a:rPr>
              <a:t>0</a:t>
            </a:r>
            <a:endParaRPr lang="en-US" sz="1200" b="1" dirty="0">
              <a:solidFill>
                <a:schemeClr val="accent5"/>
              </a:solidFill>
            </a:endParaRPr>
          </a:p>
        </p:txBody>
      </p:sp>
      <p:sp>
        <p:nvSpPr>
          <p:cNvPr id="158" name="TextBox 157"/>
          <p:cNvSpPr txBox="1"/>
          <p:nvPr/>
        </p:nvSpPr>
        <p:spPr>
          <a:xfrm>
            <a:off x="7378551" y="3439072"/>
            <a:ext cx="263213" cy="276999"/>
          </a:xfrm>
          <a:prstGeom prst="rect">
            <a:avLst/>
          </a:prstGeom>
          <a:noFill/>
        </p:spPr>
        <p:txBody>
          <a:bodyPr wrap="none" rtlCol="0">
            <a:spAutoFit/>
          </a:bodyPr>
          <a:lstStyle/>
          <a:p>
            <a:pPr algn="ctr"/>
            <a:r>
              <a:rPr lang="en-US" sz="1200" b="1" dirty="0">
                <a:solidFill>
                  <a:schemeClr val="accent6"/>
                </a:solidFill>
              </a:rPr>
              <a:t>0</a:t>
            </a:r>
          </a:p>
        </p:txBody>
      </p:sp>
      <p:grpSp>
        <p:nvGrpSpPr>
          <p:cNvPr id="131" name="Group 130"/>
          <p:cNvGrpSpPr/>
          <p:nvPr/>
        </p:nvGrpSpPr>
        <p:grpSpPr>
          <a:xfrm>
            <a:off x="4777299" y="4178370"/>
            <a:ext cx="989374" cy="323981"/>
            <a:chOff x="4777299" y="3826295"/>
            <a:chExt cx="989374" cy="323981"/>
          </a:xfrm>
        </p:grpSpPr>
        <p:cxnSp>
          <p:nvCxnSpPr>
            <p:cNvPr id="136" name="Straight Arrow Connector 135"/>
            <p:cNvCxnSpPr/>
            <p:nvPr/>
          </p:nvCxnSpPr>
          <p:spPr>
            <a:xfrm>
              <a:off x="4780368" y="3842849"/>
              <a:ext cx="0" cy="307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1" name="TextBox 140"/>
            <p:cNvSpPr txBox="1"/>
            <p:nvPr/>
          </p:nvSpPr>
          <p:spPr>
            <a:xfrm>
              <a:off x="4777299" y="3826295"/>
              <a:ext cx="989374" cy="261610"/>
            </a:xfrm>
            <a:prstGeom prst="rect">
              <a:avLst/>
            </a:prstGeom>
            <a:noFill/>
          </p:spPr>
          <p:txBody>
            <a:bodyPr wrap="none" rtlCol="0" anchor="ctr" anchorCtr="0">
              <a:spAutoFit/>
            </a:bodyPr>
            <a:lstStyle/>
            <a:p>
              <a:r>
                <a:rPr lang="en-US" sz="1100" dirty="0"/>
                <a:t>exclusive scan</a:t>
              </a:r>
            </a:p>
          </p:txBody>
        </p:sp>
      </p:grpSp>
      <p:graphicFrame>
        <p:nvGraphicFramePr>
          <p:cNvPr id="143" name="Table 142"/>
          <p:cNvGraphicFramePr>
            <a:graphicFrameLocks noGrp="1"/>
          </p:cNvGraphicFramePr>
          <p:nvPr>
            <p:extLst>
              <p:ext uri="{D42A27DB-BD31-4B8C-83A1-F6EECF244321}">
                <p14:modId xmlns:p14="http://schemas.microsoft.com/office/powerpoint/2010/main" val="2957939867"/>
              </p:ext>
            </p:extLst>
          </p:nvPr>
        </p:nvGraphicFramePr>
        <p:xfrm>
          <a:off x="1757790" y="4629130"/>
          <a:ext cx="6070368" cy="274320"/>
        </p:xfrm>
        <a:graphic>
          <a:graphicData uri="http://schemas.openxmlformats.org/drawingml/2006/table">
            <a:tbl>
              <a:tblPr firstRow="1" bandRow="1">
                <a:tableStyleId>{2D5ABB26-0587-4C30-8999-92F81FD0307C}</a:tableStyleId>
              </a:tblPr>
              <a:tblGrid>
                <a:gridCol w="379398">
                  <a:extLst>
                    <a:ext uri="{9D8B030D-6E8A-4147-A177-3AD203B41FA5}">
                      <a16:colId xmlns:a16="http://schemas.microsoft.com/office/drawing/2014/main" val="426047787"/>
                    </a:ext>
                  </a:extLst>
                </a:gridCol>
                <a:gridCol w="379398">
                  <a:extLst>
                    <a:ext uri="{9D8B030D-6E8A-4147-A177-3AD203B41FA5}">
                      <a16:colId xmlns:a16="http://schemas.microsoft.com/office/drawing/2014/main" val="819165338"/>
                    </a:ext>
                  </a:extLst>
                </a:gridCol>
                <a:gridCol w="379398">
                  <a:extLst>
                    <a:ext uri="{9D8B030D-6E8A-4147-A177-3AD203B41FA5}">
                      <a16:colId xmlns:a16="http://schemas.microsoft.com/office/drawing/2014/main" val="3982017553"/>
                    </a:ext>
                  </a:extLst>
                </a:gridCol>
                <a:gridCol w="379398">
                  <a:extLst>
                    <a:ext uri="{9D8B030D-6E8A-4147-A177-3AD203B41FA5}">
                      <a16:colId xmlns:a16="http://schemas.microsoft.com/office/drawing/2014/main" val="3845781596"/>
                    </a:ext>
                  </a:extLst>
                </a:gridCol>
                <a:gridCol w="379398">
                  <a:extLst>
                    <a:ext uri="{9D8B030D-6E8A-4147-A177-3AD203B41FA5}">
                      <a16:colId xmlns:a16="http://schemas.microsoft.com/office/drawing/2014/main" val="2227990227"/>
                    </a:ext>
                  </a:extLst>
                </a:gridCol>
                <a:gridCol w="379398">
                  <a:extLst>
                    <a:ext uri="{9D8B030D-6E8A-4147-A177-3AD203B41FA5}">
                      <a16:colId xmlns:a16="http://schemas.microsoft.com/office/drawing/2014/main" val="4063490774"/>
                    </a:ext>
                  </a:extLst>
                </a:gridCol>
                <a:gridCol w="379398">
                  <a:extLst>
                    <a:ext uri="{9D8B030D-6E8A-4147-A177-3AD203B41FA5}">
                      <a16:colId xmlns:a16="http://schemas.microsoft.com/office/drawing/2014/main" val="1716097438"/>
                    </a:ext>
                  </a:extLst>
                </a:gridCol>
                <a:gridCol w="379398">
                  <a:extLst>
                    <a:ext uri="{9D8B030D-6E8A-4147-A177-3AD203B41FA5}">
                      <a16:colId xmlns:a16="http://schemas.microsoft.com/office/drawing/2014/main" val="4294765384"/>
                    </a:ext>
                  </a:extLst>
                </a:gridCol>
                <a:gridCol w="379398">
                  <a:extLst>
                    <a:ext uri="{9D8B030D-6E8A-4147-A177-3AD203B41FA5}">
                      <a16:colId xmlns:a16="http://schemas.microsoft.com/office/drawing/2014/main" val="3902973901"/>
                    </a:ext>
                  </a:extLst>
                </a:gridCol>
                <a:gridCol w="379398">
                  <a:extLst>
                    <a:ext uri="{9D8B030D-6E8A-4147-A177-3AD203B41FA5}">
                      <a16:colId xmlns:a16="http://schemas.microsoft.com/office/drawing/2014/main" val="2260925420"/>
                    </a:ext>
                  </a:extLst>
                </a:gridCol>
                <a:gridCol w="379398">
                  <a:extLst>
                    <a:ext uri="{9D8B030D-6E8A-4147-A177-3AD203B41FA5}">
                      <a16:colId xmlns:a16="http://schemas.microsoft.com/office/drawing/2014/main" val="3260461748"/>
                    </a:ext>
                  </a:extLst>
                </a:gridCol>
                <a:gridCol w="379398">
                  <a:extLst>
                    <a:ext uri="{9D8B030D-6E8A-4147-A177-3AD203B41FA5}">
                      <a16:colId xmlns:a16="http://schemas.microsoft.com/office/drawing/2014/main" val="1518215877"/>
                    </a:ext>
                  </a:extLst>
                </a:gridCol>
                <a:gridCol w="379398">
                  <a:extLst>
                    <a:ext uri="{9D8B030D-6E8A-4147-A177-3AD203B41FA5}">
                      <a16:colId xmlns:a16="http://schemas.microsoft.com/office/drawing/2014/main" val="28634996"/>
                    </a:ext>
                  </a:extLst>
                </a:gridCol>
                <a:gridCol w="379398">
                  <a:extLst>
                    <a:ext uri="{9D8B030D-6E8A-4147-A177-3AD203B41FA5}">
                      <a16:colId xmlns:a16="http://schemas.microsoft.com/office/drawing/2014/main" val="1492503063"/>
                    </a:ext>
                  </a:extLst>
                </a:gridCol>
                <a:gridCol w="379398">
                  <a:extLst>
                    <a:ext uri="{9D8B030D-6E8A-4147-A177-3AD203B41FA5}">
                      <a16:colId xmlns:a16="http://schemas.microsoft.com/office/drawing/2014/main" val="3929083397"/>
                    </a:ext>
                  </a:extLst>
                </a:gridCol>
                <a:gridCol w="379398">
                  <a:extLst>
                    <a:ext uri="{9D8B030D-6E8A-4147-A177-3AD203B41FA5}">
                      <a16:colId xmlns:a16="http://schemas.microsoft.com/office/drawing/2014/main" val="1537953322"/>
                    </a:ext>
                  </a:extLst>
                </a:gridCol>
              </a:tblGrid>
              <a:tr h="274320">
                <a:tc>
                  <a:txBody>
                    <a:bodyPr/>
                    <a:lstStyle/>
                    <a:p>
                      <a:pPr algn="ctr"/>
                      <a:r>
                        <a:rPr lang="en-US" sz="1200" dirty="0"/>
                        <a:t>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61322153"/>
                  </a:ext>
                </a:extLst>
              </a:tr>
            </a:tbl>
          </a:graphicData>
        </a:graphic>
      </p:graphicFrame>
    </p:spTree>
    <p:extLst>
      <p:ext uri="{BB962C8B-B14F-4D97-AF65-F5344CB8AC3E}">
        <p14:creationId xmlns:p14="http://schemas.microsoft.com/office/powerpoint/2010/main" val="2588148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500"/>
                                        <p:tgtEl>
                                          <p:spTgt spid="131"/>
                                        </p:tgtEl>
                                      </p:cBhvr>
                                    </p:animEffect>
                                  </p:childTnLst>
                                </p:cTn>
                              </p:par>
                              <p:par>
                                <p:cTn id="8" presetID="10" presetClass="entr" presetSubtype="0" fill="hold" nodeType="withEffect">
                                  <p:stCondLst>
                                    <p:cond delay="0"/>
                                  </p:stCondLst>
                                  <p:childTnLst>
                                    <p:set>
                                      <p:cBhvr>
                                        <p:cTn id="9" dur="1" fill="hold">
                                          <p:stCondLst>
                                            <p:cond delay="0"/>
                                          </p:stCondLst>
                                        </p:cTn>
                                        <p:tgtEl>
                                          <p:spTgt spid="143"/>
                                        </p:tgtEl>
                                        <p:attrNameLst>
                                          <p:attrName>style.visibility</p:attrName>
                                        </p:attrNameLst>
                                      </p:cBhvr>
                                      <p:to>
                                        <p:strVal val="visible"/>
                                      </p:to>
                                    </p:set>
                                    <p:animEffect transition="in" filter="fade">
                                      <p:cBhvr>
                                        <p:cTn id="10"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9" name="Straight Connector 198"/>
          <p:cNvCxnSpPr/>
          <p:nvPr/>
        </p:nvCxnSpPr>
        <p:spPr>
          <a:xfrm>
            <a:off x="2951831"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a:off x="4776427"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a:off x="6601023"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0"/>
          </p:nvPr>
        </p:nvSpPr>
        <p:spPr/>
        <p:txBody>
          <a:bodyPr/>
          <a:lstStyle/>
          <a:p>
            <a:r>
              <a:rPr lang="en-US" dirty="0"/>
              <a:t>Radix Sort Iteration (2-bit Radix)</a:t>
            </a:r>
          </a:p>
        </p:txBody>
      </p:sp>
      <p:grpSp>
        <p:nvGrpSpPr>
          <p:cNvPr id="51" name="Group 50"/>
          <p:cNvGrpSpPr/>
          <p:nvPr/>
        </p:nvGrpSpPr>
        <p:grpSpPr>
          <a:xfrm>
            <a:off x="1127235" y="2059271"/>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grpSp>
      <p:grpSp>
        <p:nvGrpSpPr>
          <p:cNvPr id="215" name="Group 214"/>
          <p:cNvGrpSpPr/>
          <p:nvPr/>
        </p:nvGrpSpPr>
        <p:grpSpPr>
          <a:xfrm>
            <a:off x="2994823" y="1130729"/>
            <a:ext cx="1738603" cy="822960"/>
            <a:chOff x="2667000" y="1752600"/>
            <a:chExt cx="889511" cy="838200"/>
          </a:xfrm>
        </p:grpSpPr>
        <p:sp>
          <p:nvSpPr>
            <p:cNvPr id="216" name="Rectangle 21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7" name="Freeform 21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8" name="Freeform 21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9" name="Freeform 21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0" name="Freeform 21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21" name="Group 220"/>
          <p:cNvGrpSpPr/>
          <p:nvPr/>
        </p:nvGrpSpPr>
        <p:grpSpPr>
          <a:xfrm>
            <a:off x="4819769" y="1130729"/>
            <a:ext cx="1738603" cy="822960"/>
            <a:chOff x="2667000" y="1752600"/>
            <a:chExt cx="889511" cy="838200"/>
          </a:xfrm>
        </p:grpSpPr>
        <p:sp>
          <p:nvSpPr>
            <p:cNvPr id="222" name="Rectangle 221"/>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3" name="Freeform 222"/>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4" name="Freeform 223"/>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5" name="Freeform 224"/>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6" name="Freeform 225"/>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27" name="Group 226"/>
          <p:cNvGrpSpPr/>
          <p:nvPr/>
        </p:nvGrpSpPr>
        <p:grpSpPr>
          <a:xfrm>
            <a:off x="6644716" y="1130729"/>
            <a:ext cx="1738603" cy="822960"/>
            <a:chOff x="2667000" y="1752600"/>
            <a:chExt cx="889511" cy="838200"/>
          </a:xfrm>
        </p:grpSpPr>
        <p:sp>
          <p:nvSpPr>
            <p:cNvPr id="228" name="Rectangle 22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9" name="Freeform 22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0" name="Freeform 22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1" name="Freeform 23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2" name="Freeform 23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33" name="Group 232"/>
          <p:cNvGrpSpPr/>
          <p:nvPr/>
        </p:nvGrpSpPr>
        <p:grpSpPr>
          <a:xfrm>
            <a:off x="1169877" y="1130729"/>
            <a:ext cx="1738603" cy="822960"/>
            <a:chOff x="2667000" y="1752600"/>
            <a:chExt cx="889511" cy="838200"/>
          </a:xfrm>
        </p:grpSpPr>
        <p:sp>
          <p:nvSpPr>
            <p:cNvPr id="234" name="Rectangle 23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5" name="Freeform 23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6" name="Freeform 23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7" name="Freeform 23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8" name="Freeform 23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61" name="Group 260"/>
          <p:cNvGrpSpPr/>
          <p:nvPr/>
        </p:nvGrpSpPr>
        <p:grpSpPr>
          <a:xfrm>
            <a:off x="1127235" y="2879595"/>
            <a:ext cx="7299435" cy="457200"/>
            <a:chOff x="1127235" y="2436351"/>
            <a:chExt cx="7299435" cy="457200"/>
          </a:xfrm>
        </p:grpSpPr>
        <p:sp>
          <p:nvSpPr>
            <p:cNvPr id="262" name="Rectangle 261"/>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263" name="Rectangle 262"/>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264" name="Rectangle 263"/>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65" name="Rectangle 264"/>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266" name="Rectangle 265"/>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67" name="Rectangle 266"/>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268" name="Rectangle 267"/>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69" name="Rectangle 268"/>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270" name="Rectangle 269"/>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271" name="Rectangle 270"/>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272" name="Rectangle 271"/>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73" name="Rectangle 272"/>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274" name="Rectangle 273"/>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275" name="Rectangle 274"/>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76" name="Rectangle 275"/>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77" name="Rectangle 276"/>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grpSp>
      <p:cxnSp>
        <p:nvCxnSpPr>
          <p:cNvPr id="295" name="Straight Arrow Connector 294"/>
          <p:cNvCxnSpPr>
            <a:stCxn id="39" idx="2"/>
            <a:endCxn id="265" idx="0"/>
          </p:cNvCxnSpPr>
          <p:nvPr/>
        </p:nvCxnSpPr>
        <p:spPr>
          <a:xfrm>
            <a:off x="3180431" y="251647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6" name="Straight Arrow Connector 295"/>
          <p:cNvCxnSpPr>
            <a:stCxn id="40" idx="2"/>
            <a:endCxn id="262" idx="0"/>
          </p:cNvCxnSpPr>
          <p:nvPr/>
        </p:nvCxnSpPr>
        <p:spPr>
          <a:xfrm flipH="1">
            <a:off x="3180431"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7" name="Straight Arrow Connector 296"/>
          <p:cNvCxnSpPr>
            <a:stCxn id="42" idx="2"/>
            <a:endCxn id="264" idx="0"/>
          </p:cNvCxnSpPr>
          <p:nvPr/>
        </p:nvCxnSpPr>
        <p:spPr>
          <a:xfrm flipH="1">
            <a:off x="4092729"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8" name="Straight Arrow Connector 297"/>
          <p:cNvCxnSpPr>
            <a:stCxn id="41" idx="2"/>
            <a:endCxn id="263" idx="0"/>
          </p:cNvCxnSpPr>
          <p:nvPr/>
        </p:nvCxnSpPr>
        <p:spPr>
          <a:xfrm flipH="1">
            <a:off x="3636580"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9" name="Straight Arrow Connector 298"/>
          <p:cNvCxnSpPr>
            <a:stCxn id="43" idx="2"/>
            <a:endCxn id="266" idx="0"/>
          </p:cNvCxnSpPr>
          <p:nvPr/>
        </p:nvCxnSpPr>
        <p:spPr>
          <a:xfrm>
            <a:off x="5005027"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0" name="Straight Arrow Connector 299"/>
          <p:cNvCxnSpPr>
            <a:stCxn id="44" idx="2"/>
            <a:endCxn id="268" idx="0"/>
          </p:cNvCxnSpPr>
          <p:nvPr/>
        </p:nvCxnSpPr>
        <p:spPr>
          <a:xfrm>
            <a:off x="5461176"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1" name="Straight Arrow Connector 300"/>
          <p:cNvCxnSpPr>
            <a:stCxn id="45" idx="2"/>
            <a:endCxn id="269" idx="0"/>
          </p:cNvCxnSpPr>
          <p:nvPr/>
        </p:nvCxnSpPr>
        <p:spPr>
          <a:xfrm>
            <a:off x="5917325"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2" name="Straight Arrow Connector 301"/>
          <p:cNvCxnSpPr>
            <a:stCxn id="46" idx="2"/>
            <a:endCxn id="267" idx="0"/>
          </p:cNvCxnSpPr>
          <p:nvPr/>
        </p:nvCxnSpPr>
        <p:spPr>
          <a:xfrm flipH="1">
            <a:off x="5461176"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3" name="Straight Arrow Connector 302"/>
          <p:cNvCxnSpPr>
            <a:stCxn id="47" idx="2"/>
            <a:endCxn id="270" idx="0"/>
          </p:cNvCxnSpPr>
          <p:nvPr/>
        </p:nvCxnSpPr>
        <p:spPr>
          <a:xfrm>
            <a:off x="6829623"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4" name="Straight Arrow Connector 303"/>
          <p:cNvCxnSpPr>
            <a:stCxn id="48" idx="2"/>
            <a:endCxn id="272" idx="0"/>
          </p:cNvCxnSpPr>
          <p:nvPr/>
        </p:nvCxnSpPr>
        <p:spPr>
          <a:xfrm>
            <a:off x="7285772"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5" name="Straight Arrow Connector 304"/>
          <p:cNvCxnSpPr>
            <a:stCxn id="49" idx="2"/>
            <a:endCxn id="273" idx="0"/>
          </p:cNvCxnSpPr>
          <p:nvPr/>
        </p:nvCxnSpPr>
        <p:spPr>
          <a:xfrm>
            <a:off x="7741921"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6" name="Straight Arrow Connector 305"/>
          <p:cNvCxnSpPr>
            <a:stCxn id="50" idx="2"/>
            <a:endCxn id="271" idx="0"/>
          </p:cNvCxnSpPr>
          <p:nvPr/>
        </p:nvCxnSpPr>
        <p:spPr>
          <a:xfrm flipH="1">
            <a:off x="7285772"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7" name="Straight Arrow Connector 306"/>
          <p:cNvCxnSpPr>
            <a:stCxn id="5" idx="2"/>
            <a:endCxn id="274" idx="0"/>
          </p:cNvCxnSpPr>
          <p:nvPr/>
        </p:nvCxnSpPr>
        <p:spPr>
          <a:xfrm>
            <a:off x="1355835"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8" name="Straight Arrow Connector 307"/>
          <p:cNvCxnSpPr>
            <a:stCxn id="36" idx="2"/>
            <a:endCxn id="277" idx="0"/>
          </p:cNvCxnSpPr>
          <p:nvPr/>
        </p:nvCxnSpPr>
        <p:spPr>
          <a:xfrm>
            <a:off x="1811984"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9" name="Straight Arrow Connector 308"/>
          <p:cNvCxnSpPr>
            <a:stCxn id="37" idx="2"/>
            <a:endCxn id="276" idx="0"/>
          </p:cNvCxnSpPr>
          <p:nvPr/>
        </p:nvCxnSpPr>
        <p:spPr>
          <a:xfrm>
            <a:off x="2268133"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0" name="Straight Arrow Connector 309"/>
          <p:cNvCxnSpPr>
            <a:stCxn id="38" idx="2"/>
            <a:endCxn id="275" idx="0"/>
          </p:cNvCxnSpPr>
          <p:nvPr/>
        </p:nvCxnSpPr>
        <p:spPr>
          <a:xfrm flipH="1">
            <a:off x="1811984"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114" name="Table 113"/>
          <p:cNvGraphicFramePr>
            <a:graphicFrameLocks noGrp="1"/>
          </p:cNvGraphicFramePr>
          <p:nvPr>
            <p:extLst>
              <p:ext uri="{D42A27DB-BD31-4B8C-83A1-F6EECF244321}">
                <p14:modId xmlns:p14="http://schemas.microsoft.com/office/powerpoint/2010/main" val="997231307"/>
              </p:ext>
            </p:extLst>
          </p:nvPr>
        </p:nvGraphicFramePr>
        <p:xfrm>
          <a:off x="2672257" y="3722192"/>
          <a:ext cx="3474720" cy="1371600"/>
        </p:xfrm>
        <a:graphic>
          <a:graphicData uri="http://schemas.openxmlformats.org/drawingml/2006/table">
            <a:tbl>
              <a:tblPr firstRow="1" bandRow="1">
                <a:tableStyleId>{2D5ABB26-0587-4C30-8999-92F81FD0307C}</a:tableStyleId>
              </a:tblPr>
              <a:tblGrid>
                <a:gridCol w="1280160">
                  <a:extLst>
                    <a:ext uri="{9D8B030D-6E8A-4147-A177-3AD203B41FA5}">
                      <a16:colId xmlns:a16="http://schemas.microsoft.com/office/drawing/2014/main" val="2055662539"/>
                    </a:ext>
                  </a:extLst>
                </a:gridCol>
                <a:gridCol w="548640">
                  <a:extLst>
                    <a:ext uri="{9D8B030D-6E8A-4147-A177-3AD203B41FA5}">
                      <a16:colId xmlns:a16="http://schemas.microsoft.com/office/drawing/2014/main" val="426047787"/>
                    </a:ext>
                  </a:extLst>
                </a:gridCol>
                <a:gridCol w="548640">
                  <a:extLst>
                    <a:ext uri="{9D8B030D-6E8A-4147-A177-3AD203B41FA5}">
                      <a16:colId xmlns:a16="http://schemas.microsoft.com/office/drawing/2014/main" val="819165338"/>
                    </a:ext>
                  </a:extLst>
                </a:gridCol>
                <a:gridCol w="548640">
                  <a:extLst>
                    <a:ext uri="{9D8B030D-6E8A-4147-A177-3AD203B41FA5}">
                      <a16:colId xmlns:a16="http://schemas.microsoft.com/office/drawing/2014/main" val="3982017553"/>
                    </a:ext>
                  </a:extLst>
                </a:gridCol>
                <a:gridCol w="548640">
                  <a:extLst>
                    <a:ext uri="{9D8B030D-6E8A-4147-A177-3AD203B41FA5}">
                      <a16:colId xmlns:a16="http://schemas.microsoft.com/office/drawing/2014/main" val="3845781596"/>
                    </a:ext>
                  </a:extLst>
                </a:gridCol>
              </a:tblGrid>
              <a:tr h="274320">
                <a:tc>
                  <a:txBody>
                    <a:bodyPr/>
                    <a:lstStyle/>
                    <a:p>
                      <a:pPr algn="ctr"/>
                      <a:r>
                        <a:rPr lang="en-US" sz="1200" dirty="0"/>
                        <a:t>block</a:t>
                      </a:r>
                    </a:p>
                  </a:txBody>
                  <a:tcPr marL="45720" marR="45720" anchor="ctr"/>
                </a:tc>
                <a:tc>
                  <a:txBody>
                    <a:bodyPr/>
                    <a:lstStyle/>
                    <a:p>
                      <a:pPr algn="ctr"/>
                      <a:r>
                        <a:rPr lang="en-US" sz="1200" dirty="0"/>
                        <a:t>0</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1</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2</a:t>
                      </a:r>
                    </a:p>
                  </a:txBody>
                  <a:tcPr marL="45720" marR="45720" anchor="ctr">
                    <a:lnB w="12700" cap="flat" cmpd="sng" algn="ctr">
                      <a:solidFill>
                        <a:schemeClr val="tx1"/>
                      </a:solidFill>
                      <a:prstDash val="solid"/>
                      <a:round/>
                      <a:headEnd type="none" w="med" len="med"/>
                      <a:tailEnd type="none" w="med" len="med"/>
                    </a:lnB>
                  </a:tcPr>
                </a:tc>
                <a:tc>
                  <a:txBody>
                    <a:bodyPr/>
                    <a:lstStyle/>
                    <a:p>
                      <a:pPr algn="ctr"/>
                      <a:r>
                        <a:rPr lang="en-US" sz="1200" dirty="0"/>
                        <a:t>3</a:t>
                      </a:r>
                    </a:p>
                  </a:txBody>
                  <a:tcPr marL="45720" marR="4572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59189"/>
                  </a:ext>
                </a:extLst>
              </a:tr>
              <a:tr h="274320">
                <a:tc>
                  <a:txBody>
                    <a:bodyPr/>
                    <a:lstStyle/>
                    <a:p>
                      <a:pPr algn="ctr"/>
                      <a:r>
                        <a:rPr lang="en-US" sz="1200" dirty="0"/>
                        <a:t>destination of </a:t>
                      </a:r>
                      <a:r>
                        <a:rPr lang="en-US" sz="1200" b="1" dirty="0">
                          <a:solidFill>
                            <a:schemeClr val="accent5"/>
                          </a:solidFill>
                        </a:rPr>
                        <a:t>00</a:t>
                      </a:r>
                      <a:r>
                        <a:rPr lang="en-US" sz="1200" b="0" dirty="0">
                          <a:solidFill>
                            <a:schemeClr val="tx1"/>
                          </a:solidFill>
                        </a:rPr>
                        <a:t>’s</a:t>
                      </a:r>
                      <a:endParaRPr lang="en-US" sz="1200" b="1" dirty="0">
                        <a:solidFill>
                          <a:schemeClr val="accent5"/>
                        </a:solidFill>
                      </a:endParaRP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sz="1200" dirty="0"/>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261322153"/>
                  </a:ext>
                </a:extLst>
              </a:tr>
              <a:tr h="274320">
                <a:tc>
                  <a:txBody>
                    <a:bodyPr/>
                    <a:lstStyle/>
                    <a:p>
                      <a:pPr algn="ctr"/>
                      <a:r>
                        <a:rPr lang="en-US" sz="1200" dirty="0"/>
                        <a:t>destination of </a:t>
                      </a:r>
                      <a:r>
                        <a:rPr lang="en-US" sz="1200" b="1" dirty="0">
                          <a:solidFill>
                            <a:schemeClr val="accent6"/>
                          </a:solidFill>
                        </a:rPr>
                        <a:t>01</a:t>
                      </a:r>
                      <a:r>
                        <a:rPr lang="en-US" sz="1200" b="0" dirty="0">
                          <a:solidFill>
                            <a:schemeClr val="tx1"/>
                          </a:solidFill>
                        </a:rPr>
                        <a:t>’s</a:t>
                      </a:r>
                      <a:endParaRPr lang="en-US" sz="1200" b="1" dirty="0">
                        <a:solidFill>
                          <a:schemeClr val="accent6"/>
                        </a:solidFill>
                      </a:endParaRP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dirty="0"/>
                        <a:t>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56749794"/>
                  </a:ext>
                </a:extLst>
              </a:tr>
              <a:tr h="274320">
                <a:tc>
                  <a:txBody>
                    <a:bodyPr/>
                    <a:lstStyle/>
                    <a:p>
                      <a:pPr algn="ctr"/>
                      <a:r>
                        <a:rPr lang="en-US" sz="1200" dirty="0"/>
                        <a:t>destination of</a:t>
                      </a:r>
                      <a:r>
                        <a:rPr lang="en-US" sz="1200" b="0" dirty="0">
                          <a:solidFill>
                            <a:schemeClr val="tx1"/>
                          </a:solidFill>
                        </a:rPr>
                        <a:t> </a:t>
                      </a:r>
                      <a:r>
                        <a:rPr lang="en-US" sz="1200" b="1" dirty="0">
                          <a:solidFill>
                            <a:schemeClr val="accent2"/>
                          </a:solidFill>
                        </a:rPr>
                        <a:t>10</a:t>
                      </a:r>
                      <a:r>
                        <a:rPr lang="en-US" sz="1200" b="0" dirty="0">
                          <a:solidFill>
                            <a:schemeClr val="tx1"/>
                          </a:solidFill>
                        </a:rPr>
                        <a:t>’s</a:t>
                      </a:r>
                      <a:endParaRPr lang="en-US" sz="1200" b="1" dirty="0">
                        <a:solidFill>
                          <a:schemeClr val="accent2"/>
                        </a:solidFill>
                      </a:endParaRP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dirty="0"/>
                        <a:t>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27083004"/>
                  </a:ext>
                </a:extLst>
              </a:tr>
              <a:tr h="274320">
                <a:tc>
                  <a:txBody>
                    <a:bodyPr/>
                    <a:lstStyle/>
                    <a:p>
                      <a:pPr algn="ctr"/>
                      <a:r>
                        <a:rPr lang="en-US" sz="1200" dirty="0"/>
                        <a:t>destination of </a:t>
                      </a:r>
                      <a:r>
                        <a:rPr lang="en-US" sz="1200" b="1" dirty="0">
                          <a:solidFill>
                            <a:schemeClr val="accent4">
                              <a:lumMod val="75000"/>
                            </a:schemeClr>
                          </a:solidFill>
                        </a:rPr>
                        <a:t>11</a:t>
                      </a:r>
                      <a:r>
                        <a:rPr lang="en-US" sz="1200" b="0" dirty="0">
                          <a:solidFill>
                            <a:schemeClr val="tx1"/>
                          </a:solidFill>
                        </a:rPr>
                        <a:t>’s</a:t>
                      </a:r>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200" dirty="0"/>
                        <a:t>12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200" dirty="0"/>
                        <a:t>15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23896567"/>
                  </a:ext>
                </a:extLst>
              </a:tr>
            </a:tbl>
          </a:graphicData>
        </a:graphic>
      </p:graphicFrame>
      <p:grpSp>
        <p:nvGrpSpPr>
          <p:cNvPr id="2" name="Group 1"/>
          <p:cNvGrpSpPr/>
          <p:nvPr/>
        </p:nvGrpSpPr>
        <p:grpSpPr>
          <a:xfrm>
            <a:off x="1134515" y="3370153"/>
            <a:ext cx="7281299" cy="348208"/>
            <a:chOff x="1134515" y="3747233"/>
            <a:chExt cx="7281299" cy="348208"/>
          </a:xfrm>
        </p:grpSpPr>
        <p:sp>
          <p:nvSpPr>
            <p:cNvPr id="98" name="Right Brace 97"/>
            <p:cNvSpPr/>
            <p:nvPr/>
          </p:nvSpPr>
          <p:spPr>
            <a:xfrm rot="5400000">
              <a:off x="1302724" y="3581313"/>
              <a:ext cx="107514" cy="443931"/>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9" name="Right Brace 98"/>
            <p:cNvSpPr/>
            <p:nvPr/>
          </p:nvSpPr>
          <p:spPr>
            <a:xfrm rot="5400000">
              <a:off x="1755266" y="3581314"/>
              <a:ext cx="107514" cy="443931"/>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6" name="TextBox 105"/>
            <p:cNvSpPr txBox="1"/>
            <p:nvPr/>
          </p:nvSpPr>
          <p:spPr>
            <a:xfrm>
              <a:off x="1223946" y="3818442"/>
              <a:ext cx="263214" cy="276999"/>
            </a:xfrm>
            <a:prstGeom prst="rect">
              <a:avLst/>
            </a:prstGeom>
            <a:noFill/>
          </p:spPr>
          <p:txBody>
            <a:bodyPr wrap="none" rtlCol="0">
              <a:spAutoFit/>
            </a:bodyPr>
            <a:lstStyle/>
            <a:p>
              <a:pPr algn="ctr"/>
              <a:r>
                <a:rPr lang="en-US" sz="1200" b="1" dirty="0">
                  <a:solidFill>
                    <a:schemeClr val="accent5"/>
                  </a:solidFill>
                </a:rPr>
                <a:t>0</a:t>
              </a:r>
            </a:p>
          </p:txBody>
        </p:sp>
        <p:sp>
          <p:nvSpPr>
            <p:cNvPr id="107" name="TextBox 106"/>
            <p:cNvSpPr txBox="1"/>
            <p:nvPr/>
          </p:nvSpPr>
          <p:spPr>
            <a:xfrm>
              <a:off x="1678280" y="3818442"/>
              <a:ext cx="263214" cy="276999"/>
            </a:xfrm>
            <a:prstGeom prst="rect">
              <a:avLst/>
            </a:prstGeom>
            <a:noFill/>
          </p:spPr>
          <p:txBody>
            <a:bodyPr wrap="none" rtlCol="0">
              <a:spAutoFit/>
            </a:bodyPr>
            <a:lstStyle/>
            <a:p>
              <a:pPr algn="ctr"/>
              <a:r>
                <a:rPr lang="en-US" sz="1200" b="1" dirty="0">
                  <a:solidFill>
                    <a:schemeClr val="accent6"/>
                  </a:solidFill>
                </a:rPr>
                <a:t>4</a:t>
              </a:r>
            </a:p>
          </p:txBody>
        </p:sp>
        <p:sp>
          <p:nvSpPr>
            <p:cNvPr id="127" name="Right Brace 126"/>
            <p:cNvSpPr/>
            <p:nvPr/>
          </p:nvSpPr>
          <p:spPr>
            <a:xfrm rot="5400000">
              <a:off x="2207508" y="3581313"/>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8" name="Right Brace 127"/>
            <p:cNvSpPr/>
            <p:nvPr/>
          </p:nvSpPr>
          <p:spPr>
            <a:xfrm rot="5400000">
              <a:off x="2661638" y="3581314"/>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9" name="TextBox 128"/>
            <p:cNvSpPr txBox="1"/>
            <p:nvPr/>
          </p:nvSpPr>
          <p:spPr>
            <a:xfrm>
              <a:off x="2128730" y="3818442"/>
              <a:ext cx="263214" cy="276999"/>
            </a:xfrm>
            <a:prstGeom prst="rect">
              <a:avLst/>
            </a:prstGeom>
            <a:noFill/>
          </p:spPr>
          <p:txBody>
            <a:bodyPr wrap="none" rtlCol="0">
              <a:spAutoFit/>
            </a:bodyPr>
            <a:lstStyle/>
            <a:p>
              <a:pPr algn="ctr"/>
              <a:r>
                <a:rPr lang="en-US" sz="1200" b="1" dirty="0">
                  <a:solidFill>
                    <a:schemeClr val="accent2"/>
                  </a:solidFill>
                </a:rPr>
                <a:t>8</a:t>
              </a:r>
            </a:p>
          </p:txBody>
        </p:sp>
        <p:sp>
          <p:nvSpPr>
            <p:cNvPr id="130" name="TextBox 129"/>
            <p:cNvSpPr txBox="1"/>
            <p:nvPr/>
          </p:nvSpPr>
          <p:spPr>
            <a:xfrm>
              <a:off x="2545379" y="3818442"/>
              <a:ext cx="341760" cy="276999"/>
            </a:xfrm>
            <a:prstGeom prst="rect">
              <a:avLst/>
            </a:prstGeom>
            <a:noFill/>
          </p:spPr>
          <p:txBody>
            <a:bodyPr wrap="none" rtlCol="0">
              <a:spAutoFit/>
            </a:bodyPr>
            <a:lstStyle/>
            <a:p>
              <a:pPr algn="ctr"/>
              <a:r>
                <a:rPr lang="en-US" sz="1200" b="1" dirty="0">
                  <a:solidFill>
                    <a:schemeClr val="accent4">
                      <a:lumMod val="75000"/>
                    </a:schemeClr>
                  </a:solidFill>
                </a:rPr>
                <a:t>12</a:t>
              </a:r>
            </a:p>
          </p:txBody>
        </p:sp>
        <p:sp>
          <p:nvSpPr>
            <p:cNvPr id="132" name="Right Brace 131"/>
            <p:cNvSpPr/>
            <p:nvPr/>
          </p:nvSpPr>
          <p:spPr>
            <a:xfrm rot="5400000">
              <a:off x="3129854" y="3580154"/>
              <a:ext cx="107514" cy="443931"/>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3" name="Right Brace 132"/>
            <p:cNvSpPr/>
            <p:nvPr/>
          </p:nvSpPr>
          <p:spPr>
            <a:xfrm rot="5400000">
              <a:off x="3582396" y="3580155"/>
              <a:ext cx="107514" cy="443931"/>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4" name="TextBox 133"/>
            <p:cNvSpPr txBox="1"/>
            <p:nvPr/>
          </p:nvSpPr>
          <p:spPr>
            <a:xfrm>
              <a:off x="3051076" y="3817283"/>
              <a:ext cx="263214" cy="276999"/>
            </a:xfrm>
            <a:prstGeom prst="rect">
              <a:avLst/>
            </a:prstGeom>
            <a:noFill/>
          </p:spPr>
          <p:txBody>
            <a:bodyPr wrap="none" rtlCol="0">
              <a:spAutoFit/>
            </a:bodyPr>
            <a:lstStyle/>
            <a:p>
              <a:pPr algn="ctr"/>
              <a:r>
                <a:rPr lang="en-US" sz="1200" b="1" dirty="0">
                  <a:solidFill>
                    <a:schemeClr val="accent5"/>
                  </a:solidFill>
                </a:rPr>
                <a:t>1</a:t>
              </a:r>
            </a:p>
          </p:txBody>
        </p:sp>
        <p:sp>
          <p:nvSpPr>
            <p:cNvPr id="135" name="TextBox 134"/>
            <p:cNvSpPr txBox="1"/>
            <p:nvPr/>
          </p:nvSpPr>
          <p:spPr>
            <a:xfrm>
              <a:off x="3505410" y="3817283"/>
              <a:ext cx="263214" cy="276999"/>
            </a:xfrm>
            <a:prstGeom prst="rect">
              <a:avLst/>
            </a:prstGeom>
            <a:noFill/>
          </p:spPr>
          <p:txBody>
            <a:bodyPr wrap="none" rtlCol="0">
              <a:spAutoFit/>
            </a:bodyPr>
            <a:lstStyle/>
            <a:p>
              <a:pPr algn="ctr"/>
              <a:r>
                <a:rPr lang="en-US" sz="1200" b="1" dirty="0">
                  <a:solidFill>
                    <a:schemeClr val="accent6"/>
                  </a:solidFill>
                </a:rPr>
                <a:t>5</a:t>
              </a:r>
            </a:p>
          </p:txBody>
        </p:sp>
        <p:sp>
          <p:nvSpPr>
            <p:cNvPr id="137" name="Right Brace 136"/>
            <p:cNvSpPr/>
            <p:nvPr/>
          </p:nvSpPr>
          <p:spPr>
            <a:xfrm rot="5400000">
              <a:off x="4034638" y="358015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8" name="Right Brace 137"/>
            <p:cNvSpPr/>
            <p:nvPr/>
          </p:nvSpPr>
          <p:spPr>
            <a:xfrm rot="5400000">
              <a:off x="4488768" y="358015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9" name="TextBox 138"/>
            <p:cNvSpPr txBox="1"/>
            <p:nvPr/>
          </p:nvSpPr>
          <p:spPr>
            <a:xfrm>
              <a:off x="3955860" y="3817283"/>
              <a:ext cx="263214" cy="276999"/>
            </a:xfrm>
            <a:prstGeom prst="rect">
              <a:avLst/>
            </a:prstGeom>
            <a:noFill/>
          </p:spPr>
          <p:txBody>
            <a:bodyPr wrap="none" rtlCol="0">
              <a:spAutoFit/>
            </a:bodyPr>
            <a:lstStyle/>
            <a:p>
              <a:pPr algn="ctr"/>
              <a:r>
                <a:rPr lang="en-US" sz="1200" b="1" dirty="0">
                  <a:solidFill>
                    <a:schemeClr val="accent2"/>
                  </a:solidFill>
                </a:rPr>
                <a:t>9</a:t>
              </a:r>
            </a:p>
          </p:txBody>
        </p:sp>
        <p:sp>
          <p:nvSpPr>
            <p:cNvPr id="140" name="TextBox 139"/>
            <p:cNvSpPr txBox="1"/>
            <p:nvPr/>
          </p:nvSpPr>
          <p:spPr>
            <a:xfrm>
              <a:off x="4372509" y="3817283"/>
              <a:ext cx="341760" cy="276999"/>
            </a:xfrm>
            <a:prstGeom prst="rect">
              <a:avLst/>
            </a:prstGeom>
            <a:noFill/>
          </p:spPr>
          <p:txBody>
            <a:bodyPr wrap="none" rtlCol="0">
              <a:spAutoFit/>
            </a:bodyPr>
            <a:lstStyle/>
            <a:p>
              <a:pPr algn="ctr"/>
              <a:r>
                <a:rPr lang="en-US" sz="1200" b="1" dirty="0">
                  <a:solidFill>
                    <a:schemeClr val="accent4">
                      <a:lumMod val="75000"/>
                    </a:schemeClr>
                  </a:solidFill>
                </a:rPr>
                <a:t>13</a:t>
              </a:r>
            </a:p>
          </p:txBody>
        </p:sp>
        <p:sp>
          <p:nvSpPr>
            <p:cNvPr id="142" name="Right Brace 141"/>
            <p:cNvSpPr/>
            <p:nvPr/>
          </p:nvSpPr>
          <p:spPr>
            <a:xfrm rot="5400000">
              <a:off x="5184721" y="3356306"/>
              <a:ext cx="107514" cy="89163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4" name="TextBox 143"/>
            <p:cNvSpPr txBox="1"/>
            <p:nvPr/>
          </p:nvSpPr>
          <p:spPr>
            <a:xfrm>
              <a:off x="5107741" y="3817283"/>
              <a:ext cx="263214" cy="276999"/>
            </a:xfrm>
            <a:prstGeom prst="rect">
              <a:avLst/>
            </a:prstGeom>
            <a:noFill/>
          </p:spPr>
          <p:txBody>
            <a:bodyPr wrap="none" rtlCol="0">
              <a:spAutoFit/>
            </a:bodyPr>
            <a:lstStyle/>
            <a:p>
              <a:pPr algn="ctr"/>
              <a:r>
                <a:rPr lang="en-US" sz="1200" b="1" dirty="0">
                  <a:solidFill>
                    <a:schemeClr val="accent6"/>
                  </a:solidFill>
                </a:rPr>
                <a:t>6</a:t>
              </a:r>
            </a:p>
          </p:txBody>
        </p:sp>
        <p:sp>
          <p:nvSpPr>
            <p:cNvPr id="145" name="Right Brace 144"/>
            <p:cNvSpPr/>
            <p:nvPr/>
          </p:nvSpPr>
          <p:spPr>
            <a:xfrm rot="5400000">
              <a:off x="5860812" y="358015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6" name="Right Brace 145"/>
            <p:cNvSpPr/>
            <p:nvPr/>
          </p:nvSpPr>
          <p:spPr>
            <a:xfrm rot="5400000">
              <a:off x="6314942" y="358015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7" name="TextBox 146"/>
            <p:cNvSpPr txBox="1"/>
            <p:nvPr/>
          </p:nvSpPr>
          <p:spPr>
            <a:xfrm>
              <a:off x="5742761" y="3817283"/>
              <a:ext cx="341760" cy="276999"/>
            </a:xfrm>
            <a:prstGeom prst="rect">
              <a:avLst/>
            </a:prstGeom>
            <a:noFill/>
          </p:spPr>
          <p:txBody>
            <a:bodyPr wrap="none" rtlCol="0">
              <a:spAutoFit/>
            </a:bodyPr>
            <a:lstStyle/>
            <a:p>
              <a:pPr algn="ctr"/>
              <a:r>
                <a:rPr lang="en-US" sz="1200" b="1" dirty="0">
                  <a:solidFill>
                    <a:schemeClr val="accent2"/>
                  </a:solidFill>
                </a:rPr>
                <a:t>10</a:t>
              </a:r>
            </a:p>
          </p:txBody>
        </p:sp>
        <p:sp>
          <p:nvSpPr>
            <p:cNvPr id="148" name="TextBox 147"/>
            <p:cNvSpPr txBox="1"/>
            <p:nvPr/>
          </p:nvSpPr>
          <p:spPr>
            <a:xfrm>
              <a:off x="6198683" y="3817283"/>
              <a:ext cx="341760" cy="276999"/>
            </a:xfrm>
            <a:prstGeom prst="rect">
              <a:avLst/>
            </a:prstGeom>
            <a:noFill/>
          </p:spPr>
          <p:txBody>
            <a:bodyPr wrap="none" rtlCol="0">
              <a:spAutoFit/>
            </a:bodyPr>
            <a:lstStyle/>
            <a:p>
              <a:pPr algn="ctr"/>
              <a:r>
                <a:rPr lang="en-US" sz="1200" b="1" dirty="0">
                  <a:solidFill>
                    <a:schemeClr val="accent4">
                      <a:lumMod val="75000"/>
                    </a:schemeClr>
                  </a:solidFill>
                </a:rPr>
                <a:t>14</a:t>
              </a:r>
            </a:p>
          </p:txBody>
        </p:sp>
        <p:sp>
          <p:nvSpPr>
            <p:cNvPr id="149" name="Right Brace 148"/>
            <p:cNvSpPr/>
            <p:nvPr/>
          </p:nvSpPr>
          <p:spPr>
            <a:xfrm rot="5400000">
              <a:off x="7003196" y="3357006"/>
              <a:ext cx="107514" cy="887968"/>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1" name="TextBox 150"/>
            <p:cNvSpPr txBox="1"/>
            <p:nvPr/>
          </p:nvSpPr>
          <p:spPr>
            <a:xfrm>
              <a:off x="6926243" y="3816153"/>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153" name="Right Brace 152"/>
            <p:cNvSpPr/>
            <p:nvPr/>
          </p:nvSpPr>
          <p:spPr>
            <a:xfrm rot="5400000">
              <a:off x="7685962" y="357902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4" name="Right Brace 153"/>
            <p:cNvSpPr/>
            <p:nvPr/>
          </p:nvSpPr>
          <p:spPr>
            <a:xfrm rot="5400000">
              <a:off x="8140092" y="357902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5" name="TextBox 154"/>
            <p:cNvSpPr txBox="1"/>
            <p:nvPr/>
          </p:nvSpPr>
          <p:spPr>
            <a:xfrm>
              <a:off x="7567911" y="3816153"/>
              <a:ext cx="341760" cy="276999"/>
            </a:xfrm>
            <a:prstGeom prst="rect">
              <a:avLst/>
            </a:prstGeom>
            <a:noFill/>
          </p:spPr>
          <p:txBody>
            <a:bodyPr wrap="none" rtlCol="0">
              <a:spAutoFit/>
            </a:bodyPr>
            <a:lstStyle/>
            <a:p>
              <a:pPr algn="ctr"/>
              <a:r>
                <a:rPr lang="en-US" sz="1200" b="1" dirty="0">
                  <a:solidFill>
                    <a:schemeClr val="accent2"/>
                  </a:solidFill>
                </a:rPr>
                <a:t>11</a:t>
              </a:r>
            </a:p>
          </p:txBody>
        </p:sp>
        <p:sp>
          <p:nvSpPr>
            <p:cNvPr id="156" name="TextBox 155"/>
            <p:cNvSpPr txBox="1"/>
            <p:nvPr/>
          </p:nvSpPr>
          <p:spPr>
            <a:xfrm>
              <a:off x="8023833" y="3816153"/>
              <a:ext cx="341760" cy="276999"/>
            </a:xfrm>
            <a:prstGeom prst="rect">
              <a:avLst/>
            </a:prstGeom>
            <a:noFill/>
          </p:spPr>
          <p:txBody>
            <a:bodyPr wrap="none" rtlCol="0">
              <a:spAutoFit/>
            </a:bodyPr>
            <a:lstStyle/>
            <a:p>
              <a:pPr algn="ctr"/>
              <a:r>
                <a:rPr lang="en-US" sz="1200" b="1" dirty="0">
                  <a:solidFill>
                    <a:schemeClr val="accent4">
                      <a:lumMod val="75000"/>
                    </a:schemeClr>
                  </a:solidFill>
                </a:rPr>
                <a:t>15</a:t>
              </a:r>
            </a:p>
          </p:txBody>
        </p:sp>
        <p:sp>
          <p:nvSpPr>
            <p:cNvPr id="157" name="TextBox 156"/>
            <p:cNvSpPr txBox="1"/>
            <p:nvPr/>
          </p:nvSpPr>
          <p:spPr>
            <a:xfrm>
              <a:off x="4697263" y="3817283"/>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158" name="TextBox 157"/>
            <p:cNvSpPr txBox="1"/>
            <p:nvPr/>
          </p:nvSpPr>
          <p:spPr>
            <a:xfrm>
              <a:off x="7378551" y="3816152"/>
              <a:ext cx="263213" cy="276999"/>
            </a:xfrm>
            <a:prstGeom prst="rect">
              <a:avLst/>
            </a:prstGeom>
            <a:noFill/>
          </p:spPr>
          <p:txBody>
            <a:bodyPr wrap="none" rtlCol="0">
              <a:spAutoFit/>
            </a:bodyPr>
            <a:lstStyle/>
            <a:p>
              <a:pPr algn="ctr"/>
              <a:r>
                <a:rPr lang="en-US" sz="1200" b="1" dirty="0">
                  <a:solidFill>
                    <a:schemeClr val="accent6"/>
                  </a:solidFill>
                </a:rPr>
                <a:t>8</a:t>
              </a:r>
            </a:p>
          </p:txBody>
        </p:sp>
      </p:grpSp>
    </p:spTree>
    <p:extLst>
      <p:ext uri="{BB962C8B-B14F-4D97-AF65-F5344CB8AC3E}">
        <p14:creationId xmlns:p14="http://schemas.microsoft.com/office/powerpoint/2010/main" val="1608969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9" name="Straight Connector 198"/>
          <p:cNvCxnSpPr/>
          <p:nvPr/>
        </p:nvCxnSpPr>
        <p:spPr>
          <a:xfrm>
            <a:off x="2951831"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a:off x="4776427"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a:off x="6601023"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0"/>
          </p:nvPr>
        </p:nvSpPr>
        <p:spPr/>
        <p:txBody>
          <a:bodyPr/>
          <a:lstStyle/>
          <a:p>
            <a:r>
              <a:rPr lang="en-US" dirty="0"/>
              <a:t>Radix Sort Iteration (2-bit Radix)</a:t>
            </a:r>
          </a:p>
        </p:txBody>
      </p:sp>
      <p:grpSp>
        <p:nvGrpSpPr>
          <p:cNvPr id="51" name="Group 50"/>
          <p:cNvGrpSpPr/>
          <p:nvPr/>
        </p:nvGrpSpPr>
        <p:grpSpPr>
          <a:xfrm>
            <a:off x="1127235" y="2059271"/>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grpSp>
      <p:grpSp>
        <p:nvGrpSpPr>
          <p:cNvPr id="69" name="Group 68"/>
          <p:cNvGrpSpPr/>
          <p:nvPr/>
        </p:nvGrpSpPr>
        <p:grpSpPr>
          <a:xfrm>
            <a:off x="1127235" y="5261651"/>
            <a:ext cx="7299435" cy="457200"/>
            <a:chOff x="941989" y="1557421"/>
            <a:chExt cx="7299435" cy="457200"/>
          </a:xfrm>
        </p:grpSpPr>
        <p:sp>
          <p:nvSpPr>
            <p:cNvPr id="70" name="Rectangle 6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71" name="Rectangle 7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72" name="Rectangle 7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73" name="Rectangle 7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74" name="Rectangle 7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5" name="Rectangle 7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76" name="Rectangle 7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7" name="Rectangle 7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78" name="Rectangle 7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79" name="Rectangle 7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0" name="Rectangle 79"/>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81" name="Rectangle 80"/>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2" name="Rectangle 81"/>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83" name="Rectangle 82"/>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84" name="Rectangle 83"/>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85" name="Rectangle 84"/>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grpSp>
      <p:grpSp>
        <p:nvGrpSpPr>
          <p:cNvPr id="215" name="Group 214"/>
          <p:cNvGrpSpPr/>
          <p:nvPr/>
        </p:nvGrpSpPr>
        <p:grpSpPr>
          <a:xfrm>
            <a:off x="2994823" y="1130729"/>
            <a:ext cx="1738603" cy="822960"/>
            <a:chOff x="2667000" y="1752600"/>
            <a:chExt cx="889511" cy="838200"/>
          </a:xfrm>
        </p:grpSpPr>
        <p:sp>
          <p:nvSpPr>
            <p:cNvPr id="216" name="Rectangle 21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7" name="Freeform 21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8" name="Freeform 21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9" name="Freeform 21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0" name="Freeform 21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21" name="Group 220"/>
          <p:cNvGrpSpPr/>
          <p:nvPr/>
        </p:nvGrpSpPr>
        <p:grpSpPr>
          <a:xfrm>
            <a:off x="4819769" y="1130729"/>
            <a:ext cx="1738603" cy="822960"/>
            <a:chOff x="2667000" y="1752600"/>
            <a:chExt cx="889511" cy="838200"/>
          </a:xfrm>
        </p:grpSpPr>
        <p:sp>
          <p:nvSpPr>
            <p:cNvPr id="222" name="Rectangle 221"/>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3" name="Freeform 222"/>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4" name="Freeform 223"/>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5" name="Freeform 224"/>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6" name="Freeform 225"/>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27" name="Group 226"/>
          <p:cNvGrpSpPr/>
          <p:nvPr/>
        </p:nvGrpSpPr>
        <p:grpSpPr>
          <a:xfrm>
            <a:off x="6644716" y="1130729"/>
            <a:ext cx="1738603" cy="822960"/>
            <a:chOff x="2667000" y="1752600"/>
            <a:chExt cx="889511" cy="838200"/>
          </a:xfrm>
        </p:grpSpPr>
        <p:sp>
          <p:nvSpPr>
            <p:cNvPr id="228" name="Rectangle 22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9" name="Freeform 22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0" name="Freeform 22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1" name="Freeform 23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2" name="Freeform 23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33" name="Group 232"/>
          <p:cNvGrpSpPr/>
          <p:nvPr/>
        </p:nvGrpSpPr>
        <p:grpSpPr>
          <a:xfrm>
            <a:off x="1169877" y="1130729"/>
            <a:ext cx="1738603" cy="822960"/>
            <a:chOff x="2667000" y="1752600"/>
            <a:chExt cx="889511" cy="838200"/>
          </a:xfrm>
        </p:grpSpPr>
        <p:sp>
          <p:nvSpPr>
            <p:cNvPr id="234" name="Rectangle 23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5" name="Freeform 23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6" name="Freeform 23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7" name="Freeform 23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8" name="Freeform 23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61" name="Group 260"/>
          <p:cNvGrpSpPr/>
          <p:nvPr/>
        </p:nvGrpSpPr>
        <p:grpSpPr>
          <a:xfrm>
            <a:off x="1127235" y="2879595"/>
            <a:ext cx="7299435" cy="457200"/>
            <a:chOff x="1127235" y="2436351"/>
            <a:chExt cx="7299435" cy="457200"/>
          </a:xfrm>
        </p:grpSpPr>
        <p:sp>
          <p:nvSpPr>
            <p:cNvPr id="262" name="Rectangle 261"/>
            <p:cNvSpPr>
              <a:spLocks noChangeAspect="1"/>
            </p:cNvSpPr>
            <p:nvPr/>
          </p:nvSpPr>
          <p:spPr>
            <a:xfrm>
              <a:off x="295183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263" name="Rectangle 262"/>
            <p:cNvSpPr>
              <a:spLocks noChangeAspect="1"/>
            </p:cNvSpPr>
            <p:nvPr/>
          </p:nvSpPr>
          <p:spPr>
            <a:xfrm>
              <a:off x="340798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264" name="Rectangle 263"/>
            <p:cNvSpPr>
              <a:spLocks noChangeAspect="1"/>
            </p:cNvSpPr>
            <p:nvPr/>
          </p:nvSpPr>
          <p:spPr>
            <a:xfrm>
              <a:off x="3864129"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65" name="Rectangle 264"/>
            <p:cNvSpPr>
              <a:spLocks noChangeAspect="1"/>
            </p:cNvSpPr>
            <p:nvPr/>
          </p:nvSpPr>
          <p:spPr>
            <a:xfrm>
              <a:off x="4320278"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266" name="Rectangle 265"/>
            <p:cNvSpPr>
              <a:spLocks noChangeAspect="1"/>
            </p:cNvSpPr>
            <p:nvPr/>
          </p:nvSpPr>
          <p:spPr>
            <a:xfrm>
              <a:off x="4776427"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67" name="Rectangle 266"/>
            <p:cNvSpPr>
              <a:spLocks noChangeAspect="1"/>
            </p:cNvSpPr>
            <p:nvPr/>
          </p:nvSpPr>
          <p:spPr>
            <a:xfrm>
              <a:off x="5232576"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268" name="Rectangle 267"/>
            <p:cNvSpPr>
              <a:spLocks noChangeAspect="1"/>
            </p:cNvSpPr>
            <p:nvPr/>
          </p:nvSpPr>
          <p:spPr>
            <a:xfrm>
              <a:off x="568872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69" name="Rectangle 268"/>
            <p:cNvSpPr>
              <a:spLocks noChangeAspect="1"/>
            </p:cNvSpPr>
            <p:nvPr/>
          </p:nvSpPr>
          <p:spPr>
            <a:xfrm>
              <a:off x="614487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270" name="Rectangle 269"/>
            <p:cNvSpPr>
              <a:spLocks noChangeAspect="1"/>
            </p:cNvSpPr>
            <p:nvPr/>
          </p:nvSpPr>
          <p:spPr>
            <a:xfrm>
              <a:off x="660102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271" name="Rectangle 270"/>
            <p:cNvSpPr>
              <a:spLocks noChangeAspect="1"/>
            </p:cNvSpPr>
            <p:nvPr/>
          </p:nvSpPr>
          <p:spPr>
            <a:xfrm>
              <a:off x="705717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272" name="Rectangle 271"/>
            <p:cNvSpPr>
              <a:spLocks noChangeAspect="1"/>
            </p:cNvSpPr>
            <p:nvPr/>
          </p:nvSpPr>
          <p:spPr>
            <a:xfrm>
              <a:off x="7513321"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73" name="Rectangle 272"/>
            <p:cNvSpPr>
              <a:spLocks noChangeAspect="1"/>
            </p:cNvSpPr>
            <p:nvPr/>
          </p:nvSpPr>
          <p:spPr>
            <a:xfrm>
              <a:off x="7969470"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274" name="Rectangle 273"/>
            <p:cNvSpPr>
              <a:spLocks noChangeAspect="1"/>
            </p:cNvSpPr>
            <p:nvPr/>
          </p:nvSpPr>
          <p:spPr>
            <a:xfrm>
              <a:off x="1127235"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275" name="Rectangle 274"/>
            <p:cNvSpPr>
              <a:spLocks noChangeAspect="1"/>
            </p:cNvSpPr>
            <p:nvPr/>
          </p:nvSpPr>
          <p:spPr>
            <a:xfrm>
              <a:off x="1583384"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76" name="Rectangle 275"/>
            <p:cNvSpPr>
              <a:spLocks noChangeAspect="1"/>
            </p:cNvSpPr>
            <p:nvPr/>
          </p:nvSpPr>
          <p:spPr>
            <a:xfrm>
              <a:off x="2039533"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77" name="Rectangle 276"/>
            <p:cNvSpPr>
              <a:spLocks noChangeAspect="1"/>
            </p:cNvSpPr>
            <p:nvPr/>
          </p:nvSpPr>
          <p:spPr>
            <a:xfrm>
              <a:off x="2495682" y="24363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grpSp>
      <p:cxnSp>
        <p:nvCxnSpPr>
          <p:cNvPr id="295" name="Straight Arrow Connector 294"/>
          <p:cNvCxnSpPr>
            <a:stCxn id="39" idx="2"/>
            <a:endCxn id="265" idx="0"/>
          </p:cNvCxnSpPr>
          <p:nvPr/>
        </p:nvCxnSpPr>
        <p:spPr>
          <a:xfrm>
            <a:off x="3180431" y="251647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6" name="Straight Arrow Connector 295"/>
          <p:cNvCxnSpPr>
            <a:stCxn id="40" idx="2"/>
            <a:endCxn id="262" idx="0"/>
          </p:cNvCxnSpPr>
          <p:nvPr/>
        </p:nvCxnSpPr>
        <p:spPr>
          <a:xfrm flipH="1">
            <a:off x="3180431"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7" name="Straight Arrow Connector 296"/>
          <p:cNvCxnSpPr>
            <a:stCxn id="42" idx="2"/>
            <a:endCxn id="264" idx="0"/>
          </p:cNvCxnSpPr>
          <p:nvPr/>
        </p:nvCxnSpPr>
        <p:spPr>
          <a:xfrm flipH="1">
            <a:off x="4092729"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8" name="Straight Arrow Connector 297"/>
          <p:cNvCxnSpPr>
            <a:stCxn id="41" idx="2"/>
            <a:endCxn id="263" idx="0"/>
          </p:cNvCxnSpPr>
          <p:nvPr/>
        </p:nvCxnSpPr>
        <p:spPr>
          <a:xfrm flipH="1">
            <a:off x="3636580"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9" name="Straight Arrow Connector 298"/>
          <p:cNvCxnSpPr>
            <a:stCxn id="43" idx="2"/>
            <a:endCxn id="266" idx="0"/>
          </p:cNvCxnSpPr>
          <p:nvPr/>
        </p:nvCxnSpPr>
        <p:spPr>
          <a:xfrm>
            <a:off x="5005027"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0" name="Straight Arrow Connector 299"/>
          <p:cNvCxnSpPr>
            <a:stCxn id="44" idx="2"/>
            <a:endCxn id="268" idx="0"/>
          </p:cNvCxnSpPr>
          <p:nvPr/>
        </p:nvCxnSpPr>
        <p:spPr>
          <a:xfrm>
            <a:off x="5461176"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1" name="Straight Arrow Connector 300"/>
          <p:cNvCxnSpPr>
            <a:stCxn id="45" idx="2"/>
            <a:endCxn id="269" idx="0"/>
          </p:cNvCxnSpPr>
          <p:nvPr/>
        </p:nvCxnSpPr>
        <p:spPr>
          <a:xfrm>
            <a:off x="5917325"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2" name="Straight Arrow Connector 301"/>
          <p:cNvCxnSpPr>
            <a:stCxn id="46" idx="2"/>
            <a:endCxn id="267" idx="0"/>
          </p:cNvCxnSpPr>
          <p:nvPr/>
        </p:nvCxnSpPr>
        <p:spPr>
          <a:xfrm flipH="1">
            <a:off x="5461176"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3" name="Straight Arrow Connector 302"/>
          <p:cNvCxnSpPr>
            <a:stCxn id="47" idx="2"/>
            <a:endCxn id="270" idx="0"/>
          </p:cNvCxnSpPr>
          <p:nvPr/>
        </p:nvCxnSpPr>
        <p:spPr>
          <a:xfrm>
            <a:off x="6829623"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4" name="Straight Arrow Connector 303"/>
          <p:cNvCxnSpPr>
            <a:stCxn id="48" idx="2"/>
            <a:endCxn id="272" idx="0"/>
          </p:cNvCxnSpPr>
          <p:nvPr/>
        </p:nvCxnSpPr>
        <p:spPr>
          <a:xfrm>
            <a:off x="7285772"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5" name="Straight Arrow Connector 304"/>
          <p:cNvCxnSpPr>
            <a:stCxn id="49" idx="2"/>
            <a:endCxn id="273" idx="0"/>
          </p:cNvCxnSpPr>
          <p:nvPr/>
        </p:nvCxnSpPr>
        <p:spPr>
          <a:xfrm>
            <a:off x="7741921"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6" name="Straight Arrow Connector 305"/>
          <p:cNvCxnSpPr>
            <a:stCxn id="50" idx="2"/>
            <a:endCxn id="271" idx="0"/>
          </p:cNvCxnSpPr>
          <p:nvPr/>
        </p:nvCxnSpPr>
        <p:spPr>
          <a:xfrm flipH="1">
            <a:off x="7285772"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7" name="Straight Arrow Connector 306"/>
          <p:cNvCxnSpPr>
            <a:stCxn id="5" idx="2"/>
            <a:endCxn id="274" idx="0"/>
          </p:cNvCxnSpPr>
          <p:nvPr/>
        </p:nvCxnSpPr>
        <p:spPr>
          <a:xfrm>
            <a:off x="1355835"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8" name="Straight Arrow Connector 307"/>
          <p:cNvCxnSpPr>
            <a:stCxn id="36" idx="2"/>
            <a:endCxn id="277" idx="0"/>
          </p:cNvCxnSpPr>
          <p:nvPr/>
        </p:nvCxnSpPr>
        <p:spPr>
          <a:xfrm>
            <a:off x="1811984"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9" name="Straight Arrow Connector 308"/>
          <p:cNvCxnSpPr>
            <a:stCxn id="37" idx="2"/>
            <a:endCxn id="276" idx="0"/>
          </p:cNvCxnSpPr>
          <p:nvPr/>
        </p:nvCxnSpPr>
        <p:spPr>
          <a:xfrm>
            <a:off x="2268133"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0" name="Straight Arrow Connector 309"/>
          <p:cNvCxnSpPr>
            <a:stCxn id="38" idx="2"/>
            <a:endCxn id="275" idx="0"/>
          </p:cNvCxnSpPr>
          <p:nvPr/>
        </p:nvCxnSpPr>
        <p:spPr>
          <a:xfrm flipH="1">
            <a:off x="1811984"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98" name="Right Brace 97"/>
          <p:cNvSpPr/>
          <p:nvPr/>
        </p:nvSpPr>
        <p:spPr>
          <a:xfrm rot="5400000">
            <a:off x="1302724" y="3204233"/>
            <a:ext cx="107514" cy="443931"/>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9" name="Right Brace 98"/>
          <p:cNvSpPr/>
          <p:nvPr/>
        </p:nvSpPr>
        <p:spPr>
          <a:xfrm rot="5400000">
            <a:off x="1755266" y="3204234"/>
            <a:ext cx="107514" cy="443931"/>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6" name="TextBox 105"/>
          <p:cNvSpPr txBox="1"/>
          <p:nvPr/>
        </p:nvSpPr>
        <p:spPr>
          <a:xfrm>
            <a:off x="1223946" y="3441362"/>
            <a:ext cx="263214" cy="276999"/>
          </a:xfrm>
          <a:prstGeom prst="rect">
            <a:avLst/>
          </a:prstGeom>
          <a:noFill/>
        </p:spPr>
        <p:txBody>
          <a:bodyPr wrap="none" rtlCol="0">
            <a:spAutoFit/>
          </a:bodyPr>
          <a:lstStyle/>
          <a:p>
            <a:pPr algn="ctr"/>
            <a:r>
              <a:rPr lang="en-US" sz="1200" b="1" dirty="0">
                <a:solidFill>
                  <a:schemeClr val="accent5"/>
                </a:solidFill>
              </a:rPr>
              <a:t>0</a:t>
            </a:r>
          </a:p>
        </p:txBody>
      </p:sp>
      <p:sp>
        <p:nvSpPr>
          <p:cNvPr id="107" name="TextBox 106"/>
          <p:cNvSpPr txBox="1"/>
          <p:nvPr/>
        </p:nvSpPr>
        <p:spPr>
          <a:xfrm>
            <a:off x="1678280" y="3441362"/>
            <a:ext cx="263214" cy="276999"/>
          </a:xfrm>
          <a:prstGeom prst="rect">
            <a:avLst/>
          </a:prstGeom>
          <a:noFill/>
        </p:spPr>
        <p:txBody>
          <a:bodyPr wrap="none" rtlCol="0">
            <a:spAutoFit/>
          </a:bodyPr>
          <a:lstStyle/>
          <a:p>
            <a:pPr algn="ctr"/>
            <a:r>
              <a:rPr lang="en-US" sz="1200" b="1" dirty="0">
                <a:solidFill>
                  <a:schemeClr val="accent6"/>
                </a:solidFill>
              </a:rPr>
              <a:t>4</a:t>
            </a:r>
          </a:p>
        </p:txBody>
      </p:sp>
      <p:sp>
        <p:nvSpPr>
          <p:cNvPr id="127" name="Right Brace 126"/>
          <p:cNvSpPr/>
          <p:nvPr/>
        </p:nvSpPr>
        <p:spPr>
          <a:xfrm rot="5400000">
            <a:off x="2207508" y="3204233"/>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8" name="Right Brace 127"/>
          <p:cNvSpPr/>
          <p:nvPr/>
        </p:nvSpPr>
        <p:spPr>
          <a:xfrm rot="5400000">
            <a:off x="2661638" y="3204234"/>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9" name="TextBox 128"/>
          <p:cNvSpPr txBox="1"/>
          <p:nvPr/>
        </p:nvSpPr>
        <p:spPr>
          <a:xfrm>
            <a:off x="2128730" y="3441362"/>
            <a:ext cx="263214" cy="276999"/>
          </a:xfrm>
          <a:prstGeom prst="rect">
            <a:avLst/>
          </a:prstGeom>
          <a:noFill/>
        </p:spPr>
        <p:txBody>
          <a:bodyPr wrap="none" rtlCol="0">
            <a:spAutoFit/>
          </a:bodyPr>
          <a:lstStyle/>
          <a:p>
            <a:pPr algn="ctr"/>
            <a:r>
              <a:rPr lang="en-US" sz="1200" b="1" dirty="0">
                <a:solidFill>
                  <a:schemeClr val="accent2"/>
                </a:solidFill>
              </a:rPr>
              <a:t>8</a:t>
            </a:r>
          </a:p>
        </p:txBody>
      </p:sp>
      <p:sp>
        <p:nvSpPr>
          <p:cNvPr id="130" name="TextBox 129"/>
          <p:cNvSpPr txBox="1"/>
          <p:nvPr/>
        </p:nvSpPr>
        <p:spPr>
          <a:xfrm>
            <a:off x="2545379" y="3441362"/>
            <a:ext cx="341760" cy="276999"/>
          </a:xfrm>
          <a:prstGeom prst="rect">
            <a:avLst/>
          </a:prstGeom>
          <a:noFill/>
        </p:spPr>
        <p:txBody>
          <a:bodyPr wrap="none" rtlCol="0">
            <a:spAutoFit/>
          </a:bodyPr>
          <a:lstStyle/>
          <a:p>
            <a:pPr algn="ctr"/>
            <a:r>
              <a:rPr lang="en-US" sz="1200" b="1" dirty="0">
                <a:solidFill>
                  <a:schemeClr val="accent4">
                    <a:lumMod val="75000"/>
                  </a:schemeClr>
                </a:solidFill>
              </a:rPr>
              <a:t>12</a:t>
            </a:r>
          </a:p>
        </p:txBody>
      </p:sp>
      <p:sp>
        <p:nvSpPr>
          <p:cNvPr id="132" name="Right Brace 131"/>
          <p:cNvSpPr/>
          <p:nvPr/>
        </p:nvSpPr>
        <p:spPr>
          <a:xfrm rot="5400000">
            <a:off x="3129854" y="3203074"/>
            <a:ext cx="107514" cy="443931"/>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3" name="Right Brace 132"/>
          <p:cNvSpPr/>
          <p:nvPr/>
        </p:nvSpPr>
        <p:spPr>
          <a:xfrm rot="5400000">
            <a:off x="3582396" y="3203075"/>
            <a:ext cx="107514" cy="443931"/>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4" name="TextBox 133"/>
          <p:cNvSpPr txBox="1"/>
          <p:nvPr/>
        </p:nvSpPr>
        <p:spPr>
          <a:xfrm>
            <a:off x="3051076" y="3440203"/>
            <a:ext cx="263214" cy="276999"/>
          </a:xfrm>
          <a:prstGeom prst="rect">
            <a:avLst/>
          </a:prstGeom>
          <a:noFill/>
        </p:spPr>
        <p:txBody>
          <a:bodyPr wrap="none" rtlCol="0">
            <a:spAutoFit/>
          </a:bodyPr>
          <a:lstStyle/>
          <a:p>
            <a:pPr algn="ctr"/>
            <a:r>
              <a:rPr lang="en-US" sz="1200" b="1" dirty="0">
                <a:solidFill>
                  <a:schemeClr val="accent5"/>
                </a:solidFill>
              </a:rPr>
              <a:t>1</a:t>
            </a:r>
          </a:p>
        </p:txBody>
      </p:sp>
      <p:sp>
        <p:nvSpPr>
          <p:cNvPr id="135" name="TextBox 134"/>
          <p:cNvSpPr txBox="1"/>
          <p:nvPr/>
        </p:nvSpPr>
        <p:spPr>
          <a:xfrm>
            <a:off x="3505410" y="3440203"/>
            <a:ext cx="263214" cy="276999"/>
          </a:xfrm>
          <a:prstGeom prst="rect">
            <a:avLst/>
          </a:prstGeom>
          <a:noFill/>
        </p:spPr>
        <p:txBody>
          <a:bodyPr wrap="none" rtlCol="0">
            <a:spAutoFit/>
          </a:bodyPr>
          <a:lstStyle/>
          <a:p>
            <a:pPr algn="ctr"/>
            <a:r>
              <a:rPr lang="en-US" sz="1200" b="1" dirty="0">
                <a:solidFill>
                  <a:schemeClr val="accent6"/>
                </a:solidFill>
              </a:rPr>
              <a:t>5</a:t>
            </a:r>
          </a:p>
        </p:txBody>
      </p:sp>
      <p:sp>
        <p:nvSpPr>
          <p:cNvPr id="137" name="Right Brace 136"/>
          <p:cNvSpPr/>
          <p:nvPr/>
        </p:nvSpPr>
        <p:spPr>
          <a:xfrm rot="5400000">
            <a:off x="4034638" y="320307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8" name="Right Brace 137"/>
          <p:cNvSpPr/>
          <p:nvPr/>
        </p:nvSpPr>
        <p:spPr>
          <a:xfrm rot="5400000">
            <a:off x="4488768" y="320307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9" name="TextBox 138"/>
          <p:cNvSpPr txBox="1"/>
          <p:nvPr/>
        </p:nvSpPr>
        <p:spPr>
          <a:xfrm>
            <a:off x="3955860" y="3440203"/>
            <a:ext cx="263214" cy="276999"/>
          </a:xfrm>
          <a:prstGeom prst="rect">
            <a:avLst/>
          </a:prstGeom>
          <a:noFill/>
        </p:spPr>
        <p:txBody>
          <a:bodyPr wrap="none" rtlCol="0">
            <a:spAutoFit/>
          </a:bodyPr>
          <a:lstStyle/>
          <a:p>
            <a:pPr algn="ctr"/>
            <a:r>
              <a:rPr lang="en-US" sz="1200" b="1" dirty="0">
                <a:solidFill>
                  <a:schemeClr val="accent2"/>
                </a:solidFill>
              </a:rPr>
              <a:t>9</a:t>
            </a:r>
          </a:p>
        </p:txBody>
      </p:sp>
      <p:sp>
        <p:nvSpPr>
          <p:cNvPr id="140" name="TextBox 139"/>
          <p:cNvSpPr txBox="1"/>
          <p:nvPr/>
        </p:nvSpPr>
        <p:spPr>
          <a:xfrm>
            <a:off x="4372509" y="3440203"/>
            <a:ext cx="341760" cy="276999"/>
          </a:xfrm>
          <a:prstGeom prst="rect">
            <a:avLst/>
          </a:prstGeom>
          <a:noFill/>
        </p:spPr>
        <p:txBody>
          <a:bodyPr wrap="none" rtlCol="0">
            <a:spAutoFit/>
          </a:bodyPr>
          <a:lstStyle/>
          <a:p>
            <a:pPr algn="ctr"/>
            <a:r>
              <a:rPr lang="en-US" sz="1200" b="1" dirty="0">
                <a:solidFill>
                  <a:schemeClr val="accent4">
                    <a:lumMod val="75000"/>
                  </a:schemeClr>
                </a:solidFill>
              </a:rPr>
              <a:t>13</a:t>
            </a:r>
          </a:p>
        </p:txBody>
      </p:sp>
      <p:sp>
        <p:nvSpPr>
          <p:cNvPr id="142" name="Right Brace 141"/>
          <p:cNvSpPr/>
          <p:nvPr/>
        </p:nvSpPr>
        <p:spPr>
          <a:xfrm rot="5400000">
            <a:off x="5184721" y="2979226"/>
            <a:ext cx="107514" cy="89163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4" name="TextBox 143"/>
          <p:cNvSpPr txBox="1"/>
          <p:nvPr/>
        </p:nvSpPr>
        <p:spPr>
          <a:xfrm>
            <a:off x="5107741" y="3440203"/>
            <a:ext cx="263214" cy="276999"/>
          </a:xfrm>
          <a:prstGeom prst="rect">
            <a:avLst/>
          </a:prstGeom>
          <a:noFill/>
        </p:spPr>
        <p:txBody>
          <a:bodyPr wrap="none" rtlCol="0">
            <a:spAutoFit/>
          </a:bodyPr>
          <a:lstStyle/>
          <a:p>
            <a:pPr algn="ctr"/>
            <a:r>
              <a:rPr lang="en-US" sz="1200" b="1" dirty="0">
                <a:solidFill>
                  <a:schemeClr val="accent6"/>
                </a:solidFill>
              </a:rPr>
              <a:t>6</a:t>
            </a:r>
          </a:p>
        </p:txBody>
      </p:sp>
      <p:sp>
        <p:nvSpPr>
          <p:cNvPr id="145" name="Right Brace 144"/>
          <p:cNvSpPr/>
          <p:nvPr/>
        </p:nvSpPr>
        <p:spPr>
          <a:xfrm rot="5400000">
            <a:off x="5860812" y="320307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6" name="Right Brace 145"/>
          <p:cNvSpPr/>
          <p:nvPr/>
        </p:nvSpPr>
        <p:spPr>
          <a:xfrm rot="5400000">
            <a:off x="6314942" y="320307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7" name="TextBox 146"/>
          <p:cNvSpPr txBox="1"/>
          <p:nvPr/>
        </p:nvSpPr>
        <p:spPr>
          <a:xfrm>
            <a:off x="5742761" y="3440203"/>
            <a:ext cx="341760" cy="276999"/>
          </a:xfrm>
          <a:prstGeom prst="rect">
            <a:avLst/>
          </a:prstGeom>
          <a:noFill/>
        </p:spPr>
        <p:txBody>
          <a:bodyPr wrap="none" rtlCol="0">
            <a:spAutoFit/>
          </a:bodyPr>
          <a:lstStyle/>
          <a:p>
            <a:pPr algn="ctr"/>
            <a:r>
              <a:rPr lang="en-US" sz="1200" b="1" dirty="0">
                <a:solidFill>
                  <a:schemeClr val="accent2"/>
                </a:solidFill>
              </a:rPr>
              <a:t>10</a:t>
            </a:r>
          </a:p>
        </p:txBody>
      </p:sp>
      <p:sp>
        <p:nvSpPr>
          <p:cNvPr id="148" name="TextBox 147"/>
          <p:cNvSpPr txBox="1"/>
          <p:nvPr/>
        </p:nvSpPr>
        <p:spPr>
          <a:xfrm>
            <a:off x="6198683" y="3440203"/>
            <a:ext cx="341760" cy="276999"/>
          </a:xfrm>
          <a:prstGeom prst="rect">
            <a:avLst/>
          </a:prstGeom>
          <a:noFill/>
        </p:spPr>
        <p:txBody>
          <a:bodyPr wrap="none" rtlCol="0">
            <a:spAutoFit/>
          </a:bodyPr>
          <a:lstStyle/>
          <a:p>
            <a:pPr algn="ctr"/>
            <a:r>
              <a:rPr lang="en-US" sz="1200" b="1" dirty="0">
                <a:solidFill>
                  <a:schemeClr val="accent4">
                    <a:lumMod val="75000"/>
                  </a:schemeClr>
                </a:solidFill>
              </a:rPr>
              <a:t>14</a:t>
            </a:r>
          </a:p>
        </p:txBody>
      </p:sp>
      <p:sp>
        <p:nvSpPr>
          <p:cNvPr id="149" name="Right Brace 148"/>
          <p:cNvSpPr/>
          <p:nvPr/>
        </p:nvSpPr>
        <p:spPr>
          <a:xfrm rot="5400000">
            <a:off x="7003196" y="2979926"/>
            <a:ext cx="107514" cy="887968"/>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1" name="TextBox 150"/>
          <p:cNvSpPr txBox="1"/>
          <p:nvPr/>
        </p:nvSpPr>
        <p:spPr>
          <a:xfrm>
            <a:off x="6926243" y="3439073"/>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153" name="Right Brace 152"/>
          <p:cNvSpPr/>
          <p:nvPr/>
        </p:nvSpPr>
        <p:spPr>
          <a:xfrm rot="5400000">
            <a:off x="7685962" y="320194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4" name="Right Brace 153"/>
          <p:cNvSpPr/>
          <p:nvPr/>
        </p:nvSpPr>
        <p:spPr>
          <a:xfrm rot="5400000">
            <a:off x="8140092" y="320194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5" name="TextBox 154"/>
          <p:cNvSpPr txBox="1"/>
          <p:nvPr/>
        </p:nvSpPr>
        <p:spPr>
          <a:xfrm>
            <a:off x="7567911" y="3439073"/>
            <a:ext cx="341760" cy="276999"/>
          </a:xfrm>
          <a:prstGeom prst="rect">
            <a:avLst/>
          </a:prstGeom>
          <a:noFill/>
        </p:spPr>
        <p:txBody>
          <a:bodyPr wrap="none" rtlCol="0">
            <a:spAutoFit/>
          </a:bodyPr>
          <a:lstStyle/>
          <a:p>
            <a:pPr algn="ctr"/>
            <a:r>
              <a:rPr lang="en-US" sz="1200" b="1" dirty="0">
                <a:solidFill>
                  <a:schemeClr val="accent2"/>
                </a:solidFill>
              </a:rPr>
              <a:t>11</a:t>
            </a:r>
          </a:p>
        </p:txBody>
      </p:sp>
      <p:sp>
        <p:nvSpPr>
          <p:cNvPr id="156" name="TextBox 155"/>
          <p:cNvSpPr txBox="1"/>
          <p:nvPr/>
        </p:nvSpPr>
        <p:spPr>
          <a:xfrm>
            <a:off x="8023833" y="3439073"/>
            <a:ext cx="341760" cy="276999"/>
          </a:xfrm>
          <a:prstGeom prst="rect">
            <a:avLst/>
          </a:prstGeom>
          <a:noFill/>
        </p:spPr>
        <p:txBody>
          <a:bodyPr wrap="none" rtlCol="0">
            <a:spAutoFit/>
          </a:bodyPr>
          <a:lstStyle/>
          <a:p>
            <a:pPr algn="ctr"/>
            <a:r>
              <a:rPr lang="en-US" sz="1200" b="1" dirty="0">
                <a:solidFill>
                  <a:schemeClr val="accent4">
                    <a:lumMod val="75000"/>
                  </a:schemeClr>
                </a:solidFill>
              </a:rPr>
              <a:t>15</a:t>
            </a:r>
          </a:p>
        </p:txBody>
      </p:sp>
      <p:sp>
        <p:nvSpPr>
          <p:cNvPr id="157" name="TextBox 156"/>
          <p:cNvSpPr txBox="1"/>
          <p:nvPr/>
        </p:nvSpPr>
        <p:spPr>
          <a:xfrm>
            <a:off x="4697263" y="3440203"/>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158" name="TextBox 157"/>
          <p:cNvSpPr txBox="1"/>
          <p:nvPr/>
        </p:nvSpPr>
        <p:spPr>
          <a:xfrm>
            <a:off x="7378551" y="3439072"/>
            <a:ext cx="263213" cy="276999"/>
          </a:xfrm>
          <a:prstGeom prst="rect">
            <a:avLst/>
          </a:prstGeom>
          <a:noFill/>
        </p:spPr>
        <p:txBody>
          <a:bodyPr wrap="none" rtlCol="0">
            <a:spAutoFit/>
          </a:bodyPr>
          <a:lstStyle/>
          <a:p>
            <a:pPr algn="ctr"/>
            <a:r>
              <a:rPr lang="en-US" sz="1200" b="1" dirty="0">
                <a:solidFill>
                  <a:schemeClr val="accent6"/>
                </a:solidFill>
              </a:rPr>
              <a:t>8</a:t>
            </a:r>
          </a:p>
        </p:txBody>
      </p:sp>
      <p:grpSp>
        <p:nvGrpSpPr>
          <p:cNvPr id="2" name="Group 1"/>
          <p:cNvGrpSpPr/>
          <p:nvPr/>
        </p:nvGrpSpPr>
        <p:grpSpPr>
          <a:xfrm>
            <a:off x="1355835" y="3336795"/>
            <a:ext cx="6842235" cy="1924856"/>
            <a:chOff x="1355835" y="3713875"/>
            <a:chExt cx="6842235" cy="1924856"/>
          </a:xfrm>
        </p:grpSpPr>
        <p:cxnSp>
          <p:nvCxnSpPr>
            <p:cNvPr id="131" name="Straight Arrow Connector 130"/>
            <p:cNvCxnSpPr>
              <a:stCxn id="262" idx="2"/>
              <a:endCxn id="71" idx="0"/>
            </p:cNvCxnSpPr>
            <p:nvPr/>
          </p:nvCxnSpPr>
          <p:spPr>
            <a:xfrm flipH="1">
              <a:off x="1811984" y="3713875"/>
              <a:ext cx="1368447"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263" idx="2"/>
              <a:endCxn id="75" idx="0"/>
            </p:cNvCxnSpPr>
            <p:nvPr/>
          </p:nvCxnSpPr>
          <p:spPr>
            <a:xfrm>
              <a:off x="3636580" y="37138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p:cNvCxnSpPr>
              <a:stCxn id="265" idx="2"/>
              <a:endCxn id="83" idx="0"/>
            </p:cNvCxnSpPr>
            <p:nvPr/>
          </p:nvCxnSpPr>
          <p:spPr>
            <a:xfrm>
              <a:off x="4548878" y="371387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264" idx="2"/>
              <a:endCxn id="79" idx="0"/>
            </p:cNvCxnSpPr>
            <p:nvPr/>
          </p:nvCxnSpPr>
          <p:spPr>
            <a:xfrm>
              <a:off x="4092729" y="3713875"/>
              <a:ext cx="1368447"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0" name="Straight Arrow Connector 149"/>
            <p:cNvCxnSpPr>
              <a:stCxn id="266" idx="2"/>
              <a:endCxn id="76" idx="0"/>
            </p:cNvCxnSpPr>
            <p:nvPr/>
          </p:nvCxnSpPr>
          <p:spPr>
            <a:xfrm flipH="1">
              <a:off x="4092729" y="371387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p:cNvCxnSpPr>
              <a:stCxn id="267" idx="2"/>
              <a:endCxn id="77" idx="0"/>
            </p:cNvCxnSpPr>
            <p:nvPr/>
          </p:nvCxnSpPr>
          <p:spPr>
            <a:xfrm flipH="1">
              <a:off x="4548878" y="371387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268" idx="2"/>
              <a:endCxn id="80" idx="0"/>
            </p:cNvCxnSpPr>
            <p:nvPr/>
          </p:nvCxnSpPr>
          <p:spPr>
            <a:xfrm>
              <a:off x="5917325" y="37138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269" idx="2"/>
              <a:endCxn id="84" idx="0"/>
            </p:cNvCxnSpPr>
            <p:nvPr/>
          </p:nvCxnSpPr>
          <p:spPr>
            <a:xfrm>
              <a:off x="6373474" y="3713875"/>
              <a:ext cx="1368447"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270" idx="2"/>
              <a:endCxn id="72" idx="0"/>
            </p:cNvCxnSpPr>
            <p:nvPr/>
          </p:nvCxnSpPr>
          <p:spPr>
            <a:xfrm flipH="1">
              <a:off x="2268133" y="3713875"/>
              <a:ext cx="456149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271" idx="2"/>
              <a:endCxn id="73" idx="0"/>
            </p:cNvCxnSpPr>
            <p:nvPr/>
          </p:nvCxnSpPr>
          <p:spPr>
            <a:xfrm flipH="1">
              <a:off x="2724282" y="3713875"/>
              <a:ext cx="456149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272" idx="2"/>
              <a:endCxn id="81" idx="0"/>
            </p:cNvCxnSpPr>
            <p:nvPr/>
          </p:nvCxnSpPr>
          <p:spPr>
            <a:xfrm flipH="1">
              <a:off x="6373474" y="3713875"/>
              <a:ext cx="1368447"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273" idx="2"/>
              <a:endCxn id="85" idx="0"/>
            </p:cNvCxnSpPr>
            <p:nvPr/>
          </p:nvCxnSpPr>
          <p:spPr>
            <a:xfrm>
              <a:off x="8198070" y="37138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274" idx="2"/>
              <a:endCxn id="70" idx="0"/>
            </p:cNvCxnSpPr>
            <p:nvPr/>
          </p:nvCxnSpPr>
          <p:spPr>
            <a:xfrm>
              <a:off x="1355835" y="37138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275" idx="2"/>
              <a:endCxn id="74" idx="0"/>
            </p:cNvCxnSpPr>
            <p:nvPr/>
          </p:nvCxnSpPr>
          <p:spPr>
            <a:xfrm>
              <a:off x="1811984" y="3713875"/>
              <a:ext cx="1368447"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p:cNvCxnSpPr>
              <a:stCxn id="276" idx="2"/>
              <a:endCxn id="78" idx="0"/>
            </p:cNvCxnSpPr>
            <p:nvPr/>
          </p:nvCxnSpPr>
          <p:spPr>
            <a:xfrm>
              <a:off x="2268133" y="371387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p:cNvCxnSpPr>
              <a:stCxn id="277" idx="2"/>
              <a:endCxn id="82" idx="0"/>
            </p:cNvCxnSpPr>
            <p:nvPr/>
          </p:nvCxnSpPr>
          <p:spPr>
            <a:xfrm>
              <a:off x="2724282" y="3713875"/>
              <a:ext cx="4105341"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959214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fade">
                                      <p:cBhvr>
                                        <p:cTn id="11"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9" name="Straight Connector 198"/>
          <p:cNvCxnSpPr/>
          <p:nvPr/>
        </p:nvCxnSpPr>
        <p:spPr>
          <a:xfrm>
            <a:off x="2951831"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2" name="Text Placeholder 1"/>
          <p:cNvSpPr>
            <a:spLocks noGrp="1"/>
          </p:cNvSpPr>
          <p:nvPr>
            <p:ph type="body" idx="10"/>
          </p:nvPr>
        </p:nvSpPr>
        <p:spPr/>
        <p:txBody>
          <a:bodyPr/>
          <a:lstStyle/>
          <a:p>
            <a:r>
              <a:rPr lang="en-US" dirty="0"/>
              <a:t>Radix Sort Iteration (2-bit Radix)</a:t>
            </a:r>
          </a:p>
        </p:txBody>
      </p:sp>
      <p:sp>
        <p:nvSpPr>
          <p:cNvPr id="5" name="Rectangle 4"/>
          <p:cNvSpPr>
            <a:spLocks noChangeAspect="1"/>
          </p:cNvSpPr>
          <p:nvPr/>
        </p:nvSpPr>
        <p:spPr>
          <a:xfrm>
            <a:off x="1127235"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36" name="Rectangle 35"/>
          <p:cNvSpPr>
            <a:spLocks noChangeAspect="1"/>
          </p:cNvSpPr>
          <p:nvPr/>
        </p:nvSpPr>
        <p:spPr>
          <a:xfrm>
            <a:off x="1583384"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37" name="Rectangle 36"/>
          <p:cNvSpPr>
            <a:spLocks noChangeAspect="1"/>
          </p:cNvSpPr>
          <p:nvPr/>
        </p:nvSpPr>
        <p:spPr>
          <a:xfrm>
            <a:off x="2039533"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38" name="Rectangle 37"/>
          <p:cNvSpPr>
            <a:spLocks noChangeAspect="1"/>
          </p:cNvSpPr>
          <p:nvPr/>
        </p:nvSpPr>
        <p:spPr>
          <a:xfrm>
            <a:off x="2495682"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39" name="Rectangle 38"/>
          <p:cNvSpPr>
            <a:spLocks noChangeAspect="1"/>
          </p:cNvSpPr>
          <p:nvPr/>
        </p:nvSpPr>
        <p:spPr>
          <a:xfrm>
            <a:off x="2951831"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40" name="Rectangle 39"/>
          <p:cNvSpPr>
            <a:spLocks noChangeAspect="1"/>
          </p:cNvSpPr>
          <p:nvPr/>
        </p:nvSpPr>
        <p:spPr>
          <a:xfrm>
            <a:off x="3407980"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41" name="Rectangle 40"/>
          <p:cNvSpPr>
            <a:spLocks noChangeAspect="1"/>
          </p:cNvSpPr>
          <p:nvPr/>
        </p:nvSpPr>
        <p:spPr>
          <a:xfrm>
            <a:off x="3864129"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42" name="Rectangle 41"/>
          <p:cNvSpPr>
            <a:spLocks noChangeAspect="1"/>
          </p:cNvSpPr>
          <p:nvPr/>
        </p:nvSpPr>
        <p:spPr>
          <a:xfrm>
            <a:off x="4320278"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7" name="Rectangle 46"/>
          <p:cNvSpPr>
            <a:spLocks noChangeAspect="1"/>
          </p:cNvSpPr>
          <p:nvPr/>
        </p:nvSpPr>
        <p:spPr>
          <a:xfrm>
            <a:off x="6601023"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48" name="Rectangle 47"/>
          <p:cNvSpPr>
            <a:spLocks noChangeAspect="1"/>
          </p:cNvSpPr>
          <p:nvPr/>
        </p:nvSpPr>
        <p:spPr>
          <a:xfrm>
            <a:off x="7057172"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9" name="Rectangle 48"/>
          <p:cNvSpPr>
            <a:spLocks noChangeAspect="1"/>
          </p:cNvSpPr>
          <p:nvPr/>
        </p:nvSpPr>
        <p:spPr>
          <a:xfrm>
            <a:off x="7513321"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50" name="Rectangle 49"/>
          <p:cNvSpPr>
            <a:spLocks noChangeAspect="1"/>
          </p:cNvSpPr>
          <p:nvPr/>
        </p:nvSpPr>
        <p:spPr>
          <a:xfrm>
            <a:off x="7969470"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70" name="Rectangle 69"/>
          <p:cNvSpPr>
            <a:spLocks noChangeAspect="1"/>
          </p:cNvSpPr>
          <p:nvPr/>
        </p:nvSpPr>
        <p:spPr>
          <a:xfrm>
            <a:off x="1127235"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71" name="Rectangle 70"/>
          <p:cNvSpPr>
            <a:spLocks noChangeAspect="1"/>
          </p:cNvSpPr>
          <p:nvPr/>
        </p:nvSpPr>
        <p:spPr>
          <a:xfrm>
            <a:off x="1583384"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72" name="Rectangle 71"/>
          <p:cNvSpPr>
            <a:spLocks noChangeAspect="1"/>
          </p:cNvSpPr>
          <p:nvPr/>
        </p:nvSpPr>
        <p:spPr>
          <a:xfrm>
            <a:off x="2039533"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73" name="Rectangle 72"/>
          <p:cNvSpPr>
            <a:spLocks noChangeAspect="1"/>
          </p:cNvSpPr>
          <p:nvPr/>
        </p:nvSpPr>
        <p:spPr>
          <a:xfrm>
            <a:off x="2495682"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74" name="Rectangle 73"/>
          <p:cNvSpPr>
            <a:spLocks noChangeAspect="1"/>
          </p:cNvSpPr>
          <p:nvPr/>
        </p:nvSpPr>
        <p:spPr>
          <a:xfrm>
            <a:off x="2951831"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5" name="Rectangle 74"/>
          <p:cNvSpPr>
            <a:spLocks noChangeAspect="1"/>
          </p:cNvSpPr>
          <p:nvPr/>
        </p:nvSpPr>
        <p:spPr>
          <a:xfrm>
            <a:off x="3407980"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78" name="Rectangle 77"/>
          <p:cNvSpPr>
            <a:spLocks noChangeAspect="1"/>
          </p:cNvSpPr>
          <p:nvPr/>
        </p:nvSpPr>
        <p:spPr>
          <a:xfrm>
            <a:off x="4776427"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79" name="Rectangle 78"/>
          <p:cNvSpPr>
            <a:spLocks noChangeAspect="1"/>
          </p:cNvSpPr>
          <p:nvPr/>
        </p:nvSpPr>
        <p:spPr>
          <a:xfrm>
            <a:off x="5232576"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1" name="Rectangle 80"/>
          <p:cNvSpPr>
            <a:spLocks noChangeAspect="1"/>
          </p:cNvSpPr>
          <p:nvPr/>
        </p:nvSpPr>
        <p:spPr>
          <a:xfrm>
            <a:off x="6144874"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2" name="Rectangle 81"/>
          <p:cNvSpPr>
            <a:spLocks noChangeAspect="1"/>
          </p:cNvSpPr>
          <p:nvPr/>
        </p:nvSpPr>
        <p:spPr>
          <a:xfrm>
            <a:off x="6601023"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83" name="Rectangle 82"/>
          <p:cNvSpPr>
            <a:spLocks noChangeAspect="1"/>
          </p:cNvSpPr>
          <p:nvPr/>
        </p:nvSpPr>
        <p:spPr>
          <a:xfrm>
            <a:off x="7057172"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85" name="Rectangle 84"/>
          <p:cNvSpPr>
            <a:spLocks noChangeAspect="1"/>
          </p:cNvSpPr>
          <p:nvPr/>
        </p:nvSpPr>
        <p:spPr>
          <a:xfrm>
            <a:off x="7969470"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grpSp>
        <p:nvGrpSpPr>
          <p:cNvPr id="215" name="Group 214"/>
          <p:cNvGrpSpPr/>
          <p:nvPr/>
        </p:nvGrpSpPr>
        <p:grpSpPr>
          <a:xfrm>
            <a:off x="2994823" y="1130729"/>
            <a:ext cx="1738603" cy="822960"/>
            <a:chOff x="2667000" y="1752600"/>
            <a:chExt cx="889511" cy="838200"/>
          </a:xfrm>
        </p:grpSpPr>
        <p:sp>
          <p:nvSpPr>
            <p:cNvPr id="216" name="Rectangle 215"/>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7" name="Freeform 216"/>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8" name="Freeform 217"/>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19" name="Freeform 218"/>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0" name="Freeform 219"/>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27" name="Group 226"/>
          <p:cNvGrpSpPr/>
          <p:nvPr/>
        </p:nvGrpSpPr>
        <p:grpSpPr>
          <a:xfrm>
            <a:off x="6644716" y="1130729"/>
            <a:ext cx="1738603" cy="822960"/>
            <a:chOff x="2667000" y="1752600"/>
            <a:chExt cx="889511" cy="838200"/>
          </a:xfrm>
        </p:grpSpPr>
        <p:sp>
          <p:nvSpPr>
            <p:cNvPr id="228" name="Rectangle 227"/>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9" name="Freeform 228"/>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0" name="Freeform 229"/>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1" name="Freeform 230"/>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2" name="Freeform 231"/>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33" name="Group 232"/>
          <p:cNvGrpSpPr/>
          <p:nvPr/>
        </p:nvGrpSpPr>
        <p:grpSpPr>
          <a:xfrm>
            <a:off x="1169877" y="1130729"/>
            <a:ext cx="1738603" cy="822960"/>
            <a:chOff x="2667000" y="1752600"/>
            <a:chExt cx="889511" cy="838200"/>
          </a:xfrm>
        </p:grpSpPr>
        <p:sp>
          <p:nvSpPr>
            <p:cNvPr id="234" name="Rectangle 23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5" name="Freeform 23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6" name="Freeform 23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7" name="Freeform 23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8" name="Freeform 23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262" name="Rectangle 261"/>
          <p:cNvSpPr>
            <a:spLocks noChangeAspect="1"/>
          </p:cNvSpPr>
          <p:nvPr/>
        </p:nvSpPr>
        <p:spPr>
          <a:xfrm>
            <a:off x="2951831"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263" name="Rectangle 262"/>
          <p:cNvSpPr>
            <a:spLocks noChangeAspect="1"/>
          </p:cNvSpPr>
          <p:nvPr/>
        </p:nvSpPr>
        <p:spPr>
          <a:xfrm>
            <a:off x="3407980"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264" name="Rectangle 263"/>
          <p:cNvSpPr>
            <a:spLocks noChangeAspect="1"/>
          </p:cNvSpPr>
          <p:nvPr/>
        </p:nvSpPr>
        <p:spPr>
          <a:xfrm>
            <a:off x="3864129"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65" name="Rectangle 264"/>
          <p:cNvSpPr>
            <a:spLocks noChangeAspect="1"/>
          </p:cNvSpPr>
          <p:nvPr/>
        </p:nvSpPr>
        <p:spPr>
          <a:xfrm>
            <a:off x="4320278"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270" name="Rectangle 269"/>
          <p:cNvSpPr>
            <a:spLocks noChangeAspect="1"/>
          </p:cNvSpPr>
          <p:nvPr/>
        </p:nvSpPr>
        <p:spPr>
          <a:xfrm>
            <a:off x="6601023"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271" name="Rectangle 270"/>
          <p:cNvSpPr>
            <a:spLocks noChangeAspect="1"/>
          </p:cNvSpPr>
          <p:nvPr/>
        </p:nvSpPr>
        <p:spPr>
          <a:xfrm>
            <a:off x="7057172"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272" name="Rectangle 271"/>
          <p:cNvSpPr>
            <a:spLocks noChangeAspect="1"/>
          </p:cNvSpPr>
          <p:nvPr/>
        </p:nvSpPr>
        <p:spPr>
          <a:xfrm>
            <a:off x="7513321"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273" name="Rectangle 272"/>
          <p:cNvSpPr>
            <a:spLocks noChangeAspect="1"/>
          </p:cNvSpPr>
          <p:nvPr/>
        </p:nvSpPr>
        <p:spPr>
          <a:xfrm>
            <a:off x="7969470"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274" name="Rectangle 273"/>
          <p:cNvSpPr>
            <a:spLocks noChangeAspect="1"/>
          </p:cNvSpPr>
          <p:nvPr/>
        </p:nvSpPr>
        <p:spPr>
          <a:xfrm>
            <a:off x="1127235"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275" name="Rectangle 274"/>
          <p:cNvSpPr>
            <a:spLocks noChangeAspect="1"/>
          </p:cNvSpPr>
          <p:nvPr/>
        </p:nvSpPr>
        <p:spPr>
          <a:xfrm>
            <a:off x="1583384"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76" name="Rectangle 275"/>
          <p:cNvSpPr>
            <a:spLocks noChangeAspect="1"/>
          </p:cNvSpPr>
          <p:nvPr/>
        </p:nvSpPr>
        <p:spPr>
          <a:xfrm>
            <a:off x="2039533"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77" name="Rectangle 276"/>
          <p:cNvSpPr>
            <a:spLocks noChangeAspect="1"/>
          </p:cNvSpPr>
          <p:nvPr/>
        </p:nvSpPr>
        <p:spPr>
          <a:xfrm>
            <a:off x="2495682"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cxnSp>
        <p:nvCxnSpPr>
          <p:cNvPr id="295" name="Straight Arrow Connector 294"/>
          <p:cNvCxnSpPr>
            <a:stCxn id="39" idx="2"/>
            <a:endCxn id="265" idx="0"/>
          </p:cNvCxnSpPr>
          <p:nvPr/>
        </p:nvCxnSpPr>
        <p:spPr>
          <a:xfrm>
            <a:off x="3180431" y="251647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6" name="Straight Arrow Connector 295"/>
          <p:cNvCxnSpPr>
            <a:stCxn id="40" idx="2"/>
            <a:endCxn id="262" idx="0"/>
          </p:cNvCxnSpPr>
          <p:nvPr/>
        </p:nvCxnSpPr>
        <p:spPr>
          <a:xfrm flipH="1">
            <a:off x="3180431"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7" name="Straight Arrow Connector 296"/>
          <p:cNvCxnSpPr>
            <a:stCxn id="42" idx="2"/>
            <a:endCxn id="264" idx="0"/>
          </p:cNvCxnSpPr>
          <p:nvPr/>
        </p:nvCxnSpPr>
        <p:spPr>
          <a:xfrm flipH="1">
            <a:off x="4092729"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8" name="Straight Arrow Connector 297"/>
          <p:cNvCxnSpPr>
            <a:stCxn id="41" idx="2"/>
            <a:endCxn id="263" idx="0"/>
          </p:cNvCxnSpPr>
          <p:nvPr/>
        </p:nvCxnSpPr>
        <p:spPr>
          <a:xfrm flipH="1">
            <a:off x="3636580"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3" name="Straight Arrow Connector 302"/>
          <p:cNvCxnSpPr>
            <a:stCxn id="47" idx="2"/>
            <a:endCxn id="270" idx="0"/>
          </p:cNvCxnSpPr>
          <p:nvPr/>
        </p:nvCxnSpPr>
        <p:spPr>
          <a:xfrm>
            <a:off x="6829623"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4" name="Straight Arrow Connector 303"/>
          <p:cNvCxnSpPr>
            <a:stCxn id="48" idx="2"/>
            <a:endCxn id="272" idx="0"/>
          </p:cNvCxnSpPr>
          <p:nvPr/>
        </p:nvCxnSpPr>
        <p:spPr>
          <a:xfrm>
            <a:off x="7285772"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5" name="Straight Arrow Connector 304"/>
          <p:cNvCxnSpPr>
            <a:stCxn id="49" idx="2"/>
            <a:endCxn id="273" idx="0"/>
          </p:cNvCxnSpPr>
          <p:nvPr/>
        </p:nvCxnSpPr>
        <p:spPr>
          <a:xfrm>
            <a:off x="7741921"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6" name="Straight Arrow Connector 305"/>
          <p:cNvCxnSpPr>
            <a:stCxn id="50" idx="2"/>
            <a:endCxn id="271" idx="0"/>
          </p:cNvCxnSpPr>
          <p:nvPr/>
        </p:nvCxnSpPr>
        <p:spPr>
          <a:xfrm flipH="1">
            <a:off x="7285772"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7" name="Straight Arrow Connector 306"/>
          <p:cNvCxnSpPr>
            <a:stCxn id="5" idx="2"/>
            <a:endCxn id="274" idx="0"/>
          </p:cNvCxnSpPr>
          <p:nvPr/>
        </p:nvCxnSpPr>
        <p:spPr>
          <a:xfrm>
            <a:off x="1355835"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8" name="Straight Arrow Connector 307"/>
          <p:cNvCxnSpPr>
            <a:stCxn id="36" idx="2"/>
            <a:endCxn id="277" idx="0"/>
          </p:cNvCxnSpPr>
          <p:nvPr/>
        </p:nvCxnSpPr>
        <p:spPr>
          <a:xfrm>
            <a:off x="1811984"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9" name="Straight Arrow Connector 308"/>
          <p:cNvCxnSpPr>
            <a:stCxn id="37" idx="2"/>
            <a:endCxn id="276" idx="0"/>
          </p:cNvCxnSpPr>
          <p:nvPr/>
        </p:nvCxnSpPr>
        <p:spPr>
          <a:xfrm>
            <a:off x="2268133"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0" name="Straight Arrow Connector 309"/>
          <p:cNvCxnSpPr>
            <a:stCxn id="38" idx="2"/>
            <a:endCxn id="275" idx="0"/>
          </p:cNvCxnSpPr>
          <p:nvPr/>
        </p:nvCxnSpPr>
        <p:spPr>
          <a:xfrm flipH="1">
            <a:off x="1811984"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98" name="Right Brace 97"/>
          <p:cNvSpPr/>
          <p:nvPr/>
        </p:nvSpPr>
        <p:spPr>
          <a:xfrm rot="5400000">
            <a:off x="1302724" y="3204233"/>
            <a:ext cx="107514" cy="443931"/>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9" name="Right Brace 98"/>
          <p:cNvSpPr/>
          <p:nvPr/>
        </p:nvSpPr>
        <p:spPr>
          <a:xfrm rot="5400000">
            <a:off x="1755266" y="3204234"/>
            <a:ext cx="107514" cy="443931"/>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6" name="TextBox 105"/>
          <p:cNvSpPr txBox="1"/>
          <p:nvPr/>
        </p:nvSpPr>
        <p:spPr>
          <a:xfrm>
            <a:off x="1223946" y="3441362"/>
            <a:ext cx="263214" cy="276999"/>
          </a:xfrm>
          <a:prstGeom prst="rect">
            <a:avLst/>
          </a:prstGeom>
          <a:noFill/>
        </p:spPr>
        <p:txBody>
          <a:bodyPr wrap="none" rtlCol="0">
            <a:spAutoFit/>
          </a:bodyPr>
          <a:lstStyle/>
          <a:p>
            <a:pPr algn="ctr"/>
            <a:r>
              <a:rPr lang="en-US" sz="1200" b="1" dirty="0">
                <a:solidFill>
                  <a:schemeClr val="accent5"/>
                </a:solidFill>
              </a:rPr>
              <a:t>0</a:t>
            </a:r>
          </a:p>
        </p:txBody>
      </p:sp>
      <p:sp>
        <p:nvSpPr>
          <p:cNvPr id="107" name="TextBox 106"/>
          <p:cNvSpPr txBox="1"/>
          <p:nvPr/>
        </p:nvSpPr>
        <p:spPr>
          <a:xfrm>
            <a:off x="1678280" y="3441362"/>
            <a:ext cx="263214" cy="276999"/>
          </a:xfrm>
          <a:prstGeom prst="rect">
            <a:avLst/>
          </a:prstGeom>
          <a:noFill/>
        </p:spPr>
        <p:txBody>
          <a:bodyPr wrap="none" rtlCol="0">
            <a:spAutoFit/>
          </a:bodyPr>
          <a:lstStyle/>
          <a:p>
            <a:pPr algn="ctr"/>
            <a:r>
              <a:rPr lang="en-US" sz="1200" b="1" dirty="0">
                <a:solidFill>
                  <a:schemeClr val="accent6"/>
                </a:solidFill>
              </a:rPr>
              <a:t>4</a:t>
            </a:r>
          </a:p>
        </p:txBody>
      </p:sp>
      <p:sp>
        <p:nvSpPr>
          <p:cNvPr id="127" name="Right Brace 126"/>
          <p:cNvSpPr/>
          <p:nvPr/>
        </p:nvSpPr>
        <p:spPr>
          <a:xfrm rot="5400000">
            <a:off x="2207508" y="3204233"/>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8" name="Right Brace 127"/>
          <p:cNvSpPr/>
          <p:nvPr/>
        </p:nvSpPr>
        <p:spPr>
          <a:xfrm rot="5400000">
            <a:off x="2661638" y="3204234"/>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9" name="TextBox 128"/>
          <p:cNvSpPr txBox="1"/>
          <p:nvPr/>
        </p:nvSpPr>
        <p:spPr>
          <a:xfrm>
            <a:off x="2128730" y="3441362"/>
            <a:ext cx="263214" cy="276999"/>
          </a:xfrm>
          <a:prstGeom prst="rect">
            <a:avLst/>
          </a:prstGeom>
          <a:noFill/>
        </p:spPr>
        <p:txBody>
          <a:bodyPr wrap="none" rtlCol="0">
            <a:spAutoFit/>
          </a:bodyPr>
          <a:lstStyle/>
          <a:p>
            <a:pPr algn="ctr"/>
            <a:r>
              <a:rPr lang="en-US" sz="1200" b="1" dirty="0">
                <a:solidFill>
                  <a:schemeClr val="accent2"/>
                </a:solidFill>
              </a:rPr>
              <a:t>8</a:t>
            </a:r>
          </a:p>
        </p:txBody>
      </p:sp>
      <p:sp>
        <p:nvSpPr>
          <p:cNvPr id="130" name="TextBox 129"/>
          <p:cNvSpPr txBox="1"/>
          <p:nvPr/>
        </p:nvSpPr>
        <p:spPr>
          <a:xfrm>
            <a:off x="2545379" y="3441362"/>
            <a:ext cx="341760" cy="276999"/>
          </a:xfrm>
          <a:prstGeom prst="rect">
            <a:avLst/>
          </a:prstGeom>
          <a:noFill/>
        </p:spPr>
        <p:txBody>
          <a:bodyPr wrap="none" rtlCol="0">
            <a:spAutoFit/>
          </a:bodyPr>
          <a:lstStyle/>
          <a:p>
            <a:pPr algn="ctr"/>
            <a:r>
              <a:rPr lang="en-US" sz="1200" b="1" dirty="0">
                <a:solidFill>
                  <a:schemeClr val="accent4">
                    <a:lumMod val="75000"/>
                  </a:schemeClr>
                </a:solidFill>
              </a:rPr>
              <a:t>12</a:t>
            </a:r>
          </a:p>
        </p:txBody>
      </p:sp>
      <p:sp>
        <p:nvSpPr>
          <p:cNvPr id="132" name="Right Brace 131"/>
          <p:cNvSpPr/>
          <p:nvPr/>
        </p:nvSpPr>
        <p:spPr>
          <a:xfrm rot="5400000">
            <a:off x="3129854" y="3203074"/>
            <a:ext cx="107514" cy="443931"/>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3" name="Right Brace 132"/>
          <p:cNvSpPr/>
          <p:nvPr/>
        </p:nvSpPr>
        <p:spPr>
          <a:xfrm rot="5400000">
            <a:off x="3582396" y="3203075"/>
            <a:ext cx="107514" cy="443931"/>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4" name="TextBox 133"/>
          <p:cNvSpPr txBox="1"/>
          <p:nvPr/>
        </p:nvSpPr>
        <p:spPr>
          <a:xfrm>
            <a:off x="3051076" y="3440203"/>
            <a:ext cx="263214" cy="276999"/>
          </a:xfrm>
          <a:prstGeom prst="rect">
            <a:avLst/>
          </a:prstGeom>
          <a:noFill/>
        </p:spPr>
        <p:txBody>
          <a:bodyPr wrap="none" rtlCol="0">
            <a:spAutoFit/>
          </a:bodyPr>
          <a:lstStyle/>
          <a:p>
            <a:pPr algn="ctr"/>
            <a:r>
              <a:rPr lang="en-US" sz="1200" b="1" dirty="0">
                <a:solidFill>
                  <a:schemeClr val="accent5"/>
                </a:solidFill>
              </a:rPr>
              <a:t>1</a:t>
            </a:r>
          </a:p>
        </p:txBody>
      </p:sp>
      <p:sp>
        <p:nvSpPr>
          <p:cNvPr id="135" name="TextBox 134"/>
          <p:cNvSpPr txBox="1"/>
          <p:nvPr/>
        </p:nvSpPr>
        <p:spPr>
          <a:xfrm>
            <a:off x="3505410" y="3440203"/>
            <a:ext cx="263214" cy="276999"/>
          </a:xfrm>
          <a:prstGeom prst="rect">
            <a:avLst/>
          </a:prstGeom>
          <a:noFill/>
        </p:spPr>
        <p:txBody>
          <a:bodyPr wrap="none" rtlCol="0">
            <a:spAutoFit/>
          </a:bodyPr>
          <a:lstStyle/>
          <a:p>
            <a:pPr algn="ctr"/>
            <a:r>
              <a:rPr lang="en-US" sz="1200" b="1" dirty="0">
                <a:solidFill>
                  <a:schemeClr val="accent6"/>
                </a:solidFill>
              </a:rPr>
              <a:t>5</a:t>
            </a:r>
          </a:p>
        </p:txBody>
      </p:sp>
      <p:sp>
        <p:nvSpPr>
          <p:cNvPr id="137" name="Right Brace 136"/>
          <p:cNvSpPr/>
          <p:nvPr/>
        </p:nvSpPr>
        <p:spPr>
          <a:xfrm rot="5400000">
            <a:off x="4034638" y="320307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8" name="Right Brace 137"/>
          <p:cNvSpPr/>
          <p:nvPr/>
        </p:nvSpPr>
        <p:spPr>
          <a:xfrm rot="5400000">
            <a:off x="4488768" y="320307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9" name="TextBox 138"/>
          <p:cNvSpPr txBox="1"/>
          <p:nvPr/>
        </p:nvSpPr>
        <p:spPr>
          <a:xfrm>
            <a:off x="3955860" y="3440203"/>
            <a:ext cx="263214" cy="276999"/>
          </a:xfrm>
          <a:prstGeom prst="rect">
            <a:avLst/>
          </a:prstGeom>
          <a:noFill/>
        </p:spPr>
        <p:txBody>
          <a:bodyPr wrap="none" rtlCol="0">
            <a:spAutoFit/>
          </a:bodyPr>
          <a:lstStyle/>
          <a:p>
            <a:pPr algn="ctr"/>
            <a:r>
              <a:rPr lang="en-US" sz="1200" b="1" dirty="0">
                <a:solidFill>
                  <a:schemeClr val="accent2"/>
                </a:solidFill>
              </a:rPr>
              <a:t>9</a:t>
            </a:r>
          </a:p>
        </p:txBody>
      </p:sp>
      <p:sp>
        <p:nvSpPr>
          <p:cNvPr id="140" name="TextBox 139"/>
          <p:cNvSpPr txBox="1"/>
          <p:nvPr/>
        </p:nvSpPr>
        <p:spPr>
          <a:xfrm>
            <a:off x="4372509" y="3440203"/>
            <a:ext cx="341760" cy="276999"/>
          </a:xfrm>
          <a:prstGeom prst="rect">
            <a:avLst/>
          </a:prstGeom>
          <a:noFill/>
        </p:spPr>
        <p:txBody>
          <a:bodyPr wrap="none" rtlCol="0">
            <a:spAutoFit/>
          </a:bodyPr>
          <a:lstStyle/>
          <a:p>
            <a:pPr algn="ctr"/>
            <a:r>
              <a:rPr lang="en-US" sz="1200" b="1" dirty="0">
                <a:solidFill>
                  <a:schemeClr val="accent4">
                    <a:lumMod val="75000"/>
                  </a:schemeClr>
                </a:solidFill>
              </a:rPr>
              <a:t>13</a:t>
            </a:r>
          </a:p>
        </p:txBody>
      </p:sp>
      <p:sp>
        <p:nvSpPr>
          <p:cNvPr id="149" name="Right Brace 148"/>
          <p:cNvSpPr/>
          <p:nvPr/>
        </p:nvSpPr>
        <p:spPr>
          <a:xfrm rot="5400000">
            <a:off x="7003196" y="2979926"/>
            <a:ext cx="107514" cy="887968"/>
          </a:xfrm>
          <a:prstGeom prst="rightBrace">
            <a:avLst/>
          </a:prstGeom>
          <a:ln>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1" name="TextBox 150"/>
          <p:cNvSpPr txBox="1"/>
          <p:nvPr/>
        </p:nvSpPr>
        <p:spPr>
          <a:xfrm>
            <a:off x="6926243" y="3439073"/>
            <a:ext cx="263214" cy="276999"/>
          </a:xfrm>
          <a:prstGeom prst="rect">
            <a:avLst/>
          </a:prstGeom>
          <a:noFill/>
        </p:spPr>
        <p:txBody>
          <a:bodyPr wrap="none" rtlCol="0">
            <a:spAutoFit/>
          </a:bodyPr>
          <a:lstStyle/>
          <a:p>
            <a:pPr algn="ctr"/>
            <a:r>
              <a:rPr lang="en-US" sz="1200" b="1" dirty="0">
                <a:solidFill>
                  <a:schemeClr val="accent5"/>
                </a:solidFill>
              </a:rPr>
              <a:t>2</a:t>
            </a:r>
          </a:p>
        </p:txBody>
      </p:sp>
      <p:sp>
        <p:nvSpPr>
          <p:cNvPr id="153" name="Right Brace 152"/>
          <p:cNvSpPr/>
          <p:nvPr/>
        </p:nvSpPr>
        <p:spPr>
          <a:xfrm rot="5400000">
            <a:off x="7685962" y="320194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4" name="Right Brace 153"/>
          <p:cNvSpPr/>
          <p:nvPr/>
        </p:nvSpPr>
        <p:spPr>
          <a:xfrm rot="5400000">
            <a:off x="8140092" y="320194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5" name="TextBox 154"/>
          <p:cNvSpPr txBox="1"/>
          <p:nvPr/>
        </p:nvSpPr>
        <p:spPr>
          <a:xfrm>
            <a:off x="7567911" y="3439073"/>
            <a:ext cx="341760" cy="276999"/>
          </a:xfrm>
          <a:prstGeom prst="rect">
            <a:avLst/>
          </a:prstGeom>
          <a:noFill/>
        </p:spPr>
        <p:txBody>
          <a:bodyPr wrap="none" rtlCol="0">
            <a:spAutoFit/>
          </a:bodyPr>
          <a:lstStyle/>
          <a:p>
            <a:pPr algn="ctr"/>
            <a:r>
              <a:rPr lang="en-US" sz="1200" b="1" dirty="0">
                <a:solidFill>
                  <a:schemeClr val="accent2"/>
                </a:solidFill>
              </a:rPr>
              <a:t>11</a:t>
            </a:r>
          </a:p>
        </p:txBody>
      </p:sp>
      <p:sp>
        <p:nvSpPr>
          <p:cNvPr id="156" name="TextBox 155"/>
          <p:cNvSpPr txBox="1"/>
          <p:nvPr/>
        </p:nvSpPr>
        <p:spPr>
          <a:xfrm>
            <a:off x="8023833" y="3439073"/>
            <a:ext cx="341760" cy="276999"/>
          </a:xfrm>
          <a:prstGeom prst="rect">
            <a:avLst/>
          </a:prstGeom>
          <a:noFill/>
        </p:spPr>
        <p:txBody>
          <a:bodyPr wrap="none" rtlCol="0">
            <a:spAutoFit/>
          </a:bodyPr>
          <a:lstStyle/>
          <a:p>
            <a:pPr algn="ctr"/>
            <a:r>
              <a:rPr lang="en-US" sz="1200" b="1" dirty="0">
                <a:solidFill>
                  <a:schemeClr val="accent4">
                    <a:lumMod val="75000"/>
                  </a:schemeClr>
                </a:solidFill>
              </a:rPr>
              <a:t>15</a:t>
            </a:r>
          </a:p>
        </p:txBody>
      </p:sp>
      <p:sp>
        <p:nvSpPr>
          <p:cNvPr id="158" name="TextBox 157"/>
          <p:cNvSpPr txBox="1"/>
          <p:nvPr/>
        </p:nvSpPr>
        <p:spPr>
          <a:xfrm>
            <a:off x="7378551" y="3439072"/>
            <a:ext cx="263213" cy="276999"/>
          </a:xfrm>
          <a:prstGeom prst="rect">
            <a:avLst/>
          </a:prstGeom>
          <a:noFill/>
        </p:spPr>
        <p:txBody>
          <a:bodyPr wrap="none" rtlCol="0">
            <a:spAutoFit/>
          </a:bodyPr>
          <a:lstStyle/>
          <a:p>
            <a:pPr algn="ctr"/>
            <a:r>
              <a:rPr lang="en-US" sz="1200" b="1" dirty="0">
                <a:solidFill>
                  <a:schemeClr val="accent6"/>
                </a:solidFill>
              </a:rPr>
              <a:t>8</a:t>
            </a:r>
          </a:p>
        </p:txBody>
      </p:sp>
      <p:cxnSp>
        <p:nvCxnSpPr>
          <p:cNvPr id="131" name="Straight Arrow Connector 130"/>
          <p:cNvCxnSpPr>
            <a:stCxn id="262" idx="2"/>
            <a:endCxn id="71" idx="0"/>
          </p:cNvCxnSpPr>
          <p:nvPr/>
        </p:nvCxnSpPr>
        <p:spPr>
          <a:xfrm flipH="1">
            <a:off x="1811984" y="3336795"/>
            <a:ext cx="1368447"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263" idx="2"/>
            <a:endCxn id="75" idx="0"/>
          </p:cNvCxnSpPr>
          <p:nvPr/>
        </p:nvCxnSpPr>
        <p:spPr>
          <a:xfrm>
            <a:off x="3636580" y="333679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p:cNvCxnSpPr>
            <a:stCxn id="265" idx="2"/>
            <a:endCxn id="83" idx="0"/>
          </p:cNvCxnSpPr>
          <p:nvPr/>
        </p:nvCxnSpPr>
        <p:spPr>
          <a:xfrm>
            <a:off x="4548878" y="333679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264" idx="2"/>
            <a:endCxn id="79" idx="0"/>
          </p:cNvCxnSpPr>
          <p:nvPr/>
        </p:nvCxnSpPr>
        <p:spPr>
          <a:xfrm>
            <a:off x="4092729" y="3336795"/>
            <a:ext cx="1368447"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270" idx="2"/>
            <a:endCxn id="72" idx="0"/>
          </p:cNvCxnSpPr>
          <p:nvPr/>
        </p:nvCxnSpPr>
        <p:spPr>
          <a:xfrm flipH="1">
            <a:off x="2268133" y="3336795"/>
            <a:ext cx="456149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271" idx="2"/>
            <a:endCxn id="73" idx="0"/>
          </p:cNvCxnSpPr>
          <p:nvPr/>
        </p:nvCxnSpPr>
        <p:spPr>
          <a:xfrm flipH="1">
            <a:off x="2724282" y="3336795"/>
            <a:ext cx="456149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272" idx="2"/>
            <a:endCxn id="81" idx="0"/>
          </p:cNvCxnSpPr>
          <p:nvPr/>
        </p:nvCxnSpPr>
        <p:spPr>
          <a:xfrm flipH="1">
            <a:off x="6373474" y="3336795"/>
            <a:ext cx="1368447"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273" idx="2"/>
            <a:endCxn id="85" idx="0"/>
          </p:cNvCxnSpPr>
          <p:nvPr/>
        </p:nvCxnSpPr>
        <p:spPr>
          <a:xfrm>
            <a:off x="8198070" y="333679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274" idx="2"/>
            <a:endCxn id="70" idx="0"/>
          </p:cNvCxnSpPr>
          <p:nvPr/>
        </p:nvCxnSpPr>
        <p:spPr>
          <a:xfrm>
            <a:off x="1355835" y="333679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275" idx="2"/>
            <a:endCxn id="74" idx="0"/>
          </p:cNvCxnSpPr>
          <p:nvPr/>
        </p:nvCxnSpPr>
        <p:spPr>
          <a:xfrm>
            <a:off x="1811984" y="3336795"/>
            <a:ext cx="1368447"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p:cNvCxnSpPr>
            <a:stCxn id="276" idx="2"/>
            <a:endCxn id="78" idx="0"/>
          </p:cNvCxnSpPr>
          <p:nvPr/>
        </p:nvCxnSpPr>
        <p:spPr>
          <a:xfrm>
            <a:off x="2268133" y="333679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p:cNvCxnSpPr>
            <a:stCxn id="277" idx="2"/>
            <a:endCxn id="82" idx="0"/>
          </p:cNvCxnSpPr>
          <p:nvPr/>
        </p:nvCxnSpPr>
        <p:spPr>
          <a:xfrm>
            <a:off x="2724282" y="3336795"/>
            <a:ext cx="4105341"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69" name="Rectangle 168"/>
          <p:cNvSpPr/>
          <p:nvPr/>
        </p:nvSpPr>
        <p:spPr>
          <a:xfrm>
            <a:off x="1095702" y="1014227"/>
            <a:ext cx="7386145" cy="4750413"/>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0" name="Straight Connector 199"/>
          <p:cNvCxnSpPr/>
          <p:nvPr/>
        </p:nvCxnSpPr>
        <p:spPr>
          <a:xfrm>
            <a:off x="4776427"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a:off x="6601023"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43" name="Rectangle 42"/>
          <p:cNvSpPr>
            <a:spLocks noChangeAspect="1"/>
          </p:cNvSpPr>
          <p:nvPr/>
        </p:nvSpPr>
        <p:spPr>
          <a:xfrm>
            <a:off x="4776427"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44" name="Rectangle 43"/>
          <p:cNvSpPr>
            <a:spLocks noChangeAspect="1"/>
          </p:cNvSpPr>
          <p:nvPr/>
        </p:nvSpPr>
        <p:spPr>
          <a:xfrm>
            <a:off x="5232576"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45" name="Rectangle 44"/>
          <p:cNvSpPr>
            <a:spLocks noChangeAspect="1"/>
          </p:cNvSpPr>
          <p:nvPr/>
        </p:nvSpPr>
        <p:spPr>
          <a:xfrm>
            <a:off x="5688725"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46" name="Rectangle 45"/>
          <p:cNvSpPr>
            <a:spLocks noChangeAspect="1"/>
          </p:cNvSpPr>
          <p:nvPr/>
        </p:nvSpPr>
        <p:spPr>
          <a:xfrm>
            <a:off x="6144874"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grpSp>
        <p:nvGrpSpPr>
          <p:cNvPr id="221" name="Group 220"/>
          <p:cNvGrpSpPr/>
          <p:nvPr/>
        </p:nvGrpSpPr>
        <p:grpSpPr>
          <a:xfrm>
            <a:off x="4819769" y="1130729"/>
            <a:ext cx="1738603" cy="822960"/>
            <a:chOff x="2667000" y="1752600"/>
            <a:chExt cx="889511" cy="838200"/>
          </a:xfrm>
        </p:grpSpPr>
        <p:sp>
          <p:nvSpPr>
            <p:cNvPr id="222" name="Rectangle 221"/>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3" name="Freeform 222"/>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4" name="Freeform 223"/>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5" name="Freeform 224"/>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6" name="Freeform 225"/>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266" name="Rectangle 265"/>
          <p:cNvSpPr>
            <a:spLocks noChangeAspect="1"/>
          </p:cNvSpPr>
          <p:nvPr/>
        </p:nvSpPr>
        <p:spPr>
          <a:xfrm>
            <a:off x="4776427"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267" name="Rectangle 266"/>
          <p:cNvSpPr>
            <a:spLocks noChangeAspect="1"/>
          </p:cNvSpPr>
          <p:nvPr/>
        </p:nvSpPr>
        <p:spPr>
          <a:xfrm>
            <a:off x="5232576"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268" name="Rectangle 267"/>
          <p:cNvSpPr>
            <a:spLocks noChangeAspect="1"/>
          </p:cNvSpPr>
          <p:nvPr/>
        </p:nvSpPr>
        <p:spPr>
          <a:xfrm>
            <a:off x="5688725"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269" name="Rectangle 268"/>
          <p:cNvSpPr>
            <a:spLocks noChangeAspect="1"/>
          </p:cNvSpPr>
          <p:nvPr/>
        </p:nvSpPr>
        <p:spPr>
          <a:xfrm>
            <a:off x="6144874"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cxnSp>
        <p:nvCxnSpPr>
          <p:cNvPr id="299" name="Straight Arrow Connector 298"/>
          <p:cNvCxnSpPr>
            <a:stCxn id="43" idx="2"/>
            <a:endCxn id="266" idx="0"/>
          </p:cNvCxnSpPr>
          <p:nvPr/>
        </p:nvCxnSpPr>
        <p:spPr>
          <a:xfrm>
            <a:off x="5005027"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0" name="Straight Arrow Connector 299"/>
          <p:cNvCxnSpPr>
            <a:stCxn id="44" idx="2"/>
            <a:endCxn id="268" idx="0"/>
          </p:cNvCxnSpPr>
          <p:nvPr/>
        </p:nvCxnSpPr>
        <p:spPr>
          <a:xfrm>
            <a:off x="5461176"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1" name="Straight Arrow Connector 300"/>
          <p:cNvCxnSpPr>
            <a:stCxn id="45" idx="2"/>
            <a:endCxn id="269" idx="0"/>
          </p:cNvCxnSpPr>
          <p:nvPr/>
        </p:nvCxnSpPr>
        <p:spPr>
          <a:xfrm>
            <a:off x="5917325"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2" name="Straight Arrow Connector 301"/>
          <p:cNvCxnSpPr>
            <a:stCxn id="46" idx="2"/>
            <a:endCxn id="267" idx="0"/>
          </p:cNvCxnSpPr>
          <p:nvPr/>
        </p:nvCxnSpPr>
        <p:spPr>
          <a:xfrm flipH="1">
            <a:off x="5461176"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42" name="Right Brace 141"/>
          <p:cNvSpPr/>
          <p:nvPr/>
        </p:nvSpPr>
        <p:spPr>
          <a:xfrm rot="5400000">
            <a:off x="5184721" y="2979226"/>
            <a:ext cx="107514" cy="891630"/>
          </a:xfrm>
          <a:prstGeom prst="rightBrace">
            <a:avLst/>
          </a:prstGeom>
          <a:ln>
            <a:solidFill>
              <a:schemeClr val="accent6"/>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4" name="TextBox 143"/>
          <p:cNvSpPr txBox="1"/>
          <p:nvPr/>
        </p:nvSpPr>
        <p:spPr>
          <a:xfrm>
            <a:off x="5107741" y="3440203"/>
            <a:ext cx="263214" cy="276999"/>
          </a:xfrm>
          <a:prstGeom prst="rect">
            <a:avLst/>
          </a:prstGeom>
          <a:noFill/>
        </p:spPr>
        <p:txBody>
          <a:bodyPr wrap="none" rtlCol="0">
            <a:spAutoFit/>
          </a:bodyPr>
          <a:lstStyle/>
          <a:p>
            <a:pPr algn="ctr"/>
            <a:r>
              <a:rPr lang="en-US" sz="1200" b="1" dirty="0">
                <a:solidFill>
                  <a:schemeClr val="accent6"/>
                </a:solidFill>
              </a:rPr>
              <a:t>6</a:t>
            </a:r>
          </a:p>
        </p:txBody>
      </p:sp>
      <p:sp>
        <p:nvSpPr>
          <p:cNvPr id="145" name="Right Brace 144"/>
          <p:cNvSpPr/>
          <p:nvPr/>
        </p:nvSpPr>
        <p:spPr>
          <a:xfrm rot="5400000">
            <a:off x="5860812" y="3203074"/>
            <a:ext cx="107514" cy="443931"/>
          </a:xfrm>
          <a:prstGeom prst="rightBrace">
            <a:avLst/>
          </a:prstGeom>
          <a:ln>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6" name="Right Brace 145"/>
          <p:cNvSpPr/>
          <p:nvPr/>
        </p:nvSpPr>
        <p:spPr>
          <a:xfrm rot="5400000">
            <a:off x="6314942" y="3203075"/>
            <a:ext cx="107514" cy="443931"/>
          </a:xfrm>
          <a:prstGeom prst="rightBrac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7" name="TextBox 146"/>
          <p:cNvSpPr txBox="1"/>
          <p:nvPr/>
        </p:nvSpPr>
        <p:spPr>
          <a:xfrm>
            <a:off x="5742761" y="3440203"/>
            <a:ext cx="341760" cy="276999"/>
          </a:xfrm>
          <a:prstGeom prst="rect">
            <a:avLst/>
          </a:prstGeom>
          <a:noFill/>
        </p:spPr>
        <p:txBody>
          <a:bodyPr wrap="none" rtlCol="0">
            <a:spAutoFit/>
          </a:bodyPr>
          <a:lstStyle/>
          <a:p>
            <a:pPr algn="ctr"/>
            <a:r>
              <a:rPr lang="en-US" sz="1200" b="1" dirty="0">
                <a:solidFill>
                  <a:schemeClr val="accent2"/>
                </a:solidFill>
              </a:rPr>
              <a:t>10</a:t>
            </a:r>
          </a:p>
        </p:txBody>
      </p:sp>
      <p:sp>
        <p:nvSpPr>
          <p:cNvPr id="148" name="TextBox 147"/>
          <p:cNvSpPr txBox="1"/>
          <p:nvPr/>
        </p:nvSpPr>
        <p:spPr>
          <a:xfrm>
            <a:off x="6198683" y="3440203"/>
            <a:ext cx="341760" cy="276999"/>
          </a:xfrm>
          <a:prstGeom prst="rect">
            <a:avLst/>
          </a:prstGeom>
          <a:noFill/>
        </p:spPr>
        <p:txBody>
          <a:bodyPr wrap="none" rtlCol="0">
            <a:spAutoFit/>
          </a:bodyPr>
          <a:lstStyle/>
          <a:p>
            <a:pPr algn="ctr"/>
            <a:r>
              <a:rPr lang="en-US" sz="1200" b="1" dirty="0">
                <a:solidFill>
                  <a:schemeClr val="accent4">
                    <a:lumMod val="75000"/>
                  </a:schemeClr>
                </a:solidFill>
              </a:rPr>
              <a:t>14</a:t>
            </a:r>
          </a:p>
        </p:txBody>
      </p:sp>
      <p:sp>
        <p:nvSpPr>
          <p:cNvPr id="157" name="TextBox 156"/>
          <p:cNvSpPr txBox="1"/>
          <p:nvPr/>
        </p:nvSpPr>
        <p:spPr>
          <a:xfrm>
            <a:off x="4697263" y="3440203"/>
            <a:ext cx="263214" cy="276999"/>
          </a:xfrm>
          <a:prstGeom prst="rect">
            <a:avLst/>
          </a:prstGeom>
          <a:noFill/>
        </p:spPr>
        <p:txBody>
          <a:bodyPr wrap="none" rtlCol="0">
            <a:spAutoFit/>
          </a:bodyPr>
          <a:lstStyle/>
          <a:p>
            <a:pPr algn="ctr"/>
            <a:r>
              <a:rPr lang="en-US" sz="1200" b="1" dirty="0">
                <a:solidFill>
                  <a:schemeClr val="accent5"/>
                </a:solidFill>
              </a:rPr>
              <a:t>2</a:t>
            </a:r>
          </a:p>
        </p:txBody>
      </p:sp>
      <p:cxnSp>
        <p:nvCxnSpPr>
          <p:cNvPr id="150" name="Straight Arrow Connector 149"/>
          <p:cNvCxnSpPr>
            <a:stCxn id="266" idx="2"/>
            <a:endCxn id="76" idx="0"/>
          </p:cNvCxnSpPr>
          <p:nvPr/>
        </p:nvCxnSpPr>
        <p:spPr>
          <a:xfrm flipH="1">
            <a:off x="4092729" y="3336795"/>
            <a:ext cx="912298" cy="1924856"/>
          </a:xfrm>
          <a:prstGeom prst="straightConnector1">
            <a:avLst/>
          </a:prstGeom>
          <a:ln w="19050">
            <a:solidFill>
              <a:schemeClr val="accent6"/>
            </a:solidFill>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p:cNvCxnSpPr>
            <a:stCxn id="267" idx="2"/>
            <a:endCxn id="77" idx="0"/>
          </p:cNvCxnSpPr>
          <p:nvPr/>
        </p:nvCxnSpPr>
        <p:spPr>
          <a:xfrm flipH="1">
            <a:off x="4548878" y="3336795"/>
            <a:ext cx="912298" cy="1924856"/>
          </a:xfrm>
          <a:prstGeom prst="straightConnector1">
            <a:avLst/>
          </a:prstGeom>
          <a:ln w="19050">
            <a:solidFill>
              <a:schemeClr val="accent6"/>
            </a:solidFill>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268" idx="2"/>
            <a:endCxn id="80" idx="0"/>
          </p:cNvCxnSpPr>
          <p:nvPr/>
        </p:nvCxnSpPr>
        <p:spPr>
          <a:xfrm>
            <a:off x="5917325" y="3336795"/>
            <a:ext cx="0" cy="1924856"/>
          </a:xfrm>
          <a:prstGeom prst="straightConnector1">
            <a:avLst/>
          </a:prstGeom>
          <a:ln w="19050">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269" idx="2"/>
            <a:endCxn id="84" idx="0"/>
          </p:cNvCxnSpPr>
          <p:nvPr/>
        </p:nvCxnSpPr>
        <p:spPr>
          <a:xfrm>
            <a:off x="6373474" y="3336795"/>
            <a:ext cx="1368447" cy="1924856"/>
          </a:xfrm>
          <a:prstGeom prst="straightConnector1">
            <a:avLst/>
          </a:prstGeom>
          <a:ln w="19050">
            <a:solidFill>
              <a:schemeClr val="accent4">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76" name="Rectangle 75"/>
          <p:cNvSpPr>
            <a:spLocks noChangeAspect="1"/>
          </p:cNvSpPr>
          <p:nvPr/>
        </p:nvSpPr>
        <p:spPr>
          <a:xfrm>
            <a:off x="3864129"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7" name="Rectangle 76"/>
          <p:cNvSpPr>
            <a:spLocks noChangeAspect="1"/>
          </p:cNvSpPr>
          <p:nvPr/>
        </p:nvSpPr>
        <p:spPr>
          <a:xfrm>
            <a:off x="4320278"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80" name="Rectangle 79"/>
          <p:cNvSpPr>
            <a:spLocks noChangeAspect="1"/>
          </p:cNvSpPr>
          <p:nvPr/>
        </p:nvSpPr>
        <p:spPr>
          <a:xfrm>
            <a:off x="5688725"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84" name="Rectangle 83"/>
          <p:cNvSpPr>
            <a:spLocks noChangeAspect="1"/>
          </p:cNvSpPr>
          <p:nvPr/>
        </p:nvSpPr>
        <p:spPr>
          <a:xfrm>
            <a:off x="7513321"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170" name="TextBox 169"/>
          <p:cNvSpPr txBox="1"/>
          <p:nvPr/>
        </p:nvSpPr>
        <p:spPr>
          <a:xfrm>
            <a:off x="1115172" y="5955517"/>
            <a:ext cx="7355348" cy="338554"/>
          </a:xfrm>
          <a:prstGeom prst="rect">
            <a:avLst/>
          </a:prstGeom>
          <a:noFill/>
        </p:spPr>
        <p:txBody>
          <a:bodyPr wrap="none" rtlCol="0">
            <a:spAutoFit/>
          </a:bodyPr>
          <a:lstStyle/>
          <a:p>
            <a:pPr algn="ctr"/>
            <a:r>
              <a:rPr lang="en-US" sz="1600" dirty="0"/>
              <a:t>Storing each bucket is coalesced, but there are more buckets, hence poorer coalescing</a:t>
            </a:r>
          </a:p>
        </p:txBody>
      </p:sp>
    </p:spTree>
    <p:extLst>
      <p:ext uri="{BB962C8B-B14F-4D97-AF65-F5344CB8AC3E}">
        <p14:creationId xmlns:p14="http://schemas.microsoft.com/office/powerpoint/2010/main" val="238576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Thread Coarsening</a:t>
            </a:r>
          </a:p>
        </p:txBody>
      </p:sp>
      <p:sp>
        <p:nvSpPr>
          <p:cNvPr id="4" name="Content Placeholder 3"/>
          <p:cNvSpPr>
            <a:spLocks noGrp="1"/>
          </p:cNvSpPr>
          <p:nvPr>
            <p:ph sz="half" idx="1"/>
          </p:nvPr>
        </p:nvSpPr>
        <p:spPr/>
        <p:txBody>
          <a:bodyPr/>
          <a:lstStyle/>
          <a:p>
            <a:r>
              <a:rPr lang="en-US" dirty="0"/>
              <a:t>The price of parallelizing across more blocks is having smaller buckets per block, hence fewer opportunities for coalescing</a:t>
            </a:r>
          </a:p>
          <a:p>
            <a:endParaRPr lang="en-US" dirty="0"/>
          </a:p>
          <a:p>
            <a:r>
              <a:rPr lang="en-US" dirty="0"/>
              <a:t>Processing more elements per block results in larger buckets per block, hence better coalescing</a:t>
            </a:r>
          </a:p>
        </p:txBody>
      </p:sp>
    </p:spTree>
    <p:extLst>
      <p:ext uri="{BB962C8B-B14F-4D97-AF65-F5344CB8AC3E}">
        <p14:creationId xmlns:p14="http://schemas.microsoft.com/office/powerpoint/2010/main" val="3763725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0" name="Straight Connector 199"/>
          <p:cNvCxnSpPr/>
          <p:nvPr/>
        </p:nvCxnSpPr>
        <p:spPr>
          <a:xfrm>
            <a:off x="4776427"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idx="10"/>
          </p:nvPr>
        </p:nvSpPr>
        <p:spPr/>
        <p:txBody>
          <a:bodyPr/>
          <a:lstStyle/>
          <a:p>
            <a:r>
              <a:rPr lang="en-US" dirty="0"/>
              <a:t>Radix Sort with Thread Coarsening</a:t>
            </a:r>
          </a:p>
        </p:txBody>
      </p:sp>
      <p:grpSp>
        <p:nvGrpSpPr>
          <p:cNvPr id="51" name="Group 50"/>
          <p:cNvGrpSpPr/>
          <p:nvPr/>
        </p:nvGrpSpPr>
        <p:grpSpPr>
          <a:xfrm>
            <a:off x="1127235" y="2059271"/>
            <a:ext cx="7299435" cy="457200"/>
            <a:chOff x="941989" y="1557421"/>
            <a:chExt cx="7299435" cy="457200"/>
          </a:xfrm>
        </p:grpSpPr>
        <p:sp>
          <p:nvSpPr>
            <p:cNvPr id="5" name="Rectangle 4"/>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36" name="Rectangle 35"/>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37" name="Rectangle 36"/>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38" name="Rectangle 37"/>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39" name="Rectangle 38"/>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40" name="Rectangle 39"/>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41" name="Rectangle 40"/>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42" name="Rectangle 41"/>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3" name="Rectangle 42"/>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44" name="Rectangle 43"/>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45" name="Rectangle 44"/>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46" name="Rectangle 45"/>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47" name="Rectangle 46"/>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48" name="Rectangle 47"/>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9" name="Rectangle 48"/>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50" name="Rectangle 49"/>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grpSp>
      <p:grpSp>
        <p:nvGrpSpPr>
          <p:cNvPr id="69" name="Group 68"/>
          <p:cNvGrpSpPr/>
          <p:nvPr/>
        </p:nvGrpSpPr>
        <p:grpSpPr>
          <a:xfrm>
            <a:off x="1127235" y="5261651"/>
            <a:ext cx="7299435" cy="457200"/>
            <a:chOff x="941989" y="1557421"/>
            <a:chExt cx="7299435" cy="457200"/>
          </a:xfrm>
        </p:grpSpPr>
        <p:sp>
          <p:nvSpPr>
            <p:cNvPr id="70" name="Rectangle 69"/>
            <p:cNvSpPr>
              <a:spLocks noChangeAspect="1"/>
            </p:cNvSpPr>
            <p:nvPr/>
          </p:nvSpPr>
          <p:spPr>
            <a:xfrm>
              <a:off x="94198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71" name="Rectangle 70"/>
            <p:cNvSpPr>
              <a:spLocks noChangeAspect="1"/>
            </p:cNvSpPr>
            <p:nvPr/>
          </p:nvSpPr>
          <p:spPr>
            <a:xfrm>
              <a:off x="139813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72" name="Rectangle 71"/>
            <p:cNvSpPr>
              <a:spLocks noChangeAspect="1"/>
            </p:cNvSpPr>
            <p:nvPr/>
          </p:nvSpPr>
          <p:spPr>
            <a:xfrm>
              <a:off x="185428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73" name="Rectangle 72"/>
            <p:cNvSpPr>
              <a:spLocks noChangeAspect="1"/>
            </p:cNvSpPr>
            <p:nvPr/>
          </p:nvSpPr>
          <p:spPr>
            <a:xfrm>
              <a:off x="231043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74" name="Rectangle 73"/>
            <p:cNvSpPr>
              <a:spLocks noChangeAspect="1"/>
            </p:cNvSpPr>
            <p:nvPr/>
          </p:nvSpPr>
          <p:spPr>
            <a:xfrm>
              <a:off x="276658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5" name="Rectangle 74"/>
            <p:cNvSpPr>
              <a:spLocks noChangeAspect="1"/>
            </p:cNvSpPr>
            <p:nvPr/>
          </p:nvSpPr>
          <p:spPr>
            <a:xfrm>
              <a:off x="322273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76" name="Rectangle 75"/>
            <p:cNvSpPr>
              <a:spLocks noChangeAspect="1"/>
            </p:cNvSpPr>
            <p:nvPr/>
          </p:nvSpPr>
          <p:spPr>
            <a:xfrm>
              <a:off x="3678883"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7" name="Rectangle 76"/>
            <p:cNvSpPr>
              <a:spLocks noChangeAspect="1"/>
            </p:cNvSpPr>
            <p:nvPr/>
          </p:nvSpPr>
          <p:spPr>
            <a:xfrm>
              <a:off x="4135032"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78" name="Rectangle 77"/>
            <p:cNvSpPr>
              <a:spLocks noChangeAspect="1"/>
            </p:cNvSpPr>
            <p:nvPr/>
          </p:nvSpPr>
          <p:spPr>
            <a:xfrm>
              <a:off x="4591181"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79" name="Rectangle 78"/>
            <p:cNvSpPr>
              <a:spLocks noChangeAspect="1"/>
            </p:cNvSpPr>
            <p:nvPr/>
          </p:nvSpPr>
          <p:spPr>
            <a:xfrm>
              <a:off x="5047330"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0" name="Rectangle 79"/>
            <p:cNvSpPr>
              <a:spLocks noChangeAspect="1"/>
            </p:cNvSpPr>
            <p:nvPr/>
          </p:nvSpPr>
          <p:spPr>
            <a:xfrm>
              <a:off x="5503479"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81" name="Rectangle 80"/>
            <p:cNvSpPr>
              <a:spLocks noChangeAspect="1"/>
            </p:cNvSpPr>
            <p:nvPr/>
          </p:nvSpPr>
          <p:spPr>
            <a:xfrm>
              <a:off x="5959628"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2" name="Rectangle 81"/>
            <p:cNvSpPr>
              <a:spLocks noChangeAspect="1"/>
            </p:cNvSpPr>
            <p:nvPr/>
          </p:nvSpPr>
          <p:spPr>
            <a:xfrm>
              <a:off x="6415777"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83" name="Rectangle 82"/>
            <p:cNvSpPr>
              <a:spLocks noChangeAspect="1"/>
            </p:cNvSpPr>
            <p:nvPr/>
          </p:nvSpPr>
          <p:spPr>
            <a:xfrm>
              <a:off x="6871926"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84" name="Rectangle 83"/>
            <p:cNvSpPr>
              <a:spLocks noChangeAspect="1"/>
            </p:cNvSpPr>
            <p:nvPr/>
          </p:nvSpPr>
          <p:spPr>
            <a:xfrm>
              <a:off x="7328075"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85" name="Rectangle 84"/>
            <p:cNvSpPr>
              <a:spLocks noChangeAspect="1"/>
            </p:cNvSpPr>
            <p:nvPr/>
          </p:nvSpPr>
          <p:spPr>
            <a:xfrm>
              <a:off x="7784224" y="155742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grpSp>
      <p:grpSp>
        <p:nvGrpSpPr>
          <p:cNvPr id="221" name="Group 220"/>
          <p:cNvGrpSpPr/>
          <p:nvPr/>
        </p:nvGrpSpPr>
        <p:grpSpPr>
          <a:xfrm>
            <a:off x="4819769" y="1130729"/>
            <a:ext cx="1738603" cy="822960"/>
            <a:chOff x="2667000" y="1752600"/>
            <a:chExt cx="889511" cy="838200"/>
          </a:xfrm>
        </p:grpSpPr>
        <p:sp>
          <p:nvSpPr>
            <p:cNvPr id="222" name="Rectangle 221"/>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3" name="Freeform 222"/>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4" name="Freeform 223"/>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5" name="Freeform 224"/>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6" name="Freeform 225"/>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233" name="Group 232"/>
          <p:cNvGrpSpPr/>
          <p:nvPr/>
        </p:nvGrpSpPr>
        <p:grpSpPr>
          <a:xfrm>
            <a:off x="1169877" y="1130729"/>
            <a:ext cx="1738603" cy="822960"/>
            <a:chOff x="2667000" y="1752600"/>
            <a:chExt cx="889511" cy="838200"/>
          </a:xfrm>
        </p:grpSpPr>
        <p:sp>
          <p:nvSpPr>
            <p:cNvPr id="234" name="Rectangle 23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5" name="Freeform 23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6" name="Freeform 23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7" name="Freeform 23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8" name="Freeform 23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7" name="Group 6"/>
          <p:cNvGrpSpPr/>
          <p:nvPr/>
        </p:nvGrpSpPr>
        <p:grpSpPr>
          <a:xfrm>
            <a:off x="4776427" y="2879595"/>
            <a:ext cx="3650243" cy="457200"/>
            <a:chOff x="4776427" y="3256675"/>
            <a:chExt cx="3650243" cy="457200"/>
          </a:xfrm>
        </p:grpSpPr>
        <p:sp>
          <p:nvSpPr>
            <p:cNvPr id="266" name="Rectangle 265"/>
            <p:cNvSpPr>
              <a:spLocks noChangeAspect="1"/>
            </p:cNvSpPr>
            <p:nvPr/>
          </p:nvSpPr>
          <p:spPr>
            <a:xfrm>
              <a:off x="4776427"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endParaRPr lang="en-US" sz="1600" b="1" dirty="0">
                <a:solidFill>
                  <a:schemeClr val="accent6"/>
                </a:solidFill>
              </a:endParaRPr>
            </a:p>
          </p:txBody>
        </p:sp>
        <p:sp>
          <p:nvSpPr>
            <p:cNvPr id="267" name="Rectangle 266"/>
            <p:cNvSpPr>
              <a:spLocks noChangeAspect="1"/>
            </p:cNvSpPr>
            <p:nvPr/>
          </p:nvSpPr>
          <p:spPr>
            <a:xfrm>
              <a:off x="5232576"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endParaRPr lang="en-US" sz="1600" b="1" dirty="0">
                <a:solidFill>
                  <a:schemeClr val="accent6"/>
                </a:solidFill>
              </a:endParaRPr>
            </a:p>
          </p:txBody>
        </p:sp>
        <p:sp>
          <p:nvSpPr>
            <p:cNvPr id="268" name="Rectangle 267"/>
            <p:cNvSpPr>
              <a:spLocks noChangeAspect="1"/>
            </p:cNvSpPr>
            <p:nvPr/>
          </p:nvSpPr>
          <p:spPr>
            <a:xfrm>
              <a:off x="5688725"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endParaRPr lang="en-US" sz="1600" b="1" dirty="0">
                <a:solidFill>
                  <a:schemeClr val="accent2"/>
                </a:solidFill>
              </a:endParaRPr>
            </a:p>
          </p:txBody>
        </p:sp>
        <p:sp>
          <p:nvSpPr>
            <p:cNvPr id="269" name="Rectangle 268"/>
            <p:cNvSpPr>
              <a:spLocks noChangeAspect="1"/>
            </p:cNvSpPr>
            <p:nvPr/>
          </p:nvSpPr>
          <p:spPr>
            <a:xfrm>
              <a:off x="6144874"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endParaRPr lang="en-US" sz="1600" b="1" dirty="0">
                <a:solidFill>
                  <a:schemeClr val="accent4">
                    <a:lumMod val="75000"/>
                  </a:schemeClr>
                </a:solidFill>
              </a:endParaRPr>
            </a:p>
          </p:txBody>
        </p:sp>
        <p:sp>
          <p:nvSpPr>
            <p:cNvPr id="270" name="Rectangle 269"/>
            <p:cNvSpPr>
              <a:spLocks noChangeAspect="1"/>
            </p:cNvSpPr>
            <p:nvPr/>
          </p:nvSpPr>
          <p:spPr>
            <a:xfrm>
              <a:off x="6601023"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endParaRPr lang="en-US" sz="1600" b="1" dirty="0">
                <a:solidFill>
                  <a:schemeClr val="accent5"/>
                </a:solidFill>
              </a:endParaRPr>
            </a:p>
          </p:txBody>
        </p:sp>
        <p:sp>
          <p:nvSpPr>
            <p:cNvPr id="271" name="Rectangle 270"/>
            <p:cNvSpPr>
              <a:spLocks noChangeAspect="1"/>
            </p:cNvSpPr>
            <p:nvPr/>
          </p:nvSpPr>
          <p:spPr>
            <a:xfrm>
              <a:off x="7057172"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endParaRPr lang="en-US" sz="1600" b="1" dirty="0">
                <a:solidFill>
                  <a:schemeClr val="accent5"/>
                </a:solidFill>
              </a:endParaRPr>
            </a:p>
          </p:txBody>
        </p:sp>
        <p:sp>
          <p:nvSpPr>
            <p:cNvPr id="272" name="Rectangle 271"/>
            <p:cNvSpPr>
              <a:spLocks noChangeAspect="1"/>
            </p:cNvSpPr>
            <p:nvPr/>
          </p:nvSpPr>
          <p:spPr>
            <a:xfrm>
              <a:off x="7513321"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endParaRPr lang="en-US" sz="1600" b="1" dirty="0">
                <a:solidFill>
                  <a:schemeClr val="accent2"/>
                </a:solidFill>
              </a:endParaRPr>
            </a:p>
          </p:txBody>
        </p:sp>
        <p:sp>
          <p:nvSpPr>
            <p:cNvPr id="273" name="Rectangle 272"/>
            <p:cNvSpPr>
              <a:spLocks noChangeAspect="1"/>
            </p:cNvSpPr>
            <p:nvPr/>
          </p:nvSpPr>
          <p:spPr>
            <a:xfrm>
              <a:off x="7969470"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grpSp>
      <p:grpSp>
        <p:nvGrpSpPr>
          <p:cNvPr id="3" name="Group 2"/>
          <p:cNvGrpSpPr/>
          <p:nvPr/>
        </p:nvGrpSpPr>
        <p:grpSpPr>
          <a:xfrm>
            <a:off x="1127235" y="2879595"/>
            <a:ext cx="3650243" cy="457200"/>
            <a:chOff x="1127235" y="3256675"/>
            <a:chExt cx="3650243" cy="457200"/>
          </a:xfrm>
        </p:grpSpPr>
        <p:sp>
          <p:nvSpPr>
            <p:cNvPr id="262" name="Rectangle 261"/>
            <p:cNvSpPr>
              <a:spLocks noChangeAspect="1"/>
            </p:cNvSpPr>
            <p:nvPr/>
          </p:nvSpPr>
          <p:spPr>
            <a:xfrm>
              <a:off x="2951831"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endParaRPr lang="en-US" sz="1600" b="1" dirty="0">
                <a:solidFill>
                  <a:schemeClr val="accent5"/>
                </a:solidFill>
              </a:endParaRPr>
            </a:p>
          </p:txBody>
        </p:sp>
        <p:sp>
          <p:nvSpPr>
            <p:cNvPr id="263" name="Rectangle 262"/>
            <p:cNvSpPr>
              <a:spLocks noChangeAspect="1"/>
            </p:cNvSpPr>
            <p:nvPr/>
          </p:nvSpPr>
          <p:spPr>
            <a:xfrm>
              <a:off x="3407980"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endParaRPr lang="en-US" sz="1600" b="1" dirty="0">
                <a:solidFill>
                  <a:schemeClr val="accent6"/>
                </a:solidFill>
              </a:endParaRPr>
            </a:p>
          </p:txBody>
        </p:sp>
        <p:sp>
          <p:nvSpPr>
            <p:cNvPr id="264" name="Rectangle 263"/>
            <p:cNvSpPr>
              <a:spLocks noChangeAspect="1"/>
            </p:cNvSpPr>
            <p:nvPr/>
          </p:nvSpPr>
          <p:spPr>
            <a:xfrm>
              <a:off x="3864129"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endParaRPr lang="en-US" sz="1600" b="1" dirty="0">
                <a:solidFill>
                  <a:schemeClr val="accent2"/>
                </a:solidFill>
              </a:endParaRPr>
            </a:p>
          </p:txBody>
        </p:sp>
        <p:sp>
          <p:nvSpPr>
            <p:cNvPr id="265" name="Rectangle 264"/>
            <p:cNvSpPr>
              <a:spLocks noChangeAspect="1"/>
            </p:cNvSpPr>
            <p:nvPr/>
          </p:nvSpPr>
          <p:spPr>
            <a:xfrm>
              <a:off x="4320278"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274" name="Rectangle 273"/>
            <p:cNvSpPr>
              <a:spLocks noChangeAspect="1"/>
            </p:cNvSpPr>
            <p:nvPr/>
          </p:nvSpPr>
          <p:spPr>
            <a:xfrm>
              <a:off x="1127235"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275" name="Rectangle 274"/>
            <p:cNvSpPr>
              <a:spLocks noChangeAspect="1"/>
            </p:cNvSpPr>
            <p:nvPr/>
          </p:nvSpPr>
          <p:spPr>
            <a:xfrm>
              <a:off x="1583384"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endParaRPr lang="en-US" sz="1600" b="1" dirty="0">
                <a:solidFill>
                  <a:schemeClr val="accent6"/>
                </a:solidFill>
              </a:endParaRPr>
            </a:p>
          </p:txBody>
        </p:sp>
        <p:sp>
          <p:nvSpPr>
            <p:cNvPr id="276" name="Rectangle 275"/>
            <p:cNvSpPr>
              <a:spLocks noChangeAspect="1"/>
            </p:cNvSpPr>
            <p:nvPr/>
          </p:nvSpPr>
          <p:spPr>
            <a:xfrm>
              <a:off x="2039533"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endParaRPr lang="en-US" sz="1600" b="1" dirty="0">
                <a:solidFill>
                  <a:schemeClr val="accent2"/>
                </a:solidFill>
              </a:endParaRPr>
            </a:p>
          </p:txBody>
        </p:sp>
        <p:sp>
          <p:nvSpPr>
            <p:cNvPr id="277" name="Rectangle 276"/>
            <p:cNvSpPr>
              <a:spLocks noChangeAspect="1"/>
            </p:cNvSpPr>
            <p:nvPr/>
          </p:nvSpPr>
          <p:spPr>
            <a:xfrm>
              <a:off x="2495682" y="325667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endParaRPr lang="en-US" sz="1600" b="1" dirty="0">
                <a:solidFill>
                  <a:schemeClr val="accent4">
                    <a:lumMod val="75000"/>
                  </a:schemeClr>
                </a:solidFill>
              </a:endParaRPr>
            </a:p>
          </p:txBody>
        </p:sp>
      </p:grpSp>
      <p:grpSp>
        <p:nvGrpSpPr>
          <p:cNvPr id="6" name="Group 5"/>
          <p:cNvGrpSpPr/>
          <p:nvPr/>
        </p:nvGrpSpPr>
        <p:grpSpPr>
          <a:xfrm>
            <a:off x="5005027" y="2516471"/>
            <a:ext cx="3193043" cy="363124"/>
            <a:chOff x="5005027" y="2893551"/>
            <a:chExt cx="3193043" cy="363124"/>
          </a:xfrm>
        </p:grpSpPr>
        <p:cxnSp>
          <p:nvCxnSpPr>
            <p:cNvPr id="299" name="Straight Arrow Connector 298"/>
            <p:cNvCxnSpPr>
              <a:stCxn id="43" idx="2"/>
              <a:endCxn id="268" idx="0"/>
            </p:cNvCxnSpPr>
            <p:nvPr/>
          </p:nvCxnSpPr>
          <p:spPr>
            <a:xfrm>
              <a:off x="5005027" y="28935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0" name="Straight Arrow Connector 299"/>
            <p:cNvCxnSpPr>
              <a:stCxn id="44" idx="2"/>
              <a:endCxn id="270" idx="0"/>
            </p:cNvCxnSpPr>
            <p:nvPr/>
          </p:nvCxnSpPr>
          <p:spPr>
            <a:xfrm>
              <a:off x="5461176" y="289355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1" name="Straight Arrow Connector 300"/>
            <p:cNvCxnSpPr>
              <a:stCxn id="45" idx="2"/>
              <a:endCxn id="272" idx="0"/>
            </p:cNvCxnSpPr>
            <p:nvPr/>
          </p:nvCxnSpPr>
          <p:spPr>
            <a:xfrm>
              <a:off x="5917325" y="2893551"/>
              <a:ext cx="1824596"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2" name="Straight Arrow Connector 301"/>
            <p:cNvCxnSpPr>
              <a:stCxn id="46" idx="2"/>
              <a:endCxn id="269" idx="0"/>
            </p:cNvCxnSpPr>
            <p:nvPr/>
          </p:nvCxnSpPr>
          <p:spPr>
            <a:xfrm>
              <a:off x="6373474"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3" name="Straight Arrow Connector 302"/>
            <p:cNvCxnSpPr>
              <a:stCxn id="47" idx="2"/>
              <a:endCxn id="266" idx="0"/>
            </p:cNvCxnSpPr>
            <p:nvPr/>
          </p:nvCxnSpPr>
          <p:spPr>
            <a:xfrm flipH="1">
              <a:off x="5005027" y="2893551"/>
              <a:ext cx="1824596"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4" name="Straight Arrow Connector 303"/>
            <p:cNvCxnSpPr>
              <a:stCxn id="48" idx="2"/>
              <a:endCxn id="271" idx="0"/>
            </p:cNvCxnSpPr>
            <p:nvPr/>
          </p:nvCxnSpPr>
          <p:spPr>
            <a:xfrm>
              <a:off x="7285772"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5" name="Straight Arrow Connector 304"/>
            <p:cNvCxnSpPr>
              <a:stCxn id="49" idx="2"/>
              <a:endCxn id="273" idx="0"/>
            </p:cNvCxnSpPr>
            <p:nvPr/>
          </p:nvCxnSpPr>
          <p:spPr>
            <a:xfrm>
              <a:off x="7741921" y="289355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6" name="Straight Arrow Connector 305"/>
            <p:cNvCxnSpPr>
              <a:stCxn id="50" idx="2"/>
              <a:endCxn id="267" idx="0"/>
            </p:cNvCxnSpPr>
            <p:nvPr/>
          </p:nvCxnSpPr>
          <p:spPr>
            <a:xfrm flipH="1">
              <a:off x="5461176" y="2893551"/>
              <a:ext cx="2736894"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2" name="Group 1"/>
          <p:cNvGrpSpPr/>
          <p:nvPr/>
        </p:nvGrpSpPr>
        <p:grpSpPr>
          <a:xfrm>
            <a:off x="1355835" y="2516471"/>
            <a:ext cx="3193043" cy="363124"/>
            <a:chOff x="1355835" y="2893551"/>
            <a:chExt cx="3193043" cy="363124"/>
          </a:xfrm>
        </p:grpSpPr>
        <p:cxnSp>
          <p:nvCxnSpPr>
            <p:cNvPr id="295" name="Straight Arrow Connector 294"/>
            <p:cNvCxnSpPr>
              <a:stCxn id="39" idx="2"/>
              <a:endCxn id="265" idx="0"/>
            </p:cNvCxnSpPr>
            <p:nvPr/>
          </p:nvCxnSpPr>
          <p:spPr>
            <a:xfrm>
              <a:off x="3180431" y="289355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6" name="Straight Arrow Connector 295"/>
            <p:cNvCxnSpPr>
              <a:stCxn id="40" idx="2"/>
              <a:endCxn id="275" idx="0"/>
            </p:cNvCxnSpPr>
            <p:nvPr/>
          </p:nvCxnSpPr>
          <p:spPr>
            <a:xfrm flipH="1">
              <a:off x="1811984" y="2893551"/>
              <a:ext cx="1824596"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7" name="Straight Arrow Connector 296"/>
            <p:cNvCxnSpPr>
              <a:stCxn id="42" idx="2"/>
              <a:endCxn id="263" idx="0"/>
            </p:cNvCxnSpPr>
            <p:nvPr/>
          </p:nvCxnSpPr>
          <p:spPr>
            <a:xfrm flipH="1">
              <a:off x="3636580" y="28935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8" name="Straight Arrow Connector 297"/>
            <p:cNvCxnSpPr>
              <a:stCxn id="41" idx="2"/>
              <a:endCxn id="277" idx="0"/>
            </p:cNvCxnSpPr>
            <p:nvPr/>
          </p:nvCxnSpPr>
          <p:spPr>
            <a:xfrm flipH="1">
              <a:off x="2724282" y="289355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7" name="Straight Arrow Connector 306"/>
            <p:cNvCxnSpPr>
              <a:stCxn id="5" idx="2"/>
              <a:endCxn id="274" idx="0"/>
            </p:cNvCxnSpPr>
            <p:nvPr/>
          </p:nvCxnSpPr>
          <p:spPr>
            <a:xfrm>
              <a:off x="1355835" y="289355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8" name="Straight Arrow Connector 307"/>
            <p:cNvCxnSpPr>
              <a:stCxn id="36" idx="2"/>
              <a:endCxn id="264" idx="0"/>
            </p:cNvCxnSpPr>
            <p:nvPr/>
          </p:nvCxnSpPr>
          <p:spPr>
            <a:xfrm>
              <a:off x="1811984" y="2893551"/>
              <a:ext cx="2280745"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9" name="Straight Arrow Connector 308"/>
            <p:cNvCxnSpPr>
              <a:stCxn id="37" idx="2"/>
              <a:endCxn id="262" idx="0"/>
            </p:cNvCxnSpPr>
            <p:nvPr/>
          </p:nvCxnSpPr>
          <p:spPr>
            <a:xfrm>
              <a:off x="2268133" y="289355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0" name="Straight Arrow Connector 309"/>
            <p:cNvCxnSpPr>
              <a:endCxn id="276" idx="0"/>
            </p:cNvCxnSpPr>
            <p:nvPr/>
          </p:nvCxnSpPr>
          <p:spPr>
            <a:xfrm flipH="1">
              <a:off x="2268133" y="2893551"/>
              <a:ext cx="45509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8" name="Group 7"/>
          <p:cNvGrpSpPr/>
          <p:nvPr/>
        </p:nvGrpSpPr>
        <p:grpSpPr>
          <a:xfrm>
            <a:off x="1355835" y="3336795"/>
            <a:ext cx="6842235" cy="1924856"/>
            <a:chOff x="1355835" y="3713875"/>
            <a:chExt cx="6842235" cy="1924856"/>
          </a:xfrm>
        </p:grpSpPr>
        <p:cxnSp>
          <p:nvCxnSpPr>
            <p:cNvPr id="131" name="Straight Arrow Connector 130"/>
            <p:cNvCxnSpPr>
              <a:stCxn id="262" idx="2"/>
              <a:endCxn id="78" idx="0"/>
            </p:cNvCxnSpPr>
            <p:nvPr/>
          </p:nvCxnSpPr>
          <p:spPr>
            <a:xfrm>
              <a:off x="3180431" y="371387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263" idx="2"/>
              <a:endCxn id="79" idx="0"/>
            </p:cNvCxnSpPr>
            <p:nvPr/>
          </p:nvCxnSpPr>
          <p:spPr>
            <a:xfrm>
              <a:off x="3636580" y="371387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p:cNvCxnSpPr>
              <a:stCxn id="265" idx="2"/>
              <a:endCxn id="83" idx="0"/>
            </p:cNvCxnSpPr>
            <p:nvPr/>
          </p:nvCxnSpPr>
          <p:spPr>
            <a:xfrm>
              <a:off x="4548878" y="371387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264" idx="2"/>
              <a:endCxn id="82" idx="0"/>
            </p:cNvCxnSpPr>
            <p:nvPr/>
          </p:nvCxnSpPr>
          <p:spPr>
            <a:xfrm>
              <a:off x="4092729" y="371387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0" name="Straight Arrow Connector 149"/>
            <p:cNvCxnSpPr>
              <a:stCxn id="266" idx="2"/>
              <a:endCxn id="72" idx="0"/>
            </p:cNvCxnSpPr>
            <p:nvPr/>
          </p:nvCxnSpPr>
          <p:spPr>
            <a:xfrm flipH="1">
              <a:off x="2268133" y="371387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p:cNvCxnSpPr>
              <a:stCxn id="267" idx="2"/>
              <a:endCxn id="73" idx="0"/>
            </p:cNvCxnSpPr>
            <p:nvPr/>
          </p:nvCxnSpPr>
          <p:spPr>
            <a:xfrm flipH="1">
              <a:off x="2724282" y="371387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268" idx="2"/>
              <a:endCxn id="76" idx="0"/>
            </p:cNvCxnSpPr>
            <p:nvPr/>
          </p:nvCxnSpPr>
          <p:spPr>
            <a:xfrm flipH="1">
              <a:off x="4092729" y="371387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269" idx="2"/>
              <a:endCxn id="77" idx="0"/>
            </p:cNvCxnSpPr>
            <p:nvPr/>
          </p:nvCxnSpPr>
          <p:spPr>
            <a:xfrm flipH="1">
              <a:off x="4548878" y="371387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270" idx="2"/>
              <a:endCxn id="80" idx="0"/>
            </p:cNvCxnSpPr>
            <p:nvPr/>
          </p:nvCxnSpPr>
          <p:spPr>
            <a:xfrm flipH="1">
              <a:off x="5917325" y="371387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271" idx="2"/>
              <a:endCxn id="81" idx="0"/>
            </p:cNvCxnSpPr>
            <p:nvPr/>
          </p:nvCxnSpPr>
          <p:spPr>
            <a:xfrm flipH="1">
              <a:off x="6373474" y="371387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272" idx="2"/>
              <a:endCxn id="84" idx="0"/>
            </p:cNvCxnSpPr>
            <p:nvPr/>
          </p:nvCxnSpPr>
          <p:spPr>
            <a:xfrm>
              <a:off x="7741921" y="37138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273" idx="2"/>
              <a:endCxn id="85" idx="0"/>
            </p:cNvCxnSpPr>
            <p:nvPr/>
          </p:nvCxnSpPr>
          <p:spPr>
            <a:xfrm>
              <a:off x="8198070" y="37138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274" idx="2"/>
              <a:endCxn id="70" idx="0"/>
            </p:cNvCxnSpPr>
            <p:nvPr/>
          </p:nvCxnSpPr>
          <p:spPr>
            <a:xfrm>
              <a:off x="1355835" y="37138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275" idx="2"/>
              <a:endCxn id="71" idx="0"/>
            </p:cNvCxnSpPr>
            <p:nvPr/>
          </p:nvCxnSpPr>
          <p:spPr>
            <a:xfrm>
              <a:off x="1811984" y="371387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p:cNvCxnSpPr>
              <a:stCxn id="276" idx="2"/>
              <a:endCxn id="74" idx="0"/>
            </p:cNvCxnSpPr>
            <p:nvPr/>
          </p:nvCxnSpPr>
          <p:spPr>
            <a:xfrm>
              <a:off x="2268133" y="371387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p:cNvCxnSpPr>
              <a:stCxn id="277" idx="2"/>
              <a:endCxn id="75" idx="0"/>
            </p:cNvCxnSpPr>
            <p:nvPr/>
          </p:nvCxnSpPr>
          <p:spPr>
            <a:xfrm>
              <a:off x="2724282" y="371387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99" name="TextBox 98"/>
          <p:cNvSpPr txBox="1"/>
          <p:nvPr/>
        </p:nvSpPr>
        <p:spPr>
          <a:xfrm>
            <a:off x="3188276" y="1122594"/>
            <a:ext cx="1310696" cy="830997"/>
          </a:xfrm>
          <a:prstGeom prst="rect">
            <a:avLst/>
          </a:prstGeom>
          <a:noFill/>
        </p:spPr>
        <p:txBody>
          <a:bodyPr wrap="square" rtlCol="0">
            <a:spAutoFit/>
          </a:bodyPr>
          <a:lstStyle/>
          <a:p>
            <a:pPr algn="ctr"/>
            <a:r>
              <a:rPr lang="en-US" sz="1600" dirty="0"/>
              <a:t>Each block is responsible for more keys</a:t>
            </a:r>
          </a:p>
        </p:txBody>
      </p:sp>
    </p:spTree>
    <p:extLst>
      <p:ext uri="{BB962C8B-B14F-4D97-AF65-F5344CB8AC3E}">
        <p14:creationId xmlns:p14="http://schemas.microsoft.com/office/powerpoint/2010/main" val="4268835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500"/>
                                        <p:tgtEl>
                                          <p:spTgt spid="8"/>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69"/>
                                        </p:tgtEl>
                                        <p:attrNameLst>
                                          <p:attrName>style.visibility</p:attrName>
                                        </p:attrNameLst>
                                      </p:cBhvr>
                                      <p:to>
                                        <p:strVal val="visible"/>
                                      </p:to>
                                    </p:set>
                                    <p:animEffect transition="in" filter="fade">
                                      <p:cBhvr>
                                        <p:cTn id="29"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0" name="Straight Connector 199"/>
          <p:cNvCxnSpPr/>
          <p:nvPr/>
        </p:nvCxnSpPr>
        <p:spPr>
          <a:xfrm>
            <a:off x="4776427" y="990580"/>
            <a:ext cx="0" cy="256032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2" name="Text Placeholder 1"/>
          <p:cNvSpPr>
            <a:spLocks noGrp="1"/>
          </p:cNvSpPr>
          <p:nvPr>
            <p:ph type="body" idx="10"/>
          </p:nvPr>
        </p:nvSpPr>
        <p:spPr/>
        <p:txBody>
          <a:bodyPr/>
          <a:lstStyle/>
          <a:p>
            <a:r>
              <a:rPr lang="en-US" dirty="0"/>
              <a:t>Radix Sort with Thread Coarsening</a:t>
            </a:r>
          </a:p>
        </p:txBody>
      </p:sp>
      <p:sp>
        <p:nvSpPr>
          <p:cNvPr id="43" name="Rectangle 42"/>
          <p:cNvSpPr>
            <a:spLocks noChangeAspect="1"/>
          </p:cNvSpPr>
          <p:nvPr/>
        </p:nvSpPr>
        <p:spPr>
          <a:xfrm>
            <a:off x="4776427"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44" name="Rectangle 43"/>
          <p:cNvSpPr>
            <a:spLocks noChangeAspect="1"/>
          </p:cNvSpPr>
          <p:nvPr/>
        </p:nvSpPr>
        <p:spPr>
          <a:xfrm>
            <a:off x="5232576"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45" name="Rectangle 44"/>
          <p:cNvSpPr>
            <a:spLocks noChangeAspect="1"/>
          </p:cNvSpPr>
          <p:nvPr/>
        </p:nvSpPr>
        <p:spPr>
          <a:xfrm>
            <a:off x="5688725"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46" name="Rectangle 45"/>
          <p:cNvSpPr>
            <a:spLocks noChangeAspect="1"/>
          </p:cNvSpPr>
          <p:nvPr/>
        </p:nvSpPr>
        <p:spPr>
          <a:xfrm>
            <a:off x="6144874"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47" name="Rectangle 46"/>
          <p:cNvSpPr>
            <a:spLocks noChangeAspect="1"/>
          </p:cNvSpPr>
          <p:nvPr/>
        </p:nvSpPr>
        <p:spPr>
          <a:xfrm>
            <a:off x="6601023"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48" name="Rectangle 47"/>
          <p:cNvSpPr>
            <a:spLocks noChangeAspect="1"/>
          </p:cNvSpPr>
          <p:nvPr/>
        </p:nvSpPr>
        <p:spPr>
          <a:xfrm>
            <a:off x="7057172"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49" name="Rectangle 48"/>
          <p:cNvSpPr>
            <a:spLocks noChangeAspect="1"/>
          </p:cNvSpPr>
          <p:nvPr/>
        </p:nvSpPr>
        <p:spPr>
          <a:xfrm>
            <a:off x="7513321"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sp>
        <p:nvSpPr>
          <p:cNvPr id="50" name="Rectangle 49"/>
          <p:cNvSpPr>
            <a:spLocks noChangeAspect="1"/>
          </p:cNvSpPr>
          <p:nvPr/>
        </p:nvSpPr>
        <p:spPr>
          <a:xfrm>
            <a:off x="7969470"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72" name="Rectangle 71"/>
          <p:cNvSpPr>
            <a:spLocks noChangeAspect="1"/>
          </p:cNvSpPr>
          <p:nvPr/>
        </p:nvSpPr>
        <p:spPr>
          <a:xfrm>
            <a:off x="2039533"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p>
        </p:txBody>
      </p:sp>
      <p:sp>
        <p:nvSpPr>
          <p:cNvPr id="73" name="Rectangle 72"/>
          <p:cNvSpPr>
            <a:spLocks noChangeAspect="1"/>
          </p:cNvSpPr>
          <p:nvPr/>
        </p:nvSpPr>
        <p:spPr>
          <a:xfrm>
            <a:off x="2495682"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p>
        </p:txBody>
      </p:sp>
      <p:sp>
        <p:nvSpPr>
          <p:cNvPr id="76" name="Rectangle 75"/>
          <p:cNvSpPr>
            <a:spLocks noChangeAspect="1"/>
          </p:cNvSpPr>
          <p:nvPr/>
        </p:nvSpPr>
        <p:spPr>
          <a:xfrm>
            <a:off x="3864129"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7" name="Rectangle 76"/>
          <p:cNvSpPr>
            <a:spLocks noChangeAspect="1"/>
          </p:cNvSpPr>
          <p:nvPr/>
        </p:nvSpPr>
        <p:spPr>
          <a:xfrm>
            <a:off x="4320278"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p>
        </p:txBody>
      </p:sp>
      <p:sp>
        <p:nvSpPr>
          <p:cNvPr id="80" name="Rectangle 79"/>
          <p:cNvSpPr>
            <a:spLocks noChangeAspect="1"/>
          </p:cNvSpPr>
          <p:nvPr/>
        </p:nvSpPr>
        <p:spPr>
          <a:xfrm>
            <a:off x="5688725"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81" name="Rectangle 80"/>
          <p:cNvSpPr>
            <a:spLocks noChangeAspect="1"/>
          </p:cNvSpPr>
          <p:nvPr/>
        </p:nvSpPr>
        <p:spPr>
          <a:xfrm>
            <a:off x="6144874"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4" name="Rectangle 83"/>
          <p:cNvSpPr>
            <a:spLocks noChangeAspect="1"/>
          </p:cNvSpPr>
          <p:nvPr/>
        </p:nvSpPr>
        <p:spPr>
          <a:xfrm>
            <a:off x="7513321"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p>
        </p:txBody>
      </p:sp>
      <p:sp>
        <p:nvSpPr>
          <p:cNvPr id="85" name="Rectangle 84"/>
          <p:cNvSpPr>
            <a:spLocks noChangeAspect="1"/>
          </p:cNvSpPr>
          <p:nvPr/>
        </p:nvSpPr>
        <p:spPr>
          <a:xfrm>
            <a:off x="7969470"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grpSp>
        <p:nvGrpSpPr>
          <p:cNvPr id="221" name="Group 220"/>
          <p:cNvGrpSpPr/>
          <p:nvPr/>
        </p:nvGrpSpPr>
        <p:grpSpPr>
          <a:xfrm>
            <a:off x="4819769" y="1130729"/>
            <a:ext cx="1738603" cy="822960"/>
            <a:chOff x="2667000" y="1752600"/>
            <a:chExt cx="889511" cy="838200"/>
          </a:xfrm>
        </p:grpSpPr>
        <p:sp>
          <p:nvSpPr>
            <p:cNvPr id="222" name="Rectangle 221"/>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23" name="Freeform 222"/>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4" name="Freeform 223"/>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5" name="Freeform 224"/>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26" name="Freeform 225"/>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266" name="Rectangle 265"/>
          <p:cNvSpPr>
            <a:spLocks noChangeAspect="1"/>
          </p:cNvSpPr>
          <p:nvPr/>
        </p:nvSpPr>
        <p:spPr>
          <a:xfrm>
            <a:off x="4776427"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5"/>
                </a:solidFill>
              </a:rPr>
              <a:t>00</a:t>
            </a:r>
            <a:endParaRPr lang="en-US" sz="1600" b="1" dirty="0">
              <a:solidFill>
                <a:schemeClr val="accent6"/>
              </a:solidFill>
            </a:endParaRPr>
          </a:p>
        </p:txBody>
      </p:sp>
      <p:sp>
        <p:nvSpPr>
          <p:cNvPr id="267" name="Rectangle 266"/>
          <p:cNvSpPr>
            <a:spLocks noChangeAspect="1"/>
          </p:cNvSpPr>
          <p:nvPr/>
        </p:nvSpPr>
        <p:spPr>
          <a:xfrm>
            <a:off x="5232576"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5"/>
                </a:solidFill>
              </a:rPr>
              <a:t>00</a:t>
            </a:r>
            <a:endParaRPr lang="en-US" sz="1600" b="1" dirty="0">
              <a:solidFill>
                <a:schemeClr val="accent6"/>
              </a:solidFill>
            </a:endParaRPr>
          </a:p>
        </p:txBody>
      </p:sp>
      <p:sp>
        <p:nvSpPr>
          <p:cNvPr id="268" name="Rectangle 267"/>
          <p:cNvSpPr>
            <a:spLocks noChangeAspect="1"/>
          </p:cNvSpPr>
          <p:nvPr/>
        </p:nvSpPr>
        <p:spPr>
          <a:xfrm>
            <a:off x="5688725"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endParaRPr lang="en-US" sz="1600" b="1" dirty="0">
              <a:solidFill>
                <a:schemeClr val="accent2"/>
              </a:solidFill>
            </a:endParaRPr>
          </a:p>
        </p:txBody>
      </p:sp>
      <p:sp>
        <p:nvSpPr>
          <p:cNvPr id="269" name="Rectangle 268"/>
          <p:cNvSpPr>
            <a:spLocks noChangeAspect="1"/>
          </p:cNvSpPr>
          <p:nvPr/>
        </p:nvSpPr>
        <p:spPr>
          <a:xfrm>
            <a:off x="6144874"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6"/>
                </a:solidFill>
              </a:rPr>
              <a:t>01</a:t>
            </a:r>
            <a:endParaRPr lang="en-US" sz="1600" b="1" dirty="0">
              <a:solidFill>
                <a:schemeClr val="accent4">
                  <a:lumMod val="75000"/>
                </a:schemeClr>
              </a:solidFill>
            </a:endParaRPr>
          </a:p>
        </p:txBody>
      </p:sp>
      <p:sp>
        <p:nvSpPr>
          <p:cNvPr id="270" name="Rectangle 269"/>
          <p:cNvSpPr>
            <a:spLocks noChangeAspect="1"/>
          </p:cNvSpPr>
          <p:nvPr/>
        </p:nvSpPr>
        <p:spPr>
          <a:xfrm>
            <a:off x="6601023"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endParaRPr lang="en-US" sz="1600" b="1" dirty="0">
              <a:solidFill>
                <a:schemeClr val="accent5"/>
              </a:solidFill>
            </a:endParaRPr>
          </a:p>
        </p:txBody>
      </p:sp>
      <p:sp>
        <p:nvSpPr>
          <p:cNvPr id="271" name="Rectangle 270"/>
          <p:cNvSpPr>
            <a:spLocks noChangeAspect="1"/>
          </p:cNvSpPr>
          <p:nvPr/>
        </p:nvSpPr>
        <p:spPr>
          <a:xfrm>
            <a:off x="7057172"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endParaRPr lang="en-US" sz="1600" b="1" dirty="0">
              <a:solidFill>
                <a:schemeClr val="accent5"/>
              </a:solidFill>
            </a:endParaRPr>
          </a:p>
        </p:txBody>
      </p:sp>
      <p:sp>
        <p:nvSpPr>
          <p:cNvPr id="272" name="Rectangle 271"/>
          <p:cNvSpPr>
            <a:spLocks noChangeAspect="1"/>
          </p:cNvSpPr>
          <p:nvPr/>
        </p:nvSpPr>
        <p:spPr>
          <a:xfrm>
            <a:off x="7513321"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4">
                    <a:lumMod val="75000"/>
                  </a:schemeClr>
                </a:solidFill>
              </a:rPr>
              <a:t>11</a:t>
            </a:r>
            <a:endParaRPr lang="en-US" sz="1600" b="1" dirty="0">
              <a:solidFill>
                <a:schemeClr val="accent2"/>
              </a:solidFill>
            </a:endParaRPr>
          </a:p>
        </p:txBody>
      </p:sp>
      <p:sp>
        <p:nvSpPr>
          <p:cNvPr id="273" name="Rectangle 272"/>
          <p:cNvSpPr>
            <a:spLocks noChangeAspect="1"/>
          </p:cNvSpPr>
          <p:nvPr/>
        </p:nvSpPr>
        <p:spPr>
          <a:xfrm>
            <a:off x="7969470"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4">
                    <a:lumMod val="75000"/>
                  </a:schemeClr>
                </a:solidFill>
              </a:rPr>
              <a:t>11</a:t>
            </a:r>
          </a:p>
        </p:txBody>
      </p:sp>
      <p:cxnSp>
        <p:nvCxnSpPr>
          <p:cNvPr id="299" name="Straight Arrow Connector 298"/>
          <p:cNvCxnSpPr>
            <a:stCxn id="43" idx="2"/>
            <a:endCxn id="268" idx="0"/>
          </p:cNvCxnSpPr>
          <p:nvPr/>
        </p:nvCxnSpPr>
        <p:spPr>
          <a:xfrm>
            <a:off x="5005027"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0" name="Straight Arrow Connector 299"/>
          <p:cNvCxnSpPr>
            <a:stCxn id="44" idx="2"/>
            <a:endCxn id="270" idx="0"/>
          </p:cNvCxnSpPr>
          <p:nvPr/>
        </p:nvCxnSpPr>
        <p:spPr>
          <a:xfrm>
            <a:off x="5461176" y="251647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1" name="Straight Arrow Connector 300"/>
          <p:cNvCxnSpPr>
            <a:stCxn id="45" idx="2"/>
            <a:endCxn id="272" idx="0"/>
          </p:cNvCxnSpPr>
          <p:nvPr/>
        </p:nvCxnSpPr>
        <p:spPr>
          <a:xfrm>
            <a:off x="5917325" y="2516471"/>
            <a:ext cx="1824596"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2" name="Straight Arrow Connector 301"/>
          <p:cNvCxnSpPr>
            <a:stCxn id="46" idx="2"/>
            <a:endCxn id="269" idx="0"/>
          </p:cNvCxnSpPr>
          <p:nvPr/>
        </p:nvCxnSpPr>
        <p:spPr>
          <a:xfrm>
            <a:off x="6373474"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3" name="Straight Arrow Connector 302"/>
          <p:cNvCxnSpPr>
            <a:stCxn id="47" idx="2"/>
            <a:endCxn id="266" idx="0"/>
          </p:cNvCxnSpPr>
          <p:nvPr/>
        </p:nvCxnSpPr>
        <p:spPr>
          <a:xfrm flipH="1">
            <a:off x="5005027" y="2516471"/>
            <a:ext cx="1824596"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4" name="Straight Arrow Connector 303"/>
          <p:cNvCxnSpPr>
            <a:stCxn id="48" idx="2"/>
            <a:endCxn id="271" idx="0"/>
          </p:cNvCxnSpPr>
          <p:nvPr/>
        </p:nvCxnSpPr>
        <p:spPr>
          <a:xfrm>
            <a:off x="7285772"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5" name="Straight Arrow Connector 304"/>
          <p:cNvCxnSpPr>
            <a:stCxn id="49" idx="2"/>
            <a:endCxn id="273" idx="0"/>
          </p:cNvCxnSpPr>
          <p:nvPr/>
        </p:nvCxnSpPr>
        <p:spPr>
          <a:xfrm>
            <a:off x="7741921" y="2516471"/>
            <a:ext cx="45614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6" name="Straight Arrow Connector 305"/>
          <p:cNvCxnSpPr>
            <a:stCxn id="50" idx="2"/>
            <a:endCxn id="267" idx="0"/>
          </p:cNvCxnSpPr>
          <p:nvPr/>
        </p:nvCxnSpPr>
        <p:spPr>
          <a:xfrm flipH="1">
            <a:off x="5461176" y="2516471"/>
            <a:ext cx="2736894"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0" name="Straight Arrow Connector 149"/>
          <p:cNvCxnSpPr>
            <a:stCxn id="266" idx="2"/>
            <a:endCxn id="72" idx="0"/>
          </p:cNvCxnSpPr>
          <p:nvPr/>
        </p:nvCxnSpPr>
        <p:spPr>
          <a:xfrm flipH="1">
            <a:off x="2268133" y="333679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p:cNvCxnSpPr>
            <a:stCxn id="267" idx="2"/>
            <a:endCxn id="73" idx="0"/>
          </p:cNvCxnSpPr>
          <p:nvPr/>
        </p:nvCxnSpPr>
        <p:spPr>
          <a:xfrm flipH="1">
            <a:off x="2724282" y="3336795"/>
            <a:ext cx="2736894"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268" idx="2"/>
            <a:endCxn id="76" idx="0"/>
          </p:cNvCxnSpPr>
          <p:nvPr/>
        </p:nvCxnSpPr>
        <p:spPr>
          <a:xfrm flipH="1">
            <a:off x="4092729" y="333679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p:cNvCxnSpPr>
            <a:stCxn id="269" idx="2"/>
            <a:endCxn id="77" idx="0"/>
          </p:cNvCxnSpPr>
          <p:nvPr/>
        </p:nvCxnSpPr>
        <p:spPr>
          <a:xfrm flipH="1">
            <a:off x="4548878" y="3336795"/>
            <a:ext cx="1824596"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270" idx="2"/>
            <a:endCxn id="80" idx="0"/>
          </p:cNvCxnSpPr>
          <p:nvPr/>
        </p:nvCxnSpPr>
        <p:spPr>
          <a:xfrm flipH="1">
            <a:off x="5917325" y="333679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p:cNvCxnSpPr>
            <a:stCxn id="271" idx="2"/>
            <a:endCxn id="81" idx="0"/>
          </p:cNvCxnSpPr>
          <p:nvPr/>
        </p:nvCxnSpPr>
        <p:spPr>
          <a:xfrm flipH="1">
            <a:off x="6373474" y="3336795"/>
            <a:ext cx="912298"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272" idx="2"/>
            <a:endCxn id="84" idx="0"/>
          </p:cNvCxnSpPr>
          <p:nvPr/>
        </p:nvCxnSpPr>
        <p:spPr>
          <a:xfrm>
            <a:off x="7741921" y="333679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p:cNvCxnSpPr>
            <a:stCxn id="273" idx="2"/>
            <a:endCxn id="85" idx="0"/>
          </p:cNvCxnSpPr>
          <p:nvPr/>
        </p:nvCxnSpPr>
        <p:spPr>
          <a:xfrm>
            <a:off x="8198070" y="3336795"/>
            <a:ext cx="0" cy="1924856"/>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70" name="Rectangle 169"/>
          <p:cNvSpPr/>
          <p:nvPr/>
        </p:nvSpPr>
        <p:spPr>
          <a:xfrm>
            <a:off x="1095702" y="1014227"/>
            <a:ext cx="7386145" cy="4765653"/>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a:spLocks noChangeAspect="1"/>
          </p:cNvSpPr>
          <p:nvPr/>
        </p:nvSpPr>
        <p:spPr>
          <a:xfrm>
            <a:off x="1127235"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36" name="Rectangle 35"/>
          <p:cNvSpPr>
            <a:spLocks noChangeAspect="1"/>
          </p:cNvSpPr>
          <p:nvPr/>
        </p:nvSpPr>
        <p:spPr>
          <a:xfrm>
            <a:off x="1583384"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37" name="Rectangle 36"/>
          <p:cNvSpPr>
            <a:spLocks noChangeAspect="1"/>
          </p:cNvSpPr>
          <p:nvPr/>
        </p:nvSpPr>
        <p:spPr>
          <a:xfrm>
            <a:off x="2039533"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38" name="Rectangle 37"/>
          <p:cNvSpPr>
            <a:spLocks noChangeAspect="1"/>
          </p:cNvSpPr>
          <p:nvPr/>
        </p:nvSpPr>
        <p:spPr>
          <a:xfrm>
            <a:off x="2495682"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39" name="Rectangle 38"/>
          <p:cNvSpPr>
            <a:spLocks noChangeAspect="1"/>
          </p:cNvSpPr>
          <p:nvPr/>
        </p:nvSpPr>
        <p:spPr>
          <a:xfrm>
            <a:off x="2951831"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40" name="Rectangle 39"/>
          <p:cNvSpPr>
            <a:spLocks noChangeAspect="1"/>
          </p:cNvSpPr>
          <p:nvPr/>
        </p:nvSpPr>
        <p:spPr>
          <a:xfrm>
            <a:off x="3407980"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41" name="Rectangle 40"/>
          <p:cNvSpPr>
            <a:spLocks noChangeAspect="1"/>
          </p:cNvSpPr>
          <p:nvPr/>
        </p:nvSpPr>
        <p:spPr>
          <a:xfrm>
            <a:off x="3864129"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42" name="Rectangle 41"/>
          <p:cNvSpPr>
            <a:spLocks noChangeAspect="1"/>
          </p:cNvSpPr>
          <p:nvPr/>
        </p:nvSpPr>
        <p:spPr>
          <a:xfrm>
            <a:off x="4320278" y="205927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grpSp>
        <p:nvGrpSpPr>
          <p:cNvPr id="233" name="Group 232"/>
          <p:cNvGrpSpPr/>
          <p:nvPr/>
        </p:nvGrpSpPr>
        <p:grpSpPr>
          <a:xfrm>
            <a:off x="1169877" y="1130729"/>
            <a:ext cx="1738603" cy="822960"/>
            <a:chOff x="2667000" y="1752600"/>
            <a:chExt cx="889511" cy="838200"/>
          </a:xfrm>
        </p:grpSpPr>
        <p:sp>
          <p:nvSpPr>
            <p:cNvPr id="234" name="Rectangle 233"/>
            <p:cNvSpPr/>
            <p:nvPr/>
          </p:nvSpPr>
          <p:spPr>
            <a:xfrm>
              <a:off x="2667000" y="1752600"/>
              <a:ext cx="889511" cy="838200"/>
            </a:xfrm>
            <a:prstGeom prst="rect">
              <a:avLst/>
            </a:prstGeom>
            <a:noFill/>
            <a:ln w="28575">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5" name="Freeform 234"/>
            <p:cNvSpPr/>
            <p:nvPr/>
          </p:nvSpPr>
          <p:spPr>
            <a:xfrm>
              <a:off x="2749880"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6" name="Freeform 235"/>
            <p:cNvSpPr/>
            <p:nvPr/>
          </p:nvSpPr>
          <p:spPr>
            <a:xfrm>
              <a:off x="2971766"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7" name="Freeform 236"/>
            <p:cNvSpPr/>
            <p:nvPr/>
          </p:nvSpPr>
          <p:spPr>
            <a:xfrm>
              <a:off x="3193653"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238" name="Freeform 237"/>
            <p:cNvSpPr/>
            <p:nvPr/>
          </p:nvSpPr>
          <p:spPr>
            <a:xfrm>
              <a:off x="3415541" y="1822015"/>
              <a:ext cx="60525" cy="7315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262" name="Rectangle 261"/>
          <p:cNvSpPr>
            <a:spLocks noChangeAspect="1"/>
          </p:cNvSpPr>
          <p:nvPr/>
        </p:nvSpPr>
        <p:spPr>
          <a:xfrm>
            <a:off x="2951831"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endParaRPr lang="en-US" sz="1600" b="1" dirty="0">
              <a:solidFill>
                <a:schemeClr val="accent5"/>
              </a:solidFill>
            </a:endParaRPr>
          </a:p>
        </p:txBody>
      </p:sp>
      <p:sp>
        <p:nvSpPr>
          <p:cNvPr id="263" name="Rectangle 262"/>
          <p:cNvSpPr>
            <a:spLocks noChangeAspect="1"/>
          </p:cNvSpPr>
          <p:nvPr/>
        </p:nvSpPr>
        <p:spPr>
          <a:xfrm>
            <a:off x="3407980"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endParaRPr lang="en-US" sz="1600" b="1" dirty="0">
              <a:solidFill>
                <a:schemeClr val="accent6"/>
              </a:solidFill>
            </a:endParaRPr>
          </a:p>
        </p:txBody>
      </p:sp>
      <p:sp>
        <p:nvSpPr>
          <p:cNvPr id="264" name="Rectangle 263"/>
          <p:cNvSpPr>
            <a:spLocks noChangeAspect="1"/>
          </p:cNvSpPr>
          <p:nvPr/>
        </p:nvSpPr>
        <p:spPr>
          <a:xfrm>
            <a:off x="3864129"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endParaRPr lang="en-US" sz="1600" b="1" dirty="0">
              <a:solidFill>
                <a:schemeClr val="accent2"/>
              </a:solidFill>
            </a:endParaRPr>
          </a:p>
        </p:txBody>
      </p:sp>
      <p:sp>
        <p:nvSpPr>
          <p:cNvPr id="265" name="Rectangle 264"/>
          <p:cNvSpPr>
            <a:spLocks noChangeAspect="1"/>
          </p:cNvSpPr>
          <p:nvPr/>
        </p:nvSpPr>
        <p:spPr>
          <a:xfrm>
            <a:off x="4320278"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sp>
        <p:nvSpPr>
          <p:cNvPr id="274" name="Rectangle 273"/>
          <p:cNvSpPr>
            <a:spLocks noChangeAspect="1"/>
          </p:cNvSpPr>
          <p:nvPr/>
        </p:nvSpPr>
        <p:spPr>
          <a:xfrm>
            <a:off x="1127235"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275" name="Rectangle 274"/>
          <p:cNvSpPr>
            <a:spLocks noChangeAspect="1"/>
          </p:cNvSpPr>
          <p:nvPr/>
        </p:nvSpPr>
        <p:spPr>
          <a:xfrm>
            <a:off x="1583384"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endParaRPr lang="en-US" sz="1600" b="1" dirty="0">
              <a:solidFill>
                <a:schemeClr val="accent6"/>
              </a:solidFill>
            </a:endParaRPr>
          </a:p>
        </p:txBody>
      </p:sp>
      <p:sp>
        <p:nvSpPr>
          <p:cNvPr id="276" name="Rectangle 275"/>
          <p:cNvSpPr>
            <a:spLocks noChangeAspect="1"/>
          </p:cNvSpPr>
          <p:nvPr/>
        </p:nvSpPr>
        <p:spPr>
          <a:xfrm>
            <a:off x="2039533"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endParaRPr lang="en-US" sz="1600" b="1" dirty="0">
              <a:solidFill>
                <a:schemeClr val="accent2"/>
              </a:solidFill>
            </a:endParaRPr>
          </a:p>
        </p:txBody>
      </p:sp>
      <p:sp>
        <p:nvSpPr>
          <p:cNvPr id="277" name="Rectangle 276"/>
          <p:cNvSpPr>
            <a:spLocks noChangeAspect="1"/>
          </p:cNvSpPr>
          <p:nvPr/>
        </p:nvSpPr>
        <p:spPr>
          <a:xfrm>
            <a:off x="2495682" y="2879595"/>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endParaRPr lang="en-US" sz="1600" b="1" dirty="0">
              <a:solidFill>
                <a:schemeClr val="accent4">
                  <a:lumMod val="75000"/>
                </a:schemeClr>
              </a:solidFill>
            </a:endParaRPr>
          </a:p>
        </p:txBody>
      </p:sp>
      <p:cxnSp>
        <p:nvCxnSpPr>
          <p:cNvPr id="295" name="Straight Arrow Connector 294"/>
          <p:cNvCxnSpPr>
            <a:stCxn id="39" idx="2"/>
            <a:endCxn id="265" idx="0"/>
          </p:cNvCxnSpPr>
          <p:nvPr/>
        </p:nvCxnSpPr>
        <p:spPr>
          <a:xfrm>
            <a:off x="3180431" y="251647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6" name="Straight Arrow Connector 295"/>
          <p:cNvCxnSpPr>
            <a:stCxn id="40" idx="2"/>
            <a:endCxn id="275" idx="0"/>
          </p:cNvCxnSpPr>
          <p:nvPr/>
        </p:nvCxnSpPr>
        <p:spPr>
          <a:xfrm flipH="1">
            <a:off x="1811984" y="2516471"/>
            <a:ext cx="1824596"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7" name="Straight Arrow Connector 296"/>
          <p:cNvCxnSpPr>
            <a:stCxn id="42" idx="2"/>
            <a:endCxn id="263" idx="0"/>
          </p:cNvCxnSpPr>
          <p:nvPr/>
        </p:nvCxnSpPr>
        <p:spPr>
          <a:xfrm flipH="1">
            <a:off x="3636580"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8" name="Straight Arrow Connector 297"/>
          <p:cNvCxnSpPr>
            <a:stCxn id="41" idx="2"/>
            <a:endCxn id="277" idx="0"/>
          </p:cNvCxnSpPr>
          <p:nvPr/>
        </p:nvCxnSpPr>
        <p:spPr>
          <a:xfrm flipH="1">
            <a:off x="2724282" y="2516471"/>
            <a:ext cx="1368447"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7" name="Straight Arrow Connector 306"/>
          <p:cNvCxnSpPr>
            <a:stCxn id="5" idx="2"/>
            <a:endCxn id="274" idx="0"/>
          </p:cNvCxnSpPr>
          <p:nvPr/>
        </p:nvCxnSpPr>
        <p:spPr>
          <a:xfrm>
            <a:off x="1355835" y="2516471"/>
            <a:ext cx="0"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8" name="Straight Arrow Connector 307"/>
          <p:cNvCxnSpPr>
            <a:stCxn id="36" idx="2"/>
            <a:endCxn id="264" idx="0"/>
          </p:cNvCxnSpPr>
          <p:nvPr/>
        </p:nvCxnSpPr>
        <p:spPr>
          <a:xfrm>
            <a:off x="1811984" y="2516471"/>
            <a:ext cx="2280745"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9" name="Straight Arrow Connector 308"/>
          <p:cNvCxnSpPr>
            <a:stCxn id="37" idx="2"/>
            <a:endCxn id="262" idx="0"/>
          </p:cNvCxnSpPr>
          <p:nvPr/>
        </p:nvCxnSpPr>
        <p:spPr>
          <a:xfrm>
            <a:off x="2268133" y="2516471"/>
            <a:ext cx="912298"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0" name="Straight Arrow Connector 309"/>
          <p:cNvCxnSpPr>
            <a:endCxn id="276" idx="0"/>
          </p:cNvCxnSpPr>
          <p:nvPr/>
        </p:nvCxnSpPr>
        <p:spPr>
          <a:xfrm flipH="1">
            <a:off x="2268133" y="2516471"/>
            <a:ext cx="455099" cy="363124"/>
          </a:xfrm>
          <a:prstGeom prst="straightConnector1">
            <a:avLst/>
          </a:prstGeom>
          <a:ln w="63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0" name="Rectangle 69"/>
          <p:cNvSpPr>
            <a:spLocks noChangeAspect="1"/>
          </p:cNvSpPr>
          <p:nvPr/>
        </p:nvSpPr>
        <p:spPr>
          <a:xfrm>
            <a:off x="1127235"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5"/>
                </a:solidFill>
              </a:rPr>
              <a:t>00</a:t>
            </a:r>
          </a:p>
        </p:txBody>
      </p:sp>
      <p:sp>
        <p:nvSpPr>
          <p:cNvPr id="71" name="Rectangle 70"/>
          <p:cNvSpPr>
            <a:spLocks noChangeAspect="1"/>
          </p:cNvSpPr>
          <p:nvPr/>
        </p:nvSpPr>
        <p:spPr>
          <a:xfrm>
            <a:off x="1583384"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5"/>
                </a:solidFill>
              </a:rPr>
              <a:t>00</a:t>
            </a:r>
          </a:p>
        </p:txBody>
      </p:sp>
      <p:sp>
        <p:nvSpPr>
          <p:cNvPr id="74" name="Rectangle 73"/>
          <p:cNvSpPr>
            <a:spLocks noChangeAspect="1"/>
          </p:cNvSpPr>
          <p:nvPr/>
        </p:nvSpPr>
        <p:spPr>
          <a:xfrm>
            <a:off x="2951831"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6"/>
                </a:solidFill>
              </a:rPr>
              <a:t>01</a:t>
            </a:r>
          </a:p>
        </p:txBody>
      </p:sp>
      <p:sp>
        <p:nvSpPr>
          <p:cNvPr id="75" name="Rectangle 74"/>
          <p:cNvSpPr>
            <a:spLocks noChangeAspect="1"/>
          </p:cNvSpPr>
          <p:nvPr/>
        </p:nvSpPr>
        <p:spPr>
          <a:xfrm>
            <a:off x="3407980"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6"/>
                </a:solidFill>
              </a:rPr>
              <a:t>01</a:t>
            </a:r>
          </a:p>
        </p:txBody>
      </p:sp>
      <p:sp>
        <p:nvSpPr>
          <p:cNvPr id="78" name="Rectangle 77"/>
          <p:cNvSpPr>
            <a:spLocks noChangeAspect="1"/>
          </p:cNvSpPr>
          <p:nvPr/>
        </p:nvSpPr>
        <p:spPr>
          <a:xfrm>
            <a:off x="4776427"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01</a:t>
            </a:r>
            <a:r>
              <a:rPr lang="en-US" sz="1600" b="1" dirty="0">
                <a:solidFill>
                  <a:schemeClr val="accent2"/>
                </a:solidFill>
              </a:rPr>
              <a:t>10</a:t>
            </a:r>
          </a:p>
        </p:txBody>
      </p:sp>
      <p:sp>
        <p:nvSpPr>
          <p:cNvPr id="79" name="Rectangle 78"/>
          <p:cNvSpPr>
            <a:spLocks noChangeAspect="1"/>
          </p:cNvSpPr>
          <p:nvPr/>
        </p:nvSpPr>
        <p:spPr>
          <a:xfrm>
            <a:off x="5232576"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10</a:t>
            </a:r>
            <a:r>
              <a:rPr lang="en-US" sz="1600" b="1" dirty="0">
                <a:solidFill>
                  <a:schemeClr val="accent2"/>
                </a:solidFill>
              </a:rPr>
              <a:t>10</a:t>
            </a:r>
          </a:p>
        </p:txBody>
      </p:sp>
      <p:sp>
        <p:nvSpPr>
          <p:cNvPr id="82" name="Rectangle 81"/>
          <p:cNvSpPr>
            <a:spLocks noChangeAspect="1"/>
          </p:cNvSpPr>
          <p:nvPr/>
        </p:nvSpPr>
        <p:spPr>
          <a:xfrm>
            <a:off x="6601023"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00</a:t>
            </a:r>
            <a:r>
              <a:rPr lang="en-US" sz="1600" b="1" dirty="0">
                <a:solidFill>
                  <a:schemeClr val="accent4">
                    <a:lumMod val="75000"/>
                  </a:schemeClr>
                </a:solidFill>
              </a:rPr>
              <a:t>11</a:t>
            </a:r>
          </a:p>
        </p:txBody>
      </p:sp>
      <p:sp>
        <p:nvSpPr>
          <p:cNvPr id="83" name="Rectangle 82"/>
          <p:cNvSpPr>
            <a:spLocks noChangeAspect="1"/>
          </p:cNvSpPr>
          <p:nvPr/>
        </p:nvSpPr>
        <p:spPr>
          <a:xfrm>
            <a:off x="7057172" y="5261651"/>
            <a:ext cx="457200" cy="457200"/>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600" dirty="0">
                <a:solidFill>
                  <a:schemeClr val="tx1"/>
                </a:solidFill>
              </a:rPr>
              <a:t>11</a:t>
            </a:r>
            <a:r>
              <a:rPr lang="en-US" sz="1600" b="1" dirty="0">
                <a:solidFill>
                  <a:schemeClr val="accent4">
                    <a:lumMod val="75000"/>
                  </a:schemeClr>
                </a:solidFill>
              </a:rPr>
              <a:t>11</a:t>
            </a:r>
          </a:p>
        </p:txBody>
      </p:sp>
      <p:cxnSp>
        <p:nvCxnSpPr>
          <p:cNvPr id="131" name="Straight Arrow Connector 130"/>
          <p:cNvCxnSpPr>
            <a:stCxn id="262" idx="2"/>
            <a:endCxn id="78" idx="0"/>
          </p:cNvCxnSpPr>
          <p:nvPr/>
        </p:nvCxnSpPr>
        <p:spPr>
          <a:xfrm>
            <a:off x="3180431" y="3336795"/>
            <a:ext cx="1824596" cy="1924856"/>
          </a:xfrm>
          <a:prstGeom prst="straightConnector1">
            <a:avLst/>
          </a:prstGeom>
          <a:ln w="19050">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263" idx="2"/>
            <a:endCxn id="79" idx="0"/>
          </p:cNvCxnSpPr>
          <p:nvPr/>
        </p:nvCxnSpPr>
        <p:spPr>
          <a:xfrm>
            <a:off x="3636580" y="3336795"/>
            <a:ext cx="1824596" cy="1924856"/>
          </a:xfrm>
          <a:prstGeom prst="straightConnector1">
            <a:avLst/>
          </a:prstGeom>
          <a:ln w="19050">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p:cNvCxnSpPr>
            <a:stCxn id="265" idx="2"/>
            <a:endCxn id="83" idx="0"/>
          </p:cNvCxnSpPr>
          <p:nvPr/>
        </p:nvCxnSpPr>
        <p:spPr>
          <a:xfrm>
            <a:off x="4548878" y="3336795"/>
            <a:ext cx="2736894" cy="1924856"/>
          </a:xfrm>
          <a:prstGeom prst="straightConnector1">
            <a:avLst/>
          </a:prstGeom>
          <a:ln w="19050">
            <a:solidFill>
              <a:schemeClr val="accent4">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264" idx="2"/>
            <a:endCxn id="82" idx="0"/>
          </p:cNvCxnSpPr>
          <p:nvPr/>
        </p:nvCxnSpPr>
        <p:spPr>
          <a:xfrm>
            <a:off x="4092729" y="3336795"/>
            <a:ext cx="2736894" cy="1924856"/>
          </a:xfrm>
          <a:prstGeom prst="straightConnector1">
            <a:avLst/>
          </a:prstGeom>
          <a:ln w="19050">
            <a:solidFill>
              <a:schemeClr val="accent4">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274" idx="2"/>
            <a:endCxn id="70" idx="0"/>
          </p:cNvCxnSpPr>
          <p:nvPr/>
        </p:nvCxnSpPr>
        <p:spPr>
          <a:xfrm>
            <a:off x="1355835" y="3336795"/>
            <a:ext cx="0" cy="1924856"/>
          </a:xfrm>
          <a:prstGeom prst="straightConnector1">
            <a:avLst/>
          </a:prstGeom>
          <a:ln w="19050">
            <a:solidFill>
              <a:schemeClr val="accent5"/>
            </a:solidFill>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p:cNvCxnSpPr>
            <a:stCxn id="275" idx="2"/>
            <a:endCxn id="71" idx="0"/>
          </p:cNvCxnSpPr>
          <p:nvPr/>
        </p:nvCxnSpPr>
        <p:spPr>
          <a:xfrm>
            <a:off x="1811984" y="3336795"/>
            <a:ext cx="0" cy="1924856"/>
          </a:xfrm>
          <a:prstGeom prst="straightConnector1">
            <a:avLst/>
          </a:prstGeom>
          <a:ln w="19050">
            <a:solidFill>
              <a:schemeClr val="accent5"/>
            </a:solidFill>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p:cNvCxnSpPr>
            <a:stCxn id="276" idx="2"/>
            <a:endCxn id="74" idx="0"/>
          </p:cNvCxnSpPr>
          <p:nvPr/>
        </p:nvCxnSpPr>
        <p:spPr>
          <a:xfrm>
            <a:off x="2268133" y="3336795"/>
            <a:ext cx="912298" cy="1924856"/>
          </a:xfrm>
          <a:prstGeom prst="straightConnector1">
            <a:avLst/>
          </a:prstGeom>
          <a:ln w="19050">
            <a:solidFill>
              <a:schemeClr val="accent6"/>
            </a:solidFill>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p:cNvCxnSpPr>
            <a:stCxn id="277" idx="2"/>
            <a:endCxn id="75" idx="0"/>
          </p:cNvCxnSpPr>
          <p:nvPr/>
        </p:nvCxnSpPr>
        <p:spPr>
          <a:xfrm>
            <a:off x="2724282" y="3336795"/>
            <a:ext cx="912298" cy="1924856"/>
          </a:xfrm>
          <a:prstGeom prst="straightConnector1">
            <a:avLst/>
          </a:prstGeom>
          <a:ln w="19050">
            <a:solidFill>
              <a:schemeClr val="accent6"/>
            </a:solidFill>
            <a:tailEnd type="triangle"/>
          </a:ln>
        </p:spPr>
        <p:style>
          <a:lnRef idx="1">
            <a:schemeClr val="dk1"/>
          </a:lnRef>
          <a:fillRef idx="0">
            <a:schemeClr val="dk1"/>
          </a:fillRef>
          <a:effectRef idx="0">
            <a:schemeClr val="dk1"/>
          </a:effectRef>
          <a:fontRef idx="minor">
            <a:schemeClr val="tx1"/>
          </a:fontRef>
        </p:style>
      </p:cxnSp>
      <p:sp>
        <p:nvSpPr>
          <p:cNvPr id="178" name="TextBox 177"/>
          <p:cNvSpPr txBox="1"/>
          <p:nvPr/>
        </p:nvSpPr>
        <p:spPr>
          <a:xfrm>
            <a:off x="1757762" y="5955517"/>
            <a:ext cx="6070188" cy="338554"/>
          </a:xfrm>
          <a:prstGeom prst="rect">
            <a:avLst/>
          </a:prstGeom>
          <a:noFill/>
        </p:spPr>
        <p:txBody>
          <a:bodyPr wrap="none" rtlCol="0">
            <a:spAutoFit/>
          </a:bodyPr>
          <a:lstStyle/>
          <a:p>
            <a:pPr algn="ctr"/>
            <a:r>
              <a:rPr lang="en-US" sz="1600" dirty="0"/>
              <a:t>Having larger buckets per block exposes more coalescing opportunities</a:t>
            </a:r>
          </a:p>
        </p:txBody>
      </p:sp>
    </p:spTree>
    <p:extLst>
      <p:ext uri="{BB962C8B-B14F-4D97-AF65-F5344CB8AC3E}">
        <p14:creationId xmlns:p14="http://schemas.microsoft.com/office/powerpoint/2010/main" val="1701878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References</a:t>
            </a:r>
          </a:p>
        </p:txBody>
      </p:sp>
      <p:sp>
        <p:nvSpPr>
          <p:cNvPr id="6" name="Content Placeholder 5"/>
          <p:cNvSpPr>
            <a:spLocks noGrp="1"/>
          </p:cNvSpPr>
          <p:nvPr>
            <p:ph sz="half" idx="1"/>
          </p:nvPr>
        </p:nvSpPr>
        <p:spPr/>
        <p:txBody>
          <a:bodyPr/>
          <a:lstStyle/>
          <a:p>
            <a:r>
              <a:rPr lang="en-US" dirty="0"/>
              <a:t>Wen-</a:t>
            </a:r>
            <a:r>
              <a:rPr lang="en-US" dirty="0" err="1"/>
              <a:t>mei</a:t>
            </a:r>
            <a:r>
              <a:rPr lang="en-US" dirty="0"/>
              <a:t> W. </a:t>
            </a:r>
            <a:r>
              <a:rPr lang="en-US" dirty="0" err="1"/>
              <a:t>Hwu</a:t>
            </a:r>
            <a:r>
              <a:rPr lang="en-US" dirty="0"/>
              <a:t>, David B. Kirk, and Izzat El Hajj. </a:t>
            </a:r>
            <a:r>
              <a:rPr lang="en-US" i="1" dirty="0"/>
              <a:t>Programming Massively Parallel Processors: A Hands-on Approach</a:t>
            </a:r>
            <a:r>
              <a:rPr lang="en-US" dirty="0"/>
              <a:t>. Morgan Kaufmann, 2022.</a:t>
            </a:r>
          </a:p>
        </p:txBody>
      </p:sp>
    </p:spTree>
    <p:extLst>
      <p:ext uri="{BB962C8B-B14F-4D97-AF65-F5344CB8AC3E}">
        <p14:creationId xmlns:p14="http://schemas.microsoft.com/office/powerpoint/2010/main" val="1398226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701</TotalTime>
  <Words>3194</Words>
  <Application>Microsoft Office PowerPoint</Application>
  <PresentationFormat>On-screen Show (4:3)</PresentationFormat>
  <Paragraphs>1835</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Calibri Light</vt:lpstr>
      <vt:lpstr>Cambria Math</vt:lpstr>
      <vt:lpstr>Lucida Console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Tejasvi Waghmare (IL-IN)</dc:creator>
  <cp:lastModifiedBy>Izzat El Hajj</cp:lastModifiedBy>
  <cp:revision>130</cp:revision>
  <dcterms:created xsi:type="dcterms:W3CDTF">2022-03-30T06:33:52Z</dcterms:created>
  <dcterms:modified xsi:type="dcterms:W3CDTF">2022-11-14T12:37:11Z</dcterms:modified>
</cp:coreProperties>
</file>