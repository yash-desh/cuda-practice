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70" r:id="rId2"/>
    <p:sldId id="385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6" r:id="rId22"/>
    <p:sldId id="407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33" r:id="rId42"/>
    <p:sldId id="315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CA975-873C-42CF-81DF-BF9F6E6B2B5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80EE9-3B5D-4E1D-A688-1525118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5781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12257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326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8206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999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1081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LU</a:t>
            </a:r>
            <a:r>
              <a:rPr lang="es-ES_tradnl" baseline="0" dirty="0"/>
              <a:t> </a:t>
            </a:r>
            <a:r>
              <a:rPr lang="es-ES_tradnl" baseline="0" dirty="0" err="1"/>
              <a:t>decomposition</a:t>
            </a:r>
            <a:r>
              <a:rPr lang="es-ES_tradnl" baseline="0" dirty="0"/>
              <a:t> </a:t>
            </a:r>
            <a:r>
              <a:rPr lang="es-ES_tradnl" baseline="0" dirty="0" err="1"/>
              <a:t>is</a:t>
            </a:r>
            <a:r>
              <a:rPr lang="es-ES_tradnl" baseline="0" dirty="0"/>
              <a:t> </a:t>
            </a:r>
            <a:r>
              <a:rPr lang="es-ES_tradnl" baseline="0" dirty="0" err="1"/>
              <a:t>used</a:t>
            </a:r>
            <a:r>
              <a:rPr lang="es-ES_tradnl" baseline="0" dirty="0"/>
              <a:t> </a:t>
            </a:r>
            <a:r>
              <a:rPr lang="es-ES_tradnl" baseline="0" dirty="0" err="1"/>
              <a:t>to</a:t>
            </a:r>
            <a:r>
              <a:rPr lang="es-ES_tradnl" baseline="0" dirty="0"/>
              <a:t> </a:t>
            </a:r>
            <a:r>
              <a:rPr lang="es-ES_tradnl" baseline="0" dirty="0" err="1"/>
              <a:t>solve</a:t>
            </a:r>
            <a:r>
              <a:rPr lang="es-ES_tradnl" baseline="0" dirty="0"/>
              <a:t> </a:t>
            </a:r>
            <a:r>
              <a:rPr lang="es-ES_tradnl" baseline="0" dirty="0" err="1"/>
              <a:t>systems</a:t>
            </a:r>
            <a:r>
              <a:rPr lang="es-ES_tradnl" baseline="0" dirty="0"/>
              <a:t> of linear </a:t>
            </a:r>
            <a:r>
              <a:rPr lang="es-ES_tradnl" baseline="0" dirty="0" err="1"/>
              <a:t>equations</a:t>
            </a:r>
            <a:r>
              <a:rPr lang="es-ES_tradnl" baseline="0" dirty="0"/>
              <a:t>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6312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cudaDeviceSynchronize</a:t>
            </a:r>
            <a:r>
              <a:rPr lang="es-ES_tradnl" dirty="0"/>
              <a:t>() -&gt; </a:t>
            </a:r>
            <a:r>
              <a:rPr lang="es-ES_tradnl" dirty="0" err="1"/>
              <a:t>wait</a:t>
            </a:r>
            <a:r>
              <a:rPr lang="es-ES_tradnl" dirty="0"/>
              <a:t> </a:t>
            </a:r>
            <a:r>
              <a:rPr lang="es-ES_tradnl" dirty="0" err="1"/>
              <a:t>until</a:t>
            </a:r>
            <a:r>
              <a:rPr lang="es-ES_tradnl" dirty="0"/>
              <a:t> </a:t>
            </a:r>
            <a:r>
              <a:rPr lang="es-ES_tradnl" dirty="0" err="1"/>
              <a:t>all</a:t>
            </a:r>
            <a:r>
              <a:rPr lang="es-ES_tradnl" dirty="0"/>
              <a:t> </a:t>
            </a:r>
            <a:r>
              <a:rPr lang="es-ES_tradnl" dirty="0" err="1"/>
              <a:t>child</a:t>
            </a:r>
            <a:r>
              <a:rPr lang="es-ES_tradnl" dirty="0"/>
              <a:t> </a:t>
            </a:r>
            <a:r>
              <a:rPr lang="es-ES_tradnl" dirty="0" err="1"/>
              <a:t>kernels</a:t>
            </a:r>
            <a:r>
              <a:rPr lang="es-ES_tradnl" dirty="0"/>
              <a:t> </a:t>
            </a:r>
            <a:r>
              <a:rPr lang="es-ES_tradnl" dirty="0" err="1"/>
              <a:t>launched</a:t>
            </a:r>
            <a:r>
              <a:rPr lang="es-ES_tradnl" baseline="0" dirty="0"/>
              <a:t> </a:t>
            </a:r>
            <a:r>
              <a:rPr lang="es-ES_tradnl" baseline="0" dirty="0" err="1"/>
              <a:t>by</a:t>
            </a:r>
            <a:r>
              <a:rPr lang="es-ES_tradnl" baseline="0" dirty="0"/>
              <a:t> </a:t>
            </a:r>
            <a:r>
              <a:rPr lang="es-ES_tradnl" baseline="0" dirty="0" err="1"/>
              <a:t>any</a:t>
            </a:r>
            <a:r>
              <a:rPr lang="es-ES_tradnl" baseline="0" dirty="0"/>
              <a:t> </a:t>
            </a:r>
            <a:r>
              <a:rPr lang="es-ES_tradnl" baseline="0" dirty="0" err="1"/>
              <a:t>thread</a:t>
            </a:r>
            <a:r>
              <a:rPr lang="es-ES_tradnl" baseline="0" dirty="0"/>
              <a:t> in </a:t>
            </a:r>
            <a:r>
              <a:rPr lang="es-ES_tradnl" baseline="0" dirty="0" err="1"/>
              <a:t>the</a:t>
            </a:r>
            <a:r>
              <a:rPr lang="es-ES_tradnl" baseline="0" dirty="0"/>
              <a:t> </a:t>
            </a:r>
            <a:r>
              <a:rPr lang="es-ES_tradnl" baseline="0" dirty="0" err="1"/>
              <a:t>parent</a:t>
            </a:r>
            <a:r>
              <a:rPr lang="es-ES_tradnl" baseline="0" dirty="0"/>
              <a:t> block </a:t>
            </a:r>
            <a:r>
              <a:rPr lang="es-ES_tradnl" baseline="0" dirty="0" err="1"/>
              <a:t>completed</a:t>
            </a:r>
            <a:r>
              <a:rPr lang="es-ES_tradnl" baseline="0" dirty="0"/>
              <a:t>.</a:t>
            </a:r>
          </a:p>
          <a:p>
            <a:r>
              <a:rPr lang="es-ES_tradnl" baseline="0" dirty="0" err="1"/>
              <a:t>If</a:t>
            </a:r>
            <a:r>
              <a:rPr lang="es-ES_tradnl" baseline="0" dirty="0"/>
              <a:t> </a:t>
            </a:r>
            <a:r>
              <a:rPr lang="es-ES_tradnl" baseline="0" dirty="0" err="1"/>
              <a:t>it</a:t>
            </a:r>
            <a:r>
              <a:rPr lang="es-ES_tradnl" baseline="0" dirty="0"/>
              <a:t> </a:t>
            </a:r>
            <a:r>
              <a:rPr lang="es-ES_tradnl" baseline="0" dirty="0" err="1"/>
              <a:t>is</a:t>
            </a:r>
            <a:r>
              <a:rPr lang="es-ES_tradnl" baseline="0" dirty="0"/>
              <a:t> </a:t>
            </a:r>
            <a:r>
              <a:rPr lang="es-ES_tradnl" baseline="0" dirty="0" err="1"/>
              <a:t>not</a:t>
            </a:r>
            <a:r>
              <a:rPr lang="es-ES_tradnl" baseline="0" dirty="0"/>
              <a:t> </a:t>
            </a:r>
            <a:r>
              <a:rPr lang="es-ES_tradnl" baseline="0" dirty="0" err="1"/>
              <a:t>used</a:t>
            </a:r>
            <a:r>
              <a:rPr lang="es-ES_tradnl" baseline="0" dirty="0"/>
              <a:t>, </a:t>
            </a:r>
            <a:r>
              <a:rPr lang="es-ES_tradnl" baseline="0" dirty="0" err="1"/>
              <a:t>the</a:t>
            </a:r>
            <a:r>
              <a:rPr lang="es-ES_tradnl" baseline="0" dirty="0"/>
              <a:t> </a:t>
            </a:r>
            <a:r>
              <a:rPr lang="es-ES_tradnl" baseline="0" dirty="0" err="1"/>
              <a:t>runtime</a:t>
            </a:r>
            <a:r>
              <a:rPr lang="es-ES_tradnl" baseline="0" dirty="0"/>
              <a:t> </a:t>
            </a:r>
            <a:r>
              <a:rPr lang="es-ES_tradnl" baseline="0" dirty="0" err="1"/>
              <a:t>will</a:t>
            </a:r>
            <a:r>
              <a:rPr lang="es-ES_tradnl" baseline="0" dirty="0"/>
              <a:t> </a:t>
            </a:r>
            <a:r>
              <a:rPr lang="es-ES_tradnl" baseline="0" dirty="0" err="1"/>
              <a:t>perform</a:t>
            </a:r>
            <a:r>
              <a:rPr lang="es-ES_tradnl" baseline="0" dirty="0"/>
              <a:t> </a:t>
            </a:r>
            <a:r>
              <a:rPr lang="es-ES_tradnl" baseline="0" dirty="0" err="1"/>
              <a:t>the</a:t>
            </a:r>
            <a:r>
              <a:rPr lang="es-ES_tradnl" baseline="0" dirty="0"/>
              <a:t> </a:t>
            </a:r>
            <a:r>
              <a:rPr lang="es-ES_tradnl" baseline="0" dirty="0" err="1"/>
              <a:t>synchronization</a:t>
            </a:r>
            <a:r>
              <a:rPr lang="es-ES_tradnl" baseline="0" dirty="0"/>
              <a:t> </a:t>
            </a:r>
            <a:r>
              <a:rPr lang="es-ES_tradnl" baseline="0" dirty="0" err="1"/>
              <a:t>implicitly</a:t>
            </a:r>
            <a:r>
              <a:rPr lang="es-ES_tradnl" baseline="0" dirty="0"/>
              <a:t> </a:t>
            </a:r>
            <a:r>
              <a:rPr lang="es-ES_tradnl" baseline="0" dirty="0" err="1"/>
              <a:t>before</a:t>
            </a:r>
            <a:r>
              <a:rPr lang="es-ES_tradnl" baseline="0" dirty="0"/>
              <a:t> </a:t>
            </a:r>
            <a:r>
              <a:rPr lang="es-ES_tradnl" baseline="0" dirty="0" err="1"/>
              <a:t>the</a:t>
            </a:r>
            <a:r>
              <a:rPr lang="es-ES_tradnl" baseline="0" dirty="0"/>
              <a:t> </a:t>
            </a:r>
            <a:r>
              <a:rPr lang="es-ES_tradnl" baseline="0" dirty="0" err="1"/>
              <a:t>parent</a:t>
            </a:r>
            <a:r>
              <a:rPr lang="es-ES_tradnl" baseline="0" dirty="0"/>
              <a:t> </a:t>
            </a:r>
            <a:r>
              <a:rPr lang="es-ES_tradnl" baseline="0" dirty="0" err="1"/>
              <a:t>terminates</a:t>
            </a:r>
            <a:r>
              <a:rPr lang="es-ES_tradnl" baseline="0" dirty="0"/>
              <a:t>.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797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16458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1662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88785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6814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423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Used</a:t>
            </a:r>
            <a:r>
              <a:rPr lang="es-ES_tradnl" dirty="0"/>
              <a:t> in vector </a:t>
            </a:r>
            <a:r>
              <a:rPr lang="es-ES_tradnl" dirty="0" err="1"/>
              <a:t>graphics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generate</a:t>
            </a:r>
            <a:r>
              <a:rPr lang="es-ES_tradnl" dirty="0"/>
              <a:t> </a:t>
            </a:r>
            <a:r>
              <a:rPr lang="es-ES_tradnl" dirty="0" err="1"/>
              <a:t>smooth</a:t>
            </a:r>
            <a:r>
              <a:rPr lang="es-ES_tradnl" baseline="0" dirty="0"/>
              <a:t> curves.</a:t>
            </a:r>
            <a:endParaRPr lang="es-ES_tradnl" dirty="0"/>
          </a:p>
          <a:p>
            <a:r>
              <a:rPr lang="es-ES_tradnl" dirty="0"/>
              <a:t>Linear:</a:t>
            </a:r>
            <a:r>
              <a:rPr lang="es-ES_tradnl" baseline="0" dirty="0"/>
              <a:t> 2 puntos de control. Fórmula de interpolación lineal.</a:t>
            </a:r>
          </a:p>
          <a:p>
            <a:r>
              <a:rPr lang="es-ES_tradnl" baseline="0" dirty="0" err="1"/>
              <a:t>Quadratic</a:t>
            </a:r>
            <a:r>
              <a:rPr lang="es-ES_tradnl" baseline="0" dirty="0"/>
              <a:t>: 3 puntos de control. Interpolación lineal de P0 a P1, y de P1 a P2.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5893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4023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5967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356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6842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1030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98334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1051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9172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21</a:t>
            </a:r>
            <a:r>
              <a:rPr lang="es-ES_tradnl" baseline="0" dirty="0"/>
              <a:t> </a:t>
            </a:r>
            <a:r>
              <a:rPr lang="es-ES_tradnl" baseline="0" dirty="0" err="1"/>
              <a:t>points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949383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27102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5102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Btw</a:t>
            </a:r>
            <a:r>
              <a:rPr lang="es-ES_tradnl" dirty="0"/>
              <a:t>, </a:t>
            </a:r>
            <a:r>
              <a:rPr lang="es-ES_tradnl" dirty="0" err="1"/>
              <a:t>maximum</a:t>
            </a:r>
            <a:r>
              <a:rPr lang="es-ES_tradnl" dirty="0"/>
              <a:t> </a:t>
            </a:r>
            <a:r>
              <a:rPr lang="es-ES_tradnl" dirty="0" err="1"/>
              <a:t>nesting</a:t>
            </a:r>
            <a:r>
              <a:rPr lang="es-ES_tradnl" dirty="0"/>
              <a:t> </a:t>
            </a:r>
            <a:r>
              <a:rPr lang="es-ES_tradnl" dirty="0" err="1"/>
              <a:t>depth</a:t>
            </a:r>
            <a:r>
              <a:rPr lang="es-ES_tradnl" dirty="0"/>
              <a:t> </a:t>
            </a:r>
            <a:r>
              <a:rPr lang="es-ES_tradnl" dirty="0" err="1"/>
              <a:t>is</a:t>
            </a:r>
            <a:r>
              <a:rPr lang="es-ES_tradnl" dirty="0"/>
              <a:t> 24 in </a:t>
            </a:r>
            <a:r>
              <a:rPr lang="es-ES_tradnl" dirty="0" err="1"/>
              <a:t>current</a:t>
            </a:r>
            <a:r>
              <a:rPr lang="es-ES_tradnl" dirty="0"/>
              <a:t> </a:t>
            </a:r>
            <a:r>
              <a:rPr lang="es-ES_tradnl" dirty="0" err="1"/>
              <a:t>architectures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745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Points</a:t>
            </a:r>
            <a:r>
              <a:rPr lang="es-ES_tradnl" baseline="0" dirty="0"/>
              <a:t> in </a:t>
            </a:r>
            <a:r>
              <a:rPr lang="es-ES_tradnl" baseline="0" dirty="0" err="1"/>
              <a:t>the</a:t>
            </a:r>
            <a:r>
              <a:rPr lang="es-ES_tradnl" baseline="0" dirty="0"/>
              <a:t> </a:t>
            </a:r>
            <a:r>
              <a:rPr lang="es-ES_tradnl" baseline="0" dirty="0" err="1"/>
              <a:t>same</a:t>
            </a:r>
            <a:r>
              <a:rPr lang="es-ES_tradnl" baseline="0" dirty="0"/>
              <a:t> </a:t>
            </a:r>
            <a:r>
              <a:rPr lang="es-ES_tradnl" baseline="0" dirty="0" err="1"/>
              <a:t>quadrant</a:t>
            </a:r>
            <a:r>
              <a:rPr lang="es-ES_tradnl" baseline="0" dirty="0"/>
              <a:t> are </a:t>
            </a:r>
            <a:r>
              <a:rPr lang="es-ES_tradnl" baseline="0" dirty="0" err="1"/>
              <a:t>grouped</a:t>
            </a:r>
            <a:r>
              <a:rPr lang="es-ES_tradnl" baseline="0" dirty="0"/>
              <a:t> </a:t>
            </a:r>
            <a:r>
              <a:rPr lang="es-ES_tradnl" baseline="0" dirty="0" err="1"/>
              <a:t>together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844900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60825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3391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522504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82442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19332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32398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Don’t</a:t>
            </a:r>
            <a:r>
              <a:rPr lang="es-ES_tradnl" dirty="0"/>
              <a:t> </a:t>
            </a:r>
            <a:r>
              <a:rPr lang="es-ES_tradnl" dirty="0" err="1"/>
              <a:t>get</a:t>
            </a:r>
            <a:r>
              <a:rPr lang="es-ES_tradnl" dirty="0"/>
              <a:t> </a:t>
            </a:r>
            <a:r>
              <a:rPr lang="es-ES_tradnl" dirty="0" err="1"/>
              <a:t>confused</a:t>
            </a:r>
            <a:r>
              <a:rPr lang="es-ES_tradnl" baseline="0" dirty="0"/>
              <a:t> </a:t>
            </a:r>
            <a:r>
              <a:rPr lang="es-ES_tradnl" baseline="0" dirty="0" err="1"/>
              <a:t>with</a:t>
            </a:r>
            <a:r>
              <a:rPr lang="es-ES_tradnl" baseline="0" dirty="0"/>
              <a:t> </a:t>
            </a:r>
            <a:r>
              <a:rPr lang="es-ES_tradnl" baseline="0" dirty="0" err="1"/>
              <a:t>cudaDeviceSynchronize</a:t>
            </a:r>
            <a:r>
              <a:rPr lang="es-ES_tradnl" baseline="0" dirty="0"/>
              <a:t>() and __</a:t>
            </a:r>
            <a:r>
              <a:rPr lang="es-ES_tradnl" baseline="0" dirty="0" err="1"/>
              <a:t>syncthreads</a:t>
            </a:r>
            <a:r>
              <a:rPr lang="es-ES_tradnl" baseline="0" dirty="0"/>
              <a:t>()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92803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4562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5483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008520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4705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916809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1B4A3-416A-FE48-B898-118D75DBF39A}" type="slidenum">
              <a:rPr lang="es-ES_tradnl" smtClean="0"/>
              <a:pPr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511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BF0121-97BD-4586-A2BD-A0A269790B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CUDA Dynamic Parallelism</a:t>
            </a:r>
          </a:p>
          <a:p>
            <a:r>
              <a:rPr lang="en-US" sz="2400" dirty="0"/>
              <a:t>A simple example</a:t>
            </a:r>
          </a:p>
          <a:p>
            <a:r>
              <a:rPr lang="en-US" sz="2400" dirty="0"/>
              <a:t>A more complex example: Bezier lines</a:t>
            </a:r>
          </a:p>
          <a:p>
            <a:r>
              <a:rPr lang="en-US" dirty="0"/>
              <a:t>A recursive example: </a:t>
            </a:r>
            <a:r>
              <a:rPr lang="en-US" dirty="0" err="1"/>
              <a:t>Quadtree</a:t>
            </a:r>
            <a:endParaRPr lang="en-US" dirty="0"/>
          </a:p>
          <a:p>
            <a:r>
              <a:rPr lang="en-US" sz="2400" dirty="0"/>
              <a:t>Other cases:</a:t>
            </a:r>
          </a:p>
          <a:p>
            <a:pPr lvl="1"/>
            <a:r>
              <a:rPr lang="en-US" sz="2000" dirty="0"/>
              <a:t>Library calls</a:t>
            </a:r>
          </a:p>
          <a:p>
            <a:pPr lvl="1"/>
            <a:r>
              <a:rPr lang="en-US" sz="2000" dirty="0"/>
              <a:t>Saving kernel launches in ARM CPUs</a:t>
            </a:r>
          </a:p>
          <a:p>
            <a:r>
              <a:rPr lang="en-US" sz="2353" dirty="0"/>
              <a:t>What is and what is not dynamic parallelism</a:t>
            </a:r>
          </a:p>
          <a:p>
            <a:r>
              <a:rPr lang="en-US" sz="2353" dirty="0"/>
              <a:t>Summary</a:t>
            </a:r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</p:spTree>
    <p:extLst>
      <p:ext uri="{BB962C8B-B14F-4D97-AF65-F5344CB8AC3E}">
        <p14:creationId xmlns:p14="http://schemas.microsoft.com/office/powerpoint/2010/main" val="62643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5C1B3-7916-4BA6-9383-BF105A8F840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Device-side kernel launches</a:t>
            </a:r>
          </a:p>
          <a:p>
            <a:pPr lvl="1"/>
            <a:r>
              <a:rPr lang="en-US" sz="2000" dirty="0" err="1"/>
              <a:t>Kepler</a:t>
            </a:r>
            <a:r>
              <a:rPr lang="en-US" sz="2000" dirty="0"/>
              <a:t> GK110 architecture</a:t>
            </a:r>
          </a:p>
          <a:p>
            <a:pPr lvl="1"/>
            <a:r>
              <a:rPr lang="en-US" sz="2000" dirty="0"/>
              <a:t>Typical use cases</a:t>
            </a:r>
          </a:p>
          <a:p>
            <a:pPr lvl="2"/>
            <a:r>
              <a:rPr lang="en-US" sz="1800" dirty="0"/>
              <a:t>Dynamic load balancing</a:t>
            </a:r>
          </a:p>
          <a:p>
            <a:pPr lvl="2"/>
            <a:r>
              <a:rPr lang="en-US" sz="1800" dirty="0"/>
              <a:t>Data-dependent execution</a:t>
            </a:r>
          </a:p>
          <a:p>
            <a:pPr lvl="2"/>
            <a:r>
              <a:rPr lang="en-US" sz="1800" dirty="0"/>
              <a:t>Recursion</a:t>
            </a:r>
          </a:p>
          <a:p>
            <a:pPr lvl="2"/>
            <a:r>
              <a:rPr lang="en-US" sz="1800" dirty="0"/>
              <a:t>Library (with kernels) calls from kernels</a:t>
            </a:r>
          </a:p>
          <a:p>
            <a:pPr lvl="1"/>
            <a:r>
              <a:rPr lang="en-US" sz="2200" dirty="0"/>
              <a:t>Programmability and maintainability</a:t>
            </a:r>
          </a:p>
          <a:p>
            <a:endParaRPr lang="en-US" sz="2353" dirty="0"/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77" y="4079555"/>
            <a:ext cx="7500446" cy="21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9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AAF3E6-0E9F-4FF7-ADB0-438A4CCFA66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Fixed grid vs. dynamic grid for a turbulence simulation model</a:t>
            </a:r>
            <a:endParaRPr lang="en-US" sz="2353" dirty="0"/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grpSp>
        <p:nvGrpSpPr>
          <p:cNvPr id="4" name="Agrupar 3"/>
          <p:cNvGrpSpPr>
            <a:grpSpLocks noChangeAspect="1"/>
          </p:cNvGrpSpPr>
          <p:nvPr/>
        </p:nvGrpSpPr>
        <p:grpSpPr>
          <a:xfrm>
            <a:off x="1229293" y="1961385"/>
            <a:ext cx="6064929" cy="4320000"/>
            <a:chOff x="234237" y="625454"/>
            <a:chExt cx="8299845" cy="5911913"/>
          </a:xfrm>
        </p:grpSpPr>
        <p:pic>
          <p:nvPicPr>
            <p:cNvPr id="200" name="Picture 2" descr="C:\Users\sugupta\Desktop\Picture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861" y="2339541"/>
              <a:ext cx="2752989" cy="314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1" name="Group 194"/>
            <p:cNvGrpSpPr/>
            <p:nvPr/>
          </p:nvGrpSpPr>
          <p:grpSpPr>
            <a:xfrm>
              <a:off x="244395" y="1793853"/>
              <a:ext cx="2771913" cy="3691467"/>
              <a:chOff x="3839817" y="1866900"/>
              <a:chExt cx="3326295" cy="3352800"/>
            </a:xfrm>
          </p:grpSpPr>
          <p:sp>
            <p:nvSpPr>
              <p:cNvPr id="202" name="Rectangle 195"/>
              <p:cNvSpPr/>
              <p:nvPr/>
            </p:nvSpPr>
            <p:spPr>
              <a:xfrm>
                <a:off x="3839817" y="1866900"/>
                <a:ext cx="3322983" cy="3352800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" name="Group 196"/>
              <p:cNvGrpSpPr/>
              <p:nvPr/>
            </p:nvGrpSpPr>
            <p:grpSpPr>
              <a:xfrm>
                <a:off x="3839817" y="2314161"/>
                <a:ext cx="3326295" cy="2478156"/>
                <a:chOff x="3839817" y="2314161"/>
                <a:chExt cx="3326295" cy="2478156"/>
              </a:xfrm>
            </p:grpSpPr>
            <p:cxnSp>
              <p:nvCxnSpPr>
                <p:cNvPr id="212" name="Straight Connector 205"/>
                <p:cNvCxnSpPr/>
                <p:nvPr/>
              </p:nvCxnSpPr>
              <p:spPr>
                <a:xfrm>
                  <a:off x="3839817" y="2314161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06"/>
                <p:cNvCxnSpPr/>
                <p:nvPr/>
              </p:nvCxnSpPr>
              <p:spPr>
                <a:xfrm>
                  <a:off x="3839817" y="2721666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07"/>
                <p:cNvCxnSpPr/>
                <p:nvPr/>
              </p:nvCxnSpPr>
              <p:spPr>
                <a:xfrm>
                  <a:off x="3839817" y="3142422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08"/>
                <p:cNvCxnSpPr/>
                <p:nvPr/>
              </p:nvCxnSpPr>
              <p:spPr>
                <a:xfrm>
                  <a:off x="3839817" y="3543300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09"/>
                <p:cNvCxnSpPr/>
                <p:nvPr/>
              </p:nvCxnSpPr>
              <p:spPr>
                <a:xfrm>
                  <a:off x="3839817" y="3954117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0"/>
                <p:cNvCxnSpPr/>
                <p:nvPr/>
              </p:nvCxnSpPr>
              <p:spPr>
                <a:xfrm>
                  <a:off x="3839817" y="4371561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1"/>
                <p:cNvCxnSpPr/>
                <p:nvPr/>
              </p:nvCxnSpPr>
              <p:spPr>
                <a:xfrm>
                  <a:off x="3839817" y="4792317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197"/>
              <p:cNvGrpSpPr/>
              <p:nvPr/>
            </p:nvGrpSpPr>
            <p:grpSpPr>
              <a:xfrm rot="16200000">
                <a:off x="3849757" y="2300909"/>
                <a:ext cx="3326295" cy="2478156"/>
                <a:chOff x="3839817" y="2314161"/>
                <a:chExt cx="3326295" cy="2478156"/>
              </a:xfrm>
            </p:grpSpPr>
            <p:cxnSp>
              <p:nvCxnSpPr>
                <p:cNvPr id="205" name="Straight Connector 198"/>
                <p:cNvCxnSpPr/>
                <p:nvPr/>
              </p:nvCxnSpPr>
              <p:spPr>
                <a:xfrm>
                  <a:off x="3839817" y="2314161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199"/>
                <p:cNvCxnSpPr/>
                <p:nvPr/>
              </p:nvCxnSpPr>
              <p:spPr>
                <a:xfrm>
                  <a:off x="3839817" y="2721666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0"/>
                <p:cNvCxnSpPr/>
                <p:nvPr/>
              </p:nvCxnSpPr>
              <p:spPr>
                <a:xfrm>
                  <a:off x="3839817" y="3142422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1"/>
                <p:cNvCxnSpPr/>
                <p:nvPr/>
              </p:nvCxnSpPr>
              <p:spPr>
                <a:xfrm>
                  <a:off x="3839817" y="3543300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2"/>
                <p:cNvCxnSpPr/>
                <p:nvPr/>
              </p:nvCxnSpPr>
              <p:spPr>
                <a:xfrm>
                  <a:off x="3839817" y="3954117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3"/>
                <p:cNvCxnSpPr/>
                <p:nvPr/>
              </p:nvCxnSpPr>
              <p:spPr>
                <a:xfrm>
                  <a:off x="3839817" y="4371561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04"/>
                <p:cNvCxnSpPr/>
                <p:nvPr/>
              </p:nvCxnSpPr>
              <p:spPr>
                <a:xfrm>
                  <a:off x="3839817" y="4792317"/>
                  <a:ext cx="3326295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9" name="Group 22"/>
            <p:cNvGrpSpPr>
              <a:grpSpLocks noChangeAspect="1"/>
            </p:cNvGrpSpPr>
            <p:nvPr/>
          </p:nvGrpSpPr>
          <p:grpSpPr>
            <a:xfrm>
              <a:off x="6442582" y="625454"/>
              <a:ext cx="2091500" cy="2779244"/>
              <a:chOff x="3192561" y="1555750"/>
              <a:chExt cx="2777985" cy="2768600"/>
            </a:xfrm>
          </p:grpSpPr>
          <p:pic>
            <p:nvPicPr>
              <p:cNvPr id="220" name="Picture 2" descr="C:\Users\sugupta\Desktop\Picture1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6511" y="1955992"/>
                <a:ext cx="2752989" cy="23574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1" name="Group 123"/>
              <p:cNvGrpSpPr/>
              <p:nvPr/>
            </p:nvGrpSpPr>
            <p:grpSpPr>
              <a:xfrm>
                <a:off x="3192561" y="1555750"/>
                <a:ext cx="2777985" cy="2768600"/>
                <a:chOff x="3197088" y="1555750"/>
                <a:chExt cx="2777985" cy="2794000"/>
              </a:xfrm>
            </p:grpSpPr>
            <p:cxnSp>
              <p:nvCxnSpPr>
                <p:cNvPr id="222" name="Straight Connector 25"/>
                <p:cNvCxnSpPr/>
                <p:nvPr/>
              </p:nvCxnSpPr>
              <p:spPr>
                <a:xfrm>
                  <a:off x="3199848" y="1928467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6"/>
                <p:cNvCxnSpPr/>
                <p:nvPr/>
              </p:nvCxnSpPr>
              <p:spPr>
                <a:xfrm>
                  <a:off x="3199848" y="2268055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7"/>
                <p:cNvCxnSpPr/>
                <p:nvPr/>
              </p:nvCxnSpPr>
              <p:spPr>
                <a:xfrm>
                  <a:off x="3199848" y="2618685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8"/>
                <p:cNvCxnSpPr/>
                <p:nvPr/>
              </p:nvCxnSpPr>
              <p:spPr>
                <a:xfrm>
                  <a:off x="3199848" y="2952750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9"/>
                <p:cNvCxnSpPr/>
                <p:nvPr/>
              </p:nvCxnSpPr>
              <p:spPr>
                <a:xfrm>
                  <a:off x="3199848" y="3295098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30"/>
                <p:cNvCxnSpPr/>
                <p:nvPr/>
              </p:nvCxnSpPr>
              <p:spPr>
                <a:xfrm>
                  <a:off x="3199848" y="3642968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31"/>
                <p:cNvCxnSpPr/>
                <p:nvPr/>
              </p:nvCxnSpPr>
              <p:spPr>
                <a:xfrm>
                  <a:off x="3199848" y="3993598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32"/>
                <p:cNvCxnSpPr/>
                <p:nvPr/>
              </p:nvCxnSpPr>
              <p:spPr>
                <a:xfrm rot="16200000">
                  <a:off x="2175566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33"/>
                <p:cNvCxnSpPr/>
                <p:nvPr/>
              </p:nvCxnSpPr>
              <p:spPr>
                <a:xfrm rot="16200000">
                  <a:off x="2515154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34"/>
                <p:cNvCxnSpPr/>
                <p:nvPr/>
              </p:nvCxnSpPr>
              <p:spPr>
                <a:xfrm rot="16200000">
                  <a:off x="2865784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35"/>
                <p:cNvCxnSpPr/>
                <p:nvPr/>
              </p:nvCxnSpPr>
              <p:spPr>
                <a:xfrm rot="16200000">
                  <a:off x="3199849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36"/>
                <p:cNvCxnSpPr/>
                <p:nvPr/>
              </p:nvCxnSpPr>
              <p:spPr>
                <a:xfrm rot="16200000">
                  <a:off x="3542196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37"/>
                <p:cNvCxnSpPr/>
                <p:nvPr/>
              </p:nvCxnSpPr>
              <p:spPr>
                <a:xfrm rot="16200000">
                  <a:off x="3890066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38"/>
                <p:cNvCxnSpPr/>
                <p:nvPr/>
              </p:nvCxnSpPr>
              <p:spPr>
                <a:xfrm rot="16200000">
                  <a:off x="4240696" y="2949989"/>
                  <a:ext cx="2771913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75000"/>
                      <a:alpha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6" name="Group 122"/>
                <p:cNvGrpSpPr/>
                <p:nvPr/>
              </p:nvGrpSpPr>
              <p:grpSpPr>
                <a:xfrm>
                  <a:off x="3197088" y="1555750"/>
                  <a:ext cx="2777985" cy="2794000"/>
                  <a:chOff x="3197088" y="1555750"/>
                  <a:chExt cx="2777985" cy="2794000"/>
                </a:xfrm>
              </p:grpSpPr>
              <p:grpSp>
                <p:nvGrpSpPr>
                  <p:cNvPr id="237" name="Group 121"/>
                  <p:cNvGrpSpPr/>
                  <p:nvPr/>
                </p:nvGrpSpPr>
                <p:grpSpPr>
                  <a:xfrm>
                    <a:off x="3197088" y="1555750"/>
                    <a:ext cx="2775571" cy="2794000"/>
                    <a:chOff x="3197088" y="1555750"/>
                    <a:chExt cx="2775571" cy="2794000"/>
                  </a:xfrm>
                </p:grpSpPr>
                <p:grpSp>
                  <p:nvGrpSpPr>
                    <p:cNvPr id="247" name="Group 109"/>
                    <p:cNvGrpSpPr/>
                    <p:nvPr/>
                  </p:nvGrpSpPr>
                  <p:grpSpPr>
                    <a:xfrm>
                      <a:off x="3197088" y="1694346"/>
                      <a:ext cx="2775571" cy="2421282"/>
                      <a:chOff x="3197088" y="1754533"/>
                      <a:chExt cx="2775571" cy="2421282"/>
                    </a:xfrm>
                  </p:grpSpPr>
                  <p:cxnSp>
                    <p:nvCxnSpPr>
                      <p:cNvPr id="268" name="Straight Connector 72"/>
                      <p:cNvCxnSpPr/>
                      <p:nvPr/>
                    </p:nvCxnSpPr>
                    <p:spPr>
                      <a:xfrm>
                        <a:off x="3197088" y="2110685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9" name="Straight Connector 73"/>
                      <p:cNvCxnSpPr/>
                      <p:nvPr/>
                    </p:nvCxnSpPr>
                    <p:spPr>
                      <a:xfrm>
                        <a:off x="3197088" y="2450273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0" name="Straight Connector 74"/>
                      <p:cNvCxnSpPr/>
                      <p:nvPr/>
                    </p:nvCxnSpPr>
                    <p:spPr>
                      <a:xfrm>
                        <a:off x="3197088" y="2800903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1" name="Straight Connector 75"/>
                      <p:cNvCxnSpPr/>
                      <p:nvPr/>
                    </p:nvCxnSpPr>
                    <p:spPr>
                      <a:xfrm>
                        <a:off x="3200746" y="3134968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2" name="Straight Connector 76"/>
                      <p:cNvCxnSpPr/>
                      <p:nvPr/>
                    </p:nvCxnSpPr>
                    <p:spPr>
                      <a:xfrm>
                        <a:off x="3197088" y="3477315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3" name="Straight Connector 77"/>
                      <p:cNvCxnSpPr/>
                      <p:nvPr/>
                    </p:nvCxnSpPr>
                    <p:spPr>
                      <a:xfrm>
                        <a:off x="3197088" y="3825185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4" name="Straight Connector 78"/>
                      <p:cNvCxnSpPr/>
                      <p:nvPr/>
                    </p:nvCxnSpPr>
                    <p:spPr>
                      <a:xfrm>
                        <a:off x="3197088" y="4175815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5" name="Straight Connector 79"/>
                      <p:cNvCxnSpPr/>
                      <p:nvPr/>
                    </p:nvCxnSpPr>
                    <p:spPr>
                      <a:xfrm>
                        <a:off x="3199848" y="1754533"/>
                        <a:ext cx="2771913" cy="0"/>
                      </a:xfrm>
                      <a:prstGeom prst="line">
                        <a:avLst/>
                      </a:prstGeom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48" name="Group 119"/>
                    <p:cNvGrpSpPr/>
                    <p:nvPr/>
                  </p:nvGrpSpPr>
                  <p:grpSpPr>
                    <a:xfrm>
                      <a:off x="3200400" y="1555750"/>
                      <a:ext cx="2769153" cy="2794000"/>
                      <a:chOff x="3199848" y="1555750"/>
                      <a:chExt cx="2769153" cy="2794000"/>
                    </a:xfrm>
                  </p:grpSpPr>
                  <p:sp>
                    <p:nvSpPr>
                      <p:cNvPr id="249" name="Rectangle 52"/>
                      <p:cNvSpPr/>
                      <p:nvPr/>
                    </p:nvSpPr>
                    <p:spPr>
                      <a:xfrm>
                        <a:off x="3199848" y="1555750"/>
                        <a:ext cx="2769153" cy="279400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bg2">
                            <a:lumMod val="75000"/>
                            <a:alpha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76197" tIns="38098" rIns="76197" bIns="38098"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250" name="Group 98"/>
                      <p:cNvGrpSpPr/>
                      <p:nvPr/>
                    </p:nvGrpSpPr>
                    <p:grpSpPr>
                      <a:xfrm>
                        <a:off x="3328503" y="1569969"/>
                        <a:ext cx="2396436" cy="2771914"/>
                        <a:chOff x="3390349" y="1564031"/>
                        <a:chExt cx="2396436" cy="2771914"/>
                      </a:xfrm>
                    </p:grpSpPr>
                    <p:cxnSp>
                      <p:nvCxnSpPr>
                        <p:cNvPr id="260" name="Straight Connector 63"/>
                        <p:cNvCxnSpPr/>
                        <p:nvPr/>
                      </p:nvCxnSpPr>
                      <p:spPr>
                        <a:xfrm rot="16200000">
                          <a:off x="200439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1" name="Straight Connector 64"/>
                        <p:cNvCxnSpPr/>
                        <p:nvPr/>
                      </p:nvCxnSpPr>
                      <p:spPr>
                        <a:xfrm rot="16200000">
                          <a:off x="2343980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2" name="Straight Connector 66"/>
                        <p:cNvCxnSpPr/>
                        <p:nvPr/>
                      </p:nvCxnSpPr>
                      <p:spPr>
                        <a:xfrm rot="16200000">
                          <a:off x="2694610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3" name="Straight Connector 67"/>
                        <p:cNvCxnSpPr/>
                        <p:nvPr/>
                      </p:nvCxnSpPr>
                      <p:spPr>
                        <a:xfrm rot="16200000">
                          <a:off x="3028675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4" name="Straight Connector 68"/>
                        <p:cNvCxnSpPr/>
                        <p:nvPr/>
                      </p:nvCxnSpPr>
                      <p:spPr>
                        <a:xfrm rot="16200000">
                          <a:off x="337102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5" name="Straight Connector 69"/>
                        <p:cNvCxnSpPr/>
                        <p:nvPr/>
                      </p:nvCxnSpPr>
                      <p:spPr>
                        <a:xfrm rot="16200000">
                          <a:off x="371889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6" name="Straight Connector 70"/>
                        <p:cNvCxnSpPr/>
                        <p:nvPr/>
                      </p:nvCxnSpPr>
                      <p:spPr>
                        <a:xfrm rot="16200000">
                          <a:off x="406952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7" name="Straight Connector 71"/>
                        <p:cNvCxnSpPr/>
                        <p:nvPr/>
                      </p:nvCxnSpPr>
                      <p:spPr>
                        <a:xfrm rot="16200000">
                          <a:off x="4400828" y="2949988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1" name="Group 99"/>
                      <p:cNvGrpSpPr/>
                      <p:nvPr/>
                    </p:nvGrpSpPr>
                    <p:grpSpPr>
                      <a:xfrm>
                        <a:off x="3441147" y="1565273"/>
                        <a:ext cx="2396436" cy="2771914"/>
                        <a:chOff x="3390349" y="1564031"/>
                        <a:chExt cx="2396436" cy="2771914"/>
                      </a:xfrm>
                    </p:grpSpPr>
                    <p:cxnSp>
                      <p:nvCxnSpPr>
                        <p:cNvPr id="252" name="Straight Connector 55"/>
                        <p:cNvCxnSpPr/>
                        <p:nvPr/>
                      </p:nvCxnSpPr>
                      <p:spPr>
                        <a:xfrm rot="16200000">
                          <a:off x="200439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3" name="Straight Connector 56"/>
                        <p:cNvCxnSpPr/>
                        <p:nvPr/>
                      </p:nvCxnSpPr>
                      <p:spPr>
                        <a:xfrm rot="16200000">
                          <a:off x="2343980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4" name="Straight Connector 57"/>
                        <p:cNvCxnSpPr/>
                        <p:nvPr/>
                      </p:nvCxnSpPr>
                      <p:spPr>
                        <a:xfrm rot="16200000">
                          <a:off x="2694610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5" name="Straight Connector 58"/>
                        <p:cNvCxnSpPr/>
                        <p:nvPr/>
                      </p:nvCxnSpPr>
                      <p:spPr>
                        <a:xfrm rot="16200000">
                          <a:off x="3028675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6" name="Straight Connector 59"/>
                        <p:cNvCxnSpPr/>
                        <p:nvPr/>
                      </p:nvCxnSpPr>
                      <p:spPr>
                        <a:xfrm rot="16200000">
                          <a:off x="337102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7" name="Straight Connector 60"/>
                        <p:cNvCxnSpPr/>
                        <p:nvPr/>
                      </p:nvCxnSpPr>
                      <p:spPr>
                        <a:xfrm rot="16200000">
                          <a:off x="371889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8" name="Straight Connector 61"/>
                        <p:cNvCxnSpPr/>
                        <p:nvPr/>
                      </p:nvCxnSpPr>
                      <p:spPr>
                        <a:xfrm rot="16200000">
                          <a:off x="4069522" y="2949989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9" name="Straight Connector 62"/>
                        <p:cNvCxnSpPr/>
                        <p:nvPr/>
                      </p:nvCxnSpPr>
                      <p:spPr>
                        <a:xfrm rot="16200000">
                          <a:off x="4400828" y="2949988"/>
                          <a:ext cx="2771913" cy="0"/>
                        </a:xfrm>
                        <a:prstGeom prst="line">
                          <a:avLst/>
                        </a:prstGeom>
                        <a:ln w="6350">
                          <a:solidFill>
                            <a:schemeClr val="bg2">
                              <a:lumMod val="75000"/>
                              <a:alpha val="75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grpSp>
                <p:nvGrpSpPr>
                  <p:cNvPr id="238" name="Group 110"/>
                  <p:cNvGrpSpPr/>
                  <p:nvPr/>
                </p:nvGrpSpPr>
                <p:grpSpPr>
                  <a:xfrm>
                    <a:off x="3200400" y="1809750"/>
                    <a:ext cx="2774673" cy="2421282"/>
                    <a:chOff x="3197088" y="1754533"/>
                    <a:chExt cx="2774673" cy="2421282"/>
                  </a:xfrm>
                </p:grpSpPr>
                <p:cxnSp>
                  <p:nvCxnSpPr>
                    <p:cNvPr id="239" name="Straight Connector 42"/>
                    <p:cNvCxnSpPr/>
                    <p:nvPr/>
                  </p:nvCxnSpPr>
                  <p:spPr>
                    <a:xfrm>
                      <a:off x="3197088" y="2110685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0" name="Straight Connector 43"/>
                    <p:cNvCxnSpPr/>
                    <p:nvPr/>
                  </p:nvCxnSpPr>
                  <p:spPr>
                    <a:xfrm>
                      <a:off x="3197088" y="2450273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1" name="Straight Connector 44"/>
                    <p:cNvCxnSpPr/>
                    <p:nvPr/>
                  </p:nvCxnSpPr>
                  <p:spPr>
                    <a:xfrm>
                      <a:off x="3197088" y="2800903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2" name="Straight Connector 45"/>
                    <p:cNvCxnSpPr/>
                    <p:nvPr/>
                  </p:nvCxnSpPr>
                  <p:spPr>
                    <a:xfrm>
                      <a:off x="3197088" y="3134968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3" name="Straight Connector 46"/>
                    <p:cNvCxnSpPr/>
                    <p:nvPr/>
                  </p:nvCxnSpPr>
                  <p:spPr>
                    <a:xfrm>
                      <a:off x="3197088" y="3477315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" name="Straight Connector 47"/>
                    <p:cNvCxnSpPr/>
                    <p:nvPr/>
                  </p:nvCxnSpPr>
                  <p:spPr>
                    <a:xfrm>
                      <a:off x="3197088" y="3825185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" name="Straight Connector 48"/>
                    <p:cNvCxnSpPr/>
                    <p:nvPr/>
                  </p:nvCxnSpPr>
                  <p:spPr>
                    <a:xfrm>
                      <a:off x="3197088" y="4175815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6" name="Straight Connector 49"/>
                    <p:cNvCxnSpPr/>
                    <p:nvPr/>
                  </p:nvCxnSpPr>
                  <p:spPr>
                    <a:xfrm>
                      <a:off x="3199848" y="1754533"/>
                      <a:ext cx="2771913" cy="0"/>
                    </a:xfrm>
                    <a:prstGeom prst="line">
                      <a:avLst/>
                    </a:prstGeom>
                    <a:ln w="6350">
                      <a:solidFill>
                        <a:schemeClr val="bg2">
                          <a:lumMod val="75000"/>
                          <a:alpha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sp>
          <p:nvSpPr>
            <p:cNvPr id="276" name="Title 1"/>
            <p:cNvSpPr txBox="1">
              <a:spLocks/>
            </p:cNvSpPr>
            <p:nvPr/>
          </p:nvSpPr>
          <p:spPr bwMode="auto">
            <a:xfrm>
              <a:off x="234237" y="5490531"/>
              <a:ext cx="2771913" cy="256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76119" tIns="38055" rIns="76119" bIns="38055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600" b="1">
                  <a:solidFill>
                    <a:srgbClr val="73B900"/>
                  </a:solidFill>
                  <a:latin typeface="Trebuchet MS" pitchFamily="34" charset="0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300" b="0" i="1">
                  <a:solidFill>
                    <a:schemeClr val="tx1"/>
                  </a:solidFill>
                </a:rPr>
                <a:t>Initial Grid</a:t>
              </a:r>
              <a:endParaRPr lang="en-US" sz="1300" b="0" i="1" dirty="0">
                <a:solidFill>
                  <a:schemeClr val="tx1"/>
                </a:solidFill>
              </a:endParaRPr>
            </a:p>
          </p:txBody>
        </p:sp>
        <p:grpSp>
          <p:nvGrpSpPr>
            <p:cNvPr id="277" name="Group 129"/>
            <p:cNvGrpSpPr>
              <a:grpSpLocks noChangeAspect="1"/>
            </p:cNvGrpSpPr>
            <p:nvPr/>
          </p:nvGrpSpPr>
          <p:grpSpPr>
            <a:xfrm>
              <a:off x="6442583" y="3758120"/>
              <a:ext cx="2083647" cy="2779247"/>
              <a:chOff x="7360853" y="1623060"/>
              <a:chExt cx="3321065" cy="3322322"/>
            </a:xfrm>
          </p:grpSpPr>
          <p:pic>
            <p:nvPicPr>
              <p:cNvPr id="278" name="Picture 2" descr="C:\Users\sugupta\Desktop\Picture1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70293" y="2114179"/>
                <a:ext cx="3303587" cy="2828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9" name="Rectangle 84"/>
              <p:cNvSpPr/>
              <p:nvPr/>
            </p:nvSpPr>
            <p:spPr>
              <a:xfrm>
                <a:off x="7362243" y="1623060"/>
                <a:ext cx="3313069" cy="3322320"/>
              </a:xfrm>
              <a:prstGeom prst="rect">
                <a:avLst/>
              </a:prstGeom>
              <a:noFill/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28" tIns="54864" rIns="109728" bIns="54864"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0" name="Straight Connector 85"/>
              <p:cNvCxnSpPr/>
              <p:nvPr/>
            </p:nvCxnSpPr>
            <p:spPr>
              <a:xfrm>
                <a:off x="9842915" y="2076103"/>
                <a:ext cx="835699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86"/>
              <p:cNvCxnSpPr/>
              <p:nvPr/>
            </p:nvCxnSpPr>
            <p:spPr>
              <a:xfrm>
                <a:off x="7365219" y="2452336"/>
                <a:ext cx="3304148" cy="1304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87"/>
              <p:cNvCxnSpPr/>
              <p:nvPr/>
            </p:nvCxnSpPr>
            <p:spPr>
              <a:xfrm>
                <a:off x="7362243" y="2886986"/>
                <a:ext cx="3316372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88"/>
              <p:cNvCxnSpPr/>
              <p:nvPr/>
            </p:nvCxnSpPr>
            <p:spPr>
              <a:xfrm>
                <a:off x="7362243" y="3284220"/>
                <a:ext cx="3316372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89"/>
              <p:cNvCxnSpPr/>
              <p:nvPr/>
            </p:nvCxnSpPr>
            <p:spPr>
              <a:xfrm>
                <a:off x="7362243" y="3691302"/>
                <a:ext cx="3316372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90"/>
              <p:cNvCxnSpPr/>
              <p:nvPr/>
            </p:nvCxnSpPr>
            <p:spPr>
              <a:xfrm flipV="1">
                <a:off x="7801562" y="2452336"/>
                <a:ext cx="0" cy="1652616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91"/>
              <p:cNvCxnSpPr/>
              <p:nvPr/>
            </p:nvCxnSpPr>
            <p:spPr>
              <a:xfrm flipH="1" flipV="1">
                <a:off x="8207190" y="1623060"/>
                <a:ext cx="664" cy="332232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92"/>
              <p:cNvCxnSpPr/>
              <p:nvPr/>
            </p:nvCxnSpPr>
            <p:spPr>
              <a:xfrm flipH="1" flipV="1">
                <a:off x="8620747" y="2453641"/>
                <a:ext cx="2" cy="1661161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93"/>
              <p:cNvCxnSpPr>
                <a:endCxn id="279" idx="0"/>
              </p:cNvCxnSpPr>
              <p:nvPr/>
            </p:nvCxnSpPr>
            <p:spPr>
              <a:xfrm flipV="1">
                <a:off x="9015495" y="1623061"/>
                <a:ext cx="3284" cy="3322321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94"/>
              <p:cNvCxnSpPr/>
              <p:nvPr/>
            </p:nvCxnSpPr>
            <p:spPr>
              <a:xfrm flipH="1" flipV="1">
                <a:off x="9430021" y="2453640"/>
                <a:ext cx="2" cy="1651313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95"/>
              <p:cNvCxnSpPr/>
              <p:nvPr/>
            </p:nvCxnSpPr>
            <p:spPr>
              <a:xfrm flipV="1">
                <a:off x="9842916" y="1623060"/>
                <a:ext cx="8600" cy="332232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96"/>
              <p:cNvCxnSpPr/>
              <p:nvPr/>
            </p:nvCxnSpPr>
            <p:spPr>
              <a:xfrm flipH="1" flipV="1">
                <a:off x="10265722" y="2066256"/>
                <a:ext cx="2" cy="2455628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97"/>
              <p:cNvCxnSpPr/>
              <p:nvPr/>
            </p:nvCxnSpPr>
            <p:spPr>
              <a:xfrm>
                <a:off x="7362243" y="3097093"/>
                <a:ext cx="3316372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98"/>
              <p:cNvCxnSpPr/>
              <p:nvPr/>
            </p:nvCxnSpPr>
            <p:spPr>
              <a:xfrm>
                <a:off x="7372151" y="3500893"/>
                <a:ext cx="3297215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99"/>
              <p:cNvCxnSpPr/>
              <p:nvPr/>
            </p:nvCxnSpPr>
            <p:spPr>
              <a:xfrm flipV="1">
                <a:off x="8620747" y="2678520"/>
                <a:ext cx="2048618" cy="1642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100"/>
              <p:cNvCxnSpPr/>
              <p:nvPr/>
            </p:nvCxnSpPr>
            <p:spPr>
              <a:xfrm>
                <a:off x="9842915" y="4521882"/>
                <a:ext cx="835699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101"/>
              <p:cNvCxnSpPr/>
              <p:nvPr/>
            </p:nvCxnSpPr>
            <p:spPr>
              <a:xfrm>
                <a:off x="7378762" y="4104950"/>
                <a:ext cx="3289944" cy="985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102"/>
              <p:cNvCxnSpPr/>
              <p:nvPr/>
            </p:nvCxnSpPr>
            <p:spPr>
              <a:xfrm>
                <a:off x="8620750" y="3907976"/>
                <a:ext cx="2061168" cy="1643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103"/>
              <p:cNvCxnSpPr/>
              <p:nvPr/>
            </p:nvCxnSpPr>
            <p:spPr>
              <a:xfrm flipH="1" flipV="1">
                <a:off x="7580251" y="2886986"/>
                <a:ext cx="2" cy="804317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104"/>
              <p:cNvCxnSpPr/>
              <p:nvPr/>
            </p:nvCxnSpPr>
            <p:spPr>
              <a:xfrm flipV="1">
                <a:off x="7986542" y="2886988"/>
                <a:ext cx="0" cy="804316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105"/>
              <p:cNvCxnSpPr/>
              <p:nvPr/>
            </p:nvCxnSpPr>
            <p:spPr>
              <a:xfrm flipV="1">
                <a:off x="8406042" y="2886988"/>
                <a:ext cx="0" cy="804316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106"/>
              <p:cNvCxnSpPr/>
              <p:nvPr/>
            </p:nvCxnSpPr>
            <p:spPr>
              <a:xfrm flipV="1">
                <a:off x="8805726" y="2452335"/>
                <a:ext cx="0" cy="1662466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107"/>
              <p:cNvCxnSpPr/>
              <p:nvPr/>
            </p:nvCxnSpPr>
            <p:spPr>
              <a:xfrm flipH="1" flipV="1">
                <a:off x="9215316" y="2453640"/>
                <a:ext cx="2" cy="166116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108"/>
              <p:cNvCxnSpPr/>
              <p:nvPr/>
            </p:nvCxnSpPr>
            <p:spPr>
              <a:xfrm flipH="1" flipV="1">
                <a:off x="9631515" y="2453640"/>
                <a:ext cx="2" cy="166116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109"/>
              <p:cNvCxnSpPr/>
              <p:nvPr/>
            </p:nvCxnSpPr>
            <p:spPr>
              <a:xfrm flipV="1">
                <a:off x="10051018" y="2453640"/>
                <a:ext cx="0" cy="1651313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110"/>
              <p:cNvCxnSpPr/>
              <p:nvPr/>
            </p:nvCxnSpPr>
            <p:spPr>
              <a:xfrm flipV="1">
                <a:off x="10463911" y="2453640"/>
                <a:ext cx="0" cy="1661162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111"/>
              <p:cNvCxnSpPr/>
              <p:nvPr/>
            </p:nvCxnSpPr>
            <p:spPr>
              <a:xfrm flipV="1">
                <a:off x="10160179" y="2453638"/>
                <a:ext cx="0" cy="1651313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112"/>
              <p:cNvCxnSpPr/>
              <p:nvPr/>
            </p:nvCxnSpPr>
            <p:spPr>
              <a:xfrm flipV="1">
                <a:off x="10573072" y="2453638"/>
                <a:ext cx="0" cy="1661162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113"/>
              <p:cNvCxnSpPr/>
              <p:nvPr/>
            </p:nvCxnSpPr>
            <p:spPr>
              <a:xfrm flipV="1">
                <a:off x="9951920" y="2678520"/>
                <a:ext cx="0" cy="1229455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114"/>
              <p:cNvCxnSpPr/>
              <p:nvPr/>
            </p:nvCxnSpPr>
            <p:spPr>
              <a:xfrm flipV="1">
                <a:off x="10364815" y="2452336"/>
                <a:ext cx="0" cy="1661162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115"/>
              <p:cNvCxnSpPr/>
              <p:nvPr/>
            </p:nvCxnSpPr>
            <p:spPr>
              <a:xfrm>
                <a:off x="7360853" y="3392558"/>
                <a:ext cx="3313764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116"/>
              <p:cNvCxnSpPr/>
              <p:nvPr/>
            </p:nvCxnSpPr>
            <p:spPr>
              <a:xfrm>
                <a:off x="7364462" y="3197756"/>
                <a:ext cx="3289944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117"/>
              <p:cNvCxnSpPr/>
              <p:nvPr/>
            </p:nvCxnSpPr>
            <p:spPr>
              <a:xfrm>
                <a:off x="9631517" y="3005051"/>
                <a:ext cx="1043795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118"/>
              <p:cNvCxnSpPr/>
              <p:nvPr/>
            </p:nvCxnSpPr>
            <p:spPr>
              <a:xfrm>
                <a:off x="9631517" y="3597280"/>
                <a:ext cx="1032485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119"/>
              <p:cNvCxnSpPr/>
              <p:nvPr/>
            </p:nvCxnSpPr>
            <p:spPr>
              <a:xfrm>
                <a:off x="9841606" y="2788500"/>
                <a:ext cx="833706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120"/>
              <p:cNvCxnSpPr/>
              <p:nvPr/>
            </p:nvCxnSpPr>
            <p:spPr>
              <a:xfrm>
                <a:off x="9841606" y="3799640"/>
                <a:ext cx="833706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121"/>
              <p:cNvCxnSpPr/>
              <p:nvPr/>
            </p:nvCxnSpPr>
            <p:spPr>
              <a:xfrm flipV="1">
                <a:off x="9746069" y="2886987"/>
                <a:ext cx="0" cy="804316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128"/>
              <p:cNvCxnSpPr/>
              <p:nvPr/>
            </p:nvCxnSpPr>
            <p:spPr>
              <a:xfrm>
                <a:off x="10051018" y="2572408"/>
                <a:ext cx="625603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130"/>
              <p:cNvCxnSpPr/>
              <p:nvPr/>
            </p:nvCxnSpPr>
            <p:spPr>
              <a:xfrm>
                <a:off x="10055970" y="4002136"/>
                <a:ext cx="625603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131"/>
              <p:cNvCxnSpPr/>
              <p:nvPr/>
            </p:nvCxnSpPr>
            <p:spPr>
              <a:xfrm>
                <a:off x="7364478" y="3147941"/>
                <a:ext cx="3313786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132"/>
              <p:cNvCxnSpPr/>
              <p:nvPr/>
            </p:nvCxnSpPr>
            <p:spPr>
              <a:xfrm>
                <a:off x="7361941" y="3240478"/>
                <a:ext cx="3313786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136"/>
              <p:cNvCxnSpPr/>
              <p:nvPr/>
            </p:nvCxnSpPr>
            <p:spPr>
              <a:xfrm>
                <a:off x="7364777" y="3337558"/>
                <a:ext cx="3313786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137"/>
              <p:cNvCxnSpPr/>
              <p:nvPr/>
            </p:nvCxnSpPr>
            <p:spPr>
              <a:xfrm>
                <a:off x="7361615" y="3446144"/>
                <a:ext cx="3316372" cy="0"/>
              </a:xfrm>
              <a:prstGeom prst="line">
                <a:avLst/>
              </a:prstGeom>
              <a:ln w="6350">
                <a:solidFill>
                  <a:srgbClr val="00B0F0">
                    <a:alpha val="7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3" name="Right Arrow 145"/>
            <p:cNvSpPr/>
            <p:nvPr/>
          </p:nvSpPr>
          <p:spPr>
            <a:xfrm>
              <a:off x="3267582" y="1810787"/>
              <a:ext cx="2857500" cy="1185333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6000">
                  <a:schemeClr val="bg2">
                    <a:lumMod val="75000"/>
                    <a:alpha val="50000"/>
                  </a:schemeClr>
                </a:gs>
                <a:gs pos="99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197" tIns="38098" rIns="76197" bIns="38098" rtlCol="0" anchor="ctr"/>
            <a:lstStyle/>
            <a:p>
              <a:pPr algn="ctr"/>
              <a:r>
                <a:rPr lang="en-US" sz="1300" i="1" dirty="0">
                  <a:solidFill>
                    <a:schemeClr val="tx1"/>
                  </a:solidFill>
                </a:rPr>
                <a:t>Statically assign conservative worst-case grid</a:t>
              </a:r>
            </a:p>
          </p:txBody>
        </p:sp>
        <p:sp>
          <p:nvSpPr>
            <p:cNvPr id="324" name="Right Arrow 146"/>
            <p:cNvSpPr/>
            <p:nvPr/>
          </p:nvSpPr>
          <p:spPr>
            <a:xfrm>
              <a:off x="3267582" y="4266120"/>
              <a:ext cx="2857500" cy="1185333"/>
            </a:xfrm>
            <a:prstGeom prst="rightArrow">
              <a:avLst/>
            </a:prstGeom>
            <a:gradFill flip="none" rotWithShape="1">
              <a:gsLst>
                <a:gs pos="0">
                  <a:schemeClr val="bg2">
                    <a:lumMod val="75000"/>
                    <a:tint val="66000"/>
                    <a:satMod val="160000"/>
                  </a:schemeClr>
                </a:gs>
                <a:gs pos="50000">
                  <a:schemeClr val="bg2">
                    <a:lumMod val="75000"/>
                    <a:tint val="44500"/>
                    <a:satMod val="160000"/>
                  </a:schemeClr>
                </a:gs>
                <a:gs pos="100000">
                  <a:schemeClr val="bg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197" tIns="38098" rIns="76197" bIns="38098" rtlCol="0" anchor="ctr"/>
            <a:lstStyle/>
            <a:p>
              <a:pPr algn="ctr"/>
              <a:r>
                <a:rPr lang="en-US" sz="1300" i="1" dirty="0">
                  <a:solidFill>
                    <a:schemeClr val="tx1"/>
                  </a:solidFill>
                </a:rPr>
                <a:t>Dynamically assign performance where accuracy is required</a:t>
              </a:r>
            </a:p>
          </p:txBody>
        </p:sp>
        <p:sp>
          <p:nvSpPr>
            <p:cNvPr id="325" name="Title 1"/>
            <p:cNvSpPr txBox="1">
              <a:spLocks/>
            </p:cNvSpPr>
            <p:nvPr/>
          </p:nvSpPr>
          <p:spPr bwMode="auto">
            <a:xfrm>
              <a:off x="6482613" y="3858270"/>
              <a:ext cx="2032000" cy="215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76119" tIns="38055" rIns="76119" bIns="38055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600" b="1">
                  <a:solidFill>
                    <a:srgbClr val="73B900"/>
                  </a:solidFill>
                  <a:latin typeface="Trebuchet MS" pitchFamily="34" charset="0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Dynamic Grid</a:t>
              </a:r>
            </a:p>
          </p:txBody>
        </p:sp>
        <p:sp>
          <p:nvSpPr>
            <p:cNvPr id="326" name="Title 1"/>
            <p:cNvSpPr txBox="1">
              <a:spLocks/>
            </p:cNvSpPr>
            <p:nvPr/>
          </p:nvSpPr>
          <p:spPr bwMode="auto">
            <a:xfrm>
              <a:off x="6455294" y="633693"/>
              <a:ext cx="2032000" cy="215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76119" tIns="38055" rIns="76119" bIns="38055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600" b="1">
                  <a:solidFill>
                    <a:srgbClr val="73B900"/>
                  </a:solidFill>
                  <a:latin typeface="Trebuchet MS" pitchFamily="34" charset="0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73B900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Fixed Grid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138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90B78-820B-4F89-8A2D-AC9B02A39F2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CPU-GPU without and with dynamic parallelism</a:t>
            </a:r>
            <a:endParaRPr lang="en-US" sz="2353" dirty="0"/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sp>
        <p:nvSpPr>
          <p:cNvPr id="7" name="TextBox 311"/>
          <p:cNvSpPr txBox="1"/>
          <p:nvPr/>
        </p:nvSpPr>
        <p:spPr>
          <a:xfrm>
            <a:off x="592402" y="1641122"/>
            <a:ext cx="634638" cy="384636"/>
          </a:xfrm>
          <a:prstGeom prst="rect">
            <a:avLst/>
          </a:prstGeom>
          <a:noFill/>
        </p:spPr>
        <p:txBody>
          <a:bodyPr wrap="none" lIns="76125" tIns="38058" rIns="76125" bIns="38058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Trebuchet MS" pitchFamily="34" charset="0"/>
              </a:rPr>
              <a:t>CPU</a:t>
            </a:r>
          </a:p>
        </p:txBody>
      </p:sp>
      <p:sp>
        <p:nvSpPr>
          <p:cNvPr id="9" name="TextBox 313"/>
          <p:cNvSpPr txBox="1"/>
          <p:nvPr/>
        </p:nvSpPr>
        <p:spPr>
          <a:xfrm>
            <a:off x="2379552" y="1641122"/>
            <a:ext cx="649065" cy="384636"/>
          </a:xfrm>
          <a:prstGeom prst="rect">
            <a:avLst/>
          </a:prstGeom>
          <a:noFill/>
        </p:spPr>
        <p:txBody>
          <a:bodyPr wrap="none" lIns="76125" tIns="38058" rIns="76125" bIns="38058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Trebuchet MS" pitchFamily="34" charset="0"/>
              </a:rPr>
              <a:t>GPU</a:t>
            </a:r>
          </a:p>
        </p:txBody>
      </p:sp>
      <p:grpSp>
        <p:nvGrpSpPr>
          <p:cNvPr id="11" name="Group 8"/>
          <p:cNvGrpSpPr/>
          <p:nvPr/>
        </p:nvGrpSpPr>
        <p:grpSpPr>
          <a:xfrm>
            <a:off x="782710" y="2158972"/>
            <a:ext cx="253973" cy="525832"/>
            <a:chOff x="1067907" y="3001206"/>
            <a:chExt cx="476655" cy="740156"/>
          </a:xfrm>
        </p:grpSpPr>
        <p:sp>
          <p:nvSpPr>
            <p:cNvPr id="12" name="Rounded Rectangle 1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569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9"/>
          <p:cNvGrpSpPr/>
          <p:nvPr/>
        </p:nvGrpSpPr>
        <p:grpSpPr>
          <a:xfrm>
            <a:off x="1872095" y="2504972"/>
            <a:ext cx="253973" cy="525832"/>
            <a:chOff x="3223553" y="3001206"/>
            <a:chExt cx="476655" cy="740156"/>
          </a:xfrm>
        </p:grpSpPr>
        <p:sp>
          <p:nvSpPr>
            <p:cNvPr id="15" name="Rounded Rectangle 568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5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7" name="Rectangle 570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571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572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573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1" name="Group 574"/>
          <p:cNvGrpSpPr/>
          <p:nvPr/>
        </p:nvGrpSpPr>
        <p:grpSpPr>
          <a:xfrm>
            <a:off x="782710" y="2864166"/>
            <a:ext cx="253973" cy="525832"/>
            <a:chOff x="1067907" y="3001206"/>
            <a:chExt cx="476655" cy="740156"/>
          </a:xfrm>
        </p:grpSpPr>
        <p:sp>
          <p:nvSpPr>
            <p:cNvPr id="22" name="Rounded Rectangle 575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576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TextBox 886"/>
          <p:cNvSpPr txBox="1"/>
          <p:nvPr/>
        </p:nvSpPr>
        <p:spPr>
          <a:xfrm>
            <a:off x="4948652" y="1641122"/>
            <a:ext cx="634638" cy="384636"/>
          </a:xfrm>
          <a:prstGeom prst="rect">
            <a:avLst/>
          </a:prstGeom>
          <a:noFill/>
        </p:spPr>
        <p:txBody>
          <a:bodyPr wrap="none" lIns="76125" tIns="38058" rIns="76125" bIns="38058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Trebuchet MS" pitchFamily="34" charset="0"/>
              </a:rPr>
              <a:t>CPU</a:t>
            </a:r>
          </a:p>
        </p:txBody>
      </p:sp>
      <p:sp>
        <p:nvSpPr>
          <p:cNvPr id="25" name="TextBox 887"/>
          <p:cNvSpPr txBox="1"/>
          <p:nvPr/>
        </p:nvSpPr>
        <p:spPr>
          <a:xfrm>
            <a:off x="6976773" y="1641122"/>
            <a:ext cx="649065" cy="384636"/>
          </a:xfrm>
          <a:prstGeom prst="rect">
            <a:avLst/>
          </a:prstGeom>
          <a:noFill/>
        </p:spPr>
        <p:txBody>
          <a:bodyPr wrap="none" lIns="76125" tIns="38058" rIns="76125" bIns="38058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Trebuchet MS" pitchFamily="34" charset="0"/>
              </a:rPr>
              <a:t>GPU</a:t>
            </a:r>
          </a:p>
        </p:txBody>
      </p:sp>
      <p:grpSp>
        <p:nvGrpSpPr>
          <p:cNvPr id="26" name="Group 888"/>
          <p:cNvGrpSpPr/>
          <p:nvPr/>
        </p:nvGrpSpPr>
        <p:grpSpPr>
          <a:xfrm>
            <a:off x="5138960" y="2158972"/>
            <a:ext cx="253973" cy="525832"/>
            <a:chOff x="1067907" y="3001206"/>
            <a:chExt cx="476655" cy="740156"/>
          </a:xfrm>
        </p:grpSpPr>
        <p:sp>
          <p:nvSpPr>
            <p:cNvPr id="27" name="Rounded Rectangle 889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890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963"/>
          <p:cNvGrpSpPr/>
          <p:nvPr/>
        </p:nvGrpSpPr>
        <p:grpSpPr>
          <a:xfrm>
            <a:off x="5138960" y="4311186"/>
            <a:ext cx="253973" cy="525832"/>
            <a:chOff x="1067907" y="3001206"/>
            <a:chExt cx="476655" cy="740156"/>
          </a:xfrm>
        </p:grpSpPr>
        <p:sp>
          <p:nvSpPr>
            <p:cNvPr id="30" name="Rounded Rectangle 964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965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2" name="Straight Arrow Connector 967"/>
          <p:cNvCxnSpPr>
            <a:stCxn id="62" idx="2"/>
            <a:endCxn id="95" idx="0"/>
          </p:cNvCxnSpPr>
          <p:nvPr/>
        </p:nvCxnSpPr>
        <p:spPr>
          <a:xfrm>
            <a:off x="8218752" y="3737250"/>
            <a:ext cx="0" cy="185368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891"/>
          <p:cNvGrpSpPr/>
          <p:nvPr/>
        </p:nvGrpSpPr>
        <p:grpSpPr>
          <a:xfrm>
            <a:off x="6256823" y="2500006"/>
            <a:ext cx="253973" cy="525832"/>
            <a:chOff x="3223553" y="3001206"/>
            <a:chExt cx="476655" cy="740156"/>
          </a:xfrm>
        </p:grpSpPr>
        <p:sp>
          <p:nvSpPr>
            <p:cNvPr id="34" name="Rounded Rectangle 892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" name="Group 893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36" name="Rectangle 894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895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Rectangle 896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897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0" name="Group 907"/>
          <p:cNvGrpSpPr/>
          <p:nvPr/>
        </p:nvGrpSpPr>
        <p:grpSpPr>
          <a:xfrm>
            <a:off x="6715560" y="3211418"/>
            <a:ext cx="253973" cy="525832"/>
            <a:chOff x="3223553" y="3001206"/>
            <a:chExt cx="476655" cy="740156"/>
          </a:xfrm>
        </p:grpSpPr>
        <p:sp>
          <p:nvSpPr>
            <p:cNvPr id="41" name="Rounded Rectangle 908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2" name="Group 909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43" name="Rectangle 910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911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912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913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7" name="Group 914"/>
          <p:cNvGrpSpPr/>
          <p:nvPr/>
        </p:nvGrpSpPr>
        <p:grpSpPr>
          <a:xfrm>
            <a:off x="6256823" y="3211418"/>
            <a:ext cx="253973" cy="525832"/>
            <a:chOff x="3223553" y="3001206"/>
            <a:chExt cx="476655" cy="740156"/>
          </a:xfrm>
        </p:grpSpPr>
        <p:sp>
          <p:nvSpPr>
            <p:cNvPr id="48" name="Rounded Rectangle 915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9" name="Group 916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50" name="Rectangle 917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 918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919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920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4" name="Group 927"/>
          <p:cNvGrpSpPr/>
          <p:nvPr/>
        </p:nvGrpSpPr>
        <p:grpSpPr>
          <a:xfrm>
            <a:off x="7174295" y="3211418"/>
            <a:ext cx="253973" cy="525832"/>
            <a:chOff x="3223553" y="3001206"/>
            <a:chExt cx="476655" cy="740156"/>
          </a:xfrm>
        </p:grpSpPr>
        <p:sp>
          <p:nvSpPr>
            <p:cNvPr id="55" name="Rounded Rectangle 928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6" name="Group 929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57" name="Rectangle 930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931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932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933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61" name="Group 944"/>
          <p:cNvGrpSpPr/>
          <p:nvPr/>
        </p:nvGrpSpPr>
        <p:grpSpPr>
          <a:xfrm>
            <a:off x="8091766" y="3211418"/>
            <a:ext cx="253973" cy="525832"/>
            <a:chOff x="3223553" y="3001206"/>
            <a:chExt cx="476655" cy="740156"/>
          </a:xfrm>
        </p:grpSpPr>
        <p:sp>
          <p:nvSpPr>
            <p:cNvPr id="62" name="Rounded Rectangle 945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3" name="Group 946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64" name="Rectangle 947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948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Rectangle 949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 950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68" name="Straight Arrow Connector 968"/>
          <p:cNvCxnSpPr>
            <a:stCxn id="34" idx="2"/>
            <a:endCxn id="48" idx="0"/>
          </p:cNvCxnSpPr>
          <p:nvPr/>
        </p:nvCxnSpPr>
        <p:spPr>
          <a:xfrm>
            <a:off x="6383810" y="3025838"/>
            <a:ext cx="0" cy="185580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540000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969"/>
          <p:cNvCxnSpPr>
            <a:stCxn id="34" idx="2"/>
            <a:endCxn id="41" idx="0"/>
          </p:cNvCxnSpPr>
          <p:nvPr/>
        </p:nvCxnSpPr>
        <p:spPr>
          <a:xfrm>
            <a:off x="6383810" y="3025838"/>
            <a:ext cx="458736" cy="185580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970"/>
          <p:cNvCxnSpPr>
            <a:stCxn id="34" idx="2"/>
            <a:endCxn id="55" idx="0"/>
          </p:cNvCxnSpPr>
          <p:nvPr/>
        </p:nvCxnSpPr>
        <p:spPr>
          <a:xfrm>
            <a:off x="6383811" y="3025838"/>
            <a:ext cx="917471" cy="185580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971"/>
          <p:cNvCxnSpPr>
            <a:stCxn id="34" idx="2"/>
            <a:endCxn id="192" idx="0"/>
          </p:cNvCxnSpPr>
          <p:nvPr/>
        </p:nvCxnSpPr>
        <p:spPr>
          <a:xfrm>
            <a:off x="6383810" y="3025838"/>
            <a:ext cx="1376206" cy="185580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972"/>
          <p:cNvCxnSpPr>
            <a:stCxn id="34" idx="2"/>
            <a:endCxn id="62" idx="0"/>
          </p:cNvCxnSpPr>
          <p:nvPr/>
        </p:nvCxnSpPr>
        <p:spPr>
          <a:xfrm>
            <a:off x="6383810" y="3025838"/>
            <a:ext cx="1834942" cy="185580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974"/>
          <p:cNvGrpSpPr/>
          <p:nvPr/>
        </p:nvGrpSpPr>
        <p:grpSpPr>
          <a:xfrm>
            <a:off x="6507765" y="3922618"/>
            <a:ext cx="253973" cy="525832"/>
            <a:chOff x="3223553" y="3001206"/>
            <a:chExt cx="476655" cy="740156"/>
          </a:xfrm>
        </p:grpSpPr>
        <p:sp>
          <p:nvSpPr>
            <p:cNvPr id="74" name="Rounded Rectangle 1003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5" name="Group 1004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76" name="Rectangle 1005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1006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1007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1008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0" name="Group 976"/>
          <p:cNvGrpSpPr/>
          <p:nvPr/>
        </p:nvGrpSpPr>
        <p:grpSpPr>
          <a:xfrm>
            <a:off x="6966500" y="3922618"/>
            <a:ext cx="253973" cy="525832"/>
            <a:chOff x="3223553" y="3001206"/>
            <a:chExt cx="476655" cy="740156"/>
          </a:xfrm>
        </p:grpSpPr>
        <p:sp>
          <p:nvSpPr>
            <p:cNvPr id="81" name="Rounded Rectangle 991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2" name="Group 992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83" name="Rectangle 993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ectangle 994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Rectangle 995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ectangle 996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7" name="Group 977"/>
          <p:cNvGrpSpPr/>
          <p:nvPr/>
        </p:nvGrpSpPr>
        <p:grpSpPr>
          <a:xfrm>
            <a:off x="7633030" y="3922618"/>
            <a:ext cx="253973" cy="525832"/>
            <a:chOff x="3223553" y="3001206"/>
            <a:chExt cx="476655" cy="740156"/>
          </a:xfrm>
        </p:grpSpPr>
        <p:sp>
          <p:nvSpPr>
            <p:cNvPr id="88" name="Rounded Rectangle 985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9" name="Group 986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90" name="Rectangle 987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Rectangle 988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89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990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4" name="Group 978"/>
          <p:cNvGrpSpPr/>
          <p:nvPr/>
        </p:nvGrpSpPr>
        <p:grpSpPr>
          <a:xfrm>
            <a:off x="8091766" y="3922618"/>
            <a:ext cx="253973" cy="525832"/>
            <a:chOff x="3223553" y="3001206"/>
            <a:chExt cx="476655" cy="740156"/>
          </a:xfrm>
        </p:grpSpPr>
        <p:sp>
          <p:nvSpPr>
            <p:cNvPr id="95" name="Rounded Rectangle 979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6" name="Group 980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97" name="Rectangle 981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Rectangle 982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3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Rectangle 984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01" name="Straight Arrow Connector 1009"/>
          <p:cNvCxnSpPr>
            <a:stCxn id="41" idx="2"/>
            <a:endCxn id="74" idx="0"/>
          </p:cNvCxnSpPr>
          <p:nvPr/>
        </p:nvCxnSpPr>
        <p:spPr>
          <a:xfrm flipH="1">
            <a:off x="6634752" y="3737250"/>
            <a:ext cx="207795" cy="185368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540000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0"/>
          <p:cNvCxnSpPr>
            <a:stCxn id="41" idx="2"/>
            <a:endCxn id="81" idx="0"/>
          </p:cNvCxnSpPr>
          <p:nvPr/>
        </p:nvCxnSpPr>
        <p:spPr>
          <a:xfrm>
            <a:off x="6842546" y="3737250"/>
            <a:ext cx="250940" cy="185368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11"/>
          <p:cNvCxnSpPr>
            <a:stCxn id="192" idx="2"/>
            <a:endCxn id="88" idx="0"/>
          </p:cNvCxnSpPr>
          <p:nvPr/>
        </p:nvCxnSpPr>
        <p:spPr>
          <a:xfrm>
            <a:off x="7760016" y="3737250"/>
            <a:ext cx="0" cy="185368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229"/>
          <p:cNvGrpSpPr/>
          <p:nvPr/>
        </p:nvGrpSpPr>
        <p:grpSpPr>
          <a:xfrm>
            <a:off x="782710" y="3567026"/>
            <a:ext cx="253973" cy="525832"/>
            <a:chOff x="1067907" y="3001206"/>
            <a:chExt cx="476655" cy="740156"/>
          </a:xfrm>
        </p:grpSpPr>
        <p:sp>
          <p:nvSpPr>
            <p:cNvPr id="105" name="Rounded Rectangle 230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231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7" name="Straight Arrow Connector 11"/>
          <p:cNvCxnSpPr/>
          <p:nvPr/>
        </p:nvCxnSpPr>
        <p:spPr>
          <a:xfrm>
            <a:off x="1107782" y="2579277"/>
            <a:ext cx="699096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601"/>
          <p:cNvCxnSpPr/>
          <p:nvPr/>
        </p:nvCxnSpPr>
        <p:spPr>
          <a:xfrm rot="10800000">
            <a:off x="1107782" y="2977883"/>
            <a:ext cx="699096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232"/>
          <p:cNvCxnSpPr/>
          <p:nvPr/>
        </p:nvCxnSpPr>
        <p:spPr>
          <a:xfrm>
            <a:off x="1107782" y="3282140"/>
            <a:ext cx="699096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233"/>
          <p:cNvCxnSpPr/>
          <p:nvPr/>
        </p:nvCxnSpPr>
        <p:spPr>
          <a:xfrm rot="10800000">
            <a:off x="1107782" y="3667524"/>
            <a:ext cx="699096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241"/>
          <p:cNvGrpSpPr/>
          <p:nvPr/>
        </p:nvGrpSpPr>
        <p:grpSpPr>
          <a:xfrm>
            <a:off x="778026" y="4259846"/>
            <a:ext cx="253973" cy="525832"/>
            <a:chOff x="1067907" y="3001206"/>
            <a:chExt cx="476655" cy="740156"/>
          </a:xfrm>
        </p:grpSpPr>
        <p:sp>
          <p:nvSpPr>
            <p:cNvPr id="112" name="Rounded Rectangle 242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243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4" name="Group 246"/>
          <p:cNvGrpSpPr/>
          <p:nvPr/>
        </p:nvGrpSpPr>
        <p:grpSpPr>
          <a:xfrm>
            <a:off x="1859895" y="4603514"/>
            <a:ext cx="253973" cy="525832"/>
            <a:chOff x="3223553" y="3001206"/>
            <a:chExt cx="476655" cy="740156"/>
          </a:xfrm>
        </p:grpSpPr>
        <p:sp>
          <p:nvSpPr>
            <p:cNvPr id="115" name="Rounded Rectangle 247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248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17" name="Rectangle 249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Rectangle 250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Rectangle 251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252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21" name="Group 253"/>
          <p:cNvGrpSpPr/>
          <p:nvPr/>
        </p:nvGrpSpPr>
        <p:grpSpPr>
          <a:xfrm>
            <a:off x="778026" y="4962712"/>
            <a:ext cx="253973" cy="525832"/>
            <a:chOff x="1067907" y="3001206"/>
            <a:chExt cx="476655" cy="740156"/>
          </a:xfrm>
        </p:grpSpPr>
        <p:sp>
          <p:nvSpPr>
            <p:cNvPr id="122" name="Rounded Rectangle 254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255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4" name="Group 258"/>
          <p:cNvGrpSpPr/>
          <p:nvPr/>
        </p:nvGrpSpPr>
        <p:grpSpPr>
          <a:xfrm>
            <a:off x="1855210" y="5297119"/>
            <a:ext cx="253973" cy="525832"/>
            <a:chOff x="3223553" y="3001206"/>
            <a:chExt cx="476655" cy="740156"/>
          </a:xfrm>
        </p:grpSpPr>
        <p:sp>
          <p:nvSpPr>
            <p:cNvPr id="125" name="Rounded Rectangle 259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260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27" name="Rectangle 261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Rectangle 262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Rectangle 263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ectangle 264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1" name="Group 265"/>
          <p:cNvGrpSpPr/>
          <p:nvPr/>
        </p:nvGrpSpPr>
        <p:grpSpPr>
          <a:xfrm>
            <a:off x="773344" y="5656312"/>
            <a:ext cx="253973" cy="525832"/>
            <a:chOff x="1067907" y="3001206"/>
            <a:chExt cx="476655" cy="740156"/>
          </a:xfrm>
        </p:grpSpPr>
        <p:sp>
          <p:nvSpPr>
            <p:cNvPr id="132" name="Rounded Rectangle 266"/>
            <p:cNvSpPr/>
            <p:nvPr/>
          </p:nvSpPr>
          <p:spPr>
            <a:xfrm>
              <a:off x="1067907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267"/>
            <p:cNvSpPr/>
            <p:nvPr/>
          </p:nvSpPr>
          <p:spPr>
            <a:xfrm>
              <a:off x="1112704" y="3059251"/>
              <a:ext cx="84687" cy="624068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70C0">
                    <a:lumMod val="65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4" name="Straight Arrow Connector 244"/>
          <p:cNvCxnSpPr/>
          <p:nvPr/>
        </p:nvCxnSpPr>
        <p:spPr>
          <a:xfrm>
            <a:off x="1100780" y="3974931"/>
            <a:ext cx="706098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245"/>
          <p:cNvCxnSpPr/>
          <p:nvPr/>
        </p:nvCxnSpPr>
        <p:spPr>
          <a:xfrm rot="10800000">
            <a:off x="1100780" y="4360351"/>
            <a:ext cx="706098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256"/>
          <p:cNvCxnSpPr/>
          <p:nvPr/>
        </p:nvCxnSpPr>
        <p:spPr>
          <a:xfrm>
            <a:off x="1100780" y="4677823"/>
            <a:ext cx="706098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257"/>
          <p:cNvCxnSpPr/>
          <p:nvPr/>
        </p:nvCxnSpPr>
        <p:spPr>
          <a:xfrm rot="10800000">
            <a:off x="1100780" y="5063232"/>
            <a:ext cx="706098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268"/>
          <p:cNvCxnSpPr/>
          <p:nvPr/>
        </p:nvCxnSpPr>
        <p:spPr>
          <a:xfrm>
            <a:off x="1098415" y="5371425"/>
            <a:ext cx="706098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269"/>
          <p:cNvCxnSpPr/>
          <p:nvPr/>
        </p:nvCxnSpPr>
        <p:spPr>
          <a:xfrm rot="10800000">
            <a:off x="1098415" y="5756836"/>
            <a:ext cx="706098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83"/>
          <p:cNvGrpSpPr/>
          <p:nvPr/>
        </p:nvGrpSpPr>
        <p:grpSpPr>
          <a:xfrm>
            <a:off x="2328770" y="3206352"/>
            <a:ext cx="253973" cy="525832"/>
            <a:chOff x="3223553" y="3001206"/>
            <a:chExt cx="476655" cy="740156"/>
          </a:xfrm>
        </p:grpSpPr>
        <p:sp>
          <p:nvSpPr>
            <p:cNvPr id="141" name="Rounded Rectangle 212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2" name="Group 213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43" name="Rectangle 214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Rectangle 215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Rectangle 216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Rectangle 217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47" name="Group 184"/>
          <p:cNvGrpSpPr/>
          <p:nvPr/>
        </p:nvGrpSpPr>
        <p:grpSpPr>
          <a:xfrm>
            <a:off x="1870035" y="3206352"/>
            <a:ext cx="253973" cy="525832"/>
            <a:chOff x="3223553" y="3001206"/>
            <a:chExt cx="476655" cy="740156"/>
          </a:xfrm>
        </p:grpSpPr>
        <p:sp>
          <p:nvSpPr>
            <p:cNvPr id="148" name="Rounded Rectangle 206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9" name="Group 207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50" name="Rectangle 208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Rectangle 209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Rectangle 210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Rectangle 211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54" name="Group 185"/>
          <p:cNvGrpSpPr/>
          <p:nvPr/>
        </p:nvGrpSpPr>
        <p:grpSpPr>
          <a:xfrm>
            <a:off x="2787505" y="3206352"/>
            <a:ext cx="253973" cy="525832"/>
            <a:chOff x="3223553" y="3001206"/>
            <a:chExt cx="476655" cy="740156"/>
          </a:xfrm>
        </p:grpSpPr>
        <p:sp>
          <p:nvSpPr>
            <p:cNvPr id="155" name="Rounded Rectangle 200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6" name="Group 201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57" name="Rectangle 202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" name="Rectangle 203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9" name="Rectangle 204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Rectangle 205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1" name="Group 186"/>
          <p:cNvGrpSpPr/>
          <p:nvPr/>
        </p:nvGrpSpPr>
        <p:grpSpPr>
          <a:xfrm>
            <a:off x="3246240" y="3206352"/>
            <a:ext cx="253973" cy="525832"/>
            <a:chOff x="3223553" y="3001206"/>
            <a:chExt cx="476655" cy="740156"/>
          </a:xfrm>
        </p:grpSpPr>
        <p:sp>
          <p:nvSpPr>
            <p:cNvPr id="162" name="Rounded Rectangle 194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3" name="Group 195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64" name="Rectangle 196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Rectangle 197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Rectangle 198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Rectangle 199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8" name="Group 187"/>
          <p:cNvGrpSpPr/>
          <p:nvPr/>
        </p:nvGrpSpPr>
        <p:grpSpPr>
          <a:xfrm>
            <a:off x="3704976" y="3206352"/>
            <a:ext cx="253973" cy="525832"/>
            <a:chOff x="3223553" y="3001206"/>
            <a:chExt cx="476655" cy="740156"/>
          </a:xfrm>
        </p:grpSpPr>
        <p:sp>
          <p:nvSpPr>
            <p:cNvPr id="169" name="Rounded Rectangle 188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0" name="Group 189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71" name="Rectangle 190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Rectangle 191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92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Rectangle 193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5" name="Group 294"/>
          <p:cNvGrpSpPr/>
          <p:nvPr/>
        </p:nvGrpSpPr>
        <p:grpSpPr>
          <a:xfrm>
            <a:off x="1864640" y="3897406"/>
            <a:ext cx="253973" cy="525832"/>
            <a:chOff x="3223553" y="3001206"/>
            <a:chExt cx="476655" cy="740156"/>
          </a:xfrm>
        </p:grpSpPr>
        <p:sp>
          <p:nvSpPr>
            <p:cNvPr id="176" name="Rounded Rectangle 295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7" name="Group 296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78" name="Rectangle 297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Rectangle 298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Rectangle 299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Rectangle 300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2" name="Group 301"/>
          <p:cNvGrpSpPr/>
          <p:nvPr/>
        </p:nvGrpSpPr>
        <p:grpSpPr>
          <a:xfrm>
            <a:off x="2323375" y="3897406"/>
            <a:ext cx="253973" cy="525832"/>
            <a:chOff x="3223553" y="3001206"/>
            <a:chExt cx="476655" cy="740156"/>
          </a:xfrm>
        </p:grpSpPr>
        <p:sp>
          <p:nvSpPr>
            <p:cNvPr id="183" name="Rounded Rectangle 302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4" name="Group 303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85" name="Rectangle 304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6" name="Rectangle 305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Rectangle 306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Rectangle 307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89" name="Straight Arrow Connector 218"/>
          <p:cNvCxnSpPr/>
          <p:nvPr/>
        </p:nvCxnSpPr>
        <p:spPr>
          <a:xfrm>
            <a:off x="5485655" y="2566084"/>
            <a:ext cx="699096" cy="1"/>
          </a:xfrm>
          <a:prstGeom prst="straightConnector1">
            <a:avLst/>
          </a:prstGeom>
          <a:ln>
            <a:gradFill>
              <a:gsLst>
                <a:gs pos="0">
                  <a:srgbClr val="0070C0">
                    <a:alpha val="0"/>
                  </a:srgbClr>
                </a:gs>
                <a:gs pos="37000">
                  <a:srgbClr val="0070C0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220"/>
          <p:cNvCxnSpPr/>
          <p:nvPr/>
        </p:nvCxnSpPr>
        <p:spPr>
          <a:xfrm rot="10800000">
            <a:off x="5553654" y="4390081"/>
            <a:ext cx="706098" cy="1"/>
          </a:xfrm>
          <a:prstGeom prst="straightConnector1">
            <a:avLst/>
          </a:prstGeom>
          <a:ln>
            <a:gradFill>
              <a:gsLst>
                <a:gs pos="0">
                  <a:schemeClr val="tx2">
                    <a:alpha val="0"/>
                  </a:schemeClr>
                </a:gs>
                <a:gs pos="37000">
                  <a:schemeClr val="tx2"/>
                </a:gs>
              </a:gsLst>
              <a:lin ang="0" scaled="0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Group 942"/>
          <p:cNvGrpSpPr/>
          <p:nvPr/>
        </p:nvGrpSpPr>
        <p:grpSpPr>
          <a:xfrm>
            <a:off x="7633030" y="3211418"/>
            <a:ext cx="253973" cy="525832"/>
            <a:chOff x="3223553" y="3001206"/>
            <a:chExt cx="476655" cy="740156"/>
          </a:xfrm>
        </p:grpSpPr>
        <p:sp>
          <p:nvSpPr>
            <p:cNvPr id="192" name="Rounded Rectangle 957"/>
            <p:cNvSpPr/>
            <p:nvPr/>
          </p:nvSpPr>
          <p:spPr>
            <a:xfrm>
              <a:off x="3223553" y="3001206"/>
              <a:ext cx="476655" cy="740156"/>
            </a:xfrm>
            <a:prstGeom prst="roundRect">
              <a:avLst>
                <a:gd name="adj" fmla="val 9535"/>
              </a:avLst>
            </a:prstGeom>
            <a:gradFill>
              <a:gsLst>
                <a:gs pos="100000">
                  <a:schemeClr val="bg1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0"/>
            </a:gradFill>
            <a:ln>
              <a:gradFill>
                <a:gsLst>
                  <a:gs pos="0">
                    <a:schemeClr val="bg2"/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3" name="Group 958"/>
            <p:cNvGrpSpPr/>
            <p:nvPr/>
          </p:nvGrpSpPr>
          <p:grpSpPr>
            <a:xfrm>
              <a:off x="3266141" y="3059251"/>
              <a:ext cx="391479" cy="624068"/>
              <a:chOff x="3272209" y="3069966"/>
              <a:chExt cx="391479" cy="339136"/>
            </a:xfrm>
          </p:grpSpPr>
          <p:sp>
            <p:nvSpPr>
              <p:cNvPr id="194" name="Rectangle 959"/>
              <p:cNvSpPr/>
              <p:nvPr/>
            </p:nvSpPr>
            <p:spPr>
              <a:xfrm>
                <a:off x="3272209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5" name="Rectangle 960"/>
              <p:cNvSpPr/>
              <p:nvPr/>
            </p:nvSpPr>
            <p:spPr>
              <a:xfrm>
                <a:off x="3374473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6" name="Rectangle 961"/>
              <p:cNvSpPr/>
              <p:nvPr/>
            </p:nvSpPr>
            <p:spPr>
              <a:xfrm>
                <a:off x="3476737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Rectangle 962"/>
              <p:cNvSpPr/>
              <p:nvPr/>
            </p:nvSpPr>
            <p:spPr>
              <a:xfrm>
                <a:off x="3579001" y="3069966"/>
                <a:ext cx="84687" cy="339136"/>
              </a:xfrm>
              <a:prstGeom prst="rect">
                <a:avLst/>
              </a:prstGeom>
              <a:gradFill>
                <a:gsLst>
                  <a:gs pos="0">
                    <a:schemeClr val="tx2"/>
                  </a:gs>
                  <a:gs pos="100000">
                    <a:schemeClr val="tx2">
                      <a:lumMod val="6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98" name="Title 1"/>
          <p:cNvSpPr txBox="1">
            <a:spLocks/>
          </p:cNvSpPr>
          <p:nvPr/>
        </p:nvSpPr>
        <p:spPr bwMode="auto">
          <a:xfrm>
            <a:off x="5004048" y="5770135"/>
            <a:ext cx="3574449" cy="323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97" tIns="38098" rIns="76197" bIns="38098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i="1" kern="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(b) With Dynamic Parallelism</a:t>
            </a:r>
          </a:p>
        </p:txBody>
      </p:sp>
      <p:sp>
        <p:nvSpPr>
          <p:cNvPr id="199" name="Title 1"/>
          <p:cNvSpPr txBox="1">
            <a:spLocks/>
          </p:cNvSpPr>
          <p:nvPr/>
        </p:nvSpPr>
        <p:spPr bwMode="auto">
          <a:xfrm>
            <a:off x="1403648" y="5733256"/>
            <a:ext cx="2979313" cy="569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97" tIns="38098" rIns="76197" bIns="38098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i="1" kern="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(a) Without Dynamic Parallelism</a:t>
            </a:r>
          </a:p>
        </p:txBody>
      </p:sp>
    </p:spTree>
    <p:extLst>
      <p:ext uri="{BB962C8B-B14F-4D97-AF65-F5344CB8AC3E}">
        <p14:creationId xmlns:p14="http://schemas.microsoft.com/office/powerpoint/2010/main" val="240253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996A3-6EAD-46A9-B480-0A562B93A28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Nested dependencies</a:t>
            </a:r>
            <a:endParaRPr lang="en-US" sz="2353" dirty="0"/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sp>
        <p:nvSpPr>
          <p:cNvPr id="135" name="Rounded Rectangle 26"/>
          <p:cNvSpPr/>
          <p:nvPr/>
        </p:nvSpPr>
        <p:spPr>
          <a:xfrm>
            <a:off x="5092700" y="2879231"/>
            <a:ext cx="2921000" cy="3556000"/>
          </a:xfrm>
          <a:prstGeom prst="roundRect">
            <a:avLst/>
          </a:prstGeom>
          <a:solidFill>
            <a:schemeClr val="bg2">
              <a:lumMod val="75000"/>
              <a:alpha val="1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/>
          <a:lstStyle/>
          <a:p>
            <a:pPr algn="ctr">
              <a:defRPr/>
            </a:pPr>
            <a:r>
              <a:rPr lang="en-US" dirty="0"/>
              <a:t>GPU</a:t>
            </a:r>
          </a:p>
        </p:txBody>
      </p:sp>
      <p:sp>
        <p:nvSpPr>
          <p:cNvPr id="136" name="Oval 27"/>
          <p:cNvSpPr/>
          <p:nvPr/>
        </p:nvSpPr>
        <p:spPr>
          <a:xfrm>
            <a:off x="5943336" y="3565385"/>
            <a:ext cx="1879864" cy="2667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37" name="TextBox 15"/>
          <p:cNvSpPr txBox="1"/>
          <p:nvPr/>
        </p:nvSpPr>
        <p:spPr>
          <a:xfrm>
            <a:off x="1219204" y="4403297"/>
            <a:ext cx="2959365" cy="1977116"/>
          </a:xfrm>
          <a:prstGeom prst="rect">
            <a:avLst/>
          </a:prstGeom>
          <a:solidFill>
            <a:schemeClr val="tx1"/>
          </a:solidFill>
          <a:ln w="12700">
            <a:solidFill>
              <a:srgbClr val="00CC00"/>
            </a:solidFill>
          </a:ln>
        </p:spPr>
        <p:txBody>
          <a:bodyPr lIns="151956" tIns="75978" rIns="75978" bIns="37977">
            <a:spAutoFit/>
          </a:bodyPr>
          <a:lstStyle/>
          <a:p>
            <a:pPr>
              <a:defRPr/>
            </a:pP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__global__ void B(float *data) </a:t>
            </a:r>
          </a:p>
          <a:p>
            <a:pPr>
              <a:defRPr/>
            </a:pP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do_stuff(data);</a:t>
            </a:r>
          </a:p>
          <a:p>
            <a:pPr>
              <a:defRPr/>
            </a:pPr>
            <a:endParaRPr lang="en-US" sz="1100" kern="0" dirty="0">
              <a:solidFill>
                <a:schemeClr val="bg1"/>
              </a:solidFill>
              <a:latin typeface="Lucida Console" pitchFamily="49" charset="0"/>
              <a:ea typeface="ＭＳ Ｐゴシック" pitchFamily="-65" charset="-128"/>
              <a:cs typeface="Courier New" pitchFamily="49" charset="0"/>
            </a:endParaRPr>
          </a:p>
          <a:p>
            <a:pPr indent="344488">
              <a:defRPr/>
            </a:pPr>
            <a:r>
              <a:rPr lang="en-US" sz="1100" b="1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X &lt;&lt;&lt; ... &gt;&gt;&gt; (data);</a:t>
            </a:r>
          </a:p>
          <a:p>
            <a:pPr indent="344488">
              <a:defRPr/>
            </a:pPr>
            <a:r>
              <a:rPr lang="en-US" sz="1100" b="1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Y &lt;&lt;&lt; ... &gt;&gt;&gt; (data);</a:t>
            </a:r>
          </a:p>
          <a:p>
            <a:pPr indent="344488">
              <a:defRPr/>
            </a:pPr>
            <a:r>
              <a:rPr lang="en-US" sz="1100" b="1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Z &lt;&lt;&lt; ... &gt;&gt;&gt; (data);</a:t>
            </a:r>
          </a:p>
          <a:p>
            <a:pPr indent="344488">
              <a:defRPr/>
            </a:pPr>
            <a:r>
              <a:rPr lang="en-US" sz="1100" b="1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</a:t>
            </a:r>
            <a:r>
              <a:rPr lang="en-US" sz="1100" b="1" kern="0" dirty="0" err="1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cudaDeviceSynchronize</a:t>
            </a:r>
            <a:r>
              <a:rPr lang="en-US" sz="1100" b="1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();</a:t>
            </a:r>
          </a:p>
          <a:p>
            <a:pPr indent="344488">
              <a:defRPr/>
            </a:pPr>
            <a:endParaRPr lang="en-US" sz="1100" kern="0" dirty="0">
              <a:solidFill>
                <a:schemeClr val="bg1"/>
              </a:solidFill>
              <a:latin typeface="Lucida Console" pitchFamily="49" charset="0"/>
              <a:ea typeface="ＭＳ Ｐゴシック" pitchFamily="-65" charset="-128"/>
              <a:cs typeface="Courier New" pitchFamily="49" charset="0"/>
            </a:endParaRPr>
          </a:p>
          <a:p>
            <a:pPr indent="344488">
              <a:defRPr/>
            </a:pP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</a:t>
            </a:r>
            <a:r>
              <a:rPr lang="en-US" sz="1100" kern="0" dirty="0" err="1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do_more_stuff</a:t>
            </a: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(data);</a:t>
            </a:r>
          </a:p>
          <a:p>
            <a:pPr>
              <a:defRPr/>
            </a:pPr>
            <a:r>
              <a:rPr lang="en-US" sz="1100" kern="0" dirty="0">
                <a:solidFill>
                  <a:schemeClr val="bg1"/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}</a:t>
            </a:r>
            <a:endParaRPr lang="en-US" sz="1100" dirty="0">
              <a:solidFill>
                <a:schemeClr val="bg1"/>
              </a:solidFill>
              <a:latin typeface="Lucida Console" pitchFamily="49" charset="0"/>
            </a:endParaRPr>
          </a:p>
        </p:txBody>
      </p:sp>
      <p:sp>
        <p:nvSpPr>
          <p:cNvPr id="138" name="Oval 6"/>
          <p:cNvSpPr/>
          <p:nvPr/>
        </p:nvSpPr>
        <p:spPr>
          <a:xfrm>
            <a:off x="5247556" y="3792926"/>
            <a:ext cx="838729" cy="5344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sp>
        <p:nvSpPr>
          <p:cNvPr id="139" name="Oval 7"/>
          <p:cNvSpPr/>
          <p:nvPr/>
        </p:nvSpPr>
        <p:spPr>
          <a:xfrm>
            <a:off x="5247556" y="4632544"/>
            <a:ext cx="838729" cy="532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140" name="Oval 8"/>
          <p:cNvSpPr/>
          <p:nvPr/>
        </p:nvSpPr>
        <p:spPr>
          <a:xfrm>
            <a:off x="5247556" y="5470483"/>
            <a:ext cx="838729" cy="532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141" name="Oval 9"/>
          <p:cNvSpPr/>
          <p:nvPr/>
        </p:nvSpPr>
        <p:spPr>
          <a:xfrm>
            <a:off x="6629933" y="3792926"/>
            <a:ext cx="837407" cy="5344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X</a:t>
            </a:r>
          </a:p>
        </p:txBody>
      </p:sp>
      <p:sp>
        <p:nvSpPr>
          <p:cNvPr id="142" name="Oval 10"/>
          <p:cNvSpPr/>
          <p:nvPr/>
        </p:nvSpPr>
        <p:spPr>
          <a:xfrm>
            <a:off x="6629933" y="4632544"/>
            <a:ext cx="837407" cy="532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Y</a:t>
            </a:r>
          </a:p>
        </p:txBody>
      </p:sp>
      <p:cxnSp>
        <p:nvCxnSpPr>
          <p:cNvPr id="143" name="Straight Arrow Connector 12"/>
          <p:cNvCxnSpPr>
            <a:stCxn id="138" idx="4"/>
            <a:endCxn id="139" idx="0"/>
          </p:cNvCxnSpPr>
          <p:nvPr/>
        </p:nvCxnSpPr>
        <p:spPr>
          <a:xfrm rot="5400000">
            <a:off x="5514271" y="4480406"/>
            <a:ext cx="305153" cy="264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"/>
          <p:cNvCxnSpPr>
            <a:stCxn id="139" idx="4"/>
            <a:endCxn id="140" idx="0"/>
          </p:cNvCxnSpPr>
          <p:nvPr/>
        </p:nvCxnSpPr>
        <p:spPr>
          <a:xfrm rot="5400000">
            <a:off x="5514272" y="5318252"/>
            <a:ext cx="305152" cy="264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7"/>
          <p:cNvCxnSpPr>
            <a:stCxn id="139" idx="7"/>
            <a:endCxn id="141" idx="2"/>
          </p:cNvCxnSpPr>
          <p:nvPr/>
        </p:nvCxnSpPr>
        <p:spPr>
          <a:xfrm flipV="1">
            <a:off x="5963179" y="4061037"/>
            <a:ext cx="666750" cy="6491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9"/>
          <p:cNvCxnSpPr>
            <a:stCxn id="141" idx="4"/>
            <a:endCxn id="142" idx="0"/>
          </p:cNvCxnSpPr>
          <p:nvPr/>
        </p:nvCxnSpPr>
        <p:spPr>
          <a:xfrm rot="5400000">
            <a:off x="6896060" y="4479741"/>
            <a:ext cx="305153" cy="396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21"/>
          <p:cNvCxnSpPr>
            <a:stCxn id="148" idx="2"/>
            <a:endCxn id="139" idx="5"/>
          </p:cNvCxnSpPr>
          <p:nvPr/>
        </p:nvCxnSpPr>
        <p:spPr>
          <a:xfrm flipH="1" flipV="1">
            <a:off x="5963179" y="5087623"/>
            <a:ext cx="666750" cy="6491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8"/>
          <p:cNvSpPr/>
          <p:nvPr/>
        </p:nvSpPr>
        <p:spPr>
          <a:xfrm>
            <a:off x="6629933" y="5470483"/>
            <a:ext cx="837407" cy="532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/>
              <a:t>Z</a:t>
            </a:r>
          </a:p>
        </p:txBody>
      </p:sp>
      <p:cxnSp>
        <p:nvCxnSpPr>
          <p:cNvPr id="149" name="Straight Arrow Connector 20"/>
          <p:cNvCxnSpPr>
            <a:stCxn id="142" idx="4"/>
            <a:endCxn id="148" idx="0"/>
          </p:cNvCxnSpPr>
          <p:nvPr/>
        </p:nvCxnSpPr>
        <p:spPr>
          <a:xfrm rot="5400000">
            <a:off x="6896057" y="5317589"/>
            <a:ext cx="305152" cy="396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24"/>
          <p:cNvSpPr/>
          <p:nvPr/>
        </p:nvSpPr>
        <p:spPr>
          <a:xfrm>
            <a:off x="5246159" y="1863329"/>
            <a:ext cx="838729" cy="532695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51" name="TextBox 35"/>
          <p:cNvSpPr txBox="1"/>
          <p:nvPr/>
        </p:nvSpPr>
        <p:spPr>
          <a:xfrm>
            <a:off x="1219204" y="1778611"/>
            <a:ext cx="2959365" cy="1977116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 w="12700">
            <a:solidFill>
              <a:srgbClr val="0070C0"/>
            </a:solidFill>
          </a:ln>
        </p:spPr>
        <p:txBody>
          <a:bodyPr lIns="151956" tIns="75978" rIns="75978" bIns="37977">
            <a:spAutoFit/>
          </a:bodyPr>
          <a:lstStyle/>
          <a:p>
            <a:pPr>
              <a:defRPr/>
            </a:pPr>
            <a:r>
              <a:rPr lang="en-US" sz="1100" kern="0" dirty="0" err="1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int</a:t>
            </a: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main() {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float *data;    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setup(data);</a:t>
            </a:r>
          </a:p>
          <a:p>
            <a:pPr>
              <a:defRPr/>
            </a:pPr>
            <a:endParaRPr lang="en-US" sz="1100" kern="0" dirty="0">
              <a:solidFill>
                <a:schemeClr val="tx1">
                  <a:lumMod val="95000"/>
                </a:schemeClr>
              </a:solidFill>
              <a:latin typeface="Lucida Console" pitchFamily="49" charset="0"/>
              <a:ea typeface="ＭＳ Ｐゴシック" pitchFamily="-65" charset="-128"/>
              <a:cs typeface="Courier New" pitchFamily="49" charset="0"/>
            </a:endParaRP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A &lt;&lt;&lt; ... &gt;&gt;&gt; (data);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B &lt;&lt;&lt; ... &gt;&gt;&gt; (data);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C &lt;&lt;&lt; ... &gt;&gt;&gt; (data);</a:t>
            </a:r>
          </a:p>
          <a:p>
            <a:pPr>
              <a:defRPr/>
            </a:pPr>
            <a:endParaRPr lang="en-US" sz="1100" kern="0" dirty="0">
              <a:solidFill>
                <a:schemeClr val="tx1">
                  <a:lumMod val="95000"/>
                </a:schemeClr>
              </a:solidFill>
              <a:latin typeface="Lucida Console" pitchFamily="49" charset="0"/>
              <a:ea typeface="ＭＳ Ｐゴシック" pitchFamily="-65" charset="-128"/>
              <a:cs typeface="Courier New" pitchFamily="49" charset="0"/>
            </a:endParaRP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</a:t>
            </a:r>
            <a:r>
              <a:rPr lang="en-US" sz="1100" kern="0" dirty="0" err="1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cudaDeviceSynchronize</a:t>
            </a: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sz="1100" kern="0" dirty="0">
                <a:solidFill>
                  <a:schemeClr val="tx1">
                    <a:lumMod val="95000"/>
                  </a:schemeClr>
                </a:solidFill>
                <a:latin typeface="Lucida Console" pitchFamily="49" charset="0"/>
                <a:ea typeface="ＭＳ Ｐゴシック" pitchFamily="-65" charset="-128"/>
                <a:cs typeface="Courier New" pitchFamily="49" charset="0"/>
              </a:rPr>
              <a:t>}</a:t>
            </a:r>
            <a:endParaRPr lang="en-US" sz="1100" dirty="0">
              <a:solidFill>
                <a:schemeClr val="tx1">
                  <a:lumMod val="95000"/>
                </a:schemeClr>
              </a:solidFill>
              <a:latin typeface="Lucida Console" pitchFamily="49" charset="0"/>
            </a:endParaRPr>
          </a:p>
        </p:txBody>
      </p:sp>
      <p:cxnSp>
        <p:nvCxnSpPr>
          <p:cNvPr id="152" name="Shape 73"/>
          <p:cNvCxnSpPr>
            <a:stCxn id="140" idx="4"/>
            <a:endCxn id="150" idx="3"/>
          </p:cNvCxnSpPr>
          <p:nvPr/>
        </p:nvCxnSpPr>
        <p:spPr>
          <a:xfrm rot="5400000" flipH="1" flipV="1">
            <a:off x="3939153" y="3857444"/>
            <a:ext cx="3873501" cy="417967"/>
          </a:xfrm>
          <a:prstGeom prst="bentConnector4">
            <a:avLst>
              <a:gd name="adj1" fmla="val -5902"/>
              <a:gd name="adj2" fmla="val 155028"/>
            </a:avLst>
          </a:prstGeom>
          <a:ln w="254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83"/>
          <p:cNvCxnSpPr>
            <a:stCxn id="150" idx="2"/>
            <a:endCxn id="138" idx="0"/>
          </p:cNvCxnSpPr>
          <p:nvPr/>
        </p:nvCxnSpPr>
        <p:spPr>
          <a:xfrm>
            <a:off x="5665524" y="2396024"/>
            <a:ext cx="1397" cy="1396902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Left Arrow 34"/>
          <p:cNvSpPr/>
          <p:nvPr/>
        </p:nvSpPr>
        <p:spPr>
          <a:xfrm>
            <a:off x="4267200" y="1947898"/>
            <a:ext cx="889000" cy="338667"/>
          </a:xfrm>
          <a:prstGeom prst="leftArrow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1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1">
                  <a:lumMod val="75000"/>
                  <a:lumOff val="25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5" name="Left Arrow 36"/>
          <p:cNvSpPr/>
          <p:nvPr/>
        </p:nvSpPr>
        <p:spPr>
          <a:xfrm>
            <a:off x="4267200" y="4728703"/>
            <a:ext cx="762000" cy="338667"/>
          </a:xfrm>
          <a:prstGeom prst="leftArrow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978" tIns="37977" rIns="75978" bIns="37977"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3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13657-EF6F-496E-9EFF-7E81E364D29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Syntax</a:t>
            </a:r>
          </a:p>
          <a:p>
            <a:pPr marL="0" indent="0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000" dirty="0" err="1">
                <a:latin typeface="Courier"/>
                <a:cs typeface="Courier"/>
              </a:rPr>
              <a:t>kernel_name</a:t>
            </a:r>
            <a:r>
              <a:rPr lang="en-US" sz="2000" dirty="0">
                <a:latin typeface="Courier"/>
                <a:cs typeface="Courier"/>
              </a:rPr>
              <a:t>&lt;&lt;&lt; Dg, </a:t>
            </a:r>
            <a:r>
              <a:rPr lang="en-US" sz="2000" dirty="0" err="1">
                <a:latin typeface="Courier"/>
                <a:cs typeface="Courier"/>
              </a:rPr>
              <a:t>Db</a:t>
            </a:r>
            <a:r>
              <a:rPr lang="en-US" sz="2000" dirty="0">
                <a:latin typeface="Courier"/>
                <a:cs typeface="Courier"/>
              </a:rPr>
              <a:t>, Ns, S &gt;&gt;&gt;([kernel arguments]);</a:t>
            </a:r>
          </a:p>
          <a:p>
            <a:pPr marL="0" indent="0">
              <a:buNone/>
            </a:pPr>
            <a:endParaRPr lang="es-ES" sz="2200" dirty="0">
              <a:latin typeface="Courier"/>
              <a:cs typeface="Courier"/>
            </a:endParaRPr>
          </a:p>
          <a:p>
            <a:pPr lvl="1"/>
            <a:r>
              <a:rPr lang="en-US" sz="1800" dirty="0"/>
              <a:t>Dg is of type dim3 and specifies the dimensions and size of the grid</a:t>
            </a:r>
            <a:endParaRPr lang="es-ES" sz="1800" dirty="0"/>
          </a:p>
          <a:p>
            <a:pPr lvl="1"/>
            <a:r>
              <a:rPr lang="en-US" sz="1800" dirty="0" err="1"/>
              <a:t>Db</a:t>
            </a:r>
            <a:r>
              <a:rPr lang="en-US" sz="1800" dirty="0"/>
              <a:t> is of type dim3 and specifies the dimensions and size of each thread block</a:t>
            </a:r>
            <a:endParaRPr lang="es-ES" sz="1800" dirty="0"/>
          </a:p>
          <a:p>
            <a:pPr lvl="1"/>
            <a:r>
              <a:rPr lang="en-US" sz="1800" dirty="0"/>
              <a:t>Ns is of type </a:t>
            </a:r>
            <a:r>
              <a:rPr lang="en-US" sz="1800" dirty="0" err="1"/>
              <a:t>size_t</a:t>
            </a:r>
            <a:r>
              <a:rPr lang="en-US" sz="1800" dirty="0"/>
              <a:t> and specifies the number of bytes of shared memory that is dynamically allocated per thread block for this call.</a:t>
            </a:r>
            <a:endParaRPr lang="es-ES" sz="1800" dirty="0"/>
          </a:p>
          <a:p>
            <a:pPr lvl="1"/>
            <a:r>
              <a:rPr lang="en-US" sz="1800" dirty="0"/>
              <a:t>S is of type </a:t>
            </a:r>
            <a:r>
              <a:rPr lang="en-US" sz="1800" dirty="0" err="1"/>
              <a:t>cudaStream_t</a:t>
            </a:r>
            <a:r>
              <a:rPr lang="en-US" sz="1800" dirty="0"/>
              <a:t> and specifies the stream associated with this call.</a:t>
            </a:r>
            <a:endParaRPr lang="en-US" sz="2353" dirty="0"/>
          </a:p>
          <a:p>
            <a:pPr>
              <a:buNone/>
            </a:pPr>
            <a:endParaRPr lang="en-US" sz="2353" dirty="0"/>
          </a:p>
        </p:txBody>
      </p:sp>
    </p:spTree>
    <p:extLst>
      <p:ext uri="{BB962C8B-B14F-4D97-AF65-F5344CB8AC3E}">
        <p14:creationId xmlns:p14="http://schemas.microsoft.com/office/powerpoint/2010/main" val="167189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EE1C40-B29E-4558-BF66-BC09899436F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Dynamic Parallelism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LU decomposition</a:t>
            </a:r>
            <a:endParaRPr lang="en-US" sz="2353" dirty="0"/>
          </a:p>
        </p:txBody>
      </p:sp>
      <p:pic>
        <p:nvPicPr>
          <p:cNvPr id="4" name="Imagen 3" descr="lu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916832"/>
            <a:ext cx="86487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2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5473B-C535-4C7F-9811-5D4A5B3D575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Parent-child synchronization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Synchronization</a:t>
            </a:r>
          </a:p>
          <a:p>
            <a:pPr lvl="1"/>
            <a:r>
              <a:rPr lang="en-US" sz="2000" dirty="0"/>
              <a:t>Parent to child: memory consistency</a:t>
            </a:r>
          </a:p>
          <a:p>
            <a:pPr lvl="1"/>
            <a:r>
              <a:rPr lang="en-US" sz="2000" dirty="0"/>
              <a:t>Child to parent: after </a:t>
            </a:r>
            <a:r>
              <a:rPr lang="en-US" sz="2000" dirty="0" err="1">
                <a:latin typeface="Courier"/>
                <a:cs typeface="Courier"/>
              </a:rPr>
              <a:t>cudaDeviceSynchronize</a:t>
            </a:r>
            <a:r>
              <a:rPr lang="en-US" sz="2000" dirty="0">
                <a:latin typeface="Courier"/>
                <a:cs typeface="Courier"/>
              </a:rPr>
              <a:t>()</a:t>
            </a:r>
            <a:endParaRPr lang="en-US" sz="2000" dirty="0"/>
          </a:p>
          <a:p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024" y="2348880"/>
            <a:ext cx="6571952" cy="38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DB8F7E-0518-4ECC-84BB-6581504B0E0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Introduction to CUDA Dynamic Parallelism</a:t>
            </a:r>
          </a:p>
          <a:p>
            <a:r>
              <a:rPr lang="en-US" sz="2400" dirty="0"/>
              <a:t>A simple example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more complex example: Bezier lines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recursive example: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Quadtree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Other cases: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Library calls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Saving kernel launches in ARM CPUs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What is and what is not dynamic parallelism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  <a:p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46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42A9A-80C4-4999-9DFB-E87F12671B4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dynamic parallelism, uniform workload</a:t>
            </a:r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sp>
        <p:nvSpPr>
          <p:cNvPr id="7" name="CuadroTexto 6"/>
          <p:cNvSpPr txBox="1"/>
          <p:nvPr/>
        </p:nvSpPr>
        <p:spPr>
          <a:xfrm>
            <a:off x="1339835" y="1653938"/>
            <a:ext cx="6464330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01    __global__ void kernel(unsigned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start,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end,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02        float* 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, float* 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03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04       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 = </a:t>
            </a:r>
            <a:r>
              <a:rPr lang="en-US" sz="1200" dirty="0" err="1">
                <a:latin typeface="Courier"/>
                <a:cs typeface="Courier"/>
              </a:rPr>
              <a:t>blockIdx.x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blockDim.x</a:t>
            </a:r>
            <a:r>
              <a:rPr lang="en-US" sz="1200" dirty="0">
                <a:latin typeface="Courier"/>
                <a:cs typeface="Courier"/>
              </a:rPr>
              <a:t> + 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05        </a:t>
            </a:r>
            <a:r>
              <a:rPr lang="en-US" sz="1200" dirty="0" err="1">
                <a:latin typeface="Courier"/>
                <a:cs typeface="Courier"/>
              </a:rPr>
              <a:t>doSomeWork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]);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06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07        for(unsigned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j = </a:t>
            </a:r>
            <a:r>
              <a:rPr lang="en-US" sz="1200" b="1" dirty="0">
                <a:latin typeface="Courier"/>
                <a:cs typeface="Courier"/>
              </a:rPr>
              <a:t>start</a:t>
            </a:r>
            <a:r>
              <a:rPr lang="en-US" sz="1200" dirty="0">
                <a:latin typeface="Courier"/>
                <a:cs typeface="Courier"/>
              </a:rPr>
              <a:t>; j &lt; </a:t>
            </a:r>
            <a:r>
              <a:rPr lang="en-US" sz="1200" b="1" dirty="0">
                <a:latin typeface="Courier"/>
                <a:cs typeface="Courier"/>
              </a:rPr>
              <a:t>end</a:t>
            </a:r>
            <a:r>
              <a:rPr lang="en-US" sz="1200" dirty="0">
                <a:latin typeface="Courier"/>
                <a:cs typeface="Courier"/>
              </a:rPr>
              <a:t>; ++j)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08            </a:t>
            </a:r>
            <a:r>
              <a:rPr lang="en-US" sz="1200" dirty="0" err="1">
                <a:latin typeface="Courier"/>
                <a:cs typeface="Courier"/>
              </a:rPr>
              <a:t>doMoreWork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[j],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09  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10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11    }</a:t>
            </a:r>
            <a:endParaRPr lang="es-ES" sz="1200" dirty="0">
              <a:latin typeface="Courier"/>
              <a:cs typeface="Courier"/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2271817" y="4077072"/>
            <a:ext cx="3646383" cy="2039318"/>
            <a:chOff x="2271817" y="4288258"/>
            <a:chExt cx="3646383" cy="2039318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3100" y="4676576"/>
              <a:ext cx="2705100" cy="1651000"/>
            </a:xfrm>
            <a:prstGeom prst="rect">
              <a:avLst/>
            </a:prstGeom>
          </p:spPr>
        </p:pic>
        <p:sp>
          <p:nvSpPr>
            <p:cNvPr id="10" name="CuadroTexto 9"/>
            <p:cNvSpPr txBox="1"/>
            <p:nvPr/>
          </p:nvSpPr>
          <p:spPr>
            <a:xfrm>
              <a:off x="2271817" y="5281430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Threads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3995895" y="4288258"/>
              <a:ext cx="1087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Iterations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027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45FDA-5BA8-47DF-A46C-86E296B755C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dynamic parallelism, non-uniform workload</a:t>
            </a:r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sp>
        <p:nvSpPr>
          <p:cNvPr id="7" name="CuadroTexto 6"/>
          <p:cNvSpPr txBox="1"/>
          <p:nvPr/>
        </p:nvSpPr>
        <p:spPr>
          <a:xfrm>
            <a:off x="1339835" y="1653938"/>
            <a:ext cx="6464330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01    __global__ void kernel(unsigned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* start,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* end,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02        float* 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, float* 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03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04        </a:t>
            </a:r>
            <a:r>
              <a:rPr lang="en-US" sz="1200" b="1" dirty="0">
                <a:latin typeface="Courier"/>
                <a:cs typeface="Courier"/>
              </a:rPr>
              <a:t>unsigned </a:t>
            </a:r>
            <a:r>
              <a:rPr lang="en-US" sz="1200" b="1" dirty="0" err="1">
                <a:latin typeface="Courier"/>
                <a:cs typeface="Courier"/>
              </a:rPr>
              <a:t>int</a:t>
            </a:r>
            <a:r>
              <a:rPr lang="en-US" sz="1200" b="1" dirty="0">
                <a:latin typeface="Courier"/>
                <a:cs typeface="Courier"/>
              </a:rPr>
              <a:t> 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 = </a:t>
            </a:r>
            <a:r>
              <a:rPr lang="en-US" sz="1200" b="1" dirty="0" err="1">
                <a:latin typeface="Courier"/>
                <a:cs typeface="Courier"/>
              </a:rPr>
              <a:t>blockIdx.x</a:t>
            </a:r>
            <a:r>
              <a:rPr lang="en-US" sz="1200" b="1" dirty="0">
                <a:latin typeface="Courier"/>
                <a:cs typeface="Courier"/>
              </a:rPr>
              <a:t>*</a:t>
            </a:r>
            <a:r>
              <a:rPr lang="en-US" sz="1200" b="1" dirty="0" err="1">
                <a:latin typeface="Courier"/>
                <a:cs typeface="Courier"/>
              </a:rPr>
              <a:t>blockDim.x</a:t>
            </a:r>
            <a:r>
              <a:rPr lang="en-US" sz="1200" b="1" dirty="0">
                <a:latin typeface="Courier"/>
                <a:cs typeface="Courier"/>
              </a:rPr>
              <a:t> + </a:t>
            </a:r>
            <a:r>
              <a:rPr lang="en-US" sz="1200" b="1" dirty="0" err="1">
                <a:latin typeface="Courier"/>
                <a:cs typeface="Courier"/>
              </a:rPr>
              <a:t>threadIdx.x</a:t>
            </a:r>
            <a:r>
              <a:rPr lang="en-US" sz="1200" b="1" dirty="0">
                <a:latin typeface="Courier"/>
                <a:cs typeface="Courier"/>
              </a:rPr>
              <a:t>;</a:t>
            </a:r>
            <a:endParaRPr lang="es-ES" sz="1200" b="1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05        </a:t>
            </a:r>
            <a:r>
              <a:rPr lang="en-US" sz="1200" dirty="0" err="1">
                <a:latin typeface="Courier"/>
                <a:cs typeface="Courier"/>
              </a:rPr>
              <a:t>doSomeWork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]);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06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07        for(unsigned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j = </a:t>
            </a:r>
            <a:r>
              <a:rPr lang="en-US" sz="1200" b="1" dirty="0">
                <a:latin typeface="Courier"/>
                <a:cs typeface="Courier"/>
              </a:rPr>
              <a:t>start[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</a:t>
            </a:r>
            <a:r>
              <a:rPr lang="en-US" sz="1200" dirty="0">
                <a:latin typeface="Courier"/>
                <a:cs typeface="Courier"/>
              </a:rPr>
              <a:t>; j &lt; </a:t>
            </a:r>
            <a:r>
              <a:rPr lang="en-US" sz="1200" b="1" dirty="0">
                <a:latin typeface="Courier"/>
                <a:cs typeface="Courier"/>
              </a:rPr>
              <a:t>end[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</a:t>
            </a:r>
            <a:r>
              <a:rPr lang="en-US" sz="1200" dirty="0">
                <a:latin typeface="Courier"/>
                <a:cs typeface="Courier"/>
              </a:rPr>
              <a:t>; ++j)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08            </a:t>
            </a:r>
            <a:r>
              <a:rPr lang="en-US" sz="1200" dirty="0" err="1">
                <a:latin typeface="Courier"/>
                <a:cs typeface="Courier"/>
              </a:rPr>
              <a:t>doMoreWork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[j]);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09  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10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11    }</a:t>
            </a:r>
            <a:endParaRPr lang="es-ES" sz="1200" dirty="0">
              <a:latin typeface="Courier"/>
              <a:cs typeface="Courier"/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2195736" y="4077072"/>
            <a:ext cx="3888432" cy="2134632"/>
            <a:chOff x="2144068" y="4192944"/>
            <a:chExt cx="3888432" cy="2134632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8800" y="4562276"/>
              <a:ext cx="2933700" cy="1765300"/>
            </a:xfrm>
            <a:prstGeom prst="rect">
              <a:avLst/>
            </a:prstGeom>
          </p:spPr>
        </p:pic>
        <p:sp>
          <p:nvSpPr>
            <p:cNvPr id="11" name="CuadroTexto 10"/>
            <p:cNvSpPr txBox="1"/>
            <p:nvPr/>
          </p:nvSpPr>
          <p:spPr>
            <a:xfrm>
              <a:off x="2144068" y="5281430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Threads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3756997" y="4192944"/>
              <a:ext cx="1087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Iterations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14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447AF-3C5A-472A-A30C-5E849C58185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dynamic parallelism, non-uniform workload</a:t>
            </a:r>
            <a:endParaRPr lang="en-US" sz="2353" dirty="0"/>
          </a:p>
          <a:p>
            <a:pPr>
              <a:buNone/>
            </a:pPr>
            <a:endParaRPr lang="en-US" sz="2353" dirty="0"/>
          </a:p>
        </p:txBody>
      </p:sp>
      <p:sp>
        <p:nvSpPr>
          <p:cNvPr id="7" name="CuadroTexto 6"/>
          <p:cNvSpPr txBox="1"/>
          <p:nvPr/>
        </p:nvSpPr>
        <p:spPr>
          <a:xfrm>
            <a:off x="1016618" y="1653938"/>
            <a:ext cx="7110765" cy="3970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01    __global__ void </a:t>
            </a:r>
            <a:r>
              <a:rPr lang="en-US" sz="1200" dirty="0" err="1">
                <a:latin typeface="Courier"/>
                <a:cs typeface="Courier"/>
              </a:rPr>
              <a:t>kernel_parent</a:t>
            </a:r>
            <a:r>
              <a:rPr lang="en-US" sz="1200" dirty="0">
                <a:latin typeface="Courier"/>
                <a:cs typeface="Courier"/>
              </a:rPr>
              <a:t>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* start,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* end,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02        float* 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, float* 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03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04       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 = </a:t>
            </a:r>
            <a:r>
              <a:rPr lang="en-US" sz="1200" dirty="0" err="1">
                <a:latin typeface="Courier"/>
                <a:cs typeface="Courier"/>
              </a:rPr>
              <a:t>blockIdx.x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blockDim.x</a:t>
            </a:r>
            <a:r>
              <a:rPr lang="en-US" sz="1200" dirty="0">
                <a:latin typeface="Courier"/>
                <a:cs typeface="Courier"/>
              </a:rPr>
              <a:t> + 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05        </a:t>
            </a:r>
            <a:r>
              <a:rPr lang="en-US" sz="1200" dirty="0" err="1">
                <a:latin typeface="Courier"/>
                <a:cs typeface="Courier"/>
              </a:rPr>
              <a:t>doSomeWork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someData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]);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06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07        </a:t>
            </a:r>
            <a:r>
              <a:rPr lang="en-US" sz="1200" b="1" dirty="0" err="1">
                <a:latin typeface="Courier"/>
                <a:cs typeface="Courier"/>
              </a:rPr>
              <a:t>kernel_child</a:t>
            </a:r>
            <a:r>
              <a:rPr lang="en-US" sz="1200" b="1" dirty="0">
                <a:latin typeface="Courier"/>
                <a:cs typeface="Courier"/>
              </a:rPr>
              <a:t> &lt;&lt;&lt; ceil((end[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]-start[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])/256.0) , 256 &gt;&gt;&gt;</a:t>
            </a:r>
            <a:endParaRPr lang="es-ES" sz="1200" b="1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08            </a:t>
            </a:r>
            <a:r>
              <a:rPr lang="en-US" sz="1200" b="1" dirty="0">
                <a:latin typeface="Courier"/>
                <a:cs typeface="Courier"/>
              </a:rPr>
              <a:t>(start[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], end[</a:t>
            </a:r>
            <a:r>
              <a:rPr lang="en-US" sz="1200" b="1" dirty="0" err="1">
                <a:latin typeface="Courier"/>
                <a:cs typeface="Courier"/>
              </a:rPr>
              <a:t>i</a:t>
            </a:r>
            <a:r>
              <a:rPr lang="en-US" sz="1200" b="1" dirty="0">
                <a:latin typeface="Courier"/>
                <a:cs typeface="Courier"/>
              </a:rPr>
              <a:t>], </a:t>
            </a:r>
            <a:r>
              <a:rPr lang="en-US" sz="1200" b="1" dirty="0" err="1">
                <a:latin typeface="Courier"/>
                <a:cs typeface="Courier"/>
              </a:rPr>
              <a:t>moreData</a:t>
            </a:r>
            <a:r>
              <a:rPr lang="en-US" sz="1200" b="1" dirty="0">
                <a:latin typeface="Courier"/>
                <a:cs typeface="Courier"/>
              </a:rPr>
              <a:t>);</a:t>
            </a:r>
            <a:endParaRPr lang="es-ES" sz="1200" b="1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09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10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11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12    __global__ void </a:t>
            </a:r>
            <a:r>
              <a:rPr lang="en-US" sz="1200" dirty="0" err="1">
                <a:latin typeface="Courier"/>
                <a:cs typeface="Courier"/>
              </a:rPr>
              <a:t>kernel_child</a:t>
            </a:r>
            <a:r>
              <a:rPr lang="en-US" sz="1200" dirty="0">
                <a:latin typeface="Courier"/>
                <a:cs typeface="Courier"/>
              </a:rPr>
              <a:t>(unsigned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start,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end,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13        float* 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14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15        unsigned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j = start + </a:t>
            </a:r>
            <a:r>
              <a:rPr lang="en-US" sz="1200" dirty="0" err="1">
                <a:latin typeface="Courier"/>
                <a:cs typeface="Courier"/>
              </a:rPr>
              <a:t>blockIdx.x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blockDim.x</a:t>
            </a:r>
            <a:r>
              <a:rPr lang="en-US" sz="1200" dirty="0">
                <a:latin typeface="Courier"/>
                <a:cs typeface="Courier"/>
              </a:rPr>
              <a:t> + 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16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17        if(j &lt; end)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18            </a:t>
            </a:r>
            <a:r>
              <a:rPr lang="en-US" sz="1200" dirty="0" err="1">
                <a:latin typeface="Courier"/>
                <a:cs typeface="Courier"/>
              </a:rPr>
              <a:t>doMoreWork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moreData</a:t>
            </a:r>
            <a:r>
              <a:rPr lang="en-US" sz="1200" dirty="0">
                <a:latin typeface="Courier"/>
                <a:cs typeface="Courier"/>
              </a:rPr>
              <a:t>[j]);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19  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20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21    }</a:t>
            </a:r>
            <a:endParaRPr lang="es-ES" sz="1200" dirty="0">
              <a:latin typeface="Courier"/>
              <a:cs typeface="Courier"/>
            </a:endParaRPr>
          </a:p>
        </p:txBody>
      </p:sp>
      <p:grpSp>
        <p:nvGrpSpPr>
          <p:cNvPr id="15" name="Agrupar 14"/>
          <p:cNvGrpSpPr/>
          <p:nvPr/>
        </p:nvGrpSpPr>
        <p:grpSpPr>
          <a:xfrm>
            <a:off x="3966611" y="4591504"/>
            <a:ext cx="4769296" cy="2129971"/>
            <a:chOff x="4258238" y="4591504"/>
            <a:chExt cx="4477669" cy="2129971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9507" y="4956175"/>
              <a:ext cx="2946400" cy="1765300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6245009" y="4591504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Child threads</a:t>
              </a:r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4258238" y="5636538"/>
              <a:ext cx="1249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Kernel calls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43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0D3665-EAA7-494D-819C-700184893BE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Introduction to CUDA Dynamic Parallelism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simple example</a:t>
            </a:r>
          </a:p>
          <a:p>
            <a:r>
              <a:rPr lang="en-US" sz="2400" dirty="0"/>
              <a:t>A more complex example: Bezier lines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recursive example: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Quadtree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Other cases: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Library calls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Saving kernel launches in ARM CPUs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What is and what is not dynamic parallelism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56240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B4CE52-BC18-4245-B3A0-B4F0C0F7EFE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Linear Bezier curves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Quadratic Bezier curves</a:t>
            </a:r>
          </a:p>
          <a:p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88" y="2166756"/>
            <a:ext cx="6588705" cy="319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87" y="4220339"/>
            <a:ext cx="7728619" cy="31917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287" y="5037701"/>
            <a:ext cx="6197886" cy="3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6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8B9195B-3A89-4532-BA80-43F08720386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Control points</a:t>
            </a:r>
          </a:p>
          <a:p>
            <a:pPr lvl="1"/>
            <a:r>
              <a:rPr lang="en-US" sz="2000" dirty="0"/>
              <a:t>Curvature calculation</a:t>
            </a:r>
          </a:p>
          <a:p>
            <a:pPr lvl="1"/>
            <a:r>
              <a:rPr lang="en-US" dirty="0"/>
              <a:t>Tessellation points</a:t>
            </a:r>
            <a:endParaRPr lang="en-US" sz="2000" dirty="0"/>
          </a:p>
          <a:p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867" y="2781248"/>
            <a:ext cx="2846613" cy="2880000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049" y="2781248"/>
            <a:ext cx="2863111" cy="2880000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2781248"/>
            <a:ext cx="2863259" cy="2880000"/>
          </a:xfrm>
          <a:prstGeom prst="rect">
            <a:avLst/>
          </a:prstGeom>
          <a:ln>
            <a:solidFill>
              <a:srgbClr val="4F81BD"/>
            </a:solidFill>
          </a:ln>
        </p:spPr>
      </p:pic>
      <p:sp>
        <p:nvSpPr>
          <p:cNvPr id="10" name="CuadroTexto 9"/>
          <p:cNvSpPr txBox="1"/>
          <p:nvPr/>
        </p:nvSpPr>
        <p:spPr>
          <a:xfrm>
            <a:off x="179512" y="5003884"/>
            <a:ext cx="42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baseline="-25000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259632" y="3645024"/>
            <a:ext cx="42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baseline="-25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483768" y="2564904"/>
            <a:ext cx="42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baseline="-25000" dirty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023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C4BCF-897B-40DA-9979-9AE961E484B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dynamic parallelism</a:t>
            </a:r>
            <a:r>
              <a:rPr lang="en-US" dirty="0"/>
              <a:t>: One line per block</a:t>
            </a:r>
            <a:endParaRPr lang="en-US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285966" y="1291327"/>
            <a:ext cx="6572069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"/>
                <a:cs typeface="Courier"/>
              </a:rPr>
              <a:t>046    __global__ void </a:t>
            </a:r>
            <a:r>
              <a:rPr lang="en-US" sz="1000" dirty="0" err="1">
                <a:latin typeface="Courier"/>
                <a:cs typeface="Courier"/>
              </a:rPr>
              <a:t>computeBezierLines</a:t>
            </a:r>
            <a:r>
              <a:rPr lang="en-US" sz="1000" dirty="0">
                <a:latin typeface="Courier"/>
                <a:cs typeface="Courier"/>
              </a:rPr>
              <a:t>(</a:t>
            </a:r>
            <a:r>
              <a:rPr lang="en-US" sz="1000" dirty="0" err="1">
                <a:latin typeface="Courier"/>
                <a:cs typeface="Courier"/>
              </a:rPr>
              <a:t>BezierLine</a:t>
            </a:r>
            <a:r>
              <a:rPr lang="en-US" sz="1000" dirty="0">
                <a:latin typeface="Courier"/>
                <a:cs typeface="Courier"/>
              </a:rPr>
              <a:t> *</a:t>
            </a:r>
            <a:r>
              <a:rPr lang="en-US" sz="1000" dirty="0" err="1">
                <a:latin typeface="Courier"/>
                <a:cs typeface="Courier"/>
              </a:rPr>
              <a:t>bLines</a:t>
            </a:r>
            <a:r>
              <a:rPr lang="en-US" sz="1000" dirty="0">
                <a:latin typeface="Courier"/>
                <a:cs typeface="Courier"/>
              </a:rPr>
              <a:t>, 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nLines</a:t>
            </a:r>
            <a:r>
              <a:rPr lang="en-US" sz="1000" dirty="0">
                <a:latin typeface="Courier"/>
                <a:cs typeface="Courier"/>
              </a:rPr>
              <a:t>) {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047      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bidx</a:t>
            </a:r>
            <a:r>
              <a:rPr lang="en-US" sz="1000" dirty="0">
                <a:latin typeface="Courier"/>
                <a:cs typeface="Courier"/>
              </a:rPr>
              <a:t> = </a:t>
            </a:r>
            <a:r>
              <a:rPr lang="en-US" sz="1000" dirty="0" err="1">
                <a:latin typeface="Courier"/>
                <a:cs typeface="Courier"/>
              </a:rPr>
              <a:t>blockIdx.x</a:t>
            </a:r>
            <a:r>
              <a:rPr lang="en-US" sz="1000" dirty="0">
                <a:latin typeface="Courier"/>
                <a:cs typeface="Courier"/>
              </a:rPr>
              <a:t>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048      if(</a:t>
            </a:r>
            <a:r>
              <a:rPr lang="en-US" sz="1000" dirty="0" err="1">
                <a:latin typeface="Courier"/>
                <a:cs typeface="Courier"/>
              </a:rPr>
              <a:t>bidx</a:t>
            </a:r>
            <a:r>
              <a:rPr lang="en-US" sz="1000" dirty="0">
                <a:latin typeface="Courier"/>
                <a:cs typeface="Courier"/>
              </a:rPr>
              <a:t> &lt; </a:t>
            </a:r>
            <a:r>
              <a:rPr lang="en-US" sz="1000" dirty="0" err="1">
                <a:latin typeface="Courier"/>
                <a:cs typeface="Courier"/>
              </a:rPr>
              <a:t>nLines</a:t>
            </a:r>
            <a:r>
              <a:rPr lang="en-US" sz="1000" dirty="0">
                <a:latin typeface="Courier"/>
                <a:cs typeface="Courier"/>
              </a:rPr>
              <a:t>){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049         </a:t>
            </a:r>
            <a:r>
              <a:rPr lang="en-US" sz="1000" dirty="0">
                <a:solidFill>
                  <a:schemeClr val="accent1">
                    <a:lumMod val="90000"/>
                  </a:schemeClr>
                </a:solidFill>
                <a:latin typeface="Courier"/>
                <a:cs typeface="Courier"/>
              </a:rPr>
              <a:t>//Compute the curvature of the line </a:t>
            </a:r>
            <a:endParaRPr lang="es-ES" sz="1000" dirty="0">
              <a:solidFill>
                <a:schemeClr val="accent1">
                  <a:lumMod val="90000"/>
                </a:schemeClr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050         float curvature = </a:t>
            </a:r>
            <a:r>
              <a:rPr lang="en-US" sz="1000" dirty="0" err="1">
                <a:latin typeface="Courier"/>
                <a:cs typeface="Courier"/>
              </a:rPr>
              <a:t>computeCurvature</a:t>
            </a:r>
            <a:r>
              <a:rPr lang="en-US" sz="1000" dirty="0">
                <a:latin typeface="Courier"/>
                <a:cs typeface="Courier"/>
              </a:rPr>
              <a:t>(</a:t>
            </a:r>
            <a:r>
              <a:rPr lang="en-US" sz="1000" dirty="0" err="1">
                <a:latin typeface="Courier"/>
                <a:cs typeface="Courier"/>
              </a:rPr>
              <a:t>bLines</a:t>
            </a:r>
            <a:r>
              <a:rPr lang="en-US" sz="1000" dirty="0">
                <a:latin typeface="Courier"/>
                <a:cs typeface="Courier"/>
              </a:rPr>
              <a:t>);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051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052       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//From the curvature, compute the number of tessellation points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053         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nTessPoints</a:t>
            </a:r>
            <a:r>
              <a:rPr lang="en-US" sz="1000" dirty="0">
                <a:latin typeface="Courier"/>
                <a:cs typeface="Courier"/>
              </a:rPr>
              <a:t> = min(max((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)(curvature*16.0f),4),32);  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054         </a:t>
            </a:r>
            <a:r>
              <a:rPr lang="en-US" sz="1000" dirty="0" err="1">
                <a:latin typeface="Courier"/>
                <a:cs typeface="Courier"/>
              </a:rPr>
              <a:t>bLines</a:t>
            </a:r>
            <a:r>
              <a:rPr lang="en-US" sz="1000" dirty="0">
                <a:latin typeface="Courier"/>
                <a:cs typeface="Courier"/>
              </a:rPr>
              <a:t>[</a:t>
            </a:r>
            <a:r>
              <a:rPr lang="en-US" sz="1000" dirty="0" err="1">
                <a:latin typeface="Courier"/>
                <a:cs typeface="Courier"/>
              </a:rPr>
              <a:t>bidx</a:t>
            </a:r>
            <a:r>
              <a:rPr lang="en-US" sz="1000" dirty="0">
                <a:latin typeface="Courier"/>
                <a:cs typeface="Courier"/>
              </a:rPr>
              <a:t>].</a:t>
            </a:r>
            <a:r>
              <a:rPr lang="en-US" sz="1000" dirty="0" err="1">
                <a:latin typeface="Courier"/>
                <a:cs typeface="Courier"/>
              </a:rPr>
              <a:t>nVertices</a:t>
            </a:r>
            <a:r>
              <a:rPr lang="en-US" sz="1000" dirty="0">
                <a:latin typeface="Courier"/>
                <a:cs typeface="Courier"/>
              </a:rPr>
              <a:t> = </a:t>
            </a:r>
            <a:r>
              <a:rPr lang="en-US" sz="1000" dirty="0" err="1">
                <a:latin typeface="Courier"/>
                <a:cs typeface="Courier"/>
              </a:rPr>
              <a:t>nTessPoints</a:t>
            </a:r>
            <a:r>
              <a:rPr lang="en-US" sz="1000" dirty="0">
                <a:latin typeface="Courier"/>
                <a:cs typeface="Courier"/>
              </a:rPr>
              <a:t>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055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056       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//Loop through vertices to be tessellated, incrementing by </a:t>
            </a:r>
            <a:r>
              <a:rPr lang="en-US" sz="1000" dirty="0" err="1">
                <a:solidFill>
                  <a:srgbClr val="94B6E1"/>
                </a:solidFill>
                <a:latin typeface="Courier"/>
                <a:cs typeface="Courier"/>
              </a:rPr>
              <a:t>blockDim.x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057         for(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inc</a:t>
            </a:r>
            <a:r>
              <a:rPr lang="en-US" sz="1000" dirty="0">
                <a:latin typeface="Courier"/>
                <a:cs typeface="Courier"/>
              </a:rPr>
              <a:t> = 0; </a:t>
            </a:r>
            <a:r>
              <a:rPr lang="en-US" sz="1000" dirty="0" err="1">
                <a:latin typeface="Courier"/>
                <a:cs typeface="Courier"/>
              </a:rPr>
              <a:t>inc</a:t>
            </a:r>
            <a:r>
              <a:rPr lang="en-US" sz="1000" dirty="0">
                <a:latin typeface="Courier"/>
                <a:cs typeface="Courier"/>
              </a:rPr>
              <a:t> &lt; </a:t>
            </a:r>
            <a:r>
              <a:rPr lang="en-US" sz="1000" dirty="0" err="1">
                <a:latin typeface="Courier"/>
                <a:cs typeface="Courier"/>
              </a:rPr>
              <a:t>nTessPoints</a:t>
            </a:r>
            <a:r>
              <a:rPr lang="en-US" sz="1000" dirty="0">
                <a:latin typeface="Courier"/>
                <a:cs typeface="Courier"/>
              </a:rPr>
              <a:t>; </a:t>
            </a:r>
            <a:r>
              <a:rPr lang="en-US" sz="1000" dirty="0" err="1">
                <a:latin typeface="Courier"/>
                <a:cs typeface="Courier"/>
              </a:rPr>
              <a:t>inc</a:t>
            </a:r>
            <a:r>
              <a:rPr lang="en-US" sz="1000" dirty="0">
                <a:latin typeface="Courier"/>
                <a:cs typeface="Courier"/>
              </a:rPr>
              <a:t> += </a:t>
            </a:r>
            <a:r>
              <a:rPr lang="en-US" sz="1000" dirty="0" err="1">
                <a:latin typeface="Courier"/>
                <a:cs typeface="Courier"/>
              </a:rPr>
              <a:t>blockDim.x</a:t>
            </a:r>
            <a:r>
              <a:rPr lang="en-US" sz="1000" dirty="0">
                <a:latin typeface="Courier"/>
                <a:cs typeface="Courier"/>
              </a:rPr>
              <a:t>){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058           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idx</a:t>
            </a:r>
            <a:r>
              <a:rPr lang="en-US" sz="1000" dirty="0">
                <a:latin typeface="Courier"/>
                <a:cs typeface="Courier"/>
              </a:rPr>
              <a:t> = </a:t>
            </a:r>
            <a:r>
              <a:rPr lang="en-US" sz="1000" dirty="0" err="1">
                <a:latin typeface="Courier"/>
                <a:cs typeface="Courier"/>
              </a:rPr>
              <a:t>inc</a:t>
            </a:r>
            <a:r>
              <a:rPr lang="en-US" sz="1000" dirty="0">
                <a:latin typeface="Courier"/>
                <a:cs typeface="Courier"/>
              </a:rPr>
              <a:t> + </a:t>
            </a:r>
            <a:r>
              <a:rPr lang="en-US" sz="1000" dirty="0" err="1">
                <a:latin typeface="Courier"/>
                <a:cs typeface="Courier"/>
              </a:rPr>
              <a:t>threadIdx.x</a:t>
            </a:r>
            <a:r>
              <a:rPr lang="en-US" sz="1000" dirty="0">
                <a:latin typeface="Courier"/>
                <a:cs typeface="Courier"/>
              </a:rPr>
              <a:t>;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//Compute a unique index for this point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059           if(</a:t>
            </a:r>
            <a:r>
              <a:rPr lang="en-US" sz="1000" dirty="0" err="1">
                <a:latin typeface="Courier"/>
                <a:cs typeface="Courier"/>
              </a:rPr>
              <a:t>idx</a:t>
            </a:r>
            <a:r>
              <a:rPr lang="en-US" sz="1000" dirty="0">
                <a:latin typeface="Courier"/>
                <a:cs typeface="Courier"/>
              </a:rPr>
              <a:t> &lt; </a:t>
            </a:r>
            <a:r>
              <a:rPr lang="en-US" sz="1000" dirty="0" err="1">
                <a:latin typeface="Courier"/>
                <a:cs typeface="Courier"/>
              </a:rPr>
              <a:t>nTessPoints</a:t>
            </a:r>
            <a:r>
              <a:rPr lang="en-US" sz="1000" dirty="0">
                <a:latin typeface="Courier"/>
                <a:cs typeface="Courier"/>
              </a:rPr>
              <a:t>){  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060             float u = (float)</a:t>
            </a:r>
            <a:r>
              <a:rPr lang="en-US" sz="1000" dirty="0" err="1">
                <a:latin typeface="Courier"/>
                <a:cs typeface="Courier"/>
              </a:rPr>
              <a:t>idx</a:t>
            </a:r>
            <a:r>
              <a:rPr lang="en-US" sz="1000" dirty="0">
                <a:latin typeface="Courier"/>
                <a:cs typeface="Courier"/>
              </a:rPr>
              <a:t>/(float)(nTessPoints-1);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//Compute u from </a:t>
            </a:r>
            <a:r>
              <a:rPr lang="en-US" sz="1000" dirty="0" err="1">
                <a:solidFill>
                  <a:srgbClr val="94B6E1"/>
                </a:solidFill>
                <a:latin typeface="Courier"/>
                <a:cs typeface="Courier"/>
              </a:rPr>
              <a:t>idx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061             float </a:t>
            </a:r>
            <a:r>
              <a:rPr lang="en-US" sz="1000" dirty="0" err="1">
                <a:latin typeface="Courier"/>
                <a:cs typeface="Courier"/>
              </a:rPr>
              <a:t>omu</a:t>
            </a:r>
            <a:r>
              <a:rPr lang="en-US" sz="1000" dirty="0">
                <a:latin typeface="Courier"/>
                <a:cs typeface="Courier"/>
              </a:rPr>
              <a:t> = 1.0f - u; 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//pre-compute one minus u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062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063             float B3u[3];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//Compute quadratic Bezier coefficients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064             B3u[0] = </a:t>
            </a:r>
            <a:r>
              <a:rPr lang="en-US" sz="1000" dirty="0" err="1">
                <a:latin typeface="Courier"/>
                <a:cs typeface="Courier"/>
              </a:rPr>
              <a:t>omu</a:t>
            </a:r>
            <a:r>
              <a:rPr lang="en-US" sz="1000" dirty="0">
                <a:latin typeface="Courier"/>
                <a:cs typeface="Courier"/>
              </a:rPr>
              <a:t>*</a:t>
            </a:r>
            <a:r>
              <a:rPr lang="en-US" sz="1000" dirty="0" err="1">
                <a:latin typeface="Courier"/>
                <a:cs typeface="Courier"/>
              </a:rPr>
              <a:t>omu</a:t>
            </a:r>
            <a:r>
              <a:rPr lang="en-US" sz="1000" dirty="0">
                <a:latin typeface="Courier"/>
                <a:cs typeface="Courier"/>
              </a:rPr>
              <a:t>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065             B3u[1] = 2.0f*u*</a:t>
            </a:r>
            <a:r>
              <a:rPr lang="en-US" sz="1000" dirty="0" err="1">
                <a:latin typeface="Courier"/>
                <a:cs typeface="Courier"/>
              </a:rPr>
              <a:t>omu</a:t>
            </a:r>
            <a:r>
              <a:rPr lang="en-US" sz="1000" dirty="0">
                <a:latin typeface="Courier"/>
                <a:cs typeface="Courier"/>
              </a:rPr>
              <a:t>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066             B3u[2] = u*u;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067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068             float2 position = {0,0};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//Set position to zero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069             for(</a:t>
            </a:r>
            <a:r>
              <a:rPr lang="en-US" sz="1000" dirty="0" err="1">
                <a:latin typeface="Courier"/>
                <a:cs typeface="Courier"/>
              </a:rPr>
              <a:t>int</a:t>
            </a:r>
            <a:r>
              <a:rPr lang="en-US" sz="1000" dirty="0">
                <a:latin typeface="Courier"/>
                <a:cs typeface="Courier"/>
              </a:rPr>
              <a:t> </a:t>
            </a:r>
            <a:r>
              <a:rPr lang="en-US" sz="1000" dirty="0" err="1">
                <a:latin typeface="Courier"/>
                <a:cs typeface="Courier"/>
              </a:rPr>
              <a:t>i</a:t>
            </a:r>
            <a:r>
              <a:rPr lang="en-US" sz="1000" dirty="0">
                <a:latin typeface="Courier"/>
                <a:cs typeface="Courier"/>
              </a:rPr>
              <a:t> = 0; </a:t>
            </a:r>
            <a:r>
              <a:rPr lang="en-US" sz="1000" dirty="0" err="1">
                <a:latin typeface="Courier"/>
                <a:cs typeface="Courier"/>
              </a:rPr>
              <a:t>i</a:t>
            </a:r>
            <a:r>
              <a:rPr lang="en-US" sz="1000" dirty="0">
                <a:latin typeface="Courier"/>
                <a:cs typeface="Courier"/>
              </a:rPr>
              <a:t> &lt; 3; </a:t>
            </a:r>
            <a:r>
              <a:rPr lang="en-US" sz="1000" dirty="0" err="1">
                <a:latin typeface="Courier"/>
                <a:cs typeface="Courier"/>
              </a:rPr>
              <a:t>i</a:t>
            </a:r>
            <a:r>
              <a:rPr lang="en-US" sz="1000" dirty="0">
                <a:latin typeface="Courier"/>
                <a:cs typeface="Courier"/>
              </a:rPr>
              <a:t>++){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070             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//Add the contribution of the </a:t>
            </a:r>
            <a:r>
              <a:rPr lang="en-US" sz="1000" dirty="0" err="1">
                <a:solidFill>
                  <a:srgbClr val="94B6E1"/>
                </a:solidFill>
                <a:latin typeface="Courier"/>
                <a:cs typeface="Courier"/>
              </a:rPr>
              <a:t>i'th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 control point to position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071               position = position + B3u[</a:t>
            </a:r>
            <a:r>
              <a:rPr lang="en-US" sz="1000" dirty="0" err="1">
                <a:latin typeface="Courier"/>
                <a:cs typeface="Courier"/>
              </a:rPr>
              <a:t>i</a:t>
            </a:r>
            <a:r>
              <a:rPr lang="en-US" sz="1000" dirty="0">
                <a:latin typeface="Courier"/>
                <a:cs typeface="Courier"/>
              </a:rPr>
              <a:t>] * </a:t>
            </a:r>
            <a:r>
              <a:rPr lang="en-US" sz="1000" dirty="0" err="1">
                <a:latin typeface="Courier"/>
                <a:cs typeface="Courier"/>
              </a:rPr>
              <a:t>bLines</a:t>
            </a:r>
            <a:r>
              <a:rPr lang="en-US" sz="1000" dirty="0">
                <a:latin typeface="Courier"/>
                <a:cs typeface="Courier"/>
              </a:rPr>
              <a:t>[</a:t>
            </a:r>
            <a:r>
              <a:rPr lang="en-US" sz="1000" dirty="0" err="1">
                <a:latin typeface="Courier"/>
                <a:cs typeface="Courier"/>
              </a:rPr>
              <a:t>bidx</a:t>
            </a:r>
            <a:r>
              <a:rPr lang="en-US" sz="1000" dirty="0">
                <a:latin typeface="Courier"/>
                <a:cs typeface="Courier"/>
              </a:rPr>
              <a:t>].CP[</a:t>
            </a:r>
            <a:r>
              <a:rPr lang="en-US" sz="1000" dirty="0" err="1">
                <a:latin typeface="Courier"/>
                <a:cs typeface="Courier"/>
              </a:rPr>
              <a:t>i</a:t>
            </a:r>
            <a:r>
              <a:rPr lang="en-US" sz="1000" dirty="0">
                <a:latin typeface="Courier"/>
                <a:cs typeface="Courier"/>
              </a:rPr>
              <a:t>]; 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072             }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073             </a:t>
            </a:r>
            <a:r>
              <a:rPr lang="en-US" sz="1000" dirty="0">
                <a:solidFill>
                  <a:srgbClr val="94B6E1"/>
                </a:solidFill>
                <a:latin typeface="Courier"/>
                <a:cs typeface="Courier"/>
              </a:rPr>
              <a:t>//Assign value of vertex position to the correct array element</a:t>
            </a:r>
            <a:endParaRPr lang="es-ES" sz="10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074             </a:t>
            </a:r>
            <a:r>
              <a:rPr lang="en-US" sz="1000" dirty="0" err="1">
                <a:latin typeface="Courier"/>
                <a:cs typeface="Courier"/>
              </a:rPr>
              <a:t>bLines</a:t>
            </a:r>
            <a:r>
              <a:rPr lang="en-US" sz="1000" dirty="0">
                <a:latin typeface="Courier"/>
                <a:cs typeface="Courier"/>
              </a:rPr>
              <a:t>[</a:t>
            </a:r>
            <a:r>
              <a:rPr lang="en-US" sz="1000" dirty="0" err="1">
                <a:latin typeface="Courier"/>
                <a:cs typeface="Courier"/>
              </a:rPr>
              <a:t>bidx</a:t>
            </a:r>
            <a:r>
              <a:rPr lang="en-US" sz="1000" dirty="0">
                <a:latin typeface="Courier"/>
                <a:cs typeface="Courier"/>
              </a:rPr>
              <a:t>].</a:t>
            </a:r>
            <a:r>
              <a:rPr lang="en-US" sz="1000" dirty="0" err="1">
                <a:latin typeface="Courier"/>
                <a:cs typeface="Courier"/>
              </a:rPr>
              <a:t>vertexPos</a:t>
            </a:r>
            <a:r>
              <a:rPr lang="en-US" sz="1000" dirty="0">
                <a:latin typeface="Courier"/>
                <a:cs typeface="Courier"/>
              </a:rPr>
              <a:t>[</a:t>
            </a:r>
            <a:r>
              <a:rPr lang="en-US" sz="1000" dirty="0" err="1">
                <a:latin typeface="Courier"/>
                <a:cs typeface="Courier"/>
              </a:rPr>
              <a:t>idx</a:t>
            </a:r>
            <a:r>
              <a:rPr lang="en-US" sz="1000" dirty="0">
                <a:latin typeface="Courier"/>
                <a:cs typeface="Courier"/>
              </a:rPr>
              <a:t>] = position; 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075     	 }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076        }</a:t>
            </a:r>
            <a:endParaRPr lang="es-ES" sz="1000" dirty="0">
              <a:latin typeface="Courier"/>
              <a:cs typeface="Courier"/>
            </a:endParaRPr>
          </a:p>
          <a:p>
            <a:r>
              <a:rPr lang="en-US" sz="1000" dirty="0">
                <a:latin typeface="Courier"/>
                <a:cs typeface="Courier"/>
              </a:rPr>
              <a:t>077    }</a:t>
            </a:r>
            <a:endParaRPr lang="es-ES" sz="10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14783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7BCAC-14C8-4551-9C1C-A04DAFA98E6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dynamic parallelism</a:t>
            </a:r>
          </a:p>
          <a:p>
            <a:r>
              <a:rPr lang="en-US" sz="2400" dirty="0"/>
              <a:t>Parent: One line per thread</a:t>
            </a:r>
          </a:p>
          <a:p>
            <a:endParaRPr lang="en-US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71195" y="2363980"/>
            <a:ext cx="8773030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30    __global__ void </a:t>
            </a:r>
            <a:r>
              <a:rPr lang="en-US" sz="1200" dirty="0" err="1">
                <a:latin typeface="Courier"/>
                <a:cs typeface="Courier"/>
              </a:rPr>
              <a:t>computeBezierLines_parent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BezierLine</a:t>
            </a:r>
            <a:r>
              <a:rPr lang="en-US" sz="1200" dirty="0">
                <a:latin typeface="Courier"/>
                <a:cs typeface="Courier"/>
              </a:rPr>
              <a:t> *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nLines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31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//Compute a unique index for each Bezier line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32     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 = 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 + </a:t>
            </a:r>
            <a:r>
              <a:rPr lang="en-US" sz="1200" dirty="0" err="1">
                <a:latin typeface="Courier"/>
                <a:cs typeface="Courier"/>
              </a:rPr>
              <a:t>blockDim.x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blockIdx.x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33      if(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 &lt; </a:t>
            </a:r>
            <a:r>
              <a:rPr lang="en-US" sz="1200" dirty="0" err="1">
                <a:latin typeface="Courier"/>
                <a:cs typeface="Courier"/>
              </a:rPr>
              <a:t>nLines</a:t>
            </a:r>
            <a:r>
              <a:rPr lang="en-US" sz="1200" dirty="0">
                <a:latin typeface="Courier"/>
                <a:cs typeface="Courier"/>
              </a:rPr>
              <a:t>){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34  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//Compute the curvature of the line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35        float curvature = </a:t>
            </a:r>
            <a:r>
              <a:rPr lang="en-US" sz="1200" dirty="0" err="1">
                <a:latin typeface="Courier"/>
                <a:cs typeface="Courier"/>
              </a:rPr>
              <a:t>computeCurvature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36  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//From the curvature, compute the number of tessellation points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37       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 = min(max((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)(curvature*16.0f),4),MAX_TESS_POINTS);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38        </a:t>
            </a:r>
            <a:r>
              <a:rPr lang="en-US" sz="1200" dirty="0" err="1">
                <a:latin typeface="Courier"/>
                <a:cs typeface="Courier"/>
              </a:rPr>
              <a:t>cudaMalloc</a:t>
            </a:r>
            <a:r>
              <a:rPr lang="en-US" sz="1200" dirty="0">
                <a:latin typeface="Courier"/>
                <a:cs typeface="Courier"/>
              </a:rPr>
              <a:t>((void**)&amp;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vertexPos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sizeof</a:t>
            </a:r>
            <a:r>
              <a:rPr lang="en-US" sz="1200" dirty="0">
                <a:latin typeface="Courier"/>
                <a:cs typeface="Courier"/>
              </a:rPr>
              <a:t>(float2));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39  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//Call the child kernel to compute the tessellated points for each line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40        </a:t>
            </a:r>
            <a:r>
              <a:rPr lang="en-US" sz="1200" dirty="0" err="1">
                <a:latin typeface="Courier"/>
                <a:cs typeface="Courier"/>
              </a:rPr>
              <a:t>computeBezierLine_child</a:t>
            </a:r>
            <a:r>
              <a:rPr lang="en-US" sz="1200" dirty="0">
                <a:latin typeface="Courier"/>
                <a:cs typeface="Courier"/>
              </a:rPr>
              <a:t>&lt;&lt;&lt;ceil((float)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/32.0f), 32&gt;&gt;&gt;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41          (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42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43    }</a:t>
            </a:r>
            <a:endParaRPr lang="es-ES" sz="12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1719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D125C-37C7-4696-BBB1-37AFFA3F51B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dynamic parallelism</a:t>
            </a:r>
          </a:p>
          <a:p>
            <a:r>
              <a:rPr lang="en-US" sz="2400" dirty="0"/>
              <a:t>Child</a:t>
            </a:r>
          </a:p>
          <a:p>
            <a:endParaRPr lang="en-US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251520" y="2060848"/>
            <a:ext cx="8597225" cy="41549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07    __global__ void </a:t>
            </a:r>
            <a:r>
              <a:rPr lang="en-US" sz="1200" dirty="0" err="1">
                <a:latin typeface="Courier"/>
                <a:cs typeface="Courier"/>
              </a:rPr>
              <a:t>computeBezierLine_child</a:t>
            </a:r>
            <a:r>
              <a:rPr lang="en-US" sz="1200" dirty="0">
                <a:latin typeface="Courier"/>
                <a:cs typeface="Courier"/>
              </a:rPr>
              <a:t>(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BezierLine</a:t>
            </a:r>
            <a:r>
              <a:rPr lang="en-US" sz="1200" dirty="0">
                <a:latin typeface="Courier"/>
                <a:cs typeface="Courier"/>
              </a:rPr>
              <a:t>*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, 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08     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nTessPoints</a:t>
            </a:r>
            <a:r>
              <a:rPr lang="en-US" sz="1200" dirty="0">
                <a:latin typeface="Courier"/>
                <a:cs typeface="Courier"/>
              </a:rPr>
              <a:t>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09      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idx</a:t>
            </a:r>
            <a:r>
              <a:rPr lang="en-US" sz="1200" dirty="0">
                <a:latin typeface="Courier"/>
                <a:cs typeface="Courier"/>
              </a:rPr>
              <a:t> = 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 + </a:t>
            </a:r>
            <a:r>
              <a:rPr lang="en-US" sz="1200" dirty="0" err="1">
                <a:latin typeface="Courier"/>
                <a:cs typeface="Courier"/>
              </a:rPr>
              <a:t>blockDim.x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blockIdx.x</a:t>
            </a:r>
            <a:r>
              <a:rPr lang="en-US" sz="1200" dirty="0">
                <a:latin typeface="Courier"/>
                <a:cs typeface="Courier"/>
              </a:rPr>
              <a:t>;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//Compute </a:t>
            </a:r>
            <a:r>
              <a:rPr lang="en-US" sz="1200" dirty="0" err="1">
                <a:solidFill>
                  <a:srgbClr val="94B6E1"/>
                </a:solidFill>
                <a:latin typeface="Courier"/>
                <a:cs typeface="Courier"/>
              </a:rPr>
              <a:t>idx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unique to this vertex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10      if(</a:t>
            </a:r>
            <a:r>
              <a:rPr lang="en-US" sz="1200" dirty="0" err="1">
                <a:latin typeface="Courier"/>
                <a:cs typeface="Courier"/>
              </a:rPr>
              <a:t>idx</a:t>
            </a:r>
            <a:r>
              <a:rPr lang="en-US" sz="1200" dirty="0">
                <a:latin typeface="Courier"/>
                <a:cs typeface="Courier"/>
              </a:rPr>
              <a:t> &lt; </a:t>
            </a:r>
            <a:r>
              <a:rPr lang="en-US" sz="1200" dirty="0" err="1">
                <a:latin typeface="Courier"/>
                <a:cs typeface="Courier"/>
              </a:rPr>
              <a:t>nTessPoints</a:t>
            </a:r>
            <a:r>
              <a:rPr lang="en-US" sz="1200" dirty="0">
                <a:latin typeface="Courier"/>
                <a:cs typeface="Courier"/>
              </a:rPr>
              <a:t>){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11        float u = (float)</a:t>
            </a:r>
            <a:r>
              <a:rPr lang="en-US" sz="1200" dirty="0" err="1">
                <a:latin typeface="Courier"/>
                <a:cs typeface="Courier"/>
              </a:rPr>
              <a:t>idx</a:t>
            </a:r>
            <a:r>
              <a:rPr lang="en-US" sz="1200" dirty="0">
                <a:latin typeface="Courier"/>
                <a:cs typeface="Courier"/>
              </a:rPr>
              <a:t>/(float)(nTessPoints-1);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//Compute u from </a:t>
            </a:r>
            <a:r>
              <a:rPr lang="en-US" sz="1200" dirty="0" err="1">
                <a:solidFill>
                  <a:srgbClr val="94B6E1"/>
                </a:solidFill>
                <a:latin typeface="Courier"/>
                <a:cs typeface="Courier"/>
              </a:rPr>
              <a:t>idx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12        float </a:t>
            </a:r>
            <a:r>
              <a:rPr lang="en-US" sz="1200" dirty="0" err="1">
                <a:latin typeface="Courier"/>
                <a:cs typeface="Courier"/>
              </a:rPr>
              <a:t>omu</a:t>
            </a:r>
            <a:r>
              <a:rPr lang="en-US" sz="1200" dirty="0">
                <a:latin typeface="Courier"/>
                <a:cs typeface="Courier"/>
              </a:rPr>
              <a:t> = 1.0f - u;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//Pre-compute one minus u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13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14        float B3u[3];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//Compute quadratic Bezier coefficients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15        B3u[0] = </a:t>
            </a:r>
            <a:r>
              <a:rPr lang="en-US" sz="1200" dirty="0" err="1">
                <a:latin typeface="Courier"/>
                <a:cs typeface="Courier"/>
              </a:rPr>
              <a:t>omu</a:t>
            </a:r>
            <a:r>
              <a:rPr lang="en-US" sz="1200" dirty="0">
                <a:latin typeface="Courier"/>
                <a:cs typeface="Courier"/>
              </a:rPr>
              <a:t>*</a:t>
            </a:r>
            <a:r>
              <a:rPr lang="en-US" sz="1200" dirty="0" err="1">
                <a:latin typeface="Courier"/>
                <a:cs typeface="Courier"/>
              </a:rPr>
              <a:t>omu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16        B3u[1] = 2.0f*u*</a:t>
            </a:r>
            <a:r>
              <a:rPr lang="en-US" sz="1200" dirty="0" err="1">
                <a:latin typeface="Courier"/>
                <a:cs typeface="Courier"/>
              </a:rPr>
              <a:t>omu</a:t>
            </a:r>
            <a:r>
              <a:rPr lang="en-US" sz="1200" dirty="0">
                <a:latin typeface="Courier"/>
                <a:cs typeface="Courier"/>
              </a:rPr>
              <a:t>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17        B3u[2] = u*u;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18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19        float2 position = {0,0};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//Set position to zero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20        for(</a:t>
            </a:r>
            <a:r>
              <a:rPr lang="en-US" sz="1200" dirty="0" err="1">
                <a:latin typeface="Courier"/>
                <a:cs typeface="Courier"/>
              </a:rPr>
              <a:t>int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 = 0;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 &lt; 3; 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++) {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21    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//Add the contribution of the </a:t>
            </a:r>
            <a:r>
              <a:rPr lang="en-US" sz="1200" dirty="0" err="1">
                <a:solidFill>
                  <a:srgbClr val="94B6E1"/>
                </a:solidFill>
                <a:latin typeface="Courier"/>
                <a:cs typeface="Courier"/>
              </a:rPr>
              <a:t>i'th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control point to position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22          position = position + B3u[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] *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].CP[</a:t>
            </a:r>
            <a:r>
              <a:rPr lang="en-US" sz="1200" dirty="0" err="1">
                <a:latin typeface="Courier"/>
                <a:cs typeface="Courier"/>
              </a:rPr>
              <a:t>i</a:t>
            </a:r>
            <a:r>
              <a:rPr lang="en-US" sz="1200" dirty="0">
                <a:latin typeface="Courier"/>
                <a:cs typeface="Courier"/>
              </a:rPr>
              <a:t>];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23  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24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25        </a:t>
            </a:r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//Assign the value of the vertex position to the correct array element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26       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vertexPos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idx</a:t>
            </a:r>
            <a:r>
              <a:rPr lang="en-US" sz="1200" dirty="0">
                <a:latin typeface="Courier"/>
                <a:cs typeface="Courier"/>
              </a:rPr>
              <a:t>] = position;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27      }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28    }</a:t>
            </a:r>
            <a:endParaRPr lang="es-ES" sz="12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9427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0EBEFA-2BD5-4C27-8C6D-A249B0D10BF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Launch pool size</a:t>
            </a:r>
          </a:p>
          <a:p>
            <a:pPr lvl="1"/>
            <a:r>
              <a:rPr lang="en-US" sz="2000" dirty="0"/>
              <a:t>Fixed-size pool: default 2048</a:t>
            </a:r>
          </a:p>
          <a:p>
            <a:pPr lvl="1"/>
            <a:r>
              <a:rPr lang="en-US" sz="2000" dirty="0"/>
              <a:t>Variable-size pool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Before CUDA 6.0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Since CUDA 6.0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122" y="2683090"/>
            <a:ext cx="2526537" cy="95379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316" y="4149080"/>
            <a:ext cx="5905421" cy="196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6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CBA508-1CB6-446D-BE0B-3DD307CE41F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Streams</a:t>
            </a:r>
          </a:p>
        </p:txBody>
      </p:sp>
      <p:pic>
        <p:nvPicPr>
          <p:cNvPr id="4" name="Imagen 3" descr="streams0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91320"/>
            <a:ext cx="3467100" cy="1117600"/>
          </a:xfrm>
          <a:prstGeom prst="rect">
            <a:avLst/>
          </a:prstGeom>
        </p:spPr>
      </p:pic>
      <p:pic>
        <p:nvPicPr>
          <p:cNvPr id="5" name="Imagen 4" descr="streams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2" y="2670046"/>
            <a:ext cx="3543300" cy="635000"/>
          </a:xfrm>
          <a:prstGeom prst="rect">
            <a:avLst/>
          </a:prstGeom>
        </p:spPr>
      </p:pic>
      <p:pic>
        <p:nvPicPr>
          <p:cNvPr id="8" name="Imagen 7" descr="streams2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08" y="3612604"/>
            <a:ext cx="2209800" cy="2552700"/>
          </a:xfrm>
          <a:prstGeom prst="rect">
            <a:avLst/>
          </a:prstGeom>
        </p:spPr>
      </p:pic>
      <p:pic>
        <p:nvPicPr>
          <p:cNvPr id="9" name="Imagen 8" descr="streams3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591320"/>
            <a:ext cx="3543300" cy="1714500"/>
          </a:xfrm>
          <a:prstGeom prst="rect">
            <a:avLst/>
          </a:prstGeom>
        </p:spPr>
      </p:pic>
      <p:pic>
        <p:nvPicPr>
          <p:cNvPr id="10" name="Imagen 9" descr="streams4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275" y="3612604"/>
            <a:ext cx="41021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7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21659-A1FE-4EE6-89FB-12A76EC3CE4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more complex example: Bezier lines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Streams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467544" y="3212976"/>
            <a:ext cx="8218942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  </a:t>
            </a:r>
            <a:r>
              <a:rPr lang="en-US" sz="1200" dirty="0" err="1">
                <a:latin typeface="Courier"/>
                <a:cs typeface="Courier"/>
              </a:rPr>
              <a:t>cudaStream_t</a:t>
            </a:r>
            <a:r>
              <a:rPr lang="en-US" sz="1200" dirty="0">
                <a:latin typeface="Courier"/>
                <a:cs typeface="Courier"/>
              </a:rPr>
              <a:t> stream;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 // Create non-blocking stream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</a:t>
            </a:r>
            <a:r>
              <a:rPr lang="en-US" sz="1200" dirty="0" err="1">
                <a:latin typeface="Courier"/>
                <a:cs typeface="Courier"/>
              </a:rPr>
              <a:t>cudaStreamCreateWithFlags</a:t>
            </a:r>
            <a:r>
              <a:rPr lang="en-US" sz="1200" dirty="0">
                <a:latin typeface="Courier"/>
                <a:cs typeface="Courier"/>
              </a:rPr>
              <a:t>(&amp;stream, </a:t>
            </a:r>
            <a:r>
              <a:rPr lang="en-US" sz="1200" dirty="0" err="1">
                <a:latin typeface="Courier"/>
                <a:cs typeface="Courier"/>
              </a:rPr>
              <a:t>cudaStreamNonBlocking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 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 //Call the child kernel to compute the tessellated points for each line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</a:t>
            </a:r>
            <a:r>
              <a:rPr lang="en-US" sz="1200" dirty="0" err="1">
                <a:latin typeface="Courier"/>
                <a:cs typeface="Courier"/>
              </a:rPr>
              <a:t>computeBezierLine_child</a:t>
            </a:r>
            <a:r>
              <a:rPr lang="en-US" sz="1200" dirty="0">
                <a:latin typeface="Courier"/>
                <a:cs typeface="Courier"/>
              </a:rPr>
              <a:t>&lt;&lt;&lt;ceil((float)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/32.0f), 32, 0, stream&gt;&gt;&gt;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    (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 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 // Destroy stream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</a:t>
            </a:r>
            <a:r>
              <a:rPr lang="en-US" sz="1200" dirty="0" err="1">
                <a:latin typeface="Courier"/>
                <a:cs typeface="Courier"/>
              </a:rPr>
              <a:t>cudaStreamDestroy</a:t>
            </a:r>
            <a:r>
              <a:rPr lang="en-US" sz="1200" dirty="0">
                <a:latin typeface="Courier"/>
                <a:cs typeface="Courier"/>
              </a:rPr>
              <a:t>(stream);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 </a:t>
            </a:r>
            <a:endParaRPr lang="es-ES" sz="1200" dirty="0">
              <a:latin typeface="Courier"/>
              <a:cs typeface="Courier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67544" y="1844824"/>
            <a:ext cx="8208912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  //Call the child kernel to compute the tessellated points for each line</a:t>
            </a:r>
          </a:p>
          <a:p>
            <a:r>
              <a:rPr lang="en-US" sz="1200" dirty="0">
                <a:solidFill>
                  <a:srgbClr val="94B6E1"/>
                </a:solidFill>
                <a:latin typeface="Courier"/>
                <a:cs typeface="Courier"/>
              </a:rPr>
              <a:t>  // Default stream</a:t>
            </a:r>
            <a:endParaRPr lang="es-ES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</a:t>
            </a:r>
            <a:r>
              <a:rPr lang="en-US" sz="1200" dirty="0" err="1">
                <a:latin typeface="Courier"/>
                <a:cs typeface="Courier"/>
              </a:rPr>
              <a:t>computeBezierLine_child</a:t>
            </a:r>
            <a:r>
              <a:rPr lang="en-US" sz="1200" dirty="0">
                <a:latin typeface="Courier"/>
                <a:cs typeface="Courier"/>
              </a:rPr>
              <a:t>&lt;&lt;&lt;ceil((float)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/32.0f), 32&gt;&gt;&gt;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    (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bLines</a:t>
            </a:r>
            <a:r>
              <a:rPr lang="en-US" sz="1200" dirty="0">
                <a:latin typeface="Courier"/>
                <a:cs typeface="Courier"/>
              </a:rPr>
              <a:t>[</a:t>
            </a:r>
            <a:r>
              <a:rPr lang="en-US" sz="1200" dirty="0" err="1">
                <a:latin typeface="Courier"/>
                <a:cs typeface="Courier"/>
              </a:rPr>
              <a:t>lidx</a:t>
            </a:r>
            <a:r>
              <a:rPr lang="en-US" sz="1200" dirty="0">
                <a:latin typeface="Courier"/>
                <a:cs typeface="Courier"/>
              </a:rPr>
              <a:t>].</a:t>
            </a:r>
            <a:r>
              <a:rPr lang="en-US" sz="1200" dirty="0" err="1">
                <a:latin typeface="Courier"/>
                <a:cs typeface="Courier"/>
              </a:rPr>
              <a:t>nVertices</a:t>
            </a:r>
            <a:r>
              <a:rPr lang="en-US" sz="1200" dirty="0">
                <a:latin typeface="Courier"/>
                <a:cs typeface="Courier"/>
              </a:rPr>
              <a:t>);</a:t>
            </a:r>
            <a:endParaRPr lang="es-E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  </a:t>
            </a:r>
            <a:endParaRPr lang="es-ES" sz="12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5300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E42031-68EB-4CA5-B3E0-B3D2DB79EBD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Introduction to CUDA Dynamic Parallelism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simple example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more complex example: Bezier lines</a:t>
            </a:r>
          </a:p>
          <a:p>
            <a:r>
              <a:rPr lang="en-US" dirty="0"/>
              <a:t>A recursive example: </a:t>
            </a:r>
            <a:r>
              <a:rPr lang="en-US" dirty="0" err="1"/>
              <a:t>Quadtree</a:t>
            </a:r>
            <a:endParaRPr lang="en-US" dirty="0"/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Other cases: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Library calls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Saving kernel launches in ARM CPUs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What is and what is not dynamic parallelism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  <a:p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90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7EF587-2E68-45C3-9A39-8D026A0AE81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Partitioning a 2D space by recursively dividing it into four quadrants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128100"/>
            <a:ext cx="52324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5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7318F7-F4F8-469A-A899-42365256249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Partitioning a 2D space by recursively dividing it into four quadrants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140550"/>
            <a:ext cx="5232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8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3638DA-7CFF-4410-B19E-97E0F2DAD80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Partitioning a 2D space by recursively dividing it into four quadrants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153125"/>
            <a:ext cx="5232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4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9E4205-00E4-447B-A1F8-59B2C5A8078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Partitioning a 2D space by recursively dividing it into four quadrants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140550"/>
            <a:ext cx="5232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DC9634-4F33-4C8A-AA14-D5077445B21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 thread block is launched from host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9" y="1758672"/>
            <a:ext cx="5485299" cy="267844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1720068"/>
            <a:ext cx="2944257" cy="4373228"/>
          </a:xfrm>
          <a:prstGeom prst="rect">
            <a:avLst/>
          </a:prstGeom>
        </p:spPr>
      </p:pic>
      <p:pic>
        <p:nvPicPr>
          <p:cNvPr id="5" name="Imagen 4" descr="quadtree0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4653136"/>
            <a:ext cx="5039999" cy="136799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87" y="1798732"/>
            <a:ext cx="2628296" cy="262829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00" y="5583361"/>
            <a:ext cx="4320480" cy="14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6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D8DF97-6B10-4FEE-8605-BA201535908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Each block launches 1 child grid of 4 blocks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3" y="1700808"/>
            <a:ext cx="8012395" cy="3031717"/>
          </a:xfrm>
          <a:prstGeom prst="rect">
            <a:avLst/>
          </a:prstGeom>
        </p:spPr>
      </p:pic>
      <p:pic>
        <p:nvPicPr>
          <p:cNvPr id="4" name="Imagen 3" descr="quadtree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662527"/>
            <a:ext cx="5040000" cy="143076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772816"/>
            <a:ext cx="2952329" cy="29523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884" y="5641786"/>
            <a:ext cx="4068448" cy="16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8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29CC17-3FF1-46AD-91C0-F73AEF4514D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Each block launches 1 child grid of 4 blocks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00808"/>
            <a:ext cx="8686800" cy="2137171"/>
          </a:xfrm>
          <a:prstGeom prst="rect">
            <a:avLst/>
          </a:prstGeom>
        </p:spPr>
      </p:pic>
      <p:pic>
        <p:nvPicPr>
          <p:cNvPr id="4" name="Imagen 3" descr="quadtree2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4221088"/>
            <a:ext cx="5040000" cy="163085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61" y="1746900"/>
            <a:ext cx="2088000" cy="20880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034" y="5373216"/>
            <a:ext cx="919473" cy="14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23E1020-BAE3-44D5-B601-9C1EE60B9DB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Each block launches 1 child grid of 4 blocks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00808"/>
            <a:ext cx="8686800" cy="2137171"/>
          </a:xfrm>
          <a:prstGeom prst="rect">
            <a:avLst/>
          </a:prstGeom>
        </p:spPr>
      </p:pic>
      <p:pic>
        <p:nvPicPr>
          <p:cNvPr id="4" name="Imagen 3" descr="quadtree3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4214296"/>
            <a:ext cx="5400000" cy="16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2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7C20D1-ED90-4378-A6C5-3B216E5C4A2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Points in the same quadrant are grouped together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83" y="1898800"/>
            <a:ext cx="8746011" cy="38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5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53A37-9259-4F81-8A74-D0591109EB0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recursive example: Quadtree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357819" y="580489"/>
            <a:ext cx="6428363" cy="5978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50" dirty="0">
                <a:latin typeface="Courier"/>
                <a:cs typeface="Courier"/>
              </a:rPr>
              <a:t>01  __global__ void </a:t>
            </a:r>
            <a:r>
              <a:rPr lang="en-US" sz="850" dirty="0" err="1">
                <a:latin typeface="Courier"/>
                <a:cs typeface="Courier"/>
              </a:rPr>
              <a:t>build_quadtree_kernel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02                  (</a:t>
            </a:r>
            <a:r>
              <a:rPr lang="en-US" sz="850" dirty="0" err="1">
                <a:latin typeface="Courier"/>
                <a:cs typeface="Courier"/>
              </a:rPr>
              <a:t>Quadtree_node</a:t>
            </a:r>
            <a:r>
              <a:rPr lang="en-US" sz="850" dirty="0">
                <a:latin typeface="Courier"/>
                <a:cs typeface="Courier"/>
              </a:rPr>
              <a:t> *nodes, Points *points, Parameters </a:t>
            </a:r>
            <a:r>
              <a:rPr lang="en-US" sz="850" dirty="0" err="1">
                <a:latin typeface="Courier"/>
                <a:cs typeface="Courier"/>
              </a:rPr>
              <a:t>params</a:t>
            </a:r>
            <a:r>
              <a:rPr lang="en-US" sz="850" dirty="0">
                <a:latin typeface="Courier"/>
                <a:cs typeface="Courier"/>
              </a:rPr>
              <a:t>) {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03      __shared__ </a:t>
            </a:r>
            <a:r>
              <a:rPr lang="en-US" sz="850" dirty="0" err="1">
                <a:latin typeface="Courier"/>
                <a:cs typeface="Courier"/>
              </a:rPr>
              <a:t>int</a:t>
            </a:r>
            <a:r>
              <a:rPr lang="en-US" sz="850" dirty="0">
                <a:latin typeface="Courier"/>
                <a:cs typeface="Courier"/>
              </a:rPr>
              <a:t> </a:t>
            </a:r>
            <a:r>
              <a:rPr lang="en-US" sz="850" dirty="0" err="1">
                <a:latin typeface="Courier"/>
                <a:cs typeface="Courier"/>
              </a:rPr>
              <a:t>smem</a:t>
            </a:r>
            <a:r>
              <a:rPr lang="en-US" sz="850" dirty="0">
                <a:latin typeface="Courier"/>
                <a:cs typeface="Courier"/>
              </a:rPr>
              <a:t>[8];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Shared memory to store the number of points in each quadrant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04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05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The current node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06      </a:t>
            </a:r>
            <a:r>
              <a:rPr lang="en-US" sz="850" dirty="0" err="1">
                <a:latin typeface="Courier"/>
                <a:cs typeface="Courier"/>
              </a:rPr>
              <a:t>Quadtree_node</a:t>
            </a:r>
            <a:r>
              <a:rPr lang="en-US" sz="850" dirty="0">
                <a:latin typeface="Courier"/>
                <a:cs typeface="Courier"/>
              </a:rPr>
              <a:t> &amp;node = nodes[</a:t>
            </a:r>
            <a:r>
              <a:rPr lang="en-US" sz="850" dirty="0" err="1">
                <a:latin typeface="Courier"/>
                <a:cs typeface="Courier"/>
              </a:rPr>
              <a:t>blockIdx.x</a:t>
            </a:r>
            <a:r>
              <a:rPr lang="en-US" sz="850" dirty="0">
                <a:latin typeface="Courier"/>
                <a:cs typeface="Courier"/>
              </a:rPr>
              <a:t>];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07      </a:t>
            </a:r>
            <a:r>
              <a:rPr lang="en-US" sz="850" dirty="0" err="1">
                <a:latin typeface="Courier"/>
                <a:cs typeface="Courier"/>
              </a:rPr>
              <a:t>node.set_id</a:t>
            </a:r>
            <a:r>
              <a:rPr lang="en-US" sz="850" dirty="0">
                <a:latin typeface="Courier"/>
                <a:cs typeface="Courier"/>
              </a:rPr>
              <a:t>(</a:t>
            </a:r>
            <a:r>
              <a:rPr lang="en-US" sz="850" dirty="0" err="1">
                <a:latin typeface="Courier"/>
                <a:cs typeface="Courier"/>
              </a:rPr>
              <a:t>node.id</a:t>
            </a:r>
            <a:r>
              <a:rPr lang="en-US" sz="850" dirty="0">
                <a:latin typeface="Courier"/>
                <a:cs typeface="Courier"/>
              </a:rPr>
              <a:t>() + </a:t>
            </a:r>
            <a:r>
              <a:rPr lang="en-US" sz="850" dirty="0" err="1">
                <a:latin typeface="Courier"/>
                <a:cs typeface="Courier"/>
              </a:rPr>
              <a:t>blockIdx.x</a:t>
            </a:r>
            <a:r>
              <a:rPr lang="en-US" sz="850" dirty="0">
                <a:latin typeface="Courier"/>
                <a:cs typeface="Courier"/>
              </a:rPr>
              <a:t>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08      </a:t>
            </a:r>
            <a:r>
              <a:rPr lang="en-US" sz="850" dirty="0" err="1">
                <a:latin typeface="Courier"/>
                <a:cs typeface="Courier"/>
              </a:rPr>
              <a:t>int</a:t>
            </a:r>
            <a:r>
              <a:rPr lang="en-US" sz="850" dirty="0">
                <a:latin typeface="Courier"/>
                <a:cs typeface="Courier"/>
              </a:rPr>
              <a:t> </a:t>
            </a:r>
            <a:r>
              <a:rPr lang="en-US" sz="850" dirty="0" err="1">
                <a:latin typeface="Courier"/>
                <a:cs typeface="Courier"/>
              </a:rPr>
              <a:t>num_points</a:t>
            </a:r>
            <a:r>
              <a:rPr lang="en-US" sz="850" dirty="0">
                <a:latin typeface="Courier"/>
                <a:cs typeface="Courier"/>
              </a:rPr>
              <a:t> = </a:t>
            </a:r>
            <a:r>
              <a:rPr lang="en-US" sz="850" dirty="0" err="1">
                <a:latin typeface="Courier"/>
                <a:cs typeface="Courier"/>
              </a:rPr>
              <a:t>node.num_points</a:t>
            </a:r>
            <a:r>
              <a:rPr lang="en-US" sz="850" dirty="0">
                <a:latin typeface="Courier"/>
                <a:cs typeface="Courier"/>
              </a:rPr>
              <a:t>();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The number of points in the node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09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10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Check the number of points and its depth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11      </a:t>
            </a:r>
            <a:r>
              <a:rPr lang="en-US" sz="850" dirty="0" err="1">
                <a:latin typeface="Courier"/>
                <a:cs typeface="Courier"/>
              </a:rPr>
              <a:t>bool</a:t>
            </a:r>
            <a:r>
              <a:rPr lang="en-US" sz="850" dirty="0">
                <a:latin typeface="Courier"/>
                <a:cs typeface="Courier"/>
              </a:rPr>
              <a:t> exit = </a:t>
            </a:r>
            <a:r>
              <a:rPr lang="en-US" sz="850" dirty="0" err="1">
                <a:latin typeface="Courier"/>
                <a:cs typeface="Courier"/>
              </a:rPr>
              <a:t>check_num_points_and_depth</a:t>
            </a:r>
            <a:r>
              <a:rPr lang="en-US" sz="850" dirty="0">
                <a:latin typeface="Courier"/>
                <a:cs typeface="Courier"/>
              </a:rPr>
              <a:t>(node, points, </a:t>
            </a:r>
            <a:r>
              <a:rPr lang="en-US" sz="850" dirty="0" err="1">
                <a:latin typeface="Courier"/>
                <a:cs typeface="Courier"/>
              </a:rPr>
              <a:t>num_points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params</a:t>
            </a:r>
            <a:r>
              <a:rPr lang="en-US" sz="850" dirty="0">
                <a:latin typeface="Courier"/>
                <a:cs typeface="Courier"/>
              </a:rPr>
              <a:t>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12      if(exit) return;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13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14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Compute the center of the bounding box of the points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15      </a:t>
            </a:r>
            <a:r>
              <a:rPr lang="en-US" sz="850" dirty="0" err="1">
                <a:latin typeface="Courier"/>
                <a:cs typeface="Courier"/>
              </a:rPr>
              <a:t>const</a:t>
            </a:r>
            <a:r>
              <a:rPr lang="en-US" sz="850" dirty="0">
                <a:latin typeface="Courier"/>
                <a:cs typeface="Courier"/>
              </a:rPr>
              <a:t> </a:t>
            </a:r>
            <a:r>
              <a:rPr lang="en-US" sz="850" dirty="0" err="1">
                <a:latin typeface="Courier"/>
                <a:cs typeface="Courier"/>
              </a:rPr>
              <a:t>Bounding_box</a:t>
            </a:r>
            <a:r>
              <a:rPr lang="en-US" sz="850" dirty="0">
                <a:latin typeface="Courier"/>
                <a:cs typeface="Courier"/>
              </a:rPr>
              <a:t> &amp;</a:t>
            </a:r>
            <a:r>
              <a:rPr lang="en-US" sz="850" dirty="0" err="1">
                <a:latin typeface="Courier"/>
                <a:cs typeface="Courier"/>
              </a:rPr>
              <a:t>bbox</a:t>
            </a:r>
            <a:r>
              <a:rPr lang="en-US" sz="850" dirty="0">
                <a:latin typeface="Courier"/>
                <a:cs typeface="Courier"/>
              </a:rPr>
              <a:t> = </a:t>
            </a:r>
            <a:r>
              <a:rPr lang="en-US" sz="850" dirty="0" err="1">
                <a:latin typeface="Courier"/>
                <a:cs typeface="Courier"/>
              </a:rPr>
              <a:t>node.bounding_box</a:t>
            </a:r>
            <a:r>
              <a:rPr lang="en-US" sz="850" dirty="0">
                <a:latin typeface="Courier"/>
                <a:cs typeface="Courier"/>
              </a:rPr>
              <a:t>();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16      float2 center;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17      </a:t>
            </a:r>
            <a:r>
              <a:rPr lang="en-US" sz="850" dirty="0" err="1">
                <a:latin typeface="Courier"/>
                <a:cs typeface="Courier"/>
              </a:rPr>
              <a:t>bbox.compute_center</a:t>
            </a:r>
            <a:r>
              <a:rPr lang="en-US" sz="850" dirty="0">
                <a:latin typeface="Courier"/>
                <a:cs typeface="Courier"/>
              </a:rPr>
              <a:t>(center);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18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19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Range of points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20      </a:t>
            </a:r>
            <a:r>
              <a:rPr lang="en-US" sz="850" dirty="0" err="1">
                <a:latin typeface="Courier"/>
                <a:cs typeface="Courier"/>
              </a:rPr>
              <a:t>int</a:t>
            </a:r>
            <a:r>
              <a:rPr lang="en-US" sz="850" dirty="0">
                <a:latin typeface="Courier"/>
                <a:cs typeface="Courier"/>
              </a:rPr>
              <a:t> </a:t>
            </a:r>
            <a:r>
              <a:rPr lang="en-US" sz="850" dirty="0" err="1">
                <a:latin typeface="Courier"/>
                <a:cs typeface="Courier"/>
              </a:rPr>
              <a:t>range_begin</a:t>
            </a:r>
            <a:r>
              <a:rPr lang="en-US" sz="850" dirty="0">
                <a:latin typeface="Courier"/>
                <a:cs typeface="Courier"/>
              </a:rPr>
              <a:t> = </a:t>
            </a:r>
            <a:r>
              <a:rPr lang="en-US" sz="850" dirty="0" err="1">
                <a:latin typeface="Courier"/>
                <a:cs typeface="Courier"/>
              </a:rPr>
              <a:t>node.points_begin</a:t>
            </a:r>
            <a:r>
              <a:rPr lang="en-US" sz="850" dirty="0">
                <a:latin typeface="Courier"/>
                <a:cs typeface="Courier"/>
              </a:rPr>
              <a:t>();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21      </a:t>
            </a:r>
            <a:r>
              <a:rPr lang="en-US" sz="850" dirty="0" err="1">
                <a:latin typeface="Courier"/>
                <a:cs typeface="Courier"/>
              </a:rPr>
              <a:t>int</a:t>
            </a:r>
            <a:r>
              <a:rPr lang="en-US" sz="850" dirty="0">
                <a:latin typeface="Courier"/>
                <a:cs typeface="Courier"/>
              </a:rPr>
              <a:t> </a:t>
            </a:r>
            <a:r>
              <a:rPr lang="en-US" sz="850" dirty="0" err="1">
                <a:latin typeface="Courier"/>
                <a:cs typeface="Courier"/>
              </a:rPr>
              <a:t>range_end</a:t>
            </a:r>
            <a:r>
              <a:rPr lang="en-US" sz="850" dirty="0">
                <a:latin typeface="Courier"/>
                <a:cs typeface="Courier"/>
              </a:rPr>
              <a:t>   = </a:t>
            </a:r>
            <a:r>
              <a:rPr lang="en-US" sz="850" dirty="0" err="1">
                <a:latin typeface="Courier"/>
                <a:cs typeface="Courier"/>
              </a:rPr>
              <a:t>node.points_end</a:t>
            </a:r>
            <a:r>
              <a:rPr lang="en-US" sz="850" dirty="0">
                <a:latin typeface="Courier"/>
                <a:cs typeface="Courier"/>
              </a:rPr>
              <a:t>();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22      </a:t>
            </a:r>
            <a:r>
              <a:rPr lang="en-US" sz="850" dirty="0" err="1">
                <a:latin typeface="Courier"/>
                <a:cs typeface="Courier"/>
              </a:rPr>
              <a:t>const</a:t>
            </a:r>
            <a:r>
              <a:rPr lang="en-US" sz="850" dirty="0">
                <a:latin typeface="Courier"/>
                <a:cs typeface="Courier"/>
              </a:rPr>
              <a:t> Points &amp;</a:t>
            </a:r>
            <a:r>
              <a:rPr lang="en-US" sz="850" dirty="0" err="1">
                <a:latin typeface="Courier"/>
                <a:cs typeface="Courier"/>
              </a:rPr>
              <a:t>in_points</a:t>
            </a:r>
            <a:r>
              <a:rPr lang="en-US" sz="850" dirty="0">
                <a:latin typeface="Courier"/>
                <a:cs typeface="Courier"/>
              </a:rPr>
              <a:t> = points[</a:t>
            </a:r>
            <a:r>
              <a:rPr lang="en-US" sz="850" dirty="0" err="1">
                <a:latin typeface="Courier"/>
                <a:cs typeface="Courier"/>
              </a:rPr>
              <a:t>params.point_selector</a:t>
            </a:r>
            <a:r>
              <a:rPr lang="en-US" sz="850" dirty="0">
                <a:latin typeface="Courier"/>
                <a:cs typeface="Courier"/>
              </a:rPr>
              <a:t>];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Input points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23      Points &amp;</a:t>
            </a:r>
            <a:r>
              <a:rPr lang="en-US" sz="850" dirty="0" err="1">
                <a:latin typeface="Courier"/>
                <a:cs typeface="Courier"/>
              </a:rPr>
              <a:t>out_points</a:t>
            </a:r>
            <a:r>
              <a:rPr lang="en-US" sz="850" dirty="0">
                <a:latin typeface="Courier"/>
                <a:cs typeface="Courier"/>
              </a:rPr>
              <a:t> = points[(params.point_selector+1) % 2];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Output points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24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25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Count the number of points in each child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26      </a:t>
            </a:r>
            <a:r>
              <a:rPr lang="en-US" sz="850" dirty="0" err="1">
                <a:latin typeface="Courier"/>
                <a:cs typeface="Courier"/>
              </a:rPr>
              <a:t>count_points_in_children</a:t>
            </a:r>
            <a:r>
              <a:rPr lang="en-US" sz="850" dirty="0">
                <a:latin typeface="Courier"/>
                <a:cs typeface="Courier"/>
              </a:rPr>
              <a:t>(</a:t>
            </a:r>
            <a:r>
              <a:rPr lang="en-US" sz="850" dirty="0" err="1">
                <a:latin typeface="Courier"/>
                <a:cs typeface="Courier"/>
              </a:rPr>
              <a:t>in_points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smem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range_begin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range_end</a:t>
            </a:r>
            <a:r>
              <a:rPr lang="en-US" sz="850" dirty="0">
                <a:latin typeface="Courier"/>
                <a:cs typeface="Courier"/>
              </a:rPr>
              <a:t>, center);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27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28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Scan the quadrants' results to know the reordering offset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29      </a:t>
            </a:r>
            <a:r>
              <a:rPr lang="en-US" sz="850" dirty="0" err="1">
                <a:latin typeface="Courier"/>
                <a:cs typeface="Courier"/>
              </a:rPr>
              <a:t>scan_for_offsets</a:t>
            </a:r>
            <a:r>
              <a:rPr lang="en-US" sz="850" dirty="0">
                <a:latin typeface="Courier"/>
                <a:cs typeface="Courier"/>
              </a:rPr>
              <a:t>(</a:t>
            </a:r>
            <a:r>
              <a:rPr lang="en-US" sz="850" dirty="0" err="1">
                <a:latin typeface="Courier"/>
                <a:cs typeface="Courier"/>
              </a:rPr>
              <a:t>node.points_begin</a:t>
            </a:r>
            <a:r>
              <a:rPr lang="en-US" sz="850" dirty="0">
                <a:latin typeface="Courier"/>
                <a:cs typeface="Courier"/>
              </a:rPr>
              <a:t>(), </a:t>
            </a:r>
            <a:r>
              <a:rPr lang="en-US" sz="850" dirty="0" err="1">
                <a:latin typeface="Courier"/>
                <a:cs typeface="Courier"/>
              </a:rPr>
              <a:t>smem</a:t>
            </a:r>
            <a:r>
              <a:rPr lang="en-US" sz="850" dirty="0">
                <a:latin typeface="Courier"/>
                <a:cs typeface="Courier"/>
              </a:rPr>
              <a:t>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30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31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Move points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32      </a:t>
            </a:r>
            <a:r>
              <a:rPr lang="en-US" sz="850" dirty="0" err="1">
                <a:latin typeface="Courier"/>
                <a:cs typeface="Courier"/>
              </a:rPr>
              <a:t>reorder_points</a:t>
            </a:r>
            <a:r>
              <a:rPr lang="en-US" sz="850" dirty="0">
                <a:latin typeface="Courier"/>
                <a:cs typeface="Courier"/>
              </a:rPr>
              <a:t>(</a:t>
            </a:r>
            <a:r>
              <a:rPr lang="en-US" sz="850" dirty="0" err="1">
                <a:latin typeface="Courier"/>
                <a:cs typeface="Courier"/>
              </a:rPr>
              <a:t>out_points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in_points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smem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range_begin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range_end</a:t>
            </a:r>
            <a:r>
              <a:rPr lang="en-US" sz="850" dirty="0">
                <a:latin typeface="Courier"/>
                <a:cs typeface="Courier"/>
              </a:rPr>
              <a:t>, center);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33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34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Launch new blocks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35      if (</a:t>
            </a:r>
            <a:r>
              <a:rPr lang="en-US" sz="850" dirty="0" err="1">
                <a:latin typeface="Courier"/>
                <a:cs typeface="Courier"/>
              </a:rPr>
              <a:t>threadIdx.x</a:t>
            </a:r>
            <a:r>
              <a:rPr lang="en-US" sz="850" dirty="0">
                <a:latin typeface="Courier"/>
                <a:cs typeface="Courier"/>
              </a:rPr>
              <a:t> == blockDim.x-1) {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36        </a:t>
            </a:r>
            <a:r>
              <a:rPr lang="en-US" sz="850" dirty="0" err="1">
                <a:latin typeface="Courier"/>
                <a:cs typeface="Courier"/>
              </a:rPr>
              <a:t>Quadtree_node</a:t>
            </a:r>
            <a:r>
              <a:rPr lang="en-US" sz="850" dirty="0">
                <a:latin typeface="Courier"/>
                <a:cs typeface="Courier"/>
              </a:rPr>
              <a:t> *children = &amp;nodes[</a:t>
            </a:r>
            <a:r>
              <a:rPr lang="en-US" sz="850" dirty="0" err="1">
                <a:latin typeface="Courier"/>
                <a:cs typeface="Courier"/>
              </a:rPr>
              <a:t>params.num_nodes_at_this_level</a:t>
            </a:r>
            <a:r>
              <a:rPr lang="en-US" sz="850" dirty="0">
                <a:latin typeface="Courier"/>
                <a:cs typeface="Courier"/>
              </a:rPr>
              <a:t>];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The children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37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38  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Prepare children launch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39        </a:t>
            </a:r>
            <a:r>
              <a:rPr lang="en-US" sz="850" dirty="0" err="1">
                <a:latin typeface="Courier"/>
                <a:cs typeface="Courier"/>
              </a:rPr>
              <a:t>prepare_children</a:t>
            </a:r>
            <a:r>
              <a:rPr lang="en-US" sz="850" dirty="0">
                <a:latin typeface="Courier"/>
                <a:cs typeface="Courier"/>
              </a:rPr>
              <a:t>(children, node, </a:t>
            </a:r>
            <a:r>
              <a:rPr lang="en-US" sz="850" dirty="0" err="1">
                <a:latin typeface="Courier"/>
                <a:cs typeface="Courier"/>
              </a:rPr>
              <a:t>bbox</a:t>
            </a:r>
            <a:r>
              <a:rPr lang="en-US" sz="850" dirty="0">
                <a:latin typeface="Courier"/>
                <a:cs typeface="Courier"/>
              </a:rPr>
              <a:t>, </a:t>
            </a:r>
            <a:r>
              <a:rPr lang="en-US" sz="850" dirty="0" err="1">
                <a:latin typeface="Courier"/>
                <a:cs typeface="Courier"/>
              </a:rPr>
              <a:t>smem</a:t>
            </a:r>
            <a:r>
              <a:rPr lang="en-US" sz="850" dirty="0">
                <a:latin typeface="Courier"/>
                <a:cs typeface="Courier"/>
              </a:rPr>
              <a:t>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40  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41        </a:t>
            </a:r>
            <a:r>
              <a:rPr lang="en-US" sz="850" dirty="0">
                <a:solidFill>
                  <a:srgbClr val="94B6E1"/>
                </a:solidFill>
                <a:latin typeface="Courier"/>
                <a:cs typeface="Courier"/>
              </a:rPr>
              <a:t>// Launch 4 children.</a:t>
            </a:r>
            <a:endParaRPr lang="es-ES" sz="85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42        </a:t>
            </a:r>
            <a:r>
              <a:rPr lang="en-US" sz="850" dirty="0" err="1">
                <a:latin typeface="Courier"/>
                <a:cs typeface="Courier"/>
              </a:rPr>
              <a:t>build_quadtree_kernel</a:t>
            </a:r>
            <a:r>
              <a:rPr lang="en-US" sz="850" dirty="0">
                <a:latin typeface="Courier"/>
                <a:cs typeface="Courier"/>
              </a:rPr>
              <a:t>&lt;&lt;&lt;4, </a:t>
            </a:r>
            <a:r>
              <a:rPr lang="en-US" sz="850" dirty="0" err="1">
                <a:latin typeface="Courier"/>
                <a:cs typeface="Courier"/>
              </a:rPr>
              <a:t>blockDim.x</a:t>
            </a:r>
            <a:r>
              <a:rPr lang="en-US" sz="850" dirty="0">
                <a:latin typeface="Courier"/>
                <a:cs typeface="Courier"/>
              </a:rPr>
              <a:t>, 8*</a:t>
            </a:r>
            <a:r>
              <a:rPr lang="en-US" sz="850" dirty="0" err="1">
                <a:latin typeface="Courier"/>
                <a:cs typeface="Courier"/>
              </a:rPr>
              <a:t>sizeof</a:t>
            </a:r>
            <a:r>
              <a:rPr lang="en-US" sz="850" dirty="0">
                <a:latin typeface="Courier"/>
                <a:cs typeface="Courier"/>
              </a:rPr>
              <a:t>(</a:t>
            </a:r>
            <a:r>
              <a:rPr lang="en-US" sz="850" dirty="0" err="1">
                <a:latin typeface="Courier"/>
                <a:cs typeface="Courier"/>
              </a:rPr>
              <a:t>int</a:t>
            </a:r>
            <a:r>
              <a:rPr lang="en-US" sz="850" dirty="0">
                <a:latin typeface="Courier"/>
                <a:cs typeface="Courier"/>
              </a:rPr>
              <a:t>)&gt;&gt;&gt;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43                             (children, points, Parameters(</a:t>
            </a:r>
            <a:r>
              <a:rPr lang="en-US" sz="850" dirty="0" err="1">
                <a:latin typeface="Courier"/>
                <a:cs typeface="Courier"/>
              </a:rPr>
              <a:t>params</a:t>
            </a:r>
            <a:r>
              <a:rPr lang="en-US" sz="850" dirty="0">
                <a:latin typeface="Courier"/>
                <a:cs typeface="Courier"/>
              </a:rPr>
              <a:t>, true));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44      }</a:t>
            </a:r>
            <a:endParaRPr lang="es-ES" sz="850" dirty="0">
              <a:latin typeface="Courier"/>
              <a:cs typeface="Courier"/>
            </a:endParaRPr>
          </a:p>
          <a:p>
            <a:r>
              <a:rPr lang="en-US" sz="850" dirty="0">
                <a:latin typeface="Courier"/>
                <a:cs typeface="Courier"/>
              </a:rPr>
              <a:t>45    }</a:t>
            </a:r>
            <a:endParaRPr lang="es-ES" sz="85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097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E11DEB-6750-4CDB-A588-1DCEC5A14DF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Introduction to CUDA Dynamic Parallelism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simple example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more complex example: Bezier lines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recursive example: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Quadtree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400" dirty="0"/>
              <a:t>Other cases:</a:t>
            </a:r>
          </a:p>
          <a:p>
            <a:pPr lvl="1"/>
            <a:r>
              <a:rPr lang="en-US" sz="2000" dirty="0"/>
              <a:t>Library calls</a:t>
            </a:r>
          </a:p>
          <a:p>
            <a:pPr lvl="1"/>
            <a:r>
              <a:rPr lang="en-US" sz="2000" dirty="0"/>
              <a:t>Saving kernel launches in ARM CPUs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What is and what is not dynamic parallelism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  <a:p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endParaRPr lang="en-US" sz="2353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1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A10BE-97F9-4256-8BE9-6C68BA08AF4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Library calls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Simple library calls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650876" y="2694841"/>
            <a:ext cx="3601542" cy="3600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__global__ void </a:t>
            </a:r>
            <a:r>
              <a:rPr lang="en-US" sz="1200" dirty="0" err="1">
                <a:latin typeface="Courier"/>
                <a:cs typeface="Courier"/>
              </a:rPr>
              <a:t>libraryCall</a:t>
            </a:r>
            <a:r>
              <a:rPr lang="en-US" sz="1200" dirty="0">
                <a:latin typeface="Courier"/>
                <a:cs typeface="Courier"/>
              </a:rPr>
              <a:t>(float *a,</a:t>
            </a:r>
          </a:p>
          <a:p>
            <a:r>
              <a:rPr lang="de-DE" sz="1200" dirty="0">
                <a:latin typeface="Courier"/>
                <a:cs typeface="Courier"/>
              </a:rPr>
              <a:t>                            </a:t>
            </a:r>
            <a:r>
              <a:rPr lang="de-DE" sz="1200" dirty="0" err="1">
                <a:latin typeface="Courier"/>
                <a:cs typeface="Courier"/>
              </a:rPr>
              <a:t>float</a:t>
            </a:r>
            <a:r>
              <a:rPr lang="de-DE" sz="1200" dirty="0">
                <a:latin typeface="Courier"/>
                <a:cs typeface="Courier"/>
              </a:rPr>
              <a:t> *b,</a:t>
            </a:r>
          </a:p>
          <a:p>
            <a:r>
              <a:rPr lang="de-DE" sz="1200" dirty="0">
                <a:latin typeface="Courier"/>
                <a:cs typeface="Courier"/>
              </a:rPr>
              <a:t>                            </a:t>
            </a:r>
            <a:r>
              <a:rPr lang="de-DE" sz="1200" dirty="0" err="1">
                <a:latin typeface="Courier"/>
                <a:cs typeface="Courier"/>
              </a:rPr>
              <a:t>float</a:t>
            </a:r>
            <a:r>
              <a:rPr lang="de-DE" sz="1200" dirty="0">
                <a:latin typeface="Courier"/>
                <a:cs typeface="Courier"/>
              </a:rPr>
              <a:t> *c)</a:t>
            </a:r>
          </a:p>
          <a:p>
            <a:r>
              <a:rPr lang="de-DE" sz="1200" dirty="0">
                <a:latin typeface="Courier"/>
                <a:cs typeface="Courier"/>
              </a:rPr>
              <a:t>{</a:t>
            </a:r>
          </a:p>
          <a:p>
            <a:r>
              <a:rPr lang="de-DE" sz="1200" dirty="0">
                <a:latin typeface="Courier"/>
                <a:cs typeface="Courier"/>
              </a:rPr>
              <a:t>  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// All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threads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generate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data</a:t>
            </a:r>
            <a:endParaRPr lang="de-DE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de-DE" sz="1200" dirty="0">
                <a:latin typeface="Courier"/>
                <a:cs typeface="Courier"/>
              </a:rPr>
              <a:t>  </a:t>
            </a:r>
            <a:r>
              <a:rPr lang="de-DE" sz="1200" dirty="0" err="1">
                <a:latin typeface="Courier"/>
                <a:cs typeface="Courier"/>
              </a:rPr>
              <a:t>createData</a:t>
            </a:r>
            <a:r>
              <a:rPr lang="de-DE" sz="1200" dirty="0">
                <a:latin typeface="Courier"/>
                <a:cs typeface="Courier"/>
              </a:rPr>
              <a:t>(a, b);</a:t>
            </a:r>
          </a:p>
          <a:p>
            <a:r>
              <a:rPr lang="de-DE" sz="1200" dirty="0">
                <a:latin typeface="Courier"/>
                <a:cs typeface="Courier"/>
              </a:rPr>
              <a:t>  __</a:t>
            </a:r>
            <a:r>
              <a:rPr lang="de-DE" sz="1200" dirty="0" err="1">
                <a:latin typeface="Courier"/>
                <a:cs typeface="Courier"/>
              </a:rPr>
              <a:t>syncthreads</a:t>
            </a:r>
            <a:r>
              <a:rPr lang="de-DE" sz="1200" dirty="0">
                <a:latin typeface="Courier"/>
                <a:cs typeface="Courier"/>
              </a:rPr>
              <a:t>();</a:t>
            </a:r>
          </a:p>
          <a:p>
            <a:endParaRPr lang="de-DE" sz="1200" dirty="0">
              <a:latin typeface="Courier"/>
              <a:cs typeface="Courier"/>
            </a:endParaRPr>
          </a:p>
          <a:p>
            <a:r>
              <a:rPr lang="de-DE" sz="1200" dirty="0">
                <a:latin typeface="Courier"/>
                <a:cs typeface="Courier"/>
              </a:rPr>
              <a:t>  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// The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first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thread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calls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library</a:t>
            </a:r>
            <a:endParaRPr lang="de-DE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  if (</a:t>
            </a:r>
            <a:r>
              <a:rPr lang="en-US" sz="1200" dirty="0" err="1">
                <a:latin typeface="Courier"/>
                <a:cs typeface="Courier"/>
              </a:rPr>
              <a:t>threadIdx.x</a:t>
            </a:r>
            <a:r>
              <a:rPr lang="en-US" sz="1200" dirty="0">
                <a:latin typeface="Courier"/>
                <a:cs typeface="Courier"/>
              </a:rPr>
              <a:t> == 0) {</a:t>
            </a:r>
          </a:p>
          <a:p>
            <a:r>
              <a:rPr lang="en-US" sz="1200" dirty="0">
                <a:latin typeface="Courier"/>
                <a:cs typeface="Courier"/>
              </a:rPr>
              <a:t>    </a:t>
            </a:r>
            <a:r>
              <a:rPr lang="en-US" sz="1200" dirty="0" err="1">
                <a:latin typeface="Courier"/>
                <a:cs typeface="Courier"/>
              </a:rPr>
              <a:t>cublasDgemm</a:t>
            </a:r>
            <a:r>
              <a:rPr lang="en-US" sz="1200" dirty="0">
                <a:latin typeface="Courier"/>
                <a:cs typeface="Courier"/>
              </a:rPr>
              <a:t>(a, b, c);</a:t>
            </a:r>
          </a:p>
          <a:p>
            <a:r>
              <a:rPr lang="en-US" sz="1200" dirty="0">
                <a:latin typeface="Courier"/>
                <a:cs typeface="Courier"/>
              </a:rPr>
              <a:t>    </a:t>
            </a:r>
            <a:r>
              <a:rPr lang="en-US" sz="1200" dirty="0" err="1">
                <a:latin typeface="Courier"/>
                <a:cs typeface="Courier"/>
              </a:rPr>
              <a:t>cudaDeviceSynchronize</a:t>
            </a:r>
            <a:r>
              <a:rPr lang="en-US" sz="1200" dirty="0">
                <a:latin typeface="Courier"/>
                <a:cs typeface="Courier"/>
              </a:rPr>
              <a:t>();</a:t>
            </a:r>
          </a:p>
          <a:p>
            <a:r>
              <a:rPr lang="de-DE" sz="1200" dirty="0">
                <a:latin typeface="Courier"/>
                <a:cs typeface="Courier"/>
              </a:rPr>
              <a:t>  }</a:t>
            </a:r>
          </a:p>
          <a:p>
            <a:endParaRPr lang="de-DE" sz="1200" dirty="0">
              <a:latin typeface="Courier"/>
              <a:cs typeface="Courier"/>
            </a:endParaRPr>
          </a:p>
          <a:p>
            <a:r>
              <a:rPr lang="de-DE" sz="1200" dirty="0">
                <a:latin typeface="Courier"/>
                <a:cs typeface="Courier"/>
              </a:rPr>
              <a:t>  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// All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threads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wait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for</a:t>
            </a:r>
            <a:r>
              <a:rPr lang="de-DE" sz="1200" dirty="0">
                <a:solidFill>
                  <a:srgbClr val="94B6E1"/>
                </a:solidFill>
                <a:latin typeface="Courier"/>
                <a:cs typeface="Courier"/>
              </a:rPr>
              <a:t> </a:t>
            </a:r>
            <a:r>
              <a:rPr lang="de-DE" sz="1200" dirty="0" err="1">
                <a:solidFill>
                  <a:srgbClr val="94B6E1"/>
                </a:solidFill>
                <a:latin typeface="Courier"/>
                <a:cs typeface="Courier"/>
              </a:rPr>
              <a:t>results</a:t>
            </a:r>
            <a:endParaRPr lang="de-DE" sz="1200" dirty="0">
              <a:solidFill>
                <a:srgbClr val="94B6E1"/>
              </a:solidFill>
              <a:latin typeface="Courier"/>
              <a:cs typeface="Courier"/>
            </a:endParaRPr>
          </a:p>
          <a:p>
            <a:r>
              <a:rPr lang="de-DE" sz="1200" dirty="0">
                <a:latin typeface="Courier"/>
                <a:cs typeface="Courier"/>
              </a:rPr>
              <a:t>  __</a:t>
            </a:r>
            <a:r>
              <a:rPr lang="de-DE" sz="1200" dirty="0" err="1">
                <a:latin typeface="Courier"/>
                <a:cs typeface="Courier"/>
              </a:rPr>
              <a:t>syncthreads</a:t>
            </a:r>
            <a:r>
              <a:rPr lang="de-DE" sz="1200" dirty="0">
                <a:latin typeface="Courier"/>
                <a:cs typeface="Courier"/>
              </a:rPr>
              <a:t>();</a:t>
            </a:r>
          </a:p>
          <a:p>
            <a:endParaRPr lang="de-DE" sz="1200" dirty="0">
              <a:latin typeface="Courier"/>
              <a:cs typeface="Courier"/>
            </a:endParaRPr>
          </a:p>
          <a:p>
            <a:r>
              <a:rPr lang="de-DE" sz="1200" dirty="0">
                <a:latin typeface="Courier"/>
                <a:cs typeface="Courier"/>
              </a:rPr>
              <a:t>  </a:t>
            </a:r>
            <a:r>
              <a:rPr lang="de-DE" sz="1200" dirty="0" err="1">
                <a:latin typeface="Courier"/>
                <a:cs typeface="Courier"/>
              </a:rPr>
              <a:t>consumeData</a:t>
            </a:r>
            <a:r>
              <a:rPr lang="de-DE" sz="1200" dirty="0">
                <a:latin typeface="Courier"/>
                <a:cs typeface="Courier"/>
              </a:rPr>
              <a:t>(c);</a:t>
            </a:r>
          </a:p>
          <a:p>
            <a:r>
              <a:rPr lang="de-DE" sz="1200" dirty="0">
                <a:latin typeface="Courier"/>
                <a:cs typeface="Courier"/>
              </a:rPr>
              <a:t>}</a:t>
            </a:r>
            <a:endParaRPr lang="es-ES" sz="1200" dirty="0">
              <a:latin typeface="Courier"/>
              <a:cs typeface="Courier"/>
            </a:endParaRPr>
          </a:p>
        </p:txBody>
      </p:sp>
      <p:grpSp>
        <p:nvGrpSpPr>
          <p:cNvPr id="16" name="Agrupar 15"/>
          <p:cNvGrpSpPr/>
          <p:nvPr/>
        </p:nvGrpSpPr>
        <p:grpSpPr>
          <a:xfrm>
            <a:off x="4403559" y="1480817"/>
            <a:ext cx="4441135" cy="4815009"/>
            <a:chOff x="4301616" y="1634728"/>
            <a:chExt cx="4441135" cy="4815009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3186" y="1634728"/>
              <a:ext cx="4309565" cy="4815009"/>
            </a:xfrm>
            <a:prstGeom prst="rect">
              <a:avLst/>
            </a:prstGeom>
          </p:spPr>
        </p:pic>
        <p:sp>
          <p:nvSpPr>
            <p:cNvPr id="13" name="Rectángulo 12"/>
            <p:cNvSpPr/>
            <p:nvPr/>
          </p:nvSpPr>
          <p:spPr>
            <a:xfrm>
              <a:off x="4312674" y="2967661"/>
              <a:ext cx="1848289" cy="289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4301616" y="3899701"/>
              <a:ext cx="1848289" cy="289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4303124" y="5763769"/>
              <a:ext cx="1848289" cy="289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14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16C653-5A48-4568-855F-E58501FBAC2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Avoid launch overhead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Lattice QCD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76" y="1700808"/>
            <a:ext cx="3453841" cy="403244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683348" y="1524000"/>
            <a:ext cx="3888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Bottlenecks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Large number of calls to </a:t>
            </a:r>
            <a:r>
              <a:rPr lang="en-US" dirty="0" err="1"/>
              <a:t>cuBLAS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Dominated by CPU’s capability of launching </a:t>
            </a:r>
            <a:r>
              <a:rPr lang="en-US" dirty="0" err="1"/>
              <a:t>cuBLAS</a:t>
            </a:r>
            <a:r>
              <a:rPr lang="en-US" dirty="0"/>
              <a:t> kernels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ARM CPU is not fast enough to quickly launch kernels: GPU is underutilized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395536" y="5949280"/>
            <a:ext cx="8352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Vishal Mehta, Exploiting CUDA Dynamic Parallelism for low power ARM based prototypes, GTC’2015</a:t>
            </a:r>
          </a:p>
        </p:txBody>
      </p:sp>
    </p:spTree>
    <p:extLst>
      <p:ext uri="{BB962C8B-B14F-4D97-AF65-F5344CB8AC3E}">
        <p14:creationId xmlns:p14="http://schemas.microsoft.com/office/powerpoint/2010/main" val="229447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CE4148-12C9-4E45-9BF2-880F8C2F3FD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Avoid launch overhead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CPUs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254000" y="1950919"/>
            <a:ext cx="8789709" cy="4162553"/>
            <a:chOff x="254000" y="1950919"/>
            <a:chExt cx="8789709" cy="4162553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950919"/>
              <a:ext cx="8623300" cy="3937000"/>
            </a:xfrm>
            <a:prstGeom prst="rect">
              <a:avLst/>
            </a:prstGeom>
          </p:spPr>
        </p:pic>
        <p:sp>
          <p:nvSpPr>
            <p:cNvPr id="5" name="Recortar rectángulo de esquina del mismo lado 4"/>
            <p:cNvSpPr/>
            <p:nvPr/>
          </p:nvSpPr>
          <p:spPr>
            <a:xfrm>
              <a:off x="8611661" y="5753432"/>
              <a:ext cx="432048" cy="360040"/>
            </a:xfrm>
            <a:prstGeom prst="snip2Same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059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/>
          <p:cNvGrpSpPr/>
          <p:nvPr/>
        </p:nvGrpSpPr>
        <p:grpSpPr>
          <a:xfrm>
            <a:off x="254000" y="1950919"/>
            <a:ext cx="8789709" cy="4162553"/>
            <a:chOff x="254000" y="1950919"/>
            <a:chExt cx="8789709" cy="4162553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950919"/>
              <a:ext cx="8623300" cy="3937000"/>
            </a:xfrm>
            <a:prstGeom prst="rect">
              <a:avLst/>
            </a:prstGeom>
          </p:spPr>
        </p:pic>
        <p:sp>
          <p:nvSpPr>
            <p:cNvPr id="10" name="Recortar rectángulo de esquina del mismo lado 9"/>
            <p:cNvSpPr/>
            <p:nvPr/>
          </p:nvSpPr>
          <p:spPr>
            <a:xfrm>
              <a:off x="8611661" y="5753432"/>
              <a:ext cx="432048" cy="360040"/>
            </a:xfrm>
            <a:prstGeom prst="snip2Same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824C9-6F97-480A-8A41-B020057D2C5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Avoid launch overhead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CPUs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092" y="1801911"/>
            <a:ext cx="6517817" cy="2491185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434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AA4FA9-D896-4EFA-96D6-73D595FF8F9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Introduction to CUDA Dynamic Parallelism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simple example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A more complex example: Bezier lines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recursive example: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Quadtree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Other cases: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Library calls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Saving kernel launches in ARM CPUs</a:t>
            </a:r>
          </a:p>
          <a:p>
            <a:r>
              <a:rPr lang="en-US" sz="2353" dirty="0"/>
              <a:t>What is and what is not dynamic parallelism</a:t>
            </a:r>
          </a:p>
          <a:p>
            <a:r>
              <a:rPr lang="en-US" sz="2353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  <a:p>
            <a:endParaRPr lang="en-US" sz="2353" dirty="0"/>
          </a:p>
          <a:p>
            <a:pPr>
              <a:buNone/>
            </a:pPr>
            <a:endParaRPr lang="en-US" sz="2353" dirty="0"/>
          </a:p>
        </p:txBody>
      </p:sp>
    </p:spTree>
    <p:extLst>
      <p:ext uri="{BB962C8B-B14F-4D97-AF65-F5344CB8AC3E}">
        <p14:creationId xmlns:p14="http://schemas.microsoft.com/office/powerpoint/2010/main" val="188832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2C1FB-4F14-4254-A4BE-44AD281EEC5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What is and what is not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CDP ensures better work balance, and offers advantages in terms of programmability.</a:t>
            </a:r>
          </a:p>
          <a:p>
            <a:endParaRPr lang="en-US" dirty="0"/>
          </a:p>
          <a:p>
            <a:r>
              <a:rPr lang="en-US" sz="2400" dirty="0"/>
              <a:t>However, launching grids with a very small number of threads could lead to severe underutilization of the GPU resources.</a:t>
            </a:r>
            <a:endParaRPr lang="es-ES" sz="2400" dirty="0"/>
          </a:p>
          <a:p>
            <a:endParaRPr lang="es-ES" sz="2400" dirty="0"/>
          </a:p>
          <a:p>
            <a:r>
              <a:rPr lang="en-US" sz="2400" dirty="0"/>
              <a:t>A general recommendation </a:t>
            </a:r>
          </a:p>
          <a:p>
            <a:pPr lvl="1"/>
            <a:r>
              <a:rPr lang="en-US" sz="2000" dirty="0"/>
              <a:t>Child grids with a large number of thread blocks, </a:t>
            </a:r>
          </a:p>
          <a:p>
            <a:pPr lvl="1"/>
            <a:r>
              <a:rPr lang="en-US" sz="2000" dirty="0"/>
              <a:t>or at least thread blocks with hundreds of threads, if the number of blocks is small.</a:t>
            </a:r>
            <a:endParaRPr lang="es-ES" sz="2000" dirty="0"/>
          </a:p>
          <a:p>
            <a:endParaRPr lang="es-ES" sz="2400" dirty="0"/>
          </a:p>
          <a:p>
            <a:r>
              <a:rPr lang="en-US" sz="2400" dirty="0"/>
              <a:t>Nested parallelism (tree processing)</a:t>
            </a:r>
          </a:p>
          <a:p>
            <a:pPr lvl="1"/>
            <a:r>
              <a:rPr lang="en-US" sz="2000" dirty="0"/>
              <a:t>Thick tree nodes (each node deploys many threads)</a:t>
            </a:r>
          </a:p>
          <a:p>
            <a:pPr lvl="1"/>
            <a:r>
              <a:rPr lang="en-US" sz="2000" dirty="0"/>
              <a:t>and/or branch degree is large (each parent node has many children)</a:t>
            </a:r>
          </a:p>
          <a:p>
            <a:pPr lvl="1"/>
            <a:r>
              <a:rPr lang="en-US" sz="2000" dirty="0"/>
              <a:t>As the nesting depth is limited in hardware, only relatively shallow trees can be implemented efficiently.</a:t>
            </a:r>
            <a:r>
              <a:rPr lang="es-ES" sz="2000" dirty="0"/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394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97F88-85CE-4AE2-A2E2-4FE1BD0D280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CUDA Dynamic Parallelism</a:t>
            </a:r>
          </a:p>
          <a:p>
            <a:pPr lvl="1"/>
            <a:r>
              <a:rPr lang="en-US" sz="2000" dirty="0"/>
              <a:t>Extends the CUDA programming model to allow kernels to launch kernels</a:t>
            </a:r>
          </a:p>
          <a:p>
            <a:pPr lvl="1"/>
            <a:r>
              <a:rPr lang="en-US" sz="2000" dirty="0"/>
              <a:t>Dynamic memory allocation</a:t>
            </a:r>
          </a:p>
          <a:p>
            <a:pPr lvl="1"/>
            <a:r>
              <a:rPr lang="en-US" sz="2000" dirty="0"/>
              <a:t>Dynamically discovered work</a:t>
            </a:r>
          </a:p>
          <a:p>
            <a:pPr lvl="1"/>
            <a:r>
              <a:rPr lang="en-US" sz="2000" dirty="0"/>
              <a:t>Recursive algorithms</a:t>
            </a:r>
          </a:p>
          <a:p>
            <a:pPr lvl="1"/>
            <a:r>
              <a:rPr lang="en-US" sz="2000" dirty="0"/>
              <a:t>Better work balance and more efficient memory usage</a:t>
            </a:r>
          </a:p>
          <a:p>
            <a:pPr lvl="1"/>
            <a:endParaRPr lang="en-US" sz="2000" dirty="0"/>
          </a:p>
          <a:p>
            <a:r>
              <a:rPr lang="en-US" sz="2400" dirty="0"/>
              <a:t>What is and what is not CDP</a:t>
            </a:r>
          </a:p>
        </p:txBody>
      </p:sp>
    </p:spTree>
    <p:extLst>
      <p:ext uri="{BB962C8B-B14F-4D97-AF65-F5344CB8AC3E}">
        <p14:creationId xmlns:p14="http://schemas.microsoft.com/office/powerpoint/2010/main" val="57324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285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698</TotalTime>
  <Words>2951</Words>
  <Application>Microsoft Office PowerPoint</Application>
  <PresentationFormat>On-screen Show (4:3)</PresentationFormat>
  <Paragraphs>479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ＭＳ Ｐゴシック</vt:lpstr>
      <vt:lpstr>Arial</vt:lpstr>
      <vt:lpstr>Calibri</vt:lpstr>
      <vt:lpstr>Calibri Light</vt:lpstr>
      <vt:lpstr>Courier</vt:lpstr>
      <vt:lpstr>Courier New</vt:lpstr>
      <vt:lpstr>Lucida Console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83</cp:revision>
  <dcterms:created xsi:type="dcterms:W3CDTF">2022-03-30T06:33:52Z</dcterms:created>
  <dcterms:modified xsi:type="dcterms:W3CDTF">2022-10-18T10:49:49Z</dcterms:modified>
</cp:coreProperties>
</file>