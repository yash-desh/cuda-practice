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24"/>
  </p:handout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C4C"/>
    <a:srgbClr val="E08E2F"/>
    <a:srgbClr val="E09135"/>
    <a:srgbClr val="FFFFFF"/>
    <a:srgbClr val="DC8623"/>
    <a:srgbClr val="DB8522"/>
    <a:srgbClr val="4D4D4D"/>
    <a:srgbClr val="EB6500"/>
    <a:srgbClr val="53565A"/>
    <a:srgbClr val="FF98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08EC16-7612-48F2-BD7E-AB7620736A0A}" v="99" dt="2022-03-30T08:57:44.2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77" y="36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47" d="100"/>
          <a:sy n="47" d="100"/>
        </p:scale>
        <p:origin x="2712" y="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C9F2AD-ACD9-4F52-8557-48C099C603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5BD4B-9B5A-4159-B729-CBA6AE207B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7D2E7-9FC7-4207-9062-A3303B783802}" type="datetimeFigureOut">
              <a:rPr lang="en-IN" smtClean="0"/>
              <a:t>28-09-2022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4C69D-016E-496D-B1AA-E9EE96139D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3570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614FD1-D902-4A59-BCAB-4AA8AF3D9081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BA4AD1CF-AA6C-4924-8675-811F23CE0D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4"/>
            <a:ext cx="9144000" cy="68506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E2EB6C-4AC4-41A2-8F72-A329B2E1580B}"/>
              </a:ext>
            </a:extLst>
          </p:cNvPr>
          <p:cNvSpPr/>
          <p:nvPr userDrawn="1"/>
        </p:nvSpPr>
        <p:spPr>
          <a:xfrm>
            <a:off x="-2300" y="6812281"/>
            <a:ext cx="9144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B9DDB9-4BD9-4BCF-86A4-772414CF0629}"/>
              </a:ext>
            </a:extLst>
          </p:cNvPr>
          <p:cNvGrpSpPr/>
          <p:nvPr userDrawn="1"/>
        </p:nvGrpSpPr>
        <p:grpSpPr>
          <a:xfrm>
            <a:off x="-72699" y="-3125"/>
            <a:ext cx="1374756" cy="1441923"/>
            <a:chOff x="-113156" y="25300"/>
            <a:chExt cx="1332205" cy="1441923"/>
          </a:xfrm>
        </p:grpSpPr>
        <p:sp>
          <p:nvSpPr>
            <p:cNvPr id="7" name="Rectangle: Rounded Corners 35">
              <a:extLst>
                <a:ext uri="{FF2B5EF4-FFF2-40B4-BE49-F238E27FC236}">
                  <a16:creationId xmlns:a16="http://schemas.microsoft.com/office/drawing/2014/main" id="{7957AE27-1DC8-4907-8AB1-2560A90A543A}"/>
                </a:ext>
              </a:extLst>
            </p:cNvPr>
            <p:cNvSpPr/>
            <p:nvPr/>
          </p:nvSpPr>
          <p:spPr>
            <a:xfrm>
              <a:off x="-43557" y="25300"/>
              <a:ext cx="1262606" cy="1441923"/>
            </a:xfrm>
            <a:prstGeom prst="roundRect">
              <a:avLst>
                <a:gd name="adj" fmla="val 0"/>
              </a:avLst>
            </a:prstGeom>
            <a:solidFill>
              <a:srgbClr val="4D4D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8" name="Picture 2" descr="Data Mining. Concepts and Techniques, 3rd Edition (The Morgan Kaufmann  Series in Data Management Systems)">
              <a:extLst>
                <a:ext uri="{FF2B5EF4-FFF2-40B4-BE49-F238E27FC236}">
                  <a16:creationId xmlns:a16="http://schemas.microsoft.com/office/drawing/2014/main" id="{9E395FDB-906D-4C55-85C3-0A95428EBD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187" r="-1"/>
            <a:stretch/>
          </p:blipFill>
          <p:spPr bwMode="auto">
            <a:xfrm>
              <a:off x="-113156" y="357913"/>
              <a:ext cx="1317458" cy="7700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2C3EE6A-8657-4A6B-87F7-02627342A2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36487" y="1788690"/>
            <a:ext cx="3731741" cy="261610"/>
          </a:xfrm>
          <a:prstGeom prst="roundRect">
            <a:avLst>
              <a:gd name="adj" fmla="val 0"/>
            </a:avLst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100" i="1" dirty="0">
                <a:solidFill>
                  <a:srgbClr val="53565A"/>
                </a:solidFill>
                <a:latin typeface="+mj-lt"/>
              </a:rPr>
              <a:t>Wen-</a:t>
            </a:r>
            <a:r>
              <a:rPr lang="en-GB" sz="1100" i="1" dirty="0" err="1">
                <a:solidFill>
                  <a:srgbClr val="53565A"/>
                </a:solidFill>
                <a:latin typeface="+mj-lt"/>
              </a:rPr>
              <a:t>mei</a:t>
            </a:r>
            <a:r>
              <a:rPr lang="en-GB" sz="1100" i="1" dirty="0">
                <a:solidFill>
                  <a:srgbClr val="53565A"/>
                </a:solidFill>
                <a:latin typeface="+mj-lt"/>
              </a:rPr>
              <a:t> </a:t>
            </a:r>
            <a:r>
              <a:rPr lang="en-GB" sz="1100" i="1" dirty="0" err="1">
                <a:solidFill>
                  <a:srgbClr val="53565A"/>
                </a:solidFill>
                <a:latin typeface="+mj-lt"/>
              </a:rPr>
              <a:t>Hwu</a:t>
            </a:r>
            <a:r>
              <a:rPr lang="en-GB" sz="1100" i="1" dirty="0">
                <a:solidFill>
                  <a:srgbClr val="53565A"/>
                </a:solidFill>
                <a:latin typeface="+mj-lt"/>
              </a:rPr>
              <a:t>, David Kirk, Izzat El Hajj</a:t>
            </a:r>
            <a:endParaRPr lang="en-US" sz="1100" i="1" dirty="0">
              <a:solidFill>
                <a:srgbClr val="53565A"/>
              </a:solidFill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3523CE-3289-4AA1-A7D0-4D0378C02A45}"/>
              </a:ext>
            </a:extLst>
          </p:cNvPr>
          <p:cNvCxnSpPr/>
          <p:nvPr userDrawn="1"/>
        </p:nvCxnSpPr>
        <p:spPr>
          <a:xfrm>
            <a:off x="2360588" y="1928406"/>
            <a:ext cx="275899" cy="0"/>
          </a:xfrm>
          <a:prstGeom prst="line">
            <a:avLst/>
          </a:prstGeom>
          <a:ln w="19050">
            <a:solidFill>
              <a:srgbClr val="5356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B1CFD73-162D-4195-B0FC-38DEE10693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303"/>
          <a:stretch/>
        </p:blipFill>
        <p:spPr>
          <a:xfrm>
            <a:off x="1299246" y="1441973"/>
            <a:ext cx="7844400" cy="15773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F7728A-41A1-445F-A9FF-56DF9F9BB7F1}"/>
              </a:ext>
            </a:extLst>
          </p:cNvPr>
          <p:cNvSpPr txBox="1"/>
          <p:nvPr userDrawn="1"/>
        </p:nvSpPr>
        <p:spPr bwMode="auto">
          <a:xfrm>
            <a:off x="1567422" y="1743145"/>
            <a:ext cx="567969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dirty="0">
                <a:solidFill>
                  <a:schemeClr val="bg1"/>
                </a:solidFill>
              </a:rPr>
              <a:t>Programming Massively Parallel Processors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215409-9B9B-4DB6-906D-C53B1CDED403}"/>
              </a:ext>
            </a:extLst>
          </p:cNvPr>
          <p:cNvSpPr txBox="1"/>
          <p:nvPr userDrawn="1"/>
        </p:nvSpPr>
        <p:spPr>
          <a:xfrm>
            <a:off x="1567421" y="2143201"/>
            <a:ext cx="2206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solidFill>
                  <a:schemeClr val="bg1"/>
                </a:solidFill>
                <a:latin typeface="+mj-lt"/>
              </a:rPr>
              <a:t>A Hands-on Approach</a:t>
            </a:r>
            <a:endParaRPr lang="en-US" sz="1800" dirty="0">
              <a:solidFill>
                <a:schemeClr val="bg1"/>
              </a:solidFill>
              <a:latin typeface="+mj-lt"/>
            </a:endParaRPr>
          </a:p>
          <a:p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64E5FD-D2A2-4A68-8897-43FA77D6453D}"/>
              </a:ext>
            </a:extLst>
          </p:cNvPr>
          <p:cNvSpPr/>
          <p:nvPr userDrawn="1"/>
        </p:nvSpPr>
        <p:spPr>
          <a:xfrm>
            <a:off x="1299245" y="3024958"/>
            <a:ext cx="7836105" cy="600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z</a:t>
            </a:r>
          </a:p>
        </p:txBody>
      </p:sp>
      <p:pic>
        <p:nvPicPr>
          <p:cNvPr id="17" name="Picture 1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CB3A55CF-D158-4A58-A4DE-DEEA1CF1071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773" y="4445883"/>
            <a:ext cx="4410075" cy="1952625"/>
          </a:xfrm>
          <a:prstGeom prst="rect">
            <a:avLst/>
          </a:prstGeom>
        </p:spPr>
      </p:pic>
      <p:sp>
        <p:nvSpPr>
          <p:cNvPr id="18" name="L-Shape 17">
            <a:extLst>
              <a:ext uri="{FF2B5EF4-FFF2-40B4-BE49-F238E27FC236}">
                <a16:creationId xmlns:a16="http://schemas.microsoft.com/office/drawing/2014/main" id="{715CF1CF-E105-4089-BA77-56B70A742ECB}"/>
              </a:ext>
            </a:extLst>
          </p:cNvPr>
          <p:cNvSpPr/>
          <p:nvPr userDrawn="1"/>
        </p:nvSpPr>
        <p:spPr>
          <a:xfrm rot="13500000">
            <a:off x="2939485" y="3242288"/>
            <a:ext cx="140020" cy="140020"/>
          </a:xfrm>
          <a:prstGeom prst="corner">
            <a:avLst>
              <a:gd name="adj1" fmla="val 27650"/>
              <a:gd name="adj2" fmla="val 25788"/>
            </a:avLst>
          </a:prstGeom>
          <a:solidFill>
            <a:srgbClr val="DB8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928E1F-54E8-4389-82DD-5CF4C77F4AB0}"/>
              </a:ext>
            </a:extLst>
          </p:cNvPr>
          <p:cNvSpPr/>
          <p:nvPr userDrawn="1"/>
        </p:nvSpPr>
        <p:spPr>
          <a:xfrm>
            <a:off x="7884826" y="6812281"/>
            <a:ext cx="1259174" cy="45719"/>
          </a:xfrm>
          <a:prstGeom prst="rect">
            <a:avLst/>
          </a:prstGeom>
          <a:solidFill>
            <a:srgbClr val="DC8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 descr="Chart&#10;&#10;Description automatically generated">
            <a:extLst>
              <a:ext uri="{FF2B5EF4-FFF2-40B4-BE49-F238E27FC236}">
                <a16:creationId xmlns:a16="http://schemas.microsoft.com/office/drawing/2014/main" id="{083DB60B-7D3C-470B-9BE6-C4062D6A1D4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372" y="3636069"/>
            <a:ext cx="2232972" cy="2762439"/>
          </a:xfrm>
          <a:prstGeom prst="rect">
            <a:avLst/>
          </a:prstGeom>
        </p:spPr>
      </p:pic>
      <p:sp>
        <p:nvSpPr>
          <p:cNvPr id="21" name="Rectangle 7">
            <a:extLst>
              <a:ext uri="{FF2B5EF4-FFF2-40B4-BE49-F238E27FC236}">
                <a16:creationId xmlns:a16="http://schemas.microsoft.com/office/drawing/2014/main" id="{21B15398-A182-4C0B-854E-654EA8B5B28D}"/>
              </a:ext>
            </a:extLst>
          </p:cNvPr>
          <p:cNvSpPr>
            <a:spLocks/>
          </p:cNvSpPr>
          <p:nvPr userDrawn="1"/>
        </p:nvSpPr>
        <p:spPr bwMode="auto">
          <a:xfrm>
            <a:off x="59677" y="6603329"/>
            <a:ext cx="1579154" cy="185454"/>
          </a:xfrm>
          <a:prstGeom prst="rect">
            <a:avLst/>
          </a:prstGeom>
          <a:noFill/>
          <a:ln>
            <a:noFill/>
          </a:ln>
        </p:spPr>
        <p:txBody>
          <a:bodyPr lIns="0" tIns="0" rIns="40639" bIns="0" anchor="ctr"/>
          <a:lstStyle>
            <a:lvl1pPr marL="39688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Copyright © 2022 Elsevier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1298575" y="3011550"/>
            <a:ext cx="1611556" cy="6061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Chapter #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3146829" y="3011550"/>
            <a:ext cx="5898609" cy="6061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 b="1" cap="none" baseline="0">
                <a:latin typeface="+mj-lt"/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2487965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0D1EB3-9074-4E31-9DCF-ADFD596A7E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672" y="838072"/>
            <a:ext cx="8464802" cy="558463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1174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4453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514897"/>
            <a:ext cx="3868340" cy="645898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248402"/>
            <a:ext cx="3868340" cy="5261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514897"/>
            <a:ext cx="3887391" cy="645898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248402"/>
            <a:ext cx="3887391" cy="5261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8914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101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451918C-3068-494B-B756-EB2CEF6603D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5538866"/>
            <a:ext cx="3013881" cy="1334439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31DF901C-E89A-4945-9091-D20419752365}"/>
              </a:ext>
            </a:extLst>
          </p:cNvPr>
          <p:cNvSpPr/>
          <p:nvPr userDrawn="1"/>
        </p:nvSpPr>
        <p:spPr>
          <a:xfrm>
            <a:off x="6914848" y="4280108"/>
            <a:ext cx="2226852" cy="2533254"/>
          </a:xfrm>
          <a:custGeom>
            <a:avLst/>
            <a:gdLst>
              <a:gd name="connsiteX0" fmla="*/ 0 w 4572000"/>
              <a:gd name="connsiteY0" fmla="*/ 0 h 3429000"/>
              <a:gd name="connsiteX1" fmla="*/ 4572000 w 4572000"/>
              <a:gd name="connsiteY1" fmla="*/ 0 h 3429000"/>
              <a:gd name="connsiteX2" fmla="*/ 4572000 w 4572000"/>
              <a:gd name="connsiteY2" fmla="*/ 3429000 h 3429000"/>
              <a:gd name="connsiteX3" fmla="*/ 0 w 4572000"/>
              <a:gd name="connsiteY3" fmla="*/ 3429000 h 3429000"/>
              <a:gd name="connsiteX4" fmla="*/ 0 w 4572000"/>
              <a:gd name="connsiteY4" fmla="*/ 0 h 3429000"/>
              <a:gd name="connsiteX0" fmla="*/ 0 w 4572000"/>
              <a:gd name="connsiteY0" fmla="*/ 3429000 h 3429000"/>
              <a:gd name="connsiteX1" fmla="*/ 4572000 w 4572000"/>
              <a:gd name="connsiteY1" fmla="*/ 0 h 3429000"/>
              <a:gd name="connsiteX2" fmla="*/ 4572000 w 4572000"/>
              <a:gd name="connsiteY2" fmla="*/ 3429000 h 3429000"/>
              <a:gd name="connsiteX3" fmla="*/ 0 w 457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0" h="3429000">
                <a:moveTo>
                  <a:pt x="0" y="3429000"/>
                </a:moveTo>
                <a:lnTo>
                  <a:pt x="4572000" y="0"/>
                </a:lnTo>
                <a:lnTo>
                  <a:pt x="457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7E801F-3FA2-4ED1-804F-E330EBA748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1" t="4554" r="77" b="59326"/>
          <a:stretch/>
        </p:blipFill>
        <p:spPr>
          <a:xfrm>
            <a:off x="930683" y="-1553"/>
            <a:ext cx="8211017" cy="511200"/>
          </a:xfrm>
          <a:prstGeom prst="rect">
            <a:avLst/>
          </a:prstGeom>
        </p:spPr>
      </p:pic>
      <p:pic>
        <p:nvPicPr>
          <p:cNvPr id="8" name="Picture 2" descr="Data Mining. Concepts and Techniques, 3rd Edition (The Morgan Kaufmann  Series in Data Management Systems)">
            <a:extLst>
              <a:ext uri="{FF2B5EF4-FFF2-40B4-BE49-F238E27FC236}">
                <a16:creationId xmlns:a16="http://schemas.microsoft.com/office/drawing/2014/main" id="{A52DA9B2-CDDD-4030-BA37-75FEC690A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30682" cy="509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E92C0D8-7584-4BDC-BE7D-11D53629CF58}"/>
              </a:ext>
            </a:extLst>
          </p:cNvPr>
          <p:cNvSpPr/>
          <p:nvPr userDrawn="1"/>
        </p:nvSpPr>
        <p:spPr>
          <a:xfrm>
            <a:off x="-2300" y="6812281"/>
            <a:ext cx="9144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0D6273C-93F4-4ED4-A1B6-1578A4766C97}"/>
              </a:ext>
            </a:extLst>
          </p:cNvPr>
          <p:cNvSpPr>
            <a:spLocks/>
          </p:cNvSpPr>
          <p:nvPr userDrawn="1"/>
        </p:nvSpPr>
        <p:spPr bwMode="auto">
          <a:xfrm>
            <a:off x="59677" y="6603329"/>
            <a:ext cx="1579154" cy="185454"/>
          </a:xfrm>
          <a:prstGeom prst="rect">
            <a:avLst/>
          </a:prstGeom>
          <a:noFill/>
          <a:ln>
            <a:noFill/>
          </a:ln>
        </p:spPr>
        <p:txBody>
          <a:bodyPr lIns="0" tIns="0" rIns="40639" bIns="0" anchor="ctr"/>
          <a:lstStyle>
            <a:lvl1pPr marL="39688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Copyright © 2022 Elsevier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6B0C97-5D7F-45E4-B756-6265FC57D53E}"/>
              </a:ext>
            </a:extLst>
          </p:cNvPr>
          <p:cNvSpPr/>
          <p:nvPr userDrawn="1"/>
        </p:nvSpPr>
        <p:spPr>
          <a:xfrm>
            <a:off x="7884826" y="6812281"/>
            <a:ext cx="1259174" cy="45719"/>
          </a:xfrm>
          <a:prstGeom prst="rect">
            <a:avLst/>
          </a:prstGeom>
          <a:solidFill>
            <a:srgbClr val="DC8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460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664" r:id="rId3"/>
    <p:sldLayoutId id="2147483667" r:id="rId4"/>
    <p:sldLayoutId id="2147483665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Chapter 9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Parallel Histogram</a:t>
            </a:r>
          </a:p>
        </p:txBody>
      </p:sp>
    </p:spTree>
    <p:extLst>
      <p:ext uri="{BB962C8B-B14F-4D97-AF65-F5344CB8AC3E}">
        <p14:creationId xmlns:p14="http://schemas.microsoft.com/office/powerpoint/2010/main" val="383142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Histogram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chemeClr val="accent5"/>
                </a:solidFill>
              </a:rPr>
              <a:t>histogram</a:t>
            </a:r>
            <a:r>
              <a:rPr lang="en-US" dirty="0"/>
              <a:t> approximates the distribution of a dataset by:</a:t>
            </a:r>
          </a:p>
          <a:p>
            <a:pPr lvl="1"/>
            <a:r>
              <a:rPr lang="en-US" dirty="0"/>
              <a:t>Dividing the range of values into </a:t>
            </a:r>
            <a:r>
              <a:rPr lang="en-US" b="1" dirty="0">
                <a:solidFill>
                  <a:schemeClr val="accent5"/>
                </a:solidFill>
              </a:rPr>
              <a:t>bins</a:t>
            </a:r>
            <a:r>
              <a:rPr lang="en-US" dirty="0"/>
              <a:t> (or </a:t>
            </a:r>
            <a:r>
              <a:rPr lang="en-US" b="1" dirty="0">
                <a:solidFill>
                  <a:schemeClr val="accent5"/>
                </a:solidFill>
              </a:rPr>
              <a:t>buckets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Counting the number of values in the dataset that fall in each bin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Color histogram of an image counts the number of pixels for each pixel value or range of values</a:t>
            </a:r>
          </a:p>
        </p:txBody>
      </p:sp>
    </p:spTree>
    <p:extLst>
      <p:ext uri="{BB962C8B-B14F-4D97-AF65-F5344CB8AC3E}">
        <p14:creationId xmlns:p14="http://schemas.microsoft.com/office/powerpoint/2010/main" val="3097893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Example: Color Histogram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Sequential: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Parallel:</a:t>
            </a:r>
          </a:p>
          <a:p>
            <a:pPr lvl="1"/>
            <a:r>
              <a:rPr lang="en-US" dirty="0"/>
              <a:t>Assign one thread per input element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506069" y="1230189"/>
            <a:ext cx="683879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6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6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60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; 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&lt; width*height; ++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6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600" dirty="0">
                <a:solidFill>
                  <a:srgbClr val="00BF00"/>
                </a:solidFill>
                <a:latin typeface="Lucida Console" panose="020B0609040504020204" pitchFamily="49" charset="0"/>
              </a:rPr>
              <a:t>char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b = image[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   ++bins[b];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en-US" sz="1600" dirty="0"/>
          </a:p>
        </p:txBody>
      </p:sp>
      <p:sp>
        <p:nvSpPr>
          <p:cNvPr id="5" name="Rectangle 4"/>
          <p:cNvSpPr/>
          <p:nvPr/>
        </p:nvSpPr>
        <p:spPr>
          <a:xfrm>
            <a:off x="1506069" y="3196929"/>
            <a:ext cx="6677426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6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6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6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16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&lt; width*height) {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6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600" dirty="0">
                <a:solidFill>
                  <a:srgbClr val="00BF00"/>
                </a:solidFill>
                <a:latin typeface="Lucida Console" panose="020B0609040504020204" pitchFamily="49" charset="0"/>
              </a:rPr>
              <a:t>char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b = image[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   ++bins[b];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6008000" y="3874037"/>
            <a:ext cx="23368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What’s wrong with this implementation?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670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Data Races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chemeClr val="accent5"/>
                </a:solidFill>
              </a:rPr>
              <a:t>data race</a:t>
            </a:r>
            <a:r>
              <a:rPr lang="en-US" dirty="0"/>
              <a:t> occurs when multiple threads access the same memory location concurrently without ordering and at least one access is a write</a:t>
            </a:r>
          </a:p>
          <a:p>
            <a:pPr lvl="1"/>
            <a:r>
              <a:rPr lang="en-US" dirty="0"/>
              <a:t>Data races may result in unpredictable program output</a:t>
            </a:r>
          </a:p>
          <a:p>
            <a:endParaRPr lang="en-US" sz="1100" dirty="0"/>
          </a:p>
          <a:p>
            <a:r>
              <a:rPr lang="en-US" dirty="0"/>
              <a:t>Example: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If both threads have the same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bins[b]</a:t>
            </a:r>
            <a:r>
              <a:rPr lang="en-US" dirty="0"/>
              <a:t> is initially 0, the final value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bins[b]</a:t>
            </a:r>
            <a:r>
              <a:rPr lang="en-US" dirty="0"/>
              <a:t> could be </a:t>
            </a:r>
            <a:r>
              <a:rPr lang="en-US" b="1" dirty="0">
                <a:solidFill>
                  <a:schemeClr val="accent6"/>
                </a:solidFill>
              </a:rPr>
              <a:t>2</a:t>
            </a:r>
            <a:r>
              <a:rPr lang="en-US" dirty="0"/>
              <a:t> or </a:t>
            </a:r>
            <a:r>
              <a:rPr lang="en-US" b="1" dirty="0">
                <a:solidFill>
                  <a:schemeClr val="accent2"/>
                </a:solidFill>
              </a:rPr>
              <a:t>1</a:t>
            </a: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7998293"/>
              </p:ext>
            </p:extLst>
          </p:nvPr>
        </p:nvGraphicFramePr>
        <p:xfrm>
          <a:off x="1371600" y="2501817"/>
          <a:ext cx="6400800" cy="1285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71310411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5629010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Thread</a:t>
                      </a:r>
                      <a:r>
                        <a:rPr lang="en-US" b="1" baseline="0" dirty="0"/>
                        <a:t> A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Thread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8236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oldVal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bins[b]</a:t>
                      </a:r>
                    </a:p>
                    <a:p>
                      <a:pPr algn="l"/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newVal</a:t>
                      </a:r>
                      <a:r>
                        <a:rPr lang="en-US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oldVal</a:t>
                      </a:r>
                      <a:r>
                        <a:rPr lang="en-US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+ 1</a:t>
                      </a:r>
                    </a:p>
                    <a:p>
                      <a:pPr algn="l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bins[b] = 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newVal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oldVal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bins[b]</a:t>
                      </a:r>
                    </a:p>
                    <a:p>
                      <a:pPr algn="l"/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newVal</a:t>
                      </a:r>
                      <a:r>
                        <a:rPr lang="en-US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oldVal</a:t>
                      </a:r>
                      <a:r>
                        <a:rPr lang="en-US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+ 1</a:t>
                      </a:r>
                    </a:p>
                    <a:p>
                      <a:pPr algn="l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bins[b] = 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newVal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325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664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Data Races Example</a:t>
            </a: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8844661"/>
              </p:ext>
            </p:extLst>
          </p:nvPr>
        </p:nvGraphicFramePr>
        <p:xfrm>
          <a:off x="1019810" y="1111013"/>
          <a:ext cx="7104380" cy="2346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3580">
                  <a:extLst>
                    <a:ext uri="{9D8B030D-6E8A-4147-A177-3AD203B41FA5}">
                      <a16:colId xmlns:a16="http://schemas.microsoft.com/office/drawing/2014/main" val="102864680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71310411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56290105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Thread</a:t>
                      </a:r>
                      <a:r>
                        <a:rPr lang="en-US" sz="1600" b="1" baseline="0" dirty="0"/>
                        <a:t> A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Thread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82369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oldVal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bins[b]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3251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newVal</a:t>
                      </a:r>
                      <a:r>
                        <a:rPr lang="en-US" sz="16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600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oldVal</a:t>
                      </a:r>
                      <a:r>
                        <a:rPr lang="en-US" sz="16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+ 1</a:t>
                      </a: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9256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bins[b] =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newVal</a:t>
                      </a: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4694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oldVal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bins[b]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72867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newVal</a:t>
                      </a:r>
                      <a:r>
                        <a:rPr lang="en-US" sz="16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600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oldVal</a:t>
                      </a:r>
                      <a:r>
                        <a:rPr lang="en-US" sz="16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8358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bins[b] =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newVal</a:t>
                      </a: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608435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8874903"/>
              </p:ext>
            </p:extLst>
          </p:nvPr>
        </p:nvGraphicFramePr>
        <p:xfrm>
          <a:off x="1019810" y="3914404"/>
          <a:ext cx="7104380" cy="2346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3580">
                  <a:extLst>
                    <a:ext uri="{9D8B030D-6E8A-4147-A177-3AD203B41FA5}">
                      <a16:colId xmlns:a16="http://schemas.microsoft.com/office/drawing/2014/main" val="102864680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71310411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56290105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Thread</a:t>
                      </a:r>
                      <a:r>
                        <a:rPr lang="en-US" sz="1600" b="1" baseline="0" dirty="0"/>
                        <a:t> A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Thread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82369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oldVal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bins[b]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3251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newVal</a:t>
                      </a:r>
                      <a:r>
                        <a:rPr lang="en-US" sz="16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600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oldVal</a:t>
                      </a:r>
                      <a:r>
                        <a:rPr lang="en-US" sz="16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+ 1</a:t>
                      </a: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9256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bins[b] =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newVal</a:t>
                      </a: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4694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oldVal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bins[b]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72867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newVal</a:t>
                      </a:r>
                      <a:r>
                        <a:rPr lang="en-US" sz="16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600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oldVal</a:t>
                      </a:r>
                      <a:r>
                        <a:rPr lang="en-US" sz="16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+ 1</a:t>
                      </a: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8358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bins[b] =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newVal</a:t>
                      </a: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60843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762033" y="3526973"/>
            <a:ext cx="5619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In these two scenarios, the final value of bins[b] will be 2</a:t>
            </a:r>
          </a:p>
        </p:txBody>
      </p:sp>
    </p:spTree>
    <p:extLst>
      <p:ext uri="{BB962C8B-B14F-4D97-AF65-F5344CB8AC3E}">
        <p14:creationId xmlns:p14="http://schemas.microsoft.com/office/powerpoint/2010/main" val="577881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Data Races Example</a:t>
            </a: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3125405"/>
              </p:ext>
            </p:extLst>
          </p:nvPr>
        </p:nvGraphicFramePr>
        <p:xfrm>
          <a:off x="1019810" y="1111013"/>
          <a:ext cx="7104380" cy="2346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3580">
                  <a:extLst>
                    <a:ext uri="{9D8B030D-6E8A-4147-A177-3AD203B41FA5}">
                      <a16:colId xmlns:a16="http://schemas.microsoft.com/office/drawing/2014/main" val="102864680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71310411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56290105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Thread</a:t>
                      </a:r>
                      <a:r>
                        <a:rPr lang="en-US" sz="1600" b="1" baseline="0" dirty="0"/>
                        <a:t> A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Thread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82369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oldVal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bins[b]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3251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newVal</a:t>
                      </a:r>
                      <a:r>
                        <a:rPr lang="en-US" sz="16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600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oldVal</a:t>
                      </a:r>
                      <a:r>
                        <a:rPr lang="en-US" sz="16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+ 1</a:t>
                      </a: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9256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oldVal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bins[b]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4694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bins[b] =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newVal</a:t>
                      </a: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72867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newVal</a:t>
                      </a:r>
                      <a:r>
                        <a:rPr lang="en-US" sz="16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600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oldVal</a:t>
                      </a:r>
                      <a:r>
                        <a:rPr lang="en-US" sz="16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8358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bins[b] =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newVal</a:t>
                      </a: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608435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021562"/>
              </p:ext>
            </p:extLst>
          </p:nvPr>
        </p:nvGraphicFramePr>
        <p:xfrm>
          <a:off x="1019810" y="3914404"/>
          <a:ext cx="7104380" cy="2346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3580">
                  <a:extLst>
                    <a:ext uri="{9D8B030D-6E8A-4147-A177-3AD203B41FA5}">
                      <a16:colId xmlns:a16="http://schemas.microsoft.com/office/drawing/2014/main" val="102864680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71310411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56290105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Thread</a:t>
                      </a:r>
                      <a:r>
                        <a:rPr lang="en-US" sz="1600" b="1" baseline="0" dirty="0"/>
                        <a:t> A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Thread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82369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oldVal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bins[b]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3251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newVal</a:t>
                      </a:r>
                      <a:r>
                        <a:rPr lang="en-US" sz="16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600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oldVal</a:t>
                      </a:r>
                      <a:r>
                        <a:rPr lang="en-US" sz="16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+ 1</a:t>
                      </a: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9256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oldVal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bins[b]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4694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bins[b] =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newVal</a:t>
                      </a: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72867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newVal</a:t>
                      </a:r>
                      <a:r>
                        <a:rPr lang="en-US" sz="16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600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oldVal</a:t>
                      </a:r>
                      <a:r>
                        <a:rPr lang="en-US" sz="16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+ 1</a:t>
                      </a: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8358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bins[b] =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newVal</a:t>
                      </a: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60843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859034" y="3526973"/>
            <a:ext cx="7425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In these two scenarios (and many others), the final value of bins[b] will be 1</a:t>
            </a:r>
          </a:p>
        </p:txBody>
      </p:sp>
    </p:spTree>
    <p:extLst>
      <p:ext uri="{BB962C8B-B14F-4D97-AF65-F5344CB8AC3E}">
        <p14:creationId xmlns:p14="http://schemas.microsoft.com/office/powerpoint/2010/main" val="602119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Mutual Exclusion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To avoid data races, concurrent read-modify-write operations to the same memory location need to be made </a:t>
            </a:r>
            <a:r>
              <a:rPr lang="en-US" b="1" dirty="0">
                <a:solidFill>
                  <a:schemeClr val="accent5"/>
                </a:solidFill>
              </a:rPr>
              <a:t>mutually exclusive</a:t>
            </a:r>
            <a:r>
              <a:rPr lang="en-US" dirty="0"/>
              <a:t> to enforce ordering</a:t>
            </a:r>
          </a:p>
          <a:p>
            <a:endParaRPr lang="en-US" dirty="0"/>
          </a:p>
          <a:p>
            <a:r>
              <a:rPr lang="en-US" dirty="0"/>
              <a:t>One way to do this on CPUs is using </a:t>
            </a:r>
            <a:r>
              <a:rPr lang="en-US" b="1" dirty="0">
                <a:solidFill>
                  <a:schemeClr val="accent5"/>
                </a:solidFill>
              </a:rPr>
              <a:t>locks</a:t>
            </a:r>
            <a:r>
              <a:rPr lang="en-US" dirty="0"/>
              <a:t> (</a:t>
            </a:r>
            <a:r>
              <a:rPr lang="en-US" dirty="0" err="1"/>
              <a:t>mutex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Example: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65822" y="2659975"/>
            <a:ext cx="281235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mutex_lock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(lock);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++bins[b];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mutex_unlock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(lock);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031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Mutual Exclusion Example</a:t>
            </a: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09932"/>
              </p:ext>
            </p:extLst>
          </p:nvPr>
        </p:nvGraphicFramePr>
        <p:xfrm>
          <a:off x="1388642" y="1310797"/>
          <a:ext cx="6189980" cy="3352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3580">
                  <a:extLst>
                    <a:ext uri="{9D8B030D-6E8A-4147-A177-3AD203B41FA5}">
                      <a16:colId xmlns:a16="http://schemas.microsoft.com/office/drawing/2014/main" val="10286468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71310411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56290105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Thread</a:t>
                      </a:r>
                      <a:r>
                        <a:rPr lang="en-US" sz="1400" b="1" baseline="0" dirty="0"/>
                        <a:t> A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Thread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82369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mutex_lock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(lock)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368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oldVal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bins[b]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3251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newVal</a:t>
                      </a:r>
                      <a:r>
                        <a:rPr lang="en-US" sz="14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400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oldVal</a:t>
                      </a:r>
                      <a:r>
                        <a:rPr lang="en-US" sz="14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+ 1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9256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bins[b] =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newVal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4694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mutex_unlock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(lock)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03116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mutex_lock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(lock)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17899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oldVal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bins[b]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72867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newVal</a:t>
                      </a:r>
                      <a:r>
                        <a:rPr lang="en-US" sz="14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400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oldVal</a:t>
                      </a:r>
                      <a:r>
                        <a:rPr lang="en-US" sz="14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8358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bins[b] =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newVal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60843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mutex_unlock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(lock)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60732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45136" y="5516435"/>
            <a:ext cx="7253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Thread B cannot acquire the lock before Thread A releases it (or vice versa)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2804673" y="3201102"/>
            <a:ext cx="242410" cy="2315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3496235" y="3380976"/>
            <a:ext cx="1229446" cy="21354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614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Locks and SIMD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95190" y="3220903"/>
            <a:ext cx="293914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mutex_lock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(lock)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oldVal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bins[b]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mutex_unlock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(lock)</a:t>
            </a:r>
            <a:endParaRPr lang="en-US" dirty="0"/>
          </a:p>
        </p:txBody>
      </p:sp>
      <p:sp>
        <p:nvSpPr>
          <p:cNvPr id="6" name="Freeform 5"/>
          <p:cNvSpPr/>
          <p:nvPr/>
        </p:nvSpPr>
        <p:spPr>
          <a:xfrm>
            <a:off x="5150476" y="1745754"/>
            <a:ext cx="122141" cy="109728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7705304" y="1745754"/>
            <a:ext cx="122141" cy="109728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04740" y="1303587"/>
            <a:ext cx="1013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Thread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9568" y="1303587"/>
            <a:ext cx="1013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Thread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4722" y="3173633"/>
            <a:ext cx="1613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Acquires lock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4011" y="3035134"/>
            <a:ext cx="224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Waiting for Thread 0 to release 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1445" y="3736230"/>
            <a:ext cx="224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Waiting for Thread 1 to complete previous instruction (SIMD)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0112" y="5995447"/>
            <a:ext cx="58637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Using locks with SIMD execution may cause deadlock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288" y="1940530"/>
            <a:ext cx="4013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Assume threads 0 and 1 are in the same warp and try to acquire the same lock</a:t>
            </a:r>
          </a:p>
        </p:txBody>
      </p:sp>
    </p:spTree>
    <p:extLst>
      <p:ext uri="{BB962C8B-B14F-4D97-AF65-F5344CB8AC3E}">
        <p14:creationId xmlns:p14="http://schemas.microsoft.com/office/powerpoint/2010/main" val="2606284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 animBg="1"/>
      <p:bldP spid="17" grpId="0"/>
      <p:bldP spid="18" grpId="0"/>
      <p:bldP spid="20" grpId="0"/>
      <p:bldP spid="21" grpId="0"/>
      <p:bldP spid="22" grpId="0"/>
      <p:bldP spid="29" grpId="0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Atomic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accent5"/>
                </a:solidFill>
              </a:rPr>
              <a:t>Atomic operations</a:t>
            </a:r>
            <a:r>
              <a:rPr lang="en-US" dirty="0"/>
              <a:t> perform read-modify-write with a single ISA instruction</a:t>
            </a:r>
          </a:p>
          <a:p>
            <a:pPr>
              <a:buClr>
                <a:schemeClr val="tx1"/>
              </a:buClr>
            </a:pPr>
            <a:endParaRPr lang="en-US" dirty="0"/>
          </a:p>
          <a:p>
            <a:pPr>
              <a:buClr>
                <a:schemeClr val="tx1"/>
              </a:buClr>
            </a:pPr>
            <a:r>
              <a:rPr lang="en-US" dirty="0"/>
              <a:t>The hardware guarantees that no other thread can access the memory location until the operation completes</a:t>
            </a:r>
          </a:p>
          <a:p>
            <a:pPr>
              <a:buClr>
                <a:schemeClr val="tx1"/>
              </a:buClr>
            </a:pPr>
            <a:endParaRPr lang="en-US" dirty="0"/>
          </a:p>
          <a:p>
            <a:pPr>
              <a:buClr>
                <a:schemeClr val="tx1"/>
              </a:buClr>
            </a:pPr>
            <a:r>
              <a:rPr lang="en-US" dirty="0"/>
              <a:t>Concurrent atomic operations to the same memory location are serialized by the hardware</a:t>
            </a:r>
          </a:p>
          <a:p>
            <a:pPr>
              <a:buClr>
                <a:schemeClr val="tx1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Atomic Operations in CUDA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Atomic Add:</a:t>
            </a:r>
          </a:p>
          <a:p>
            <a:pPr marL="0" indent="0" algn="ctr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atomicAdd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(T* address, 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dirty="0"/>
              <a:t> can be </a:t>
            </a:r>
            <a:r>
              <a:rPr lang="en-US" dirty="0" err="1"/>
              <a:t>int</a:t>
            </a:r>
            <a:r>
              <a:rPr lang="en-US" dirty="0"/>
              <a:t>, unsigned </a:t>
            </a:r>
            <a:r>
              <a:rPr lang="en-US" dirty="0" err="1"/>
              <a:t>int</a:t>
            </a:r>
            <a:r>
              <a:rPr lang="en-US" dirty="0"/>
              <a:t>, float, double, etc.</a:t>
            </a:r>
          </a:p>
          <a:p>
            <a:pPr lvl="1"/>
            <a:r>
              <a:rPr lang="en-US" dirty="0"/>
              <a:t>Reads the value stored at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address</a:t>
            </a:r>
            <a:r>
              <a:rPr lang="en-US" dirty="0"/>
              <a:t>, adds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dirty="0"/>
              <a:t> to it, stores the new value at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address</a:t>
            </a:r>
            <a:r>
              <a:rPr lang="en-US" dirty="0"/>
              <a:t>, and returns the old value originally stored</a:t>
            </a:r>
          </a:p>
          <a:p>
            <a:pPr lvl="1"/>
            <a:r>
              <a:rPr lang="en-US" dirty="0"/>
              <a:t>Function call translated to a single ISA instruction</a:t>
            </a:r>
          </a:p>
          <a:p>
            <a:pPr lvl="2"/>
            <a:r>
              <a:rPr lang="en-US" dirty="0"/>
              <a:t>Such special functions are called </a:t>
            </a:r>
            <a:r>
              <a:rPr lang="en-US" i="1" dirty="0" err="1"/>
              <a:t>intrinsics</a:t>
            </a:r>
            <a:endParaRPr lang="en-US" i="1" dirty="0"/>
          </a:p>
          <a:p>
            <a:endParaRPr lang="en-US" sz="1400" dirty="0"/>
          </a:p>
          <a:p>
            <a:r>
              <a:rPr lang="en-US" dirty="0"/>
              <a:t>Other operations available:</a:t>
            </a:r>
          </a:p>
          <a:p>
            <a:pPr lvl="1"/>
            <a:r>
              <a:rPr lang="en-US" dirty="0"/>
              <a:t>sub, min, max, </a:t>
            </a:r>
            <a:r>
              <a:rPr lang="en-US" dirty="0" err="1"/>
              <a:t>inc</a:t>
            </a:r>
            <a:r>
              <a:rPr lang="en-US" dirty="0"/>
              <a:t>, </a:t>
            </a:r>
            <a:r>
              <a:rPr lang="en-US" dirty="0" err="1"/>
              <a:t>dec</a:t>
            </a:r>
            <a:r>
              <a:rPr lang="en-US" dirty="0"/>
              <a:t>, and, or, </a:t>
            </a:r>
            <a:r>
              <a:rPr lang="en-US" dirty="0" err="1"/>
              <a:t>xor</a:t>
            </a:r>
            <a:r>
              <a:rPr lang="en-US" dirty="0"/>
              <a:t>, exchange, compare and swap</a:t>
            </a:r>
          </a:p>
        </p:txBody>
      </p:sp>
    </p:spTree>
    <p:extLst>
      <p:ext uri="{BB962C8B-B14F-4D97-AF65-F5344CB8AC3E}">
        <p14:creationId xmlns:p14="http://schemas.microsoft.com/office/powerpoint/2010/main" val="2964248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Code with Atomic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40971" y="4293181"/>
            <a:ext cx="6677426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6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6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6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16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&lt; width*height) {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6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600" dirty="0">
                <a:solidFill>
                  <a:srgbClr val="00BF00"/>
                </a:solidFill>
                <a:latin typeface="Lucida Console" panose="020B0609040504020204" pitchFamily="49" charset="0"/>
              </a:rPr>
              <a:t>char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b = image[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atomicAdd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(&amp;bins[b], </a:t>
            </a:r>
            <a:r>
              <a:rPr lang="en-US" sz="160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1233287" y="1444966"/>
            <a:ext cx="6677426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6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6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6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16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&lt; width*height) {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6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600" dirty="0">
                <a:solidFill>
                  <a:srgbClr val="00BF00"/>
                </a:solidFill>
                <a:latin typeface="Lucida Console" panose="020B0609040504020204" pitchFamily="49" charset="0"/>
              </a:rPr>
              <a:t>char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b = image[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   ++bins[b];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en-US" sz="1600" dirty="0"/>
          </a:p>
        </p:txBody>
      </p:sp>
      <p:sp>
        <p:nvSpPr>
          <p:cNvPr id="7" name="Line Callout 1 (No Border) 6"/>
          <p:cNvSpPr/>
          <p:nvPr/>
        </p:nvSpPr>
        <p:spPr>
          <a:xfrm>
            <a:off x="3412083" y="2367682"/>
            <a:ext cx="1579982" cy="369332"/>
          </a:xfrm>
          <a:prstGeom prst="callout1">
            <a:avLst>
              <a:gd name="adj1" fmla="val 42329"/>
              <a:gd name="adj2" fmla="val 1857"/>
              <a:gd name="adj3" fmla="val 152"/>
              <a:gd name="adj4" fmla="val -22465"/>
            </a:avLst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Race condition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4579684" y="3088982"/>
            <a:ext cx="0" cy="914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6904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High Latency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1691640"/>
            <a:ext cx="8534400" cy="18256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/>
          <p:cNvGrpSpPr/>
          <p:nvPr/>
        </p:nvGrpSpPr>
        <p:grpSpPr>
          <a:xfrm>
            <a:off x="304800" y="1996440"/>
            <a:ext cx="873338" cy="822960"/>
            <a:chOff x="2667000" y="1752600"/>
            <a:chExt cx="889511" cy="838200"/>
          </a:xfrm>
        </p:grpSpPr>
        <p:sp>
          <p:nvSpPr>
            <p:cNvPr id="6" name="Rectangle 5"/>
            <p:cNvSpPr/>
            <p:nvPr/>
          </p:nvSpPr>
          <p:spPr>
            <a:xfrm>
              <a:off x="2667000" y="1752600"/>
              <a:ext cx="889511" cy="838200"/>
            </a:xfrm>
            <a:prstGeom prst="rect">
              <a:avLst/>
            </a:prstGeom>
            <a:noFill/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2731382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2953269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2" name="Freeform 11"/>
            <p:cNvSpPr/>
            <p:nvPr/>
          </p:nvSpPr>
          <p:spPr>
            <a:xfrm>
              <a:off x="3175156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6" name="Freeform 25"/>
            <p:cNvSpPr/>
            <p:nvPr/>
          </p:nvSpPr>
          <p:spPr>
            <a:xfrm>
              <a:off x="3397044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302244" y="1996440"/>
            <a:ext cx="873338" cy="822960"/>
            <a:chOff x="2667000" y="1752600"/>
            <a:chExt cx="889511" cy="838200"/>
          </a:xfrm>
        </p:grpSpPr>
        <p:sp>
          <p:nvSpPr>
            <p:cNvPr id="29" name="Rectangle 28"/>
            <p:cNvSpPr/>
            <p:nvPr/>
          </p:nvSpPr>
          <p:spPr>
            <a:xfrm>
              <a:off x="2667000" y="1752600"/>
              <a:ext cx="889511" cy="838200"/>
            </a:xfrm>
            <a:prstGeom prst="rect">
              <a:avLst/>
            </a:prstGeom>
            <a:noFill/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2731382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1" name="Freeform 30"/>
            <p:cNvSpPr/>
            <p:nvPr/>
          </p:nvSpPr>
          <p:spPr>
            <a:xfrm>
              <a:off x="2953269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2" name="Freeform 31"/>
            <p:cNvSpPr/>
            <p:nvPr/>
          </p:nvSpPr>
          <p:spPr>
            <a:xfrm>
              <a:off x="3175156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3" name="Freeform 32"/>
            <p:cNvSpPr/>
            <p:nvPr/>
          </p:nvSpPr>
          <p:spPr>
            <a:xfrm>
              <a:off x="3397044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2299688" y="1996440"/>
            <a:ext cx="873338" cy="822960"/>
            <a:chOff x="2667000" y="1752600"/>
            <a:chExt cx="889511" cy="838200"/>
          </a:xfrm>
        </p:grpSpPr>
        <p:sp>
          <p:nvSpPr>
            <p:cNvPr id="35" name="Rectangle 34"/>
            <p:cNvSpPr/>
            <p:nvPr/>
          </p:nvSpPr>
          <p:spPr>
            <a:xfrm>
              <a:off x="2667000" y="1752600"/>
              <a:ext cx="889511" cy="838200"/>
            </a:xfrm>
            <a:prstGeom prst="rect">
              <a:avLst/>
            </a:prstGeom>
            <a:noFill/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2731382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7" name="Freeform 36"/>
            <p:cNvSpPr/>
            <p:nvPr/>
          </p:nvSpPr>
          <p:spPr>
            <a:xfrm>
              <a:off x="2953269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8" name="Freeform 37"/>
            <p:cNvSpPr/>
            <p:nvPr/>
          </p:nvSpPr>
          <p:spPr>
            <a:xfrm>
              <a:off x="3175156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9" name="Freeform 38"/>
            <p:cNvSpPr/>
            <p:nvPr/>
          </p:nvSpPr>
          <p:spPr>
            <a:xfrm>
              <a:off x="3397044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3297132" y="1996440"/>
            <a:ext cx="873338" cy="822960"/>
            <a:chOff x="2667000" y="1752600"/>
            <a:chExt cx="889511" cy="838200"/>
          </a:xfrm>
        </p:grpSpPr>
        <p:sp>
          <p:nvSpPr>
            <p:cNvPr id="41" name="Rectangle 40"/>
            <p:cNvSpPr/>
            <p:nvPr/>
          </p:nvSpPr>
          <p:spPr>
            <a:xfrm>
              <a:off x="2667000" y="1752600"/>
              <a:ext cx="889511" cy="838200"/>
            </a:xfrm>
            <a:prstGeom prst="rect">
              <a:avLst/>
            </a:prstGeom>
            <a:noFill/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2731382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3" name="Freeform 42"/>
            <p:cNvSpPr/>
            <p:nvPr/>
          </p:nvSpPr>
          <p:spPr>
            <a:xfrm>
              <a:off x="2953269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4" name="Freeform 43"/>
            <p:cNvSpPr/>
            <p:nvPr/>
          </p:nvSpPr>
          <p:spPr>
            <a:xfrm>
              <a:off x="3175156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5" name="Freeform 44"/>
            <p:cNvSpPr/>
            <p:nvPr/>
          </p:nvSpPr>
          <p:spPr>
            <a:xfrm>
              <a:off x="3397044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4294576" y="1996440"/>
            <a:ext cx="873338" cy="822960"/>
            <a:chOff x="2667000" y="1752600"/>
            <a:chExt cx="889511" cy="838200"/>
          </a:xfrm>
        </p:grpSpPr>
        <p:sp>
          <p:nvSpPr>
            <p:cNvPr id="48" name="Rectangle 47"/>
            <p:cNvSpPr/>
            <p:nvPr/>
          </p:nvSpPr>
          <p:spPr>
            <a:xfrm>
              <a:off x="2667000" y="1752600"/>
              <a:ext cx="889511" cy="838200"/>
            </a:xfrm>
            <a:prstGeom prst="rect">
              <a:avLst/>
            </a:prstGeom>
            <a:noFill/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731382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0" name="Freeform 49"/>
            <p:cNvSpPr/>
            <p:nvPr/>
          </p:nvSpPr>
          <p:spPr>
            <a:xfrm>
              <a:off x="2953269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1" name="Freeform 50"/>
            <p:cNvSpPr/>
            <p:nvPr/>
          </p:nvSpPr>
          <p:spPr>
            <a:xfrm>
              <a:off x="3175156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2" name="Freeform 51"/>
            <p:cNvSpPr/>
            <p:nvPr/>
          </p:nvSpPr>
          <p:spPr>
            <a:xfrm>
              <a:off x="3397044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5292020" y="1996440"/>
            <a:ext cx="873338" cy="822960"/>
            <a:chOff x="2667000" y="1752600"/>
            <a:chExt cx="889511" cy="838200"/>
          </a:xfrm>
        </p:grpSpPr>
        <p:sp>
          <p:nvSpPr>
            <p:cNvPr id="54" name="Rectangle 53"/>
            <p:cNvSpPr/>
            <p:nvPr/>
          </p:nvSpPr>
          <p:spPr>
            <a:xfrm>
              <a:off x="2667000" y="1752600"/>
              <a:ext cx="889511" cy="838200"/>
            </a:xfrm>
            <a:prstGeom prst="rect">
              <a:avLst/>
            </a:prstGeom>
            <a:noFill/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>
              <a:off x="2731382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6" name="Freeform 55"/>
            <p:cNvSpPr/>
            <p:nvPr/>
          </p:nvSpPr>
          <p:spPr>
            <a:xfrm>
              <a:off x="2953269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7" name="Freeform 56"/>
            <p:cNvSpPr/>
            <p:nvPr/>
          </p:nvSpPr>
          <p:spPr>
            <a:xfrm>
              <a:off x="3175156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8" name="Freeform 57"/>
            <p:cNvSpPr/>
            <p:nvPr/>
          </p:nvSpPr>
          <p:spPr>
            <a:xfrm>
              <a:off x="3397044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6289462" y="1996440"/>
            <a:ext cx="873338" cy="822960"/>
            <a:chOff x="2667000" y="1752600"/>
            <a:chExt cx="889511" cy="838200"/>
          </a:xfrm>
        </p:grpSpPr>
        <p:sp>
          <p:nvSpPr>
            <p:cNvPr id="60" name="Rectangle 59"/>
            <p:cNvSpPr/>
            <p:nvPr/>
          </p:nvSpPr>
          <p:spPr>
            <a:xfrm>
              <a:off x="2667000" y="1752600"/>
              <a:ext cx="889511" cy="838200"/>
            </a:xfrm>
            <a:prstGeom prst="rect">
              <a:avLst/>
            </a:prstGeom>
            <a:noFill/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 60"/>
            <p:cNvSpPr/>
            <p:nvPr/>
          </p:nvSpPr>
          <p:spPr>
            <a:xfrm>
              <a:off x="2731382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2" name="Freeform 61"/>
            <p:cNvSpPr/>
            <p:nvPr/>
          </p:nvSpPr>
          <p:spPr>
            <a:xfrm>
              <a:off x="2953269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3" name="Freeform 62"/>
            <p:cNvSpPr/>
            <p:nvPr/>
          </p:nvSpPr>
          <p:spPr>
            <a:xfrm>
              <a:off x="3175156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4" name="Freeform 63"/>
            <p:cNvSpPr/>
            <p:nvPr/>
          </p:nvSpPr>
          <p:spPr>
            <a:xfrm>
              <a:off x="3397044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7924800" y="1996440"/>
            <a:ext cx="873338" cy="822960"/>
            <a:chOff x="2667000" y="1752600"/>
            <a:chExt cx="889511" cy="838200"/>
          </a:xfrm>
        </p:grpSpPr>
        <p:sp>
          <p:nvSpPr>
            <p:cNvPr id="66" name="Rectangle 65"/>
            <p:cNvSpPr/>
            <p:nvPr/>
          </p:nvSpPr>
          <p:spPr>
            <a:xfrm>
              <a:off x="2667000" y="1752600"/>
              <a:ext cx="889511" cy="838200"/>
            </a:xfrm>
            <a:prstGeom prst="rect">
              <a:avLst/>
            </a:prstGeom>
            <a:noFill/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 66"/>
            <p:cNvSpPr/>
            <p:nvPr/>
          </p:nvSpPr>
          <p:spPr>
            <a:xfrm>
              <a:off x="2731382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8" name="Freeform 67"/>
            <p:cNvSpPr/>
            <p:nvPr/>
          </p:nvSpPr>
          <p:spPr>
            <a:xfrm>
              <a:off x="2953269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9" name="Freeform 68"/>
            <p:cNvSpPr/>
            <p:nvPr/>
          </p:nvSpPr>
          <p:spPr>
            <a:xfrm>
              <a:off x="3175156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0" name="Freeform 69"/>
            <p:cNvSpPr/>
            <p:nvPr/>
          </p:nvSpPr>
          <p:spPr>
            <a:xfrm>
              <a:off x="3397044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71" name="TextBox 70"/>
          <p:cNvSpPr txBox="1"/>
          <p:nvPr/>
        </p:nvSpPr>
        <p:spPr>
          <a:xfrm>
            <a:off x="7230160" y="1836599"/>
            <a:ext cx="6479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Arial Narrow" pitchFamily="34" charset="0"/>
              </a:rPr>
              <a:t>…</a:t>
            </a:r>
          </a:p>
        </p:txBody>
      </p:sp>
      <p:graphicFrame>
        <p:nvGraphicFramePr>
          <p:cNvPr id="73" name="Table 72"/>
          <p:cNvGraphicFramePr>
            <a:graphicFrameLocks noGrp="1"/>
          </p:cNvGraphicFramePr>
          <p:nvPr>
            <p:extLst/>
          </p:nvPr>
        </p:nvGraphicFramePr>
        <p:xfrm>
          <a:off x="3840480" y="4739640"/>
          <a:ext cx="146304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" name="Group 2"/>
          <p:cNvGrpSpPr/>
          <p:nvPr/>
        </p:nvGrpSpPr>
        <p:grpSpPr>
          <a:xfrm>
            <a:off x="414340" y="2782813"/>
            <a:ext cx="8055706" cy="1956827"/>
            <a:chOff x="414340" y="2782813"/>
            <a:chExt cx="8055706" cy="1956827"/>
          </a:xfrm>
        </p:grpSpPr>
        <p:cxnSp>
          <p:nvCxnSpPr>
            <p:cNvPr id="74" name="Straight Arrow Connector 73"/>
            <p:cNvCxnSpPr>
              <a:stCxn id="10" idx="39"/>
            </p:cNvCxnSpPr>
            <p:nvPr/>
          </p:nvCxnSpPr>
          <p:spPr>
            <a:xfrm>
              <a:off x="414340" y="2782813"/>
              <a:ext cx="3647435" cy="1956827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>
              <a:stCxn id="33" idx="39"/>
            </p:cNvCxnSpPr>
            <p:nvPr/>
          </p:nvCxnSpPr>
          <p:spPr>
            <a:xfrm>
              <a:off x="2065343" y="2782813"/>
              <a:ext cx="1948559" cy="1956827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>
              <a:stCxn id="31" idx="39"/>
            </p:cNvCxnSpPr>
            <p:nvPr/>
          </p:nvCxnSpPr>
          <p:spPr>
            <a:xfrm>
              <a:off x="1629637" y="2782813"/>
              <a:ext cx="2322440" cy="1956827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>
              <a:stCxn id="55" idx="39"/>
            </p:cNvCxnSpPr>
            <p:nvPr/>
          </p:nvCxnSpPr>
          <p:spPr>
            <a:xfrm flipH="1">
              <a:off x="4013902" y="2782813"/>
              <a:ext cx="1387658" cy="1956827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>
              <a:stCxn id="44" idx="39"/>
            </p:cNvCxnSpPr>
            <p:nvPr/>
          </p:nvCxnSpPr>
          <p:spPr>
            <a:xfrm>
              <a:off x="3842378" y="2782813"/>
              <a:ext cx="219398" cy="1956827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>
              <a:stCxn id="56" idx="39"/>
            </p:cNvCxnSpPr>
            <p:nvPr/>
          </p:nvCxnSpPr>
          <p:spPr>
            <a:xfrm flipH="1">
              <a:off x="4061775" y="2782813"/>
              <a:ext cx="1557638" cy="1956827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>
              <a:stCxn id="64" idx="39"/>
            </p:cNvCxnSpPr>
            <p:nvPr/>
          </p:nvCxnSpPr>
          <p:spPr>
            <a:xfrm flipH="1">
              <a:off x="4061776" y="2782813"/>
              <a:ext cx="2990785" cy="1956827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>
              <a:stCxn id="69" idx="39"/>
            </p:cNvCxnSpPr>
            <p:nvPr/>
          </p:nvCxnSpPr>
          <p:spPr>
            <a:xfrm flipH="1">
              <a:off x="4061777" y="2782813"/>
              <a:ext cx="4408269" cy="1956827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5" name="Rectangle 4"/>
          <p:cNvSpPr/>
          <p:nvPr/>
        </p:nvSpPr>
        <p:spPr>
          <a:xfrm>
            <a:off x="137178" y="5195633"/>
            <a:ext cx="894648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en-US" sz="2000" dirty="0"/>
              <a:t>Atomic operations on global memory have high latency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Need to wait for both read and write to complete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Need to wait if there are other threads accessing the same location (high probability of contention)</a:t>
            </a:r>
          </a:p>
        </p:txBody>
      </p:sp>
    </p:spTree>
    <p:extLst>
      <p:ext uri="{BB962C8B-B14F-4D97-AF65-F5344CB8AC3E}">
        <p14:creationId xmlns:p14="http://schemas.microsoft.com/office/powerpoint/2010/main" val="1362478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" name="Table 71"/>
          <p:cNvGraphicFramePr>
            <a:graphicFrameLocks noGrp="1"/>
          </p:cNvGraphicFramePr>
          <p:nvPr>
            <p:extLst/>
          </p:nvPr>
        </p:nvGraphicFramePr>
        <p:xfrm>
          <a:off x="329989" y="2987004"/>
          <a:ext cx="822960" cy="2228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288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" name="Table 72"/>
          <p:cNvGraphicFramePr>
            <a:graphicFrameLocks noGrp="1"/>
          </p:cNvGraphicFramePr>
          <p:nvPr>
            <p:extLst/>
          </p:nvPr>
        </p:nvGraphicFramePr>
        <p:xfrm>
          <a:off x="3840480" y="4739640"/>
          <a:ext cx="146304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Privatizing the Histogram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1691640"/>
            <a:ext cx="8534400" cy="18256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/>
          <p:cNvGrpSpPr/>
          <p:nvPr/>
        </p:nvGrpSpPr>
        <p:grpSpPr>
          <a:xfrm>
            <a:off x="304800" y="1996440"/>
            <a:ext cx="873338" cy="822960"/>
            <a:chOff x="2667000" y="1752600"/>
            <a:chExt cx="889511" cy="838200"/>
          </a:xfrm>
        </p:grpSpPr>
        <p:sp>
          <p:nvSpPr>
            <p:cNvPr id="6" name="Rectangle 5"/>
            <p:cNvSpPr/>
            <p:nvPr/>
          </p:nvSpPr>
          <p:spPr>
            <a:xfrm>
              <a:off x="2667000" y="1752600"/>
              <a:ext cx="889511" cy="838200"/>
            </a:xfrm>
            <a:prstGeom prst="rect">
              <a:avLst/>
            </a:prstGeom>
            <a:noFill/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2731382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2953269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2" name="Freeform 11"/>
            <p:cNvSpPr/>
            <p:nvPr/>
          </p:nvSpPr>
          <p:spPr>
            <a:xfrm>
              <a:off x="3175156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6" name="Freeform 25"/>
            <p:cNvSpPr/>
            <p:nvPr/>
          </p:nvSpPr>
          <p:spPr>
            <a:xfrm>
              <a:off x="3397044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302244" y="1996440"/>
            <a:ext cx="873338" cy="822960"/>
            <a:chOff x="2667000" y="1752600"/>
            <a:chExt cx="889511" cy="838200"/>
          </a:xfrm>
        </p:grpSpPr>
        <p:sp>
          <p:nvSpPr>
            <p:cNvPr id="29" name="Rectangle 28"/>
            <p:cNvSpPr/>
            <p:nvPr/>
          </p:nvSpPr>
          <p:spPr>
            <a:xfrm>
              <a:off x="2667000" y="1752600"/>
              <a:ext cx="889511" cy="838200"/>
            </a:xfrm>
            <a:prstGeom prst="rect">
              <a:avLst/>
            </a:prstGeom>
            <a:noFill/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2731382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1" name="Freeform 30"/>
            <p:cNvSpPr/>
            <p:nvPr/>
          </p:nvSpPr>
          <p:spPr>
            <a:xfrm>
              <a:off x="2953269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2" name="Freeform 31"/>
            <p:cNvSpPr/>
            <p:nvPr/>
          </p:nvSpPr>
          <p:spPr>
            <a:xfrm>
              <a:off x="3175156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3" name="Freeform 32"/>
            <p:cNvSpPr/>
            <p:nvPr/>
          </p:nvSpPr>
          <p:spPr>
            <a:xfrm>
              <a:off x="3397044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2299688" y="1996440"/>
            <a:ext cx="873338" cy="822960"/>
            <a:chOff x="2667000" y="1752600"/>
            <a:chExt cx="889511" cy="838200"/>
          </a:xfrm>
        </p:grpSpPr>
        <p:sp>
          <p:nvSpPr>
            <p:cNvPr id="35" name="Rectangle 34"/>
            <p:cNvSpPr/>
            <p:nvPr/>
          </p:nvSpPr>
          <p:spPr>
            <a:xfrm>
              <a:off x="2667000" y="1752600"/>
              <a:ext cx="889511" cy="838200"/>
            </a:xfrm>
            <a:prstGeom prst="rect">
              <a:avLst/>
            </a:prstGeom>
            <a:noFill/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2731382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7" name="Freeform 36"/>
            <p:cNvSpPr/>
            <p:nvPr/>
          </p:nvSpPr>
          <p:spPr>
            <a:xfrm>
              <a:off x="2953269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8" name="Freeform 37"/>
            <p:cNvSpPr/>
            <p:nvPr/>
          </p:nvSpPr>
          <p:spPr>
            <a:xfrm>
              <a:off x="3175156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9" name="Freeform 38"/>
            <p:cNvSpPr/>
            <p:nvPr/>
          </p:nvSpPr>
          <p:spPr>
            <a:xfrm>
              <a:off x="3397044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3297132" y="1996440"/>
            <a:ext cx="873338" cy="822960"/>
            <a:chOff x="2667000" y="1752600"/>
            <a:chExt cx="889511" cy="838200"/>
          </a:xfrm>
        </p:grpSpPr>
        <p:sp>
          <p:nvSpPr>
            <p:cNvPr id="41" name="Rectangle 40"/>
            <p:cNvSpPr/>
            <p:nvPr/>
          </p:nvSpPr>
          <p:spPr>
            <a:xfrm>
              <a:off x="2667000" y="1752600"/>
              <a:ext cx="889511" cy="838200"/>
            </a:xfrm>
            <a:prstGeom prst="rect">
              <a:avLst/>
            </a:prstGeom>
            <a:noFill/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2731382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3" name="Freeform 42"/>
            <p:cNvSpPr/>
            <p:nvPr/>
          </p:nvSpPr>
          <p:spPr>
            <a:xfrm>
              <a:off x="2953269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4" name="Freeform 43"/>
            <p:cNvSpPr/>
            <p:nvPr/>
          </p:nvSpPr>
          <p:spPr>
            <a:xfrm>
              <a:off x="3175156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5" name="Freeform 44"/>
            <p:cNvSpPr/>
            <p:nvPr/>
          </p:nvSpPr>
          <p:spPr>
            <a:xfrm>
              <a:off x="3397044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4294576" y="1996440"/>
            <a:ext cx="873338" cy="822960"/>
            <a:chOff x="2667000" y="1752600"/>
            <a:chExt cx="889511" cy="838200"/>
          </a:xfrm>
        </p:grpSpPr>
        <p:sp>
          <p:nvSpPr>
            <p:cNvPr id="48" name="Rectangle 47"/>
            <p:cNvSpPr/>
            <p:nvPr/>
          </p:nvSpPr>
          <p:spPr>
            <a:xfrm>
              <a:off x="2667000" y="1752600"/>
              <a:ext cx="889511" cy="838200"/>
            </a:xfrm>
            <a:prstGeom prst="rect">
              <a:avLst/>
            </a:prstGeom>
            <a:noFill/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731382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0" name="Freeform 49"/>
            <p:cNvSpPr/>
            <p:nvPr/>
          </p:nvSpPr>
          <p:spPr>
            <a:xfrm>
              <a:off x="2953269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1" name="Freeform 50"/>
            <p:cNvSpPr/>
            <p:nvPr/>
          </p:nvSpPr>
          <p:spPr>
            <a:xfrm>
              <a:off x="3175156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2" name="Freeform 51"/>
            <p:cNvSpPr/>
            <p:nvPr/>
          </p:nvSpPr>
          <p:spPr>
            <a:xfrm>
              <a:off x="3397044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5292020" y="1996440"/>
            <a:ext cx="873338" cy="822960"/>
            <a:chOff x="2667000" y="1752600"/>
            <a:chExt cx="889511" cy="838200"/>
          </a:xfrm>
        </p:grpSpPr>
        <p:sp>
          <p:nvSpPr>
            <p:cNvPr id="54" name="Rectangle 53"/>
            <p:cNvSpPr/>
            <p:nvPr/>
          </p:nvSpPr>
          <p:spPr>
            <a:xfrm>
              <a:off x="2667000" y="1752600"/>
              <a:ext cx="889511" cy="838200"/>
            </a:xfrm>
            <a:prstGeom prst="rect">
              <a:avLst/>
            </a:prstGeom>
            <a:noFill/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>
              <a:off x="2731382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6" name="Freeform 55"/>
            <p:cNvSpPr/>
            <p:nvPr/>
          </p:nvSpPr>
          <p:spPr>
            <a:xfrm>
              <a:off x="2953269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7" name="Freeform 56"/>
            <p:cNvSpPr/>
            <p:nvPr/>
          </p:nvSpPr>
          <p:spPr>
            <a:xfrm>
              <a:off x="3175156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8" name="Freeform 57"/>
            <p:cNvSpPr/>
            <p:nvPr/>
          </p:nvSpPr>
          <p:spPr>
            <a:xfrm>
              <a:off x="3397044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6289462" y="1996440"/>
            <a:ext cx="873338" cy="822960"/>
            <a:chOff x="2667000" y="1752600"/>
            <a:chExt cx="889511" cy="838200"/>
          </a:xfrm>
        </p:grpSpPr>
        <p:sp>
          <p:nvSpPr>
            <p:cNvPr id="60" name="Rectangle 59"/>
            <p:cNvSpPr/>
            <p:nvPr/>
          </p:nvSpPr>
          <p:spPr>
            <a:xfrm>
              <a:off x="2667000" y="1752600"/>
              <a:ext cx="889511" cy="838200"/>
            </a:xfrm>
            <a:prstGeom prst="rect">
              <a:avLst/>
            </a:prstGeom>
            <a:noFill/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 60"/>
            <p:cNvSpPr/>
            <p:nvPr/>
          </p:nvSpPr>
          <p:spPr>
            <a:xfrm>
              <a:off x="2731382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2" name="Freeform 61"/>
            <p:cNvSpPr/>
            <p:nvPr/>
          </p:nvSpPr>
          <p:spPr>
            <a:xfrm>
              <a:off x="2953269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3" name="Freeform 62"/>
            <p:cNvSpPr/>
            <p:nvPr/>
          </p:nvSpPr>
          <p:spPr>
            <a:xfrm>
              <a:off x="3175156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4" name="Freeform 63"/>
            <p:cNvSpPr/>
            <p:nvPr/>
          </p:nvSpPr>
          <p:spPr>
            <a:xfrm>
              <a:off x="3397044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7924800" y="1996440"/>
            <a:ext cx="873338" cy="822960"/>
            <a:chOff x="2667000" y="1752600"/>
            <a:chExt cx="889511" cy="838200"/>
          </a:xfrm>
        </p:grpSpPr>
        <p:sp>
          <p:nvSpPr>
            <p:cNvPr id="66" name="Rectangle 65"/>
            <p:cNvSpPr/>
            <p:nvPr/>
          </p:nvSpPr>
          <p:spPr>
            <a:xfrm>
              <a:off x="2667000" y="1752600"/>
              <a:ext cx="889511" cy="838200"/>
            </a:xfrm>
            <a:prstGeom prst="rect">
              <a:avLst/>
            </a:prstGeom>
            <a:noFill/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 66"/>
            <p:cNvSpPr/>
            <p:nvPr/>
          </p:nvSpPr>
          <p:spPr>
            <a:xfrm>
              <a:off x="2731382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8" name="Freeform 67"/>
            <p:cNvSpPr/>
            <p:nvPr/>
          </p:nvSpPr>
          <p:spPr>
            <a:xfrm>
              <a:off x="2953269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9" name="Freeform 68"/>
            <p:cNvSpPr/>
            <p:nvPr/>
          </p:nvSpPr>
          <p:spPr>
            <a:xfrm>
              <a:off x="3175156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0" name="Freeform 69"/>
            <p:cNvSpPr/>
            <p:nvPr/>
          </p:nvSpPr>
          <p:spPr>
            <a:xfrm>
              <a:off x="3397044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71" name="TextBox 70"/>
          <p:cNvSpPr txBox="1"/>
          <p:nvPr/>
        </p:nvSpPr>
        <p:spPr>
          <a:xfrm>
            <a:off x="7230160" y="1836599"/>
            <a:ext cx="6479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Arial Narrow" pitchFamily="34" charset="0"/>
              </a:rPr>
              <a:t>…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31520" y="3194685"/>
            <a:ext cx="7655138" cy="1544955"/>
            <a:chOff x="731520" y="3194685"/>
            <a:chExt cx="7655138" cy="1544955"/>
          </a:xfrm>
        </p:grpSpPr>
        <p:cxnSp>
          <p:nvCxnSpPr>
            <p:cNvPr id="7" name="Straight Arrow Connector 6"/>
            <p:cNvCxnSpPr>
              <a:stCxn id="72" idx="2"/>
              <a:endCxn id="73" idx="0"/>
            </p:cNvCxnSpPr>
            <p:nvPr/>
          </p:nvCxnSpPr>
          <p:spPr>
            <a:xfrm>
              <a:off x="731520" y="3194685"/>
              <a:ext cx="3840480" cy="154495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>
              <a:stCxn id="75" idx="2"/>
              <a:endCxn id="73" idx="0"/>
            </p:cNvCxnSpPr>
            <p:nvPr/>
          </p:nvCxnSpPr>
          <p:spPr>
            <a:xfrm>
              <a:off x="1732672" y="3194685"/>
              <a:ext cx="2839328" cy="154495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>
              <a:stCxn id="76" idx="2"/>
              <a:endCxn id="73" idx="0"/>
            </p:cNvCxnSpPr>
            <p:nvPr/>
          </p:nvCxnSpPr>
          <p:spPr>
            <a:xfrm>
              <a:off x="2733824" y="3194685"/>
              <a:ext cx="1838176" cy="154495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>
              <a:stCxn id="77" idx="2"/>
              <a:endCxn id="73" idx="0"/>
            </p:cNvCxnSpPr>
            <p:nvPr/>
          </p:nvCxnSpPr>
          <p:spPr>
            <a:xfrm>
              <a:off x="3734976" y="3194685"/>
              <a:ext cx="837024" cy="154495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Arrow Connector 91"/>
            <p:cNvCxnSpPr>
              <a:stCxn id="85" idx="2"/>
              <a:endCxn id="73" idx="0"/>
            </p:cNvCxnSpPr>
            <p:nvPr/>
          </p:nvCxnSpPr>
          <p:spPr>
            <a:xfrm flipH="1">
              <a:off x="4572000" y="3194685"/>
              <a:ext cx="164128" cy="154495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Arrow Connector 92"/>
            <p:cNvCxnSpPr>
              <a:stCxn id="86" idx="2"/>
              <a:endCxn id="73" idx="0"/>
            </p:cNvCxnSpPr>
            <p:nvPr/>
          </p:nvCxnSpPr>
          <p:spPr>
            <a:xfrm flipH="1">
              <a:off x="4572000" y="3194685"/>
              <a:ext cx="1165280" cy="154495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>
              <a:stCxn id="87" idx="2"/>
              <a:endCxn id="73" idx="0"/>
            </p:cNvCxnSpPr>
            <p:nvPr/>
          </p:nvCxnSpPr>
          <p:spPr>
            <a:xfrm flipH="1">
              <a:off x="4572000" y="3194685"/>
              <a:ext cx="2166429" cy="154495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>
              <a:stCxn id="88" idx="2"/>
              <a:endCxn id="73" idx="0"/>
            </p:cNvCxnSpPr>
            <p:nvPr/>
          </p:nvCxnSpPr>
          <p:spPr>
            <a:xfrm flipH="1">
              <a:off x="4572000" y="3194685"/>
              <a:ext cx="3814658" cy="154495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2" name="TextBox 111"/>
          <p:cNvSpPr txBox="1"/>
          <p:nvPr/>
        </p:nvSpPr>
        <p:spPr>
          <a:xfrm>
            <a:off x="2351195" y="5114925"/>
            <a:ext cx="4455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atomically update the global copy when done</a:t>
            </a:r>
          </a:p>
          <a:p>
            <a:pPr algn="ctr"/>
            <a:r>
              <a:rPr lang="en-US" dirty="0"/>
              <a:t>(once per nonzero bin per block)</a:t>
            </a:r>
          </a:p>
        </p:txBody>
      </p:sp>
      <p:graphicFrame>
        <p:nvGraphicFramePr>
          <p:cNvPr id="74" name="Table 73"/>
          <p:cNvGraphicFramePr>
            <a:graphicFrameLocks noGrp="1"/>
          </p:cNvGraphicFramePr>
          <p:nvPr>
            <p:extLst/>
          </p:nvPr>
        </p:nvGraphicFramePr>
        <p:xfrm>
          <a:off x="1326664" y="2987004"/>
          <a:ext cx="822960" cy="2228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288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8" name="Table 77"/>
          <p:cNvGraphicFramePr>
            <a:graphicFrameLocks noGrp="1"/>
          </p:cNvGraphicFramePr>
          <p:nvPr>
            <p:extLst/>
          </p:nvPr>
        </p:nvGraphicFramePr>
        <p:xfrm>
          <a:off x="2323339" y="2987004"/>
          <a:ext cx="822960" cy="2228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288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9" name="Table 78"/>
          <p:cNvGraphicFramePr>
            <a:graphicFrameLocks noGrp="1"/>
          </p:cNvGraphicFramePr>
          <p:nvPr>
            <p:extLst/>
          </p:nvPr>
        </p:nvGraphicFramePr>
        <p:xfrm>
          <a:off x="3320014" y="2987004"/>
          <a:ext cx="822960" cy="2228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288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0" name="Table 79"/>
          <p:cNvGraphicFramePr>
            <a:graphicFrameLocks noGrp="1"/>
          </p:cNvGraphicFramePr>
          <p:nvPr>
            <p:extLst/>
          </p:nvPr>
        </p:nvGraphicFramePr>
        <p:xfrm>
          <a:off x="4316689" y="2987004"/>
          <a:ext cx="822960" cy="2228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288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1" name="Table 80"/>
          <p:cNvGraphicFramePr>
            <a:graphicFrameLocks noGrp="1"/>
          </p:cNvGraphicFramePr>
          <p:nvPr>
            <p:extLst/>
          </p:nvPr>
        </p:nvGraphicFramePr>
        <p:xfrm>
          <a:off x="5313364" y="2987004"/>
          <a:ext cx="822960" cy="2228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288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2" name="Table 81"/>
          <p:cNvGraphicFramePr>
            <a:graphicFrameLocks noGrp="1"/>
          </p:cNvGraphicFramePr>
          <p:nvPr>
            <p:extLst/>
          </p:nvPr>
        </p:nvGraphicFramePr>
        <p:xfrm>
          <a:off x="6310037" y="2987004"/>
          <a:ext cx="822960" cy="2228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288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3" name="Table 82"/>
          <p:cNvGraphicFramePr>
            <a:graphicFrameLocks noGrp="1"/>
          </p:cNvGraphicFramePr>
          <p:nvPr>
            <p:extLst/>
          </p:nvPr>
        </p:nvGraphicFramePr>
        <p:xfrm>
          <a:off x="7949989" y="2987004"/>
          <a:ext cx="822960" cy="2228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288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4" name="TextBox 83"/>
          <p:cNvSpPr txBox="1"/>
          <p:nvPr/>
        </p:nvSpPr>
        <p:spPr>
          <a:xfrm>
            <a:off x="-2985" y="3503131"/>
            <a:ext cx="16080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block updates a private copy of the histogram</a:t>
            </a:r>
          </a:p>
        </p:txBody>
      </p:sp>
    </p:spTree>
    <p:extLst>
      <p:ext uri="{BB962C8B-B14F-4D97-AF65-F5344CB8AC3E}">
        <p14:creationId xmlns:p14="http://schemas.microsoft.com/office/powerpoint/2010/main" val="3287302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/>
      <p:bldP spid="8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Privatization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accent5"/>
                </a:solidFill>
              </a:rPr>
              <a:t>Privatization</a:t>
            </a:r>
            <a:r>
              <a:rPr lang="en-US" dirty="0"/>
              <a:t> is an optimization where multiple private copies of an output are maintained, then the global copy is updated on completion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Operations on the output must be associative and commutative because the order of updates has changed</a:t>
            </a:r>
          </a:p>
          <a:p>
            <a:pPr>
              <a:buClr>
                <a:schemeClr val="tx1"/>
              </a:buClr>
            </a:pPr>
            <a:endParaRPr lang="en-US" sz="1400" dirty="0"/>
          </a:p>
          <a:p>
            <a:pPr>
              <a:buClr>
                <a:schemeClr val="tx1"/>
              </a:buClr>
            </a:pPr>
            <a:r>
              <a:rPr lang="en-US" dirty="0"/>
              <a:t>Advantage: reduces contention on the global copy</a:t>
            </a:r>
          </a:p>
        </p:txBody>
      </p:sp>
    </p:spTree>
    <p:extLst>
      <p:ext uri="{BB962C8B-B14F-4D97-AF65-F5344CB8AC3E}">
        <p14:creationId xmlns:p14="http://schemas.microsoft.com/office/powerpoint/2010/main" val="1264487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Checklist of Common Optimizations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495792"/>
              </p:ext>
            </p:extLst>
          </p:nvPr>
        </p:nvGraphicFramePr>
        <p:xfrm>
          <a:off x="138314" y="891350"/>
          <a:ext cx="8867373" cy="5362892"/>
        </p:xfrm>
        <a:graphic>
          <a:graphicData uri="http://schemas.openxmlformats.org/drawingml/2006/table">
            <a:tbl>
              <a:tblPr/>
              <a:tblGrid>
                <a:gridCol w="1454682">
                  <a:extLst>
                    <a:ext uri="{9D8B030D-6E8A-4147-A177-3AD203B41FA5}">
                      <a16:colId xmlns:a16="http://schemas.microsoft.com/office/drawing/2014/main" val="3060810321"/>
                    </a:ext>
                  </a:extLst>
                </a:gridCol>
                <a:gridCol w="1903472">
                  <a:extLst>
                    <a:ext uri="{9D8B030D-6E8A-4147-A177-3AD203B41FA5}">
                      <a16:colId xmlns:a16="http://schemas.microsoft.com/office/drawing/2014/main" val="1681665511"/>
                    </a:ext>
                  </a:extLst>
                </a:gridCol>
                <a:gridCol w="1748712">
                  <a:extLst>
                    <a:ext uri="{9D8B030D-6E8A-4147-A177-3AD203B41FA5}">
                      <a16:colId xmlns:a16="http://schemas.microsoft.com/office/drawing/2014/main" val="727419090"/>
                    </a:ext>
                  </a:extLst>
                </a:gridCol>
                <a:gridCol w="3760507">
                  <a:extLst>
                    <a:ext uri="{9D8B030D-6E8A-4147-A177-3AD203B41FA5}">
                      <a16:colId xmlns:a16="http://schemas.microsoft.com/office/drawing/2014/main" val="1964481601"/>
                    </a:ext>
                  </a:extLst>
                </a:gridCol>
              </a:tblGrid>
              <a:tr h="356562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1" dirty="0"/>
                        <a:t>Optimization </a:t>
                      </a:r>
                    </a:p>
                  </a:txBody>
                  <a:tcPr marL="28659" marR="28659" marT="14329" marB="14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1" dirty="0"/>
                        <a:t>Benefit to </a:t>
                      </a:r>
                    </a:p>
                    <a:p>
                      <a:pPr algn="ctr" rtl="0" fontAlgn="base"/>
                      <a:r>
                        <a:rPr lang="en-US" sz="1200" b="1" dirty="0"/>
                        <a:t>Compute Cores </a:t>
                      </a:r>
                    </a:p>
                  </a:txBody>
                  <a:tcPr marL="28659" marR="28659" marT="14329" marB="14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1" dirty="0"/>
                        <a:t>Benefit to Memory </a:t>
                      </a:r>
                    </a:p>
                  </a:txBody>
                  <a:tcPr marL="28659" marR="28659" marT="14329" marB="14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1" dirty="0"/>
                        <a:t>Strategies </a:t>
                      </a:r>
                    </a:p>
                  </a:txBody>
                  <a:tcPr marL="28659" marR="28659" marT="14329" marB="14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7646945"/>
                  </a:ext>
                </a:extLst>
              </a:tr>
              <a:tr h="80664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/>
                        <a:t>Maximizing occupancy </a:t>
                      </a:r>
                    </a:p>
                  </a:txBody>
                  <a:tcPr marL="28659" marR="28659" marT="14329" marB="14329" anchor="ctr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/>
                        <a:t>More work to hide pipeline latency </a:t>
                      </a:r>
                    </a:p>
                  </a:txBody>
                  <a:tcPr marL="28659" marR="28659" marT="14329" marB="14329" anchor="ctr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/>
                        <a:t>More parallel memory accesses to hide DRAM latency </a:t>
                      </a:r>
                    </a:p>
                  </a:txBody>
                  <a:tcPr marL="28659" marR="28659" marT="14329" marB="14329" anchor="ctr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dirty="0"/>
                        <a:t>Tuning usage of SM resources such as threads per block, shared memory per block, and registers per thread </a:t>
                      </a:r>
                    </a:p>
                  </a:txBody>
                  <a:tcPr marL="28659" marR="28659" marT="14329" marB="14329" anchor="ctr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1542845"/>
                  </a:ext>
                </a:extLst>
              </a:tr>
              <a:tr h="132103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/>
                        <a:t>Enabling coalesced global memory accesses </a:t>
                      </a:r>
                    </a:p>
                  </a:txBody>
                  <a:tcPr marL="28659" marR="28659" marT="14329" marB="14329" anchor="ctr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/>
                        <a:t>Fewer pipeline stalls waiting for global memory accesses </a:t>
                      </a:r>
                    </a:p>
                  </a:txBody>
                  <a:tcPr marL="28659" marR="28659" marT="14329" marB="14329" anchor="ctr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/>
                        <a:t>Less global memory traffic and better utilization of bursts/cache-lines </a:t>
                      </a:r>
                    </a:p>
                  </a:txBody>
                  <a:tcPr marL="28659" marR="28659" marT="14329" marB="14329" anchor="ctr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/>
                        <a:t>Transfer between global memory and shared memory in a coalesced manner and performing un-coalesced accesses in shared memory (e.g., corner turning) </a:t>
                      </a:r>
                    </a:p>
                    <a:p>
                      <a:pPr algn="l" rtl="0" fontAlgn="base"/>
                      <a:r>
                        <a:rPr lang="en-US" sz="1200"/>
                        <a:t> </a:t>
                      </a:r>
                    </a:p>
                    <a:p>
                      <a:pPr algn="l" rtl="0" fontAlgn="base"/>
                      <a:r>
                        <a:rPr lang="en-US" sz="1200"/>
                        <a:t>Rearranging the mapping of threads to data </a:t>
                      </a:r>
                    </a:p>
                    <a:p>
                      <a:pPr algn="l" rtl="0" fontAlgn="base"/>
                      <a:r>
                        <a:rPr lang="en-US" sz="1200"/>
                        <a:t> </a:t>
                      </a:r>
                    </a:p>
                    <a:p>
                      <a:pPr algn="l" rtl="0" fontAlgn="base"/>
                      <a:r>
                        <a:rPr lang="en-US" sz="1200"/>
                        <a:t>Rearranging the layout of the data </a:t>
                      </a:r>
                    </a:p>
                  </a:txBody>
                  <a:tcPr marL="28659" marR="28659" marT="14329" marB="14329" anchor="ctr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4992385"/>
                  </a:ext>
                </a:extLst>
              </a:tr>
              <a:tr h="742349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/>
                        <a:t>Minimizing control divergence </a:t>
                      </a:r>
                    </a:p>
                  </a:txBody>
                  <a:tcPr marL="28659" marR="28659" marT="14329" marB="14329" anchor="ctr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/>
                        <a:t>High SIMD efficiency (minimizing idle cores during SIMD execution) </a:t>
                      </a:r>
                    </a:p>
                  </a:txBody>
                  <a:tcPr marL="28659" marR="28659" marT="14329" marB="14329" anchor="ctr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/>
                        <a:t>- </a:t>
                      </a:r>
                    </a:p>
                  </a:txBody>
                  <a:tcPr marL="28659" marR="28659" marT="14329" marB="14329" anchor="ctr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/>
                        <a:t>Rearranging the mapping of threads to work and/or data </a:t>
                      </a:r>
                    </a:p>
                    <a:p>
                      <a:pPr algn="l" rtl="0" fontAlgn="base"/>
                      <a:r>
                        <a:rPr lang="en-US" sz="1200"/>
                        <a:t> </a:t>
                      </a:r>
                    </a:p>
                    <a:p>
                      <a:pPr algn="l" rtl="0" fontAlgn="base"/>
                      <a:r>
                        <a:rPr lang="en-US" sz="1200"/>
                        <a:t>Rearranging the layout of the data </a:t>
                      </a:r>
                    </a:p>
                  </a:txBody>
                  <a:tcPr marL="28659" marR="28659" marT="14329" marB="14329" anchor="ctr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6197165"/>
                  </a:ext>
                </a:extLst>
              </a:tr>
              <a:tr h="67805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/>
                        <a:t>Tiling of reused data </a:t>
                      </a:r>
                    </a:p>
                  </a:txBody>
                  <a:tcPr marL="28659" marR="28659" marT="14329" marB="14329" anchor="ctr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/>
                        <a:t>Fewer pipeline stalls waiting for global memory accesses </a:t>
                      </a:r>
                    </a:p>
                  </a:txBody>
                  <a:tcPr marL="28659" marR="28659" marT="14329" marB="14329" anchor="ctr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/>
                        <a:t>Less global memory traffic </a:t>
                      </a:r>
                    </a:p>
                  </a:txBody>
                  <a:tcPr marL="28659" marR="28659" marT="14329" marB="14329" anchor="ctr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/>
                        <a:t>Placing data that is reused within a block in shared memory or registers so that it is transferred between global memory and the SM only once </a:t>
                      </a:r>
                    </a:p>
                  </a:txBody>
                  <a:tcPr marL="28659" marR="28659" marT="14329" marB="14329" anchor="ctr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146382"/>
                  </a:ext>
                </a:extLst>
              </a:tr>
              <a:tr h="742349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/>
                        <a:t>Privatization</a:t>
                      </a:r>
                    </a:p>
                  </a:txBody>
                  <a:tcPr marL="28659" marR="28659" marT="14329" marB="14329" anchor="ctr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/>
                        <a:t>Fewer pipeline stalls waiting for atomic updates </a:t>
                      </a:r>
                    </a:p>
                  </a:txBody>
                  <a:tcPr marL="28659" marR="28659" marT="14329" marB="14329" anchor="ctr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/>
                        <a:t>Less contention and serialization of atomic updates </a:t>
                      </a:r>
                    </a:p>
                  </a:txBody>
                  <a:tcPr marL="28659" marR="28659" marT="14329" marB="14329" anchor="ctr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/>
                        <a:t>Applying partial updates to a private copy of the data then updating the universal copy when done </a:t>
                      </a:r>
                    </a:p>
                  </a:txBody>
                  <a:tcPr marL="28659" marR="28659" marT="14329" marB="14329" anchor="ctr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7963097"/>
                  </a:ext>
                </a:extLst>
              </a:tr>
              <a:tr h="67805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/>
                        <a:t>Thread coarsening </a:t>
                      </a:r>
                    </a:p>
                  </a:txBody>
                  <a:tcPr marL="28659" marR="28659" marT="14329" marB="14329" anchor="ctr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/>
                        <a:t>Less redundant work, divergence,  or synchronization </a:t>
                      </a:r>
                    </a:p>
                  </a:txBody>
                  <a:tcPr marL="28659" marR="28659" marT="14329" marB="14329" anchor="ctr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/>
                        <a:t>Less redundant global memory traffic </a:t>
                      </a:r>
                    </a:p>
                  </a:txBody>
                  <a:tcPr marL="28659" marR="28659" marT="14329" marB="14329" anchor="ctr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dirty="0"/>
                        <a:t>Assigning multiple units of parallelism to each thread in order to reduce the “price of parallelism” when it is incurred unnecessarily </a:t>
                      </a:r>
                    </a:p>
                  </a:txBody>
                  <a:tcPr marL="28659" marR="28659" marT="14329" marB="14329" anchor="ctr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4870057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38314" y="4816062"/>
            <a:ext cx="8867373" cy="74644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514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Other Optimization Opportunities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Are memory accesses coalesced?</a:t>
            </a:r>
          </a:p>
          <a:p>
            <a:pPr lvl="1"/>
            <a:r>
              <a:rPr lang="en-US" sz="2000" dirty="0"/>
              <a:t>Yes (for input data)</a:t>
            </a:r>
          </a:p>
          <a:p>
            <a:r>
              <a:rPr lang="en-US" sz="2400" dirty="0"/>
              <a:t>Is there control divergence?</a:t>
            </a:r>
          </a:p>
          <a:p>
            <a:pPr lvl="1"/>
            <a:r>
              <a:rPr lang="en-US" sz="2000" dirty="0"/>
              <a:t>Negligible (only at the boundary check)</a:t>
            </a:r>
          </a:p>
          <a:p>
            <a:r>
              <a:rPr lang="en-US" sz="2400" dirty="0"/>
              <a:t>Is there data reuse?</a:t>
            </a:r>
          </a:p>
          <a:p>
            <a:pPr lvl="1"/>
            <a:r>
              <a:rPr lang="en-US" sz="2000" dirty="0"/>
              <a:t>Input data: No</a:t>
            </a:r>
          </a:p>
          <a:p>
            <a:pPr lvl="1"/>
            <a:r>
              <a:rPr lang="en-US" sz="2000" dirty="0"/>
              <a:t>Output data: Yes</a:t>
            </a:r>
          </a:p>
          <a:p>
            <a:pPr lvl="2"/>
            <a:r>
              <a:rPr lang="en-US" sz="1800" dirty="0"/>
              <a:t>Multiple threads in a block may update the same bin in the private histogram</a:t>
            </a:r>
          </a:p>
          <a:p>
            <a:pPr lvl="2"/>
            <a:r>
              <a:rPr lang="en-US" sz="1800" dirty="0"/>
              <a:t>Place the private histogram in shared memory (if it fits)</a:t>
            </a:r>
          </a:p>
          <a:p>
            <a:r>
              <a:rPr lang="en-US" sz="2400" dirty="0"/>
              <a:t>Is there a price for parallelizing the work?</a:t>
            </a:r>
          </a:p>
          <a:p>
            <a:pPr lvl="1"/>
            <a:r>
              <a:rPr lang="en-US" sz="2000" dirty="0"/>
              <a:t>Atomic updates from the private copies to the global copy happen once per block</a:t>
            </a:r>
          </a:p>
          <a:p>
            <a:pPr lvl="1"/>
            <a:r>
              <a:rPr lang="en-US" sz="2000" dirty="0"/>
              <a:t>Use thread coarsening to reduce the number of blocks/updates</a:t>
            </a:r>
          </a:p>
        </p:txBody>
      </p:sp>
    </p:spTree>
    <p:extLst>
      <p:ext uri="{BB962C8B-B14F-4D97-AF65-F5344CB8AC3E}">
        <p14:creationId xmlns:p14="http://schemas.microsoft.com/office/powerpoint/2010/main" val="2144476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" name="Table 71"/>
          <p:cNvGraphicFramePr>
            <a:graphicFrameLocks noGrp="1"/>
          </p:cNvGraphicFramePr>
          <p:nvPr>
            <p:extLst/>
          </p:nvPr>
        </p:nvGraphicFramePr>
        <p:xfrm>
          <a:off x="329989" y="2987004"/>
          <a:ext cx="822960" cy="2228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288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" name="Table 72"/>
          <p:cNvGraphicFramePr>
            <a:graphicFrameLocks noGrp="1"/>
          </p:cNvGraphicFramePr>
          <p:nvPr>
            <p:extLst/>
          </p:nvPr>
        </p:nvGraphicFramePr>
        <p:xfrm>
          <a:off x="3840480" y="4739640"/>
          <a:ext cx="146304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Before Coarsening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1691640"/>
            <a:ext cx="8534400" cy="18256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/>
          <p:cNvGrpSpPr/>
          <p:nvPr/>
        </p:nvGrpSpPr>
        <p:grpSpPr>
          <a:xfrm>
            <a:off x="304800" y="1996440"/>
            <a:ext cx="873338" cy="822960"/>
            <a:chOff x="2667000" y="1752600"/>
            <a:chExt cx="889511" cy="838200"/>
          </a:xfrm>
        </p:grpSpPr>
        <p:sp>
          <p:nvSpPr>
            <p:cNvPr id="6" name="Rectangle 5"/>
            <p:cNvSpPr/>
            <p:nvPr/>
          </p:nvSpPr>
          <p:spPr>
            <a:xfrm>
              <a:off x="2667000" y="1752600"/>
              <a:ext cx="889511" cy="838200"/>
            </a:xfrm>
            <a:prstGeom prst="rect">
              <a:avLst/>
            </a:prstGeom>
            <a:noFill/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2731382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2953269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2" name="Freeform 11"/>
            <p:cNvSpPr/>
            <p:nvPr/>
          </p:nvSpPr>
          <p:spPr>
            <a:xfrm>
              <a:off x="3175156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6" name="Freeform 25"/>
            <p:cNvSpPr/>
            <p:nvPr/>
          </p:nvSpPr>
          <p:spPr>
            <a:xfrm>
              <a:off x="3397044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302244" y="1996440"/>
            <a:ext cx="873338" cy="822960"/>
            <a:chOff x="2667000" y="1752600"/>
            <a:chExt cx="889511" cy="838200"/>
          </a:xfrm>
        </p:grpSpPr>
        <p:sp>
          <p:nvSpPr>
            <p:cNvPr id="29" name="Rectangle 28"/>
            <p:cNvSpPr/>
            <p:nvPr/>
          </p:nvSpPr>
          <p:spPr>
            <a:xfrm>
              <a:off x="2667000" y="1752600"/>
              <a:ext cx="889511" cy="838200"/>
            </a:xfrm>
            <a:prstGeom prst="rect">
              <a:avLst/>
            </a:prstGeom>
            <a:noFill/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2731382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1" name="Freeform 30"/>
            <p:cNvSpPr/>
            <p:nvPr/>
          </p:nvSpPr>
          <p:spPr>
            <a:xfrm>
              <a:off x="2953269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2" name="Freeform 31"/>
            <p:cNvSpPr/>
            <p:nvPr/>
          </p:nvSpPr>
          <p:spPr>
            <a:xfrm>
              <a:off x="3175156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3" name="Freeform 32"/>
            <p:cNvSpPr/>
            <p:nvPr/>
          </p:nvSpPr>
          <p:spPr>
            <a:xfrm>
              <a:off x="3397044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2299688" y="1996440"/>
            <a:ext cx="873338" cy="822960"/>
            <a:chOff x="2667000" y="1752600"/>
            <a:chExt cx="889511" cy="838200"/>
          </a:xfrm>
        </p:grpSpPr>
        <p:sp>
          <p:nvSpPr>
            <p:cNvPr id="35" name="Rectangle 34"/>
            <p:cNvSpPr/>
            <p:nvPr/>
          </p:nvSpPr>
          <p:spPr>
            <a:xfrm>
              <a:off x="2667000" y="1752600"/>
              <a:ext cx="889511" cy="838200"/>
            </a:xfrm>
            <a:prstGeom prst="rect">
              <a:avLst/>
            </a:prstGeom>
            <a:noFill/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2731382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7" name="Freeform 36"/>
            <p:cNvSpPr/>
            <p:nvPr/>
          </p:nvSpPr>
          <p:spPr>
            <a:xfrm>
              <a:off x="2953269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8" name="Freeform 37"/>
            <p:cNvSpPr/>
            <p:nvPr/>
          </p:nvSpPr>
          <p:spPr>
            <a:xfrm>
              <a:off x="3175156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9" name="Freeform 38"/>
            <p:cNvSpPr/>
            <p:nvPr/>
          </p:nvSpPr>
          <p:spPr>
            <a:xfrm>
              <a:off x="3397044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3297132" y="1996440"/>
            <a:ext cx="873338" cy="822960"/>
            <a:chOff x="2667000" y="1752600"/>
            <a:chExt cx="889511" cy="838200"/>
          </a:xfrm>
        </p:grpSpPr>
        <p:sp>
          <p:nvSpPr>
            <p:cNvPr id="41" name="Rectangle 40"/>
            <p:cNvSpPr/>
            <p:nvPr/>
          </p:nvSpPr>
          <p:spPr>
            <a:xfrm>
              <a:off x="2667000" y="1752600"/>
              <a:ext cx="889511" cy="838200"/>
            </a:xfrm>
            <a:prstGeom prst="rect">
              <a:avLst/>
            </a:prstGeom>
            <a:noFill/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2731382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3" name="Freeform 42"/>
            <p:cNvSpPr/>
            <p:nvPr/>
          </p:nvSpPr>
          <p:spPr>
            <a:xfrm>
              <a:off x="2953269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4" name="Freeform 43"/>
            <p:cNvSpPr/>
            <p:nvPr/>
          </p:nvSpPr>
          <p:spPr>
            <a:xfrm>
              <a:off x="3175156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5" name="Freeform 44"/>
            <p:cNvSpPr/>
            <p:nvPr/>
          </p:nvSpPr>
          <p:spPr>
            <a:xfrm>
              <a:off x="3397044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4294576" y="1996440"/>
            <a:ext cx="873338" cy="822960"/>
            <a:chOff x="2667000" y="1752600"/>
            <a:chExt cx="889511" cy="838200"/>
          </a:xfrm>
        </p:grpSpPr>
        <p:sp>
          <p:nvSpPr>
            <p:cNvPr id="48" name="Rectangle 47"/>
            <p:cNvSpPr/>
            <p:nvPr/>
          </p:nvSpPr>
          <p:spPr>
            <a:xfrm>
              <a:off x="2667000" y="1752600"/>
              <a:ext cx="889511" cy="838200"/>
            </a:xfrm>
            <a:prstGeom prst="rect">
              <a:avLst/>
            </a:prstGeom>
            <a:noFill/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731382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0" name="Freeform 49"/>
            <p:cNvSpPr/>
            <p:nvPr/>
          </p:nvSpPr>
          <p:spPr>
            <a:xfrm>
              <a:off x="2953269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1" name="Freeform 50"/>
            <p:cNvSpPr/>
            <p:nvPr/>
          </p:nvSpPr>
          <p:spPr>
            <a:xfrm>
              <a:off x="3175156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2" name="Freeform 51"/>
            <p:cNvSpPr/>
            <p:nvPr/>
          </p:nvSpPr>
          <p:spPr>
            <a:xfrm>
              <a:off x="3397044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5292020" y="1996440"/>
            <a:ext cx="873338" cy="822960"/>
            <a:chOff x="2667000" y="1752600"/>
            <a:chExt cx="889511" cy="838200"/>
          </a:xfrm>
        </p:grpSpPr>
        <p:sp>
          <p:nvSpPr>
            <p:cNvPr id="54" name="Rectangle 53"/>
            <p:cNvSpPr/>
            <p:nvPr/>
          </p:nvSpPr>
          <p:spPr>
            <a:xfrm>
              <a:off x="2667000" y="1752600"/>
              <a:ext cx="889511" cy="838200"/>
            </a:xfrm>
            <a:prstGeom prst="rect">
              <a:avLst/>
            </a:prstGeom>
            <a:noFill/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>
              <a:off x="2731382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6" name="Freeform 55"/>
            <p:cNvSpPr/>
            <p:nvPr/>
          </p:nvSpPr>
          <p:spPr>
            <a:xfrm>
              <a:off x="2953269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7" name="Freeform 56"/>
            <p:cNvSpPr/>
            <p:nvPr/>
          </p:nvSpPr>
          <p:spPr>
            <a:xfrm>
              <a:off x="3175156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8" name="Freeform 57"/>
            <p:cNvSpPr/>
            <p:nvPr/>
          </p:nvSpPr>
          <p:spPr>
            <a:xfrm>
              <a:off x="3397044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6289462" y="1996440"/>
            <a:ext cx="873338" cy="822960"/>
            <a:chOff x="2667000" y="1752600"/>
            <a:chExt cx="889511" cy="838200"/>
          </a:xfrm>
        </p:grpSpPr>
        <p:sp>
          <p:nvSpPr>
            <p:cNvPr id="60" name="Rectangle 59"/>
            <p:cNvSpPr/>
            <p:nvPr/>
          </p:nvSpPr>
          <p:spPr>
            <a:xfrm>
              <a:off x="2667000" y="1752600"/>
              <a:ext cx="889511" cy="838200"/>
            </a:xfrm>
            <a:prstGeom prst="rect">
              <a:avLst/>
            </a:prstGeom>
            <a:noFill/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 60"/>
            <p:cNvSpPr/>
            <p:nvPr/>
          </p:nvSpPr>
          <p:spPr>
            <a:xfrm>
              <a:off x="2731382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2" name="Freeform 61"/>
            <p:cNvSpPr/>
            <p:nvPr/>
          </p:nvSpPr>
          <p:spPr>
            <a:xfrm>
              <a:off x="2953269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3" name="Freeform 62"/>
            <p:cNvSpPr/>
            <p:nvPr/>
          </p:nvSpPr>
          <p:spPr>
            <a:xfrm>
              <a:off x="3175156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4" name="Freeform 63"/>
            <p:cNvSpPr/>
            <p:nvPr/>
          </p:nvSpPr>
          <p:spPr>
            <a:xfrm>
              <a:off x="3397044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7924800" y="1996440"/>
            <a:ext cx="873338" cy="822960"/>
            <a:chOff x="2667000" y="1752600"/>
            <a:chExt cx="889511" cy="838200"/>
          </a:xfrm>
        </p:grpSpPr>
        <p:sp>
          <p:nvSpPr>
            <p:cNvPr id="66" name="Rectangle 65"/>
            <p:cNvSpPr/>
            <p:nvPr/>
          </p:nvSpPr>
          <p:spPr>
            <a:xfrm>
              <a:off x="2667000" y="1752600"/>
              <a:ext cx="889511" cy="838200"/>
            </a:xfrm>
            <a:prstGeom prst="rect">
              <a:avLst/>
            </a:prstGeom>
            <a:noFill/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 66"/>
            <p:cNvSpPr/>
            <p:nvPr/>
          </p:nvSpPr>
          <p:spPr>
            <a:xfrm>
              <a:off x="2731382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8" name="Freeform 67"/>
            <p:cNvSpPr/>
            <p:nvPr/>
          </p:nvSpPr>
          <p:spPr>
            <a:xfrm>
              <a:off x="2953269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9" name="Freeform 68"/>
            <p:cNvSpPr/>
            <p:nvPr/>
          </p:nvSpPr>
          <p:spPr>
            <a:xfrm>
              <a:off x="3175156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0" name="Freeform 69"/>
            <p:cNvSpPr/>
            <p:nvPr/>
          </p:nvSpPr>
          <p:spPr>
            <a:xfrm>
              <a:off x="3397044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71" name="TextBox 70"/>
          <p:cNvSpPr txBox="1"/>
          <p:nvPr/>
        </p:nvSpPr>
        <p:spPr>
          <a:xfrm>
            <a:off x="7230160" y="1836599"/>
            <a:ext cx="6479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Arial Narrow" pitchFamily="34" charset="0"/>
              </a:rPr>
              <a:t>…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31520" y="3194685"/>
            <a:ext cx="7655138" cy="1544955"/>
            <a:chOff x="731520" y="3194685"/>
            <a:chExt cx="7655138" cy="1544955"/>
          </a:xfrm>
        </p:grpSpPr>
        <p:cxnSp>
          <p:nvCxnSpPr>
            <p:cNvPr id="7" name="Straight Arrow Connector 6"/>
            <p:cNvCxnSpPr>
              <a:stCxn id="72" idx="2"/>
              <a:endCxn id="73" idx="0"/>
            </p:cNvCxnSpPr>
            <p:nvPr/>
          </p:nvCxnSpPr>
          <p:spPr>
            <a:xfrm>
              <a:off x="731520" y="3194685"/>
              <a:ext cx="3840480" cy="154495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>
              <a:stCxn id="75" idx="2"/>
              <a:endCxn id="73" idx="0"/>
            </p:cNvCxnSpPr>
            <p:nvPr/>
          </p:nvCxnSpPr>
          <p:spPr>
            <a:xfrm>
              <a:off x="1732672" y="3194685"/>
              <a:ext cx="2839328" cy="154495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>
              <a:stCxn id="76" idx="2"/>
              <a:endCxn id="73" idx="0"/>
            </p:cNvCxnSpPr>
            <p:nvPr/>
          </p:nvCxnSpPr>
          <p:spPr>
            <a:xfrm>
              <a:off x="2733824" y="3194685"/>
              <a:ext cx="1838176" cy="154495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>
              <a:stCxn id="77" idx="2"/>
              <a:endCxn id="73" idx="0"/>
            </p:cNvCxnSpPr>
            <p:nvPr/>
          </p:nvCxnSpPr>
          <p:spPr>
            <a:xfrm>
              <a:off x="3734976" y="3194685"/>
              <a:ext cx="837024" cy="154495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Arrow Connector 91"/>
            <p:cNvCxnSpPr>
              <a:stCxn id="85" idx="2"/>
              <a:endCxn id="73" idx="0"/>
            </p:cNvCxnSpPr>
            <p:nvPr/>
          </p:nvCxnSpPr>
          <p:spPr>
            <a:xfrm flipH="1">
              <a:off x="4572000" y="3194685"/>
              <a:ext cx="164128" cy="154495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Arrow Connector 92"/>
            <p:cNvCxnSpPr>
              <a:stCxn id="86" idx="2"/>
              <a:endCxn id="73" idx="0"/>
            </p:cNvCxnSpPr>
            <p:nvPr/>
          </p:nvCxnSpPr>
          <p:spPr>
            <a:xfrm flipH="1">
              <a:off x="4572000" y="3194685"/>
              <a:ext cx="1165280" cy="154495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>
              <a:stCxn id="87" idx="2"/>
              <a:endCxn id="73" idx="0"/>
            </p:cNvCxnSpPr>
            <p:nvPr/>
          </p:nvCxnSpPr>
          <p:spPr>
            <a:xfrm flipH="1">
              <a:off x="4572000" y="3194685"/>
              <a:ext cx="2166429" cy="154495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>
              <a:stCxn id="88" idx="2"/>
              <a:endCxn id="73" idx="0"/>
            </p:cNvCxnSpPr>
            <p:nvPr/>
          </p:nvCxnSpPr>
          <p:spPr>
            <a:xfrm flipH="1">
              <a:off x="4572000" y="3194685"/>
              <a:ext cx="3814658" cy="154495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74" name="Table 73"/>
          <p:cNvGraphicFramePr>
            <a:graphicFrameLocks noGrp="1"/>
          </p:cNvGraphicFramePr>
          <p:nvPr>
            <p:extLst/>
          </p:nvPr>
        </p:nvGraphicFramePr>
        <p:xfrm>
          <a:off x="1326664" y="2987004"/>
          <a:ext cx="822960" cy="2228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288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8" name="Table 77"/>
          <p:cNvGraphicFramePr>
            <a:graphicFrameLocks noGrp="1"/>
          </p:cNvGraphicFramePr>
          <p:nvPr>
            <p:extLst/>
          </p:nvPr>
        </p:nvGraphicFramePr>
        <p:xfrm>
          <a:off x="2323339" y="2987004"/>
          <a:ext cx="822960" cy="2228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288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9" name="Table 78"/>
          <p:cNvGraphicFramePr>
            <a:graphicFrameLocks noGrp="1"/>
          </p:cNvGraphicFramePr>
          <p:nvPr>
            <p:extLst/>
          </p:nvPr>
        </p:nvGraphicFramePr>
        <p:xfrm>
          <a:off x="3320014" y="2987004"/>
          <a:ext cx="822960" cy="2228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288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0" name="Table 79"/>
          <p:cNvGraphicFramePr>
            <a:graphicFrameLocks noGrp="1"/>
          </p:cNvGraphicFramePr>
          <p:nvPr>
            <p:extLst/>
          </p:nvPr>
        </p:nvGraphicFramePr>
        <p:xfrm>
          <a:off x="4316689" y="2987004"/>
          <a:ext cx="822960" cy="2228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288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1" name="Table 80"/>
          <p:cNvGraphicFramePr>
            <a:graphicFrameLocks noGrp="1"/>
          </p:cNvGraphicFramePr>
          <p:nvPr>
            <p:extLst/>
          </p:nvPr>
        </p:nvGraphicFramePr>
        <p:xfrm>
          <a:off x="5313364" y="2987004"/>
          <a:ext cx="822960" cy="2228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288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2" name="Table 81"/>
          <p:cNvGraphicFramePr>
            <a:graphicFrameLocks noGrp="1"/>
          </p:cNvGraphicFramePr>
          <p:nvPr>
            <p:extLst/>
          </p:nvPr>
        </p:nvGraphicFramePr>
        <p:xfrm>
          <a:off x="6310037" y="2987004"/>
          <a:ext cx="822960" cy="2228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288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3" name="Table 82"/>
          <p:cNvGraphicFramePr>
            <a:graphicFrameLocks noGrp="1"/>
          </p:cNvGraphicFramePr>
          <p:nvPr>
            <p:extLst/>
          </p:nvPr>
        </p:nvGraphicFramePr>
        <p:xfrm>
          <a:off x="7949989" y="2987004"/>
          <a:ext cx="822960" cy="2228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288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4936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" name="Table 71"/>
          <p:cNvGraphicFramePr>
            <a:graphicFrameLocks noGrp="1"/>
          </p:cNvGraphicFramePr>
          <p:nvPr>
            <p:extLst/>
          </p:nvPr>
        </p:nvGraphicFramePr>
        <p:xfrm>
          <a:off x="329989" y="2987004"/>
          <a:ext cx="822960" cy="2228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288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" name="Table 72"/>
          <p:cNvGraphicFramePr>
            <a:graphicFrameLocks noGrp="1"/>
          </p:cNvGraphicFramePr>
          <p:nvPr>
            <p:extLst/>
          </p:nvPr>
        </p:nvGraphicFramePr>
        <p:xfrm>
          <a:off x="3840480" y="4739640"/>
          <a:ext cx="146304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After Coarsening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1691640"/>
            <a:ext cx="8534400" cy="18256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/>
          <p:cNvGrpSpPr/>
          <p:nvPr/>
        </p:nvGrpSpPr>
        <p:grpSpPr>
          <a:xfrm>
            <a:off x="304800" y="1996440"/>
            <a:ext cx="873338" cy="822960"/>
            <a:chOff x="2667000" y="1752600"/>
            <a:chExt cx="889511" cy="838200"/>
          </a:xfrm>
        </p:grpSpPr>
        <p:sp>
          <p:nvSpPr>
            <p:cNvPr id="6" name="Rectangle 5"/>
            <p:cNvSpPr/>
            <p:nvPr/>
          </p:nvSpPr>
          <p:spPr>
            <a:xfrm>
              <a:off x="2667000" y="1752600"/>
              <a:ext cx="889511" cy="838200"/>
            </a:xfrm>
            <a:prstGeom prst="rect">
              <a:avLst/>
            </a:prstGeom>
            <a:noFill/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2731382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2953269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2" name="Freeform 11"/>
            <p:cNvSpPr/>
            <p:nvPr/>
          </p:nvSpPr>
          <p:spPr>
            <a:xfrm>
              <a:off x="3175156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6" name="Freeform 25"/>
            <p:cNvSpPr/>
            <p:nvPr/>
          </p:nvSpPr>
          <p:spPr>
            <a:xfrm>
              <a:off x="3397044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2299688" y="1996440"/>
            <a:ext cx="873338" cy="822960"/>
            <a:chOff x="2667000" y="1752600"/>
            <a:chExt cx="889511" cy="838200"/>
          </a:xfrm>
        </p:grpSpPr>
        <p:sp>
          <p:nvSpPr>
            <p:cNvPr id="35" name="Rectangle 34"/>
            <p:cNvSpPr/>
            <p:nvPr/>
          </p:nvSpPr>
          <p:spPr>
            <a:xfrm>
              <a:off x="2667000" y="1752600"/>
              <a:ext cx="889511" cy="838200"/>
            </a:xfrm>
            <a:prstGeom prst="rect">
              <a:avLst/>
            </a:prstGeom>
            <a:noFill/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2731382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7" name="Freeform 36"/>
            <p:cNvSpPr/>
            <p:nvPr/>
          </p:nvSpPr>
          <p:spPr>
            <a:xfrm>
              <a:off x="2953269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8" name="Freeform 37"/>
            <p:cNvSpPr/>
            <p:nvPr/>
          </p:nvSpPr>
          <p:spPr>
            <a:xfrm>
              <a:off x="3175156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9" name="Freeform 38"/>
            <p:cNvSpPr/>
            <p:nvPr/>
          </p:nvSpPr>
          <p:spPr>
            <a:xfrm>
              <a:off x="3397044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4294576" y="1996440"/>
            <a:ext cx="873338" cy="822960"/>
            <a:chOff x="2667000" y="1752600"/>
            <a:chExt cx="889511" cy="838200"/>
          </a:xfrm>
        </p:grpSpPr>
        <p:sp>
          <p:nvSpPr>
            <p:cNvPr id="48" name="Rectangle 47"/>
            <p:cNvSpPr/>
            <p:nvPr/>
          </p:nvSpPr>
          <p:spPr>
            <a:xfrm>
              <a:off x="2667000" y="1752600"/>
              <a:ext cx="889511" cy="838200"/>
            </a:xfrm>
            <a:prstGeom prst="rect">
              <a:avLst/>
            </a:prstGeom>
            <a:noFill/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731382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0" name="Freeform 49"/>
            <p:cNvSpPr/>
            <p:nvPr/>
          </p:nvSpPr>
          <p:spPr>
            <a:xfrm>
              <a:off x="2953269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1" name="Freeform 50"/>
            <p:cNvSpPr/>
            <p:nvPr/>
          </p:nvSpPr>
          <p:spPr>
            <a:xfrm>
              <a:off x="3175156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2" name="Freeform 51"/>
            <p:cNvSpPr/>
            <p:nvPr/>
          </p:nvSpPr>
          <p:spPr>
            <a:xfrm>
              <a:off x="3397044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6289462" y="1996440"/>
            <a:ext cx="873338" cy="822960"/>
            <a:chOff x="2667000" y="1752600"/>
            <a:chExt cx="889511" cy="838200"/>
          </a:xfrm>
        </p:grpSpPr>
        <p:sp>
          <p:nvSpPr>
            <p:cNvPr id="60" name="Rectangle 59"/>
            <p:cNvSpPr/>
            <p:nvPr/>
          </p:nvSpPr>
          <p:spPr>
            <a:xfrm>
              <a:off x="2667000" y="1752600"/>
              <a:ext cx="889511" cy="838200"/>
            </a:xfrm>
            <a:prstGeom prst="rect">
              <a:avLst/>
            </a:prstGeom>
            <a:noFill/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 60"/>
            <p:cNvSpPr/>
            <p:nvPr/>
          </p:nvSpPr>
          <p:spPr>
            <a:xfrm>
              <a:off x="2731382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2" name="Freeform 61"/>
            <p:cNvSpPr/>
            <p:nvPr/>
          </p:nvSpPr>
          <p:spPr>
            <a:xfrm>
              <a:off x="2953269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3" name="Freeform 62"/>
            <p:cNvSpPr/>
            <p:nvPr/>
          </p:nvSpPr>
          <p:spPr>
            <a:xfrm>
              <a:off x="3175156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4" name="Freeform 63"/>
            <p:cNvSpPr/>
            <p:nvPr/>
          </p:nvSpPr>
          <p:spPr>
            <a:xfrm>
              <a:off x="3397044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71" name="TextBox 70"/>
          <p:cNvSpPr txBox="1"/>
          <p:nvPr/>
        </p:nvSpPr>
        <p:spPr>
          <a:xfrm>
            <a:off x="7230160" y="1836599"/>
            <a:ext cx="6479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Arial Narrow" pitchFamily="34" charset="0"/>
              </a:rPr>
              <a:t>…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731520" y="3194685"/>
            <a:ext cx="6006909" cy="1544955"/>
            <a:chOff x="731520" y="3194685"/>
            <a:chExt cx="6006909" cy="1544955"/>
          </a:xfrm>
        </p:grpSpPr>
        <p:cxnSp>
          <p:nvCxnSpPr>
            <p:cNvPr id="7" name="Straight Arrow Connector 6"/>
            <p:cNvCxnSpPr>
              <a:stCxn id="72" idx="2"/>
              <a:endCxn id="73" idx="0"/>
            </p:cNvCxnSpPr>
            <p:nvPr/>
          </p:nvCxnSpPr>
          <p:spPr>
            <a:xfrm>
              <a:off x="731520" y="3194685"/>
              <a:ext cx="3840480" cy="154495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>
              <a:stCxn id="76" idx="2"/>
              <a:endCxn id="73" idx="0"/>
            </p:cNvCxnSpPr>
            <p:nvPr/>
          </p:nvCxnSpPr>
          <p:spPr>
            <a:xfrm>
              <a:off x="2733824" y="3194685"/>
              <a:ext cx="1838176" cy="154495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Arrow Connector 91"/>
            <p:cNvCxnSpPr>
              <a:stCxn id="85" idx="2"/>
              <a:endCxn id="73" idx="0"/>
            </p:cNvCxnSpPr>
            <p:nvPr/>
          </p:nvCxnSpPr>
          <p:spPr>
            <a:xfrm flipH="1">
              <a:off x="4572000" y="3194685"/>
              <a:ext cx="164128" cy="154495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>
              <a:stCxn id="87" idx="2"/>
              <a:endCxn id="73" idx="0"/>
            </p:cNvCxnSpPr>
            <p:nvPr/>
          </p:nvCxnSpPr>
          <p:spPr>
            <a:xfrm flipH="1">
              <a:off x="4572000" y="3194685"/>
              <a:ext cx="2166429" cy="154495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78" name="Table 77"/>
          <p:cNvGraphicFramePr>
            <a:graphicFrameLocks noGrp="1"/>
          </p:cNvGraphicFramePr>
          <p:nvPr>
            <p:extLst/>
          </p:nvPr>
        </p:nvGraphicFramePr>
        <p:xfrm>
          <a:off x="2323339" y="2987004"/>
          <a:ext cx="822960" cy="2228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288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0" name="Table 79"/>
          <p:cNvGraphicFramePr>
            <a:graphicFrameLocks noGrp="1"/>
          </p:cNvGraphicFramePr>
          <p:nvPr>
            <p:extLst/>
          </p:nvPr>
        </p:nvGraphicFramePr>
        <p:xfrm>
          <a:off x="4316689" y="2987004"/>
          <a:ext cx="822960" cy="2228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288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2" name="Table 81"/>
          <p:cNvGraphicFramePr>
            <a:graphicFrameLocks noGrp="1"/>
          </p:cNvGraphicFramePr>
          <p:nvPr>
            <p:extLst/>
          </p:nvPr>
        </p:nvGraphicFramePr>
        <p:xfrm>
          <a:off x="6310037" y="2987004"/>
          <a:ext cx="822960" cy="2228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288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1435" marR="51435" marT="25718" marB="25718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264073" y="1832499"/>
            <a:ext cx="1967536" cy="193211"/>
            <a:chOff x="264073" y="1836599"/>
            <a:chExt cx="1967536" cy="193211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264073" y="1836599"/>
              <a:ext cx="0" cy="19321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flipH="1">
              <a:off x="1225769" y="1836599"/>
              <a:ext cx="1005840" cy="19321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up 86"/>
          <p:cNvGrpSpPr/>
          <p:nvPr/>
        </p:nvGrpSpPr>
        <p:grpSpPr>
          <a:xfrm>
            <a:off x="2259680" y="1832499"/>
            <a:ext cx="1967536" cy="193211"/>
            <a:chOff x="264073" y="1836599"/>
            <a:chExt cx="1967536" cy="193211"/>
          </a:xfrm>
        </p:grpSpPr>
        <p:cxnSp>
          <p:nvCxnSpPr>
            <p:cNvPr id="88" name="Straight Connector 87"/>
            <p:cNvCxnSpPr/>
            <p:nvPr/>
          </p:nvCxnSpPr>
          <p:spPr>
            <a:xfrm>
              <a:off x="264073" y="1836599"/>
              <a:ext cx="0" cy="19321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 flipH="1">
              <a:off x="1225769" y="1836599"/>
              <a:ext cx="1005840" cy="19321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/>
          <p:cNvGrpSpPr/>
          <p:nvPr/>
        </p:nvGrpSpPr>
        <p:grpSpPr>
          <a:xfrm>
            <a:off x="4258807" y="1832499"/>
            <a:ext cx="1967536" cy="193211"/>
            <a:chOff x="264073" y="1836599"/>
            <a:chExt cx="1967536" cy="193211"/>
          </a:xfrm>
        </p:grpSpPr>
        <p:cxnSp>
          <p:nvCxnSpPr>
            <p:cNvPr id="98" name="Straight Connector 97"/>
            <p:cNvCxnSpPr/>
            <p:nvPr/>
          </p:nvCxnSpPr>
          <p:spPr>
            <a:xfrm>
              <a:off x="264073" y="1836599"/>
              <a:ext cx="0" cy="19321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 flipH="1">
              <a:off x="1225769" y="1836599"/>
              <a:ext cx="1005840" cy="19321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/>
          <p:cNvGrpSpPr/>
          <p:nvPr/>
        </p:nvGrpSpPr>
        <p:grpSpPr>
          <a:xfrm>
            <a:off x="6258215" y="1832499"/>
            <a:ext cx="1967536" cy="193211"/>
            <a:chOff x="264073" y="1836599"/>
            <a:chExt cx="1967536" cy="193211"/>
          </a:xfrm>
        </p:grpSpPr>
        <p:cxnSp>
          <p:nvCxnSpPr>
            <p:cNvPr id="101" name="Straight Connector 100"/>
            <p:cNvCxnSpPr/>
            <p:nvPr/>
          </p:nvCxnSpPr>
          <p:spPr>
            <a:xfrm>
              <a:off x="264073" y="1836599"/>
              <a:ext cx="0" cy="19321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H="1">
              <a:off x="1225769" y="1836599"/>
              <a:ext cx="1005840" cy="19321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TextBox 102"/>
          <p:cNvSpPr txBox="1"/>
          <p:nvPr/>
        </p:nvSpPr>
        <p:spPr>
          <a:xfrm>
            <a:off x="463757" y="676493"/>
            <a:ext cx="16080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block takes a larger input segment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408457" y="4023991"/>
            <a:ext cx="16080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fewer private copies to commit to the global copy</a:t>
            </a:r>
          </a:p>
        </p:txBody>
      </p:sp>
    </p:spTree>
    <p:extLst>
      <p:ext uri="{BB962C8B-B14F-4D97-AF65-F5344CB8AC3E}">
        <p14:creationId xmlns:p14="http://schemas.microsoft.com/office/powerpoint/2010/main" val="1735869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/>
      <p:bldP spid="10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Coarsening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How to assign multiple inputs to each thread?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449070" y="1834563"/>
            <a:ext cx="7542530" cy="1463040"/>
            <a:chOff x="1449070" y="2449283"/>
            <a:chExt cx="7542530" cy="1463040"/>
          </a:xfrm>
        </p:grpSpPr>
        <p:cxnSp>
          <p:nvCxnSpPr>
            <p:cNvPr id="54" name="Straight Connector 53"/>
            <p:cNvCxnSpPr/>
            <p:nvPr/>
          </p:nvCxnSpPr>
          <p:spPr>
            <a:xfrm>
              <a:off x="2322404" y="2449283"/>
              <a:ext cx="0" cy="1463040"/>
            </a:xfrm>
            <a:prstGeom prst="line">
              <a:avLst/>
            </a:prstGeom>
            <a:ln w="28575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3194920" y="2449283"/>
              <a:ext cx="0" cy="1463040"/>
            </a:xfrm>
            <a:prstGeom prst="line">
              <a:avLst/>
            </a:prstGeom>
            <a:ln w="28575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4067436" y="2449283"/>
              <a:ext cx="0" cy="1463040"/>
            </a:xfrm>
            <a:prstGeom prst="line">
              <a:avLst/>
            </a:prstGeom>
            <a:ln w="28575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4939952" y="2449283"/>
              <a:ext cx="0" cy="1463040"/>
            </a:xfrm>
            <a:prstGeom prst="line">
              <a:avLst/>
            </a:prstGeom>
            <a:ln w="28575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5812468" y="2449283"/>
              <a:ext cx="0" cy="1463040"/>
            </a:xfrm>
            <a:prstGeom prst="line">
              <a:avLst/>
            </a:prstGeom>
            <a:ln w="28575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6684984" y="2449283"/>
              <a:ext cx="0" cy="1463040"/>
            </a:xfrm>
            <a:prstGeom prst="line">
              <a:avLst/>
            </a:prstGeom>
            <a:ln w="28575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7557500" y="2449283"/>
              <a:ext cx="0" cy="1463040"/>
            </a:xfrm>
            <a:prstGeom prst="line">
              <a:avLst/>
            </a:prstGeom>
            <a:ln w="28575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13" name="Group 12"/>
            <p:cNvGrpSpPr/>
            <p:nvPr/>
          </p:nvGrpSpPr>
          <p:grpSpPr>
            <a:xfrm>
              <a:off x="1449070" y="2754083"/>
              <a:ext cx="6981825" cy="285750"/>
              <a:chOff x="1449070" y="2754083"/>
              <a:chExt cx="6981825" cy="285750"/>
            </a:xfrm>
          </p:grpSpPr>
          <p:sp>
            <p:nvSpPr>
              <p:cNvPr id="67" name="Rectangle 66"/>
              <p:cNvSpPr/>
              <p:nvPr/>
            </p:nvSpPr>
            <p:spPr>
              <a:xfrm>
                <a:off x="1449070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68" name="Rectangle 67"/>
              <p:cNvSpPr/>
              <p:nvPr/>
            </p:nvSpPr>
            <p:spPr>
              <a:xfrm>
                <a:off x="1740204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2031338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2322472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74" name="Rectangle 73"/>
              <p:cNvSpPr/>
              <p:nvPr/>
            </p:nvSpPr>
            <p:spPr>
              <a:xfrm>
                <a:off x="2613606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904740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95874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3487008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81" name="Rectangle 80"/>
              <p:cNvSpPr/>
              <p:nvPr/>
            </p:nvSpPr>
            <p:spPr>
              <a:xfrm>
                <a:off x="3778142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83" name="Rectangle 82"/>
              <p:cNvSpPr/>
              <p:nvPr/>
            </p:nvSpPr>
            <p:spPr>
              <a:xfrm>
                <a:off x="4069276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84" name="Rectangle 83"/>
              <p:cNvSpPr/>
              <p:nvPr/>
            </p:nvSpPr>
            <p:spPr>
              <a:xfrm>
                <a:off x="4360410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85" name="Rectangle 84"/>
              <p:cNvSpPr/>
              <p:nvPr/>
            </p:nvSpPr>
            <p:spPr>
              <a:xfrm>
                <a:off x="4651544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86" name="Rectangle 85"/>
              <p:cNvSpPr/>
              <p:nvPr/>
            </p:nvSpPr>
            <p:spPr>
              <a:xfrm>
                <a:off x="4942678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5233812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7562884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6398348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6107214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5816080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5524946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107" name="Rectangle 106"/>
              <p:cNvSpPr/>
              <p:nvPr/>
            </p:nvSpPr>
            <p:spPr>
              <a:xfrm>
                <a:off x="7271750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108" name="Rectangle 107"/>
              <p:cNvSpPr/>
              <p:nvPr/>
            </p:nvSpPr>
            <p:spPr>
              <a:xfrm>
                <a:off x="6980616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109" name="Rectangle 108"/>
              <p:cNvSpPr/>
              <p:nvPr/>
            </p:nvSpPr>
            <p:spPr>
              <a:xfrm>
                <a:off x="6689482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110" name="Rectangle 109"/>
              <p:cNvSpPr/>
              <p:nvPr/>
            </p:nvSpPr>
            <p:spPr>
              <a:xfrm>
                <a:off x="7854018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8145145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</p:grpSp>
        <p:sp>
          <p:nvSpPr>
            <p:cNvPr id="120" name="TextBox 119"/>
            <p:cNvSpPr txBox="1"/>
            <p:nvPr/>
          </p:nvSpPr>
          <p:spPr>
            <a:xfrm>
              <a:off x="8499157" y="2578168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…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62010" y="2507990"/>
            <a:ext cx="7491622" cy="718220"/>
            <a:chOff x="262010" y="3122710"/>
            <a:chExt cx="7491622" cy="718220"/>
          </a:xfrm>
        </p:grpSpPr>
        <p:sp>
          <p:nvSpPr>
            <p:cNvPr id="112" name="Freeform 111"/>
            <p:cNvSpPr/>
            <p:nvPr/>
          </p:nvSpPr>
          <p:spPr>
            <a:xfrm>
              <a:off x="1544072" y="3122710"/>
              <a:ext cx="95746" cy="7182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3" name="Freeform 112"/>
            <p:cNvSpPr/>
            <p:nvPr/>
          </p:nvSpPr>
          <p:spPr>
            <a:xfrm>
              <a:off x="2417474" y="3122710"/>
              <a:ext cx="95746" cy="7182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4" name="Freeform 113"/>
            <p:cNvSpPr/>
            <p:nvPr/>
          </p:nvSpPr>
          <p:spPr>
            <a:xfrm>
              <a:off x="3290876" y="3122710"/>
              <a:ext cx="95746" cy="7182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5" name="Freeform 114"/>
            <p:cNvSpPr/>
            <p:nvPr/>
          </p:nvSpPr>
          <p:spPr>
            <a:xfrm>
              <a:off x="4164278" y="3122710"/>
              <a:ext cx="95746" cy="7182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6" name="Freeform 115"/>
            <p:cNvSpPr/>
            <p:nvPr/>
          </p:nvSpPr>
          <p:spPr>
            <a:xfrm>
              <a:off x="5037680" y="3122710"/>
              <a:ext cx="95746" cy="7182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7" name="Freeform 116"/>
            <p:cNvSpPr/>
            <p:nvPr/>
          </p:nvSpPr>
          <p:spPr>
            <a:xfrm>
              <a:off x="5911082" y="3122710"/>
              <a:ext cx="95746" cy="7182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8" name="Freeform 117"/>
            <p:cNvSpPr/>
            <p:nvPr/>
          </p:nvSpPr>
          <p:spPr>
            <a:xfrm>
              <a:off x="6784484" y="3122710"/>
              <a:ext cx="95746" cy="7182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9" name="Freeform 118"/>
            <p:cNvSpPr/>
            <p:nvPr/>
          </p:nvSpPr>
          <p:spPr>
            <a:xfrm>
              <a:off x="7657886" y="3122710"/>
              <a:ext cx="95746" cy="7182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262010" y="3343320"/>
              <a:ext cx="10214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tx1"/>
                  </a:solidFill>
                </a:rPr>
                <a:t>First iteration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3213359" y="5381851"/>
            <a:ext cx="2717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Accesses are not coalesced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90488" y="3571923"/>
            <a:ext cx="8901112" cy="1463040"/>
            <a:chOff x="90488" y="4186643"/>
            <a:chExt cx="8901112" cy="1463040"/>
          </a:xfrm>
        </p:grpSpPr>
        <p:cxnSp>
          <p:nvCxnSpPr>
            <p:cNvPr id="121" name="Straight Connector 120"/>
            <p:cNvCxnSpPr/>
            <p:nvPr/>
          </p:nvCxnSpPr>
          <p:spPr>
            <a:xfrm>
              <a:off x="2322404" y="4186643"/>
              <a:ext cx="0" cy="1463040"/>
            </a:xfrm>
            <a:prstGeom prst="line">
              <a:avLst/>
            </a:prstGeom>
            <a:ln w="28575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>
              <a:off x="3194920" y="4186643"/>
              <a:ext cx="0" cy="1463040"/>
            </a:xfrm>
            <a:prstGeom prst="line">
              <a:avLst/>
            </a:prstGeom>
            <a:ln w="28575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>
              <a:off x="4067436" y="4186643"/>
              <a:ext cx="0" cy="1463040"/>
            </a:xfrm>
            <a:prstGeom prst="line">
              <a:avLst/>
            </a:prstGeom>
            <a:ln w="28575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>
              <a:off x="4939952" y="4186643"/>
              <a:ext cx="0" cy="1463040"/>
            </a:xfrm>
            <a:prstGeom prst="line">
              <a:avLst/>
            </a:prstGeom>
            <a:ln w="28575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/>
          </p:nvCxnSpPr>
          <p:spPr>
            <a:xfrm>
              <a:off x="5812468" y="4186643"/>
              <a:ext cx="0" cy="1463040"/>
            </a:xfrm>
            <a:prstGeom prst="line">
              <a:avLst/>
            </a:prstGeom>
            <a:ln w="28575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/>
          </p:nvCxnSpPr>
          <p:spPr>
            <a:xfrm>
              <a:off x="6684984" y="4186643"/>
              <a:ext cx="0" cy="1463040"/>
            </a:xfrm>
            <a:prstGeom prst="line">
              <a:avLst/>
            </a:prstGeom>
            <a:ln w="28575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>
              <a:off x="7557500" y="4186643"/>
              <a:ext cx="0" cy="1463040"/>
            </a:xfrm>
            <a:prstGeom prst="line">
              <a:avLst/>
            </a:prstGeom>
            <a:ln w="28575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52" name="Freeform 151"/>
            <p:cNvSpPr/>
            <p:nvPr/>
          </p:nvSpPr>
          <p:spPr>
            <a:xfrm>
              <a:off x="1843029" y="4860070"/>
              <a:ext cx="95746" cy="7182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3" name="Freeform 152"/>
            <p:cNvSpPr/>
            <p:nvPr/>
          </p:nvSpPr>
          <p:spPr>
            <a:xfrm>
              <a:off x="2716431" y="4860070"/>
              <a:ext cx="95746" cy="7182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4" name="Freeform 153"/>
            <p:cNvSpPr/>
            <p:nvPr/>
          </p:nvSpPr>
          <p:spPr>
            <a:xfrm>
              <a:off x="3589833" y="4860070"/>
              <a:ext cx="95746" cy="7182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5" name="Freeform 154"/>
            <p:cNvSpPr/>
            <p:nvPr/>
          </p:nvSpPr>
          <p:spPr>
            <a:xfrm>
              <a:off x="4463235" y="4860070"/>
              <a:ext cx="95746" cy="7182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6" name="Freeform 155"/>
            <p:cNvSpPr/>
            <p:nvPr/>
          </p:nvSpPr>
          <p:spPr>
            <a:xfrm>
              <a:off x="5336637" y="4860070"/>
              <a:ext cx="95746" cy="7182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7" name="Freeform 156"/>
            <p:cNvSpPr/>
            <p:nvPr/>
          </p:nvSpPr>
          <p:spPr>
            <a:xfrm>
              <a:off x="6210039" y="4860070"/>
              <a:ext cx="95746" cy="7182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8" name="Freeform 157"/>
            <p:cNvSpPr/>
            <p:nvPr/>
          </p:nvSpPr>
          <p:spPr>
            <a:xfrm>
              <a:off x="7083441" y="4860070"/>
              <a:ext cx="95746" cy="7182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9" name="Freeform 158"/>
            <p:cNvSpPr/>
            <p:nvPr/>
          </p:nvSpPr>
          <p:spPr>
            <a:xfrm>
              <a:off x="7956843" y="4860070"/>
              <a:ext cx="95746" cy="7182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8499157" y="4315528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90488" y="5080680"/>
              <a:ext cx="11929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tx1"/>
                  </a:solidFill>
                </a:rPr>
                <a:t>Second iteration</a:t>
              </a:r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1449070" y="4493702"/>
              <a:ext cx="6981825" cy="285750"/>
              <a:chOff x="1449070" y="4493702"/>
              <a:chExt cx="6981825" cy="285750"/>
            </a:xfrm>
          </p:grpSpPr>
          <p:sp>
            <p:nvSpPr>
              <p:cNvPr id="189" name="Rectangle 188"/>
              <p:cNvSpPr/>
              <p:nvPr/>
            </p:nvSpPr>
            <p:spPr>
              <a:xfrm>
                <a:off x="1449070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190" name="Rectangle 189"/>
              <p:cNvSpPr/>
              <p:nvPr/>
            </p:nvSpPr>
            <p:spPr>
              <a:xfrm>
                <a:off x="1740204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191" name="Rectangle 190"/>
              <p:cNvSpPr/>
              <p:nvPr/>
            </p:nvSpPr>
            <p:spPr>
              <a:xfrm>
                <a:off x="2031338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192" name="Rectangle 191"/>
              <p:cNvSpPr/>
              <p:nvPr/>
            </p:nvSpPr>
            <p:spPr>
              <a:xfrm>
                <a:off x="2322472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193" name="Rectangle 192"/>
              <p:cNvSpPr/>
              <p:nvPr/>
            </p:nvSpPr>
            <p:spPr>
              <a:xfrm>
                <a:off x="2613606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194" name="Rectangle 193"/>
              <p:cNvSpPr/>
              <p:nvPr/>
            </p:nvSpPr>
            <p:spPr>
              <a:xfrm>
                <a:off x="2904740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195" name="Rectangle 194"/>
              <p:cNvSpPr/>
              <p:nvPr/>
            </p:nvSpPr>
            <p:spPr>
              <a:xfrm>
                <a:off x="3195874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196" name="Rectangle 195"/>
              <p:cNvSpPr/>
              <p:nvPr/>
            </p:nvSpPr>
            <p:spPr>
              <a:xfrm>
                <a:off x="3487008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197" name="Rectangle 196"/>
              <p:cNvSpPr/>
              <p:nvPr/>
            </p:nvSpPr>
            <p:spPr>
              <a:xfrm>
                <a:off x="3778142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198" name="Rectangle 197"/>
              <p:cNvSpPr/>
              <p:nvPr/>
            </p:nvSpPr>
            <p:spPr>
              <a:xfrm>
                <a:off x="4069276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199" name="Rectangle 198"/>
              <p:cNvSpPr/>
              <p:nvPr/>
            </p:nvSpPr>
            <p:spPr>
              <a:xfrm>
                <a:off x="4360410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200" name="Rectangle 199"/>
              <p:cNvSpPr/>
              <p:nvPr/>
            </p:nvSpPr>
            <p:spPr>
              <a:xfrm>
                <a:off x="4651544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201" name="Rectangle 200"/>
              <p:cNvSpPr/>
              <p:nvPr/>
            </p:nvSpPr>
            <p:spPr>
              <a:xfrm>
                <a:off x="4942678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202" name="Rectangle 201"/>
              <p:cNvSpPr/>
              <p:nvPr/>
            </p:nvSpPr>
            <p:spPr>
              <a:xfrm>
                <a:off x="5233812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203" name="Rectangle 202"/>
              <p:cNvSpPr/>
              <p:nvPr/>
            </p:nvSpPr>
            <p:spPr>
              <a:xfrm>
                <a:off x="7562884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204" name="Rectangle 203"/>
              <p:cNvSpPr/>
              <p:nvPr/>
            </p:nvSpPr>
            <p:spPr>
              <a:xfrm>
                <a:off x="6398348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205" name="Rectangle 204"/>
              <p:cNvSpPr/>
              <p:nvPr/>
            </p:nvSpPr>
            <p:spPr>
              <a:xfrm>
                <a:off x="6107214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206" name="Rectangle 205"/>
              <p:cNvSpPr/>
              <p:nvPr/>
            </p:nvSpPr>
            <p:spPr>
              <a:xfrm>
                <a:off x="5816080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207" name="Rectangle 206"/>
              <p:cNvSpPr/>
              <p:nvPr/>
            </p:nvSpPr>
            <p:spPr>
              <a:xfrm>
                <a:off x="5524946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208" name="Rectangle 207"/>
              <p:cNvSpPr/>
              <p:nvPr/>
            </p:nvSpPr>
            <p:spPr>
              <a:xfrm>
                <a:off x="7271750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209" name="Rectangle 208"/>
              <p:cNvSpPr/>
              <p:nvPr/>
            </p:nvSpPr>
            <p:spPr>
              <a:xfrm>
                <a:off x="6980616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210" name="Rectangle 209"/>
              <p:cNvSpPr/>
              <p:nvPr/>
            </p:nvSpPr>
            <p:spPr>
              <a:xfrm>
                <a:off x="6689482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211" name="Rectangle 210"/>
              <p:cNvSpPr/>
              <p:nvPr/>
            </p:nvSpPr>
            <p:spPr>
              <a:xfrm>
                <a:off x="7854018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212" name="Rectangle 211"/>
              <p:cNvSpPr/>
              <p:nvPr/>
            </p:nvSpPr>
            <p:spPr>
              <a:xfrm>
                <a:off x="8145145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70423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Coarsening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How to assign multiple inputs to each thread?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00109" y="5381851"/>
            <a:ext cx="234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Accesses are coalesced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62010" y="1963444"/>
            <a:ext cx="8729590" cy="1262762"/>
            <a:chOff x="262010" y="2578164"/>
            <a:chExt cx="8729590" cy="1262762"/>
          </a:xfrm>
        </p:grpSpPr>
        <p:sp>
          <p:nvSpPr>
            <p:cNvPr id="243" name="TextBox 242"/>
            <p:cNvSpPr txBox="1"/>
            <p:nvPr/>
          </p:nvSpPr>
          <p:spPr>
            <a:xfrm>
              <a:off x="8499157" y="2578164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269" name="TextBox 268"/>
            <p:cNvSpPr txBox="1"/>
            <p:nvPr/>
          </p:nvSpPr>
          <p:spPr>
            <a:xfrm>
              <a:off x="262010" y="3343316"/>
              <a:ext cx="10214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tx1"/>
                  </a:solidFill>
                </a:rPr>
                <a:t>First iteration</a:t>
              </a:r>
            </a:p>
          </p:txBody>
        </p:sp>
        <p:sp>
          <p:nvSpPr>
            <p:cNvPr id="271" name="Freeform 270"/>
            <p:cNvSpPr/>
            <p:nvPr/>
          </p:nvSpPr>
          <p:spPr>
            <a:xfrm>
              <a:off x="1539948" y="3122706"/>
              <a:ext cx="95746" cy="7182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72" name="Freeform 271"/>
            <p:cNvSpPr/>
            <p:nvPr/>
          </p:nvSpPr>
          <p:spPr>
            <a:xfrm>
              <a:off x="1831082" y="3122706"/>
              <a:ext cx="95746" cy="7182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73" name="Freeform 272"/>
            <p:cNvSpPr/>
            <p:nvPr/>
          </p:nvSpPr>
          <p:spPr>
            <a:xfrm>
              <a:off x="2122216" y="3122706"/>
              <a:ext cx="95746" cy="7182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74" name="Freeform 273"/>
            <p:cNvSpPr/>
            <p:nvPr/>
          </p:nvSpPr>
          <p:spPr>
            <a:xfrm>
              <a:off x="2413350" y="3122706"/>
              <a:ext cx="95746" cy="7182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75" name="Freeform 274"/>
            <p:cNvSpPr/>
            <p:nvPr/>
          </p:nvSpPr>
          <p:spPr>
            <a:xfrm>
              <a:off x="2704484" y="3122706"/>
              <a:ext cx="95746" cy="7182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76" name="Freeform 275"/>
            <p:cNvSpPr/>
            <p:nvPr/>
          </p:nvSpPr>
          <p:spPr>
            <a:xfrm>
              <a:off x="2995618" y="3122706"/>
              <a:ext cx="95746" cy="7182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77" name="Freeform 276"/>
            <p:cNvSpPr/>
            <p:nvPr/>
          </p:nvSpPr>
          <p:spPr>
            <a:xfrm>
              <a:off x="3286752" y="3122706"/>
              <a:ext cx="95746" cy="7182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78" name="Freeform 277"/>
            <p:cNvSpPr/>
            <p:nvPr/>
          </p:nvSpPr>
          <p:spPr>
            <a:xfrm>
              <a:off x="3577886" y="3122706"/>
              <a:ext cx="95746" cy="7182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grpSp>
          <p:nvGrpSpPr>
            <p:cNvPr id="287" name="Group 286"/>
            <p:cNvGrpSpPr/>
            <p:nvPr/>
          </p:nvGrpSpPr>
          <p:grpSpPr>
            <a:xfrm>
              <a:off x="1449070" y="2754083"/>
              <a:ext cx="6981825" cy="285750"/>
              <a:chOff x="1449070" y="2754083"/>
              <a:chExt cx="6981825" cy="285750"/>
            </a:xfrm>
          </p:grpSpPr>
          <p:sp>
            <p:nvSpPr>
              <p:cNvPr id="288" name="Rectangle 287"/>
              <p:cNvSpPr/>
              <p:nvPr/>
            </p:nvSpPr>
            <p:spPr>
              <a:xfrm>
                <a:off x="1449070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289" name="Rectangle 288"/>
              <p:cNvSpPr/>
              <p:nvPr/>
            </p:nvSpPr>
            <p:spPr>
              <a:xfrm>
                <a:off x="1740204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290" name="Rectangle 289"/>
              <p:cNvSpPr/>
              <p:nvPr/>
            </p:nvSpPr>
            <p:spPr>
              <a:xfrm>
                <a:off x="2031338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291" name="Rectangle 290"/>
              <p:cNvSpPr/>
              <p:nvPr/>
            </p:nvSpPr>
            <p:spPr>
              <a:xfrm>
                <a:off x="2322472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292" name="Rectangle 291"/>
              <p:cNvSpPr/>
              <p:nvPr/>
            </p:nvSpPr>
            <p:spPr>
              <a:xfrm>
                <a:off x="2613606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293" name="Rectangle 292"/>
              <p:cNvSpPr/>
              <p:nvPr/>
            </p:nvSpPr>
            <p:spPr>
              <a:xfrm>
                <a:off x="2904740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294" name="Rectangle 293"/>
              <p:cNvSpPr/>
              <p:nvPr/>
            </p:nvSpPr>
            <p:spPr>
              <a:xfrm>
                <a:off x="3195874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295" name="Rectangle 294"/>
              <p:cNvSpPr/>
              <p:nvPr/>
            </p:nvSpPr>
            <p:spPr>
              <a:xfrm>
                <a:off x="3487008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296" name="Rectangle 295"/>
              <p:cNvSpPr/>
              <p:nvPr/>
            </p:nvSpPr>
            <p:spPr>
              <a:xfrm>
                <a:off x="3778142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297" name="Rectangle 296"/>
              <p:cNvSpPr/>
              <p:nvPr/>
            </p:nvSpPr>
            <p:spPr>
              <a:xfrm>
                <a:off x="4069276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298" name="Rectangle 297"/>
              <p:cNvSpPr/>
              <p:nvPr/>
            </p:nvSpPr>
            <p:spPr>
              <a:xfrm>
                <a:off x="4360410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299" name="Rectangle 298"/>
              <p:cNvSpPr/>
              <p:nvPr/>
            </p:nvSpPr>
            <p:spPr>
              <a:xfrm>
                <a:off x="4651544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00" name="Rectangle 299"/>
              <p:cNvSpPr/>
              <p:nvPr/>
            </p:nvSpPr>
            <p:spPr>
              <a:xfrm>
                <a:off x="4942678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01" name="Rectangle 300"/>
              <p:cNvSpPr/>
              <p:nvPr/>
            </p:nvSpPr>
            <p:spPr>
              <a:xfrm>
                <a:off x="5233812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02" name="Rectangle 301"/>
              <p:cNvSpPr/>
              <p:nvPr/>
            </p:nvSpPr>
            <p:spPr>
              <a:xfrm>
                <a:off x="7562884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03" name="Rectangle 302"/>
              <p:cNvSpPr/>
              <p:nvPr/>
            </p:nvSpPr>
            <p:spPr>
              <a:xfrm>
                <a:off x="6398348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04" name="Rectangle 303"/>
              <p:cNvSpPr/>
              <p:nvPr/>
            </p:nvSpPr>
            <p:spPr>
              <a:xfrm>
                <a:off x="6107214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05" name="Rectangle 304"/>
              <p:cNvSpPr/>
              <p:nvPr/>
            </p:nvSpPr>
            <p:spPr>
              <a:xfrm>
                <a:off x="5816080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06" name="Rectangle 305"/>
              <p:cNvSpPr/>
              <p:nvPr/>
            </p:nvSpPr>
            <p:spPr>
              <a:xfrm>
                <a:off x="5524946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07" name="Rectangle 306"/>
              <p:cNvSpPr/>
              <p:nvPr/>
            </p:nvSpPr>
            <p:spPr>
              <a:xfrm>
                <a:off x="7271750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08" name="Rectangle 307"/>
              <p:cNvSpPr/>
              <p:nvPr/>
            </p:nvSpPr>
            <p:spPr>
              <a:xfrm>
                <a:off x="6980616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09" name="Rectangle 308"/>
              <p:cNvSpPr/>
              <p:nvPr/>
            </p:nvSpPr>
            <p:spPr>
              <a:xfrm>
                <a:off x="6689482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10" name="Rectangle 309"/>
              <p:cNvSpPr/>
              <p:nvPr/>
            </p:nvSpPr>
            <p:spPr>
              <a:xfrm>
                <a:off x="7854018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11" name="Rectangle 310"/>
              <p:cNvSpPr/>
              <p:nvPr/>
            </p:nvSpPr>
            <p:spPr>
              <a:xfrm>
                <a:off x="8145145" y="2754083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</p:grpSp>
      </p:grpSp>
      <p:grpSp>
        <p:nvGrpSpPr>
          <p:cNvPr id="6" name="Group 5"/>
          <p:cNvGrpSpPr/>
          <p:nvPr/>
        </p:nvGrpSpPr>
        <p:grpSpPr>
          <a:xfrm>
            <a:off x="90488" y="3700804"/>
            <a:ext cx="8901112" cy="1257955"/>
            <a:chOff x="90488" y="4315524"/>
            <a:chExt cx="8901112" cy="1257955"/>
          </a:xfrm>
        </p:grpSpPr>
        <p:sp>
          <p:nvSpPr>
            <p:cNvPr id="268" name="TextBox 267"/>
            <p:cNvSpPr txBox="1"/>
            <p:nvPr/>
          </p:nvSpPr>
          <p:spPr>
            <a:xfrm>
              <a:off x="8499157" y="4315524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270" name="TextBox 269"/>
            <p:cNvSpPr txBox="1"/>
            <p:nvPr/>
          </p:nvSpPr>
          <p:spPr>
            <a:xfrm>
              <a:off x="90488" y="5080676"/>
              <a:ext cx="11929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tx1"/>
                  </a:solidFill>
                </a:rPr>
                <a:t>Second iteration</a:t>
              </a:r>
            </a:p>
          </p:txBody>
        </p:sp>
        <p:sp>
          <p:nvSpPr>
            <p:cNvPr id="279" name="Freeform 278"/>
            <p:cNvSpPr/>
            <p:nvPr/>
          </p:nvSpPr>
          <p:spPr>
            <a:xfrm>
              <a:off x="3880884" y="4855259"/>
              <a:ext cx="95746" cy="7182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80" name="Freeform 279"/>
            <p:cNvSpPr/>
            <p:nvPr/>
          </p:nvSpPr>
          <p:spPr>
            <a:xfrm>
              <a:off x="4172018" y="4855259"/>
              <a:ext cx="95746" cy="7182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81" name="Freeform 280"/>
            <p:cNvSpPr/>
            <p:nvPr/>
          </p:nvSpPr>
          <p:spPr>
            <a:xfrm>
              <a:off x="4463152" y="4855259"/>
              <a:ext cx="95746" cy="7182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82" name="Freeform 281"/>
            <p:cNvSpPr/>
            <p:nvPr/>
          </p:nvSpPr>
          <p:spPr>
            <a:xfrm>
              <a:off x="4754286" y="4855259"/>
              <a:ext cx="95746" cy="7182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83" name="Freeform 282"/>
            <p:cNvSpPr/>
            <p:nvPr/>
          </p:nvSpPr>
          <p:spPr>
            <a:xfrm>
              <a:off x="5045420" y="4855259"/>
              <a:ext cx="95746" cy="7182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84" name="Freeform 283"/>
            <p:cNvSpPr/>
            <p:nvPr/>
          </p:nvSpPr>
          <p:spPr>
            <a:xfrm>
              <a:off x="5336554" y="4855259"/>
              <a:ext cx="95746" cy="7182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85" name="Freeform 284"/>
            <p:cNvSpPr/>
            <p:nvPr/>
          </p:nvSpPr>
          <p:spPr>
            <a:xfrm>
              <a:off x="5627688" y="4855259"/>
              <a:ext cx="95746" cy="7182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86" name="Freeform 285"/>
            <p:cNvSpPr/>
            <p:nvPr/>
          </p:nvSpPr>
          <p:spPr>
            <a:xfrm>
              <a:off x="5918822" y="4855259"/>
              <a:ext cx="95746" cy="7182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grpSp>
          <p:nvGrpSpPr>
            <p:cNvPr id="312" name="Group 311"/>
            <p:cNvGrpSpPr/>
            <p:nvPr/>
          </p:nvGrpSpPr>
          <p:grpSpPr>
            <a:xfrm>
              <a:off x="1449070" y="4493702"/>
              <a:ext cx="6981825" cy="285750"/>
              <a:chOff x="1449070" y="4493702"/>
              <a:chExt cx="6981825" cy="285750"/>
            </a:xfrm>
          </p:grpSpPr>
          <p:sp>
            <p:nvSpPr>
              <p:cNvPr id="313" name="Rectangle 312"/>
              <p:cNvSpPr/>
              <p:nvPr/>
            </p:nvSpPr>
            <p:spPr>
              <a:xfrm>
                <a:off x="1449070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14" name="Rectangle 313"/>
              <p:cNvSpPr/>
              <p:nvPr/>
            </p:nvSpPr>
            <p:spPr>
              <a:xfrm>
                <a:off x="1740204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15" name="Rectangle 314"/>
              <p:cNvSpPr/>
              <p:nvPr/>
            </p:nvSpPr>
            <p:spPr>
              <a:xfrm>
                <a:off x="2031338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16" name="Rectangle 315"/>
              <p:cNvSpPr/>
              <p:nvPr/>
            </p:nvSpPr>
            <p:spPr>
              <a:xfrm>
                <a:off x="2322472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17" name="Rectangle 316"/>
              <p:cNvSpPr/>
              <p:nvPr/>
            </p:nvSpPr>
            <p:spPr>
              <a:xfrm>
                <a:off x="2613606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18" name="Rectangle 317"/>
              <p:cNvSpPr/>
              <p:nvPr/>
            </p:nvSpPr>
            <p:spPr>
              <a:xfrm>
                <a:off x="2904740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19" name="Rectangle 318"/>
              <p:cNvSpPr/>
              <p:nvPr/>
            </p:nvSpPr>
            <p:spPr>
              <a:xfrm>
                <a:off x="3195874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20" name="Rectangle 319"/>
              <p:cNvSpPr/>
              <p:nvPr/>
            </p:nvSpPr>
            <p:spPr>
              <a:xfrm>
                <a:off x="3487008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21" name="Rectangle 320"/>
              <p:cNvSpPr/>
              <p:nvPr/>
            </p:nvSpPr>
            <p:spPr>
              <a:xfrm>
                <a:off x="3778142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22" name="Rectangle 321"/>
              <p:cNvSpPr/>
              <p:nvPr/>
            </p:nvSpPr>
            <p:spPr>
              <a:xfrm>
                <a:off x="4069276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23" name="Rectangle 322"/>
              <p:cNvSpPr/>
              <p:nvPr/>
            </p:nvSpPr>
            <p:spPr>
              <a:xfrm>
                <a:off x="4360410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24" name="Rectangle 323"/>
              <p:cNvSpPr/>
              <p:nvPr/>
            </p:nvSpPr>
            <p:spPr>
              <a:xfrm>
                <a:off x="4651544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25" name="Rectangle 324"/>
              <p:cNvSpPr/>
              <p:nvPr/>
            </p:nvSpPr>
            <p:spPr>
              <a:xfrm>
                <a:off x="4942678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26" name="Rectangle 325"/>
              <p:cNvSpPr/>
              <p:nvPr/>
            </p:nvSpPr>
            <p:spPr>
              <a:xfrm>
                <a:off x="5233812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27" name="Rectangle 326"/>
              <p:cNvSpPr/>
              <p:nvPr/>
            </p:nvSpPr>
            <p:spPr>
              <a:xfrm>
                <a:off x="7562884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28" name="Rectangle 327"/>
              <p:cNvSpPr/>
              <p:nvPr/>
            </p:nvSpPr>
            <p:spPr>
              <a:xfrm>
                <a:off x="6398348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29" name="Rectangle 328"/>
              <p:cNvSpPr/>
              <p:nvPr/>
            </p:nvSpPr>
            <p:spPr>
              <a:xfrm>
                <a:off x="6107214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30" name="Rectangle 329"/>
              <p:cNvSpPr/>
              <p:nvPr/>
            </p:nvSpPr>
            <p:spPr>
              <a:xfrm>
                <a:off x="5816080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31" name="Rectangle 330"/>
              <p:cNvSpPr/>
              <p:nvPr/>
            </p:nvSpPr>
            <p:spPr>
              <a:xfrm>
                <a:off x="5524946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32" name="Rectangle 331"/>
              <p:cNvSpPr/>
              <p:nvPr/>
            </p:nvSpPr>
            <p:spPr>
              <a:xfrm>
                <a:off x="7271750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33" name="Rectangle 332"/>
              <p:cNvSpPr/>
              <p:nvPr/>
            </p:nvSpPr>
            <p:spPr>
              <a:xfrm>
                <a:off x="6980616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34" name="Rectangle 333"/>
              <p:cNvSpPr/>
              <p:nvPr/>
            </p:nvSpPr>
            <p:spPr>
              <a:xfrm>
                <a:off x="6689482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35" name="Rectangle 334"/>
              <p:cNvSpPr/>
              <p:nvPr/>
            </p:nvSpPr>
            <p:spPr>
              <a:xfrm>
                <a:off x="7854018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  <p:sp>
            <p:nvSpPr>
              <p:cNvPr id="336" name="Rectangle 335"/>
              <p:cNvSpPr/>
              <p:nvPr/>
            </p:nvSpPr>
            <p:spPr>
              <a:xfrm>
                <a:off x="8145145" y="4493702"/>
                <a:ext cx="285750" cy="285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35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10012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Wen-</a:t>
            </a:r>
            <a:r>
              <a:rPr lang="en-US" dirty="0" err="1"/>
              <a:t>mei</a:t>
            </a:r>
            <a:r>
              <a:rPr lang="en-US" dirty="0"/>
              <a:t> W. </a:t>
            </a:r>
            <a:r>
              <a:rPr lang="en-US" dirty="0" err="1"/>
              <a:t>Hwu</a:t>
            </a:r>
            <a:r>
              <a:rPr lang="en-US" dirty="0"/>
              <a:t>, David B. Kirk, and Izzat El Hajj. </a:t>
            </a:r>
            <a:r>
              <a:rPr lang="en-US" i="1" dirty="0"/>
              <a:t>Programming Massively Parallel Processors: A Hands-on Approach</a:t>
            </a:r>
            <a:r>
              <a:rPr lang="en-US" dirty="0"/>
              <a:t>. Morgan Kaufmann, 2022.</a:t>
            </a:r>
          </a:p>
        </p:txBody>
      </p:sp>
    </p:spTree>
    <p:extLst>
      <p:ext uri="{BB962C8B-B14F-4D97-AF65-F5344CB8AC3E}">
        <p14:creationId xmlns:p14="http://schemas.microsoft.com/office/powerpoint/2010/main" val="3178623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414</TotalTime>
  <Words>1525</Words>
  <Application>Microsoft Office PowerPoint</Application>
  <PresentationFormat>On-screen Show (4:3)</PresentationFormat>
  <Paragraphs>275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Arial Narrow</vt:lpstr>
      <vt:lpstr>Calibri</vt:lpstr>
      <vt:lpstr>Calibri Light</vt:lpstr>
      <vt:lpstr>Courier New</vt:lpstr>
      <vt:lpstr>Lucida Console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Tejasvi Waghmare (IL-IN)</dc:creator>
  <cp:lastModifiedBy>Izzat El Hajj</cp:lastModifiedBy>
  <cp:revision>86</cp:revision>
  <dcterms:created xsi:type="dcterms:W3CDTF">2022-03-30T06:33:52Z</dcterms:created>
  <dcterms:modified xsi:type="dcterms:W3CDTF">2022-09-28T09:54:25Z</dcterms:modified>
</cp:coreProperties>
</file>