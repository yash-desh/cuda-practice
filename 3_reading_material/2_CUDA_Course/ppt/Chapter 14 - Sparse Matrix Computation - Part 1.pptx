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8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30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04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712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17-10-2022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Sparse Matrix Computation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B6FB59-CD06-4626-B8D4-7AEC447383B8}"/>
              </a:ext>
            </a:extLst>
          </p:cNvPr>
          <p:cNvSpPr txBox="1">
            <a:spLocks/>
          </p:cNvSpPr>
          <p:nvPr/>
        </p:nvSpPr>
        <p:spPr>
          <a:xfrm>
            <a:off x="1291201" y="3204012"/>
            <a:ext cx="1496244" cy="606145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/>
              <a:t>(part 1)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Sparse Matrices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Opportunities:</a:t>
            </a:r>
          </a:p>
          <a:p>
            <a:pPr lvl="1"/>
            <a:r>
              <a:rPr lang="en-US" sz="2000" dirty="0"/>
              <a:t>Do not need to allocate space for zeros (save memory capacity)</a:t>
            </a:r>
          </a:p>
          <a:p>
            <a:pPr lvl="1"/>
            <a:r>
              <a:rPr lang="en-US" sz="2000" dirty="0"/>
              <a:t>Do not need to load zeros (save memory bandwidth)</a:t>
            </a:r>
          </a:p>
          <a:p>
            <a:pPr lvl="1"/>
            <a:r>
              <a:rPr lang="en-US" sz="2000" dirty="0"/>
              <a:t>Do not need to compute with zeros (save computation time)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48952"/>
              </p:ext>
            </p:extLst>
          </p:nvPr>
        </p:nvGraphicFramePr>
        <p:xfrm>
          <a:off x="1065276" y="1752161"/>
          <a:ext cx="2441448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813975"/>
              </p:ext>
            </p:extLst>
          </p:nvPr>
        </p:nvGraphicFramePr>
        <p:xfrm>
          <a:off x="5675376" y="1752161"/>
          <a:ext cx="2441448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30306" y="702025"/>
            <a:ext cx="37113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 </a:t>
            </a:r>
            <a:r>
              <a:rPr lang="en-US" sz="2000" b="1" dirty="0">
                <a:solidFill>
                  <a:schemeClr val="accent5"/>
                </a:solidFill>
              </a:rPr>
              <a:t>dense matrix</a:t>
            </a:r>
            <a:r>
              <a:rPr lang="en-US" sz="2000" dirty="0"/>
              <a:t> is one where the majority of elements are not 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276850" y="702025"/>
            <a:ext cx="32385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 </a:t>
            </a:r>
            <a:r>
              <a:rPr lang="en-US" sz="2000" b="1" dirty="0">
                <a:solidFill>
                  <a:schemeClr val="accent5"/>
                </a:solidFill>
              </a:rPr>
              <a:t>sparse matrix</a:t>
            </a:r>
            <a:r>
              <a:rPr lang="en-US" sz="2000" dirty="0"/>
              <a:t> is one where many elements are zero</a:t>
            </a:r>
          </a:p>
          <a:p>
            <a:pPr algn="ctr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(many real world systems are sparse)</a:t>
            </a:r>
          </a:p>
        </p:txBody>
      </p:sp>
    </p:spTree>
    <p:extLst>
      <p:ext uri="{BB962C8B-B14F-4D97-AF65-F5344CB8AC3E}">
        <p14:creationId xmlns:p14="http://schemas.microsoft.com/office/powerpoint/2010/main" val="52835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Sparse Matrix Storage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Many storage formats for sparse matrices:</a:t>
            </a:r>
          </a:p>
          <a:p>
            <a:pPr lvl="1"/>
            <a:r>
              <a:rPr lang="en-US" dirty="0"/>
              <a:t>Coordinate Format (COO)</a:t>
            </a:r>
          </a:p>
          <a:p>
            <a:pPr lvl="1"/>
            <a:r>
              <a:rPr lang="en-US" dirty="0"/>
              <a:t>Compressed Sparse Row (CSR)</a:t>
            </a:r>
          </a:p>
          <a:p>
            <a:pPr lvl="1"/>
            <a:r>
              <a:rPr lang="en-US" dirty="0"/>
              <a:t>ELLPACK Format (ELL)</a:t>
            </a:r>
          </a:p>
          <a:p>
            <a:pPr lvl="1"/>
            <a:r>
              <a:rPr lang="en-US" dirty="0"/>
              <a:t>Jagged Diagonal Storage (JDS)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Format design considerations:</a:t>
            </a:r>
          </a:p>
          <a:p>
            <a:pPr lvl="1"/>
            <a:r>
              <a:rPr lang="en-US" dirty="0"/>
              <a:t>Space efficiency (memory consumed)</a:t>
            </a:r>
          </a:p>
          <a:p>
            <a:pPr lvl="1"/>
            <a:r>
              <a:rPr lang="en-US" dirty="0"/>
              <a:t>Flexibility (ease of adding/reordering elements)</a:t>
            </a:r>
          </a:p>
          <a:p>
            <a:pPr lvl="1"/>
            <a:r>
              <a:rPr lang="en-US" dirty="0"/>
              <a:t>Accessibility (ease of finding desired data)</a:t>
            </a:r>
          </a:p>
          <a:p>
            <a:pPr lvl="1"/>
            <a:r>
              <a:rPr lang="en-US" dirty="0"/>
              <a:t>Memory access pattern (enabling coalescing)</a:t>
            </a:r>
          </a:p>
          <a:p>
            <a:pPr lvl="1"/>
            <a:r>
              <a:rPr lang="en-US" dirty="0"/>
              <a:t>Load balance (minimizing control divergence)</a:t>
            </a:r>
          </a:p>
        </p:txBody>
      </p:sp>
    </p:spTree>
    <p:extLst>
      <p:ext uri="{BB962C8B-B14F-4D97-AF65-F5344CB8AC3E}">
        <p14:creationId xmlns:p14="http://schemas.microsoft.com/office/powerpoint/2010/main" val="278777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Choice of best format depends on computation</a:t>
            </a:r>
          </a:p>
          <a:p>
            <a:endParaRPr lang="en-US" dirty="0"/>
          </a:p>
          <a:p>
            <a:r>
              <a:rPr lang="en-US" dirty="0"/>
              <a:t>We will use </a:t>
            </a:r>
            <a:r>
              <a:rPr lang="en-US" b="1" dirty="0">
                <a:solidFill>
                  <a:schemeClr val="accent5"/>
                </a:solidFill>
              </a:rPr>
              <a:t>Sparse Matrix-Vector multiplication</a:t>
            </a:r>
            <a:r>
              <a:rPr lang="en-US" dirty="0"/>
              <a:t> (</a:t>
            </a:r>
            <a:r>
              <a:rPr lang="en-US" dirty="0" err="1"/>
              <a:t>SpMV</a:t>
            </a:r>
            <a:r>
              <a:rPr lang="en-US" dirty="0"/>
              <a:t>) as an example to study different formats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213213"/>
              </p:ext>
            </p:extLst>
          </p:nvPr>
        </p:nvGraphicFramePr>
        <p:xfrm>
          <a:off x="2056192" y="2535928"/>
          <a:ext cx="2441448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1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292130"/>
              </p:ext>
            </p:extLst>
          </p:nvPr>
        </p:nvGraphicFramePr>
        <p:xfrm>
          <a:off x="5149842" y="2535928"/>
          <a:ext cx="305181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181">
                  <a:extLst>
                    <a:ext uri="{9D8B030D-6E8A-4147-A177-3AD203B41FA5}">
                      <a16:colId xmlns:a16="http://schemas.microsoft.com/office/drawing/2014/main" val="106814386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592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56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0193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61904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72395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8422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4427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41600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204026"/>
              </p:ext>
            </p:extLst>
          </p:nvPr>
        </p:nvGraphicFramePr>
        <p:xfrm>
          <a:off x="6107224" y="2535928"/>
          <a:ext cx="305181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181">
                  <a:extLst>
                    <a:ext uri="{9D8B030D-6E8A-4147-A177-3AD203B41FA5}">
                      <a16:colId xmlns:a16="http://schemas.microsoft.com/office/drawing/2014/main" val="106814386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592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56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0193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61904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72395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8422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4427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416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28817" y="3462741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6200" y="3462741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39844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Coordinate Format (COO)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717619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889404"/>
              </p:ext>
            </p:extLst>
          </p:nvPr>
        </p:nvGraphicFramePr>
        <p:xfrm>
          <a:off x="1439476" y="3817474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120106"/>
              </p:ext>
            </p:extLst>
          </p:nvPr>
        </p:nvGraphicFramePr>
        <p:xfrm>
          <a:off x="1439476" y="4539773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415340"/>
              </p:ext>
            </p:extLst>
          </p:nvPr>
        </p:nvGraphicFramePr>
        <p:xfrm>
          <a:off x="1439476" y="5262072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469" y="3860961"/>
            <a:ext cx="8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86" y="4606343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787" y="5305559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2939" y="1864955"/>
            <a:ext cx="3346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Store every nonzero along with its row index and column index</a:t>
            </a:r>
          </a:p>
        </p:txBody>
      </p:sp>
    </p:spTree>
    <p:extLst>
      <p:ext uri="{BB962C8B-B14F-4D97-AF65-F5344CB8AC3E}">
        <p14:creationId xmlns:p14="http://schemas.microsoft.com/office/powerpoint/2010/main" val="105904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/COO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143295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540250"/>
              </p:ext>
            </p:extLst>
          </p:nvPr>
        </p:nvGraphicFramePr>
        <p:xfrm>
          <a:off x="4185808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741762"/>
              </p:ext>
            </p:extLst>
          </p:nvPr>
        </p:nvGraphicFramePr>
        <p:xfrm>
          <a:off x="5286220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352276"/>
              </p:ext>
            </p:extLst>
          </p:nvPr>
        </p:nvGraphicFramePr>
        <p:xfrm>
          <a:off x="1439476" y="3817474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372316"/>
              </p:ext>
            </p:extLst>
          </p:nvPr>
        </p:nvGraphicFramePr>
        <p:xfrm>
          <a:off x="1439476" y="4539773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35204"/>
              </p:ext>
            </p:extLst>
          </p:nvPr>
        </p:nvGraphicFramePr>
        <p:xfrm>
          <a:off x="1439476" y="5262072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rgbClr val="DCB8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rgbClr val="D7A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0469" y="3860961"/>
            <a:ext cx="8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86" y="4606343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787" y="5305559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1708029" y="5896999"/>
            <a:ext cx="3875371" cy="457200"/>
            <a:chOff x="1708029" y="6281199"/>
            <a:chExt cx="3875371" cy="457200"/>
          </a:xfrm>
        </p:grpSpPr>
        <p:sp>
          <p:nvSpPr>
            <p:cNvPr id="11" name="Freeform 10"/>
            <p:cNvSpPr/>
            <p:nvPr/>
          </p:nvSpPr>
          <p:spPr>
            <a:xfrm>
              <a:off x="1708029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225512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2802215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3349308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3896401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4443494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4990587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" name="Freeform 34"/>
            <p:cNvSpPr/>
            <p:nvPr/>
          </p:nvSpPr>
          <p:spPr>
            <a:xfrm>
              <a:off x="5537680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517216" y="1204349"/>
            <a:ext cx="1683502" cy="2101675"/>
            <a:chOff x="1708029" y="6281199"/>
            <a:chExt cx="1683502" cy="2101675"/>
          </a:xfrm>
        </p:grpSpPr>
        <p:sp>
          <p:nvSpPr>
            <p:cNvPr id="38" name="Freeform 37"/>
            <p:cNvSpPr/>
            <p:nvPr/>
          </p:nvSpPr>
          <p:spPr>
            <a:xfrm>
              <a:off x="1708029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9" name="Freeform 38"/>
            <p:cNvSpPr/>
            <p:nvPr/>
          </p:nvSpPr>
          <p:spPr>
            <a:xfrm>
              <a:off x="225512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0" name="Freeform 39"/>
            <p:cNvSpPr/>
            <p:nvPr/>
          </p:nvSpPr>
          <p:spPr>
            <a:xfrm>
              <a:off x="1711875" y="682468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1" name="Freeform 40"/>
            <p:cNvSpPr/>
            <p:nvPr/>
          </p:nvSpPr>
          <p:spPr>
            <a:xfrm>
              <a:off x="2798718" y="682468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2" name="Freeform 41"/>
            <p:cNvSpPr/>
            <p:nvPr/>
          </p:nvSpPr>
          <p:spPr>
            <a:xfrm>
              <a:off x="3345811" y="682468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2231305" y="739545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4" name="Freeform 43"/>
            <p:cNvSpPr/>
            <p:nvPr/>
          </p:nvSpPr>
          <p:spPr>
            <a:xfrm>
              <a:off x="2778398" y="739545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3345811" y="79256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6003847" y="4480785"/>
            <a:ext cx="3042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per nonzero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83991" y="1066428"/>
            <a:ext cx="26223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Multiple threads writing to the same output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(need atomic operations)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1559126" y="1536675"/>
            <a:ext cx="408919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2086212" y="1655308"/>
            <a:ext cx="3562113" cy="62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51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/COO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8834" y="2211124"/>
            <a:ext cx="84063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spmv_coo_kernel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COOMatrix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cooMatrix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&lt;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cooMatrix.numNonzeros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row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cooMatrix.rowIdxs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col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cooMatrix.colIdxs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value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cooMatrix.values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atomicAdd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(&amp;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[row],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[col]*value);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536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COO 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Flexibility: easy to add new elements to the matrix, </a:t>
            </a:r>
            <a:r>
              <a:rPr lang="en-US" dirty="0" err="1"/>
              <a:t>nonzeros</a:t>
            </a:r>
            <a:r>
              <a:rPr lang="en-US" dirty="0"/>
              <a:t> can be stored in any order</a:t>
            </a:r>
          </a:p>
          <a:p>
            <a:pPr lvl="1"/>
            <a:r>
              <a:rPr lang="en-US" dirty="0"/>
              <a:t>Accessibility: given nonzero, easy to find row and column</a:t>
            </a:r>
          </a:p>
          <a:p>
            <a:pPr lvl="1"/>
            <a:r>
              <a:rPr lang="en-US" dirty="0" err="1"/>
              <a:t>SpMV</a:t>
            </a:r>
            <a:r>
              <a:rPr lang="en-US" dirty="0"/>
              <a:t>/COO has coalesced memory accesses</a:t>
            </a:r>
          </a:p>
          <a:p>
            <a:pPr lvl="1"/>
            <a:r>
              <a:rPr lang="en-US" dirty="0" err="1"/>
              <a:t>SpMV</a:t>
            </a:r>
            <a:r>
              <a:rPr lang="en-US" dirty="0"/>
              <a:t>/COO has no control divergence</a:t>
            </a:r>
          </a:p>
          <a:p>
            <a:endParaRPr lang="en-US" sz="1400" dirty="0"/>
          </a:p>
          <a:p>
            <a:r>
              <a:rPr lang="en-US" dirty="0"/>
              <a:t>Disadvantage:</a:t>
            </a:r>
          </a:p>
          <a:p>
            <a:pPr lvl="1"/>
            <a:r>
              <a:rPr lang="en-US" dirty="0"/>
              <a:t>Accessibility: given a row or column, hard to find all </a:t>
            </a:r>
            <a:r>
              <a:rPr lang="en-US" dirty="0" err="1"/>
              <a:t>nonzeros</a:t>
            </a:r>
            <a:r>
              <a:rPr lang="en-US" dirty="0"/>
              <a:t> (need to search)</a:t>
            </a:r>
          </a:p>
          <a:p>
            <a:pPr lvl="1"/>
            <a:r>
              <a:rPr lang="en-US" dirty="0" err="1"/>
              <a:t>SpMV</a:t>
            </a:r>
            <a:r>
              <a:rPr lang="en-US" dirty="0"/>
              <a:t>/COO uses atomic operations</a:t>
            </a:r>
          </a:p>
        </p:txBody>
      </p:sp>
    </p:spTree>
    <p:extLst>
      <p:ext uri="{BB962C8B-B14F-4D97-AF65-F5344CB8AC3E}">
        <p14:creationId xmlns:p14="http://schemas.microsoft.com/office/powerpoint/2010/main" val="359817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/>
          <p:cNvCxnSpPr/>
          <p:nvPr/>
        </p:nvCxnSpPr>
        <p:spPr>
          <a:xfrm>
            <a:off x="1439476" y="5073045"/>
            <a:ext cx="0" cy="212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536756" y="5073044"/>
            <a:ext cx="0" cy="212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182676" y="5073043"/>
            <a:ext cx="0" cy="212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281321" y="5073043"/>
            <a:ext cx="0" cy="212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824821" y="5073043"/>
            <a:ext cx="0" cy="212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Compressed Sparse Row (CSR)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614055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353897"/>
              </p:ext>
            </p:extLst>
          </p:nvPr>
        </p:nvGraphicFramePr>
        <p:xfrm>
          <a:off x="1439476" y="3815712"/>
          <a:ext cx="27432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530053"/>
              </p:ext>
            </p:extLst>
          </p:nvPr>
        </p:nvGraphicFramePr>
        <p:xfrm>
          <a:off x="1439476" y="4541506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314759"/>
              </p:ext>
            </p:extLst>
          </p:nvPr>
        </p:nvGraphicFramePr>
        <p:xfrm>
          <a:off x="1439476" y="5260950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15" y="3859199"/>
            <a:ext cx="1292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 err="1"/>
              <a:t>RowPtrs</a:t>
            </a:r>
            <a:r>
              <a:rPr lang="en-US" sz="2400" dirty="0"/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86" y="4608076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787" y="5304437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939" y="1864955"/>
            <a:ext cx="33461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Store </a:t>
            </a:r>
            <a:r>
              <a:rPr lang="en-US" sz="2400" dirty="0" err="1"/>
              <a:t>nonzeros</a:t>
            </a:r>
            <a:r>
              <a:rPr lang="en-US" sz="2400" dirty="0"/>
              <a:t> of the same row adjacently and an index to the first element of each row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720823" y="4319902"/>
            <a:ext cx="3847916" cy="212079"/>
            <a:chOff x="1720823" y="4996202"/>
            <a:chExt cx="3847916" cy="212079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1720823" y="4996202"/>
              <a:ext cx="0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2236527" y="4996202"/>
              <a:ext cx="567344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803871" y="4996202"/>
              <a:ext cx="1660152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3319574" y="4996202"/>
              <a:ext cx="2249165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736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1439476" y="5073044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2536756" y="5073043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182676" y="5073042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5281321" y="5073042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5824821" y="5073042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/CSR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56527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282288"/>
              </p:ext>
            </p:extLst>
          </p:nvPr>
        </p:nvGraphicFramePr>
        <p:xfrm>
          <a:off x="1439476" y="3815712"/>
          <a:ext cx="27432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650767"/>
              </p:ext>
            </p:extLst>
          </p:nvPr>
        </p:nvGraphicFramePr>
        <p:xfrm>
          <a:off x="1439476" y="4541506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372199"/>
              </p:ext>
            </p:extLst>
          </p:nvPr>
        </p:nvGraphicFramePr>
        <p:xfrm>
          <a:off x="1439476" y="5260950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15" y="3859199"/>
            <a:ext cx="1292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 err="1"/>
              <a:t>RowPtrs</a:t>
            </a:r>
            <a:r>
              <a:rPr lang="en-US" sz="2400" dirty="0"/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86" y="4608076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787" y="5304437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720823" y="4319902"/>
            <a:ext cx="3847916" cy="212079"/>
            <a:chOff x="1720823" y="4996202"/>
            <a:chExt cx="3847916" cy="212079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1720823" y="4996202"/>
              <a:ext cx="0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2236527" y="4996202"/>
              <a:ext cx="567344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803871" y="4996202"/>
              <a:ext cx="1660152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3319574" y="4996202"/>
              <a:ext cx="2249165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761561"/>
              </p:ext>
            </p:extLst>
          </p:nvPr>
        </p:nvGraphicFramePr>
        <p:xfrm>
          <a:off x="4185808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30705"/>
              </p:ext>
            </p:extLst>
          </p:nvPr>
        </p:nvGraphicFramePr>
        <p:xfrm>
          <a:off x="5286220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pSp>
        <p:nvGrpSpPr>
          <p:cNvPr id="37" name="Group 36"/>
          <p:cNvGrpSpPr/>
          <p:nvPr/>
        </p:nvGrpSpPr>
        <p:grpSpPr>
          <a:xfrm>
            <a:off x="1708029" y="5896999"/>
            <a:ext cx="3875371" cy="457200"/>
            <a:chOff x="1708029" y="6281199"/>
            <a:chExt cx="3875371" cy="457200"/>
          </a:xfrm>
        </p:grpSpPr>
        <p:sp>
          <p:nvSpPr>
            <p:cNvPr id="38" name="Freeform 37"/>
            <p:cNvSpPr/>
            <p:nvPr/>
          </p:nvSpPr>
          <p:spPr>
            <a:xfrm>
              <a:off x="1708029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0" name="Freeform 39"/>
            <p:cNvSpPr/>
            <p:nvPr/>
          </p:nvSpPr>
          <p:spPr>
            <a:xfrm>
              <a:off x="2802215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4443494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5537680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517216" y="1204349"/>
            <a:ext cx="1683502" cy="2101675"/>
            <a:chOff x="1708029" y="6281199"/>
            <a:chExt cx="1683502" cy="2101675"/>
          </a:xfrm>
        </p:grpSpPr>
        <p:sp>
          <p:nvSpPr>
            <p:cNvPr id="47" name="Freeform 46"/>
            <p:cNvSpPr/>
            <p:nvPr/>
          </p:nvSpPr>
          <p:spPr>
            <a:xfrm>
              <a:off x="1708029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1711875" y="682468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2231305" y="739545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4" name="Freeform 53"/>
            <p:cNvSpPr/>
            <p:nvPr/>
          </p:nvSpPr>
          <p:spPr>
            <a:xfrm>
              <a:off x="3345811" y="79256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6003847" y="1760649"/>
            <a:ext cx="304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to loop over each input row sequentially and update corresponding output element</a:t>
            </a:r>
          </a:p>
        </p:txBody>
      </p:sp>
    </p:spTree>
    <p:extLst>
      <p:ext uri="{BB962C8B-B14F-4D97-AF65-F5344CB8AC3E}">
        <p14:creationId xmlns:p14="http://schemas.microsoft.com/office/powerpoint/2010/main" val="246574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1439476" y="5073044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2536756" y="5073043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182676" y="5073042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5281321" y="5073042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5824821" y="5073042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/CSR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476224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377827"/>
              </p:ext>
            </p:extLst>
          </p:nvPr>
        </p:nvGraphicFramePr>
        <p:xfrm>
          <a:off x="1439476" y="3815712"/>
          <a:ext cx="27432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55086"/>
              </p:ext>
            </p:extLst>
          </p:nvPr>
        </p:nvGraphicFramePr>
        <p:xfrm>
          <a:off x="1439476" y="4541506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731266"/>
              </p:ext>
            </p:extLst>
          </p:nvPr>
        </p:nvGraphicFramePr>
        <p:xfrm>
          <a:off x="1439476" y="5260950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15" y="3859199"/>
            <a:ext cx="1292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 err="1"/>
              <a:t>RowPtrs</a:t>
            </a:r>
            <a:r>
              <a:rPr lang="en-US" sz="2400" dirty="0"/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86" y="4608076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787" y="5304437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720823" y="4319902"/>
            <a:ext cx="3847916" cy="212079"/>
            <a:chOff x="1720823" y="4996202"/>
            <a:chExt cx="3847916" cy="212079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1720823" y="4996202"/>
              <a:ext cx="0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2236527" y="4996202"/>
              <a:ext cx="567344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803871" y="4996202"/>
              <a:ext cx="1660152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3319574" y="4996202"/>
              <a:ext cx="2249165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390276"/>
              </p:ext>
            </p:extLst>
          </p:nvPr>
        </p:nvGraphicFramePr>
        <p:xfrm>
          <a:off x="4185808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361024"/>
              </p:ext>
            </p:extLst>
          </p:nvPr>
        </p:nvGraphicFramePr>
        <p:xfrm>
          <a:off x="5286220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pSp>
        <p:nvGrpSpPr>
          <p:cNvPr id="37" name="Group 36"/>
          <p:cNvGrpSpPr/>
          <p:nvPr/>
        </p:nvGrpSpPr>
        <p:grpSpPr>
          <a:xfrm>
            <a:off x="2255122" y="5896999"/>
            <a:ext cx="3328278" cy="457200"/>
            <a:chOff x="2255122" y="6281199"/>
            <a:chExt cx="3328278" cy="457200"/>
          </a:xfrm>
        </p:grpSpPr>
        <p:sp>
          <p:nvSpPr>
            <p:cNvPr id="39" name="Freeform 38"/>
            <p:cNvSpPr/>
            <p:nvPr/>
          </p:nvSpPr>
          <p:spPr>
            <a:xfrm>
              <a:off x="225512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1" name="Freeform 40"/>
            <p:cNvSpPr/>
            <p:nvPr/>
          </p:nvSpPr>
          <p:spPr>
            <a:xfrm>
              <a:off x="3349308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4" name="Freeform 43"/>
            <p:cNvSpPr/>
            <p:nvPr/>
          </p:nvSpPr>
          <p:spPr>
            <a:xfrm>
              <a:off x="4990587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5537680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064309" y="1204349"/>
            <a:ext cx="1682509" cy="2101675"/>
            <a:chOff x="2255122" y="6281199"/>
            <a:chExt cx="1682509" cy="2101675"/>
          </a:xfrm>
        </p:grpSpPr>
        <p:sp>
          <p:nvSpPr>
            <p:cNvPr id="48" name="Freeform 47"/>
            <p:cNvSpPr/>
            <p:nvPr/>
          </p:nvSpPr>
          <p:spPr>
            <a:xfrm>
              <a:off x="225512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2798718" y="682468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3" name="Freeform 52"/>
            <p:cNvSpPr/>
            <p:nvPr/>
          </p:nvSpPr>
          <p:spPr>
            <a:xfrm>
              <a:off x="2778398" y="739545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4" name="Freeform 53"/>
            <p:cNvSpPr/>
            <p:nvPr/>
          </p:nvSpPr>
          <p:spPr>
            <a:xfrm>
              <a:off x="3891911" y="79256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6003847" y="1760649"/>
            <a:ext cx="304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to loop over each input row sequentially and update corresponding output element</a:t>
            </a:r>
          </a:p>
        </p:txBody>
      </p:sp>
    </p:spTree>
    <p:extLst>
      <p:ext uri="{BB962C8B-B14F-4D97-AF65-F5344CB8AC3E}">
        <p14:creationId xmlns:p14="http://schemas.microsoft.com/office/powerpoint/2010/main" val="392294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/>
          <p:cNvCxnSpPr/>
          <p:nvPr/>
        </p:nvCxnSpPr>
        <p:spPr>
          <a:xfrm>
            <a:off x="1439476" y="5073044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2536756" y="5073043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182676" y="5073042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5281321" y="5073042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5824821" y="5073042"/>
            <a:ext cx="0" cy="13258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/CSR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441724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110422"/>
              </p:ext>
            </p:extLst>
          </p:nvPr>
        </p:nvGraphicFramePr>
        <p:xfrm>
          <a:off x="1439476" y="3815712"/>
          <a:ext cx="27432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086116"/>
              </p:ext>
            </p:extLst>
          </p:nvPr>
        </p:nvGraphicFramePr>
        <p:xfrm>
          <a:off x="1439476" y="4541506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084896"/>
              </p:ext>
            </p:extLst>
          </p:nvPr>
        </p:nvGraphicFramePr>
        <p:xfrm>
          <a:off x="1439476" y="5260950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15" y="3859199"/>
            <a:ext cx="1292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 err="1"/>
              <a:t>RowPtrs</a:t>
            </a:r>
            <a:r>
              <a:rPr lang="en-US" sz="2400" dirty="0"/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86" y="4608076"/>
            <a:ext cx="1231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Column: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787" y="5304437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720823" y="4319902"/>
            <a:ext cx="3847916" cy="212079"/>
            <a:chOff x="1720823" y="4996202"/>
            <a:chExt cx="3847916" cy="212079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1720823" y="4996202"/>
              <a:ext cx="0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2236527" y="4996202"/>
              <a:ext cx="567344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803871" y="4996202"/>
              <a:ext cx="1660152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3319574" y="4996202"/>
              <a:ext cx="2249165" cy="2120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3714997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5409" y="21814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=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209578"/>
              </p:ext>
            </p:extLst>
          </p:nvPr>
        </p:nvGraphicFramePr>
        <p:xfrm>
          <a:off x="4185808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780592"/>
              </p:ext>
            </p:extLst>
          </p:nvPr>
        </p:nvGraphicFramePr>
        <p:xfrm>
          <a:off x="5286220" y="1420054"/>
          <a:ext cx="54864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354562086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8913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011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955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09681"/>
                  </a:ext>
                </a:extLst>
              </a:tr>
            </a:tbl>
          </a:graphicData>
        </a:graphic>
      </p:graphicFrame>
      <p:grpSp>
        <p:nvGrpSpPr>
          <p:cNvPr id="37" name="Group 36"/>
          <p:cNvGrpSpPr/>
          <p:nvPr/>
        </p:nvGrpSpPr>
        <p:grpSpPr>
          <a:xfrm>
            <a:off x="2255122" y="5896999"/>
            <a:ext cx="3328278" cy="457200"/>
            <a:chOff x="2255122" y="6281199"/>
            <a:chExt cx="3328278" cy="457200"/>
          </a:xfrm>
        </p:grpSpPr>
        <p:sp>
          <p:nvSpPr>
            <p:cNvPr id="39" name="Freeform 38"/>
            <p:cNvSpPr/>
            <p:nvPr/>
          </p:nvSpPr>
          <p:spPr>
            <a:xfrm>
              <a:off x="225512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2" name="Freeform 41"/>
            <p:cNvSpPr/>
            <p:nvPr/>
          </p:nvSpPr>
          <p:spPr>
            <a:xfrm>
              <a:off x="3896401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4" name="Freeform 43"/>
            <p:cNvSpPr/>
            <p:nvPr/>
          </p:nvSpPr>
          <p:spPr>
            <a:xfrm>
              <a:off x="4990587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5537680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3154998" y="1204349"/>
            <a:ext cx="593421" cy="2101675"/>
            <a:chOff x="3345811" y="6281199"/>
            <a:chExt cx="593421" cy="2101675"/>
          </a:xfrm>
        </p:grpSpPr>
        <p:sp>
          <p:nvSpPr>
            <p:cNvPr id="48" name="Freeform 47"/>
            <p:cNvSpPr/>
            <p:nvPr/>
          </p:nvSpPr>
          <p:spPr>
            <a:xfrm>
              <a:off x="3893512" y="62811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5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3345811" y="682468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3" name="Freeform 52"/>
            <p:cNvSpPr/>
            <p:nvPr/>
          </p:nvSpPr>
          <p:spPr>
            <a:xfrm>
              <a:off x="3893512" y="739545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4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4" name="Freeform 53"/>
            <p:cNvSpPr/>
            <p:nvPr/>
          </p:nvSpPr>
          <p:spPr>
            <a:xfrm>
              <a:off x="3893512" y="79256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solidFill>
                <a:schemeClr val="accent2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6003847" y="1760649"/>
            <a:ext cx="304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Parallelization approach:</a:t>
            </a:r>
          </a:p>
          <a:p>
            <a:pPr algn="ctr"/>
            <a:r>
              <a:rPr lang="en-US" dirty="0"/>
              <a:t>Assign one thread to loop over each input row sequentially and update corresponding output element</a:t>
            </a:r>
          </a:p>
        </p:txBody>
      </p:sp>
    </p:spTree>
    <p:extLst>
      <p:ext uri="{BB962C8B-B14F-4D97-AF65-F5344CB8AC3E}">
        <p14:creationId xmlns:p14="http://schemas.microsoft.com/office/powerpoint/2010/main" val="41837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SpMV</a:t>
            </a:r>
            <a:r>
              <a:rPr lang="en-US" dirty="0"/>
              <a:t>/CSR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4310" y="1941427"/>
            <a:ext cx="857538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spmv_csr_kernel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CSRMatrix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csrMatrix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row =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(row &lt;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csrMatrix.numRows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sum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0.0f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csrMatrix.rowPtrs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[row];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&lt;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csrMatrix.rowPtrs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[row +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 ++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col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csrMatrix.colIdxs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value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csrMatrix.values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sum +=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[col]*value;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outVector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[row] = sum;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0539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CSR Tradeoffs (versus COO)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Space efficiency: row pointers smaller than row indexes</a:t>
            </a:r>
          </a:p>
          <a:p>
            <a:pPr lvl="1"/>
            <a:r>
              <a:rPr lang="en-US" dirty="0"/>
              <a:t>Accessibility: given a row, easy to find all </a:t>
            </a:r>
            <a:r>
              <a:rPr lang="en-US" dirty="0" err="1"/>
              <a:t>nonzeros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SpMV</a:t>
            </a:r>
            <a:r>
              <a:rPr lang="en-US" dirty="0"/>
              <a:t>/CSR avoids atomics, every thread owns its output</a:t>
            </a:r>
          </a:p>
          <a:p>
            <a:endParaRPr lang="en-US" sz="1400" dirty="0"/>
          </a:p>
          <a:p>
            <a:r>
              <a:rPr lang="en-US" dirty="0"/>
              <a:t>Disadvantage:</a:t>
            </a:r>
          </a:p>
          <a:p>
            <a:pPr lvl="1"/>
            <a:r>
              <a:rPr lang="en-US" dirty="0"/>
              <a:t>Flexibility: hard to add new elements to the matrix</a:t>
            </a:r>
          </a:p>
          <a:p>
            <a:pPr lvl="1"/>
            <a:r>
              <a:rPr lang="en-US" dirty="0"/>
              <a:t>Accessibility: given nonzero, hard to find row; given a column, hard to find all </a:t>
            </a:r>
            <a:r>
              <a:rPr lang="en-US" dirty="0" err="1"/>
              <a:t>nonzeros</a:t>
            </a:r>
            <a:endParaRPr lang="en-US" dirty="0"/>
          </a:p>
          <a:p>
            <a:pPr lvl="1"/>
            <a:r>
              <a:rPr lang="en-US" dirty="0" err="1"/>
              <a:t>SpMV</a:t>
            </a:r>
            <a:r>
              <a:rPr lang="en-US" dirty="0"/>
              <a:t>/CSR memory accesses are not coalesced</a:t>
            </a:r>
          </a:p>
          <a:p>
            <a:pPr lvl="1"/>
            <a:r>
              <a:rPr lang="en-US" dirty="0" err="1"/>
              <a:t>SpMV</a:t>
            </a:r>
            <a:r>
              <a:rPr lang="en-US" dirty="0"/>
              <a:t>/CSR has control divergence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00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Compressed Sparse Column (CSC)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033180"/>
              </p:ext>
            </p:extLst>
          </p:nvPr>
        </p:nvGraphicFramePr>
        <p:xfrm>
          <a:off x="1439476" y="1420054"/>
          <a:ext cx="219456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9181105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2296118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05533527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6980922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27441680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33656" marR="133656" marT="66829" marB="66829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81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33656" marR="133656" marT="66829" marB="6682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133656" marR="133656" marT="66829" marB="6682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extLst>
                  <a:ext uri="{0D108BD9-81ED-4DB2-BD59-A6C34878D82A}">
                    <a16:rowId xmlns:a16="http://schemas.microsoft.com/office/drawing/2014/main" val="91531558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133656" marR="133656" marT="66829" marB="668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marL="133656" marR="133656" marT="66829" marB="66829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5578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591171"/>
              </p:ext>
            </p:extLst>
          </p:nvPr>
        </p:nvGraphicFramePr>
        <p:xfrm>
          <a:off x="1439476" y="4063362"/>
          <a:ext cx="27432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066529"/>
              </p:ext>
            </p:extLst>
          </p:nvPr>
        </p:nvGraphicFramePr>
        <p:xfrm>
          <a:off x="1439476" y="4824081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65162"/>
              </p:ext>
            </p:extLst>
          </p:nvPr>
        </p:nvGraphicFramePr>
        <p:xfrm>
          <a:off x="1439476" y="5584800"/>
          <a:ext cx="438912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10709806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37598995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9266341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8615577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95495565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5146512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9826078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550155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2424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60135" y="1443106"/>
            <a:ext cx="1087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Matrix: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798" y="4106849"/>
            <a:ext cx="1147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 err="1"/>
              <a:t>ColPtrs</a:t>
            </a:r>
            <a:r>
              <a:rPr lang="en-US" sz="2400" dirty="0"/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468" y="4890651"/>
            <a:ext cx="807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Row: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787" y="5628287"/>
            <a:ext cx="957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Value: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1467" y="1864955"/>
            <a:ext cx="34690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Like CSR, but groups </a:t>
            </a:r>
            <a:r>
              <a:rPr lang="en-US" sz="2400" dirty="0" err="1"/>
              <a:t>nonzeros</a:t>
            </a:r>
            <a:r>
              <a:rPr lang="en-US" sz="2400" dirty="0"/>
              <a:t> by column</a:t>
            </a:r>
          </a:p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(useful for computations other than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SpMV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that require column traversal, such as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SpMSpV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720823" y="4612002"/>
            <a:ext cx="0" cy="212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236527" y="4612002"/>
            <a:ext cx="567344" cy="212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803871" y="4612002"/>
            <a:ext cx="1097280" cy="212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319574" y="4612002"/>
            <a:ext cx="2249165" cy="212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439476" y="5372721"/>
            <a:ext cx="0" cy="212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536756" y="5372720"/>
            <a:ext cx="0" cy="212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182676" y="5372719"/>
            <a:ext cx="0" cy="212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281321" y="5372719"/>
            <a:ext cx="0" cy="212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824821" y="5372719"/>
            <a:ext cx="0" cy="2120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24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175298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503</TotalTime>
  <Words>1026</Words>
  <Application>Microsoft Office PowerPoint</Application>
  <PresentationFormat>On-screen Show (4:3)</PresentationFormat>
  <Paragraphs>351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81</cp:revision>
  <dcterms:created xsi:type="dcterms:W3CDTF">2022-03-30T06:33:52Z</dcterms:created>
  <dcterms:modified xsi:type="dcterms:W3CDTF">2022-10-17T11:03:01Z</dcterms:modified>
</cp:coreProperties>
</file>